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9d5a277f4e491e" /><Relationship Type="http://schemas.openxmlformats.org/officeDocument/2006/relationships/extended-properties" Target="/docProps/app.xml" Id="Rd956a561ce464a05" /><Relationship Type="http://schemas.openxmlformats.org/officeDocument/2006/relationships/officeDocument" Target="/ppt/presentation.xml" Id="Rd28c1102b1cc478c" /></Relationships>
</file>

<file path=ppt/presentation.xml><?xml version="1.0" encoding="utf-8"?>
<p:presentation xmlns:p="http://schemas.openxmlformats.org/presentationml/2006/main">
  <p:sldMasterIdLst>
    <p:sldMasterId xmlns:r="http://schemas.openxmlformats.org/officeDocument/2006/relationships" id="2147483648" r:id="Rcf35f82ebc064b74"/>
  </p:sldMasterIdLst>
  <p:notesMasterIdLst>
    <p:notesMasterId xmlns:r="http://schemas.openxmlformats.org/officeDocument/2006/relationships" r:id="R9261212d978f4101"/>
  </p:notesMasterIdLst>
  <p:sldIdLst>
    <p:sldId xmlns:r="http://schemas.openxmlformats.org/officeDocument/2006/relationships" id="256" r:id="Rd2afb7cae06d4711"/>
    <p:sldId xmlns:r="http://schemas.openxmlformats.org/officeDocument/2006/relationships" id="257" r:id="Rbda6ee2db2de41eb"/>
    <p:sldId xmlns:r="http://schemas.openxmlformats.org/officeDocument/2006/relationships" id="258" r:id="Rf1406278c4d44b1b"/>
    <p:sldId xmlns:r="http://schemas.openxmlformats.org/officeDocument/2006/relationships" id="259" r:id="R8c773b05890e4a88"/>
    <p:sldId xmlns:r="http://schemas.openxmlformats.org/officeDocument/2006/relationships" id="260" r:id="Rd877b788f4a745f0"/>
    <p:sldId xmlns:r="http://schemas.openxmlformats.org/officeDocument/2006/relationships" id="261" r:id="R37481c24888c4033"/>
    <p:sldId xmlns:r="http://schemas.openxmlformats.org/officeDocument/2006/relationships" id="262" r:id="R3bcd0ca67dfb4c11"/>
    <p:sldId xmlns:r="http://schemas.openxmlformats.org/officeDocument/2006/relationships" id="263" r:id="R66695bba1e3c4771"/>
    <p:sldId xmlns:r="http://schemas.openxmlformats.org/officeDocument/2006/relationships" id="264" r:id="R02831a4041c94753"/>
    <p:sldId xmlns:r="http://schemas.openxmlformats.org/officeDocument/2006/relationships" id="265" r:id="R3159671b8c904b2f"/>
    <p:sldId xmlns:r="http://schemas.openxmlformats.org/officeDocument/2006/relationships" id="266" r:id="R0708f199aaac47f8"/>
    <p:sldId xmlns:r="http://schemas.openxmlformats.org/officeDocument/2006/relationships" id="267" r:id="R85f3ba2bd4284efe"/>
    <p:sldId xmlns:r="http://schemas.openxmlformats.org/officeDocument/2006/relationships" id="268" r:id="R36ac083c46e0462f"/>
    <p:sldId xmlns:r="http://schemas.openxmlformats.org/officeDocument/2006/relationships" id="269" r:id="Rd4f9e009a066449d"/>
    <p:sldId xmlns:r="http://schemas.openxmlformats.org/officeDocument/2006/relationships" id="270" r:id="Rf6e7d7dda1784829"/>
    <p:sldId xmlns:r="http://schemas.openxmlformats.org/officeDocument/2006/relationships" id="271" r:id="R7807b5c0499c4f1e"/>
    <p:sldId xmlns:r="http://schemas.openxmlformats.org/officeDocument/2006/relationships" id="272" r:id="R63f7dd08ae0f4b8e"/>
    <p:sldId xmlns:r="http://schemas.openxmlformats.org/officeDocument/2006/relationships" id="273" r:id="R0e4e32d3b167419b"/>
    <p:sldId xmlns:r="http://schemas.openxmlformats.org/officeDocument/2006/relationships" id="274" r:id="Rb89075f549ef47fd"/>
    <p:sldId xmlns:r="http://schemas.openxmlformats.org/officeDocument/2006/relationships" id="275" r:id="R059db26f5ef34348"/>
    <p:sldId xmlns:r="http://schemas.openxmlformats.org/officeDocument/2006/relationships" id="276" r:id="R27e8b0729fde40f5"/>
    <p:sldId xmlns:r="http://schemas.openxmlformats.org/officeDocument/2006/relationships" id="277" r:id="R8d306096379043c2"/>
    <p:sldId xmlns:r="http://schemas.openxmlformats.org/officeDocument/2006/relationships" id="278" r:id="R2654af44aac64ff2"/>
    <p:sldId xmlns:r="http://schemas.openxmlformats.org/officeDocument/2006/relationships" id="279" r:id="R64bf39563cad440f"/>
    <p:sldId xmlns:r="http://schemas.openxmlformats.org/officeDocument/2006/relationships" id="280" r:id="Re31c8e825f4142e7"/>
    <p:sldId xmlns:r="http://schemas.openxmlformats.org/officeDocument/2006/relationships" id="281" r:id="R492d5177d22b46c1"/>
    <p:sldId xmlns:r="http://schemas.openxmlformats.org/officeDocument/2006/relationships" id="282" r:id="R8f6b570fe1d143f7"/>
    <p:sldId xmlns:r="http://schemas.openxmlformats.org/officeDocument/2006/relationships" id="283" r:id="R720c6fae0c8c4aa1"/>
    <p:sldId xmlns:r="http://schemas.openxmlformats.org/officeDocument/2006/relationships" id="284" r:id="R341d77858870418c"/>
    <p:sldId xmlns:r="http://schemas.openxmlformats.org/officeDocument/2006/relationships" id="285" r:id="R6057d2a81cda4726"/>
    <p:sldId xmlns:r="http://schemas.openxmlformats.org/officeDocument/2006/relationships" id="286" r:id="R210321805340442e"/>
    <p:sldId xmlns:r="http://schemas.openxmlformats.org/officeDocument/2006/relationships" id="287" r:id="R1edb13d8024b4520"/>
    <p:sldId xmlns:r="http://schemas.openxmlformats.org/officeDocument/2006/relationships" id="288" r:id="Rfdb7ce277b524e12"/>
    <p:sldId xmlns:r="http://schemas.openxmlformats.org/officeDocument/2006/relationships" id="289" r:id="R1794d39851474b38"/>
    <p:sldId xmlns:r="http://schemas.openxmlformats.org/officeDocument/2006/relationships" id="290" r:id="R86e38be6245d4179"/>
    <p:sldId xmlns:r="http://schemas.openxmlformats.org/officeDocument/2006/relationships" id="291" r:id="R4e23fc132b8e4928"/>
    <p:sldId xmlns:r="http://schemas.openxmlformats.org/officeDocument/2006/relationships" id="292" r:id="R72165a0cec2543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4b90cf85184cf7" /><Relationship Type="http://schemas.openxmlformats.org/officeDocument/2006/relationships/slideMaster" Target="/ppt/slideMasters/slideMaster1.xml" Id="Rcf35f82ebc064b74" /><Relationship Type="http://schemas.openxmlformats.org/officeDocument/2006/relationships/notesMaster" Target="/ppt/notesMasters/notesMaster1.xml" Id="R9261212d978f4101" /><Relationship Type="http://schemas.openxmlformats.org/officeDocument/2006/relationships/presProps" Target="/ppt/presProps.xml" Id="R7335e4eeacb14d7f" /><Relationship Type="http://schemas.openxmlformats.org/officeDocument/2006/relationships/tableStyles" Target="/ppt/tableStyles.xml" Id="R17b45c0d609c44b4" /><Relationship Type="http://schemas.openxmlformats.org/officeDocument/2006/relationships/slide" Target="/ppt/slides/slide1.xml" Id="Rd2afb7cae06d4711" /><Relationship Type="http://schemas.openxmlformats.org/officeDocument/2006/relationships/slide" Target="/ppt/slides/slide2.xml" Id="Rbda6ee2db2de41eb" /><Relationship Type="http://schemas.openxmlformats.org/officeDocument/2006/relationships/slide" Target="/ppt/slides/slide3.xml" Id="Rf1406278c4d44b1b" /><Relationship Type="http://schemas.openxmlformats.org/officeDocument/2006/relationships/slide" Target="/ppt/slides/slide4.xml" Id="R8c773b05890e4a88" /><Relationship Type="http://schemas.openxmlformats.org/officeDocument/2006/relationships/slide" Target="/ppt/slides/slide5.xml" Id="Rd877b788f4a745f0" /><Relationship Type="http://schemas.openxmlformats.org/officeDocument/2006/relationships/slide" Target="/ppt/slides/slide6.xml" Id="R37481c24888c4033" /><Relationship Type="http://schemas.openxmlformats.org/officeDocument/2006/relationships/slide" Target="/ppt/slides/slide7.xml" Id="R3bcd0ca67dfb4c11" /><Relationship Type="http://schemas.openxmlformats.org/officeDocument/2006/relationships/slide" Target="/ppt/slides/slide8.xml" Id="R66695bba1e3c4771" /><Relationship Type="http://schemas.openxmlformats.org/officeDocument/2006/relationships/slide" Target="/ppt/slides/slide9.xml" Id="R02831a4041c94753" /><Relationship Type="http://schemas.openxmlformats.org/officeDocument/2006/relationships/slide" Target="/ppt/slides/slide10.xml" Id="R3159671b8c904b2f" /><Relationship Type="http://schemas.openxmlformats.org/officeDocument/2006/relationships/slide" Target="/ppt/slides/slide11.xml" Id="R0708f199aaac47f8" /><Relationship Type="http://schemas.openxmlformats.org/officeDocument/2006/relationships/slide" Target="/ppt/slides/slide12.xml" Id="R85f3ba2bd4284efe" /><Relationship Type="http://schemas.openxmlformats.org/officeDocument/2006/relationships/slide" Target="/ppt/slides/slide13.xml" Id="R36ac083c46e0462f" /><Relationship Type="http://schemas.openxmlformats.org/officeDocument/2006/relationships/slide" Target="/ppt/slides/slide14.xml" Id="Rd4f9e009a066449d" /><Relationship Type="http://schemas.openxmlformats.org/officeDocument/2006/relationships/slide" Target="/ppt/slides/slide15.xml" Id="Rf6e7d7dda1784829" /><Relationship Type="http://schemas.openxmlformats.org/officeDocument/2006/relationships/slide" Target="/ppt/slides/slide16.xml" Id="R7807b5c0499c4f1e" /><Relationship Type="http://schemas.openxmlformats.org/officeDocument/2006/relationships/slide" Target="/ppt/slides/slide17.xml" Id="R63f7dd08ae0f4b8e" /><Relationship Type="http://schemas.openxmlformats.org/officeDocument/2006/relationships/slide" Target="/ppt/slides/slide18.xml" Id="R0e4e32d3b167419b" /><Relationship Type="http://schemas.openxmlformats.org/officeDocument/2006/relationships/slide" Target="/ppt/slides/slide19.xml" Id="Rb89075f549ef47fd" /><Relationship Type="http://schemas.openxmlformats.org/officeDocument/2006/relationships/slide" Target="/ppt/slides/slide20.xml" Id="R059db26f5ef34348" /><Relationship Type="http://schemas.openxmlformats.org/officeDocument/2006/relationships/slide" Target="/ppt/slides/slide21.xml" Id="R27e8b0729fde40f5" /><Relationship Type="http://schemas.openxmlformats.org/officeDocument/2006/relationships/slide" Target="/ppt/slides/slide22.xml" Id="R8d306096379043c2" /><Relationship Type="http://schemas.openxmlformats.org/officeDocument/2006/relationships/slide" Target="/ppt/slides/slide23.xml" Id="R2654af44aac64ff2" /><Relationship Type="http://schemas.openxmlformats.org/officeDocument/2006/relationships/slide" Target="/ppt/slides/slide24.xml" Id="R64bf39563cad440f" /><Relationship Type="http://schemas.openxmlformats.org/officeDocument/2006/relationships/slide" Target="/ppt/slides/slide25.xml" Id="Re31c8e825f4142e7" /><Relationship Type="http://schemas.openxmlformats.org/officeDocument/2006/relationships/slide" Target="/ppt/slides/slide26.xml" Id="R492d5177d22b46c1" /><Relationship Type="http://schemas.openxmlformats.org/officeDocument/2006/relationships/slide" Target="/ppt/slides/slide27.xml" Id="R8f6b570fe1d143f7" /><Relationship Type="http://schemas.openxmlformats.org/officeDocument/2006/relationships/slide" Target="/ppt/slides/slide28.xml" Id="R720c6fae0c8c4aa1" /><Relationship Type="http://schemas.openxmlformats.org/officeDocument/2006/relationships/slide" Target="/ppt/slides/slide29.xml" Id="R341d77858870418c" /><Relationship Type="http://schemas.openxmlformats.org/officeDocument/2006/relationships/slide" Target="/ppt/slides/slide30.xml" Id="R6057d2a81cda4726" /><Relationship Type="http://schemas.openxmlformats.org/officeDocument/2006/relationships/slide" Target="/ppt/slides/slide31.xml" Id="R210321805340442e" /><Relationship Type="http://schemas.openxmlformats.org/officeDocument/2006/relationships/slide" Target="/ppt/slides/slide32.xml" Id="R1edb13d8024b4520" /><Relationship Type="http://schemas.openxmlformats.org/officeDocument/2006/relationships/slide" Target="/ppt/slides/slide33.xml" Id="Rfdb7ce277b524e12" /><Relationship Type="http://schemas.openxmlformats.org/officeDocument/2006/relationships/slide" Target="/ppt/slides/slide34.xml" Id="R1794d39851474b38" /><Relationship Type="http://schemas.openxmlformats.org/officeDocument/2006/relationships/slide" Target="/ppt/slides/slide35.xml" Id="R86e38be6245d4179" /><Relationship Type="http://schemas.openxmlformats.org/officeDocument/2006/relationships/slide" Target="/ppt/slides/slide36.xml" Id="R4e23fc132b8e4928" /><Relationship Type="http://schemas.openxmlformats.org/officeDocument/2006/relationships/slide" Target="/ppt/slides/slide37.xml" Id="R72165a0cec2543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442cf4497543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dee0e69c7641ba" /><Relationship Type="http://schemas.openxmlformats.org/officeDocument/2006/relationships/notesMaster" Target="/ppt/notesMasters/notesMaster1.xml" Id="Rc4cbcc8f3cf149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102b1019154d0e" /><Relationship Type="http://schemas.openxmlformats.org/officeDocument/2006/relationships/notesMaster" Target="/ppt/notesMasters/notesMaster1.xml" Id="R986353a597a846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3421a8de5940de" /><Relationship Type="http://schemas.openxmlformats.org/officeDocument/2006/relationships/notesMaster" Target="/ppt/notesMasters/notesMaster1.xml" Id="R356c630b683742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5ab387740041e5" /><Relationship Type="http://schemas.openxmlformats.org/officeDocument/2006/relationships/notesMaster" Target="/ppt/notesMasters/notesMaster1.xml" Id="R0ef104bdb90142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76230248e44e48" /><Relationship Type="http://schemas.openxmlformats.org/officeDocument/2006/relationships/notesMaster" Target="/ppt/notesMasters/notesMaster1.xml" Id="R4d338a13349046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4448c6eafa4833" /><Relationship Type="http://schemas.openxmlformats.org/officeDocument/2006/relationships/notesMaster" Target="/ppt/notesMasters/notesMaster1.xml" Id="R00b4eb1771984e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48133b35e24745" /><Relationship Type="http://schemas.openxmlformats.org/officeDocument/2006/relationships/notesMaster" Target="/ppt/notesMasters/notesMaster1.xml" Id="Rb4732a258f954a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5ea4d41e2444f0" /><Relationship Type="http://schemas.openxmlformats.org/officeDocument/2006/relationships/notesMaster" Target="/ppt/notesMasters/notesMaster1.xml" Id="R1a6b3e7dcd0042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e3cdad05a94b0a" /><Relationship Type="http://schemas.openxmlformats.org/officeDocument/2006/relationships/notesMaster" Target="/ppt/notesMasters/notesMaster1.xml" Id="R877d1d2f1c3646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b7a1ed15dc49f2" /><Relationship Type="http://schemas.openxmlformats.org/officeDocument/2006/relationships/notesMaster" Target="/ppt/notesMasters/notesMaster1.xml" Id="Rc1743e898e9f41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4a9fdcf18e46ff" /><Relationship Type="http://schemas.openxmlformats.org/officeDocument/2006/relationships/notesMaster" Target="/ppt/notesMasters/notesMaster1.xml" Id="Rd3b27bbf13f644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51e16f2ea84687" /><Relationship Type="http://schemas.openxmlformats.org/officeDocument/2006/relationships/notesMaster" Target="/ppt/notesMasters/notesMaster1.xml" Id="Rcc3f7ef3377749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384ca898a841e0" /><Relationship Type="http://schemas.openxmlformats.org/officeDocument/2006/relationships/notesMaster" Target="/ppt/notesMasters/notesMaster1.xml" Id="Rcf0ea7e2b68a45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1590f4528d4f11" /><Relationship Type="http://schemas.openxmlformats.org/officeDocument/2006/relationships/notesMaster" Target="/ppt/notesMasters/notesMaster1.xml" Id="Re506f940d35f47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2c83920f1a423a" /><Relationship Type="http://schemas.openxmlformats.org/officeDocument/2006/relationships/notesMaster" Target="/ppt/notesMasters/notesMaster1.xml" Id="R6851a79bccfe40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9119d78c1b45e0" /><Relationship Type="http://schemas.openxmlformats.org/officeDocument/2006/relationships/notesMaster" Target="/ppt/notesMasters/notesMaster1.xml" Id="R517878f1b57445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3054b2a574940cd" /><Relationship Type="http://schemas.openxmlformats.org/officeDocument/2006/relationships/notesMaster" Target="/ppt/notesMasters/notesMaster1.xml" Id="R8476a0c4471a42a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d2124a2cb24c80" /><Relationship Type="http://schemas.openxmlformats.org/officeDocument/2006/relationships/notesMaster" Target="/ppt/notesMasters/notesMaster1.xml" Id="R35e2e540143244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28ed41265ef4953" /><Relationship Type="http://schemas.openxmlformats.org/officeDocument/2006/relationships/notesMaster" Target="/ppt/notesMasters/notesMaster1.xml" Id="Rbb8f0de24296450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53e9a0524e940e4" /><Relationship Type="http://schemas.openxmlformats.org/officeDocument/2006/relationships/notesMaster" Target="/ppt/notesMasters/notesMaster1.xml" Id="R1f0a2d650db44d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798d22c76d482f" /><Relationship Type="http://schemas.openxmlformats.org/officeDocument/2006/relationships/notesMaster" Target="/ppt/notesMasters/notesMaster1.xml" Id="R0dcd54c7f2a444a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2511f20cfcb4728" /><Relationship Type="http://schemas.openxmlformats.org/officeDocument/2006/relationships/notesMaster" Target="/ppt/notesMasters/notesMaster1.xml" Id="R407566b820a744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626212fbee14b20" /><Relationship Type="http://schemas.openxmlformats.org/officeDocument/2006/relationships/notesMaster" Target="/ppt/notesMasters/notesMaster1.xml" Id="R5be052d9f69d448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78319fbe79743c7" /><Relationship Type="http://schemas.openxmlformats.org/officeDocument/2006/relationships/notesMaster" Target="/ppt/notesMasters/notesMaster1.xml" Id="R14ff67379e8e4d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9a9fb801bc74ad3" /><Relationship Type="http://schemas.openxmlformats.org/officeDocument/2006/relationships/notesMaster" Target="/ppt/notesMasters/notesMaster1.xml" Id="Rd29517e3a7924d0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7a481cc3e304605" /><Relationship Type="http://schemas.openxmlformats.org/officeDocument/2006/relationships/notesMaster" Target="/ppt/notesMasters/notesMaster1.xml" Id="Rd400b486f464441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903c979ab947a5" /><Relationship Type="http://schemas.openxmlformats.org/officeDocument/2006/relationships/notesMaster" Target="/ppt/notesMasters/notesMaster1.xml" Id="Rcddb12afac4b4a4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c0fab5d5f4840d0" /><Relationship Type="http://schemas.openxmlformats.org/officeDocument/2006/relationships/notesMaster" Target="/ppt/notesMasters/notesMaster1.xml" Id="R76ce81de0c154dc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4af48e0088e4558" /><Relationship Type="http://schemas.openxmlformats.org/officeDocument/2006/relationships/notesMaster" Target="/ppt/notesMasters/notesMaster1.xml" Id="R1a2c3fd7203b49b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a69cfb46d7449d" /><Relationship Type="http://schemas.openxmlformats.org/officeDocument/2006/relationships/notesMaster" Target="/ppt/notesMasters/notesMaster1.xml" Id="Rc1c84fd92b99437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92a07b150114c01" /><Relationship Type="http://schemas.openxmlformats.org/officeDocument/2006/relationships/notesMaster" Target="/ppt/notesMasters/notesMaster1.xml" Id="R4fe9ee5a498a43b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fada9a55e5947f7" /><Relationship Type="http://schemas.openxmlformats.org/officeDocument/2006/relationships/notesMaster" Target="/ppt/notesMasters/notesMaster1.xml" Id="R835b5cc9c1a34fa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f3e909dc4aa4765" /><Relationship Type="http://schemas.openxmlformats.org/officeDocument/2006/relationships/notesMaster" Target="/ppt/notesMasters/notesMaster1.xml" Id="R50f40c70a71f4a1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16b213871f74507" /><Relationship Type="http://schemas.openxmlformats.org/officeDocument/2006/relationships/notesMaster" Target="/ppt/notesMasters/notesMaster1.xml" Id="Rf57ac243514f48f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fe42dd8d5124191" /><Relationship Type="http://schemas.openxmlformats.org/officeDocument/2006/relationships/notesMaster" Target="/ppt/notesMasters/notesMaster1.xml" Id="Rb649ee1c759d4f7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01d68d402644a74" /><Relationship Type="http://schemas.openxmlformats.org/officeDocument/2006/relationships/notesMaster" Target="/ppt/notesMasters/notesMaster1.xml" Id="R4a639e104e984ba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a94d37457a64c1b" /><Relationship Type="http://schemas.openxmlformats.org/officeDocument/2006/relationships/notesMaster" Target="/ppt/notesMasters/notesMaster1.xml" Id="R90622c9bb23f4d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数据来源：GBZ 2.1《工作场所有害因素职业接触限值》（硫化氢 10 ppm、一氧化碳 30 ppm）、GB 30871《危险化学品企业特殊作业安全规范》（可燃气 10 %LEL）、DL/T 639《六氟化硫电气设备运行、试验及检修人员安全防护细则》（SF6 1000 ppm）、GB/T 11022 与 DL/T 596《电力设备预防性试验规程》（SF6 微水 150 μL/L）。现行做法（纸质签到、Excel 台账、迎检临时补材料）来自本项目对企业与班组的调研访谈，详见 docs/技术报告-现状核对与完善建议.md。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成本口径：内部转岗培训 ≈ 2 万元 / 人、外部招聘 ≈ 8 万元 / 人、外委 ≈ 1.5 万元 / 月（≈18 万元 / 年），取自本项目需求测算参数，属客户侧人工成本口径的示范值，不是实测值。需求测算示例（新增 2 座 110kV 变电站 → 运维工作量 +30%、继保 L3 需求 12 人现有 8 人、高压试验需求 6 人现有 3 人）同样为本项目测算参数。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场景一为已落地并已验收的场景（案例编号 RPT-20260919-0003）；场景二、三为同一套规则引擎与角色体系的迁移方向，尚未开展试点，已如实标注。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条规则 / 5 个场景 / 3 个匹配分组 / 11 项规则测试场景均为系统实测统计，取自 db/init/008_rule_engine.sql、009_report_gas_rules.sql 与 docs/api-catalog.md。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案例数据来自系统内真实留存记录：检测点位 110kV 城北变电所电缆沟 A 段 #1 检查井；氧气实测 18.2 %VOL、阈值 19.5 %VOL；命中规则 REPORT_GAS_OVER_MARGIN_MID（优先级 140）与 RULE-KW-HEALTH（优先级 95）；严重度取最严重档「高」；置信度 0.8（来源 rule）；班组长 limin 确认结果 ACCEPTED。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组卷公式 effort = 缺口权重 × max(0.2, 1.6 − 历史正确率) 为本项目算法定义；缺口权重（继电保护 3.0 / 高压试验 2.0 / 故障录波 2.0 / 倒闸操作 1.0 / 安全规程 1.0）为演示数据参数。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工程规模取自代码与建库脚本实测统计：在线接口 75 个（docs/api-catalog.md）、数据库表 53 张 / 7 组、启用规则 18 条 / 5 场景、建库脚本 001~011 共 11 个、角色 4 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截图为系统真实页面；截图中出现的「常州启明汽车部件有限公司」「江苏华锐机械制造有限公司」为演示用虚构企业名称，非真实客户。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五层测试（建库 / 构建 / 引擎 / 鉴权 / 业务）的通过结论来自本项目自验记录：建库脚本对空库按序执行一次到位、docker logs 无 ERROR；后端 mvn -DskipTests package 通过、Swagger 可打开；11 项规则场景测试全部通过；非管理员调用 /api/v1/rules/** 返回 403 / code=40301；analyze → confirm 三张表可用同一 run_id 串起。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纵向对比口径：标注「实测」的条目来自系统自验与引擎回归（如同一份报告连续执行 200 次，rule_refs 完全一致）；标注「算法口径 / 演示数据」的条目为算法定义与演示数据下的输出，尚未取得企业实测值。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横向对比只比较机制与能力边界（可复算、可离线、可解释、可审计、人工确认），不比较尚未取得的模型效果指标。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「已具备的研发与落地基础」逐条可现场核验；右侧「团队与外部成果清单」为待填模板——团队获奖、软著、论文、企业合作与教师结题项目需要按指导老师的教科创结题材料如实填写，本页不代为编造。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目标客户与起量方式来自本项目市场推演，属方案规划；「为什么买 / 部署方式 / 付费逻辑 / 起量方式」四栏均按可落地的口径填写，不含未经测算的收益承诺。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市场测算为按成本口径的示范测算：成本参数为需求测算参数（转岗 2 万元 / 人、招聘 8 万元 / 人、外委 1.5 万元 / 月），回收期 T = 系统年费 ÷ 年可量化节省 S，其中 S 需代入客户真实人数与工时成本后计算；标注「参数待客户代入」的项不直接给出金额。事故与漏检风险属机会成本，不计入回收期，单独提示。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三阶段演进的边界：阶段一（规则底座）为已完成主体，阶段二（模型增强与数据回流）与阶段三（行业训练 Agent）为规划，过程中的数据均为规划目标而非实测结果。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861a1b3e864e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84b6ce6e43402f" /><Relationship Type="http://schemas.openxmlformats.org/officeDocument/2006/relationships/slideLayout" Target="/ppt/slideLayouts/slideLayout1.xml" Id="R42e79b17d7784d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e79b17d7784d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dc3476d4d14ec7" /><Relationship Type="http://schemas.openxmlformats.org/officeDocument/2006/relationships/image" Target="/ppt/media/image.jpeg" Id="R4352a142d0c4422c" /><Relationship Type="http://schemas.openxmlformats.org/officeDocument/2006/relationships/notesSlide" Target="/ppt/notesSlides/notesSlide1.xml" Id="Rd357cba50ba348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64f5837c0c42bd" /><Relationship Type="http://schemas.openxmlformats.org/officeDocument/2006/relationships/image" Target="/ppt/media/image2.jpeg" Id="Ra08cc35faf5f433b" /><Relationship Type="http://schemas.openxmlformats.org/officeDocument/2006/relationships/notesSlide" Target="/ppt/notesSlides/notesSlide2.xml" Id="Rb4f6cd33482144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2e575906f746d0" /><Relationship Type="http://schemas.openxmlformats.org/officeDocument/2006/relationships/image" Target="/ppt/media/image3.jpeg" Id="Re64215fe51f14667" /><Relationship Type="http://schemas.openxmlformats.org/officeDocument/2006/relationships/notesSlide" Target="/ppt/notesSlides/notesSlide3.xml" Id="R9e6dcf0ab3354c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4ad9378dba4284" /><Relationship Type="http://schemas.openxmlformats.org/officeDocument/2006/relationships/image" Target="/ppt/media/image4.jpeg" Id="Ra644819354874cf2" /><Relationship Type="http://schemas.openxmlformats.org/officeDocument/2006/relationships/notesSlide" Target="/ppt/notesSlides/notesSlide4.xml" Id="R183954e0772546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3a9eb531624082" /><Relationship Type="http://schemas.openxmlformats.org/officeDocument/2006/relationships/image" Target="/ppt/media/image5.jpeg" Id="R6fdecb004b9343fe" /><Relationship Type="http://schemas.openxmlformats.org/officeDocument/2006/relationships/notesSlide" Target="/ppt/notesSlides/notesSlide5.xml" Id="Rdc73cc3a138344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43dddd355f4904" /><Relationship Type="http://schemas.openxmlformats.org/officeDocument/2006/relationships/image" Target="/ppt/media/image6.jpeg" Id="R494864cc495f466f" /><Relationship Type="http://schemas.openxmlformats.org/officeDocument/2006/relationships/notesSlide" Target="/ppt/notesSlides/notesSlide6.xml" Id="Re11fb7fd03744d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82c2a1be9046d2" /><Relationship Type="http://schemas.openxmlformats.org/officeDocument/2006/relationships/image" Target="/ppt/media/image7.jpeg" Id="Ra0219459f932496b" /><Relationship Type="http://schemas.openxmlformats.org/officeDocument/2006/relationships/notesSlide" Target="/ppt/notesSlides/notesSlide7.xml" Id="R08d2dd248b864e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30b21af7614e50" /><Relationship Type="http://schemas.openxmlformats.org/officeDocument/2006/relationships/image" Target="/ppt/media/image8.jpeg" Id="Rd35a6e16d4e04939" /><Relationship Type="http://schemas.openxmlformats.org/officeDocument/2006/relationships/notesSlide" Target="/ppt/notesSlides/notesSlide8.xml" Id="R53e592ad74694b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fb5272bbd246c0" /><Relationship Type="http://schemas.openxmlformats.org/officeDocument/2006/relationships/image" Target="/ppt/media/image9.jpeg" Id="Rec7dc8c5c7bb43e8" /><Relationship Type="http://schemas.openxmlformats.org/officeDocument/2006/relationships/notesSlide" Target="/ppt/notesSlides/notesSlide9.xml" Id="R37e858b155a640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bb888598b54317" /><Relationship Type="http://schemas.openxmlformats.org/officeDocument/2006/relationships/image" Target="/ppt/media/image10.jpeg" Id="R9bccb46ac65b454f" /><Relationship Type="http://schemas.openxmlformats.org/officeDocument/2006/relationships/notesSlide" Target="/ppt/notesSlides/notesSlide10.xml" Id="R926d95a0b9ae43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c16b164a524aa6" /><Relationship Type="http://schemas.openxmlformats.org/officeDocument/2006/relationships/image" Target="/ppt/media/image11.jpeg" Id="R4ea9ce6cb16949a2" /><Relationship Type="http://schemas.openxmlformats.org/officeDocument/2006/relationships/notesSlide" Target="/ppt/notesSlides/notesSlide11.xml" Id="R1c04ff882d7445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305550ca1d4b80" /><Relationship Type="http://schemas.openxmlformats.org/officeDocument/2006/relationships/image" Target="/ppt/media/image12.jpeg" Id="R9e8d21681bf046b9" /><Relationship Type="http://schemas.openxmlformats.org/officeDocument/2006/relationships/notesSlide" Target="/ppt/notesSlides/notesSlide12.xml" Id="R43782fa5d8714f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77449027674dd2" /><Relationship Type="http://schemas.openxmlformats.org/officeDocument/2006/relationships/image" Target="/ppt/media/image13.jpeg" Id="Re42a059c1b9c4d8f" /><Relationship Type="http://schemas.openxmlformats.org/officeDocument/2006/relationships/notesSlide" Target="/ppt/notesSlides/notesSlide13.xml" Id="R5a92aac9913044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3967845693c4374" /><Relationship Type="http://schemas.openxmlformats.org/officeDocument/2006/relationships/image" Target="/ppt/media/image14.jpeg" Id="R196ebf47c7174a52" /><Relationship Type="http://schemas.openxmlformats.org/officeDocument/2006/relationships/notesSlide" Target="/ppt/notesSlides/notesSlide14.xml" Id="R673b7afa5c5943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e38a69317dc4132" /><Relationship Type="http://schemas.openxmlformats.org/officeDocument/2006/relationships/image" Target="/ppt/media/image15.jpeg" Id="R41d759e7c7204d02" /><Relationship Type="http://schemas.openxmlformats.org/officeDocument/2006/relationships/notesSlide" Target="/ppt/notesSlides/notesSlide15.xml" Id="R30c2f43acb5541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9e53d8334a3418f" /><Relationship Type="http://schemas.openxmlformats.org/officeDocument/2006/relationships/image" Target="/ppt/media/image16.jpeg" Id="R3b3d7b017d994dd8" /><Relationship Type="http://schemas.openxmlformats.org/officeDocument/2006/relationships/notesSlide" Target="/ppt/notesSlides/notesSlide16.xml" Id="R06b6864dea24402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81078c86a5c49e3" /><Relationship Type="http://schemas.openxmlformats.org/officeDocument/2006/relationships/image" Target="/ppt/media/image17.jpeg" Id="R140f834d933a4f82" /><Relationship Type="http://schemas.openxmlformats.org/officeDocument/2006/relationships/notesSlide" Target="/ppt/notesSlides/notesSlide17.xml" Id="R797f700ebafd40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e09d99db61f4f3b" /><Relationship Type="http://schemas.openxmlformats.org/officeDocument/2006/relationships/image" Target="/ppt/media/image18.jpeg" Id="R8f3077f1527c4a94" /><Relationship Type="http://schemas.openxmlformats.org/officeDocument/2006/relationships/notesSlide" Target="/ppt/notesSlides/notesSlide18.xml" Id="R97f6d126369f4c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32725c2f4144f2d" /><Relationship Type="http://schemas.openxmlformats.org/officeDocument/2006/relationships/image" Target="/ppt/media/image19.jpeg" Id="R5736459cac034550" /><Relationship Type="http://schemas.openxmlformats.org/officeDocument/2006/relationships/notesSlide" Target="/ppt/notesSlides/notesSlide19.xml" Id="R1f2b883c82ea4aa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73f321bd8ef411d" /><Relationship Type="http://schemas.openxmlformats.org/officeDocument/2006/relationships/image" Target="/ppt/media/image20.jpeg" Id="R5eb38aaa122f45d2" /><Relationship Type="http://schemas.openxmlformats.org/officeDocument/2006/relationships/notesSlide" Target="/ppt/notesSlides/notesSlide20.xml" Id="R9e25afd1d867472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dcf8fd29ae14c01" /><Relationship Type="http://schemas.openxmlformats.org/officeDocument/2006/relationships/image" Target="/ppt/media/image21.jpeg" Id="R3e6e54f154fa4120" /><Relationship Type="http://schemas.openxmlformats.org/officeDocument/2006/relationships/image" Target="/ppt/media/image.png" Id="Rab5aaa5679584926" /><Relationship Type="http://schemas.openxmlformats.org/officeDocument/2006/relationships/image" Target="/ppt/media/image2.png" Id="Rc3c6b756a4ce48a4" /><Relationship Type="http://schemas.openxmlformats.org/officeDocument/2006/relationships/notesSlide" Target="/ppt/notesSlides/notesSlide21.xml" Id="R89c3ea9f14a941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b0b098d048a4306" /><Relationship Type="http://schemas.openxmlformats.org/officeDocument/2006/relationships/image" Target="/ppt/media/image22.jpeg" Id="Re7ac25456da0456a" /><Relationship Type="http://schemas.openxmlformats.org/officeDocument/2006/relationships/image" Target="/ppt/media/image3.png" Id="Ra608b4cdc2a642f6" /><Relationship Type="http://schemas.openxmlformats.org/officeDocument/2006/relationships/image" Target="/ppt/media/image4.png" Id="R1b3cc6dd5530466f" /><Relationship Type="http://schemas.openxmlformats.org/officeDocument/2006/relationships/notesSlide" Target="/ppt/notesSlides/notesSlide22.xml" Id="Rc71573045737439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86492f9e8a044d1" /><Relationship Type="http://schemas.openxmlformats.org/officeDocument/2006/relationships/image" Target="/ppt/media/image23.jpeg" Id="R4034a2aee527441a" /><Relationship Type="http://schemas.openxmlformats.org/officeDocument/2006/relationships/image" Target="/ppt/media/image5.png" Id="Rf5142df654294bbf" /><Relationship Type="http://schemas.openxmlformats.org/officeDocument/2006/relationships/notesSlide" Target="/ppt/notesSlides/notesSlide23.xml" Id="Rc4e84005691048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1e1da6f1cc04461" /><Relationship Type="http://schemas.openxmlformats.org/officeDocument/2006/relationships/image" Target="/ppt/media/image24.jpeg" Id="R7f14a23381604e49" /><Relationship Type="http://schemas.openxmlformats.org/officeDocument/2006/relationships/image" Target="/ppt/media/image6.png" Id="Rea0ceef8912f474e" /><Relationship Type="http://schemas.openxmlformats.org/officeDocument/2006/relationships/image" Target="/ppt/media/image7.png" Id="R74de25e5492448e8" /><Relationship Type="http://schemas.openxmlformats.org/officeDocument/2006/relationships/notesSlide" Target="/ppt/notesSlides/notesSlide24.xml" Id="R7b34421306e54bc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34c1acd98954bce" /><Relationship Type="http://schemas.openxmlformats.org/officeDocument/2006/relationships/image" Target="/ppt/media/image25.jpeg" Id="R9a83c9ceebee4313" /><Relationship Type="http://schemas.openxmlformats.org/officeDocument/2006/relationships/image" Target="/ppt/media/image8.png" Id="Reec91b145f574f6d" /><Relationship Type="http://schemas.openxmlformats.org/officeDocument/2006/relationships/notesSlide" Target="/ppt/notesSlides/notesSlide25.xml" Id="R1e72a6759cf94b7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335cc5472b2417d" /><Relationship Type="http://schemas.openxmlformats.org/officeDocument/2006/relationships/image" Target="/ppt/media/image26.jpeg" Id="Re5892e151c4e4f35" /><Relationship Type="http://schemas.openxmlformats.org/officeDocument/2006/relationships/notesSlide" Target="/ppt/notesSlides/notesSlide26.xml" Id="R9ff11fea887f4a6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fbfcb80c8a7480c" /><Relationship Type="http://schemas.openxmlformats.org/officeDocument/2006/relationships/image" Target="/ppt/media/image27.jpeg" Id="Rdbbd931bc2d742da" /><Relationship Type="http://schemas.openxmlformats.org/officeDocument/2006/relationships/notesSlide" Target="/ppt/notesSlides/notesSlide27.xml" Id="R2bcffc24ab90482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9bd605333f94db8" /><Relationship Type="http://schemas.openxmlformats.org/officeDocument/2006/relationships/image" Target="/ppt/media/image28.jpeg" Id="R1b277e4ab0734983" /><Relationship Type="http://schemas.openxmlformats.org/officeDocument/2006/relationships/notesSlide" Target="/ppt/notesSlides/notesSlide28.xml" Id="Rfa62d5f7358b42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6cc0f847a6a48fa" /><Relationship Type="http://schemas.openxmlformats.org/officeDocument/2006/relationships/image" Target="/ppt/media/image29.jpeg" Id="Rb8e96f0f5bcc4049" /><Relationship Type="http://schemas.openxmlformats.org/officeDocument/2006/relationships/notesSlide" Target="/ppt/notesSlides/notesSlide29.xml" Id="R2ea912f0721c40d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728e29f014449d3" /><Relationship Type="http://schemas.openxmlformats.org/officeDocument/2006/relationships/image" Target="/ppt/media/image30.jpeg" Id="Ra4397f872ad042a1" /><Relationship Type="http://schemas.openxmlformats.org/officeDocument/2006/relationships/notesSlide" Target="/ppt/notesSlides/notesSlide30.xml" Id="Rfaa9cdc901c441d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7be0fcca4314a9d" /><Relationship Type="http://schemas.openxmlformats.org/officeDocument/2006/relationships/image" Target="/ppt/media/image31.jpeg" Id="Rfb947a03ede84f27" /><Relationship Type="http://schemas.openxmlformats.org/officeDocument/2006/relationships/notesSlide" Target="/ppt/notesSlides/notesSlide31.xml" Id="R1dee13f0a720475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81dd7d841954b17" /><Relationship Type="http://schemas.openxmlformats.org/officeDocument/2006/relationships/image" Target="/ppt/media/image32.jpeg" Id="R71869065b1a94688" /><Relationship Type="http://schemas.openxmlformats.org/officeDocument/2006/relationships/notesSlide" Target="/ppt/notesSlides/notesSlide32.xml" Id="Rbd614450734e448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747595718bf4843" /><Relationship Type="http://schemas.openxmlformats.org/officeDocument/2006/relationships/image" Target="/ppt/media/image33.jpeg" Id="Re29d57efb13a428e" /><Relationship Type="http://schemas.openxmlformats.org/officeDocument/2006/relationships/notesSlide" Target="/ppt/notesSlides/notesSlide33.xml" Id="Rfdbc060698194b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d969230f96f4a86" /><Relationship Type="http://schemas.openxmlformats.org/officeDocument/2006/relationships/image" Target="/ppt/media/image34.jpeg" Id="Rbbfe1925fb5a448b" /><Relationship Type="http://schemas.openxmlformats.org/officeDocument/2006/relationships/notesSlide" Target="/ppt/notesSlides/notesSlide34.xml" Id="Re88ca551db104a8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12cf4bf83a247ef" /><Relationship Type="http://schemas.openxmlformats.org/officeDocument/2006/relationships/image" Target="/ppt/media/image35.jpeg" Id="Rdc6ff95167cd4ff9" /><Relationship Type="http://schemas.openxmlformats.org/officeDocument/2006/relationships/notesSlide" Target="/ppt/notesSlides/notesSlide35.xml" Id="R019359a5609740d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484399e1afe42be" /><Relationship Type="http://schemas.openxmlformats.org/officeDocument/2006/relationships/image" Target="/ppt/media/image36.jpeg" Id="Raf864fb35c074ca7" /><Relationship Type="http://schemas.openxmlformats.org/officeDocument/2006/relationships/notesSlide" Target="/ppt/notesSlides/notesSlide36.xml" Id="R44fc946bea0a459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9bf318b82724f0a" /><Relationship Type="http://schemas.openxmlformats.org/officeDocument/2006/relationships/image" Target="/ppt/media/image37.jpeg" Id="R2870691ac00e4ffe" /><Relationship Type="http://schemas.openxmlformats.org/officeDocument/2006/relationships/notesSlide" Target="/ppt/notesSlides/notesSlide37.xml" Id="R8c75ddb8532c469c" /></Relationships>
</file>

<file path=ppt/slides/slide1.xml><?xml version="1.0" encoding="utf-8"?>
<p:sld xmlns:p="http://schemas.openxmlformats.org/presentationml/2006/main">
  <p:cSld>
    <p:bg>
      <p:bgPr>
        <a:gradFill xmlns:a="http://schemas.openxmlformats.org/drawingml/2006/main">
          <a:gsLst>
            <a:gs pos="0">
              <a:srgbClr val="0D4489"/>
            </a:gs>
            <a:gs pos="60000">
              <a:srgbClr val="0A2A66"/>
            </a:gs>
            <a:gs pos="100000">
              <a:srgbClr val="061C3F"/>
            </a:gs>
          </a:gsLst>
          <a:lin ang="7200000"/>
        </a:gradFill>
      </p:bgPr>
    </p:bg>
    <p:spTree>
      <p:nvGrpSpPr>
        <p:cNvPr id="1" name=""/>
        <p:cNvGrpSpPr/>
        <p:nvPr/>
      </p:nvGrpSpPr>
      <p:grpSpPr>
        <a:xfrm xmlns:a="http://schemas.openxmlformats.org/drawingml/2006/main"/>
      </p:grpSpPr>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4352a142d0c4422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8DC7EC-7576-4EFA-B6D7-851DA88C88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9561CAE5-511E-434C-AEE4-A673C38F9767}"/>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1736749-E80A-4BF5-B6E3-A437E2C8703A}"/>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48A4CEC-1494-44D8-B204-1C467D1F7D8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F9D82FDA-A541-4E90-AE06-6AB3C345C0C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45F0F1D4-DB63-4A29-A614-DC531B65CB7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E6486AC4-E276-4B7E-962D-D37B80B72B9D}"/>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870F974E-D0D8-4214-B022-D419FF079D70}"/>
              </a:ext>
            </a:extLst>
          </p:cNvPr>
          <p:cNvSpPr>
            <a:spLocks xmlns:a="http://schemas.openxmlformats.org/drawingml/2006/main" noGrp="1"/>
          </p:cNvSpPr>
          <p:nvPr/>
        </p:nvSpPr>
        <p:spPr>
          <a:xfrm xmlns:a="http://schemas.openxmlformats.org/drawingml/2006/main">
            <a:off x="8382000" y="0"/>
            <a:ext cx="3810000" cy="4191000"/>
          </a:xfrm>
          <a:prstGeom xmlns:a="http://schemas.openxmlformats.org/drawingml/2006/main" prst="ellipse">
            <a:avLst/>
          </a:prstGeom>
          <a:gradFill xmlns:a="http://schemas.openxmlformats.org/drawingml/2006/main">
            <a:gsLst>
              <a:gs pos="0">
                <a:srgbClr val="3E8AD8">
                  <a:alpha val="45000"/>
                </a:srgbClr>
              </a:gs>
              <a:gs pos="45000">
                <a:srgbClr val="3E8AD8">
                  <a:alpha val="18000"/>
                </a:srgbClr>
              </a:gs>
              <a:gs pos="100000">
                <a:srgbClr val="3E8AD8">
                  <a:alpha val="0"/>
                </a:srgbClr>
              </a:gs>
            </a:gsLst>
            <a:path path="shape"/>
          </a:gra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394951B5-812E-4BB4-B113-542F11052AD9}"/>
              </a:ext>
            </a:extLst>
          </p:cNvPr>
          <p:cNvSpPr>
            <a:spLocks xmlns:a="http://schemas.openxmlformats.org/drawingml/2006/main" noGrp="1"/>
          </p:cNvSpPr>
          <p:nvPr/>
        </p:nvSpPr>
        <p:spPr>
          <a:xfrm xmlns:a="http://schemas.openxmlformats.org/drawingml/2006/main">
            <a:off x="9620250" y="3810000"/>
            <a:ext cx="2571750" cy="3048000"/>
          </a:xfrm>
          <a:prstGeom xmlns:a="http://schemas.openxmlformats.org/drawingml/2006/main" prst="ellipse">
            <a:avLst/>
          </a:prstGeom>
          <a:gradFill xmlns:a="http://schemas.openxmlformats.org/drawingml/2006/main">
            <a:gsLst>
              <a:gs pos="0">
                <a:srgbClr val="FFD24A">
                  <a:alpha val="12000"/>
                </a:srgbClr>
              </a:gs>
              <a:gs pos="45000">
                <a:srgbClr val="FFD24A">
                  <a:alpha val="5000"/>
                </a:srgbClr>
              </a:gs>
              <a:gs pos="100000">
                <a:srgbClr val="FFD24A">
                  <a:alpha val="0"/>
                </a:srgbClr>
              </a:gs>
            </a:gsLst>
            <a:path path="shape"/>
          </a:gra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049F1A5C-A7A6-4730-8954-5E78625EADE1}"/>
              </a:ext>
            </a:extLst>
          </p:cNvPr>
          <p:cNvSpPr>
            <a:spLocks xmlns:a="http://schemas.openxmlformats.org/drawingml/2006/main" noGrp="1"/>
          </p:cNvSpPr>
          <p:nvPr/>
        </p:nvSpPr>
        <p:spPr>
          <a:xfrm xmlns:a="http://schemas.openxmlformats.org/drawingml/2006/main">
            <a:off x="103632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1C3C82B7-E571-4465-9343-D6C1DAA9EDB3}"/>
              </a:ext>
            </a:extLst>
          </p:cNvPr>
          <p:cNvSpPr>
            <a:spLocks xmlns:a="http://schemas.openxmlformats.org/drawingml/2006/main" noGrp="1"/>
          </p:cNvSpPr>
          <p:nvPr/>
        </p:nvSpPr>
        <p:spPr>
          <a:xfrm xmlns:a="http://schemas.openxmlformats.org/drawingml/2006/main">
            <a:off x="103632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9B520E98-87F2-4372-9048-2B2011F5D815}"/>
              </a:ext>
            </a:extLst>
          </p:cNvPr>
          <p:cNvSpPr>
            <a:spLocks xmlns:a="http://schemas.openxmlformats.org/drawingml/2006/main" noGrp="1"/>
          </p:cNvSpPr>
          <p:nvPr/>
        </p:nvSpPr>
        <p:spPr>
          <a:xfrm xmlns:a="http://schemas.openxmlformats.org/drawingml/2006/main">
            <a:off x="103632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C3EB3005-0C2D-4453-BC89-860CE11DA50D}"/>
              </a:ext>
            </a:extLst>
          </p:cNvPr>
          <p:cNvSpPr>
            <a:spLocks xmlns:a="http://schemas.openxmlformats.org/drawingml/2006/main" noGrp="1"/>
          </p:cNvSpPr>
          <p:nvPr/>
        </p:nvSpPr>
        <p:spPr>
          <a:xfrm xmlns:a="http://schemas.openxmlformats.org/drawingml/2006/main">
            <a:off x="105156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5C305C29-9760-4BBF-82E3-784B61FE3B26}"/>
              </a:ext>
            </a:extLst>
          </p:cNvPr>
          <p:cNvSpPr>
            <a:spLocks xmlns:a="http://schemas.openxmlformats.org/drawingml/2006/main" noGrp="1"/>
          </p:cNvSpPr>
          <p:nvPr/>
        </p:nvSpPr>
        <p:spPr>
          <a:xfrm xmlns:a="http://schemas.openxmlformats.org/drawingml/2006/main">
            <a:off x="105156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EE96A41F-CF64-440D-963E-09D63673048B}"/>
              </a:ext>
            </a:extLst>
          </p:cNvPr>
          <p:cNvSpPr>
            <a:spLocks xmlns:a="http://schemas.openxmlformats.org/drawingml/2006/main" noGrp="1"/>
          </p:cNvSpPr>
          <p:nvPr/>
        </p:nvSpPr>
        <p:spPr>
          <a:xfrm xmlns:a="http://schemas.openxmlformats.org/drawingml/2006/main">
            <a:off x="105156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567B1EF8-CF1A-49B1-9174-C8406DB30F8E}"/>
              </a:ext>
            </a:extLst>
          </p:cNvPr>
          <p:cNvSpPr>
            <a:spLocks xmlns:a="http://schemas.openxmlformats.org/drawingml/2006/main" noGrp="1"/>
          </p:cNvSpPr>
          <p:nvPr/>
        </p:nvSpPr>
        <p:spPr>
          <a:xfrm xmlns:a="http://schemas.openxmlformats.org/drawingml/2006/main">
            <a:off x="106680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B7523546-B38F-4B10-95DD-6C9D3AE571C6}"/>
              </a:ext>
            </a:extLst>
          </p:cNvPr>
          <p:cNvSpPr>
            <a:spLocks xmlns:a="http://schemas.openxmlformats.org/drawingml/2006/main" noGrp="1"/>
          </p:cNvSpPr>
          <p:nvPr/>
        </p:nvSpPr>
        <p:spPr>
          <a:xfrm xmlns:a="http://schemas.openxmlformats.org/drawingml/2006/main">
            <a:off x="106680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27C8FABC-7710-44CA-9A60-31D5A6E81A5D}"/>
              </a:ext>
            </a:extLst>
          </p:cNvPr>
          <p:cNvSpPr>
            <a:spLocks xmlns:a="http://schemas.openxmlformats.org/drawingml/2006/main" noGrp="1"/>
          </p:cNvSpPr>
          <p:nvPr/>
        </p:nvSpPr>
        <p:spPr>
          <a:xfrm xmlns:a="http://schemas.openxmlformats.org/drawingml/2006/main">
            <a:off x="106680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459B4069-B51A-4F1A-99A8-746AE14B848C}"/>
              </a:ext>
            </a:extLst>
          </p:cNvPr>
          <p:cNvSpPr>
            <a:spLocks xmlns:a="http://schemas.openxmlformats.org/drawingml/2006/main" noGrp="1"/>
          </p:cNvSpPr>
          <p:nvPr/>
        </p:nvSpPr>
        <p:spPr>
          <a:xfrm xmlns:a="http://schemas.openxmlformats.org/drawingml/2006/main">
            <a:off x="108204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F1005F9D-CF6D-48D1-B6CB-62E05463AC1B}"/>
              </a:ext>
            </a:extLst>
          </p:cNvPr>
          <p:cNvSpPr>
            <a:spLocks xmlns:a="http://schemas.openxmlformats.org/drawingml/2006/main" noGrp="1"/>
          </p:cNvSpPr>
          <p:nvPr/>
        </p:nvSpPr>
        <p:spPr>
          <a:xfrm xmlns:a="http://schemas.openxmlformats.org/drawingml/2006/main">
            <a:off x="108204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E2713988-2BEA-4BF4-9DDA-DAF2828DCD7D}"/>
              </a:ext>
            </a:extLst>
          </p:cNvPr>
          <p:cNvSpPr>
            <a:spLocks xmlns:a="http://schemas.openxmlformats.org/drawingml/2006/main" noGrp="1"/>
          </p:cNvSpPr>
          <p:nvPr/>
        </p:nvSpPr>
        <p:spPr>
          <a:xfrm xmlns:a="http://schemas.openxmlformats.org/drawingml/2006/main">
            <a:off x="108204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BB8CE75A-7570-4916-B40A-46362B60730D}"/>
              </a:ext>
            </a:extLst>
          </p:cNvPr>
          <p:cNvSpPr>
            <a:spLocks xmlns:a="http://schemas.openxmlformats.org/drawingml/2006/main" noGrp="1"/>
          </p:cNvSpPr>
          <p:nvPr/>
        </p:nvSpPr>
        <p:spPr>
          <a:xfrm xmlns:a="http://schemas.openxmlformats.org/drawingml/2006/main">
            <a:off x="109728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777C5943-5AFD-443B-B1B5-C05B2C4A2FE1}"/>
              </a:ext>
            </a:extLst>
          </p:cNvPr>
          <p:cNvSpPr>
            <a:spLocks xmlns:a="http://schemas.openxmlformats.org/drawingml/2006/main" noGrp="1"/>
          </p:cNvSpPr>
          <p:nvPr/>
        </p:nvSpPr>
        <p:spPr>
          <a:xfrm xmlns:a="http://schemas.openxmlformats.org/drawingml/2006/main">
            <a:off x="109728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9A7E39A5-9356-4436-A5A3-A75EB905049C}"/>
              </a:ext>
            </a:extLst>
          </p:cNvPr>
          <p:cNvSpPr>
            <a:spLocks xmlns:a="http://schemas.openxmlformats.org/drawingml/2006/main" noGrp="1"/>
          </p:cNvSpPr>
          <p:nvPr/>
        </p:nvSpPr>
        <p:spPr>
          <a:xfrm xmlns:a="http://schemas.openxmlformats.org/drawingml/2006/main">
            <a:off x="109728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78372ADC-BDCB-44E7-9AC2-4FB625578A58}"/>
              </a:ext>
            </a:extLst>
          </p:cNvPr>
          <p:cNvSpPr>
            <a:spLocks xmlns:a="http://schemas.openxmlformats.org/drawingml/2006/main" noGrp="1"/>
          </p:cNvSpPr>
          <p:nvPr/>
        </p:nvSpPr>
        <p:spPr>
          <a:xfrm xmlns:a="http://schemas.openxmlformats.org/drawingml/2006/main">
            <a:off x="10363200" y="2171700"/>
            <a:ext cx="1676400" cy="152400"/>
          </a:xfrm>
          <a:prstGeom xmlns:a="http://schemas.openxmlformats.org/drawingml/2006/main" prst="rect">
            <a:avLst/>
          </a:prstGeom>
          <a:pattFill xmlns:a="http://schemas.openxmlformats.org/drawingml/2006/main" prst="wdUpDiag">
            <a:fgClr>
              <a:srgbClr val="7FC4FF">
                <a:alpha val="45000"/>
              </a:srgbClr>
            </a:fgClr>
            <a:bgClr>
              <a:srgbClr val="0A2F6B"/>
            </a:bgClr>
          </a:patt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9AD8CEB7-C770-4D8C-B0FC-F7DACEE13115}"/>
              </a:ext>
            </a:extLst>
          </p:cNvPr>
          <p:cNvSpPr>
            <a:spLocks xmlns:a="http://schemas.openxmlformats.org/drawingml/2006/main" noGrp="1"/>
          </p:cNvSpPr>
          <p:nvPr/>
        </p:nvSpPr>
        <p:spPr>
          <a:xfrm xmlns:a="http://schemas.openxmlformats.org/drawingml/2006/main">
            <a:off x="10363200"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2E980AE1-FC06-442F-A496-BDC208C4E389}"/>
              </a:ext>
            </a:extLst>
          </p:cNvPr>
          <p:cNvSpPr>
            <a:spLocks xmlns:a="http://schemas.openxmlformats.org/drawingml/2006/main" noGrp="1"/>
          </p:cNvSpPr>
          <p:nvPr/>
        </p:nvSpPr>
        <p:spPr>
          <a:xfrm xmlns:a="http://schemas.openxmlformats.org/drawingml/2006/main">
            <a:off x="10363200"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9D2709C1-3AD2-4F08-898D-968E3C321EEA}"/>
              </a:ext>
            </a:extLst>
          </p:cNvPr>
          <p:cNvSpPr>
            <a:spLocks xmlns:a="http://schemas.openxmlformats.org/drawingml/2006/main" noGrp="1"/>
          </p:cNvSpPr>
          <p:nvPr/>
        </p:nvSpPr>
        <p:spPr>
          <a:xfrm xmlns:a="http://schemas.openxmlformats.org/drawingml/2006/main">
            <a:off x="10467975"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48570519-F512-4C15-969E-06061CE21766}"/>
              </a:ext>
            </a:extLst>
          </p:cNvPr>
          <p:cNvSpPr>
            <a:spLocks xmlns:a="http://schemas.openxmlformats.org/drawingml/2006/main" noGrp="1"/>
          </p:cNvSpPr>
          <p:nvPr/>
        </p:nvSpPr>
        <p:spPr>
          <a:xfrm xmlns:a="http://schemas.openxmlformats.org/drawingml/2006/main">
            <a:off x="10467975"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4FA4C141-C343-46D3-82D8-4202432923BA}"/>
              </a:ext>
            </a:extLst>
          </p:cNvPr>
          <p:cNvSpPr>
            <a:spLocks xmlns:a="http://schemas.openxmlformats.org/drawingml/2006/main" noGrp="1"/>
          </p:cNvSpPr>
          <p:nvPr/>
        </p:nvSpPr>
        <p:spPr>
          <a:xfrm xmlns:a="http://schemas.openxmlformats.org/drawingml/2006/main">
            <a:off x="10572750"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D1EB60EB-7037-46F3-8EE8-EE375139D943}"/>
              </a:ext>
            </a:extLst>
          </p:cNvPr>
          <p:cNvSpPr>
            <a:spLocks xmlns:a="http://schemas.openxmlformats.org/drawingml/2006/main" noGrp="1"/>
          </p:cNvSpPr>
          <p:nvPr/>
        </p:nvSpPr>
        <p:spPr>
          <a:xfrm xmlns:a="http://schemas.openxmlformats.org/drawingml/2006/main">
            <a:off x="10572750"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19DFAA24-668B-4573-A54B-67B06DA06574}"/>
              </a:ext>
            </a:extLst>
          </p:cNvPr>
          <p:cNvSpPr>
            <a:spLocks xmlns:a="http://schemas.openxmlformats.org/drawingml/2006/main" noGrp="1"/>
          </p:cNvSpPr>
          <p:nvPr/>
        </p:nvSpPr>
        <p:spPr>
          <a:xfrm xmlns:a="http://schemas.openxmlformats.org/drawingml/2006/main">
            <a:off x="10677525"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E5AEAFA-2812-4B78-B9BA-7EDC817F2656}"/>
              </a:ext>
            </a:extLst>
          </p:cNvPr>
          <p:cNvSpPr>
            <a:spLocks xmlns:a="http://schemas.openxmlformats.org/drawingml/2006/main" noGrp="1"/>
          </p:cNvSpPr>
          <p:nvPr/>
        </p:nvSpPr>
        <p:spPr>
          <a:xfrm xmlns:a="http://schemas.openxmlformats.org/drawingml/2006/main">
            <a:off x="10677525"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D8EE31E0-A8C2-473F-8A57-8C51A52696A4}"/>
              </a:ext>
            </a:extLst>
          </p:cNvPr>
          <p:cNvSpPr>
            <a:spLocks xmlns:a="http://schemas.openxmlformats.org/drawingml/2006/main" noGrp="1"/>
          </p:cNvSpPr>
          <p:nvPr/>
        </p:nvSpPr>
        <p:spPr>
          <a:xfrm xmlns:a="http://schemas.openxmlformats.org/drawingml/2006/main">
            <a:off x="10782300"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4C412A83-7EC5-4825-942C-AF23D836CF8C}"/>
              </a:ext>
            </a:extLst>
          </p:cNvPr>
          <p:cNvSpPr>
            <a:spLocks xmlns:a="http://schemas.openxmlformats.org/drawingml/2006/main" noGrp="1"/>
          </p:cNvSpPr>
          <p:nvPr/>
        </p:nvSpPr>
        <p:spPr>
          <a:xfrm xmlns:a="http://schemas.openxmlformats.org/drawingml/2006/main">
            <a:off x="10782300"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83075F26-E0ED-4051-A9A5-B767A8595A3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7E3DC28C-7F61-4715-ADB6-DB48720560CD}"/>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716BE7BD-F671-4CFE-8C7E-925E1F9E39E2}"/>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40" name="">
            <a:extLst xmlns:a="http://schemas.openxmlformats.org/drawingml/2006/main">
              <a:ext uri="{FF2B5EF4-FFF2-40B4-BE49-F238E27FC236}">
                <a16:creationId xmlns:a16="http://schemas.microsoft.com/office/drawing/2014/main" id="{C30083EA-C05A-4F0B-82CD-B8DF73317A02}"/>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83C49554-D1D1-44BF-8768-168F20943379}"/>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A8856545-EB0D-4DC1-9BB8-216C15044B9D}"/>
              </a:ext>
            </a:extLst>
          </p:cNvPr>
          <p:cNvSpPr>
            <a:spLocks xmlns:a="http://schemas.openxmlformats.org/drawingml/2006/main" noGrp="1"/>
          </p:cNvSpPr>
          <p:nvPr/>
        </p:nvSpPr>
        <p:spPr>
          <a:xfrm xmlns:a="http://schemas.openxmlformats.org/drawingml/2006/main">
            <a:off x="723900" y="800100"/>
            <a:ext cx="57150" cy="10096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16F3AF9C-DEBA-473C-9C00-9AE078F4C9DC}"/>
              </a:ext>
            </a:extLst>
          </p:cNvPr>
          <p:cNvSpPr>
            <a:spLocks xmlns:a="http://schemas.openxmlformats.org/drawingml/2006/main" noGrp="1"/>
          </p:cNvSpPr>
          <p:nvPr/>
        </p:nvSpPr>
        <p:spPr>
          <a:xfrm xmlns:a="http://schemas.openxmlformats.org/drawingml/2006/main">
            <a:off x="952500" y="704850"/>
            <a:ext cx="7620000" cy="1066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6600" b="1" spc="4">
                <a:solidFill>
                  <a:srgbClr val="FFFFFF"/>
                </a:solidFill>
                <a:latin typeface="微软雅黑"/>
                <a:ea typeface="微软雅黑"/>
                <a:cs typeface="微软雅黑"/>
              </a:defRPr>
            </a:pPr>
            <a:r>
              <a:rPr sz="6600" b="1" spc="4">
                <a:solidFill>
                  <a:srgbClr val="FFFFFF"/>
                </a:solidFill>
                <a:latin typeface="微软雅黑"/>
                <a:ea typeface="微软雅黑"/>
                <a:cs typeface="微软雅黑"/>
              </a:rPr>
              <a:t>工业智训</a:t>
            </a:r>
          </a:p>
        </p:txBody>
      </p:sp>
      <p:sp>
        <p:nvSpPr>
          <p:cNvPr id="44" name="">
            <a:extLst xmlns:a="http://schemas.openxmlformats.org/drawingml/2006/main">
              <a:ext uri="{FF2B5EF4-FFF2-40B4-BE49-F238E27FC236}">
                <a16:creationId xmlns:a16="http://schemas.microsoft.com/office/drawing/2014/main" id="{56AE1DE4-28E8-401A-9425-1039FC3A38AD}"/>
              </a:ext>
            </a:extLst>
          </p:cNvPr>
          <p:cNvSpPr>
            <a:spLocks xmlns:a="http://schemas.openxmlformats.org/drawingml/2006/main" noGrp="1"/>
          </p:cNvSpPr>
          <p:nvPr/>
        </p:nvSpPr>
        <p:spPr>
          <a:xfrm xmlns:a="http://schemas.openxmlformats.org/drawingml/2006/main">
            <a:off x="990600" y="1752600"/>
            <a:ext cx="7810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4FD8FF"/>
                </a:solidFill>
                <a:latin typeface="微软雅黑"/>
                <a:ea typeface="微软雅黑"/>
                <a:cs typeface="微软雅黑"/>
              </a:defRPr>
            </a:pPr>
            <a:r>
              <a:rPr sz="1950" b="1">
                <a:solidFill>
                  <a:srgbClr val="4FD8FF"/>
                </a:solidFill>
                <a:latin typeface="微软雅黑"/>
                <a:ea typeface="微软雅黑"/>
                <a:cs typeface="微软雅黑"/>
              </a:rPr>
              <a:t>面向变电运维的可解释智能人才培养平台</a:t>
            </a:r>
          </a:p>
        </p:txBody>
      </p:sp>
      <p:sp>
        <p:nvSpPr>
          <p:cNvPr id="45" name="">
            <a:extLst xmlns:a="http://schemas.openxmlformats.org/drawingml/2006/main">
              <a:ext uri="{FF2B5EF4-FFF2-40B4-BE49-F238E27FC236}">
                <a16:creationId xmlns:a16="http://schemas.microsoft.com/office/drawing/2014/main" id="{BE1E61B9-F444-4634-B075-32B8D35FDB24}"/>
              </a:ext>
            </a:extLst>
          </p:cNvPr>
          <p:cNvSpPr>
            <a:spLocks xmlns:a="http://schemas.openxmlformats.org/drawingml/2006/main" noGrp="1"/>
          </p:cNvSpPr>
          <p:nvPr/>
        </p:nvSpPr>
        <p:spPr>
          <a:xfrm xmlns:a="http://schemas.openxmlformats.org/drawingml/2006/main">
            <a:off x="990600" y="2228850"/>
            <a:ext cx="1028700" cy="24003"/>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BB025E82-2977-44D1-B3CF-54AA8679C0CF}"/>
              </a:ext>
            </a:extLst>
          </p:cNvPr>
          <p:cNvSpPr>
            <a:spLocks xmlns:a="http://schemas.openxmlformats.org/drawingml/2006/main" noGrp="1"/>
          </p:cNvSpPr>
          <p:nvPr/>
        </p:nvSpPr>
        <p:spPr>
          <a:xfrm xmlns:a="http://schemas.openxmlformats.org/drawingml/2006/main">
            <a:off x="2133600" y="2171700"/>
            <a:ext cx="8572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00" b="0">
                <a:solidFill>
                  <a:srgbClr val="FFD24A"/>
                </a:solidFill>
                <a:latin typeface="微软雅黑"/>
                <a:ea typeface="微软雅黑"/>
                <a:cs typeface="微软雅黑"/>
              </a:defRPr>
            </a:pPr>
            <a:r>
              <a:rPr sz="1200" b="0">
                <a:solidFill>
                  <a:srgbClr val="FFD24A"/>
                </a:solidFill>
                <a:latin typeface="微软雅黑"/>
                <a:ea typeface="微软雅黑"/>
                <a:cs typeface="微软雅黑"/>
              </a:rPr>
              <a:t>规则先行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模型后置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结论可追溯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离线可运行</a:t>
            </a:r>
          </a:p>
        </p:txBody>
      </p:sp>
      <p:sp>
        <p:nvSpPr>
          <p:cNvPr id="47" name="">
            <a:extLst xmlns:a="http://schemas.openxmlformats.org/drawingml/2006/main">
              <a:ext uri="{FF2B5EF4-FFF2-40B4-BE49-F238E27FC236}">
                <a16:creationId xmlns:a16="http://schemas.microsoft.com/office/drawing/2014/main" id="{86B88EBF-06A4-40DD-A83A-01A952FBFDDC}"/>
              </a:ext>
            </a:extLst>
          </p:cNvPr>
          <p:cNvSpPr>
            <a:spLocks xmlns:a="http://schemas.openxmlformats.org/drawingml/2006/main" noGrp="1"/>
          </p:cNvSpPr>
          <p:nvPr/>
        </p:nvSpPr>
        <p:spPr>
          <a:xfrm xmlns:a="http://schemas.openxmlformats.org/drawingml/2006/main">
            <a:off x="723900" y="2914650"/>
            <a:ext cx="3314700" cy="1543050"/>
          </a:xfrm>
          <a:prstGeom xmlns:a="http://schemas.openxmlformats.org/drawingml/2006/main" prst="roundRect">
            <a:avLst>
              <a:gd name="adj" fmla="val 5556"/>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48" name="">
            <a:extLst xmlns:a="http://schemas.openxmlformats.org/drawingml/2006/main">
              <a:ext uri="{FF2B5EF4-FFF2-40B4-BE49-F238E27FC236}">
                <a16:creationId xmlns:a16="http://schemas.microsoft.com/office/drawing/2014/main" id="{FF98B671-E197-4801-A042-A1393C58010B}"/>
              </a:ext>
            </a:extLst>
          </p:cNvPr>
          <p:cNvSpPr>
            <a:spLocks xmlns:a="http://schemas.openxmlformats.org/drawingml/2006/main" noGrp="1"/>
          </p:cNvSpPr>
          <p:nvPr/>
        </p:nvSpPr>
        <p:spPr>
          <a:xfrm xmlns:a="http://schemas.openxmlformats.org/drawingml/2006/main">
            <a:off x="723900" y="2914650"/>
            <a:ext cx="3314700" cy="3810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72DC7FD0-FA38-4F57-B250-F1183533A757}"/>
              </a:ext>
            </a:extLst>
          </p:cNvPr>
          <p:cNvSpPr>
            <a:spLocks xmlns:a="http://schemas.openxmlformats.org/drawingml/2006/main" noGrp="1"/>
          </p:cNvSpPr>
          <p:nvPr/>
        </p:nvSpPr>
        <p:spPr>
          <a:xfrm xmlns:a="http://schemas.openxmlformats.org/drawingml/2006/main">
            <a:off x="3543300" y="310515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318212D5-F38B-4E6A-A550-47BF54AF973B}"/>
              </a:ext>
            </a:extLst>
          </p:cNvPr>
          <p:cNvSpPr>
            <a:spLocks xmlns:a="http://schemas.openxmlformats.org/drawingml/2006/main" noGrp="1"/>
          </p:cNvSpPr>
          <p:nvPr/>
        </p:nvSpPr>
        <p:spPr>
          <a:xfrm xmlns:a="http://schemas.openxmlformats.org/drawingml/2006/main">
            <a:off x="3543300" y="3209925"/>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F310742D-AFD9-480B-9EC2-2440D129C739}"/>
              </a:ext>
            </a:extLst>
          </p:cNvPr>
          <p:cNvSpPr>
            <a:spLocks xmlns:a="http://schemas.openxmlformats.org/drawingml/2006/main" noGrp="1"/>
          </p:cNvSpPr>
          <p:nvPr/>
        </p:nvSpPr>
        <p:spPr>
          <a:xfrm xmlns:a="http://schemas.openxmlformats.org/drawingml/2006/main">
            <a:off x="3543300" y="33147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9C3D4CC3-1319-4D7D-A932-396A8546145D}"/>
              </a:ext>
            </a:extLst>
          </p:cNvPr>
          <p:cNvSpPr>
            <a:spLocks xmlns:a="http://schemas.openxmlformats.org/drawingml/2006/main" noGrp="1"/>
          </p:cNvSpPr>
          <p:nvPr/>
        </p:nvSpPr>
        <p:spPr>
          <a:xfrm xmlns:a="http://schemas.openxmlformats.org/drawingml/2006/main">
            <a:off x="3648075" y="310515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8C26843C-413A-4E44-B3F2-782943848B46}"/>
              </a:ext>
            </a:extLst>
          </p:cNvPr>
          <p:cNvSpPr>
            <a:spLocks xmlns:a="http://schemas.openxmlformats.org/drawingml/2006/main" noGrp="1"/>
          </p:cNvSpPr>
          <p:nvPr/>
        </p:nvSpPr>
        <p:spPr>
          <a:xfrm xmlns:a="http://schemas.openxmlformats.org/drawingml/2006/main">
            <a:off x="3648075" y="3209925"/>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2E078012-B2A6-49D7-9F82-A82D284D59F8}"/>
              </a:ext>
            </a:extLst>
          </p:cNvPr>
          <p:cNvSpPr>
            <a:spLocks xmlns:a="http://schemas.openxmlformats.org/drawingml/2006/main" noGrp="1"/>
          </p:cNvSpPr>
          <p:nvPr/>
        </p:nvSpPr>
        <p:spPr>
          <a:xfrm xmlns:a="http://schemas.openxmlformats.org/drawingml/2006/main">
            <a:off x="3648075" y="33147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207623B9-C654-4C33-A056-50DC99D37CB3}"/>
              </a:ext>
            </a:extLst>
          </p:cNvPr>
          <p:cNvSpPr>
            <a:spLocks xmlns:a="http://schemas.openxmlformats.org/drawingml/2006/main" noGrp="1"/>
          </p:cNvSpPr>
          <p:nvPr/>
        </p:nvSpPr>
        <p:spPr>
          <a:xfrm xmlns:a="http://schemas.openxmlformats.org/drawingml/2006/main">
            <a:off x="3752850" y="310515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9607FB0D-8EDD-4CD7-9625-DD5E74C75211}"/>
              </a:ext>
            </a:extLst>
          </p:cNvPr>
          <p:cNvSpPr>
            <a:spLocks xmlns:a="http://schemas.openxmlformats.org/drawingml/2006/main" noGrp="1"/>
          </p:cNvSpPr>
          <p:nvPr/>
        </p:nvSpPr>
        <p:spPr>
          <a:xfrm xmlns:a="http://schemas.openxmlformats.org/drawingml/2006/main">
            <a:off x="3752850" y="3209925"/>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0E5971DD-845B-4F28-A94F-732FD1BEB8EE}"/>
              </a:ext>
            </a:extLst>
          </p:cNvPr>
          <p:cNvSpPr>
            <a:spLocks xmlns:a="http://schemas.openxmlformats.org/drawingml/2006/main" noGrp="1"/>
          </p:cNvSpPr>
          <p:nvPr/>
        </p:nvSpPr>
        <p:spPr>
          <a:xfrm xmlns:a="http://schemas.openxmlformats.org/drawingml/2006/main">
            <a:off x="3752850" y="33147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591D1751-741C-4696-9B7C-19D1B5D2E492}"/>
              </a:ext>
            </a:extLst>
          </p:cNvPr>
          <p:cNvSpPr>
            <a:spLocks xmlns:a="http://schemas.openxmlformats.org/drawingml/2006/main" noGrp="1"/>
          </p:cNvSpPr>
          <p:nvPr/>
        </p:nvSpPr>
        <p:spPr>
          <a:xfrm xmlns:a="http://schemas.openxmlformats.org/drawingml/2006/main">
            <a:off x="933450" y="3067050"/>
            <a:ext cx="2381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4FD8FF"/>
                </a:solidFill>
                <a:latin typeface="微软雅黑"/>
                <a:ea typeface="微软雅黑"/>
                <a:cs typeface="微软雅黑"/>
              </a:defRPr>
            </a:pPr>
            <a:r>
              <a:rPr sz="1425" b="1">
                <a:solidFill>
                  <a:srgbClr val="4FD8FF"/>
                </a:solidFill>
                <a:latin typeface="微软雅黑"/>
                <a:ea typeface="微软雅黑"/>
                <a:cs typeface="微软雅黑"/>
              </a:rPr>
              <a:t>应用场景</a:t>
            </a:r>
          </a:p>
        </p:txBody>
      </p:sp>
      <p:sp>
        <p:nvSpPr>
          <p:cNvPr id="59" name="">
            <a:extLst xmlns:a="http://schemas.openxmlformats.org/drawingml/2006/main">
              <a:ext uri="{FF2B5EF4-FFF2-40B4-BE49-F238E27FC236}">
                <a16:creationId xmlns:a16="http://schemas.microsoft.com/office/drawing/2014/main" id="{ABA3DC3D-E9AA-4967-80FF-65C67A9D4D26}"/>
              </a:ext>
            </a:extLst>
          </p:cNvPr>
          <p:cNvSpPr>
            <a:spLocks xmlns:a="http://schemas.openxmlformats.org/drawingml/2006/main" noGrp="1"/>
          </p:cNvSpPr>
          <p:nvPr/>
        </p:nvSpPr>
        <p:spPr>
          <a:xfrm xmlns:a="http://schemas.openxmlformats.org/drawingml/2006/main">
            <a:off x="933450" y="3409950"/>
            <a:ext cx="291465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EEF5FF"/>
                </a:solidFill>
                <a:latin typeface="微软雅黑"/>
                <a:ea typeface="微软雅黑"/>
                <a:cs typeface="微软雅黑"/>
              </a:defRPr>
            </a:pPr>
            <a:r>
              <a:rPr sz="1050" b="0">
                <a:solidFill>
                  <a:srgbClr val="EEF5FF"/>
                </a:solidFill>
                <a:latin typeface="微软雅黑"/>
                <a:ea typeface="微软雅黑"/>
                <a:cs typeface="微软雅黑"/>
              </a:rPr>
              <a:t>电网变电运维
新能源场站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智能制造产线</a:t>
            </a:r>
          </a:p>
        </p:txBody>
      </p:sp>
      <p:sp>
        <p:nvSpPr>
          <p:cNvPr id="60" name="">
            <a:extLst xmlns:a="http://schemas.openxmlformats.org/drawingml/2006/main">
              <a:ext uri="{FF2B5EF4-FFF2-40B4-BE49-F238E27FC236}">
                <a16:creationId xmlns:a16="http://schemas.microsoft.com/office/drawing/2014/main" id="{903F0EBE-B1F5-495A-9BF7-8DF344897719}"/>
              </a:ext>
            </a:extLst>
          </p:cNvPr>
          <p:cNvSpPr>
            <a:spLocks xmlns:a="http://schemas.openxmlformats.org/drawingml/2006/main" noGrp="1"/>
          </p:cNvSpPr>
          <p:nvPr/>
        </p:nvSpPr>
        <p:spPr>
          <a:xfrm xmlns:a="http://schemas.openxmlformats.org/drawingml/2006/main">
            <a:off x="933450" y="3962400"/>
            <a:ext cx="2914650" cy="9525"/>
          </a:xfrm>
          <a:prstGeom xmlns:a="http://schemas.openxmlformats.org/drawingml/2006/main" prst="rect">
            <a:avLst/>
          </a:prstGeom>
          <a:solidFill xmlns:a="http://schemas.openxmlformats.org/drawingml/2006/main">
            <a:srgbClr val="5FA8E8">
              <a:alpha val="7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587959E1-7956-448A-A8D0-D80AE439EA07}"/>
              </a:ext>
            </a:extLst>
          </p:cNvPr>
          <p:cNvSpPr>
            <a:spLocks xmlns:a="http://schemas.openxmlformats.org/drawingml/2006/main" noGrp="1"/>
          </p:cNvSpPr>
          <p:nvPr/>
        </p:nvSpPr>
        <p:spPr>
          <a:xfrm xmlns:a="http://schemas.openxmlformats.org/drawingml/2006/main">
            <a:off x="933450" y="4057650"/>
            <a:ext cx="2933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标准原文与真实报告案例均来自现场</a:t>
            </a:r>
          </a:p>
        </p:txBody>
      </p:sp>
      <p:sp>
        <p:nvSpPr>
          <p:cNvPr id="62" name="">
            <a:extLst xmlns:a="http://schemas.openxmlformats.org/drawingml/2006/main">
              <a:ext uri="{FF2B5EF4-FFF2-40B4-BE49-F238E27FC236}">
                <a16:creationId xmlns:a16="http://schemas.microsoft.com/office/drawing/2014/main" id="{DBE0245B-1D49-4ADA-A2DA-014AA8D443F8}"/>
              </a:ext>
            </a:extLst>
          </p:cNvPr>
          <p:cNvSpPr>
            <a:spLocks xmlns:a="http://schemas.openxmlformats.org/drawingml/2006/main" noGrp="1"/>
          </p:cNvSpPr>
          <p:nvPr/>
        </p:nvSpPr>
        <p:spPr>
          <a:xfrm xmlns:a="http://schemas.openxmlformats.org/drawingml/2006/main">
            <a:off x="4305300" y="2914650"/>
            <a:ext cx="3314700" cy="1543050"/>
          </a:xfrm>
          <a:prstGeom xmlns:a="http://schemas.openxmlformats.org/drawingml/2006/main" prst="roundRect">
            <a:avLst>
              <a:gd name="adj" fmla="val 5556"/>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63" name="">
            <a:extLst xmlns:a="http://schemas.openxmlformats.org/drawingml/2006/main">
              <a:ext uri="{FF2B5EF4-FFF2-40B4-BE49-F238E27FC236}">
                <a16:creationId xmlns:a16="http://schemas.microsoft.com/office/drawing/2014/main" id="{D0D71143-534A-4779-8283-74DFA421B924}"/>
              </a:ext>
            </a:extLst>
          </p:cNvPr>
          <p:cNvSpPr>
            <a:spLocks xmlns:a="http://schemas.openxmlformats.org/drawingml/2006/main" noGrp="1"/>
          </p:cNvSpPr>
          <p:nvPr/>
        </p:nvSpPr>
        <p:spPr>
          <a:xfrm xmlns:a="http://schemas.openxmlformats.org/drawingml/2006/main">
            <a:off x="4305300" y="2914650"/>
            <a:ext cx="3314700" cy="381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206A00C7-1EAA-4EED-AEA5-309A1FCFC497}"/>
              </a:ext>
            </a:extLst>
          </p:cNvPr>
          <p:cNvSpPr>
            <a:spLocks xmlns:a="http://schemas.openxmlformats.org/drawingml/2006/main" noGrp="1"/>
          </p:cNvSpPr>
          <p:nvPr/>
        </p:nvSpPr>
        <p:spPr>
          <a:xfrm xmlns:a="http://schemas.openxmlformats.org/drawingml/2006/main">
            <a:off x="7124700" y="310515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4B3BB014-321D-448F-AFB9-69078CADF451}"/>
              </a:ext>
            </a:extLst>
          </p:cNvPr>
          <p:cNvSpPr>
            <a:spLocks xmlns:a="http://schemas.openxmlformats.org/drawingml/2006/main" noGrp="1"/>
          </p:cNvSpPr>
          <p:nvPr/>
        </p:nvSpPr>
        <p:spPr>
          <a:xfrm xmlns:a="http://schemas.openxmlformats.org/drawingml/2006/main">
            <a:off x="7124700" y="3209925"/>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37370782-1EC2-4A5F-9B12-222D6A1E0C37}"/>
              </a:ext>
            </a:extLst>
          </p:cNvPr>
          <p:cNvSpPr>
            <a:spLocks xmlns:a="http://schemas.openxmlformats.org/drawingml/2006/main" noGrp="1"/>
          </p:cNvSpPr>
          <p:nvPr/>
        </p:nvSpPr>
        <p:spPr>
          <a:xfrm xmlns:a="http://schemas.openxmlformats.org/drawingml/2006/main">
            <a:off x="7124700" y="33147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0F678D7A-8E0C-4D8F-909F-A195C8D3DEC4}"/>
              </a:ext>
            </a:extLst>
          </p:cNvPr>
          <p:cNvSpPr>
            <a:spLocks xmlns:a="http://schemas.openxmlformats.org/drawingml/2006/main" noGrp="1"/>
          </p:cNvSpPr>
          <p:nvPr/>
        </p:nvSpPr>
        <p:spPr>
          <a:xfrm xmlns:a="http://schemas.openxmlformats.org/drawingml/2006/main">
            <a:off x="7229475" y="310515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452E1643-226C-4E4C-9A7D-1F0B1E185A55}"/>
              </a:ext>
            </a:extLst>
          </p:cNvPr>
          <p:cNvSpPr>
            <a:spLocks xmlns:a="http://schemas.openxmlformats.org/drawingml/2006/main" noGrp="1"/>
          </p:cNvSpPr>
          <p:nvPr/>
        </p:nvSpPr>
        <p:spPr>
          <a:xfrm xmlns:a="http://schemas.openxmlformats.org/drawingml/2006/main">
            <a:off x="7229475" y="3209925"/>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584AADFA-EEB3-45C1-9327-493AFFF2A401}"/>
              </a:ext>
            </a:extLst>
          </p:cNvPr>
          <p:cNvSpPr>
            <a:spLocks xmlns:a="http://schemas.openxmlformats.org/drawingml/2006/main" noGrp="1"/>
          </p:cNvSpPr>
          <p:nvPr/>
        </p:nvSpPr>
        <p:spPr>
          <a:xfrm xmlns:a="http://schemas.openxmlformats.org/drawingml/2006/main">
            <a:off x="7229475" y="33147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C13C1756-B01E-48D7-8FF9-36EE4F2CB34A}"/>
              </a:ext>
            </a:extLst>
          </p:cNvPr>
          <p:cNvSpPr>
            <a:spLocks xmlns:a="http://schemas.openxmlformats.org/drawingml/2006/main" noGrp="1"/>
          </p:cNvSpPr>
          <p:nvPr/>
        </p:nvSpPr>
        <p:spPr>
          <a:xfrm xmlns:a="http://schemas.openxmlformats.org/drawingml/2006/main">
            <a:off x="7334250" y="310515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D0CBBD8A-9CDE-4051-AFB1-50545F7D4E67}"/>
              </a:ext>
            </a:extLst>
          </p:cNvPr>
          <p:cNvSpPr>
            <a:spLocks xmlns:a="http://schemas.openxmlformats.org/drawingml/2006/main" noGrp="1"/>
          </p:cNvSpPr>
          <p:nvPr/>
        </p:nvSpPr>
        <p:spPr>
          <a:xfrm xmlns:a="http://schemas.openxmlformats.org/drawingml/2006/main">
            <a:off x="7334250" y="3209925"/>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6074D12C-DF14-47F2-AC2A-1102288DFEBB}"/>
              </a:ext>
            </a:extLst>
          </p:cNvPr>
          <p:cNvSpPr>
            <a:spLocks xmlns:a="http://schemas.openxmlformats.org/drawingml/2006/main" noGrp="1"/>
          </p:cNvSpPr>
          <p:nvPr/>
        </p:nvSpPr>
        <p:spPr>
          <a:xfrm xmlns:a="http://schemas.openxmlformats.org/drawingml/2006/main">
            <a:off x="7334250" y="33147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6736BED3-5493-4ADB-8C0C-DBF5E7F38A7B}"/>
              </a:ext>
            </a:extLst>
          </p:cNvPr>
          <p:cNvSpPr>
            <a:spLocks xmlns:a="http://schemas.openxmlformats.org/drawingml/2006/main" noGrp="1"/>
          </p:cNvSpPr>
          <p:nvPr/>
        </p:nvSpPr>
        <p:spPr>
          <a:xfrm xmlns:a="http://schemas.openxmlformats.org/drawingml/2006/main">
            <a:off x="4514850" y="3067050"/>
            <a:ext cx="2381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2E86E0"/>
                </a:solidFill>
                <a:latin typeface="微软雅黑"/>
                <a:ea typeface="微软雅黑"/>
                <a:cs typeface="微软雅黑"/>
              </a:defRPr>
            </a:pPr>
            <a:r>
              <a:rPr sz="1425" b="1">
                <a:solidFill>
                  <a:srgbClr val="2E86E0"/>
                </a:solidFill>
                <a:latin typeface="微软雅黑"/>
                <a:ea typeface="微软雅黑"/>
                <a:cs typeface="微软雅黑"/>
              </a:rPr>
              <a:t>核心能力</a:t>
            </a:r>
          </a:p>
        </p:txBody>
      </p:sp>
      <p:sp>
        <p:nvSpPr>
          <p:cNvPr id="74" name="">
            <a:extLst xmlns:a="http://schemas.openxmlformats.org/drawingml/2006/main">
              <a:ext uri="{FF2B5EF4-FFF2-40B4-BE49-F238E27FC236}">
                <a16:creationId xmlns:a16="http://schemas.microsoft.com/office/drawing/2014/main" id="{CB2A36C5-953D-4B2F-92B2-4B517E48F1DA}"/>
              </a:ext>
            </a:extLst>
          </p:cNvPr>
          <p:cNvSpPr>
            <a:spLocks xmlns:a="http://schemas.openxmlformats.org/drawingml/2006/main" noGrp="1"/>
          </p:cNvSpPr>
          <p:nvPr/>
        </p:nvSpPr>
        <p:spPr>
          <a:xfrm xmlns:a="http://schemas.openxmlformats.org/drawingml/2006/main">
            <a:off x="4514850" y="3409950"/>
            <a:ext cx="291465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EEF5FF"/>
                </a:solidFill>
                <a:latin typeface="微软雅黑"/>
                <a:ea typeface="微软雅黑"/>
                <a:cs typeface="微软雅黑"/>
              </a:defRPr>
            </a:pPr>
            <a:r>
              <a:rPr sz="1050" b="0">
                <a:solidFill>
                  <a:srgbClr val="EEF5FF"/>
                </a:solidFill>
                <a:latin typeface="微软雅黑"/>
                <a:ea typeface="微软雅黑"/>
                <a:cs typeface="微软雅黑"/>
              </a:rPr>
              <a:t>规则保底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模型增强
人工确认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全程留痕</a:t>
            </a:r>
          </a:p>
        </p:txBody>
      </p:sp>
      <p:sp>
        <p:nvSpPr>
          <p:cNvPr id="75" name="">
            <a:extLst xmlns:a="http://schemas.openxmlformats.org/drawingml/2006/main">
              <a:ext uri="{FF2B5EF4-FFF2-40B4-BE49-F238E27FC236}">
                <a16:creationId xmlns:a16="http://schemas.microsoft.com/office/drawing/2014/main" id="{0675A93F-A18F-4207-8B8E-649A69570B7D}"/>
              </a:ext>
            </a:extLst>
          </p:cNvPr>
          <p:cNvSpPr>
            <a:spLocks xmlns:a="http://schemas.openxmlformats.org/drawingml/2006/main" noGrp="1"/>
          </p:cNvSpPr>
          <p:nvPr/>
        </p:nvSpPr>
        <p:spPr>
          <a:xfrm xmlns:a="http://schemas.openxmlformats.org/drawingml/2006/main">
            <a:off x="4514850" y="3962400"/>
            <a:ext cx="2914650" cy="9525"/>
          </a:xfrm>
          <a:prstGeom xmlns:a="http://schemas.openxmlformats.org/drawingml/2006/main" prst="rect">
            <a:avLst/>
          </a:prstGeom>
          <a:solidFill xmlns:a="http://schemas.openxmlformats.org/drawingml/2006/main">
            <a:srgbClr val="5FA8E8">
              <a:alpha val="7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20ED39FA-ED96-4A3B-B951-F8CF10A6C576}"/>
              </a:ext>
            </a:extLst>
          </p:cNvPr>
          <p:cNvSpPr>
            <a:spLocks xmlns:a="http://schemas.openxmlformats.org/drawingml/2006/main" noGrp="1"/>
          </p:cNvSpPr>
          <p:nvPr/>
        </p:nvSpPr>
        <p:spPr>
          <a:xfrm xmlns:a="http://schemas.openxmlformats.org/drawingml/2006/main">
            <a:off x="4514850" y="4057650"/>
            <a:ext cx="2933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同一输入复跑 </a:t>
            </a:r>
            <a:r>
              <a:rPr sz="863" b="0">
                <a:solidFill>
                  <a:srgbClr val="C6DDFF"/>
                </a:solidFill>
                <a:latin typeface="微软雅黑"/>
                <a:ea typeface="微软雅黑"/>
                <a:cs typeface="微软雅黑"/>
              </a:rPr>
              <a:t>200 </a:t>
            </a:r>
            <a:r>
              <a:rPr sz="863" b="0">
                <a:solidFill>
                  <a:srgbClr val="C6DDFF"/>
                </a:solidFill>
                <a:latin typeface="微软雅黑"/>
                <a:ea typeface="微软雅黑"/>
                <a:cs typeface="微软雅黑"/>
              </a:rPr>
              <a:t>次，结论完全一致</a:t>
            </a:r>
          </a:p>
        </p:txBody>
      </p:sp>
      <p:sp>
        <p:nvSpPr>
          <p:cNvPr id="77" name="">
            <a:extLst xmlns:a="http://schemas.openxmlformats.org/drawingml/2006/main">
              <a:ext uri="{FF2B5EF4-FFF2-40B4-BE49-F238E27FC236}">
                <a16:creationId xmlns:a16="http://schemas.microsoft.com/office/drawing/2014/main" id="{B7400103-DCCD-4DFD-81F5-B12684BF271E}"/>
              </a:ext>
            </a:extLst>
          </p:cNvPr>
          <p:cNvSpPr>
            <a:spLocks xmlns:a="http://schemas.openxmlformats.org/drawingml/2006/main" noGrp="1"/>
          </p:cNvSpPr>
          <p:nvPr/>
        </p:nvSpPr>
        <p:spPr>
          <a:xfrm xmlns:a="http://schemas.openxmlformats.org/drawingml/2006/main">
            <a:off x="7886700" y="2914650"/>
            <a:ext cx="3314700" cy="1543050"/>
          </a:xfrm>
          <a:prstGeom xmlns:a="http://schemas.openxmlformats.org/drawingml/2006/main" prst="roundRect">
            <a:avLst>
              <a:gd name="adj" fmla="val 5556"/>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78" name="">
            <a:extLst xmlns:a="http://schemas.openxmlformats.org/drawingml/2006/main">
              <a:ext uri="{FF2B5EF4-FFF2-40B4-BE49-F238E27FC236}">
                <a16:creationId xmlns:a16="http://schemas.microsoft.com/office/drawing/2014/main" id="{6930465D-4B50-4E39-B0B6-6827564BB629}"/>
              </a:ext>
            </a:extLst>
          </p:cNvPr>
          <p:cNvSpPr>
            <a:spLocks xmlns:a="http://schemas.openxmlformats.org/drawingml/2006/main" noGrp="1"/>
          </p:cNvSpPr>
          <p:nvPr/>
        </p:nvSpPr>
        <p:spPr>
          <a:xfrm xmlns:a="http://schemas.openxmlformats.org/drawingml/2006/main">
            <a:off x="7886700" y="2914650"/>
            <a:ext cx="3314700" cy="381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78E7BF38-D3AB-4DBD-9C96-EF1E9DB76BC9}"/>
              </a:ext>
            </a:extLst>
          </p:cNvPr>
          <p:cNvSpPr>
            <a:spLocks xmlns:a="http://schemas.openxmlformats.org/drawingml/2006/main" noGrp="1"/>
          </p:cNvSpPr>
          <p:nvPr/>
        </p:nvSpPr>
        <p:spPr>
          <a:xfrm xmlns:a="http://schemas.openxmlformats.org/drawingml/2006/main">
            <a:off x="10706100" y="310515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2D5C6CA1-59AF-4C75-90BA-000B9C9339F1}"/>
              </a:ext>
            </a:extLst>
          </p:cNvPr>
          <p:cNvSpPr>
            <a:spLocks xmlns:a="http://schemas.openxmlformats.org/drawingml/2006/main" noGrp="1"/>
          </p:cNvSpPr>
          <p:nvPr/>
        </p:nvSpPr>
        <p:spPr>
          <a:xfrm xmlns:a="http://schemas.openxmlformats.org/drawingml/2006/main">
            <a:off x="10706100" y="3209925"/>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BD6DF171-D52D-4DDE-9262-1568852529BC}"/>
              </a:ext>
            </a:extLst>
          </p:cNvPr>
          <p:cNvSpPr>
            <a:spLocks xmlns:a="http://schemas.openxmlformats.org/drawingml/2006/main" noGrp="1"/>
          </p:cNvSpPr>
          <p:nvPr/>
        </p:nvSpPr>
        <p:spPr>
          <a:xfrm xmlns:a="http://schemas.openxmlformats.org/drawingml/2006/main">
            <a:off x="10706100" y="33147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42D4C198-B0B0-4BFF-A470-68E784758BCB}"/>
              </a:ext>
            </a:extLst>
          </p:cNvPr>
          <p:cNvSpPr>
            <a:spLocks xmlns:a="http://schemas.openxmlformats.org/drawingml/2006/main" noGrp="1"/>
          </p:cNvSpPr>
          <p:nvPr/>
        </p:nvSpPr>
        <p:spPr>
          <a:xfrm xmlns:a="http://schemas.openxmlformats.org/drawingml/2006/main">
            <a:off x="10810875" y="310515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0288A647-DBC6-4BFB-9635-FA5BBF5AB5E0}"/>
              </a:ext>
            </a:extLst>
          </p:cNvPr>
          <p:cNvSpPr>
            <a:spLocks xmlns:a="http://schemas.openxmlformats.org/drawingml/2006/main" noGrp="1"/>
          </p:cNvSpPr>
          <p:nvPr/>
        </p:nvSpPr>
        <p:spPr>
          <a:xfrm xmlns:a="http://schemas.openxmlformats.org/drawingml/2006/main">
            <a:off x="10810875" y="3209925"/>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CF66DFE8-45A7-40F7-ABC5-8F9A11CC6E68}"/>
              </a:ext>
            </a:extLst>
          </p:cNvPr>
          <p:cNvSpPr>
            <a:spLocks xmlns:a="http://schemas.openxmlformats.org/drawingml/2006/main" noGrp="1"/>
          </p:cNvSpPr>
          <p:nvPr/>
        </p:nvSpPr>
        <p:spPr>
          <a:xfrm xmlns:a="http://schemas.openxmlformats.org/drawingml/2006/main">
            <a:off x="10810875" y="33147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D7EA5B5C-961A-45B0-BA5D-8ABDAB1430B2}"/>
              </a:ext>
            </a:extLst>
          </p:cNvPr>
          <p:cNvSpPr>
            <a:spLocks xmlns:a="http://schemas.openxmlformats.org/drawingml/2006/main" noGrp="1"/>
          </p:cNvSpPr>
          <p:nvPr/>
        </p:nvSpPr>
        <p:spPr>
          <a:xfrm xmlns:a="http://schemas.openxmlformats.org/drawingml/2006/main">
            <a:off x="10915650" y="310515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5F8C249A-4171-4E65-943A-8901EC4A7CC9}"/>
              </a:ext>
            </a:extLst>
          </p:cNvPr>
          <p:cNvSpPr>
            <a:spLocks xmlns:a="http://schemas.openxmlformats.org/drawingml/2006/main" noGrp="1"/>
          </p:cNvSpPr>
          <p:nvPr/>
        </p:nvSpPr>
        <p:spPr>
          <a:xfrm xmlns:a="http://schemas.openxmlformats.org/drawingml/2006/main">
            <a:off x="10915650" y="3209925"/>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3E77B322-8FC6-4FB2-9518-CBD8892D93EC}"/>
              </a:ext>
            </a:extLst>
          </p:cNvPr>
          <p:cNvSpPr>
            <a:spLocks xmlns:a="http://schemas.openxmlformats.org/drawingml/2006/main" noGrp="1"/>
          </p:cNvSpPr>
          <p:nvPr/>
        </p:nvSpPr>
        <p:spPr>
          <a:xfrm xmlns:a="http://schemas.openxmlformats.org/drawingml/2006/main">
            <a:off x="10915650" y="33147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83E15024-1A7A-41E3-B879-B295489F3963}"/>
              </a:ext>
            </a:extLst>
          </p:cNvPr>
          <p:cNvSpPr>
            <a:spLocks xmlns:a="http://schemas.openxmlformats.org/drawingml/2006/main" noGrp="1"/>
          </p:cNvSpPr>
          <p:nvPr/>
        </p:nvSpPr>
        <p:spPr>
          <a:xfrm xmlns:a="http://schemas.openxmlformats.org/drawingml/2006/main">
            <a:off x="8096250" y="3067050"/>
            <a:ext cx="2381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FFD24A"/>
                </a:solidFill>
                <a:latin typeface="微软雅黑"/>
                <a:ea typeface="微软雅黑"/>
                <a:cs typeface="微软雅黑"/>
              </a:defRPr>
            </a:pPr>
            <a:r>
              <a:rPr sz="1425" b="1">
                <a:solidFill>
                  <a:srgbClr val="FFD24A"/>
                </a:solidFill>
                <a:latin typeface="微软雅黑"/>
                <a:ea typeface="微软雅黑"/>
                <a:cs typeface="微软雅黑"/>
              </a:rPr>
              <a:t>差异化价值</a:t>
            </a:r>
          </a:p>
        </p:txBody>
      </p:sp>
      <p:sp>
        <p:nvSpPr>
          <p:cNvPr id="89" name="">
            <a:extLst xmlns:a="http://schemas.openxmlformats.org/drawingml/2006/main">
              <a:ext uri="{FF2B5EF4-FFF2-40B4-BE49-F238E27FC236}">
                <a16:creationId xmlns:a16="http://schemas.microsoft.com/office/drawing/2014/main" id="{188FB1C6-3810-457C-B2B6-69621F1CA67E}"/>
              </a:ext>
            </a:extLst>
          </p:cNvPr>
          <p:cNvSpPr>
            <a:spLocks xmlns:a="http://schemas.openxmlformats.org/drawingml/2006/main" noGrp="1"/>
          </p:cNvSpPr>
          <p:nvPr/>
        </p:nvSpPr>
        <p:spPr>
          <a:xfrm xmlns:a="http://schemas.openxmlformats.org/drawingml/2006/main">
            <a:off x="8096250" y="3409950"/>
            <a:ext cx="291465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EEF5FF"/>
                </a:solidFill>
                <a:latin typeface="微软雅黑"/>
                <a:ea typeface="微软雅黑"/>
                <a:cs typeface="微软雅黑"/>
              </a:defRPr>
            </a:pPr>
            <a:r>
              <a:rPr sz="1050" b="0">
                <a:solidFill>
                  <a:srgbClr val="EEF5FF"/>
                </a:solidFill>
                <a:latin typeface="微软雅黑"/>
                <a:ea typeface="微软雅黑"/>
                <a:cs typeface="微软雅黑"/>
              </a:rPr>
              <a:t>可解释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可复算
可离线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可审计</a:t>
            </a:r>
          </a:p>
        </p:txBody>
      </p:sp>
      <p:sp>
        <p:nvSpPr>
          <p:cNvPr id="90" name="">
            <a:extLst xmlns:a="http://schemas.openxmlformats.org/drawingml/2006/main">
              <a:ext uri="{FF2B5EF4-FFF2-40B4-BE49-F238E27FC236}">
                <a16:creationId xmlns:a16="http://schemas.microsoft.com/office/drawing/2014/main" id="{1C656D78-7585-47C7-986A-99C19928FF66}"/>
              </a:ext>
            </a:extLst>
          </p:cNvPr>
          <p:cNvSpPr>
            <a:spLocks xmlns:a="http://schemas.openxmlformats.org/drawingml/2006/main" noGrp="1"/>
          </p:cNvSpPr>
          <p:nvPr/>
        </p:nvSpPr>
        <p:spPr>
          <a:xfrm xmlns:a="http://schemas.openxmlformats.org/drawingml/2006/main">
            <a:off x="8096250" y="3962400"/>
            <a:ext cx="2914650" cy="9525"/>
          </a:xfrm>
          <a:prstGeom xmlns:a="http://schemas.openxmlformats.org/drawingml/2006/main" prst="rect">
            <a:avLst/>
          </a:prstGeom>
          <a:solidFill xmlns:a="http://schemas.openxmlformats.org/drawingml/2006/main">
            <a:srgbClr val="5FA8E8">
              <a:alpha val="75000"/>
            </a:srgbClr>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470B5A71-71A6-4A1A-9D8F-A17E7126B3FA}"/>
              </a:ext>
            </a:extLst>
          </p:cNvPr>
          <p:cNvSpPr>
            <a:spLocks xmlns:a="http://schemas.openxmlformats.org/drawingml/2006/main" noGrp="1"/>
          </p:cNvSpPr>
          <p:nvPr/>
        </p:nvSpPr>
        <p:spPr>
          <a:xfrm xmlns:a="http://schemas.openxmlformats.org/drawingml/2006/main">
            <a:off x="8096250" y="4057650"/>
            <a:ext cx="2933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每条建议都能回指规则与数据点</a:t>
            </a:r>
          </a:p>
        </p:txBody>
      </p:sp>
      <p:sp>
        <p:nvSpPr>
          <p:cNvPr id="92" name="">
            <a:extLst xmlns:a="http://schemas.openxmlformats.org/drawingml/2006/main">
              <a:ext uri="{FF2B5EF4-FFF2-40B4-BE49-F238E27FC236}">
                <a16:creationId xmlns:a16="http://schemas.microsoft.com/office/drawing/2014/main" id="{2CCD4FED-CA9B-4EF2-8205-0DD66DAAD7BF}"/>
              </a:ext>
            </a:extLst>
          </p:cNvPr>
          <p:cNvSpPr>
            <a:spLocks xmlns:a="http://schemas.openxmlformats.org/drawingml/2006/main" noGrp="1"/>
          </p:cNvSpPr>
          <p:nvPr/>
        </p:nvSpPr>
        <p:spPr>
          <a:xfrm xmlns:a="http://schemas.openxmlformats.org/drawingml/2006/main">
            <a:off x="7429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75</a:t>
            </a:r>
          </a:p>
        </p:txBody>
      </p:sp>
      <p:sp>
        <p:nvSpPr>
          <p:cNvPr id="93" name="">
            <a:extLst xmlns:a="http://schemas.openxmlformats.org/drawingml/2006/main">
              <a:ext uri="{FF2B5EF4-FFF2-40B4-BE49-F238E27FC236}">
                <a16:creationId xmlns:a16="http://schemas.microsoft.com/office/drawing/2014/main" id="{10D4F4AE-9CCD-44B9-BD4F-94F8BA37A5AA}"/>
              </a:ext>
            </a:extLst>
          </p:cNvPr>
          <p:cNvSpPr>
            <a:spLocks xmlns:a="http://schemas.openxmlformats.org/drawingml/2006/main" noGrp="1"/>
          </p:cNvSpPr>
          <p:nvPr/>
        </p:nvSpPr>
        <p:spPr>
          <a:xfrm xmlns:a="http://schemas.openxmlformats.org/drawingml/2006/main">
            <a:off x="14859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在线接口</a:t>
            </a:r>
          </a:p>
        </p:txBody>
      </p:sp>
      <p:sp>
        <p:nvSpPr>
          <p:cNvPr id="94" name="">
            <a:extLst xmlns:a="http://schemas.openxmlformats.org/drawingml/2006/main">
              <a:ext uri="{FF2B5EF4-FFF2-40B4-BE49-F238E27FC236}">
                <a16:creationId xmlns:a16="http://schemas.microsoft.com/office/drawing/2014/main" id="{38F50720-6AAA-41A1-BF5B-798A4E6FDB07}"/>
              </a:ext>
            </a:extLst>
          </p:cNvPr>
          <p:cNvSpPr>
            <a:spLocks xmlns:a="http://schemas.openxmlformats.org/drawingml/2006/main" noGrp="1"/>
          </p:cNvSpPr>
          <p:nvPr/>
        </p:nvSpPr>
        <p:spPr>
          <a:xfrm xmlns:a="http://schemas.openxmlformats.org/drawingml/2006/main">
            <a:off x="36004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53</a:t>
            </a:r>
          </a:p>
        </p:txBody>
      </p:sp>
      <p:sp>
        <p:nvSpPr>
          <p:cNvPr id="95" name="">
            <a:extLst xmlns:a="http://schemas.openxmlformats.org/drawingml/2006/main">
              <a:ext uri="{FF2B5EF4-FFF2-40B4-BE49-F238E27FC236}">
                <a16:creationId xmlns:a16="http://schemas.microsoft.com/office/drawing/2014/main" id="{90AD7D3D-0DDC-41E3-9EA4-B56940EE6C03}"/>
              </a:ext>
            </a:extLst>
          </p:cNvPr>
          <p:cNvSpPr>
            <a:spLocks xmlns:a="http://schemas.openxmlformats.org/drawingml/2006/main" noGrp="1"/>
          </p:cNvSpPr>
          <p:nvPr/>
        </p:nvSpPr>
        <p:spPr>
          <a:xfrm xmlns:a="http://schemas.openxmlformats.org/drawingml/2006/main">
            <a:off x="43434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数据库表</a:t>
            </a:r>
          </a:p>
        </p:txBody>
      </p:sp>
      <p:sp>
        <p:nvSpPr>
          <p:cNvPr id="96" name="">
            <a:extLst xmlns:a="http://schemas.openxmlformats.org/drawingml/2006/main">
              <a:ext uri="{FF2B5EF4-FFF2-40B4-BE49-F238E27FC236}">
                <a16:creationId xmlns:a16="http://schemas.microsoft.com/office/drawing/2014/main" id="{84E6D601-9B6B-48FF-852A-2399E4D0F272}"/>
              </a:ext>
            </a:extLst>
          </p:cNvPr>
          <p:cNvSpPr>
            <a:spLocks xmlns:a="http://schemas.openxmlformats.org/drawingml/2006/main" noGrp="1"/>
          </p:cNvSpPr>
          <p:nvPr/>
        </p:nvSpPr>
        <p:spPr>
          <a:xfrm xmlns:a="http://schemas.openxmlformats.org/drawingml/2006/main">
            <a:off x="64579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18</a:t>
            </a:r>
          </a:p>
        </p:txBody>
      </p:sp>
      <p:sp>
        <p:nvSpPr>
          <p:cNvPr id="97" name="">
            <a:extLst xmlns:a="http://schemas.openxmlformats.org/drawingml/2006/main">
              <a:ext uri="{FF2B5EF4-FFF2-40B4-BE49-F238E27FC236}">
                <a16:creationId xmlns:a16="http://schemas.microsoft.com/office/drawing/2014/main" id="{582159EF-416C-4833-BF14-9664B68173D1}"/>
              </a:ext>
            </a:extLst>
          </p:cNvPr>
          <p:cNvSpPr>
            <a:spLocks xmlns:a="http://schemas.openxmlformats.org/drawingml/2006/main" noGrp="1"/>
          </p:cNvSpPr>
          <p:nvPr/>
        </p:nvSpPr>
        <p:spPr>
          <a:xfrm xmlns:a="http://schemas.openxmlformats.org/drawingml/2006/main">
            <a:off x="72009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启用规则</a:t>
            </a:r>
          </a:p>
        </p:txBody>
      </p:sp>
      <p:sp>
        <p:nvSpPr>
          <p:cNvPr id="98" name="">
            <a:extLst xmlns:a="http://schemas.openxmlformats.org/drawingml/2006/main">
              <a:ext uri="{FF2B5EF4-FFF2-40B4-BE49-F238E27FC236}">
                <a16:creationId xmlns:a16="http://schemas.microsoft.com/office/drawing/2014/main" id="{C2A9B39A-0443-4DE2-B7BE-B654ED4ADDC4}"/>
              </a:ext>
            </a:extLst>
          </p:cNvPr>
          <p:cNvSpPr>
            <a:spLocks xmlns:a="http://schemas.openxmlformats.org/drawingml/2006/main" noGrp="1"/>
          </p:cNvSpPr>
          <p:nvPr/>
        </p:nvSpPr>
        <p:spPr>
          <a:xfrm xmlns:a="http://schemas.openxmlformats.org/drawingml/2006/main">
            <a:off x="9315450" y="4667250"/>
            <a:ext cx="1238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4</a:t>
            </a:r>
          </a:p>
        </p:txBody>
      </p:sp>
      <p:sp>
        <p:nvSpPr>
          <p:cNvPr id="99" name="">
            <a:extLst xmlns:a="http://schemas.openxmlformats.org/drawingml/2006/main">
              <a:ext uri="{FF2B5EF4-FFF2-40B4-BE49-F238E27FC236}">
                <a16:creationId xmlns:a16="http://schemas.microsoft.com/office/drawing/2014/main" id="{09EED0E1-F085-4FD7-9331-B8233CF17106}"/>
              </a:ext>
            </a:extLst>
          </p:cNvPr>
          <p:cNvSpPr>
            <a:spLocks xmlns:a="http://schemas.openxmlformats.org/drawingml/2006/main" noGrp="1"/>
          </p:cNvSpPr>
          <p:nvPr/>
        </p:nvSpPr>
        <p:spPr>
          <a:xfrm xmlns:a="http://schemas.openxmlformats.org/drawingml/2006/main">
            <a:off x="10058400" y="47244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类角色</a:t>
            </a:r>
          </a:p>
        </p:txBody>
      </p:sp>
      <p:sp>
        <p:nvSpPr>
          <p:cNvPr id="100" name="">
            <a:extLst xmlns:a="http://schemas.openxmlformats.org/drawingml/2006/main">
              <a:ext uri="{FF2B5EF4-FFF2-40B4-BE49-F238E27FC236}">
                <a16:creationId xmlns:a16="http://schemas.microsoft.com/office/drawing/2014/main" id="{4A6D51CA-501D-4F14-A31A-B8EBFDFAF801}"/>
              </a:ext>
            </a:extLst>
          </p:cNvPr>
          <p:cNvSpPr>
            <a:spLocks xmlns:a="http://schemas.openxmlformats.org/drawingml/2006/main" noGrp="1"/>
          </p:cNvSpPr>
          <p:nvPr/>
        </p:nvSpPr>
        <p:spPr>
          <a:xfrm xmlns:a="http://schemas.openxmlformats.org/drawingml/2006/main">
            <a:off x="723900" y="5143500"/>
            <a:ext cx="10744200" cy="9525"/>
          </a:xfrm>
          <a:prstGeom xmlns:a="http://schemas.openxmlformats.org/drawingml/2006/main" prst="rect">
            <a:avLst/>
          </a:prstGeom>
          <a:solidFill xmlns:a="http://schemas.openxmlformats.org/drawingml/2006/main">
            <a:srgbClr val="5FA8E8"/>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6A9D31DB-9BC4-4828-86E6-BA94048314B7}"/>
              </a:ext>
            </a:extLst>
          </p:cNvPr>
          <p:cNvSpPr>
            <a:spLocks xmlns:a="http://schemas.openxmlformats.org/drawingml/2006/main" noGrp="1"/>
          </p:cNvSpPr>
          <p:nvPr/>
        </p:nvSpPr>
        <p:spPr>
          <a:xfrm xmlns:a="http://schemas.openxmlformats.org/drawingml/2006/main">
            <a:off x="7239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参赛单位</a:t>
            </a:r>
          </a:p>
        </p:txBody>
      </p:sp>
      <p:sp>
        <p:nvSpPr>
          <p:cNvPr id="102" name="">
            <a:extLst xmlns:a="http://schemas.openxmlformats.org/drawingml/2006/main">
              <a:ext uri="{FF2B5EF4-FFF2-40B4-BE49-F238E27FC236}">
                <a16:creationId xmlns:a16="http://schemas.microsoft.com/office/drawing/2014/main" id="{C9EBBA54-0CA7-4716-B402-EADA00FE89EF}"/>
              </a:ext>
            </a:extLst>
          </p:cNvPr>
          <p:cNvSpPr>
            <a:spLocks xmlns:a="http://schemas.openxmlformats.org/drawingml/2006/main" noGrp="1"/>
          </p:cNvSpPr>
          <p:nvPr/>
        </p:nvSpPr>
        <p:spPr>
          <a:xfrm xmlns:a="http://schemas.openxmlformats.org/drawingml/2006/main">
            <a:off x="7239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103" name="">
            <a:extLst xmlns:a="http://schemas.openxmlformats.org/drawingml/2006/main">
              <a:ext uri="{FF2B5EF4-FFF2-40B4-BE49-F238E27FC236}">
                <a16:creationId xmlns:a16="http://schemas.microsoft.com/office/drawing/2014/main" id="{BCDAF5D9-D706-4908-B744-02BA9138C4CA}"/>
              </a:ext>
            </a:extLst>
          </p:cNvPr>
          <p:cNvSpPr>
            <a:spLocks xmlns:a="http://schemas.openxmlformats.org/drawingml/2006/main" noGrp="1"/>
          </p:cNvSpPr>
          <p:nvPr/>
        </p:nvSpPr>
        <p:spPr>
          <a:xfrm xmlns:a="http://schemas.openxmlformats.org/drawingml/2006/main">
            <a:off x="34671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赛道</a:t>
            </a:r>
          </a:p>
        </p:txBody>
      </p:sp>
      <p:sp>
        <p:nvSpPr>
          <p:cNvPr id="104" name="">
            <a:extLst xmlns:a="http://schemas.openxmlformats.org/drawingml/2006/main">
              <a:ext uri="{FF2B5EF4-FFF2-40B4-BE49-F238E27FC236}">
                <a16:creationId xmlns:a16="http://schemas.microsoft.com/office/drawing/2014/main" id="{C324B50F-7154-48FD-BAD0-92031659F479}"/>
              </a:ext>
            </a:extLst>
          </p:cNvPr>
          <p:cNvSpPr>
            <a:spLocks xmlns:a="http://schemas.openxmlformats.org/drawingml/2006/main" noGrp="1"/>
          </p:cNvSpPr>
          <p:nvPr/>
        </p:nvSpPr>
        <p:spPr>
          <a:xfrm xmlns:a="http://schemas.openxmlformats.org/drawingml/2006/main">
            <a:off x="34671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105" name="">
            <a:extLst xmlns:a="http://schemas.openxmlformats.org/drawingml/2006/main">
              <a:ext uri="{FF2B5EF4-FFF2-40B4-BE49-F238E27FC236}">
                <a16:creationId xmlns:a16="http://schemas.microsoft.com/office/drawing/2014/main" id="{C91F9FB4-F3BC-4FEB-BD97-99FCDAB8BAD8}"/>
              </a:ext>
            </a:extLst>
          </p:cNvPr>
          <p:cNvSpPr>
            <a:spLocks xmlns:a="http://schemas.openxmlformats.org/drawingml/2006/main" noGrp="1"/>
          </p:cNvSpPr>
          <p:nvPr/>
        </p:nvSpPr>
        <p:spPr>
          <a:xfrm xmlns:a="http://schemas.openxmlformats.org/drawingml/2006/main">
            <a:off x="62103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团队</a:t>
            </a:r>
          </a:p>
        </p:txBody>
      </p:sp>
      <p:sp>
        <p:nvSpPr>
          <p:cNvPr id="106" name="">
            <a:extLst xmlns:a="http://schemas.openxmlformats.org/drawingml/2006/main">
              <a:ext uri="{FF2B5EF4-FFF2-40B4-BE49-F238E27FC236}">
                <a16:creationId xmlns:a16="http://schemas.microsoft.com/office/drawing/2014/main" id="{1F9C5673-3974-4564-ABA9-E9C938770CDB}"/>
              </a:ext>
            </a:extLst>
          </p:cNvPr>
          <p:cNvSpPr>
            <a:spLocks xmlns:a="http://schemas.openxmlformats.org/drawingml/2006/main" noGrp="1"/>
          </p:cNvSpPr>
          <p:nvPr/>
        </p:nvSpPr>
        <p:spPr>
          <a:xfrm xmlns:a="http://schemas.openxmlformats.org/drawingml/2006/main">
            <a:off x="62103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107" name="">
            <a:extLst xmlns:a="http://schemas.openxmlformats.org/drawingml/2006/main">
              <a:ext uri="{FF2B5EF4-FFF2-40B4-BE49-F238E27FC236}">
                <a16:creationId xmlns:a16="http://schemas.microsoft.com/office/drawing/2014/main" id="{81A26599-EB5F-4AC1-B575-24035ED71994}"/>
              </a:ext>
            </a:extLst>
          </p:cNvPr>
          <p:cNvSpPr>
            <a:spLocks xmlns:a="http://schemas.openxmlformats.org/drawingml/2006/main" noGrp="1"/>
          </p:cNvSpPr>
          <p:nvPr/>
        </p:nvSpPr>
        <p:spPr>
          <a:xfrm xmlns:a="http://schemas.openxmlformats.org/drawingml/2006/main">
            <a:off x="8953500" y="527685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指导老师</a:t>
            </a:r>
          </a:p>
        </p:txBody>
      </p:sp>
      <p:sp>
        <p:nvSpPr>
          <p:cNvPr id="108" name="">
            <a:extLst xmlns:a="http://schemas.openxmlformats.org/drawingml/2006/main">
              <a:ext uri="{FF2B5EF4-FFF2-40B4-BE49-F238E27FC236}">
                <a16:creationId xmlns:a16="http://schemas.microsoft.com/office/drawing/2014/main" id="{FF05AB6F-6FCF-47DA-B265-32A50036F014}"/>
              </a:ext>
            </a:extLst>
          </p:cNvPr>
          <p:cNvSpPr>
            <a:spLocks xmlns:a="http://schemas.openxmlformats.org/drawingml/2006/main" noGrp="1"/>
          </p:cNvSpPr>
          <p:nvPr/>
        </p:nvSpPr>
        <p:spPr>
          <a:xfrm xmlns:a="http://schemas.openxmlformats.org/drawingml/2006/main">
            <a:off x="8953500" y="552450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109" name="">
            <a:extLst xmlns:a="http://schemas.openxmlformats.org/drawingml/2006/main">
              <a:ext uri="{FF2B5EF4-FFF2-40B4-BE49-F238E27FC236}">
                <a16:creationId xmlns:a16="http://schemas.microsoft.com/office/drawing/2014/main" id="{B43A59F6-D1AE-44F9-8CE3-EB4E25221FE5}"/>
              </a:ext>
            </a:extLst>
          </p:cNvPr>
          <p:cNvSpPr>
            <a:spLocks xmlns:a="http://schemas.openxmlformats.org/drawingml/2006/main" noGrp="1"/>
          </p:cNvSpPr>
          <p:nvPr/>
        </p:nvSpPr>
        <p:spPr>
          <a:xfrm xmlns:a="http://schemas.openxmlformats.org/drawingml/2006/main">
            <a:off x="723900" y="5962650"/>
            <a:ext cx="10744200" cy="514350"/>
          </a:xfrm>
          <a:prstGeom xmlns:a="http://schemas.openxmlformats.org/drawingml/2006/main" prst="roundRect">
            <a:avLst>
              <a:gd name="adj" fmla="val 1666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10" name="">
            <a:extLst xmlns:a="http://schemas.openxmlformats.org/drawingml/2006/main">
              <a:ext uri="{FF2B5EF4-FFF2-40B4-BE49-F238E27FC236}">
                <a16:creationId xmlns:a16="http://schemas.microsoft.com/office/drawing/2014/main" id="{33B673B3-657F-4070-A94D-B1B55597793C}"/>
              </a:ext>
            </a:extLst>
          </p:cNvPr>
          <p:cNvSpPr>
            <a:spLocks xmlns:a="http://schemas.openxmlformats.org/drawingml/2006/main" noGrp="1"/>
          </p:cNvSpPr>
          <p:nvPr/>
        </p:nvSpPr>
        <p:spPr>
          <a:xfrm xmlns:a="http://schemas.openxmlformats.org/drawingml/2006/main">
            <a:off x="742950" y="6019800"/>
            <a:ext cx="38100" cy="400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61628E65-8D0E-4B86-8E47-D3A45AFDDC58}"/>
              </a:ext>
            </a:extLst>
          </p:cNvPr>
          <p:cNvSpPr>
            <a:spLocks xmlns:a="http://schemas.openxmlformats.org/drawingml/2006/main" noGrp="1"/>
          </p:cNvSpPr>
          <p:nvPr/>
        </p:nvSpPr>
        <p:spPr>
          <a:xfrm xmlns:a="http://schemas.openxmlformats.org/drawingml/2006/main">
            <a:off x="952500" y="5962650"/>
            <a:ext cx="1028700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EEF5FF"/>
                </a:solidFill>
                <a:latin typeface="微软雅黑"/>
                <a:ea typeface="微软雅黑"/>
                <a:cs typeface="微软雅黑"/>
              </a:defRPr>
            </a:pPr>
            <a:r>
              <a:rPr sz="1125" b="0">
                <a:solidFill>
                  <a:srgbClr val="EEF5FF"/>
                </a:solidFill>
                <a:latin typeface="微软雅黑"/>
                <a:ea typeface="微软雅黑"/>
                <a:cs typeface="微软雅黑"/>
              </a:rPr>
              <a:t>一句话定位：把变电运维的每一次培训投入，变成算得清、追得到、能上岗的能力数据。</a:t>
            </a:r>
          </a:p>
        </p:txBody>
      </p:sp>
    </p:spTree>
    <p:extLst>
      <p:ext uri="{BB962C8B-B14F-4D97-AF65-F5344CB8AC3E}">
        <p14:creationId xmlns:p14="http://schemas.microsoft.com/office/powerpoint/2010/main" val="499434468"/>
      </p:ext>
    </p:extLst>
  </p:cSld>
</p:sld>
</file>

<file path=ppt/slides/slide2.xml><?xml version="1.0" encoding="utf-8"?>
<p:sld xmlns:p="http://schemas.openxmlformats.org/presentationml/2006/main">
  <p:cSld>
    <p:bg>
      <p:bgPr>
        <a:gradFill xmlns:a="http://schemas.openxmlformats.org/drawingml/2006/main">
          <a:gsLst>
            <a:gs pos="0">
              <a:srgbClr val="0B3D8F"/>
            </a:gs>
            <a:gs pos="100000">
              <a:srgbClr val="0A2A66"/>
            </a:gs>
          </a:gsLst>
          <a:lin ang="8100000"/>
        </a:gradFill>
      </p:bgPr>
    </p:bg>
    <p:spTree>
      <p:nvGrpSpPr>
        <p:cNvPr id="1" name=""/>
        <p:cNvGrpSpPr/>
        <p:nvPr/>
      </p:nvGrpSpPr>
      <p:grpSpPr>
        <a:xfrm xmlns:a="http://schemas.openxmlformats.org/drawingml/2006/main"/>
      </p:grpSpPr>
      <p:pic>
        <p:nvPicPr>
          <p:cNvPr id="223" name=""/>
          <p:cNvPicPr>
            <a:picLocks xmlns:a="http://schemas.openxmlformats.org/drawingml/2006/main" noChangeAspect="1"/>
          </p:cNvPicPr>
          <p:nvPr/>
        </p:nvPicPr>
        <p:blipFill>
          <a:blip xmlns:r="http://schemas.openxmlformats.org/officeDocument/2006/relationships" xmlns:a="http://schemas.openxmlformats.org/drawingml/2006/main" r:embed="Ra08cc35faf5f433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D088EF-56EC-4A91-9484-0AA291B98C0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FD09F862-EC28-4748-B52C-DD9F6DDE63C6}"/>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6D946B15-13A6-4DBB-A3F1-D03A4E8FD43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202A1C9A-C308-4A60-B928-A2E6152F6102}"/>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FF6D00E4-11AF-47C2-8046-5826E1FE7EC2}"/>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5C3839D4-AE30-4244-9019-B5CFC731DD11}"/>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24976FB8-F8D6-44EC-A2A1-FE6FC024E01A}"/>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3ED90D4E-78C8-4B6B-9627-FB77F55DF51C}"/>
              </a:ext>
            </a:extLst>
          </p:cNvPr>
          <p:cNvSpPr>
            <a:spLocks xmlns:a="http://schemas.openxmlformats.org/drawingml/2006/main" noGrp="1"/>
          </p:cNvSpPr>
          <p:nvPr/>
        </p:nvSpPr>
        <p:spPr>
          <a:xfrm xmlns:a="http://schemas.openxmlformats.org/drawingml/2006/main">
            <a:off x="8001000" y="0"/>
            <a:ext cx="4191000" cy="3333750"/>
          </a:xfrm>
          <a:prstGeom xmlns:a="http://schemas.openxmlformats.org/drawingml/2006/main" prst="ellipse">
            <a:avLst/>
          </a:prstGeom>
          <a:gradFill xmlns:a="http://schemas.openxmlformats.org/drawingml/2006/main">
            <a:gsLst>
              <a:gs pos="0">
                <a:srgbClr val="2E86E0">
                  <a:alpha val="15000"/>
                </a:srgbClr>
              </a:gs>
              <a:gs pos="45000">
                <a:srgbClr val="2E86E0">
                  <a:alpha val="6000"/>
                </a:srgbClr>
              </a:gs>
              <a:gs pos="100000">
                <a:srgbClr val="2E86E0">
                  <a:alpha val="0"/>
                </a:srgbClr>
              </a:gs>
            </a:gsLst>
            <a:path path="shape"/>
          </a:gra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804650CD-B014-4B8B-B7CB-1CDC00D6E790}"/>
              </a:ext>
            </a:extLst>
          </p:cNvPr>
          <p:cNvSpPr>
            <a:spLocks xmlns:a="http://schemas.openxmlformats.org/drawingml/2006/main" noGrp="1"/>
          </p:cNvSpPr>
          <p:nvPr/>
        </p:nvSpPr>
        <p:spPr>
          <a:xfrm xmlns:a="http://schemas.openxmlformats.org/drawingml/2006/main">
            <a:off x="0" y="4000500"/>
            <a:ext cx="2857500" cy="2857500"/>
          </a:xfrm>
          <a:prstGeom xmlns:a="http://schemas.openxmlformats.org/drawingml/2006/main" prst="ellipse">
            <a:avLst/>
          </a:prstGeom>
          <a:gradFill xmlns:a="http://schemas.openxmlformats.org/drawingml/2006/main">
            <a:gsLst>
              <a:gs pos="0">
                <a:srgbClr val="4FD8FF">
                  <a:alpha val="11000"/>
                </a:srgbClr>
              </a:gs>
              <a:gs pos="45000">
                <a:srgbClr val="4FD8FF">
                  <a:alpha val="4000"/>
                </a:srgbClr>
              </a:gs>
              <a:gs pos="100000">
                <a:srgbClr val="4FD8FF">
                  <a:alpha val="0"/>
                </a:srgbClr>
              </a:gs>
            </a:gsLst>
            <a:path path="shape"/>
          </a:gra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82D2E79B-DA03-4C22-A84B-367D9B5AE0C6}"/>
              </a:ext>
            </a:extLst>
          </p:cNvPr>
          <p:cNvSpPr>
            <a:spLocks xmlns:a="http://schemas.openxmlformats.org/drawingml/2006/main" noGrp="1"/>
          </p:cNvSpPr>
          <p:nvPr/>
        </p:nvSpPr>
        <p:spPr>
          <a:xfrm xmlns:a="http://schemas.openxmlformats.org/drawingml/2006/main">
            <a:off x="103251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B418E1C3-77A4-48D2-82B1-DD9E676B0DBE}"/>
              </a:ext>
            </a:extLst>
          </p:cNvPr>
          <p:cNvSpPr>
            <a:spLocks xmlns:a="http://schemas.openxmlformats.org/drawingml/2006/main" noGrp="1"/>
          </p:cNvSpPr>
          <p:nvPr/>
        </p:nvSpPr>
        <p:spPr>
          <a:xfrm xmlns:a="http://schemas.openxmlformats.org/drawingml/2006/main">
            <a:off x="103251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2F490951-70AF-4CED-A0CB-1CC34C2D6024}"/>
              </a:ext>
            </a:extLst>
          </p:cNvPr>
          <p:cNvSpPr>
            <a:spLocks xmlns:a="http://schemas.openxmlformats.org/drawingml/2006/main" noGrp="1"/>
          </p:cNvSpPr>
          <p:nvPr/>
        </p:nvSpPr>
        <p:spPr>
          <a:xfrm xmlns:a="http://schemas.openxmlformats.org/drawingml/2006/main">
            <a:off x="103251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E6627486-1FE8-4700-A026-558821ADFDC6}"/>
              </a:ext>
            </a:extLst>
          </p:cNvPr>
          <p:cNvSpPr>
            <a:spLocks xmlns:a="http://schemas.openxmlformats.org/drawingml/2006/main" noGrp="1"/>
          </p:cNvSpPr>
          <p:nvPr/>
        </p:nvSpPr>
        <p:spPr>
          <a:xfrm xmlns:a="http://schemas.openxmlformats.org/drawingml/2006/main">
            <a:off x="104775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C0984B66-C674-447B-9111-647451B2A483}"/>
              </a:ext>
            </a:extLst>
          </p:cNvPr>
          <p:cNvSpPr>
            <a:spLocks xmlns:a="http://schemas.openxmlformats.org/drawingml/2006/main" noGrp="1"/>
          </p:cNvSpPr>
          <p:nvPr/>
        </p:nvSpPr>
        <p:spPr>
          <a:xfrm xmlns:a="http://schemas.openxmlformats.org/drawingml/2006/main">
            <a:off x="104775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A2D41429-9A7C-4D50-9009-0242146E41DD}"/>
              </a:ext>
            </a:extLst>
          </p:cNvPr>
          <p:cNvSpPr>
            <a:spLocks xmlns:a="http://schemas.openxmlformats.org/drawingml/2006/main" noGrp="1"/>
          </p:cNvSpPr>
          <p:nvPr/>
        </p:nvSpPr>
        <p:spPr>
          <a:xfrm xmlns:a="http://schemas.openxmlformats.org/drawingml/2006/main">
            <a:off x="104775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54F7BE11-1552-44F0-ABBA-94E302D62F48}"/>
              </a:ext>
            </a:extLst>
          </p:cNvPr>
          <p:cNvSpPr>
            <a:spLocks xmlns:a="http://schemas.openxmlformats.org/drawingml/2006/main" noGrp="1"/>
          </p:cNvSpPr>
          <p:nvPr/>
        </p:nvSpPr>
        <p:spPr>
          <a:xfrm xmlns:a="http://schemas.openxmlformats.org/drawingml/2006/main">
            <a:off x="106299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756A5CC4-BA31-488D-A8D0-77EB6B141156}"/>
              </a:ext>
            </a:extLst>
          </p:cNvPr>
          <p:cNvSpPr>
            <a:spLocks xmlns:a="http://schemas.openxmlformats.org/drawingml/2006/main" noGrp="1"/>
          </p:cNvSpPr>
          <p:nvPr/>
        </p:nvSpPr>
        <p:spPr>
          <a:xfrm xmlns:a="http://schemas.openxmlformats.org/drawingml/2006/main">
            <a:off x="106299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D449A0FC-5E67-4E4D-90CD-2D9694B7DD85}"/>
              </a:ext>
            </a:extLst>
          </p:cNvPr>
          <p:cNvSpPr>
            <a:spLocks xmlns:a="http://schemas.openxmlformats.org/drawingml/2006/main" noGrp="1"/>
          </p:cNvSpPr>
          <p:nvPr/>
        </p:nvSpPr>
        <p:spPr>
          <a:xfrm xmlns:a="http://schemas.openxmlformats.org/drawingml/2006/main">
            <a:off x="106299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0FE200F7-6504-449D-BF48-3079398891C7}"/>
              </a:ext>
            </a:extLst>
          </p:cNvPr>
          <p:cNvSpPr>
            <a:spLocks xmlns:a="http://schemas.openxmlformats.org/drawingml/2006/main" noGrp="1"/>
          </p:cNvSpPr>
          <p:nvPr/>
        </p:nvSpPr>
        <p:spPr>
          <a:xfrm xmlns:a="http://schemas.openxmlformats.org/drawingml/2006/main">
            <a:off x="107823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35797B98-AA53-4959-9B7E-3C54297E1927}"/>
              </a:ext>
            </a:extLst>
          </p:cNvPr>
          <p:cNvSpPr>
            <a:spLocks xmlns:a="http://schemas.openxmlformats.org/drawingml/2006/main" noGrp="1"/>
          </p:cNvSpPr>
          <p:nvPr/>
        </p:nvSpPr>
        <p:spPr>
          <a:xfrm xmlns:a="http://schemas.openxmlformats.org/drawingml/2006/main">
            <a:off x="107823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787925F3-2AAD-4687-ABEE-47F3CF2C093A}"/>
              </a:ext>
            </a:extLst>
          </p:cNvPr>
          <p:cNvSpPr>
            <a:spLocks xmlns:a="http://schemas.openxmlformats.org/drawingml/2006/main" noGrp="1"/>
          </p:cNvSpPr>
          <p:nvPr/>
        </p:nvSpPr>
        <p:spPr>
          <a:xfrm xmlns:a="http://schemas.openxmlformats.org/drawingml/2006/main">
            <a:off x="107823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B6926470-5630-4823-9BBC-B97FAD713198}"/>
              </a:ext>
            </a:extLst>
          </p:cNvPr>
          <p:cNvSpPr>
            <a:spLocks xmlns:a="http://schemas.openxmlformats.org/drawingml/2006/main" noGrp="1"/>
          </p:cNvSpPr>
          <p:nvPr/>
        </p:nvSpPr>
        <p:spPr>
          <a:xfrm xmlns:a="http://schemas.openxmlformats.org/drawingml/2006/main">
            <a:off x="109347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7ED8B10-2C5B-4B9F-9DD1-F151CD19F67C}"/>
              </a:ext>
            </a:extLst>
          </p:cNvPr>
          <p:cNvSpPr>
            <a:spLocks xmlns:a="http://schemas.openxmlformats.org/drawingml/2006/main" noGrp="1"/>
          </p:cNvSpPr>
          <p:nvPr/>
        </p:nvSpPr>
        <p:spPr>
          <a:xfrm xmlns:a="http://schemas.openxmlformats.org/drawingml/2006/main">
            <a:off x="109347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D8626180-B60C-4071-BC99-E66FDEEBE2C5}"/>
              </a:ext>
            </a:extLst>
          </p:cNvPr>
          <p:cNvSpPr>
            <a:spLocks xmlns:a="http://schemas.openxmlformats.org/drawingml/2006/main" noGrp="1"/>
          </p:cNvSpPr>
          <p:nvPr/>
        </p:nvSpPr>
        <p:spPr>
          <a:xfrm xmlns:a="http://schemas.openxmlformats.org/drawingml/2006/main">
            <a:off x="109347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FF6DCB7C-9955-4EFB-843F-2C1F18FA0B7E}"/>
              </a:ext>
            </a:extLst>
          </p:cNvPr>
          <p:cNvSpPr>
            <a:spLocks xmlns:a="http://schemas.openxmlformats.org/drawingml/2006/main" noGrp="1"/>
          </p:cNvSpPr>
          <p:nvPr/>
        </p:nvSpPr>
        <p:spPr>
          <a:xfrm xmlns:a="http://schemas.openxmlformats.org/drawingml/2006/main">
            <a:off x="57150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8B7D5CB-AC3E-43D0-844D-A6FD1EA4056A}"/>
              </a:ext>
            </a:extLst>
          </p:cNvPr>
          <p:cNvSpPr>
            <a:spLocks xmlns:a="http://schemas.openxmlformats.org/drawingml/2006/main" noGrp="1"/>
          </p:cNvSpPr>
          <p:nvPr/>
        </p:nvSpPr>
        <p:spPr>
          <a:xfrm xmlns:a="http://schemas.openxmlformats.org/drawingml/2006/main">
            <a:off x="57150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F6EC5BEC-0137-409E-B023-22EAA02E1833}"/>
              </a:ext>
            </a:extLst>
          </p:cNvPr>
          <p:cNvSpPr>
            <a:spLocks xmlns:a="http://schemas.openxmlformats.org/drawingml/2006/main" noGrp="1"/>
          </p:cNvSpPr>
          <p:nvPr/>
        </p:nvSpPr>
        <p:spPr>
          <a:xfrm xmlns:a="http://schemas.openxmlformats.org/drawingml/2006/main">
            <a:off x="67627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69DED295-B346-4FCC-AA18-EB63EAED0EE4}"/>
              </a:ext>
            </a:extLst>
          </p:cNvPr>
          <p:cNvSpPr>
            <a:spLocks xmlns:a="http://schemas.openxmlformats.org/drawingml/2006/main" noGrp="1"/>
          </p:cNvSpPr>
          <p:nvPr/>
        </p:nvSpPr>
        <p:spPr>
          <a:xfrm xmlns:a="http://schemas.openxmlformats.org/drawingml/2006/main">
            <a:off x="67627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B403158-F0FD-4C09-B076-B97BFDAE2244}"/>
              </a:ext>
            </a:extLst>
          </p:cNvPr>
          <p:cNvSpPr>
            <a:spLocks xmlns:a="http://schemas.openxmlformats.org/drawingml/2006/main" noGrp="1"/>
          </p:cNvSpPr>
          <p:nvPr/>
        </p:nvSpPr>
        <p:spPr>
          <a:xfrm xmlns:a="http://schemas.openxmlformats.org/drawingml/2006/main">
            <a:off x="78105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2C9BCA31-A213-4650-A9D9-BF490B8496D8}"/>
              </a:ext>
            </a:extLst>
          </p:cNvPr>
          <p:cNvSpPr>
            <a:spLocks xmlns:a="http://schemas.openxmlformats.org/drawingml/2006/main" noGrp="1"/>
          </p:cNvSpPr>
          <p:nvPr/>
        </p:nvSpPr>
        <p:spPr>
          <a:xfrm xmlns:a="http://schemas.openxmlformats.org/drawingml/2006/main">
            <a:off x="78105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76032C76-4161-4B8D-9F3E-EEA64C17F295}"/>
              </a:ext>
            </a:extLst>
          </p:cNvPr>
          <p:cNvSpPr>
            <a:spLocks xmlns:a="http://schemas.openxmlformats.org/drawingml/2006/main" noGrp="1"/>
          </p:cNvSpPr>
          <p:nvPr/>
        </p:nvSpPr>
        <p:spPr>
          <a:xfrm xmlns:a="http://schemas.openxmlformats.org/drawingml/2006/main">
            <a:off x="88582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07DB00A6-E801-4046-B621-D003CB2DD226}"/>
              </a:ext>
            </a:extLst>
          </p:cNvPr>
          <p:cNvSpPr>
            <a:spLocks xmlns:a="http://schemas.openxmlformats.org/drawingml/2006/main" noGrp="1"/>
          </p:cNvSpPr>
          <p:nvPr/>
        </p:nvSpPr>
        <p:spPr>
          <a:xfrm xmlns:a="http://schemas.openxmlformats.org/drawingml/2006/main">
            <a:off x="88582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6D784A7B-EDCD-4B23-8237-303A6A70D5C7}"/>
              </a:ext>
            </a:extLst>
          </p:cNvPr>
          <p:cNvSpPr>
            <a:spLocks xmlns:a="http://schemas.openxmlformats.org/drawingml/2006/main" noGrp="1"/>
          </p:cNvSpPr>
          <p:nvPr/>
        </p:nvSpPr>
        <p:spPr>
          <a:xfrm xmlns:a="http://schemas.openxmlformats.org/drawingml/2006/main">
            <a:off x="99060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F585914B-04CE-4249-B736-801FD1C09456}"/>
              </a:ext>
            </a:extLst>
          </p:cNvPr>
          <p:cNvSpPr>
            <a:spLocks xmlns:a="http://schemas.openxmlformats.org/drawingml/2006/main" noGrp="1"/>
          </p:cNvSpPr>
          <p:nvPr/>
        </p:nvSpPr>
        <p:spPr>
          <a:xfrm xmlns:a="http://schemas.openxmlformats.org/drawingml/2006/main">
            <a:off x="99060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005185AA-27D2-4832-8109-78CB20F8C759}"/>
              </a:ext>
            </a:extLst>
          </p:cNvPr>
          <p:cNvSpPr>
            <a:spLocks xmlns:a="http://schemas.openxmlformats.org/drawingml/2006/main" noGrp="1"/>
          </p:cNvSpPr>
          <p:nvPr/>
        </p:nvSpPr>
        <p:spPr>
          <a:xfrm xmlns:a="http://schemas.openxmlformats.org/drawingml/2006/main">
            <a:off x="109537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57B65569-9F2A-40B5-B9F8-5D6E809529F8}"/>
              </a:ext>
            </a:extLst>
          </p:cNvPr>
          <p:cNvSpPr>
            <a:spLocks xmlns:a="http://schemas.openxmlformats.org/drawingml/2006/main" noGrp="1"/>
          </p:cNvSpPr>
          <p:nvPr/>
        </p:nvSpPr>
        <p:spPr>
          <a:xfrm xmlns:a="http://schemas.openxmlformats.org/drawingml/2006/main">
            <a:off x="109537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5A1F1C78-28CB-4C02-BF0F-E0C93C3C4DD4}"/>
              </a:ext>
            </a:extLst>
          </p:cNvPr>
          <p:cNvSpPr>
            <a:spLocks xmlns:a="http://schemas.openxmlformats.org/drawingml/2006/main" noGrp="1"/>
          </p:cNvSpPr>
          <p:nvPr/>
        </p:nvSpPr>
        <p:spPr>
          <a:xfrm xmlns:a="http://schemas.openxmlformats.org/drawingml/2006/main">
            <a:off x="120015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F2E81D5F-63FD-4B61-8F31-0AF6F1AABE52}"/>
              </a:ext>
            </a:extLst>
          </p:cNvPr>
          <p:cNvSpPr>
            <a:spLocks xmlns:a="http://schemas.openxmlformats.org/drawingml/2006/main" noGrp="1"/>
          </p:cNvSpPr>
          <p:nvPr/>
        </p:nvSpPr>
        <p:spPr>
          <a:xfrm xmlns:a="http://schemas.openxmlformats.org/drawingml/2006/main">
            <a:off x="120015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B49349A-7A3F-414E-946E-2BDCF83F06AB}"/>
              </a:ext>
            </a:extLst>
          </p:cNvPr>
          <p:cNvSpPr>
            <a:spLocks xmlns:a="http://schemas.openxmlformats.org/drawingml/2006/main" noGrp="1"/>
          </p:cNvSpPr>
          <p:nvPr/>
        </p:nvSpPr>
        <p:spPr>
          <a:xfrm xmlns:a="http://schemas.openxmlformats.org/drawingml/2006/main">
            <a:off x="130492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A9620E02-0AC3-4F43-93A6-AFEB90E83866}"/>
              </a:ext>
            </a:extLst>
          </p:cNvPr>
          <p:cNvSpPr>
            <a:spLocks xmlns:a="http://schemas.openxmlformats.org/drawingml/2006/main" noGrp="1"/>
          </p:cNvSpPr>
          <p:nvPr/>
        </p:nvSpPr>
        <p:spPr>
          <a:xfrm xmlns:a="http://schemas.openxmlformats.org/drawingml/2006/main">
            <a:off x="130492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79C3509E-9A25-4324-9BD1-1376A083C326}"/>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43" name="">
            <a:extLst xmlns:a="http://schemas.openxmlformats.org/drawingml/2006/main">
              <a:ext uri="{FF2B5EF4-FFF2-40B4-BE49-F238E27FC236}">
                <a16:creationId xmlns:a16="http://schemas.microsoft.com/office/drawing/2014/main" id="{FAEA10CC-2BC6-4652-AE53-4877C0A21063}"/>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15DFF5D4-AEE0-4FC2-AE3A-C111B893F80D}"/>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2D00B631-E12B-42A0-9E5E-476A20213750}"/>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D90EFE6D-BD97-4145-8F8D-A20B9836B674}"/>
              </a:ext>
            </a:extLst>
          </p:cNvPr>
          <p:cNvSpPr>
            <a:spLocks xmlns:a="http://schemas.openxmlformats.org/drawingml/2006/main" noGrp="1"/>
          </p:cNvSpPr>
          <p:nvPr/>
        </p:nvSpPr>
        <p:spPr>
          <a:xfrm xmlns:a="http://schemas.openxmlformats.org/drawingml/2006/main">
            <a:off x="9715500" y="0"/>
            <a:ext cx="2476500" cy="609600"/>
          </a:xfrm>
          <a:prstGeom xmlns:a="http://schemas.openxmlformats.org/drawingml/2006/main" prst="rect">
            <a:avLst/>
          </a:prstGeom>
          <a:pattFill xmlns:a="http://schemas.openxmlformats.org/drawingml/2006/main" prst="narVert">
            <a:fgClr>
              <a:srgbClr val="7FC4FF">
                <a:alpha val="42000"/>
              </a:srgbClr>
            </a:fgClr>
            <a:bgClr>
              <a:srgbClr val="0C4489"/>
            </a:bgClr>
          </a:patt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F8D9E493-E9CB-4A4D-A738-E093926860EA}"/>
              </a:ext>
            </a:extLst>
          </p:cNvPr>
          <p:cNvSpPr>
            <a:spLocks xmlns:a="http://schemas.openxmlformats.org/drawingml/2006/main" noGrp="1"/>
          </p:cNvSpPr>
          <p:nvPr/>
        </p:nvSpPr>
        <p:spPr>
          <a:xfrm xmlns:a="http://schemas.openxmlformats.org/drawingml/2006/main">
            <a:off x="0" y="0"/>
            <a:ext cx="66675" cy="609600"/>
          </a:xfrm>
          <a:prstGeom xmlns:a="http://schemas.openxmlformats.org/drawingml/2006/main" prst="rect">
            <a:avLst/>
          </a:prstGeom>
          <a:gradFill xmlns:a="http://schemas.openxmlformats.org/drawingml/2006/main">
            <a:gsLst>
              <a:gs pos="0">
                <a:srgbClr val="4FD8FF"/>
              </a:gs>
              <a:gs pos="100000">
                <a:srgbClr val="4FD8FF">
                  <a:alpha val="0"/>
                </a:srgbClr>
              </a:gs>
            </a:gsLst>
            <a:lin ang="540000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95AE0264-E851-4516-A11C-BB3C22EAE55A}"/>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FD24A"/>
              </a:gs>
              <a:gs pos="22000">
                <a:srgbClr val="FFD24A">
                  <a:alpha val="55000"/>
                </a:srgbClr>
              </a:gs>
              <a:gs pos="66000">
                <a:srgbClr val="4FD8FF">
                  <a:alpha val="45000"/>
                </a:srgbClr>
              </a:gs>
              <a:gs pos="100000">
                <a:srgbClr val="4FD8FF">
                  <a:alpha val="0"/>
                </a:srgbClr>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1E9CE50D-61F2-47B3-85FE-5AEA0F6AB82F}"/>
              </a:ext>
            </a:extLst>
          </p:cNvPr>
          <p:cNvSpPr>
            <a:spLocks xmlns:a="http://schemas.openxmlformats.org/drawingml/2006/main" noGrp="1"/>
          </p:cNvSpPr>
          <p:nvPr/>
        </p:nvSpPr>
        <p:spPr>
          <a:xfrm xmlns:a="http://schemas.openxmlformats.org/drawingml/2006/main">
            <a:off x="266700" y="152400"/>
            <a:ext cx="38100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spc="2">
                <a:solidFill>
                  <a:srgbClr val="FFFFFF"/>
                </a:solidFill>
                <a:latin typeface="微软雅黑"/>
                <a:ea typeface="微软雅黑"/>
                <a:cs typeface="微软雅黑"/>
              </a:defRPr>
            </a:pPr>
            <a:r>
              <a:rPr sz="1650" b="1" spc="2">
                <a:solidFill>
                  <a:srgbClr val="FFFFFF"/>
                </a:solidFill>
                <a:latin typeface="微软雅黑"/>
                <a:ea typeface="微软雅黑"/>
                <a:cs typeface="微软雅黑"/>
              </a:rPr>
              <a:t>目录</a:t>
            </a:r>
          </a:p>
        </p:txBody>
      </p:sp>
      <p:sp>
        <p:nvSpPr>
          <p:cNvPr id="50" name="">
            <a:extLst xmlns:a="http://schemas.openxmlformats.org/drawingml/2006/main">
              <a:ext uri="{FF2B5EF4-FFF2-40B4-BE49-F238E27FC236}">
                <a16:creationId xmlns:a16="http://schemas.microsoft.com/office/drawing/2014/main" id="{DE2D757E-55EC-4C75-97EA-72BB52EA58F5}"/>
              </a:ext>
            </a:extLst>
          </p:cNvPr>
          <p:cNvSpPr>
            <a:spLocks xmlns:a="http://schemas.openxmlformats.org/drawingml/2006/main" noGrp="1"/>
          </p:cNvSpPr>
          <p:nvPr/>
        </p:nvSpPr>
        <p:spPr>
          <a:xfrm xmlns:a="http://schemas.openxmlformats.org/drawingml/2006/main">
            <a:off x="876300" y="209550"/>
            <a:ext cx="19050" cy="209550"/>
          </a:xfrm>
          <a:prstGeom xmlns:a="http://schemas.openxmlformats.org/drawingml/2006/main" prst="rect">
            <a:avLst/>
          </a:prstGeom>
          <a:gradFill xmlns:a="http://schemas.openxmlformats.org/drawingml/2006/main">
            <a:gsLst>
              <a:gs pos="0">
                <a:srgbClr val="4FD8FF"/>
              </a:gs>
              <a:gs pos="100000">
                <a:srgbClr val="4FD8FF">
                  <a:alpha val="20000"/>
                </a:srgbClr>
              </a:gs>
            </a:gsLst>
            <a:lin ang="5400000"/>
          </a:gra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BE13AAA4-A039-498C-8993-789DC0F34948}"/>
              </a:ext>
            </a:extLst>
          </p:cNvPr>
          <p:cNvSpPr>
            <a:spLocks xmlns:a="http://schemas.openxmlformats.org/drawingml/2006/main" noGrp="1"/>
          </p:cNvSpPr>
          <p:nvPr/>
        </p:nvSpPr>
        <p:spPr>
          <a:xfrm xmlns:a="http://schemas.openxmlformats.org/drawingml/2006/main">
            <a:off x="1009650" y="17145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C6DDFF"/>
                </a:solidFill>
                <a:latin typeface="微软雅黑"/>
                <a:ea typeface="微软雅黑"/>
                <a:cs typeface="微软雅黑"/>
              </a:defRPr>
            </a:pPr>
            <a:r>
              <a:rPr sz="1050" b="0">
                <a:solidFill>
                  <a:srgbClr val="C6DDFF"/>
                </a:solidFill>
                <a:latin typeface="微软雅黑"/>
                <a:ea typeface="微软雅黑"/>
                <a:cs typeface="微软雅黑"/>
              </a:rPr>
              <a:t>问题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方案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算法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系统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验证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价值</a:t>
            </a:r>
          </a:p>
        </p:txBody>
      </p:sp>
      <p:sp>
        <p:nvSpPr>
          <p:cNvPr id="52" name="">
            <a:extLst xmlns:a="http://schemas.openxmlformats.org/drawingml/2006/main">
              <a:ext uri="{FF2B5EF4-FFF2-40B4-BE49-F238E27FC236}">
                <a16:creationId xmlns:a16="http://schemas.microsoft.com/office/drawing/2014/main" id="{DD0C3F9E-9D2D-4C99-BF1E-4C697C2425F7}"/>
              </a:ext>
            </a:extLst>
          </p:cNvPr>
          <p:cNvSpPr>
            <a:spLocks xmlns:a="http://schemas.openxmlformats.org/drawingml/2006/main" noGrp="1"/>
          </p:cNvSpPr>
          <p:nvPr/>
        </p:nvSpPr>
        <p:spPr>
          <a:xfrm xmlns:a="http://schemas.openxmlformats.org/drawingml/2006/main">
            <a:off x="571500" y="9906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F8B46D51-3479-4A3D-91D0-DEAF56BC4C3B}"/>
              </a:ext>
            </a:extLst>
          </p:cNvPr>
          <p:cNvSpPr>
            <a:spLocks xmlns:a="http://schemas.openxmlformats.org/drawingml/2006/main" noGrp="1"/>
          </p:cNvSpPr>
          <p:nvPr/>
        </p:nvSpPr>
        <p:spPr>
          <a:xfrm xmlns:a="http://schemas.openxmlformats.org/drawingml/2006/main">
            <a:off x="571500" y="990600"/>
            <a:ext cx="3543300" cy="4762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626BDD68-B5BC-4CAE-82C7-8C7A39187B7F}"/>
              </a:ext>
            </a:extLst>
          </p:cNvPr>
          <p:cNvSpPr>
            <a:spLocks xmlns:a="http://schemas.openxmlformats.org/drawingml/2006/main" noGrp="1"/>
          </p:cNvSpPr>
          <p:nvPr/>
        </p:nvSpPr>
        <p:spPr>
          <a:xfrm xmlns:a="http://schemas.openxmlformats.org/drawingml/2006/main">
            <a:off x="3543300" y="12763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C9C90EA0-8E23-43A7-A0B9-153E0A496213}"/>
              </a:ext>
            </a:extLst>
          </p:cNvPr>
          <p:cNvSpPr>
            <a:spLocks xmlns:a="http://schemas.openxmlformats.org/drawingml/2006/main" noGrp="1"/>
          </p:cNvSpPr>
          <p:nvPr/>
        </p:nvSpPr>
        <p:spPr>
          <a:xfrm xmlns:a="http://schemas.openxmlformats.org/drawingml/2006/main">
            <a:off x="3543300" y="13906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0E421599-F8D2-41E5-BA7D-8C3A46C1137D}"/>
              </a:ext>
            </a:extLst>
          </p:cNvPr>
          <p:cNvSpPr>
            <a:spLocks xmlns:a="http://schemas.openxmlformats.org/drawingml/2006/main" noGrp="1"/>
          </p:cNvSpPr>
          <p:nvPr/>
        </p:nvSpPr>
        <p:spPr>
          <a:xfrm xmlns:a="http://schemas.openxmlformats.org/drawingml/2006/main">
            <a:off x="3543300" y="15049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BF90E29B-0D2E-4F3B-B962-7A4B09623C67}"/>
              </a:ext>
            </a:extLst>
          </p:cNvPr>
          <p:cNvSpPr>
            <a:spLocks xmlns:a="http://schemas.openxmlformats.org/drawingml/2006/main" noGrp="1"/>
          </p:cNvSpPr>
          <p:nvPr/>
        </p:nvSpPr>
        <p:spPr>
          <a:xfrm xmlns:a="http://schemas.openxmlformats.org/drawingml/2006/main">
            <a:off x="3657600" y="12763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27F053BC-2ADA-4550-9254-F3FED62B29D1}"/>
              </a:ext>
            </a:extLst>
          </p:cNvPr>
          <p:cNvSpPr>
            <a:spLocks xmlns:a="http://schemas.openxmlformats.org/drawingml/2006/main" noGrp="1"/>
          </p:cNvSpPr>
          <p:nvPr/>
        </p:nvSpPr>
        <p:spPr>
          <a:xfrm xmlns:a="http://schemas.openxmlformats.org/drawingml/2006/main">
            <a:off x="3657600" y="13906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9E1DA48C-393A-42A2-81CB-DAED52363A1A}"/>
              </a:ext>
            </a:extLst>
          </p:cNvPr>
          <p:cNvSpPr>
            <a:spLocks xmlns:a="http://schemas.openxmlformats.org/drawingml/2006/main" noGrp="1"/>
          </p:cNvSpPr>
          <p:nvPr/>
        </p:nvSpPr>
        <p:spPr>
          <a:xfrm xmlns:a="http://schemas.openxmlformats.org/drawingml/2006/main">
            <a:off x="3657600" y="15049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11F5AE7-FD55-462D-8A01-DE9F4B399BA1}"/>
              </a:ext>
            </a:extLst>
          </p:cNvPr>
          <p:cNvSpPr>
            <a:spLocks xmlns:a="http://schemas.openxmlformats.org/drawingml/2006/main" noGrp="1"/>
          </p:cNvSpPr>
          <p:nvPr/>
        </p:nvSpPr>
        <p:spPr>
          <a:xfrm xmlns:a="http://schemas.openxmlformats.org/drawingml/2006/main">
            <a:off x="3771900" y="12763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E7992AD3-6B35-4F16-863C-37CFFA45F126}"/>
              </a:ext>
            </a:extLst>
          </p:cNvPr>
          <p:cNvSpPr>
            <a:spLocks xmlns:a="http://schemas.openxmlformats.org/drawingml/2006/main" noGrp="1"/>
          </p:cNvSpPr>
          <p:nvPr/>
        </p:nvSpPr>
        <p:spPr>
          <a:xfrm xmlns:a="http://schemas.openxmlformats.org/drawingml/2006/main">
            <a:off x="3771900" y="13906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A35A69A6-C789-4768-B2DB-D9680C0576C5}"/>
              </a:ext>
            </a:extLst>
          </p:cNvPr>
          <p:cNvSpPr>
            <a:spLocks xmlns:a="http://schemas.openxmlformats.org/drawingml/2006/main" noGrp="1"/>
          </p:cNvSpPr>
          <p:nvPr/>
        </p:nvSpPr>
        <p:spPr>
          <a:xfrm xmlns:a="http://schemas.openxmlformats.org/drawingml/2006/main">
            <a:off x="3771900" y="15049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81032ED5-6636-4F45-A1D6-5848A01BEFEB}"/>
              </a:ext>
            </a:extLst>
          </p:cNvPr>
          <p:cNvSpPr>
            <a:spLocks xmlns:a="http://schemas.openxmlformats.org/drawingml/2006/main" noGrp="1"/>
          </p:cNvSpPr>
          <p:nvPr/>
        </p:nvSpPr>
        <p:spPr>
          <a:xfrm xmlns:a="http://schemas.openxmlformats.org/drawingml/2006/main">
            <a:off x="819150"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620752D8-5969-4441-8452-AAB4501A240C}"/>
              </a:ext>
            </a:extLst>
          </p:cNvPr>
          <p:cNvSpPr>
            <a:spLocks xmlns:a="http://schemas.openxmlformats.org/drawingml/2006/main" noGrp="1"/>
          </p:cNvSpPr>
          <p:nvPr/>
        </p:nvSpPr>
        <p:spPr>
          <a:xfrm xmlns:a="http://schemas.openxmlformats.org/drawingml/2006/main">
            <a:off x="819150"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E52A07E7-DCA6-4FC5-960A-14F79301B5BB}"/>
              </a:ext>
            </a:extLst>
          </p:cNvPr>
          <p:cNvSpPr>
            <a:spLocks xmlns:a="http://schemas.openxmlformats.org/drawingml/2006/main" noGrp="1"/>
          </p:cNvSpPr>
          <p:nvPr/>
        </p:nvSpPr>
        <p:spPr>
          <a:xfrm xmlns:a="http://schemas.openxmlformats.org/drawingml/2006/main">
            <a:off x="904875"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7B5F1091-7A66-43C0-A9CB-053605FB763A}"/>
              </a:ext>
            </a:extLst>
          </p:cNvPr>
          <p:cNvSpPr>
            <a:spLocks xmlns:a="http://schemas.openxmlformats.org/drawingml/2006/main" noGrp="1"/>
          </p:cNvSpPr>
          <p:nvPr/>
        </p:nvSpPr>
        <p:spPr>
          <a:xfrm xmlns:a="http://schemas.openxmlformats.org/drawingml/2006/main">
            <a:off x="904875"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955A6BA1-0124-4366-99BD-075AB89C4635}"/>
              </a:ext>
            </a:extLst>
          </p:cNvPr>
          <p:cNvSpPr>
            <a:spLocks xmlns:a="http://schemas.openxmlformats.org/drawingml/2006/main" noGrp="1"/>
          </p:cNvSpPr>
          <p:nvPr/>
        </p:nvSpPr>
        <p:spPr>
          <a:xfrm xmlns:a="http://schemas.openxmlformats.org/drawingml/2006/main">
            <a:off x="990600"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732C958E-1BF9-4265-BA94-88FD429454A6}"/>
              </a:ext>
            </a:extLst>
          </p:cNvPr>
          <p:cNvSpPr>
            <a:spLocks xmlns:a="http://schemas.openxmlformats.org/drawingml/2006/main" noGrp="1"/>
          </p:cNvSpPr>
          <p:nvPr/>
        </p:nvSpPr>
        <p:spPr>
          <a:xfrm xmlns:a="http://schemas.openxmlformats.org/drawingml/2006/main">
            <a:off x="990600"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9B915407-27B0-46F2-8BD8-DAA55BBD4EE2}"/>
              </a:ext>
            </a:extLst>
          </p:cNvPr>
          <p:cNvSpPr>
            <a:spLocks xmlns:a="http://schemas.openxmlformats.org/drawingml/2006/main" noGrp="1"/>
          </p:cNvSpPr>
          <p:nvPr/>
        </p:nvSpPr>
        <p:spPr>
          <a:xfrm xmlns:a="http://schemas.openxmlformats.org/drawingml/2006/main">
            <a:off x="1076325"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644DCAE2-A1BA-43A6-8A1E-0D3C46981F97}"/>
              </a:ext>
            </a:extLst>
          </p:cNvPr>
          <p:cNvSpPr>
            <a:spLocks xmlns:a="http://schemas.openxmlformats.org/drawingml/2006/main" noGrp="1"/>
          </p:cNvSpPr>
          <p:nvPr/>
        </p:nvSpPr>
        <p:spPr>
          <a:xfrm xmlns:a="http://schemas.openxmlformats.org/drawingml/2006/main">
            <a:off x="1076325"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64ACD584-3AB6-441E-B7AD-10C8E1BA9184}"/>
              </a:ext>
            </a:extLst>
          </p:cNvPr>
          <p:cNvSpPr>
            <a:spLocks xmlns:a="http://schemas.openxmlformats.org/drawingml/2006/main" noGrp="1"/>
          </p:cNvSpPr>
          <p:nvPr/>
        </p:nvSpPr>
        <p:spPr>
          <a:xfrm xmlns:a="http://schemas.openxmlformats.org/drawingml/2006/main">
            <a:off x="1162050"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6160BC06-ED91-402C-AF64-24306796881E}"/>
              </a:ext>
            </a:extLst>
          </p:cNvPr>
          <p:cNvSpPr>
            <a:spLocks xmlns:a="http://schemas.openxmlformats.org/drawingml/2006/main" noGrp="1"/>
          </p:cNvSpPr>
          <p:nvPr/>
        </p:nvSpPr>
        <p:spPr>
          <a:xfrm xmlns:a="http://schemas.openxmlformats.org/drawingml/2006/main">
            <a:off x="1162050"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BAADB073-5191-455E-BF30-C9B3B425FF35}"/>
              </a:ext>
            </a:extLst>
          </p:cNvPr>
          <p:cNvSpPr>
            <a:spLocks xmlns:a="http://schemas.openxmlformats.org/drawingml/2006/main" noGrp="1"/>
          </p:cNvSpPr>
          <p:nvPr/>
        </p:nvSpPr>
        <p:spPr>
          <a:xfrm xmlns:a="http://schemas.openxmlformats.org/drawingml/2006/main">
            <a:off x="819150" y="11811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01</a:t>
            </a:r>
          </a:p>
        </p:txBody>
      </p:sp>
      <p:sp>
        <p:nvSpPr>
          <p:cNvPr id="74" name="">
            <a:extLst xmlns:a="http://schemas.openxmlformats.org/drawingml/2006/main">
              <a:ext uri="{FF2B5EF4-FFF2-40B4-BE49-F238E27FC236}">
                <a16:creationId xmlns:a16="http://schemas.microsoft.com/office/drawing/2014/main" id="{703E5EA2-9D69-4B24-8BD9-1C4ED6711F3F}"/>
              </a:ext>
            </a:extLst>
          </p:cNvPr>
          <p:cNvSpPr>
            <a:spLocks xmlns:a="http://schemas.openxmlformats.org/drawingml/2006/main" noGrp="1"/>
          </p:cNvSpPr>
          <p:nvPr/>
        </p:nvSpPr>
        <p:spPr>
          <a:xfrm xmlns:a="http://schemas.openxmlformats.org/drawingml/2006/main">
            <a:off x="819150" y="17526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项目背景</a:t>
            </a:r>
          </a:p>
        </p:txBody>
      </p:sp>
      <p:sp>
        <p:nvSpPr>
          <p:cNvPr id="75" name="">
            <a:extLst xmlns:a="http://schemas.openxmlformats.org/drawingml/2006/main">
              <a:ext uri="{FF2B5EF4-FFF2-40B4-BE49-F238E27FC236}">
                <a16:creationId xmlns:a16="http://schemas.microsoft.com/office/drawing/2014/main" id="{E1ECCE86-6958-4FC5-ACFC-11D0F30EDB91}"/>
              </a:ext>
            </a:extLst>
          </p:cNvPr>
          <p:cNvSpPr>
            <a:spLocks xmlns:a="http://schemas.openxmlformats.org/drawingml/2006/main" noGrp="1"/>
          </p:cNvSpPr>
          <p:nvPr/>
        </p:nvSpPr>
        <p:spPr>
          <a:xfrm xmlns:a="http://schemas.openxmlformats.org/drawingml/2006/main">
            <a:off x="819150" y="2171700"/>
            <a:ext cx="4953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8783E03C-C985-4C8B-84AF-3B31C85C4367}"/>
              </a:ext>
            </a:extLst>
          </p:cNvPr>
          <p:cNvSpPr>
            <a:spLocks xmlns:a="http://schemas.openxmlformats.org/drawingml/2006/main" noGrp="1"/>
          </p:cNvSpPr>
          <p:nvPr/>
        </p:nvSpPr>
        <p:spPr>
          <a:xfrm xmlns:a="http://schemas.openxmlformats.org/drawingml/2006/main">
            <a:off x="819150" y="23050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标准依据与判定阈值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培训成本结构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三大痛点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方案对比</a:t>
            </a:r>
          </a:p>
        </p:txBody>
      </p:sp>
      <p:sp>
        <p:nvSpPr>
          <p:cNvPr id="77" name="">
            <a:extLst xmlns:a="http://schemas.openxmlformats.org/drawingml/2006/main">
              <a:ext uri="{FF2B5EF4-FFF2-40B4-BE49-F238E27FC236}">
                <a16:creationId xmlns:a16="http://schemas.microsoft.com/office/drawing/2014/main" id="{843B4583-1B0A-4CCD-B229-DF983B915241}"/>
              </a:ext>
            </a:extLst>
          </p:cNvPr>
          <p:cNvSpPr>
            <a:spLocks xmlns:a="http://schemas.openxmlformats.org/drawingml/2006/main" noGrp="1"/>
          </p:cNvSpPr>
          <p:nvPr/>
        </p:nvSpPr>
        <p:spPr>
          <a:xfrm xmlns:a="http://schemas.openxmlformats.org/drawingml/2006/main">
            <a:off x="4419600" y="9906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78" name="">
            <a:extLst xmlns:a="http://schemas.openxmlformats.org/drawingml/2006/main">
              <a:ext uri="{FF2B5EF4-FFF2-40B4-BE49-F238E27FC236}">
                <a16:creationId xmlns:a16="http://schemas.microsoft.com/office/drawing/2014/main" id="{830A533F-BD53-461A-9E46-83210729F8C6}"/>
              </a:ext>
            </a:extLst>
          </p:cNvPr>
          <p:cNvSpPr>
            <a:spLocks xmlns:a="http://schemas.openxmlformats.org/drawingml/2006/main" noGrp="1"/>
          </p:cNvSpPr>
          <p:nvPr/>
        </p:nvSpPr>
        <p:spPr>
          <a:xfrm xmlns:a="http://schemas.openxmlformats.org/drawingml/2006/main">
            <a:off x="4419600" y="990600"/>
            <a:ext cx="3543300" cy="47625"/>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AC6D0A59-7953-40CA-AA15-594521A39327}"/>
              </a:ext>
            </a:extLst>
          </p:cNvPr>
          <p:cNvSpPr>
            <a:spLocks xmlns:a="http://schemas.openxmlformats.org/drawingml/2006/main" noGrp="1"/>
          </p:cNvSpPr>
          <p:nvPr/>
        </p:nvSpPr>
        <p:spPr>
          <a:xfrm xmlns:a="http://schemas.openxmlformats.org/drawingml/2006/main">
            <a:off x="7391400" y="12763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B2B3A55F-FEAB-47AF-876C-05991E2A2EB7}"/>
              </a:ext>
            </a:extLst>
          </p:cNvPr>
          <p:cNvSpPr>
            <a:spLocks xmlns:a="http://schemas.openxmlformats.org/drawingml/2006/main" noGrp="1"/>
          </p:cNvSpPr>
          <p:nvPr/>
        </p:nvSpPr>
        <p:spPr>
          <a:xfrm xmlns:a="http://schemas.openxmlformats.org/drawingml/2006/main">
            <a:off x="7391400" y="13906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4A3A1C39-3B3A-4C59-8226-727ACB03DA1F}"/>
              </a:ext>
            </a:extLst>
          </p:cNvPr>
          <p:cNvSpPr>
            <a:spLocks xmlns:a="http://schemas.openxmlformats.org/drawingml/2006/main" noGrp="1"/>
          </p:cNvSpPr>
          <p:nvPr/>
        </p:nvSpPr>
        <p:spPr>
          <a:xfrm xmlns:a="http://schemas.openxmlformats.org/drawingml/2006/main">
            <a:off x="7391400" y="15049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F6FE5DDE-3B2D-4C1B-998E-5F44044855CA}"/>
              </a:ext>
            </a:extLst>
          </p:cNvPr>
          <p:cNvSpPr>
            <a:spLocks xmlns:a="http://schemas.openxmlformats.org/drawingml/2006/main" noGrp="1"/>
          </p:cNvSpPr>
          <p:nvPr/>
        </p:nvSpPr>
        <p:spPr>
          <a:xfrm xmlns:a="http://schemas.openxmlformats.org/drawingml/2006/main">
            <a:off x="7505700" y="12763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308E0107-0EE3-4FEB-99C6-0CB030556A38}"/>
              </a:ext>
            </a:extLst>
          </p:cNvPr>
          <p:cNvSpPr>
            <a:spLocks xmlns:a="http://schemas.openxmlformats.org/drawingml/2006/main" noGrp="1"/>
          </p:cNvSpPr>
          <p:nvPr/>
        </p:nvSpPr>
        <p:spPr>
          <a:xfrm xmlns:a="http://schemas.openxmlformats.org/drawingml/2006/main">
            <a:off x="7505700" y="13906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4C7B8EB4-5DA8-4430-B2CF-95F797079121}"/>
              </a:ext>
            </a:extLst>
          </p:cNvPr>
          <p:cNvSpPr>
            <a:spLocks xmlns:a="http://schemas.openxmlformats.org/drawingml/2006/main" noGrp="1"/>
          </p:cNvSpPr>
          <p:nvPr/>
        </p:nvSpPr>
        <p:spPr>
          <a:xfrm xmlns:a="http://schemas.openxmlformats.org/drawingml/2006/main">
            <a:off x="7505700" y="15049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36CF01D0-FE2F-4E0B-9CF9-E28A30947572}"/>
              </a:ext>
            </a:extLst>
          </p:cNvPr>
          <p:cNvSpPr>
            <a:spLocks xmlns:a="http://schemas.openxmlformats.org/drawingml/2006/main" noGrp="1"/>
          </p:cNvSpPr>
          <p:nvPr/>
        </p:nvSpPr>
        <p:spPr>
          <a:xfrm xmlns:a="http://schemas.openxmlformats.org/drawingml/2006/main">
            <a:off x="7620000" y="12763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6F9E1893-4BCA-40CC-86FF-52A22E60B9F5}"/>
              </a:ext>
            </a:extLst>
          </p:cNvPr>
          <p:cNvSpPr>
            <a:spLocks xmlns:a="http://schemas.openxmlformats.org/drawingml/2006/main" noGrp="1"/>
          </p:cNvSpPr>
          <p:nvPr/>
        </p:nvSpPr>
        <p:spPr>
          <a:xfrm xmlns:a="http://schemas.openxmlformats.org/drawingml/2006/main">
            <a:off x="7620000" y="13906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15C86CA6-FC2F-40AD-9C7D-7102266A34A9}"/>
              </a:ext>
            </a:extLst>
          </p:cNvPr>
          <p:cNvSpPr>
            <a:spLocks xmlns:a="http://schemas.openxmlformats.org/drawingml/2006/main" noGrp="1"/>
          </p:cNvSpPr>
          <p:nvPr/>
        </p:nvSpPr>
        <p:spPr>
          <a:xfrm xmlns:a="http://schemas.openxmlformats.org/drawingml/2006/main">
            <a:off x="7620000" y="15049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8ADC501F-DABE-4CDC-9378-2FCE9C33F5AF}"/>
              </a:ext>
            </a:extLst>
          </p:cNvPr>
          <p:cNvSpPr>
            <a:spLocks xmlns:a="http://schemas.openxmlformats.org/drawingml/2006/main" noGrp="1"/>
          </p:cNvSpPr>
          <p:nvPr/>
        </p:nvSpPr>
        <p:spPr>
          <a:xfrm xmlns:a="http://schemas.openxmlformats.org/drawingml/2006/main">
            <a:off x="4667250"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38574AAF-6ACC-4A2D-B72F-DB4540AB829B}"/>
              </a:ext>
            </a:extLst>
          </p:cNvPr>
          <p:cNvSpPr>
            <a:spLocks xmlns:a="http://schemas.openxmlformats.org/drawingml/2006/main" noGrp="1"/>
          </p:cNvSpPr>
          <p:nvPr/>
        </p:nvSpPr>
        <p:spPr>
          <a:xfrm xmlns:a="http://schemas.openxmlformats.org/drawingml/2006/main">
            <a:off x="4667250"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93FCB27D-08FD-4132-A324-DC25F99FEFEE}"/>
              </a:ext>
            </a:extLst>
          </p:cNvPr>
          <p:cNvSpPr>
            <a:spLocks xmlns:a="http://schemas.openxmlformats.org/drawingml/2006/main" noGrp="1"/>
          </p:cNvSpPr>
          <p:nvPr/>
        </p:nvSpPr>
        <p:spPr>
          <a:xfrm xmlns:a="http://schemas.openxmlformats.org/drawingml/2006/main">
            <a:off x="4752975"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B13B929F-F2EB-43C7-82F9-6ED5671C7317}"/>
              </a:ext>
            </a:extLst>
          </p:cNvPr>
          <p:cNvSpPr>
            <a:spLocks xmlns:a="http://schemas.openxmlformats.org/drawingml/2006/main" noGrp="1"/>
          </p:cNvSpPr>
          <p:nvPr/>
        </p:nvSpPr>
        <p:spPr>
          <a:xfrm xmlns:a="http://schemas.openxmlformats.org/drawingml/2006/main">
            <a:off x="4752975"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92" name="">
            <a:extLst xmlns:a="http://schemas.openxmlformats.org/drawingml/2006/main">
              <a:ext uri="{FF2B5EF4-FFF2-40B4-BE49-F238E27FC236}">
                <a16:creationId xmlns:a16="http://schemas.microsoft.com/office/drawing/2014/main" id="{02016D4B-6512-4EFC-B48F-791878DCB35B}"/>
              </a:ext>
            </a:extLst>
          </p:cNvPr>
          <p:cNvSpPr>
            <a:spLocks xmlns:a="http://schemas.openxmlformats.org/drawingml/2006/main" noGrp="1"/>
          </p:cNvSpPr>
          <p:nvPr/>
        </p:nvSpPr>
        <p:spPr>
          <a:xfrm xmlns:a="http://schemas.openxmlformats.org/drawingml/2006/main">
            <a:off x="4838700"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B2DD2553-51E5-4FD9-AD3F-751139639527}"/>
              </a:ext>
            </a:extLst>
          </p:cNvPr>
          <p:cNvSpPr>
            <a:spLocks xmlns:a="http://schemas.openxmlformats.org/drawingml/2006/main" noGrp="1"/>
          </p:cNvSpPr>
          <p:nvPr/>
        </p:nvSpPr>
        <p:spPr>
          <a:xfrm xmlns:a="http://schemas.openxmlformats.org/drawingml/2006/main">
            <a:off x="4838700"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36959265-2840-4BD6-A241-B90279B10B4D}"/>
              </a:ext>
            </a:extLst>
          </p:cNvPr>
          <p:cNvSpPr>
            <a:spLocks xmlns:a="http://schemas.openxmlformats.org/drawingml/2006/main" noGrp="1"/>
          </p:cNvSpPr>
          <p:nvPr/>
        </p:nvSpPr>
        <p:spPr>
          <a:xfrm xmlns:a="http://schemas.openxmlformats.org/drawingml/2006/main">
            <a:off x="4924425"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95" name="">
            <a:extLst xmlns:a="http://schemas.openxmlformats.org/drawingml/2006/main">
              <a:ext uri="{FF2B5EF4-FFF2-40B4-BE49-F238E27FC236}">
                <a16:creationId xmlns:a16="http://schemas.microsoft.com/office/drawing/2014/main" id="{AB7E2BE8-60B5-47CD-9E56-6B921BD72BDD}"/>
              </a:ext>
            </a:extLst>
          </p:cNvPr>
          <p:cNvSpPr>
            <a:spLocks xmlns:a="http://schemas.openxmlformats.org/drawingml/2006/main" noGrp="1"/>
          </p:cNvSpPr>
          <p:nvPr/>
        </p:nvSpPr>
        <p:spPr>
          <a:xfrm xmlns:a="http://schemas.openxmlformats.org/drawingml/2006/main">
            <a:off x="4924425"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96" name="">
            <a:extLst xmlns:a="http://schemas.openxmlformats.org/drawingml/2006/main">
              <a:ext uri="{FF2B5EF4-FFF2-40B4-BE49-F238E27FC236}">
                <a16:creationId xmlns:a16="http://schemas.microsoft.com/office/drawing/2014/main" id="{80799D0C-A6C1-407C-9907-D232AC0E5350}"/>
              </a:ext>
            </a:extLst>
          </p:cNvPr>
          <p:cNvSpPr>
            <a:spLocks xmlns:a="http://schemas.openxmlformats.org/drawingml/2006/main" noGrp="1"/>
          </p:cNvSpPr>
          <p:nvPr/>
        </p:nvSpPr>
        <p:spPr>
          <a:xfrm xmlns:a="http://schemas.openxmlformats.org/drawingml/2006/main">
            <a:off x="5010150"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DAB41993-C24D-4486-815C-6FF9223EB77E}"/>
              </a:ext>
            </a:extLst>
          </p:cNvPr>
          <p:cNvSpPr>
            <a:spLocks xmlns:a="http://schemas.openxmlformats.org/drawingml/2006/main" noGrp="1"/>
          </p:cNvSpPr>
          <p:nvPr/>
        </p:nvSpPr>
        <p:spPr>
          <a:xfrm xmlns:a="http://schemas.openxmlformats.org/drawingml/2006/main">
            <a:off x="5010150"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98" name="">
            <a:extLst xmlns:a="http://schemas.openxmlformats.org/drawingml/2006/main">
              <a:ext uri="{FF2B5EF4-FFF2-40B4-BE49-F238E27FC236}">
                <a16:creationId xmlns:a16="http://schemas.microsoft.com/office/drawing/2014/main" id="{F0412B63-91D2-4B6E-8585-AB15B3246E81}"/>
              </a:ext>
            </a:extLst>
          </p:cNvPr>
          <p:cNvSpPr>
            <a:spLocks xmlns:a="http://schemas.openxmlformats.org/drawingml/2006/main" noGrp="1"/>
          </p:cNvSpPr>
          <p:nvPr/>
        </p:nvSpPr>
        <p:spPr>
          <a:xfrm xmlns:a="http://schemas.openxmlformats.org/drawingml/2006/main">
            <a:off x="4667250" y="11811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02</a:t>
            </a:r>
          </a:p>
        </p:txBody>
      </p:sp>
      <p:sp>
        <p:nvSpPr>
          <p:cNvPr id="99" name="">
            <a:extLst xmlns:a="http://schemas.openxmlformats.org/drawingml/2006/main">
              <a:ext uri="{FF2B5EF4-FFF2-40B4-BE49-F238E27FC236}">
                <a16:creationId xmlns:a16="http://schemas.microsoft.com/office/drawing/2014/main" id="{7495285D-201F-477C-858B-29D1EFD01C04}"/>
              </a:ext>
            </a:extLst>
          </p:cNvPr>
          <p:cNvSpPr>
            <a:spLocks xmlns:a="http://schemas.openxmlformats.org/drawingml/2006/main" noGrp="1"/>
          </p:cNvSpPr>
          <p:nvPr/>
        </p:nvSpPr>
        <p:spPr>
          <a:xfrm xmlns:a="http://schemas.openxmlformats.org/drawingml/2006/main">
            <a:off x="4667250" y="17526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总体方案</a:t>
            </a:r>
          </a:p>
        </p:txBody>
      </p:sp>
      <p:sp>
        <p:nvSpPr>
          <p:cNvPr id="100" name="">
            <a:extLst xmlns:a="http://schemas.openxmlformats.org/drawingml/2006/main">
              <a:ext uri="{FF2B5EF4-FFF2-40B4-BE49-F238E27FC236}">
                <a16:creationId xmlns:a16="http://schemas.microsoft.com/office/drawing/2014/main" id="{A5F8B9FB-CB89-4EDD-9170-6D6648AD7F5F}"/>
              </a:ext>
            </a:extLst>
          </p:cNvPr>
          <p:cNvSpPr>
            <a:spLocks xmlns:a="http://schemas.openxmlformats.org/drawingml/2006/main" noGrp="1"/>
          </p:cNvSpPr>
          <p:nvPr/>
        </p:nvSpPr>
        <p:spPr>
          <a:xfrm xmlns:a="http://schemas.openxmlformats.org/drawingml/2006/main">
            <a:off x="4667250" y="2171700"/>
            <a:ext cx="4953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9E94C97B-B10B-40E9-BCFD-189380411354}"/>
              </a:ext>
            </a:extLst>
          </p:cNvPr>
          <p:cNvSpPr>
            <a:spLocks xmlns:a="http://schemas.openxmlformats.org/drawingml/2006/main" noGrp="1"/>
          </p:cNvSpPr>
          <p:nvPr/>
        </p:nvSpPr>
        <p:spPr>
          <a:xfrm xmlns:a="http://schemas.openxmlformats.org/drawingml/2006/main">
            <a:off x="4667250" y="23050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五层总体框架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技术路线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四项核心创新点</a:t>
            </a:r>
          </a:p>
        </p:txBody>
      </p:sp>
      <p:sp>
        <p:nvSpPr>
          <p:cNvPr id="102" name="">
            <a:extLst xmlns:a="http://schemas.openxmlformats.org/drawingml/2006/main">
              <a:ext uri="{FF2B5EF4-FFF2-40B4-BE49-F238E27FC236}">
                <a16:creationId xmlns:a16="http://schemas.microsoft.com/office/drawing/2014/main" id="{F127E6D6-7A41-4AB9-BCCD-D059212756D1}"/>
              </a:ext>
            </a:extLst>
          </p:cNvPr>
          <p:cNvSpPr>
            <a:spLocks xmlns:a="http://schemas.openxmlformats.org/drawingml/2006/main" noGrp="1"/>
          </p:cNvSpPr>
          <p:nvPr/>
        </p:nvSpPr>
        <p:spPr>
          <a:xfrm xmlns:a="http://schemas.openxmlformats.org/drawingml/2006/main">
            <a:off x="8267700" y="9906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03" name="">
            <a:extLst xmlns:a="http://schemas.openxmlformats.org/drawingml/2006/main">
              <a:ext uri="{FF2B5EF4-FFF2-40B4-BE49-F238E27FC236}">
                <a16:creationId xmlns:a16="http://schemas.microsoft.com/office/drawing/2014/main" id="{93F29512-08D7-4745-90C0-7447C47B18A9}"/>
              </a:ext>
            </a:extLst>
          </p:cNvPr>
          <p:cNvSpPr>
            <a:spLocks xmlns:a="http://schemas.openxmlformats.org/drawingml/2006/main" noGrp="1"/>
          </p:cNvSpPr>
          <p:nvPr/>
        </p:nvSpPr>
        <p:spPr>
          <a:xfrm xmlns:a="http://schemas.openxmlformats.org/drawingml/2006/main">
            <a:off x="8267700" y="990600"/>
            <a:ext cx="3543300" cy="4762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04" name="">
            <a:extLst xmlns:a="http://schemas.openxmlformats.org/drawingml/2006/main">
              <a:ext uri="{FF2B5EF4-FFF2-40B4-BE49-F238E27FC236}">
                <a16:creationId xmlns:a16="http://schemas.microsoft.com/office/drawing/2014/main" id="{8150CFE0-4230-4F10-ABFC-B86F6A9656FA}"/>
              </a:ext>
            </a:extLst>
          </p:cNvPr>
          <p:cNvSpPr>
            <a:spLocks xmlns:a="http://schemas.openxmlformats.org/drawingml/2006/main" noGrp="1"/>
          </p:cNvSpPr>
          <p:nvPr/>
        </p:nvSpPr>
        <p:spPr>
          <a:xfrm xmlns:a="http://schemas.openxmlformats.org/drawingml/2006/main">
            <a:off x="11239500" y="12763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76F54A5E-6AF1-4B93-8E1B-F93D2D4D0EB9}"/>
              </a:ext>
            </a:extLst>
          </p:cNvPr>
          <p:cNvSpPr>
            <a:spLocks xmlns:a="http://schemas.openxmlformats.org/drawingml/2006/main" noGrp="1"/>
          </p:cNvSpPr>
          <p:nvPr/>
        </p:nvSpPr>
        <p:spPr>
          <a:xfrm xmlns:a="http://schemas.openxmlformats.org/drawingml/2006/main">
            <a:off x="11239500" y="13906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106" name="">
            <a:extLst xmlns:a="http://schemas.openxmlformats.org/drawingml/2006/main">
              <a:ext uri="{FF2B5EF4-FFF2-40B4-BE49-F238E27FC236}">
                <a16:creationId xmlns:a16="http://schemas.microsoft.com/office/drawing/2014/main" id="{9366ED64-3E00-4BF0-A979-9B94C84140A4}"/>
              </a:ext>
            </a:extLst>
          </p:cNvPr>
          <p:cNvSpPr>
            <a:spLocks xmlns:a="http://schemas.openxmlformats.org/drawingml/2006/main" noGrp="1"/>
          </p:cNvSpPr>
          <p:nvPr/>
        </p:nvSpPr>
        <p:spPr>
          <a:xfrm xmlns:a="http://schemas.openxmlformats.org/drawingml/2006/main">
            <a:off x="11239500" y="15049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107" name="">
            <a:extLst xmlns:a="http://schemas.openxmlformats.org/drawingml/2006/main">
              <a:ext uri="{FF2B5EF4-FFF2-40B4-BE49-F238E27FC236}">
                <a16:creationId xmlns:a16="http://schemas.microsoft.com/office/drawing/2014/main" id="{283BB729-A19C-4C45-AED3-590C452B6024}"/>
              </a:ext>
            </a:extLst>
          </p:cNvPr>
          <p:cNvSpPr>
            <a:spLocks xmlns:a="http://schemas.openxmlformats.org/drawingml/2006/main" noGrp="1"/>
          </p:cNvSpPr>
          <p:nvPr/>
        </p:nvSpPr>
        <p:spPr>
          <a:xfrm xmlns:a="http://schemas.openxmlformats.org/drawingml/2006/main">
            <a:off x="11353800" y="12763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DBCEC252-F629-4E93-B8B6-4A4BC5B78077}"/>
              </a:ext>
            </a:extLst>
          </p:cNvPr>
          <p:cNvSpPr>
            <a:spLocks xmlns:a="http://schemas.openxmlformats.org/drawingml/2006/main" noGrp="1"/>
          </p:cNvSpPr>
          <p:nvPr/>
        </p:nvSpPr>
        <p:spPr>
          <a:xfrm xmlns:a="http://schemas.openxmlformats.org/drawingml/2006/main">
            <a:off x="11353800" y="13906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C19C1447-1E6B-4F06-81B6-D8F520D4ECC5}"/>
              </a:ext>
            </a:extLst>
          </p:cNvPr>
          <p:cNvSpPr>
            <a:spLocks xmlns:a="http://schemas.openxmlformats.org/drawingml/2006/main" noGrp="1"/>
          </p:cNvSpPr>
          <p:nvPr/>
        </p:nvSpPr>
        <p:spPr>
          <a:xfrm xmlns:a="http://schemas.openxmlformats.org/drawingml/2006/main">
            <a:off x="11353800" y="15049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18D8426A-F235-4880-9A8A-A3E9D1456AFE}"/>
              </a:ext>
            </a:extLst>
          </p:cNvPr>
          <p:cNvSpPr>
            <a:spLocks xmlns:a="http://schemas.openxmlformats.org/drawingml/2006/main" noGrp="1"/>
          </p:cNvSpPr>
          <p:nvPr/>
        </p:nvSpPr>
        <p:spPr>
          <a:xfrm xmlns:a="http://schemas.openxmlformats.org/drawingml/2006/main">
            <a:off x="11468100" y="12763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111" name="">
            <a:extLst xmlns:a="http://schemas.openxmlformats.org/drawingml/2006/main">
              <a:ext uri="{FF2B5EF4-FFF2-40B4-BE49-F238E27FC236}">
                <a16:creationId xmlns:a16="http://schemas.microsoft.com/office/drawing/2014/main" id="{EE8922DD-4B6C-4195-9B01-CE70035311EC}"/>
              </a:ext>
            </a:extLst>
          </p:cNvPr>
          <p:cNvSpPr>
            <a:spLocks xmlns:a="http://schemas.openxmlformats.org/drawingml/2006/main" noGrp="1"/>
          </p:cNvSpPr>
          <p:nvPr/>
        </p:nvSpPr>
        <p:spPr>
          <a:xfrm xmlns:a="http://schemas.openxmlformats.org/drawingml/2006/main">
            <a:off x="11468100" y="13906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112" name="">
            <a:extLst xmlns:a="http://schemas.openxmlformats.org/drawingml/2006/main">
              <a:ext uri="{FF2B5EF4-FFF2-40B4-BE49-F238E27FC236}">
                <a16:creationId xmlns:a16="http://schemas.microsoft.com/office/drawing/2014/main" id="{E9C144D1-F3E6-4B61-B04A-4A01FAE6A4F1}"/>
              </a:ext>
            </a:extLst>
          </p:cNvPr>
          <p:cNvSpPr>
            <a:spLocks xmlns:a="http://schemas.openxmlformats.org/drawingml/2006/main" noGrp="1"/>
          </p:cNvSpPr>
          <p:nvPr/>
        </p:nvSpPr>
        <p:spPr>
          <a:xfrm xmlns:a="http://schemas.openxmlformats.org/drawingml/2006/main">
            <a:off x="11468100" y="15049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113" name="">
            <a:extLst xmlns:a="http://schemas.openxmlformats.org/drawingml/2006/main">
              <a:ext uri="{FF2B5EF4-FFF2-40B4-BE49-F238E27FC236}">
                <a16:creationId xmlns:a16="http://schemas.microsoft.com/office/drawing/2014/main" id="{6D90D5AC-D3A7-4D10-845A-247EE0F81FF3}"/>
              </a:ext>
            </a:extLst>
          </p:cNvPr>
          <p:cNvSpPr>
            <a:spLocks xmlns:a="http://schemas.openxmlformats.org/drawingml/2006/main" noGrp="1"/>
          </p:cNvSpPr>
          <p:nvPr/>
        </p:nvSpPr>
        <p:spPr>
          <a:xfrm xmlns:a="http://schemas.openxmlformats.org/drawingml/2006/main">
            <a:off x="8515350"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14" name="">
            <a:extLst xmlns:a="http://schemas.openxmlformats.org/drawingml/2006/main">
              <a:ext uri="{FF2B5EF4-FFF2-40B4-BE49-F238E27FC236}">
                <a16:creationId xmlns:a16="http://schemas.microsoft.com/office/drawing/2014/main" id="{9D0ECABA-5DC4-4680-8FE4-9272D74B1ED2}"/>
              </a:ext>
            </a:extLst>
          </p:cNvPr>
          <p:cNvSpPr>
            <a:spLocks xmlns:a="http://schemas.openxmlformats.org/drawingml/2006/main" noGrp="1"/>
          </p:cNvSpPr>
          <p:nvPr/>
        </p:nvSpPr>
        <p:spPr>
          <a:xfrm xmlns:a="http://schemas.openxmlformats.org/drawingml/2006/main">
            <a:off x="8515350"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15" name="">
            <a:extLst xmlns:a="http://schemas.openxmlformats.org/drawingml/2006/main">
              <a:ext uri="{FF2B5EF4-FFF2-40B4-BE49-F238E27FC236}">
                <a16:creationId xmlns:a16="http://schemas.microsoft.com/office/drawing/2014/main" id="{0FC8A6A3-6033-4876-8DB3-D51A60893BAA}"/>
              </a:ext>
            </a:extLst>
          </p:cNvPr>
          <p:cNvSpPr>
            <a:spLocks xmlns:a="http://schemas.openxmlformats.org/drawingml/2006/main" noGrp="1"/>
          </p:cNvSpPr>
          <p:nvPr/>
        </p:nvSpPr>
        <p:spPr>
          <a:xfrm xmlns:a="http://schemas.openxmlformats.org/drawingml/2006/main">
            <a:off x="8601075"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16" name="">
            <a:extLst xmlns:a="http://schemas.openxmlformats.org/drawingml/2006/main">
              <a:ext uri="{FF2B5EF4-FFF2-40B4-BE49-F238E27FC236}">
                <a16:creationId xmlns:a16="http://schemas.microsoft.com/office/drawing/2014/main" id="{753245C3-DEDC-4A24-84C0-BBCF83B3FD8D}"/>
              </a:ext>
            </a:extLst>
          </p:cNvPr>
          <p:cNvSpPr>
            <a:spLocks xmlns:a="http://schemas.openxmlformats.org/drawingml/2006/main" noGrp="1"/>
          </p:cNvSpPr>
          <p:nvPr/>
        </p:nvSpPr>
        <p:spPr>
          <a:xfrm xmlns:a="http://schemas.openxmlformats.org/drawingml/2006/main">
            <a:off x="8601075"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17" name="">
            <a:extLst xmlns:a="http://schemas.openxmlformats.org/drawingml/2006/main">
              <a:ext uri="{FF2B5EF4-FFF2-40B4-BE49-F238E27FC236}">
                <a16:creationId xmlns:a16="http://schemas.microsoft.com/office/drawing/2014/main" id="{EF06943D-5896-4AB7-8B69-98D942E56C9C}"/>
              </a:ext>
            </a:extLst>
          </p:cNvPr>
          <p:cNvSpPr>
            <a:spLocks xmlns:a="http://schemas.openxmlformats.org/drawingml/2006/main" noGrp="1"/>
          </p:cNvSpPr>
          <p:nvPr/>
        </p:nvSpPr>
        <p:spPr>
          <a:xfrm xmlns:a="http://schemas.openxmlformats.org/drawingml/2006/main">
            <a:off x="8686800"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18" name="">
            <a:extLst xmlns:a="http://schemas.openxmlformats.org/drawingml/2006/main">
              <a:ext uri="{FF2B5EF4-FFF2-40B4-BE49-F238E27FC236}">
                <a16:creationId xmlns:a16="http://schemas.microsoft.com/office/drawing/2014/main" id="{FC07D922-8972-4150-9E1C-E4D24683A9E9}"/>
              </a:ext>
            </a:extLst>
          </p:cNvPr>
          <p:cNvSpPr>
            <a:spLocks xmlns:a="http://schemas.openxmlformats.org/drawingml/2006/main" noGrp="1"/>
          </p:cNvSpPr>
          <p:nvPr/>
        </p:nvSpPr>
        <p:spPr>
          <a:xfrm xmlns:a="http://schemas.openxmlformats.org/drawingml/2006/main">
            <a:off x="8686800"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19" name="">
            <a:extLst xmlns:a="http://schemas.openxmlformats.org/drawingml/2006/main">
              <a:ext uri="{FF2B5EF4-FFF2-40B4-BE49-F238E27FC236}">
                <a16:creationId xmlns:a16="http://schemas.microsoft.com/office/drawing/2014/main" id="{DA775065-12EF-42B7-ABDB-FB35AD524203}"/>
              </a:ext>
            </a:extLst>
          </p:cNvPr>
          <p:cNvSpPr>
            <a:spLocks xmlns:a="http://schemas.openxmlformats.org/drawingml/2006/main" noGrp="1"/>
          </p:cNvSpPr>
          <p:nvPr/>
        </p:nvSpPr>
        <p:spPr>
          <a:xfrm xmlns:a="http://schemas.openxmlformats.org/drawingml/2006/main">
            <a:off x="8772525"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20" name="">
            <a:extLst xmlns:a="http://schemas.openxmlformats.org/drawingml/2006/main">
              <a:ext uri="{FF2B5EF4-FFF2-40B4-BE49-F238E27FC236}">
                <a16:creationId xmlns:a16="http://schemas.microsoft.com/office/drawing/2014/main" id="{B09D8EF7-A307-4F9E-9E57-44ACA8512B57}"/>
              </a:ext>
            </a:extLst>
          </p:cNvPr>
          <p:cNvSpPr>
            <a:spLocks xmlns:a="http://schemas.openxmlformats.org/drawingml/2006/main" noGrp="1"/>
          </p:cNvSpPr>
          <p:nvPr/>
        </p:nvSpPr>
        <p:spPr>
          <a:xfrm xmlns:a="http://schemas.openxmlformats.org/drawingml/2006/main">
            <a:off x="8772525"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21" name="">
            <a:extLst xmlns:a="http://schemas.openxmlformats.org/drawingml/2006/main">
              <a:ext uri="{FF2B5EF4-FFF2-40B4-BE49-F238E27FC236}">
                <a16:creationId xmlns:a16="http://schemas.microsoft.com/office/drawing/2014/main" id="{B0EE68A6-E1B1-4D39-93DC-8D41F1865DD0}"/>
              </a:ext>
            </a:extLst>
          </p:cNvPr>
          <p:cNvSpPr>
            <a:spLocks xmlns:a="http://schemas.openxmlformats.org/drawingml/2006/main" noGrp="1"/>
          </p:cNvSpPr>
          <p:nvPr/>
        </p:nvSpPr>
        <p:spPr>
          <a:xfrm xmlns:a="http://schemas.openxmlformats.org/drawingml/2006/main">
            <a:off x="8858250"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22" name="">
            <a:extLst xmlns:a="http://schemas.openxmlformats.org/drawingml/2006/main">
              <a:ext uri="{FF2B5EF4-FFF2-40B4-BE49-F238E27FC236}">
                <a16:creationId xmlns:a16="http://schemas.microsoft.com/office/drawing/2014/main" id="{C447A2FC-0760-4243-9883-7B620EA9B648}"/>
              </a:ext>
            </a:extLst>
          </p:cNvPr>
          <p:cNvSpPr>
            <a:spLocks xmlns:a="http://schemas.openxmlformats.org/drawingml/2006/main" noGrp="1"/>
          </p:cNvSpPr>
          <p:nvPr/>
        </p:nvSpPr>
        <p:spPr>
          <a:xfrm xmlns:a="http://schemas.openxmlformats.org/drawingml/2006/main">
            <a:off x="8858250"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123" name="">
            <a:extLst xmlns:a="http://schemas.openxmlformats.org/drawingml/2006/main">
              <a:ext uri="{FF2B5EF4-FFF2-40B4-BE49-F238E27FC236}">
                <a16:creationId xmlns:a16="http://schemas.microsoft.com/office/drawing/2014/main" id="{0B5B8585-C4AD-4DD0-A91F-A7053E1A4A2C}"/>
              </a:ext>
            </a:extLst>
          </p:cNvPr>
          <p:cNvSpPr>
            <a:spLocks xmlns:a="http://schemas.openxmlformats.org/drawingml/2006/main" noGrp="1"/>
          </p:cNvSpPr>
          <p:nvPr/>
        </p:nvSpPr>
        <p:spPr>
          <a:xfrm xmlns:a="http://schemas.openxmlformats.org/drawingml/2006/main">
            <a:off x="8515350" y="11811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03</a:t>
            </a:r>
          </a:p>
        </p:txBody>
      </p:sp>
      <p:sp>
        <p:nvSpPr>
          <p:cNvPr id="124" name="">
            <a:extLst xmlns:a="http://schemas.openxmlformats.org/drawingml/2006/main">
              <a:ext uri="{FF2B5EF4-FFF2-40B4-BE49-F238E27FC236}">
                <a16:creationId xmlns:a16="http://schemas.microsoft.com/office/drawing/2014/main" id="{76CD39D9-3668-4901-BCA5-61BD869ECABD}"/>
              </a:ext>
            </a:extLst>
          </p:cNvPr>
          <p:cNvSpPr>
            <a:spLocks xmlns:a="http://schemas.openxmlformats.org/drawingml/2006/main" noGrp="1"/>
          </p:cNvSpPr>
          <p:nvPr/>
        </p:nvSpPr>
        <p:spPr>
          <a:xfrm xmlns:a="http://schemas.openxmlformats.org/drawingml/2006/main">
            <a:off x="8515350" y="17526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核心算法</a:t>
            </a:r>
          </a:p>
        </p:txBody>
      </p:sp>
      <p:sp>
        <p:nvSpPr>
          <p:cNvPr id="125" name="">
            <a:extLst xmlns:a="http://schemas.openxmlformats.org/drawingml/2006/main">
              <a:ext uri="{FF2B5EF4-FFF2-40B4-BE49-F238E27FC236}">
                <a16:creationId xmlns:a16="http://schemas.microsoft.com/office/drawing/2014/main" id="{478D1252-9594-4A94-A1F6-0C161417BEEC}"/>
              </a:ext>
            </a:extLst>
          </p:cNvPr>
          <p:cNvSpPr>
            <a:spLocks xmlns:a="http://schemas.openxmlformats.org/drawingml/2006/main" noGrp="1"/>
          </p:cNvSpPr>
          <p:nvPr/>
        </p:nvSpPr>
        <p:spPr>
          <a:xfrm xmlns:a="http://schemas.openxmlformats.org/drawingml/2006/main">
            <a:off x="8515350" y="2171700"/>
            <a:ext cx="4953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26" name="">
            <a:extLst xmlns:a="http://schemas.openxmlformats.org/drawingml/2006/main">
              <a:ext uri="{FF2B5EF4-FFF2-40B4-BE49-F238E27FC236}">
                <a16:creationId xmlns:a16="http://schemas.microsoft.com/office/drawing/2014/main" id="{143B93CE-111E-4F03-B827-E20472058F00}"/>
              </a:ext>
            </a:extLst>
          </p:cNvPr>
          <p:cNvSpPr>
            <a:spLocks xmlns:a="http://schemas.openxmlformats.org/drawingml/2006/main" noGrp="1"/>
          </p:cNvSpPr>
          <p:nvPr/>
        </p:nvSpPr>
        <p:spPr>
          <a:xfrm xmlns:a="http://schemas.openxmlformats.org/drawingml/2006/main">
            <a:off x="8515350" y="23050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规则引擎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气体检测归因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个性化组卷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课程匹配</a:t>
            </a:r>
          </a:p>
        </p:txBody>
      </p:sp>
      <p:sp>
        <p:nvSpPr>
          <p:cNvPr id="127" name="">
            <a:extLst xmlns:a="http://schemas.openxmlformats.org/drawingml/2006/main">
              <a:ext uri="{FF2B5EF4-FFF2-40B4-BE49-F238E27FC236}">
                <a16:creationId xmlns:a16="http://schemas.microsoft.com/office/drawing/2014/main" id="{DBAE5F34-B352-4611-918C-8B11A70BB90D}"/>
              </a:ext>
            </a:extLst>
          </p:cNvPr>
          <p:cNvSpPr>
            <a:spLocks xmlns:a="http://schemas.openxmlformats.org/drawingml/2006/main" noGrp="1"/>
          </p:cNvSpPr>
          <p:nvPr/>
        </p:nvSpPr>
        <p:spPr>
          <a:xfrm xmlns:a="http://schemas.openxmlformats.org/drawingml/2006/main">
            <a:off x="571500" y="32004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28" name="">
            <a:extLst xmlns:a="http://schemas.openxmlformats.org/drawingml/2006/main">
              <a:ext uri="{FF2B5EF4-FFF2-40B4-BE49-F238E27FC236}">
                <a16:creationId xmlns:a16="http://schemas.microsoft.com/office/drawing/2014/main" id="{EB6CD32D-89F5-48D9-807C-6D428BE08DD3}"/>
              </a:ext>
            </a:extLst>
          </p:cNvPr>
          <p:cNvSpPr>
            <a:spLocks xmlns:a="http://schemas.openxmlformats.org/drawingml/2006/main" noGrp="1"/>
          </p:cNvSpPr>
          <p:nvPr/>
        </p:nvSpPr>
        <p:spPr>
          <a:xfrm xmlns:a="http://schemas.openxmlformats.org/drawingml/2006/main">
            <a:off x="571500" y="3200400"/>
            <a:ext cx="3543300" cy="47625"/>
          </a:xfrm>
          <a:prstGeom xmlns:a="http://schemas.openxmlformats.org/drawingml/2006/main" prst="rect">
            <a:avLst/>
          </a:prstGeom>
          <a:solidFill xmlns:a="http://schemas.openxmlformats.org/drawingml/2006/main">
            <a:srgbClr val="4FE0C8"/>
          </a:solidFill>
          <a:ln xmlns:a="http://schemas.openxmlformats.org/drawingml/2006/main" w="0">
            <a:solidFill>
              <a:srgbClr val="000000"/>
            </a:solidFill>
            <a:prstDash val="solid"/>
          </a:ln>
        </p:spPr>
      </p:sp>
      <p:sp>
        <p:nvSpPr>
          <p:cNvPr id="129" name="">
            <a:extLst xmlns:a="http://schemas.openxmlformats.org/drawingml/2006/main">
              <a:ext uri="{FF2B5EF4-FFF2-40B4-BE49-F238E27FC236}">
                <a16:creationId xmlns:a16="http://schemas.microsoft.com/office/drawing/2014/main" id="{CAAED4E5-F5A9-4051-AA7C-65FA2AA45970}"/>
              </a:ext>
            </a:extLst>
          </p:cNvPr>
          <p:cNvSpPr>
            <a:spLocks xmlns:a="http://schemas.openxmlformats.org/drawingml/2006/main" noGrp="1"/>
          </p:cNvSpPr>
          <p:nvPr/>
        </p:nvSpPr>
        <p:spPr>
          <a:xfrm xmlns:a="http://schemas.openxmlformats.org/drawingml/2006/main">
            <a:off x="3543300" y="34861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130" name="">
            <a:extLst xmlns:a="http://schemas.openxmlformats.org/drawingml/2006/main">
              <a:ext uri="{FF2B5EF4-FFF2-40B4-BE49-F238E27FC236}">
                <a16:creationId xmlns:a16="http://schemas.microsoft.com/office/drawing/2014/main" id="{6C38B105-014B-481F-9F32-3DC51B7C3A7B}"/>
              </a:ext>
            </a:extLst>
          </p:cNvPr>
          <p:cNvSpPr>
            <a:spLocks xmlns:a="http://schemas.openxmlformats.org/drawingml/2006/main" noGrp="1"/>
          </p:cNvSpPr>
          <p:nvPr/>
        </p:nvSpPr>
        <p:spPr>
          <a:xfrm xmlns:a="http://schemas.openxmlformats.org/drawingml/2006/main">
            <a:off x="3543300" y="36004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131" name="">
            <a:extLst xmlns:a="http://schemas.openxmlformats.org/drawingml/2006/main">
              <a:ext uri="{FF2B5EF4-FFF2-40B4-BE49-F238E27FC236}">
                <a16:creationId xmlns:a16="http://schemas.microsoft.com/office/drawing/2014/main" id="{4C2A34C7-486F-47B9-9EDB-478BE5B63F1A}"/>
              </a:ext>
            </a:extLst>
          </p:cNvPr>
          <p:cNvSpPr>
            <a:spLocks xmlns:a="http://schemas.openxmlformats.org/drawingml/2006/main" noGrp="1"/>
          </p:cNvSpPr>
          <p:nvPr/>
        </p:nvSpPr>
        <p:spPr>
          <a:xfrm xmlns:a="http://schemas.openxmlformats.org/drawingml/2006/main">
            <a:off x="3543300" y="37147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132" name="">
            <a:extLst xmlns:a="http://schemas.openxmlformats.org/drawingml/2006/main">
              <a:ext uri="{FF2B5EF4-FFF2-40B4-BE49-F238E27FC236}">
                <a16:creationId xmlns:a16="http://schemas.microsoft.com/office/drawing/2014/main" id="{75AFF180-A2A2-4B85-8432-B9210F7B7037}"/>
              </a:ext>
            </a:extLst>
          </p:cNvPr>
          <p:cNvSpPr>
            <a:spLocks xmlns:a="http://schemas.openxmlformats.org/drawingml/2006/main" noGrp="1"/>
          </p:cNvSpPr>
          <p:nvPr/>
        </p:nvSpPr>
        <p:spPr>
          <a:xfrm xmlns:a="http://schemas.openxmlformats.org/drawingml/2006/main">
            <a:off x="3657600" y="34861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133" name="">
            <a:extLst xmlns:a="http://schemas.openxmlformats.org/drawingml/2006/main">
              <a:ext uri="{FF2B5EF4-FFF2-40B4-BE49-F238E27FC236}">
                <a16:creationId xmlns:a16="http://schemas.microsoft.com/office/drawing/2014/main" id="{FA3F2FC3-D3AA-42A4-B188-2950F7A2EF0E}"/>
              </a:ext>
            </a:extLst>
          </p:cNvPr>
          <p:cNvSpPr>
            <a:spLocks xmlns:a="http://schemas.openxmlformats.org/drawingml/2006/main" noGrp="1"/>
          </p:cNvSpPr>
          <p:nvPr/>
        </p:nvSpPr>
        <p:spPr>
          <a:xfrm xmlns:a="http://schemas.openxmlformats.org/drawingml/2006/main">
            <a:off x="3657600" y="36004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134" name="">
            <a:extLst xmlns:a="http://schemas.openxmlformats.org/drawingml/2006/main">
              <a:ext uri="{FF2B5EF4-FFF2-40B4-BE49-F238E27FC236}">
                <a16:creationId xmlns:a16="http://schemas.microsoft.com/office/drawing/2014/main" id="{DC4BC2AC-E8A8-4848-A2D5-8D6F7837D370}"/>
              </a:ext>
            </a:extLst>
          </p:cNvPr>
          <p:cNvSpPr>
            <a:spLocks xmlns:a="http://schemas.openxmlformats.org/drawingml/2006/main" noGrp="1"/>
          </p:cNvSpPr>
          <p:nvPr/>
        </p:nvSpPr>
        <p:spPr>
          <a:xfrm xmlns:a="http://schemas.openxmlformats.org/drawingml/2006/main">
            <a:off x="3657600" y="37147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135" name="">
            <a:extLst xmlns:a="http://schemas.openxmlformats.org/drawingml/2006/main">
              <a:ext uri="{FF2B5EF4-FFF2-40B4-BE49-F238E27FC236}">
                <a16:creationId xmlns:a16="http://schemas.microsoft.com/office/drawing/2014/main" id="{E1113AA0-BF1D-4C87-82F2-F53D1CCE14F5}"/>
              </a:ext>
            </a:extLst>
          </p:cNvPr>
          <p:cNvSpPr>
            <a:spLocks xmlns:a="http://schemas.openxmlformats.org/drawingml/2006/main" noGrp="1"/>
          </p:cNvSpPr>
          <p:nvPr/>
        </p:nvSpPr>
        <p:spPr>
          <a:xfrm xmlns:a="http://schemas.openxmlformats.org/drawingml/2006/main">
            <a:off x="3771900" y="34861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136" name="">
            <a:extLst xmlns:a="http://schemas.openxmlformats.org/drawingml/2006/main">
              <a:ext uri="{FF2B5EF4-FFF2-40B4-BE49-F238E27FC236}">
                <a16:creationId xmlns:a16="http://schemas.microsoft.com/office/drawing/2014/main" id="{7E890A68-4D44-44E6-830F-6C75934DEAEE}"/>
              </a:ext>
            </a:extLst>
          </p:cNvPr>
          <p:cNvSpPr>
            <a:spLocks xmlns:a="http://schemas.openxmlformats.org/drawingml/2006/main" noGrp="1"/>
          </p:cNvSpPr>
          <p:nvPr/>
        </p:nvSpPr>
        <p:spPr>
          <a:xfrm xmlns:a="http://schemas.openxmlformats.org/drawingml/2006/main">
            <a:off x="3771900" y="36004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137" name="">
            <a:extLst xmlns:a="http://schemas.openxmlformats.org/drawingml/2006/main">
              <a:ext uri="{FF2B5EF4-FFF2-40B4-BE49-F238E27FC236}">
                <a16:creationId xmlns:a16="http://schemas.microsoft.com/office/drawing/2014/main" id="{1B8DF287-ADEC-421C-A003-C878A7CAB831}"/>
              </a:ext>
            </a:extLst>
          </p:cNvPr>
          <p:cNvSpPr>
            <a:spLocks xmlns:a="http://schemas.openxmlformats.org/drawingml/2006/main" noGrp="1"/>
          </p:cNvSpPr>
          <p:nvPr/>
        </p:nvSpPr>
        <p:spPr>
          <a:xfrm xmlns:a="http://schemas.openxmlformats.org/drawingml/2006/main">
            <a:off x="3771900" y="37147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138" name="">
            <a:extLst xmlns:a="http://schemas.openxmlformats.org/drawingml/2006/main">
              <a:ext uri="{FF2B5EF4-FFF2-40B4-BE49-F238E27FC236}">
                <a16:creationId xmlns:a16="http://schemas.microsoft.com/office/drawing/2014/main" id="{417207EE-E8C1-4702-AA09-00D9C769C47B}"/>
              </a:ext>
            </a:extLst>
          </p:cNvPr>
          <p:cNvSpPr>
            <a:spLocks xmlns:a="http://schemas.openxmlformats.org/drawingml/2006/main" noGrp="1"/>
          </p:cNvSpPr>
          <p:nvPr/>
        </p:nvSpPr>
        <p:spPr>
          <a:xfrm xmlns:a="http://schemas.openxmlformats.org/drawingml/2006/main">
            <a:off x="819150"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39" name="">
            <a:extLst xmlns:a="http://schemas.openxmlformats.org/drawingml/2006/main">
              <a:ext uri="{FF2B5EF4-FFF2-40B4-BE49-F238E27FC236}">
                <a16:creationId xmlns:a16="http://schemas.microsoft.com/office/drawing/2014/main" id="{E1ADC6CF-18BA-4376-93D5-A8BA221DD9C7}"/>
              </a:ext>
            </a:extLst>
          </p:cNvPr>
          <p:cNvSpPr>
            <a:spLocks xmlns:a="http://schemas.openxmlformats.org/drawingml/2006/main" noGrp="1"/>
          </p:cNvSpPr>
          <p:nvPr/>
        </p:nvSpPr>
        <p:spPr>
          <a:xfrm xmlns:a="http://schemas.openxmlformats.org/drawingml/2006/main">
            <a:off x="819150"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40" name="">
            <a:extLst xmlns:a="http://schemas.openxmlformats.org/drawingml/2006/main">
              <a:ext uri="{FF2B5EF4-FFF2-40B4-BE49-F238E27FC236}">
                <a16:creationId xmlns:a16="http://schemas.microsoft.com/office/drawing/2014/main" id="{B966F014-0617-4075-8E13-517A652B1CED}"/>
              </a:ext>
            </a:extLst>
          </p:cNvPr>
          <p:cNvSpPr>
            <a:spLocks xmlns:a="http://schemas.openxmlformats.org/drawingml/2006/main" noGrp="1"/>
          </p:cNvSpPr>
          <p:nvPr/>
        </p:nvSpPr>
        <p:spPr>
          <a:xfrm xmlns:a="http://schemas.openxmlformats.org/drawingml/2006/main">
            <a:off x="904875"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41" name="">
            <a:extLst xmlns:a="http://schemas.openxmlformats.org/drawingml/2006/main">
              <a:ext uri="{FF2B5EF4-FFF2-40B4-BE49-F238E27FC236}">
                <a16:creationId xmlns:a16="http://schemas.microsoft.com/office/drawing/2014/main" id="{7FE545E8-4BC3-4CC4-A5BF-4BF52D812719}"/>
              </a:ext>
            </a:extLst>
          </p:cNvPr>
          <p:cNvSpPr>
            <a:spLocks xmlns:a="http://schemas.openxmlformats.org/drawingml/2006/main" noGrp="1"/>
          </p:cNvSpPr>
          <p:nvPr/>
        </p:nvSpPr>
        <p:spPr>
          <a:xfrm xmlns:a="http://schemas.openxmlformats.org/drawingml/2006/main">
            <a:off x="904875"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42" name="">
            <a:extLst xmlns:a="http://schemas.openxmlformats.org/drawingml/2006/main">
              <a:ext uri="{FF2B5EF4-FFF2-40B4-BE49-F238E27FC236}">
                <a16:creationId xmlns:a16="http://schemas.microsoft.com/office/drawing/2014/main" id="{160C5F4F-D192-41FA-B49C-C16598C6EE7E}"/>
              </a:ext>
            </a:extLst>
          </p:cNvPr>
          <p:cNvSpPr>
            <a:spLocks xmlns:a="http://schemas.openxmlformats.org/drawingml/2006/main" noGrp="1"/>
          </p:cNvSpPr>
          <p:nvPr/>
        </p:nvSpPr>
        <p:spPr>
          <a:xfrm xmlns:a="http://schemas.openxmlformats.org/drawingml/2006/main">
            <a:off x="990600"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43" name="">
            <a:extLst xmlns:a="http://schemas.openxmlformats.org/drawingml/2006/main">
              <a:ext uri="{FF2B5EF4-FFF2-40B4-BE49-F238E27FC236}">
                <a16:creationId xmlns:a16="http://schemas.microsoft.com/office/drawing/2014/main" id="{CACC52B5-7D0D-4FAA-912B-3E34C38695EC}"/>
              </a:ext>
            </a:extLst>
          </p:cNvPr>
          <p:cNvSpPr>
            <a:spLocks xmlns:a="http://schemas.openxmlformats.org/drawingml/2006/main" noGrp="1"/>
          </p:cNvSpPr>
          <p:nvPr/>
        </p:nvSpPr>
        <p:spPr>
          <a:xfrm xmlns:a="http://schemas.openxmlformats.org/drawingml/2006/main">
            <a:off x="990600"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44" name="">
            <a:extLst xmlns:a="http://schemas.openxmlformats.org/drawingml/2006/main">
              <a:ext uri="{FF2B5EF4-FFF2-40B4-BE49-F238E27FC236}">
                <a16:creationId xmlns:a16="http://schemas.microsoft.com/office/drawing/2014/main" id="{18DCC516-B341-46EC-998F-2DD66D8EC418}"/>
              </a:ext>
            </a:extLst>
          </p:cNvPr>
          <p:cNvSpPr>
            <a:spLocks xmlns:a="http://schemas.openxmlformats.org/drawingml/2006/main" noGrp="1"/>
          </p:cNvSpPr>
          <p:nvPr/>
        </p:nvSpPr>
        <p:spPr>
          <a:xfrm xmlns:a="http://schemas.openxmlformats.org/drawingml/2006/main">
            <a:off x="1076325"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45" name="">
            <a:extLst xmlns:a="http://schemas.openxmlformats.org/drawingml/2006/main">
              <a:ext uri="{FF2B5EF4-FFF2-40B4-BE49-F238E27FC236}">
                <a16:creationId xmlns:a16="http://schemas.microsoft.com/office/drawing/2014/main" id="{F25591A6-7095-4DE2-8495-439418D1DCFE}"/>
              </a:ext>
            </a:extLst>
          </p:cNvPr>
          <p:cNvSpPr>
            <a:spLocks xmlns:a="http://schemas.openxmlformats.org/drawingml/2006/main" noGrp="1"/>
          </p:cNvSpPr>
          <p:nvPr/>
        </p:nvSpPr>
        <p:spPr>
          <a:xfrm xmlns:a="http://schemas.openxmlformats.org/drawingml/2006/main">
            <a:off x="1076325"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46" name="">
            <a:extLst xmlns:a="http://schemas.openxmlformats.org/drawingml/2006/main">
              <a:ext uri="{FF2B5EF4-FFF2-40B4-BE49-F238E27FC236}">
                <a16:creationId xmlns:a16="http://schemas.microsoft.com/office/drawing/2014/main" id="{2EA98ADD-3356-4E76-94B4-F0AE5A510974}"/>
              </a:ext>
            </a:extLst>
          </p:cNvPr>
          <p:cNvSpPr>
            <a:spLocks xmlns:a="http://schemas.openxmlformats.org/drawingml/2006/main" noGrp="1"/>
          </p:cNvSpPr>
          <p:nvPr/>
        </p:nvSpPr>
        <p:spPr>
          <a:xfrm xmlns:a="http://schemas.openxmlformats.org/drawingml/2006/main">
            <a:off x="1162050"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47" name="">
            <a:extLst xmlns:a="http://schemas.openxmlformats.org/drawingml/2006/main">
              <a:ext uri="{FF2B5EF4-FFF2-40B4-BE49-F238E27FC236}">
                <a16:creationId xmlns:a16="http://schemas.microsoft.com/office/drawing/2014/main" id="{12B2C61A-93C1-44C3-BE1A-AB07DD162C4B}"/>
              </a:ext>
            </a:extLst>
          </p:cNvPr>
          <p:cNvSpPr>
            <a:spLocks xmlns:a="http://schemas.openxmlformats.org/drawingml/2006/main" noGrp="1"/>
          </p:cNvSpPr>
          <p:nvPr/>
        </p:nvSpPr>
        <p:spPr>
          <a:xfrm xmlns:a="http://schemas.openxmlformats.org/drawingml/2006/main">
            <a:off x="1162050"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w="0">
            <a:solidFill>
              <a:srgbClr val="000000"/>
            </a:solidFill>
            <a:prstDash val="solid"/>
          </a:ln>
        </p:spPr>
      </p:sp>
      <p:sp>
        <p:nvSpPr>
          <p:cNvPr id="148" name="">
            <a:extLst xmlns:a="http://schemas.openxmlformats.org/drawingml/2006/main">
              <a:ext uri="{FF2B5EF4-FFF2-40B4-BE49-F238E27FC236}">
                <a16:creationId xmlns:a16="http://schemas.microsoft.com/office/drawing/2014/main" id="{C5C42BD1-59D6-4725-9FB8-7D6DABB2B80E}"/>
              </a:ext>
            </a:extLst>
          </p:cNvPr>
          <p:cNvSpPr>
            <a:spLocks xmlns:a="http://schemas.openxmlformats.org/drawingml/2006/main" noGrp="1"/>
          </p:cNvSpPr>
          <p:nvPr/>
        </p:nvSpPr>
        <p:spPr>
          <a:xfrm xmlns:a="http://schemas.openxmlformats.org/drawingml/2006/main">
            <a:off x="819150" y="33909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04</a:t>
            </a:r>
          </a:p>
        </p:txBody>
      </p:sp>
      <p:sp>
        <p:nvSpPr>
          <p:cNvPr id="149" name="">
            <a:extLst xmlns:a="http://schemas.openxmlformats.org/drawingml/2006/main">
              <a:ext uri="{FF2B5EF4-FFF2-40B4-BE49-F238E27FC236}">
                <a16:creationId xmlns:a16="http://schemas.microsoft.com/office/drawing/2014/main" id="{F4459CE0-8E4A-4337-BA52-14394BA01D4B}"/>
              </a:ext>
            </a:extLst>
          </p:cNvPr>
          <p:cNvSpPr>
            <a:spLocks xmlns:a="http://schemas.openxmlformats.org/drawingml/2006/main" noGrp="1"/>
          </p:cNvSpPr>
          <p:nvPr/>
        </p:nvSpPr>
        <p:spPr>
          <a:xfrm xmlns:a="http://schemas.openxmlformats.org/drawingml/2006/main">
            <a:off x="819150" y="39624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系统实现</a:t>
            </a:r>
          </a:p>
        </p:txBody>
      </p:sp>
      <p:sp>
        <p:nvSpPr>
          <p:cNvPr id="150" name="">
            <a:extLst xmlns:a="http://schemas.openxmlformats.org/drawingml/2006/main">
              <a:ext uri="{FF2B5EF4-FFF2-40B4-BE49-F238E27FC236}">
                <a16:creationId xmlns:a16="http://schemas.microsoft.com/office/drawing/2014/main" id="{3BB28D9E-35B3-4740-A003-D0DA99B5E3B5}"/>
              </a:ext>
            </a:extLst>
          </p:cNvPr>
          <p:cNvSpPr>
            <a:spLocks xmlns:a="http://schemas.openxmlformats.org/drawingml/2006/main" noGrp="1"/>
          </p:cNvSpPr>
          <p:nvPr/>
        </p:nvSpPr>
        <p:spPr>
          <a:xfrm xmlns:a="http://schemas.openxmlformats.org/drawingml/2006/main">
            <a:off x="819150" y="4381500"/>
            <a:ext cx="4953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51" name="">
            <a:extLst xmlns:a="http://schemas.openxmlformats.org/drawingml/2006/main">
              <a:ext uri="{FF2B5EF4-FFF2-40B4-BE49-F238E27FC236}">
                <a16:creationId xmlns:a16="http://schemas.microsoft.com/office/drawing/2014/main" id="{1E88EE8A-0BCA-4DC6-8404-57BAADA7474C}"/>
              </a:ext>
            </a:extLst>
          </p:cNvPr>
          <p:cNvSpPr>
            <a:spLocks xmlns:a="http://schemas.openxmlformats.org/drawingml/2006/main" noGrp="1"/>
          </p:cNvSpPr>
          <p:nvPr/>
        </p:nvSpPr>
        <p:spPr>
          <a:xfrm xmlns:a="http://schemas.openxmlformats.org/drawingml/2006/main">
            <a:off x="819150" y="45148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四层架构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系统界面与四类角色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建议到留痕的闭环</a:t>
            </a:r>
          </a:p>
        </p:txBody>
      </p:sp>
      <p:sp>
        <p:nvSpPr>
          <p:cNvPr id="152" name="">
            <a:extLst xmlns:a="http://schemas.openxmlformats.org/drawingml/2006/main">
              <a:ext uri="{FF2B5EF4-FFF2-40B4-BE49-F238E27FC236}">
                <a16:creationId xmlns:a16="http://schemas.microsoft.com/office/drawing/2014/main" id="{F0365DAA-E79E-4183-B2DB-0DB14A0CB696}"/>
              </a:ext>
            </a:extLst>
          </p:cNvPr>
          <p:cNvSpPr>
            <a:spLocks xmlns:a="http://schemas.openxmlformats.org/drawingml/2006/main" noGrp="1"/>
          </p:cNvSpPr>
          <p:nvPr/>
        </p:nvSpPr>
        <p:spPr>
          <a:xfrm xmlns:a="http://schemas.openxmlformats.org/drawingml/2006/main">
            <a:off x="4419600" y="32004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53" name="">
            <a:extLst xmlns:a="http://schemas.openxmlformats.org/drawingml/2006/main">
              <a:ext uri="{FF2B5EF4-FFF2-40B4-BE49-F238E27FC236}">
                <a16:creationId xmlns:a16="http://schemas.microsoft.com/office/drawing/2014/main" id="{5A2ED841-6BD9-4F11-A98A-B5DCD830116D}"/>
              </a:ext>
            </a:extLst>
          </p:cNvPr>
          <p:cNvSpPr>
            <a:spLocks xmlns:a="http://schemas.openxmlformats.org/drawingml/2006/main" noGrp="1"/>
          </p:cNvSpPr>
          <p:nvPr/>
        </p:nvSpPr>
        <p:spPr>
          <a:xfrm xmlns:a="http://schemas.openxmlformats.org/drawingml/2006/main">
            <a:off x="4419600" y="3200400"/>
            <a:ext cx="3543300" cy="47625"/>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154" name="">
            <a:extLst xmlns:a="http://schemas.openxmlformats.org/drawingml/2006/main">
              <a:ext uri="{FF2B5EF4-FFF2-40B4-BE49-F238E27FC236}">
                <a16:creationId xmlns:a16="http://schemas.microsoft.com/office/drawing/2014/main" id="{969211C5-1472-400B-8A3B-59F03D061169}"/>
              </a:ext>
            </a:extLst>
          </p:cNvPr>
          <p:cNvSpPr>
            <a:spLocks xmlns:a="http://schemas.openxmlformats.org/drawingml/2006/main" noGrp="1"/>
          </p:cNvSpPr>
          <p:nvPr/>
        </p:nvSpPr>
        <p:spPr>
          <a:xfrm xmlns:a="http://schemas.openxmlformats.org/drawingml/2006/main">
            <a:off x="7391400" y="34861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155" name="">
            <a:extLst xmlns:a="http://schemas.openxmlformats.org/drawingml/2006/main">
              <a:ext uri="{FF2B5EF4-FFF2-40B4-BE49-F238E27FC236}">
                <a16:creationId xmlns:a16="http://schemas.microsoft.com/office/drawing/2014/main" id="{A69E7FB8-F2F1-4C93-B2C2-C2D911EC6DC2}"/>
              </a:ext>
            </a:extLst>
          </p:cNvPr>
          <p:cNvSpPr>
            <a:spLocks xmlns:a="http://schemas.openxmlformats.org/drawingml/2006/main" noGrp="1"/>
          </p:cNvSpPr>
          <p:nvPr/>
        </p:nvSpPr>
        <p:spPr>
          <a:xfrm xmlns:a="http://schemas.openxmlformats.org/drawingml/2006/main">
            <a:off x="7391400" y="36004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156" name="">
            <a:extLst xmlns:a="http://schemas.openxmlformats.org/drawingml/2006/main">
              <a:ext uri="{FF2B5EF4-FFF2-40B4-BE49-F238E27FC236}">
                <a16:creationId xmlns:a16="http://schemas.microsoft.com/office/drawing/2014/main" id="{1A147E7E-9102-4467-96CD-E7113A20A8A1}"/>
              </a:ext>
            </a:extLst>
          </p:cNvPr>
          <p:cNvSpPr>
            <a:spLocks xmlns:a="http://schemas.openxmlformats.org/drawingml/2006/main" noGrp="1"/>
          </p:cNvSpPr>
          <p:nvPr/>
        </p:nvSpPr>
        <p:spPr>
          <a:xfrm xmlns:a="http://schemas.openxmlformats.org/drawingml/2006/main">
            <a:off x="7391400" y="37147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157" name="">
            <a:extLst xmlns:a="http://schemas.openxmlformats.org/drawingml/2006/main">
              <a:ext uri="{FF2B5EF4-FFF2-40B4-BE49-F238E27FC236}">
                <a16:creationId xmlns:a16="http://schemas.microsoft.com/office/drawing/2014/main" id="{5B223BBB-1414-4577-8A2E-01FCE0CD2BBE}"/>
              </a:ext>
            </a:extLst>
          </p:cNvPr>
          <p:cNvSpPr>
            <a:spLocks xmlns:a="http://schemas.openxmlformats.org/drawingml/2006/main" noGrp="1"/>
          </p:cNvSpPr>
          <p:nvPr/>
        </p:nvSpPr>
        <p:spPr>
          <a:xfrm xmlns:a="http://schemas.openxmlformats.org/drawingml/2006/main">
            <a:off x="7505700" y="34861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158" name="">
            <a:extLst xmlns:a="http://schemas.openxmlformats.org/drawingml/2006/main">
              <a:ext uri="{FF2B5EF4-FFF2-40B4-BE49-F238E27FC236}">
                <a16:creationId xmlns:a16="http://schemas.microsoft.com/office/drawing/2014/main" id="{602EF471-4280-4662-9EEE-DC2F78A7F291}"/>
              </a:ext>
            </a:extLst>
          </p:cNvPr>
          <p:cNvSpPr>
            <a:spLocks xmlns:a="http://schemas.openxmlformats.org/drawingml/2006/main" noGrp="1"/>
          </p:cNvSpPr>
          <p:nvPr/>
        </p:nvSpPr>
        <p:spPr>
          <a:xfrm xmlns:a="http://schemas.openxmlformats.org/drawingml/2006/main">
            <a:off x="7505700" y="36004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159" name="">
            <a:extLst xmlns:a="http://schemas.openxmlformats.org/drawingml/2006/main">
              <a:ext uri="{FF2B5EF4-FFF2-40B4-BE49-F238E27FC236}">
                <a16:creationId xmlns:a16="http://schemas.microsoft.com/office/drawing/2014/main" id="{DB02A2D1-D628-4BBA-86AB-BE4F1339934D}"/>
              </a:ext>
            </a:extLst>
          </p:cNvPr>
          <p:cNvSpPr>
            <a:spLocks xmlns:a="http://schemas.openxmlformats.org/drawingml/2006/main" noGrp="1"/>
          </p:cNvSpPr>
          <p:nvPr/>
        </p:nvSpPr>
        <p:spPr>
          <a:xfrm xmlns:a="http://schemas.openxmlformats.org/drawingml/2006/main">
            <a:off x="7505700" y="37147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160" name="">
            <a:extLst xmlns:a="http://schemas.openxmlformats.org/drawingml/2006/main">
              <a:ext uri="{FF2B5EF4-FFF2-40B4-BE49-F238E27FC236}">
                <a16:creationId xmlns:a16="http://schemas.microsoft.com/office/drawing/2014/main" id="{718C0D3B-998F-4233-AF04-458110CB82D0}"/>
              </a:ext>
            </a:extLst>
          </p:cNvPr>
          <p:cNvSpPr>
            <a:spLocks xmlns:a="http://schemas.openxmlformats.org/drawingml/2006/main" noGrp="1"/>
          </p:cNvSpPr>
          <p:nvPr/>
        </p:nvSpPr>
        <p:spPr>
          <a:xfrm xmlns:a="http://schemas.openxmlformats.org/drawingml/2006/main">
            <a:off x="7620000" y="34861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161" name="">
            <a:extLst xmlns:a="http://schemas.openxmlformats.org/drawingml/2006/main">
              <a:ext uri="{FF2B5EF4-FFF2-40B4-BE49-F238E27FC236}">
                <a16:creationId xmlns:a16="http://schemas.microsoft.com/office/drawing/2014/main" id="{53EC0D75-EAB3-4785-8EE0-138E424AEEB0}"/>
              </a:ext>
            </a:extLst>
          </p:cNvPr>
          <p:cNvSpPr>
            <a:spLocks xmlns:a="http://schemas.openxmlformats.org/drawingml/2006/main" noGrp="1"/>
          </p:cNvSpPr>
          <p:nvPr/>
        </p:nvSpPr>
        <p:spPr>
          <a:xfrm xmlns:a="http://schemas.openxmlformats.org/drawingml/2006/main">
            <a:off x="7620000" y="36004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162" name="">
            <a:extLst xmlns:a="http://schemas.openxmlformats.org/drawingml/2006/main">
              <a:ext uri="{FF2B5EF4-FFF2-40B4-BE49-F238E27FC236}">
                <a16:creationId xmlns:a16="http://schemas.microsoft.com/office/drawing/2014/main" id="{F027E798-B705-4B0B-AE44-D2C8C5C351F4}"/>
              </a:ext>
            </a:extLst>
          </p:cNvPr>
          <p:cNvSpPr>
            <a:spLocks xmlns:a="http://schemas.openxmlformats.org/drawingml/2006/main" noGrp="1"/>
          </p:cNvSpPr>
          <p:nvPr/>
        </p:nvSpPr>
        <p:spPr>
          <a:xfrm xmlns:a="http://schemas.openxmlformats.org/drawingml/2006/main">
            <a:off x="7620000" y="37147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163" name="">
            <a:extLst xmlns:a="http://schemas.openxmlformats.org/drawingml/2006/main">
              <a:ext uri="{FF2B5EF4-FFF2-40B4-BE49-F238E27FC236}">
                <a16:creationId xmlns:a16="http://schemas.microsoft.com/office/drawing/2014/main" id="{DE6496F8-3904-4988-BD23-77748C13386F}"/>
              </a:ext>
            </a:extLst>
          </p:cNvPr>
          <p:cNvSpPr>
            <a:spLocks xmlns:a="http://schemas.openxmlformats.org/drawingml/2006/main" noGrp="1"/>
          </p:cNvSpPr>
          <p:nvPr/>
        </p:nvSpPr>
        <p:spPr>
          <a:xfrm xmlns:a="http://schemas.openxmlformats.org/drawingml/2006/main">
            <a:off x="4667250"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64" name="">
            <a:extLst xmlns:a="http://schemas.openxmlformats.org/drawingml/2006/main">
              <a:ext uri="{FF2B5EF4-FFF2-40B4-BE49-F238E27FC236}">
                <a16:creationId xmlns:a16="http://schemas.microsoft.com/office/drawing/2014/main" id="{2A14DBDE-75DD-4D9E-9F68-DB65D04E563A}"/>
              </a:ext>
            </a:extLst>
          </p:cNvPr>
          <p:cNvSpPr>
            <a:spLocks xmlns:a="http://schemas.openxmlformats.org/drawingml/2006/main" noGrp="1"/>
          </p:cNvSpPr>
          <p:nvPr/>
        </p:nvSpPr>
        <p:spPr>
          <a:xfrm xmlns:a="http://schemas.openxmlformats.org/drawingml/2006/main">
            <a:off x="4667250"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65" name="">
            <a:extLst xmlns:a="http://schemas.openxmlformats.org/drawingml/2006/main">
              <a:ext uri="{FF2B5EF4-FFF2-40B4-BE49-F238E27FC236}">
                <a16:creationId xmlns:a16="http://schemas.microsoft.com/office/drawing/2014/main" id="{A996B8B7-27A8-40FC-B609-223B8587D87D}"/>
              </a:ext>
            </a:extLst>
          </p:cNvPr>
          <p:cNvSpPr>
            <a:spLocks xmlns:a="http://schemas.openxmlformats.org/drawingml/2006/main" noGrp="1"/>
          </p:cNvSpPr>
          <p:nvPr/>
        </p:nvSpPr>
        <p:spPr>
          <a:xfrm xmlns:a="http://schemas.openxmlformats.org/drawingml/2006/main">
            <a:off x="4752975"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66" name="">
            <a:extLst xmlns:a="http://schemas.openxmlformats.org/drawingml/2006/main">
              <a:ext uri="{FF2B5EF4-FFF2-40B4-BE49-F238E27FC236}">
                <a16:creationId xmlns:a16="http://schemas.microsoft.com/office/drawing/2014/main" id="{44DF44A4-93EB-455F-B8E4-E80EC1920C75}"/>
              </a:ext>
            </a:extLst>
          </p:cNvPr>
          <p:cNvSpPr>
            <a:spLocks xmlns:a="http://schemas.openxmlformats.org/drawingml/2006/main" noGrp="1"/>
          </p:cNvSpPr>
          <p:nvPr/>
        </p:nvSpPr>
        <p:spPr>
          <a:xfrm xmlns:a="http://schemas.openxmlformats.org/drawingml/2006/main">
            <a:off x="4752975"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67" name="">
            <a:extLst xmlns:a="http://schemas.openxmlformats.org/drawingml/2006/main">
              <a:ext uri="{FF2B5EF4-FFF2-40B4-BE49-F238E27FC236}">
                <a16:creationId xmlns:a16="http://schemas.microsoft.com/office/drawing/2014/main" id="{CDD28F7A-A034-4021-8A32-4A95669BF581}"/>
              </a:ext>
            </a:extLst>
          </p:cNvPr>
          <p:cNvSpPr>
            <a:spLocks xmlns:a="http://schemas.openxmlformats.org/drawingml/2006/main" noGrp="1"/>
          </p:cNvSpPr>
          <p:nvPr/>
        </p:nvSpPr>
        <p:spPr>
          <a:xfrm xmlns:a="http://schemas.openxmlformats.org/drawingml/2006/main">
            <a:off x="4838700"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68" name="">
            <a:extLst xmlns:a="http://schemas.openxmlformats.org/drawingml/2006/main">
              <a:ext uri="{FF2B5EF4-FFF2-40B4-BE49-F238E27FC236}">
                <a16:creationId xmlns:a16="http://schemas.microsoft.com/office/drawing/2014/main" id="{1F2684C3-C577-4B4A-84C4-11F4F353D488}"/>
              </a:ext>
            </a:extLst>
          </p:cNvPr>
          <p:cNvSpPr>
            <a:spLocks xmlns:a="http://schemas.openxmlformats.org/drawingml/2006/main" noGrp="1"/>
          </p:cNvSpPr>
          <p:nvPr/>
        </p:nvSpPr>
        <p:spPr>
          <a:xfrm xmlns:a="http://schemas.openxmlformats.org/drawingml/2006/main">
            <a:off x="4838700"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69" name="">
            <a:extLst xmlns:a="http://schemas.openxmlformats.org/drawingml/2006/main">
              <a:ext uri="{FF2B5EF4-FFF2-40B4-BE49-F238E27FC236}">
                <a16:creationId xmlns:a16="http://schemas.microsoft.com/office/drawing/2014/main" id="{09FD6D0C-6A42-4738-8844-32D3FE024054}"/>
              </a:ext>
            </a:extLst>
          </p:cNvPr>
          <p:cNvSpPr>
            <a:spLocks xmlns:a="http://schemas.openxmlformats.org/drawingml/2006/main" noGrp="1"/>
          </p:cNvSpPr>
          <p:nvPr/>
        </p:nvSpPr>
        <p:spPr>
          <a:xfrm xmlns:a="http://schemas.openxmlformats.org/drawingml/2006/main">
            <a:off x="4924425"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70" name="">
            <a:extLst xmlns:a="http://schemas.openxmlformats.org/drawingml/2006/main">
              <a:ext uri="{FF2B5EF4-FFF2-40B4-BE49-F238E27FC236}">
                <a16:creationId xmlns:a16="http://schemas.microsoft.com/office/drawing/2014/main" id="{8A4F1BDD-72DF-46E7-B691-8A9A7B5A9C05}"/>
              </a:ext>
            </a:extLst>
          </p:cNvPr>
          <p:cNvSpPr>
            <a:spLocks xmlns:a="http://schemas.openxmlformats.org/drawingml/2006/main" noGrp="1"/>
          </p:cNvSpPr>
          <p:nvPr/>
        </p:nvSpPr>
        <p:spPr>
          <a:xfrm xmlns:a="http://schemas.openxmlformats.org/drawingml/2006/main">
            <a:off x="4924425"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71" name="">
            <a:extLst xmlns:a="http://schemas.openxmlformats.org/drawingml/2006/main">
              <a:ext uri="{FF2B5EF4-FFF2-40B4-BE49-F238E27FC236}">
                <a16:creationId xmlns:a16="http://schemas.microsoft.com/office/drawing/2014/main" id="{28B8F982-1619-43BB-A125-AA40888D4045}"/>
              </a:ext>
            </a:extLst>
          </p:cNvPr>
          <p:cNvSpPr>
            <a:spLocks xmlns:a="http://schemas.openxmlformats.org/drawingml/2006/main" noGrp="1"/>
          </p:cNvSpPr>
          <p:nvPr/>
        </p:nvSpPr>
        <p:spPr>
          <a:xfrm xmlns:a="http://schemas.openxmlformats.org/drawingml/2006/main">
            <a:off x="5010150"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72" name="">
            <a:extLst xmlns:a="http://schemas.openxmlformats.org/drawingml/2006/main">
              <a:ext uri="{FF2B5EF4-FFF2-40B4-BE49-F238E27FC236}">
                <a16:creationId xmlns:a16="http://schemas.microsoft.com/office/drawing/2014/main" id="{C175E882-FC1F-4598-B57B-180CED3DA12C}"/>
              </a:ext>
            </a:extLst>
          </p:cNvPr>
          <p:cNvSpPr>
            <a:spLocks xmlns:a="http://schemas.openxmlformats.org/drawingml/2006/main" noGrp="1"/>
          </p:cNvSpPr>
          <p:nvPr/>
        </p:nvSpPr>
        <p:spPr>
          <a:xfrm xmlns:a="http://schemas.openxmlformats.org/drawingml/2006/main">
            <a:off x="5010150"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w="0">
            <a:solidFill>
              <a:srgbClr val="000000"/>
            </a:solidFill>
            <a:prstDash val="solid"/>
          </a:ln>
        </p:spPr>
      </p:sp>
      <p:sp>
        <p:nvSpPr>
          <p:cNvPr id="173" name="">
            <a:extLst xmlns:a="http://schemas.openxmlformats.org/drawingml/2006/main">
              <a:ext uri="{FF2B5EF4-FFF2-40B4-BE49-F238E27FC236}">
                <a16:creationId xmlns:a16="http://schemas.microsoft.com/office/drawing/2014/main" id="{1562F2D6-E776-42F2-BB43-C135B57CFA91}"/>
              </a:ext>
            </a:extLst>
          </p:cNvPr>
          <p:cNvSpPr>
            <a:spLocks xmlns:a="http://schemas.openxmlformats.org/drawingml/2006/main" noGrp="1"/>
          </p:cNvSpPr>
          <p:nvPr/>
        </p:nvSpPr>
        <p:spPr>
          <a:xfrm xmlns:a="http://schemas.openxmlformats.org/drawingml/2006/main">
            <a:off x="4667250" y="33909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05</a:t>
            </a:r>
          </a:p>
        </p:txBody>
      </p:sp>
      <p:sp>
        <p:nvSpPr>
          <p:cNvPr id="174" name="">
            <a:extLst xmlns:a="http://schemas.openxmlformats.org/drawingml/2006/main">
              <a:ext uri="{FF2B5EF4-FFF2-40B4-BE49-F238E27FC236}">
                <a16:creationId xmlns:a16="http://schemas.microsoft.com/office/drawing/2014/main" id="{EF57ABC2-7977-4F2B-8DD1-6749DF479352}"/>
              </a:ext>
            </a:extLst>
          </p:cNvPr>
          <p:cNvSpPr>
            <a:spLocks xmlns:a="http://schemas.openxmlformats.org/drawingml/2006/main" noGrp="1"/>
          </p:cNvSpPr>
          <p:nvPr/>
        </p:nvSpPr>
        <p:spPr>
          <a:xfrm xmlns:a="http://schemas.openxmlformats.org/drawingml/2006/main">
            <a:off x="4667250" y="39624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测试验证</a:t>
            </a:r>
          </a:p>
        </p:txBody>
      </p:sp>
      <p:sp>
        <p:nvSpPr>
          <p:cNvPr id="175" name="">
            <a:extLst xmlns:a="http://schemas.openxmlformats.org/drawingml/2006/main">
              <a:ext uri="{FF2B5EF4-FFF2-40B4-BE49-F238E27FC236}">
                <a16:creationId xmlns:a16="http://schemas.microsoft.com/office/drawing/2014/main" id="{0C34A6F0-7AF0-406C-A895-DD6EEDBD9D5A}"/>
              </a:ext>
            </a:extLst>
          </p:cNvPr>
          <p:cNvSpPr>
            <a:spLocks xmlns:a="http://schemas.openxmlformats.org/drawingml/2006/main" noGrp="1"/>
          </p:cNvSpPr>
          <p:nvPr/>
        </p:nvSpPr>
        <p:spPr>
          <a:xfrm xmlns:a="http://schemas.openxmlformats.org/drawingml/2006/main">
            <a:off x="4667250" y="4381500"/>
            <a:ext cx="4953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76" name="">
            <a:extLst xmlns:a="http://schemas.openxmlformats.org/drawingml/2006/main">
              <a:ext uri="{FF2B5EF4-FFF2-40B4-BE49-F238E27FC236}">
                <a16:creationId xmlns:a16="http://schemas.microsoft.com/office/drawing/2014/main" id="{F691E88F-951D-41AE-B633-40A44BED0EE5}"/>
              </a:ext>
            </a:extLst>
          </p:cNvPr>
          <p:cNvSpPr>
            <a:spLocks xmlns:a="http://schemas.openxmlformats.org/drawingml/2006/main" noGrp="1"/>
          </p:cNvSpPr>
          <p:nvPr/>
        </p:nvSpPr>
        <p:spPr>
          <a:xfrm xmlns:a="http://schemas.openxmlformats.org/drawingml/2006/main">
            <a:off x="4667250" y="45148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五层测试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使用前后纵向对比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三种方案横向对比</a:t>
            </a:r>
          </a:p>
        </p:txBody>
      </p:sp>
      <p:sp>
        <p:nvSpPr>
          <p:cNvPr id="177" name="">
            <a:extLst xmlns:a="http://schemas.openxmlformats.org/drawingml/2006/main">
              <a:ext uri="{FF2B5EF4-FFF2-40B4-BE49-F238E27FC236}">
                <a16:creationId xmlns:a16="http://schemas.microsoft.com/office/drawing/2014/main" id="{820CF667-E62A-4AAC-9144-4A9FD1255670}"/>
              </a:ext>
            </a:extLst>
          </p:cNvPr>
          <p:cNvSpPr>
            <a:spLocks xmlns:a="http://schemas.openxmlformats.org/drawingml/2006/main" noGrp="1"/>
          </p:cNvSpPr>
          <p:nvPr/>
        </p:nvSpPr>
        <p:spPr>
          <a:xfrm xmlns:a="http://schemas.openxmlformats.org/drawingml/2006/main">
            <a:off x="8267700" y="32004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78" name="">
            <a:extLst xmlns:a="http://schemas.openxmlformats.org/drawingml/2006/main">
              <a:ext uri="{FF2B5EF4-FFF2-40B4-BE49-F238E27FC236}">
                <a16:creationId xmlns:a16="http://schemas.microsoft.com/office/drawing/2014/main" id="{A0D08B6B-76B4-4971-9EFC-29060CB5BC84}"/>
              </a:ext>
            </a:extLst>
          </p:cNvPr>
          <p:cNvSpPr>
            <a:spLocks xmlns:a="http://schemas.openxmlformats.org/drawingml/2006/main" noGrp="1"/>
          </p:cNvSpPr>
          <p:nvPr/>
        </p:nvSpPr>
        <p:spPr>
          <a:xfrm xmlns:a="http://schemas.openxmlformats.org/drawingml/2006/main">
            <a:off x="8267700" y="3200400"/>
            <a:ext cx="3543300" cy="47625"/>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179" name="">
            <a:extLst xmlns:a="http://schemas.openxmlformats.org/drawingml/2006/main">
              <a:ext uri="{FF2B5EF4-FFF2-40B4-BE49-F238E27FC236}">
                <a16:creationId xmlns:a16="http://schemas.microsoft.com/office/drawing/2014/main" id="{FAD4B3BA-DA19-4045-A636-43A7A633CDF0}"/>
              </a:ext>
            </a:extLst>
          </p:cNvPr>
          <p:cNvSpPr>
            <a:spLocks xmlns:a="http://schemas.openxmlformats.org/drawingml/2006/main" noGrp="1"/>
          </p:cNvSpPr>
          <p:nvPr/>
        </p:nvSpPr>
        <p:spPr>
          <a:xfrm xmlns:a="http://schemas.openxmlformats.org/drawingml/2006/main">
            <a:off x="11239500" y="34861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180" name="">
            <a:extLst xmlns:a="http://schemas.openxmlformats.org/drawingml/2006/main">
              <a:ext uri="{FF2B5EF4-FFF2-40B4-BE49-F238E27FC236}">
                <a16:creationId xmlns:a16="http://schemas.microsoft.com/office/drawing/2014/main" id="{DDBB3A83-CB9A-409C-A1A8-F0C8A07039E1}"/>
              </a:ext>
            </a:extLst>
          </p:cNvPr>
          <p:cNvSpPr>
            <a:spLocks xmlns:a="http://schemas.openxmlformats.org/drawingml/2006/main" noGrp="1"/>
          </p:cNvSpPr>
          <p:nvPr/>
        </p:nvSpPr>
        <p:spPr>
          <a:xfrm xmlns:a="http://schemas.openxmlformats.org/drawingml/2006/main">
            <a:off x="11239500" y="36004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181" name="">
            <a:extLst xmlns:a="http://schemas.openxmlformats.org/drawingml/2006/main">
              <a:ext uri="{FF2B5EF4-FFF2-40B4-BE49-F238E27FC236}">
                <a16:creationId xmlns:a16="http://schemas.microsoft.com/office/drawing/2014/main" id="{0F71758A-B2F4-4919-B0FC-F3E7C92C1F7E}"/>
              </a:ext>
            </a:extLst>
          </p:cNvPr>
          <p:cNvSpPr>
            <a:spLocks xmlns:a="http://schemas.openxmlformats.org/drawingml/2006/main" noGrp="1"/>
          </p:cNvSpPr>
          <p:nvPr/>
        </p:nvSpPr>
        <p:spPr>
          <a:xfrm xmlns:a="http://schemas.openxmlformats.org/drawingml/2006/main">
            <a:off x="11239500" y="37147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182" name="">
            <a:extLst xmlns:a="http://schemas.openxmlformats.org/drawingml/2006/main">
              <a:ext uri="{FF2B5EF4-FFF2-40B4-BE49-F238E27FC236}">
                <a16:creationId xmlns:a16="http://schemas.microsoft.com/office/drawing/2014/main" id="{CB540ED7-1EFC-475E-B6E0-9CA08F88815F}"/>
              </a:ext>
            </a:extLst>
          </p:cNvPr>
          <p:cNvSpPr>
            <a:spLocks xmlns:a="http://schemas.openxmlformats.org/drawingml/2006/main" noGrp="1"/>
          </p:cNvSpPr>
          <p:nvPr/>
        </p:nvSpPr>
        <p:spPr>
          <a:xfrm xmlns:a="http://schemas.openxmlformats.org/drawingml/2006/main">
            <a:off x="11353800" y="34861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183" name="">
            <a:extLst xmlns:a="http://schemas.openxmlformats.org/drawingml/2006/main">
              <a:ext uri="{FF2B5EF4-FFF2-40B4-BE49-F238E27FC236}">
                <a16:creationId xmlns:a16="http://schemas.microsoft.com/office/drawing/2014/main" id="{DDFC4D65-CDFD-450C-9940-5FBFC324FA45}"/>
              </a:ext>
            </a:extLst>
          </p:cNvPr>
          <p:cNvSpPr>
            <a:spLocks xmlns:a="http://schemas.openxmlformats.org/drawingml/2006/main" noGrp="1"/>
          </p:cNvSpPr>
          <p:nvPr/>
        </p:nvSpPr>
        <p:spPr>
          <a:xfrm xmlns:a="http://schemas.openxmlformats.org/drawingml/2006/main">
            <a:off x="11353800" y="36004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184" name="">
            <a:extLst xmlns:a="http://schemas.openxmlformats.org/drawingml/2006/main">
              <a:ext uri="{FF2B5EF4-FFF2-40B4-BE49-F238E27FC236}">
                <a16:creationId xmlns:a16="http://schemas.microsoft.com/office/drawing/2014/main" id="{3C930BD5-1121-4D67-A34A-572D0345F07A}"/>
              </a:ext>
            </a:extLst>
          </p:cNvPr>
          <p:cNvSpPr>
            <a:spLocks xmlns:a="http://schemas.openxmlformats.org/drawingml/2006/main" noGrp="1"/>
          </p:cNvSpPr>
          <p:nvPr/>
        </p:nvSpPr>
        <p:spPr>
          <a:xfrm xmlns:a="http://schemas.openxmlformats.org/drawingml/2006/main">
            <a:off x="11353800" y="37147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185" name="">
            <a:extLst xmlns:a="http://schemas.openxmlformats.org/drawingml/2006/main">
              <a:ext uri="{FF2B5EF4-FFF2-40B4-BE49-F238E27FC236}">
                <a16:creationId xmlns:a16="http://schemas.microsoft.com/office/drawing/2014/main" id="{B753F59E-2051-420E-9FFE-A10143A33235}"/>
              </a:ext>
            </a:extLst>
          </p:cNvPr>
          <p:cNvSpPr>
            <a:spLocks xmlns:a="http://schemas.openxmlformats.org/drawingml/2006/main" noGrp="1"/>
          </p:cNvSpPr>
          <p:nvPr/>
        </p:nvSpPr>
        <p:spPr>
          <a:xfrm xmlns:a="http://schemas.openxmlformats.org/drawingml/2006/main">
            <a:off x="11468100" y="34861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186" name="">
            <a:extLst xmlns:a="http://schemas.openxmlformats.org/drawingml/2006/main">
              <a:ext uri="{FF2B5EF4-FFF2-40B4-BE49-F238E27FC236}">
                <a16:creationId xmlns:a16="http://schemas.microsoft.com/office/drawing/2014/main" id="{2DD4DEF2-4EE0-4589-B49D-4B759F4DED24}"/>
              </a:ext>
            </a:extLst>
          </p:cNvPr>
          <p:cNvSpPr>
            <a:spLocks xmlns:a="http://schemas.openxmlformats.org/drawingml/2006/main" noGrp="1"/>
          </p:cNvSpPr>
          <p:nvPr/>
        </p:nvSpPr>
        <p:spPr>
          <a:xfrm xmlns:a="http://schemas.openxmlformats.org/drawingml/2006/main">
            <a:off x="11468100" y="36004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187" name="">
            <a:extLst xmlns:a="http://schemas.openxmlformats.org/drawingml/2006/main">
              <a:ext uri="{FF2B5EF4-FFF2-40B4-BE49-F238E27FC236}">
                <a16:creationId xmlns:a16="http://schemas.microsoft.com/office/drawing/2014/main" id="{F8CC8712-CB31-4FD7-AE6A-380149D91E3D}"/>
              </a:ext>
            </a:extLst>
          </p:cNvPr>
          <p:cNvSpPr>
            <a:spLocks xmlns:a="http://schemas.openxmlformats.org/drawingml/2006/main" noGrp="1"/>
          </p:cNvSpPr>
          <p:nvPr/>
        </p:nvSpPr>
        <p:spPr>
          <a:xfrm xmlns:a="http://schemas.openxmlformats.org/drawingml/2006/main">
            <a:off x="11468100" y="37147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188" name="">
            <a:extLst xmlns:a="http://schemas.openxmlformats.org/drawingml/2006/main">
              <a:ext uri="{FF2B5EF4-FFF2-40B4-BE49-F238E27FC236}">
                <a16:creationId xmlns:a16="http://schemas.microsoft.com/office/drawing/2014/main" id="{64713370-530D-4EEB-A0B4-A7A1E84EA2F6}"/>
              </a:ext>
            </a:extLst>
          </p:cNvPr>
          <p:cNvSpPr>
            <a:spLocks xmlns:a="http://schemas.openxmlformats.org/drawingml/2006/main" noGrp="1"/>
          </p:cNvSpPr>
          <p:nvPr/>
        </p:nvSpPr>
        <p:spPr>
          <a:xfrm xmlns:a="http://schemas.openxmlformats.org/drawingml/2006/main">
            <a:off x="8515350"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89" name="">
            <a:extLst xmlns:a="http://schemas.openxmlformats.org/drawingml/2006/main">
              <a:ext uri="{FF2B5EF4-FFF2-40B4-BE49-F238E27FC236}">
                <a16:creationId xmlns:a16="http://schemas.microsoft.com/office/drawing/2014/main" id="{A0F5BB36-2848-40AA-BFFB-98FA02B04FB7}"/>
              </a:ext>
            </a:extLst>
          </p:cNvPr>
          <p:cNvSpPr>
            <a:spLocks xmlns:a="http://schemas.openxmlformats.org/drawingml/2006/main" noGrp="1"/>
          </p:cNvSpPr>
          <p:nvPr/>
        </p:nvSpPr>
        <p:spPr>
          <a:xfrm xmlns:a="http://schemas.openxmlformats.org/drawingml/2006/main">
            <a:off x="8515350"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90" name="">
            <a:extLst xmlns:a="http://schemas.openxmlformats.org/drawingml/2006/main">
              <a:ext uri="{FF2B5EF4-FFF2-40B4-BE49-F238E27FC236}">
                <a16:creationId xmlns:a16="http://schemas.microsoft.com/office/drawing/2014/main" id="{28EA4FDF-4782-406D-ADC6-FD98BB731B2E}"/>
              </a:ext>
            </a:extLst>
          </p:cNvPr>
          <p:cNvSpPr>
            <a:spLocks xmlns:a="http://schemas.openxmlformats.org/drawingml/2006/main" noGrp="1"/>
          </p:cNvSpPr>
          <p:nvPr/>
        </p:nvSpPr>
        <p:spPr>
          <a:xfrm xmlns:a="http://schemas.openxmlformats.org/drawingml/2006/main">
            <a:off x="8601075"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91" name="">
            <a:extLst xmlns:a="http://schemas.openxmlformats.org/drawingml/2006/main">
              <a:ext uri="{FF2B5EF4-FFF2-40B4-BE49-F238E27FC236}">
                <a16:creationId xmlns:a16="http://schemas.microsoft.com/office/drawing/2014/main" id="{53543DA2-1460-4965-BE76-D6D5AFADBFE9}"/>
              </a:ext>
            </a:extLst>
          </p:cNvPr>
          <p:cNvSpPr>
            <a:spLocks xmlns:a="http://schemas.openxmlformats.org/drawingml/2006/main" noGrp="1"/>
          </p:cNvSpPr>
          <p:nvPr/>
        </p:nvSpPr>
        <p:spPr>
          <a:xfrm xmlns:a="http://schemas.openxmlformats.org/drawingml/2006/main">
            <a:off x="8601075"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92" name="">
            <a:extLst xmlns:a="http://schemas.openxmlformats.org/drawingml/2006/main">
              <a:ext uri="{FF2B5EF4-FFF2-40B4-BE49-F238E27FC236}">
                <a16:creationId xmlns:a16="http://schemas.microsoft.com/office/drawing/2014/main" id="{B31CEE3A-49A1-4733-9083-0CD327D992AE}"/>
              </a:ext>
            </a:extLst>
          </p:cNvPr>
          <p:cNvSpPr>
            <a:spLocks xmlns:a="http://schemas.openxmlformats.org/drawingml/2006/main" noGrp="1"/>
          </p:cNvSpPr>
          <p:nvPr/>
        </p:nvSpPr>
        <p:spPr>
          <a:xfrm xmlns:a="http://schemas.openxmlformats.org/drawingml/2006/main">
            <a:off x="8686800"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93" name="">
            <a:extLst xmlns:a="http://schemas.openxmlformats.org/drawingml/2006/main">
              <a:ext uri="{FF2B5EF4-FFF2-40B4-BE49-F238E27FC236}">
                <a16:creationId xmlns:a16="http://schemas.microsoft.com/office/drawing/2014/main" id="{0C08255D-9133-4332-8777-34D21D33E2CB}"/>
              </a:ext>
            </a:extLst>
          </p:cNvPr>
          <p:cNvSpPr>
            <a:spLocks xmlns:a="http://schemas.openxmlformats.org/drawingml/2006/main" noGrp="1"/>
          </p:cNvSpPr>
          <p:nvPr/>
        </p:nvSpPr>
        <p:spPr>
          <a:xfrm xmlns:a="http://schemas.openxmlformats.org/drawingml/2006/main">
            <a:off x="8686800"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94" name="">
            <a:extLst xmlns:a="http://schemas.openxmlformats.org/drawingml/2006/main">
              <a:ext uri="{FF2B5EF4-FFF2-40B4-BE49-F238E27FC236}">
                <a16:creationId xmlns:a16="http://schemas.microsoft.com/office/drawing/2014/main" id="{4B9ADB6B-546C-4D3C-97DC-87493EE51891}"/>
              </a:ext>
            </a:extLst>
          </p:cNvPr>
          <p:cNvSpPr>
            <a:spLocks xmlns:a="http://schemas.openxmlformats.org/drawingml/2006/main" noGrp="1"/>
          </p:cNvSpPr>
          <p:nvPr/>
        </p:nvSpPr>
        <p:spPr>
          <a:xfrm xmlns:a="http://schemas.openxmlformats.org/drawingml/2006/main">
            <a:off x="8772525"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95" name="">
            <a:extLst xmlns:a="http://schemas.openxmlformats.org/drawingml/2006/main">
              <a:ext uri="{FF2B5EF4-FFF2-40B4-BE49-F238E27FC236}">
                <a16:creationId xmlns:a16="http://schemas.microsoft.com/office/drawing/2014/main" id="{FE8A304A-7F2B-49D2-95C7-5CFF721FE27B}"/>
              </a:ext>
            </a:extLst>
          </p:cNvPr>
          <p:cNvSpPr>
            <a:spLocks xmlns:a="http://schemas.openxmlformats.org/drawingml/2006/main" noGrp="1"/>
          </p:cNvSpPr>
          <p:nvPr/>
        </p:nvSpPr>
        <p:spPr>
          <a:xfrm xmlns:a="http://schemas.openxmlformats.org/drawingml/2006/main">
            <a:off x="8772525"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96" name="">
            <a:extLst xmlns:a="http://schemas.openxmlformats.org/drawingml/2006/main">
              <a:ext uri="{FF2B5EF4-FFF2-40B4-BE49-F238E27FC236}">
                <a16:creationId xmlns:a16="http://schemas.microsoft.com/office/drawing/2014/main" id="{2347F9D8-6226-4924-9B4E-69DC68FC4968}"/>
              </a:ext>
            </a:extLst>
          </p:cNvPr>
          <p:cNvSpPr>
            <a:spLocks xmlns:a="http://schemas.openxmlformats.org/drawingml/2006/main" noGrp="1"/>
          </p:cNvSpPr>
          <p:nvPr/>
        </p:nvSpPr>
        <p:spPr>
          <a:xfrm xmlns:a="http://schemas.openxmlformats.org/drawingml/2006/main">
            <a:off x="8858250"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97" name="">
            <a:extLst xmlns:a="http://schemas.openxmlformats.org/drawingml/2006/main">
              <a:ext uri="{FF2B5EF4-FFF2-40B4-BE49-F238E27FC236}">
                <a16:creationId xmlns:a16="http://schemas.microsoft.com/office/drawing/2014/main" id="{A005FEEC-8F2B-46A4-B281-30C476361F7A}"/>
              </a:ext>
            </a:extLst>
          </p:cNvPr>
          <p:cNvSpPr>
            <a:spLocks xmlns:a="http://schemas.openxmlformats.org/drawingml/2006/main" noGrp="1"/>
          </p:cNvSpPr>
          <p:nvPr/>
        </p:nvSpPr>
        <p:spPr>
          <a:xfrm xmlns:a="http://schemas.openxmlformats.org/drawingml/2006/main">
            <a:off x="8858250"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198" name="">
            <a:extLst xmlns:a="http://schemas.openxmlformats.org/drawingml/2006/main">
              <a:ext uri="{FF2B5EF4-FFF2-40B4-BE49-F238E27FC236}">
                <a16:creationId xmlns:a16="http://schemas.microsoft.com/office/drawing/2014/main" id="{DB7DF3C9-E9DD-437D-9BC7-31F26615E1F3}"/>
              </a:ext>
            </a:extLst>
          </p:cNvPr>
          <p:cNvSpPr>
            <a:spLocks xmlns:a="http://schemas.openxmlformats.org/drawingml/2006/main" noGrp="1"/>
          </p:cNvSpPr>
          <p:nvPr/>
        </p:nvSpPr>
        <p:spPr>
          <a:xfrm xmlns:a="http://schemas.openxmlformats.org/drawingml/2006/main">
            <a:off x="8515350" y="3390900"/>
            <a:ext cx="19050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06</a:t>
            </a:r>
          </a:p>
        </p:txBody>
      </p:sp>
      <p:sp>
        <p:nvSpPr>
          <p:cNvPr id="199" name="">
            <a:extLst xmlns:a="http://schemas.openxmlformats.org/drawingml/2006/main">
              <a:ext uri="{FF2B5EF4-FFF2-40B4-BE49-F238E27FC236}">
                <a16:creationId xmlns:a16="http://schemas.microsoft.com/office/drawing/2014/main" id="{BA27A32E-B9F7-461D-B0C9-F148BD62F897}"/>
              </a:ext>
            </a:extLst>
          </p:cNvPr>
          <p:cNvSpPr>
            <a:spLocks xmlns:a="http://schemas.openxmlformats.org/drawingml/2006/main" noGrp="1"/>
          </p:cNvSpPr>
          <p:nvPr/>
        </p:nvSpPr>
        <p:spPr>
          <a:xfrm xmlns:a="http://schemas.openxmlformats.org/drawingml/2006/main">
            <a:off x="8515350" y="396240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成果与价值</a:t>
            </a:r>
          </a:p>
        </p:txBody>
      </p:sp>
      <p:sp>
        <p:nvSpPr>
          <p:cNvPr id="200" name="">
            <a:extLst xmlns:a="http://schemas.openxmlformats.org/drawingml/2006/main">
              <a:ext uri="{FF2B5EF4-FFF2-40B4-BE49-F238E27FC236}">
                <a16:creationId xmlns:a16="http://schemas.microsoft.com/office/drawing/2014/main" id="{6659E897-A7CB-4C2B-92A9-BF5CA0D0F9DF}"/>
              </a:ext>
            </a:extLst>
          </p:cNvPr>
          <p:cNvSpPr>
            <a:spLocks xmlns:a="http://schemas.openxmlformats.org/drawingml/2006/main" noGrp="1"/>
          </p:cNvSpPr>
          <p:nvPr/>
        </p:nvSpPr>
        <p:spPr>
          <a:xfrm xmlns:a="http://schemas.openxmlformats.org/drawingml/2006/main">
            <a:off x="8515350" y="4381500"/>
            <a:ext cx="4953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01" name="">
            <a:extLst xmlns:a="http://schemas.openxmlformats.org/drawingml/2006/main">
              <a:ext uri="{FF2B5EF4-FFF2-40B4-BE49-F238E27FC236}">
                <a16:creationId xmlns:a16="http://schemas.microsoft.com/office/drawing/2014/main" id="{B29864E6-D89D-4E97-8992-5BF0E9C091E7}"/>
              </a:ext>
            </a:extLst>
          </p:cNvPr>
          <p:cNvSpPr>
            <a:spLocks xmlns:a="http://schemas.openxmlformats.org/drawingml/2006/main" noGrp="1"/>
          </p:cNvSpPr>
          <p:nvPr/>
        </p:nvSpPr>
        <p:spPr>
          <a:xfrm xmlns:a="http://schemas.openxmlformats.org/drawingml/2006/main">
            <a:off x="8515350" y="4514850"/>
            <a:ext cx="3048000" cy="495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成果沉淀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目标客户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市场测算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三阶段演进</a:t>
            </a:r>
          </a:p>
        </p:txBody>
      </p:sp>
      <p:sp>
        <p:nvSpPr>
          <p:cNvPr id="202" name="">
            <a:extLst xmlns:a="http://schemas.openxmlformats.org/drawingml/2006/main">
              <a:ext uri="{FF2B5EF4-FFF2-40B4-BE49-F238E27FC236}">
                <a16:creationId xmlns:a16="http://schemas.microsoft.com/office/drawing/2014/main" id="{2C2C88F8-AC5D-4F27-8619-BC678D1B5FD1}"/>
              </a:ext>
            </a:extLst>
          </p:cNvPr>
          <p:cNvSpPr>
            <a:spLocks xmlns:a="http://schemas.openxmlformats.org/drawingml/2006/main" noGrp="1"/>
          </p:cNvSpPr>
          <p:nvPr/>
        </p:nvSpPr>
        <p:spPr>
          <a:xfrm xmlns:a="http://schemas.openxmlformats.org/drawingml/2006/main">
            <a:off x="5715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03" name="">
            <a:extLst xmlns:a="http://schemas.openxmlformats.org/drawingml/2006/main">
              <a:ext uri="{FF2B5EF4-FFF2-40B4-BE49-F238E27FC236}">
                <a16:creationId xmlns:a16="http://schemas.microsoft.com/office/drawing/2014/main" id="{455F2084-BBAA-4EF9-8CEE-A1A773617EF4}"/>
              </a:ext>
            </a:extLst>
          </p:cNvPr>
          <p:cNvSpPr>
            <a:spLocks xmlns:a="http://schemas.openxmlformats.org/drawingml/2006/main" noGrp="1"/>
          </p:cNvSpPr>
          <p:nvPr/>
        </p:nvSpPr>
        <p:spPr>
          <a:xfrm xmlns:a="http://schemas.openxmlformats.org/drawingml/2006/main">
            <a:off x="571500" y="5600700"/>
            <a:ext cx="2667000" cy="2857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04" name="">
            <a:extLst xmlns:a="http://schemas.openxmlformats.org/drawingml/2006/main">
              <a:ext uri="{FF2B5EF4-FFF2-40B4-BE49-F238E27FC236}">
                <a16:creationId xmlns:a16="http://schemas.microsoft.com/office/drawing/2014/main" id="{BF78F43C-1375-41AA-9518-48356C722F59}"/>
              </a:ext>
            </a:extLst>
          </p:cNvPr>
          <p:cNvSpPr>
            <a:spLocks xmlns:a="http://schemas.openxmlformats.org/drawingml/2006/main" noGrp="1"/>
          </p:cNvSpPr>
          <p:nvPr/>
        </p:nvSpPr>
        <p:spPr>
          <a:xfrm xmlns:a="http://schemas.openxmlformats.org/drawingml/2006/main">
            <a:off x="7239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18</a:t>
            </a:r>
          </a:p>
        </p:txBody>
      </p:sp>
      <p:sp>
        <p:nvSpPr>
          <p:cNvPr id="205" name="">
            <a:extLst xmlns:a="http://schemas.openxmlformats.org/drawingml/2006/main">
              <a:ext uri="{FF2B5EF4-FFF2-40B4-BE49-F238E27FC236}">
                <a16:creationId xmlns:a16="http://schemas.microsoft.com/office/drawing/2014/main" id="{2AB5D4C1-83B6-4CE6-A844-CAE9DDB9397B}"/>
              </a:ext>
            </a:extLst>
          </p:cNvPr>
          <p:cNvSpPr>
            <a:spLocks xmlns:a="http://schemas.openxmlformats.org/drawingml/2006/main" noGrp="1"/>
          </p:cNvSpPr>
          <p:nvPr/>
        </p:nvSpPr>
        <p:spPr>
          <a:xfrm xmlns:a="http://schemas.openxmlformats.org/drawingml/2006/main">
            <a:off x="7239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条启用规则 </a:t>
            </a:r>
            <a:r>
              <a:rPr sz="863" b="0">
                <a:solidFill>
                  <a:srgbClr val="C6DDFF"/>
                </a:solidFill>
                <a:latin typeface="微软雅黑"/>
                <a:ea typeface="微软雅黑"/>
                <a:cs typeface="微软雅黑"/>
              </a:rPr>
              <a:t>/ 5 </a:t>
            </a:r>
            <a:r>
              <a:rPr sz="863" b="0">
                <a:solidFill>
                  <a:srgbClr val="C6DDFF"/>
                </a:solidFill>
                <a:latin typeface="微软雅黑"/>
                <a:ea typeface="微软雅黑"/>
                <a:cs typeface="微软雅黑"/>
              </a:rPr>
              <a:t>个场景</a:t>
            </a:r>
          </a:p>
        </p:txBody>
      </p:sp>
      <p:sp>
        <p:nvSpPr>
          <p:cNvPr id="206" name="">
            <a:extLst xmlns:a="http://schemas.openxmlformats.org/drawingml/2006/main">
              <a:ext uri="{FF2B5EF4-FFF2-40B4-BE49-F238E27FC236}">
                <a16:creationId xmlns:a16="http://schemas.microsoft.com/office/drawing/2014/main" id="{FD565C3A-00E7-438B-97AB-626930709FF7}"/>
              </a:ext>
            </a:extLst>
          </p:cNvPr>
          <p:cNvSpPr>
            <a:spLocks xmlns:a="http://schemas.openxmlformats.org/drawingml/2006/main" noGrp="1"/>
          </p:cNvSpPr>
          <p:nvPr/>
        </p:nvSpPr>
        <p:spPr>
          <a:xfrm xmlns:a="http://schemas.openxmlformats.org/drawingml/2006/main">
            <a:off x="33909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07" name="">
            <a:extLst xmlns:a="http://schemas.openxmlformats.org/drawingml/2006/main">
              <a:ext uri="{FF2B5EF4-FFF2-40B4-BE49-F238E27FC236}">
                <a16:creationId xmlns:a16="http://schemas.microsoft.com/office/drawing/2014/main" id="{991CE7FB-A87E-4EE4-91E2-E1CB9CC16F33}"/>
              </a:ext>
            </a:extLst>
          </p:cNvPr>
          <p:cNvSpPr>
            <a:spLocks xmlns:a="http://schemas.openxmlformats.org/drawingml/2006/main" noGrp="1"/>
          </p:cNvSpPr>
          <p:nvPr/>
        </p:nvSpPr>
        <p:spPr>
          <a:xfrm xmlns:a="http://schemas.openxmlformats.org/drawingml/2006/main">
            <a:off x="3390900" y="5600700"/>
            <a:ext cx="266700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08" name="">
            <a:extLst xmlns:a="http://schemas.openxmlformats.org/drawingml/2006/main">
              <a:ext uri="{FF2B5EF4-FFF2-40B4-BE49-F238E27FC236}">
                <a16:creationId xmlns:a16="http://schemas.microsoft.com/office/drawing/2014/main" id="{CA36A4C2-30C7-4FE4-8463-5AF5526DE22B}"/>
              </a:ext>
            </a:extLst>
          </p:cNvPr>
          <p:cNvSpPr>
            <a:spLocks xmlns:a="http://schemas.openxmlformats.org/drawingml/2006/main" noGrp="1"/>
          </p:cNvSpPr>
          <p:nvPr/>
        </p:nvSpPr>
        <p:spPr>
          <a:xfrm xmlns:a="http://schemas.openxmlformats.org/drawingml/2006/main">
            <a:off x="35433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75</a:t>
            </a:r>
          </a:p>
        </p:txBody>
      </p:sp>
      <p:sp>
        <p:nvSpPr>
          <p:cNvPr id="209" name="">
            <a:extLst xmlns:a="http://schemas.openxmlformats.org/drawingml/2006/main">
              <a:ext uri="{FF2B5EF4-FFF2-40B4-BE49-F238E27FC236}">
                <a16:creationId xmlns:a16="http://schemas.microsoft.com/office/drawing/2014/main" id="{418977F6-6EF0-45A1-B02C-DFD699E1DBFA}"/>
              </a:ext>
            </a:extLst>
          </p:cNvPr>
          <p:cNvSpPr>
            <a:spLocks xmlns:a="http://schemas.openxmlformats.org/drawingml/2006/main" noGrp="1"/>
          </p:cNvSpPr>
          <p:nvPr/>
        </p:nvSpPr>
        <p:spPr>
          <a:xfrm xmlns:a="http://schemas.openxmlformats.org/drawingml/2006/main">
            <a:off x="35433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个在线接口</a:t>
            </a:r>
          </a:p>
        </p:txBody>
      </p:sp>
      <p:sp>
        <p:nvSpPr>
          <p:cNvPr id="210" name="">
            <a:extLst xmlns:a="http://schemas.openxmlformats.org/drawingml/2006/main">
              <a:ext uri="{FF2B5EF4-FFF2-40B4-BE49-F238E27FC236}">
                <a16:creationId xmlns:a16="http://schemas.microsoft.com/office/drawing/2014/main" id="{4C2A715B-57A7-4DBC-B59F-098D07D1A8AD}"/>
              </a:ext>
            </a:extLst>
          </p:cNvPr>
          <p:cNvSpPr>
            <a:spLocks xmlns:a="http://schemas.openxmlformats.org/drawingml/2006/main" noGrp="1"/>
          </p:cNvSpPr>
          <p:nvPr/>
        </p:nvSpPr>
        <p:spPr>
          <a:xfrm xmlns:a="http://schemas.openxmlformats.org/drawingml/2006/main">
            <a:off x="62103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1" name="">
            <a:extLst xmlns:a="http://schemas.openxmlformats.org/drawingml/2006/main">
              <a:ext uri="{FF2B5EF4-FFF2-40B4-BE49-F238E27FC236}">
                <a16:creationId xmlns:a16="http://schemas.microsoft.com/office/drawing/2014/main" id="{823A5616-02AC-4E41-8337-2EC1EB4B0396}"/>
              </a:ext>
            </a:extLst>
          </p:cNvPr>
          <p:cNvSpPr>
            <a:spLocks xmlns:a="http://schemas.openxmlformats.org/drawingml/2006/main" noGrp="1"/>
          </p:cNvSpPr>
          <p:nvPr/>
        </p:nvSpPr>
        <p:spPr>
          <a:xfrm xmlns:a="http://schemas.openxmlformats.org/drawingml/2006/main">
            <a:off x="6210300" y="5600700"/>
            <a:ext cx="2667000" cy="2857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12" name="">
            <a:extLst xmlns:a="http://schemas.openxmlformats.org/drawingml/2006/main">
              <a:ext uri="{FF2B5EF4-FFF2-40B4-BE49-F238E27FC236}">
                <a16:creationId xmlns:a16="http://schemas.microsoft.com/office/drawing/2014/main" id="{4692AC5E-5B29-43F8-A9BB-6895CA8F5B46}"/>
              </a:ext>
            </a:extLst>
          </p:cNvPr>
          <p:cNvSpPr>
            <a:spLocks xmlns:a="http://schemas.openxmlformats.org/drawingml/2006/main" noGrp="1"/>
          </p:cNvSpPr>
          <p:nvPr/>
        </p:nvSpPr>
        <p:spPr>
          <a:xfrm xmlns:a="http://schemas.openxmlformats.org/drawingml/2006/main">
            <a:off x="63627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53</a:t>
            </a:r>
          </a:p>
        </p:txBody>
      </p:sp>
      <p:sp>
        <p:nvSpPr>
          <p:cNvPr id="213" name="">
            <a:extLst xmlns:a="http://schemas.openxmlformats.org/drawingml/2006/main">
              <a:ext uri="{FF2B5EF4-FFF2-40B4-BE49-F238E27FC236}">
                <a16:creationId xmlns:a16="http://schemas.microsoft.com/office/drawing/2014/main" id="{A66A2E49-6B0A-49B7-9F63-2B53F713FF2D}"/>
              </a:ext>
            </a:extLst>
          </p:cNvPr>
          <p:cNvSpPr>
            <a:spLocks xmlns:a="http://schemas.openxmlformats.org/drawingml/2006/main" noGrp="1"/>
          </p:cNvSpPr>
          <p:nvPr/>
        </p:nvSpPr>
        <p:spPr>
          <a:xfrm xmlns:a="http://schemas.openxmlformats.org/drawingml/2006/main">
            <a:off x="63627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张数据库表 </a:t>
            </a:r>
            <a:r>
              <a:rPr sz="863" b="0">
                <a:solidFill>
                  <a:srgbClr val="C6DDFF"/>
                </a:solidFill>
                <a:latin typeface="微软雅黑"/>
                <a:ea typeface="微软雅黑"/>
                <a:cs typeface="微软雅黑"/>
              </a:rPr>
              <a:t>/ 7 </a:t>
            </a:r>
            <a:r>
              <a:rPr sz="863" b="0">
                <a:solidFill>
                  <a:srgbClr val="C6DDFF"/>
                </a:solidFill>
                <a:latin typeface="微软雅黑"/>
                <a:ea typeface="微软雅黑"/>
                <a:cs typeface="微软雅黑"/>
              </a:rPr>
              <a:t>组</a:t>
            </a:r>
          </a:p>
        </p:txBody>
      </p:sp>
      <p:sp>
        <p:nvSpPr>
          <p:cNvPr id="214" name="">
            <a:extLst xmlns:a="http://schemas.openxmlformats.org/drawingml/2006/main">
              <a:ext uri="{FF2B5EF4-FFF2-40B4-BE49-F238E27FC236}">
                <a16:creationId xmlns:a16="http://schemas.microsoft.com/office/drawing/2014/main" id="{4034CDC7-E011-4077-813D-0A6BC012025B}"/>
              </a:ext>
            </a:extLst>
          </p:cNvPr>
          <p:cNvSpPr>
            <a:spLocks xmlns:a="http://schemas.openxmlformats.org/drawingml/2006/main" noGrp="1"/>
          </p:cNvSpPr>
          <p:nvPr/>
        </p:nvSpPr>
        <p:spPr>
          <a:xfrm xmlns:a="http://schemas.openxmlformats.org/drawingml/2006/main">
            <a:off x="90297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5" name="">
            <a:extLst xmlns:a="http://schemas.openxmlformats.org/drawingml/2006/main">
              <a:ext uri="{FF2B5EF4-FFF2-40B4-BE49-F238E27FC236}">
                <a16:creationId xmlns:a16="http://schemas.microsoft.com/office/drawing/2014/main" id="{3E5048E8-2325-4C2C-8BD4-80A54BBEE85C}"/>
              </a:ext>
            </a:extLst>
          </p:cNvPr>
          <p:cNvSpPr>
            <a:spLocks xmlns:a="http://schemas.openxmlformats.org/drawingml/2006/main" noGrp="1"/>
          </p:cNvSpPr>
          <p:nvPr/>
        </p:nvSpPr>
        <p:spPr>
          <a:xfrm xmlns:a="http://schemas.openxmlformats.org/drawingml/2006/main">
            <a:off x="9029700" y="5600700"/>
            <a:ext cx="266700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16" name="">
            <a:extLst xmlns:a="http://schemas.openxmlformats.org/drawingml/2006/main">
              <a:ext uri="{FF2B5EF4-FFF2-40B4-BE49-F238E27FC236}">
                <a16:creationId xmlns:a16="http://schemas.microsoft.com/office/drawing/2014/main" id="{9E5F9990-4966-4FA1-BB9C-6315F1E7D374}"/>
              </a:ext>
            </a:extLst>
          </p:cNvPr>
          <p:cNvSpPr>
            <a:spLocks xmlns:a="http://schemas.openxmlformats.org/drawingml/2006/main" noGrp="1"/>
          </p:cNvSpPr>
          <p:nvPr/>
        </p:nvSpPr>
        <p:spPr>
          <a:xfrm xmlns:a="http://schemas.openxmlformats.org/drawingml/2006/main">
            <a:off x="9182100" y="56769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200</a:t>
            </a:r>
          </a:p>
        </p:txBody>
      </p:sp>
      <p:sp>
        <p:nvSpPr>
          <p:cNvPr id="217" name="">
            <a:extLst xmlns:a="http://schemas.openxmlformats.org/drawingml/2006/main">
              <a:ext uri="{FF2B5EF4-FFF2-40B4-BE49-F238E27FC236}">
                <a16:creationId xmlns:a16="http://schemas.microsoft.com/office/drawing/2014/main" id="{F0F255E0-AE70-4C68-92B3-5221101D8505}"/>
              </a:ext>
            </a:extLst>
          </p:cNvPr>
          <p:cNvSpPr>
            <a:spLocks xmlns:a="http://schemas.openxmlformats.org/drawingml/2006/main" noGrp="1"/>
          </p:cNvSpPr>
          <p:nvPr/>
        </p:nvSpPr>
        <p:spPr>
          <a:xfrm xmlns:a="http://schemas.openxmlformats.org/drawingml/2006/main">
            <a:off x="9182100" y="5943600"/>
            <a:ext cx="24003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次重复执行结论一致</a:t>
            </a:r>
          </a:p>
        </p:txBody>
      </p:sp>
      <p:sp>
        <p:nvSpPr>
          <p:cNvPr id="218" name="">
            <a:extLst xmlns:a="http://schemas.openxmlformats.org/drawingml/2006/main">
              <a:ext uri="{FF2B5EF4-FFF2-40B4-BE49-F238E27FC236}">
                <a16:creationId xmlns:a16="http://schemas.microsoft.com/office/drawing/2014/main" id="{19DF0A8A-F4E8-4942-9DBB-49E3FB9D75AA}"/>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219" name="">
            <a:extLst xmlns:a="http://schemas.openxmlformats.org/drawingml/2006/main">
              <a:ext uri="{FF2B5EF4-FFF2-40B4-BE49-F238E27FC236}">
                <a16:creationId xmlns:a16="http://schemas.microsoft.com/office/drawing/2014/main" id="{1CBB9E95-4173-42D3-90F0-CBCD5EA9C43D}"/>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20" name="">
            <a:extLst xmlns:a="http://schemas.openxmlformats.org/drawingml/2006/main">
              <a:ext uri="{FF2B5EF4-FFF2-40B4-BE49-F238E27FC236}">
                <a16:creationId xmlns:a16="http://schemas.microsoft.com/office/drawing/2014/main" id="{879F91E1-F6CF-4295-BF33-A4CAFAF2F5C5}"/>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21" name="">
            <a:extLst xmlns:a="http://schemas.openxmlformats.org/drawingml/2006/main">
              <a:ext uri="{FF2B5EF4-FFF2-40B4-BE49-F238E27FC236}">
                <a16:creationId xmlns:a16="http://schemas.microsoft.com/office/drawing/2014/main" id="{7A4A2AC8-9464-469D-AE8C-1542EE4E9192}"/>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222" name="">
            <a:extLst xmlns:a="http://schemas.openxmlformats.org/drawingml/2006/main">
              <a:ext uri="{FF2B5EF4-FFF2-40B4-BE49-F238E27FC236}">
                <a16:creationId xmlns:a16="http://schemas.microsoft.com/office/drawing/2014/main" id="{F4FEBA54-918E-4863-AB1A-B7BD19CEC139}"/>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02</a:t>
            </a:r>
          </a:p>
        </p:txBody>
      </p:sp>
    </p:spTree>
    <p:extLst>
      <p:ext uri="{BB962C8B-B14F-4D97-AF65-F5344CB8AC3E}">
        <p14:creationId xmlns:p14="http://schemas.microsoft.com/office/powerpoint/2010/main" val="1185123319"/>
      </p:ext>
    </p:extLst>
  </p:cSld>
</p:sld>
</file>

<file path=ppt/slides/slide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e64215fe51f1466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68D171-7076-4FA7-AEF1-95B1D92E88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4FF61AAB-A114-4F79-9EBB-12ACC01D56A0}"/>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684CFCD3-0747-408E-A6F9-0DF19A25DEF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789F5F1A-C48D-41D0-89E2-8167A946583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343364CD-8427-4815-A2FE-0089A85918C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0B58F7C5-A524-4CDA-87A6-0700099009C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05839867-75D6-4BD1-9AC4-4BDBBAB6832B}"/>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A9B160B0-4014-49D6-95E3-3662A2CD6DCE}"/>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4FD8FF">
                  <a:alpha val="20000"/>
                </a:srgbClr>
              </a:gs>
              <a:gs pos="45000">
                <a:srgbClr val="4FD8FF">
                  <a:alpha val="8000"/>
                </a:srgbClr>
              </a:gs>
              <a:gs pos="100000">
                <a:srgbClr val="4FD8FF">
                  <a:alpha val="0"/>
                </a:srgbClr>
              </a:gs>
            </a:gsLst>
            <a:path path="shape"/>
          </a:gra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29BB7BE4-CBBA-4999-8B65-E9D75F74E2B6}"/>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C8F95C41-DBF1-4680-9ABD-22491681006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4FD8FF"/>
              </a:gs>
              <a:gs pos="100000">
                <a:srgbClr val="4FD8FF">
                  <a:alpha val="0"/>
                </a:srgbClr>
              </a:gs>
            </a:gsLst>
            <a:lin ang="5400000"/>
          </a:gra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FB244FC-DF75-48BB-9C5A-4AC3A4C50DAD}"/>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4FD8FF">
              <a:alpha val="70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FD55EC1A-E94E-4104-B1B4-2ECB2854FB8E}"/>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59F5A8C0-7EE8-494E-A453-AF0C7F117A6E}"/>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4793ECAB-D54F-4BC6-9467-3C8DD9FC3B36}"/>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983EEE21-48F4-4C5A-9784-ADFEA721D961}"/>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4FD8FF">
                <a:alpha val="45000"/>
              </a:srgbClr>
            </a:solidFill>
            <a:prstDash val="solid"/>
          </a:ln>
        </p:spPr>
      </p:sp>
      <p:sp>
        <p:nvSpPr>
          <p:cNvPr id="17" name="">
            <a:extLst xmlns:a="http://schemas.openxmlformats.org/drawingml/2006/main">
              <a:ext uri="{FF2B5EF4-FFF2-40B4-BE49-F238E27FC236}">
                <a16:creationId xmlns:a16="http://schemas.microsoft.com/office/drawing/2014/main" id="{FA20E0C6-36DC-4D69-A610-CA12EB5D64A4}"/>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4FD8FF">
                <a:alpha val="28000"/>
              </a:srgbClr>
            </a:solidFill>
            <a:prstDash val="solid"/>
          </a:ln>
        </p:spPr>
      </p:sp>
      <p:sp>
        <p:nvSpPr>
          <p:cNvPr id="18" name="">
            <a:extLst xmlns:a="http://schemas.openxmlformats.org/drawingml/2006/main">
              <a:ext uri="{FF2B5EF4-FFF2-40B4-BE49-F238E27FC236}">
                <a16:creationId xmlns:a16="http://schemas.microsoft.com/office/drawing/2014/main" id="{0DAB832B-F9CE-4480-BF41-9B1A8B9B86D7}"/>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E32C5C67-9066-4846-814E-949D4C75EB96}"/>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BD7729A0-5E8C-4CDB-AC63-52FC954C050D}"/>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4F9CE450-E6F0-44FD-AFB2-F4F66CAFD7DB}"/>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24B231FF-5D15-4652-9F7A-570C731B9C7D}"/>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A3BD6CE0-813E-4C44-AFC0-2D40C9B6F91E}"/>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617841DD-0FAC-46F2-A2EC-B8291E164496}"/>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E99D83A6-BBB7-4824-B5CB-EFEA4D4790D2}"/>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E27846DA-8476-4AAC-A46C-EC8B2A559E18}"/>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7168EDCB-AFA0-47C9-B022-87EF67FBE23A}"/>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017CB7D7-6739-489A-9346-043AFE95E426}"/>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9CA63E1A-50F0-4C70-97D3-F3AC008B9D9F}"/>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9097BC8F-89D3-4080-B946-B315AA13A5F2}"/>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FD075628-1629-4B44-811D-939DE839119E}"/>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BC4F72C5-A145-4A16-B558-B141A1E7E2BD}"/>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B75D4F08-322C-4EAB-8245-27DD6CD746D8}"/>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CC7540B8-AFC8-4D45-A8AD-BA23628C6639}"/>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8A0C5897-A990-428E-9CA8-F646FA8ED740}"/>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D6F173FF-13E7-4DE8-9532-8F723F22D48E}"/>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AFC4CB99-1828-4D85-9925-4193A2137A34}"/>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3317B3C3-0732-47E8-B0F1-82C9C440CC26}"/>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1AD5DCB9-FFE5-4189-B073-D185C9AB7021}"/>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163C59CB-38F1-4461-BCE7-4F589494A42C}"/>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4FD8FF">
                      <a:alpha val="75000"/>
                    </a:srgbClr>
                  </a:solidFill>
                  <a:prstDash val="solid"/>
                </a:ln>
                <a:solidFill>
                  <a:srgbClr val="0B3E82"/>
                </a:solidFill>
                <a:latin typeface="Bahnschrift SemiBold"/>
                <a:ea typeface="Bahnschrift SemiBold"/>
                <a:cs typeface="Bahnschrift SemiBold"/>
              </a:defRPr>
            </a:pPr>
            <a:r>
              <a:rPr sz="9900" b="1">
                <a:ln w="14288">
                  <a:solidFill>
                    <a:srgbClr val="4FD8FF">
                      <a:alpha val="75000"/>
                    </a:srgbClr>
                  </a:solidFill>
                  <a:prstDash val="solid"/>
                </a:ln>
                <a:solidFill>
                  <a:srgbClr val="0B3E82"/>
                </a:solidFill>
                <a:latin typeface="Bahnschrift SemiBold"/>
                <a:ea typeface="Bahnschrift SemiBold"/>
                <a:cs typeface="Bahnschrift SemiBold"/>
              </a:rPr>
              <a:t>01</a:t>
            </a:r>
          </a:p>
        </p:txBody>
      </p:sp>
      <p:sp>
        <p:nvSpPr>
          <p:cNvPr id="41" name="">
            <a:extLst xmlns:a="http://schemas.openxmlformats.org/drawingml/2006/main">
              <a:ext uri="{FF2B5EF4-FFF2-40B4-BE49-F238E27FC236}">
                <a16:creationId xmlns:a16="http://schemas.microsoft.com/office/drawing/2014/main" id="{29E2313D-EB7B-4AAB-A539-50EF88AD2498}"/>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4FD8FF"/>
              </a:gs>
              <a:gs pos="100000">
                <a:srgbClr val="4FD8FF">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E54788B5-BF2C-4F11-AB93-1A1A91C0A0AA}"/>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4FD8FF">
                <a:alpha val="24000"/>
              </a:srgbClr>
            </a:fgClr>
            <a:bgClr>
              <a:srgbClr val="0B3E82"/>
            </a:bgClr>
          </a:patt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A628DD32-77B8-46BF-8807-9F9C14228762}"/>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85E2D6DC-F558-4EA8-ACA7-F4C49495B4C5}"/>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BA1027C7-1CB1-4162-9141-20CC201C54D4}"/>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2DF87CFD-E3BA-4B86-A4A4-6BD6D11B55DA}"/>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118DA7E1-CFB1-4E6B-BDFB-0E91204A7F97}"/>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3E6E7746-CA5B-464D-A946-7397A1D9D366}"/>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7B33860E-1D4D-4F61-808E-18ED2B609881}"/>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047CC023-5397-4E0D-AD47-F759CCF55945}"/>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717891FD-275C-414C-AF1D-24D82D3EF1C6}"/>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70FDE964-F159-4014-92A0-CF90DBA068E1}"/>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6D0BEAD2-1661-4227-8CB5-7427383FC4FA}"/>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2ED55C3D-0A7C-4D1F-8000-9B3945D0D03E}"/>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890DD093-B016-48CB-A02D-A9D2507AED9C}"/>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83AB79D2-351C-44BD-941A-5809EC20165B}"/>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E7D17152-16CA-4883-90AE-7A9E72F16F09}"/>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E65AF21E-17AD-464A-9BE4-7EAB9B5A1BFA}"/>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D650B59E-9833-4A2B-AE03-8E69C6212973}"/>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D699FB22-241D-406C-9E8C-A6078D4432AE}"/>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0C92F6BC-20C7-448D-8FEC-CB6A489D202A}"/>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7D78A96F-64D8-459E-B4DE-E781DC1568C1}"/>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C86286F6-EBA8-4223-88A0-6971C646B4B6}"/>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FB715F7C-81C1-427D-98F0-6491ADEBFCE7}"/>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B057E291-F63C-4B57-967E-EE09361FC4F4}"/>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6A446BDB-8238-4A9B-A28E-6BF0B8A3741D}"/>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900319EA-4BE0-4665-925E-E7DB0F3BD376}"/>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8D98D8DD-D520-4659-97F8-28512CC5CCEB}"/>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0830B4CA-03DD-46EC-8DA7-883577C39E11}"/>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0042951C-EC1E-4D25-8E22-4766DE9BB2C4}"/>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4FD8FF">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578A5D75-5087-4911-B120-A8285F5E6593}"/>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4FD8FF">
              <a:alpha val="28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52B6F12F-5475-4E8B-9750-F8B7B7514CA8}"/>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4FD8FF">
              <a:alpha val="14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653D6D64-E214-48C3-B768-DAF8EEF4B521}"/>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986E45C0-6437-4121-8436-A793FF5FDA66}"/>
              </a:ext>
            </a:extLst>
          </p:cNvPr>
          <p:cNvSpPr>
            <a:spLocks xmlns:a="http://schemas.openxmlformats.org/drawingml/2006/main" noGrp="1"/>
          </p:cNvSpPr>
          <p:nvPr/>
        </p:nvSpPr>
        <p:spPr>
          <a:xfrm xmlns:a="http://schemas.openxmlformats.org/drawingml/2006/main">
            <a:off x="7353300" y="4895850"/>
            <a:ext cx="571500" cy="571500"/>
          </a:xfrm>
          <a:prstGeom xmlns:a="http://schemas.openxmlformats.org/drawingml/2006/main" prst="ellipse">
            <a:avLst/>
          </a:prstGeom>
          <a:gradFill xmlns:a="http://schemas.openxmlformats.org/drawingml/2006/main">
            <a:gsLst>
              <a:gs pos="0">
                <a:srgbClr val="4FD8FF">
                  <a:alpha val="30000"/>
                </a:srgbClr>
              </a:gs>
              <a:gs pos="45000">
                <a:srgbClr val="4FD8FF">
                  <a:alpha val="12000"/>
                </a:srgbClr>
              </a:gs>
              <a:gs pos="100000">
                <a:srgbClr val="4FD8FF">
                  <a:alpha val="0"/>
                </a:srgbClr>
              </a:gs>
            </a:gsLst>
            <a:path path="shape"/>
          </a:gra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CA74CAAE-B1AE-4120-A394-375F6316BFF5}"/>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4FD8FF"/>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E1DF5E9F-276A-42CE-95BE-E5CCC238A2CE}"/>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背景</a:t>
            </a:r>
          </a:p>
        </p:txBody>
      </p:sp>
      <p:sp>
        <p:nvSpPr>
          <p:cNvPr id="77" name="">
            <a:extLst xmlns:a="http://schemas.openxmlformats.org/drawingml/2006/main">
              <a:ext uri="{FF2B5EF4-FFF2-40B4-BE49-F238E27FC236}">
                <a16:creationId xmlns:a16="http://schemas.microsoft.com/office/drawing/2014/main" id="{07F8D5CD-D93B-4124-BB0D-C968B1353003}"/>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15DF1EAB-EF1F-44A3-89C8-5CD8AA54425D}"/>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9" name="">
            <a:extLst xmlns:a="http://schemas.openxmlformats.org/drawingml/2006/main">
              <a:ext uri="{FF2B5EF4-FFF2-40B4-BE49-F238E27FC236}">
                <a16:creationId xmlns:a16="http://schemas.microsoft.com/office/drawing/2014/main" id="{87CEE70F-69C1-43EE-8B55-9C536612D917}"/>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67AE41D0-A598-46AD-A44B-80D64C102A1D}"/>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1" name="">
            <a:extLst xmlns:a="http://schemas.openxmlformats.org/drawingml/2006/main">
              <a:ext uri="{FF2B5EF4-FFF2-40B4-BE49-F238E27FC236}">
                <a16:creationId xmlns:a16="http://schemas.microsoft.com/office/drawing/2014/main" id="{FD330DC1-0DF1-4F57-A704-F3750DBD1270}"/>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6F2AD82B-A14B-4149-9F9D-6ED57E58898F}"/>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D8A3BD94-398B-4B76-BC75-BE3D60745F5E}"/>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AA4122AA-FD5F-43E6-BF8A-2D5C47FB1E11}"/>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C6845704-D59D-487F-8FE3-F365BCD6268B}"/>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7D58306E-1EFA-4C96-A7A1-B0A35293BD56}"/>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C14B1884-313D-4631-80C9-419C8839117E}"/>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8B732330-93D1-4396-A6FF-D1023BF17877}"/>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47120C27-AF85-4A44-93A1-8AE6F190F2DB}"/>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01</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959B2763-B615-476A-8AB7-4B3DD29F57A4}"/>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4FD8FF"/>
              </a:gs>
              <a:gs pos="100000">
                <a:srgbClr val="4FD8FF">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BA038AFC-3709-4D4A-AA1F-41F14464AD9D}"/>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项目背景</a:t>
            </a:r>
          </a:p>
        </p:txBody>
      </p:sp>
      <p:sp>
        <p:nvSpPr>
          <p:cNvPr id="92" name="">
            <a:extLst xmlns:a="http://schemas.openxmlformats.org/drawingml/2006/main">
              <a:ext uri="{FF2B5EF4-FFF2-40B4-BE49-F238E27FC236}">
                <a16:creationId xmlns:a16="http://schemas.microsoft.com/office/drawing/2014/main" id="{6FFDE75C-8B6A-4C0F-96D5-D3BEB9271EA5}"/>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4FD8FF"/>
                </a:solidFill>
                <a:latin typeface="Bahnschrift"/>
                <a:ea typeface="Bahnschrift"/>
                <a:cs typeface="Bahnschrift"/>
              </a:defRPr>
            </a:pPr>
            <a:r>
              <a:rPr sz="1013" b="0" spc="3">
                <a:solidFill>
                  <a:srgbClr val="4FD8FF"/>
                </a:solidFill>
                <a:latin typeface="Bahnschrift"/>
                <a:ea typeface="Bahnschrift"/>
                <a:cs typeface="Bahnschrift"/>
              </a:rPr>
              <a:t>BACKGROUND · WHY INDUSTRIAL TRAINING</a:t>
            </a:r>
          </a:p>
        </p:txBody>
      </p:sp>
      <p:sp>
        <p:nvSpPr>
          <p:cNvPr id="93" name="">
            <a:extLst xmlns:a="http://schemas.openxmlformats.org/drawingml/2006/main">
              <a:ext uri="{FF2B5EF4-FFF2-40B4-BE49-F238E27FC236}">
                <a16:creationId xmlns:a16="http://schemas.microsoft.com/office/drawing/2014/main" id="{35806925-6A3A-45AA-B9D8-778B0B570166}"/>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AD03A1CC-64EA-4683-AD4F-B2FA2D04E3B1}"/>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从变电运维的隐性成本出发，说明「为什么要做工业智训」</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用标准原文、成本科目与真实报告案例建立实证基础</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把行业现象收敛为三条可治理的价值缺口</a:t>
            </a:r>
          </a:p>
        </p:txBody>
      </p:sp>
      <p:sp>
        <p:nvSpPr>
          <p:cNvPr id="95" name="">
            <a:extLst xmlns:a="http://schemas.openxmlformats.org/drawingml/2006/main">
              <a:ext uri="{FF2B5EF4-FFF2-40B4-BE49-F238E27FC236}">
                <a16:creationId xmlns:a16="http://schemas.microsoft.com/office/drawing/2014/main" id="{32353059-F71D-4C09-94E1-F1761C44C915}"/>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alpha val="50000"/>
              </a:srgbClr>
            </a:solidFill>
            <a:prstDash val="solid"/>
          </a:ln>
        </p:spPr>
      </p:sp>
      <p:sp>
        <p:nvSpPr>
          <p:cNvPr id="96" name="">
            <a:extLst xmlns:a="http://schemas.openxmlformats.org/drawingml/2006/main">
              <a:ext uri="{FF2B5EF4-FFF2-40B4-BE49-F238E27FC236}">
                <a16:creationId xmlns:a16="http://schemas.microsoft.com/office/drawing/2014/main" id="{91C650D3-8A7B-4E6F-99D1-0C41D0AB9546}"/>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E1D5C430-555B-4AA9-947F-642BF97A3BB4}"/>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8" name="">
            <a:extLst xmlns:a="http://schemas.openxmlformats.org/drawingml/2006/main">
              <a:ext uri="{FF2B5EF4-FFF2-40B4-BE49-F238E27FC236}">
                <a16:creationId xmlns:a16="http://schemas.microsoft.com/office/drawing/2014/main" id="{2834FF85-6F52-4D73-98B9-FF98DC83B0DA}"/>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国家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行业标准原文依据</a:t>
            </a:r>
          </a:p>
        </p:txBody>
      </p:sp>
      <p:sp>
        <p:nvSpPr>
          <p:cNvPr id="99" name="">
            <a:extLst xmlns:a="http://schemas.openxmlformats.org/drawingml/2006/main">
              <a:ext uri="{FF2B5EF4-FFF2-40B4-BE49-F238E27FC236}">
                <a16:creationId xmlns:a16="http://schemas.microsoft.com/office/drawing/2014/main" id="{5FE22ACA-19E8-4775-B3FC-F1CFE3EF55F2}"/>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alpha val="50000"/>
              </a:srgbClr>
            </a:solidFill>
            <a:prstDash val="solid"/>
          </a:ln>
        </p:spPr>
      </p:sp>
      <p:sp>
        <p:nvSpPr>
          <p:cNvPr id="100" name="">
            <a:extLst xmlns:a="http://schemas.openxmlformats.org/drawingml/2006/main">
              <a:ext uri="{FF2B5EF4-FFF2-40B4-BE49-F238E27FC236}">
                <a16:creationId xmlns:a16="http://schemas.microsoft.com/office/drawing/2014/main" id="{EF9B7490-B94E-49F4-B5F6-54F1B27BB39F}"/>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E5D9425C-0A1C-44D3-86FC-0B108266D2E9}"/>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102" name="">
            <a:extLst xmlns:a="http://schemas.openxmlformats.org/drawingml/2006/main">
              <a:ext uri="{FF2B5EF4-FFF2-40B4-BE49-F238E27FC236}">
                <a16:creationId xmlns:a16="http://schemas.microsoft.com/office/drawing/2014/main" id="{31EB25A6-34D1-41CD-AEDF-4D0C9930865A}"/>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本培训成本账</a:t>
            </a:r>
          </a:p>
        </p:txBody>
      </p:sp>
      <p:sp>
        <p:nvSpPr>
          <p:cNvPr id="103" name="">
            <a:extLst xmlns:a="http://schemas.openxmlformats.org/drawingml/2006/main">
              <a:ext uri="{FF2B5EF4-FFF2-40B4-BE49-F238E27FC236}">
                <a16:creationId xmlns:a16="http://schemas.microsoft.com/office/drawing/2014/main" id="{FA81BBE5-617E-4C62-92B2-E25C930D7FFD}"/>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alpha val="50000"/>
              </a:srgbClr>
            </a:solidFill>
            <a:prstDash val="solid"/>
          </a:ln>
        </p:spPr>
      </p:sp>
      <p:sp>
        <p:nvSpPr>
          <p:cNvPr id="104" name="">
            <a:extLst xmlns:a="http://schemas.openxmlformats.org/drawingml/2006/main">
              <a:ext uri="{FF2B5EF4-FFF2-40B4-BE49-F238E27FC236}">
                <a16:creationId xmlns:a16="http://schemas.microsoft.com/office/drawing/2014/main" id="{1344C4B7-A6F1-4869-A5A6-2F3D1C4A6AD5}"/>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614D2A62-FBB5-47D0-9B50-A7EE29D4286E}"/>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6" name="">
            <a:extLst xmlns:a="http://schemas.openxmlformats.org/drawingml/2006/main">
              <a:ext uri="{FF2B5EF4-FFF2-40B4-BE49-F238E27FC236}">
                <a16:creationId xmlns:a16="http://schemas.microsoft.com/office/drawing/2014/main" id="{DA350D30-ADDD-48BE-B1D9-C52698B91533}"/>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条可治理价值缺口</a:t>
            </a:r>
          </a:p>
        </p:txBody>
      </p:sp>
      <p:sp>
        <p:nvSpPr>
          <p:cNvPr id="107" name="">
            <a:extLst xmlns:a="http://schemas.openxmlformats.org/drawingml/2006/main">
              <a:ext uri="{FF2B5EF4-FFF2-40B4-BE49-F238E27FC236}">
                <a16:creationId xmlns:a16="http://schemas.microsoft.com/office/drawing/2014/main" id="{691B9DD3-29CF-4041-801A-F97A3AC0C99F}"/>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4FD8FF"/>
              </a:gs>
              <a:gs pos="100000">
                <a:srgbClr val="4FD8FF">
                  <a:alpha val="0"/>
                </a:srgbClr>
              </a:gs>
            </a:gsLst>
            <a:lin ang="0"/>
          </a:gra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6B5C9DB7-360D-4927-BC2A-B735F1FF06FE}"/>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012A67AE-12D7-4E57-A575-26776AC093A1}"/>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E8005BC7-D21E-425C-A842-4539B663326D}"/>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4FD8FF">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482584719"/>
      </p:ext>
    </p:extLst>
  </p:cSld>
</p:sld>
</file>

<file path=ppt/slides/slide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a644819354874cf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6928A7-EBD7-48D3-82C0-ED8F641063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E4D0F553-9A5D-43FB-9E06-E06479099E66}"/>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796E7B3F-26A9-4096-B8FD-A86112D150D3}"/>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40596B1F-B354-4146-9C60-F3FEE7AE4DCB}"/>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D425255-AB7B-4F1F-B705-7AC4F755D130}"/>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05CA2E03-A7F3-42EC-9A81-7D2D0D5DC500}"/>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F837ED66-B57D-4879-AD02-55A547E51AF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9B1D3C7A-C488-4DF2-B30F-26B0F570FDEE}"/>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DED67896-FEF7-4935-9998-07A532C1E7D2}"/>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B0CA0F5F-C674-4FCA-92BB-ACD18357D784}"/>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B3DD6AD-7354-431D-B627-60B6CC768866}"/>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09219F3-08AE-4353-80A4-1A97804AB7BA}"/>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752EE9A9-492C-4AE1-9389-00BEDE9D352A}"/>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判定阈值全部来自标准原文</a:t>
            </a:r>
          </a:p>
        </p:txBody>
      </p:sp>
      <p:sp>
        <p:nvSpPr>
          <p:cNvPr id="15" name="">
            <a:extLst xmlns:a="http://schemas.openxmlformats.org/drawingml/2006/main">
              <a:ext uri="{FF2B5EF4-FFF2-40B4-BE49-F238E27FC236}">
                <a16:creationId xmlns:a16="http://schemas.microsoft.com/office/drawing/2014/main" id="{AE682615-C487-40FA-97C3-F392707D96D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C1D43235-B8AA-4894-BDE1-58384DC6D828}"/>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8D883495-86DD-47F1-92D7-7A783136A38B}"/>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CD33F37-5BAE-4269-A17B-50A86DCB597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5B598123-010A-425E-9A60-D55C5433FAC2}"/>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安全生产培训是监管刚性项：判定阈值不靠经验，全部来自国家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行业标准原文。</a:t>
            </a:r>
          </a:p>
        </p:txBody>
      </p:sp>
      <p:sp>
        <p:nvSpPr>
          <p:cNvPr id="20" name="">
            <a:extLst xmlns:a="http://schemas.openxmlformats.org/drawingml/2006/main">
              <a:ext uri="{FF2B5EF4-FFF2-40B4-BE49-F238E27FC236}">
                <a16:creationId xmlns:a16="http://schemas.microsoft.com/office/drawing/2014/main" id="{9D08EEED-0BA1-4835-B748-3B5B34CD3291}"/>
              </a:ext>
            </a:extLst>
          </p:cNvPr>
          <p:cNvSpPr>
            <a:spLocks xmlns:a="http://schemas.openxmlformats.org/drawingml/2006/main" noGrp="1"/>
          </p:cNvSpPr>
          <p:nvPr/>
        </p:nvSpPr>
        <p:spPr>
          <a:xfrm xmlns:a="http://schemas.openxmlformats.org/drawingml/2006/main">
            <a:off x="285750" y="1333500"/>
            <a:ext cx="895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一、四组判定阈值与它们的原文出处（已内置进系统气体字典，管理员改库即生效）</a:t>
            </a:r>
          </a:p>
        </p:txBody>
      </p:sp>
      <p:sp>
        <p:nvSpPr>
          <p:cNvPr id="21" name="">
            <a:extLst xmlns:a="http://schemas.openxmlformats.org/drawingml/2006/main">
              <a:ext uri="{FF2B5EF4-FFF2-40B4-BE49-F238E27FC236}">
                <a16:creationId xmlns:a16="http://schemas.microsoft.com/office/drawing/2014/main" id="{62C67817-1C87-4BCF-9A24-80DD13F48A40}"/>
              </a:ext>
            </a:extLst>
          </p:cNvPr>
          <p:cNvSpPr>
            <a:spLocks xmlns:a="http://schemas.openxmlformats.org/drawingml/2006/main" noGrp="1"/>
          </p:cNvSpPr>
          <p:nvPr/>
        </p:nvSpPr>
        <p:spPr>
          <a:xfrm xmlns:a="http://schemas.openxmlformats.org/drawingml/2006/main">
            <a:off x="285750" y="1657350"/>
            <a:ext cx="5753100" cy="762000"/>
          </a:xfrm>
          <a:prstGeom xmlns:a="http://schemas.openxmlformats.org/drawingml/2006/main" prst="roundRect">
            <a:avLst>
              <a:gd name="adj" fmla="val 11250"/>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22" name="">
            <a:extLst xmlns:a="http://schemas.openxmlformats.org/drawingml/2006/main">
              <a:ext uri="{FF2B5EF4-FFF2-40B4-BE49-F238E27FC236}">
                <a16:creationId xmlns:a16="http://schemas.microsoft.com/office/drawing/2014/main" id="{ED23202A-EE8F-4B4D-9733-3FF6F14FA29E}"/>
              </a:ext>
            </a:extLst>
          </p:cNvPr>
          <p:cNvSpPr>
            <a:spLocks xmlns:a="http://schemas.openxmlformats.org/drawingml/2006/main" noGrp="1"/>
          </p:cNvSpPr>
          <p:nvPr/>
        </p:nvSpPr>
        <p:spPr>
          <a:xfrm xmlns:a="http://schemas.openxmlformats.org/drawingml/2006/main">
            <a:off x="285750" y="1657350"/>
            <a:ext cx="38100" cy="7620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B34B4654-0FE3-4DE2-B1F0-2F3612DDF977}"/>
              </a:ext>
            </a:extLst>
          </p:cNvPr>
          <p:cNvSpPr>
            <a:spLocks xmlns:a="http://schemas.openxmlformats.org/drawingml/2006/main" noGrp="1"/>
          </p:cNvSpPr>
          <p:nvPr/>
        </p:nvSpPr>
        <p:spPr>
          <a:xfrm xmlns:a="http://schemas.openxmlformats.org/drawingml/2006/main">
            <a:off x="438150" y="1752600"/>
            <a:ext cx="2286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GBZ 2.1</a:t>
            </a:r>
          </a:p>
        </p:txBody>
      </p:sp>
      <p:sp>
        <p:nvSpPr>
          <p:cNvPr id="24" name="">
            <a:extLst xmlns:a="http://schemas.openxmlformats.org/drawingml/2006/main">
              <a:ext uri="{FF2B5EF4-FFF2-40B4-BE49-F238E27FC236}">
                <a16:creationId xmlns:a16="http://schemas.microsoft.com/office/drawing/2014/main" id="{740F20C4-BACB-49E7-AFC1-A08BC2D64513}"/>
              </a:ext>
            </a:extLst>
          </p:cNvPr>
          <p:cNvSpPr>
            <a:spLocks xmlns:a="http://schemas.openxmlformats.org/drawingml/2006/main" noGrp="1"/>
          </p:cNvSpPr>
          <p:nvPr/>
        </p:nvSpPr>
        <p:spPr>
          <a:xfrm xmlns:a="http://schemas.openxmlformats.org/drawingml/2006/main">
            <a:off x="438150" y="1981200"/>
            <a:ext cx="32194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《工作场所有害因素职业接触限值》</a:t>
            </a:r>
          </a:p>
        </p:txBody>
      </p:sp>
      <p:sp>
        <p:nvSpPr>
          <p:cNvPr id="25" name="">
            <a:extLst xmlns:a="http://schemas.openxmlformats.org/drawingml/2006/main">
              <a:ext uri="{FF2B5EF4-FFF2-40B4-BE49-F238E27FC236}">
                <a16:creationId xmlns:a16="http://schemas.microsoft.com/office/drawing/2014/main" id="{5E219B9B-7EC0-4CEB-9D9F-A5E5E2397235}"/>
              </a:ext>
            </a:extLst>
          </p:cNvPr>
          <p:cNvSpPr>
            <a:spLocks xmlns:a="http://schemas.openxmlformats.org/drawingml/2006/main" noGrp="1"/>
          </p:cNvSpPr>
          <p:nvPr/>
        </p:nvSpPr>
        <p:spPr>
          <a:xfrm xmlns:a="http://schemas.openxmlformats.org/drawingml/2006/main">
            <a:off x="3714750" y="1752600"/>
            <a:ext cx="21717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硫化氢 </a:t>
            </a:r>
            <a:r>
              <a:rPr sz="975" b="1">
                <a:solidFill>
                  <a:srgbClr val="FFFFFF"/>
                </a:solidFill>
                <a:latin typeface="微软雅黑"/>
                <a:ea typeface="微软雅黑"/>
                <a:cs typeface="微软雅黑"/>
              </a:rPr>
              <a:t>10 ppm
</a:t>
            </a:r>
            <a:r>
              <a:rPr sz="975" b="1">
                <a:solidFill>
                  <a:srgbClr val="FFFFFF"/>
                </a:solidFill>
                <a:latin typeface="微软雅黑"/>
                <a:ea typeface="微软雅黑"/>
                <a:cs typeface="微软雅黑"/>
              </a:rPr>
              <a:t>一氧化碳 </a:t>
            </a:r>
            <a:r>
              <a:rPr sz="975" b="1">
                <a:solidFill>
                  <a:srgbClr val="FFFFFF"/>
                </a:solidFill>
                <a:latin typeface="微软雅黑"/>
                <a:ea typeface="微软雅黑"/>
                <a:cs typeface="微软雅黑"/>
              </a:rPr>
              <a:t>30 ppm</a:t>
            </a:r>
          </a:p>
        </p:txBody>
      </p:sp>
      <p:sp>
        <p:nvSpPr>
          <p:cNvPr id="26" name="">
            <a:extLst xmlns:a="http://schemas.openxmlformats.org/drawingml/2006/main">
              <a:ext uri="{FF2B5EF4-FFF2-40B4-BE49-F238E27FC236}">
                <a16:creationId xmlns:a16="http://schemas.microsoft.com/office/drawing/2014/main" id="{B9F0A11B-8D34-4A27-B43E-8D24F4121D90}"/>
              </a:ext>
            </a:extLst>
          </p:cNvPr>
          <p:cNvSpPr>
            <a:spLocks xmlns:a="http://schemas.openxmlformats.org/drawingml/2006/main" noGrp="1"/>
          </p:cNvSpPr>
          <p:nvPr/>
        </p:nvSpPr>
        <p:spPr>
          <a:xfrm xmlns:a="http://schemas.openxmlformats.org/drawingml/2006/main">
            <a:off x="6153150" y="1657350"/>
            <a:ext cx="5753100" cy="762000"/>
          </a:xfrm>
          <a:prstGeom xmlns:a="http://schemas.openxmlformats.org/drawingml/2006/main" prst="roundRect">
            <a:avLst>
              <a:gd name="adj" fmla="val 1125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FE681EB6-C38B-4588-9631-B51DD584C4B6}"/>
              </a:ext>
            </a:extLst>
          </p:cNvPr>
          <p:cNvSpPr>
            <a:spLocks xmlns:a="http://schemas.openxmlformats.org/drawingml/2006/main" noGrp="1"/>
          </p:cNvSpPr>
          <p:nvPr/>
        </p:nvSpPr>
        <p:spPr>
          <a:xfrm xmlns:a="http://schemas.openxmlformats.org/drawingml/2006/main">
            <a:off x="6153150" y="1657350"/>
            <a:ext cx="38100" cy="7620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5A1DC9FD-E074-463E-A577-6FC3EC50F9D2}"/>
              </a:ext>
            </a:extLst>
          </p:cNvPr>
          <p:cNvSpPr>
            <a:spLocks xmlns:a="http://schemas.openxmlformats.org/drawingml/2006/main" noGrp="1"/>
          </p:cNvSpPr>
          <p:nvPr/>
        </p:nvSpPr>
        <p:spPr>
          <a:xfrm xmlns:a="http://schemas.openxmlformats.org/drawingml/2006/main">
            <a:off x="6305550" y="1752600"/>
            <a:ext cx="2286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GB 30871</a:t>
            </a:r>
          </a:p>
        </p:txBody>
      </p:sp>
      <p:sp>
        <p:nvSpPr>
          <p:cNvPr id="29" name="">
            <a:extLst xmlns:a="http://schemas.openxmlformats.org/drawingml/2006/main">
              <a:ext uri="{FF2B5EF4-FFF2-40B4-BE49-F238E27FC236}">
                <a16:creationId xmlns:a16="http://schemas.microsoft.com/office/drawing/2014/main" id="{31613333-F859-4380-BBBE-3096B56A53D5}"/>
              </a:ext>
            </a:extLst>
          </p:cNvPr>
          <p:cNvSpPr>
            <a:spLocks xmlns:a="http://schemas.openxmlformats.org/drawingml/2006/main" noGrp="1"/>
          </p:cNvSpPr>
          <p:nvPr/>
        </p:nvSpPr>
        <p:spPr>
          <a:xfrm xmlns:a="http://schemas.openxmlformats.org/drawingml/2006/main">
            <a:off x="6305550" y="1981200"/>
            <a:ext cx="32194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《危险化学品企业特殊作业安全规范》</a:t>
            </a:r>
          </a:p>
        </p:txBody>
      </p:sp>
      <p:sp>
        <p:nvSpPr>
          <p:cNvPr id="30" name="">
            <a:extLst xmlns:a="http://schemas.openxmlformats.org/drawingml/2006/main">
              <a:ext uri="{FF2B5EF4-FFF2-40B4-BE49-F238E27FC236}">
                <a16:creationId xmlns:a16="http://schemas.microsoft.com/office/drawing/2014/main" id="{DCE48227-6B9C-4BC5-AD2C-ECE1A08D4712}"/>
              </a:ext>
            </a:extLst>
          </p:cNvPr>
          <p:cNvSpPr>
            <a:spLocks xmlns:a="http://schemas.openxmlformats.org/drawingml/2006/main" noGrp="1"/>
          </p:cNvSpPr>
          <p:nvPr/>
        </p:nvSpPr>
        <p:spPr>
          <a:xfrm xmlns:a="http://schemas.openxmlformats.org/drawingml/2006/main">
            <a:off x="9582150" y="1752600"/>
            <a:ext cx="21717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可燃气 </a:t>
            </a:r>
            <a:r>
              <a:rPr sz="975" b="1">
                <a:solidFill>
                  <a:srgbClr val="FFFFFF"/>
                </a:solidFill>
                <a:latin typeface="微软雅黑"/>
                <a:ea typeface="微软雅黑"/>
                <a:cs typeface="微软雅黑"/>
              </a:rPr>
              <a:t>10 %LEL</a:t>
            </a:r>
          </a:p>
        </p:txBody>
      </p:sp>
      <p:sp>
        <p:nvSpPr>
          <p:cNvPr id="31" name="">
            <a:extLst xmlns:a="http://schemas.openxmlformats.org/drawingml/2006/main">
              <a:ext uri="{FF2B5EF4-FFF2-40B4-BE49-F238E27FC236}">
                <a16:creationId xmlns:a16="http://schemas.microsoft.com/office/drawing/2014/main" id="{B9C0F320-CA56-45D2-A542-8465E3F5F548}"/>
              </a:ext>
            </a:extLst>
          </p:cNvPr>
          <p:cNvSpPr>
            <a:spLocks xmlns:a="http://schemas.openxmlformats.org/drawingml/2006/main" noGrp="1"/>
          </p:cNvSpPr>
          <p:nvPr/>
        </p:nvSpPr>
        <p:spPr>
          <a:xfrm xmlns:a="http://schemas.openxmlformats.org/drawingml/2006/main">
            <a:off x="285750" y="2533650"/>
            <a:ext cx="5753100" cy="762000"/>
          </a:xfrm>
          <a:prstGeom xmlns:a="http://schemas.openxmlformats.org/drawingml/2006/main" prst="roundRect">
            <a:avLst>
              <a:gd name="adj" fmla="val 11250"/>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2" name="">
            <a:extLst xmlns:a="http://schemas.openxmlformats.org/drawingml/2006/main">
              <a:ext uri="{FF2B5EF4-FFF2-40B4-BE49-F238E27FC236}">
                <a16:creationId xmlns:a16="http://schemas.microsoft.com/office/drawing/2014/main" id="{F8D374E8-695D-4DAC-918D-C6E82BC503DB}"/>
              </a:ext>
            </a:extLst>
          </p:cNvPr>
          <p:cNvSpPr>
            <a:spLocks xmlns:a="http://schemas.openxmlformats.org/drawingml/2006/main" noGrp="1"/>
          </p:cNvSpPr>
          <p:nvPr/>
        </p:nvSpPr>
        <p:spPr>
          <a:xfrm xmlns:a="http://schemas.openxmlformats.org/drawingml/2006/main">
            <a:off x="285750" y="2533650"/>
            <a:ext cx="38100" cy="7620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5046D5F9-8E9E-44C9-AFC5-8510A6C6816E}"/>
              </a:ext>
            </a:extLst>
          </p:cNvPr>
          <p:cNvSpPr>
            <a:spLocks xmlns:a="http://schemas.openxmlformats.org/drawingml/2006/main" noGrp="1"/>
          </p:cNvSpPr>
          <p:nvPr/>
        </p:nvSpPr>
        <p:spPr>
          <a:xfrm xmlns:a="http://schemas.openxmlformats.org/drawingml/2006/main">
            <a:off x="438150" y="2628900"/>
            <a:ext cx="2286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DL/T 639</a:t>
            </a:r>
          </a:p>
        </p:txBody>
      </p:sp>
      <p:sp>
        <p:nvSpPr>
          <p:cNvPr id="34" name="">
            <a:extLst xmlns:a="http://schemas.openxmlformats.org/drawingml/2006/main">
              <a:ext uri="{FF2B5EF4-FFF2-40B4-BE49-F238E27FC236}">
                <a16:creationId xmlns:a16="http://schemas.microsoft.com/office/drawing/2014/main" id="{F2BD2641-2DBB-49B7-AD6C-63C869178420}"/>
              </a:ext>
            </a:extLst>
          </p:cNvPr>
          <p:cNvSpPr>
            <a:spLocks xmlns:a="http://schemas.openxmlformats.org/drawingml/2006/main" noGrp="1"/>
          </p:cNvSpPr>
          <p:nvPr/>
        </p:nvSpPr>
        <p:spPr>
          <a:xfrm xmlns:a="http://schemas.openxmlformats.org/drawingml/2006/main">
            <a:off x="438150" y="2857500"/>
            <a:ext cx="32194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《六氟化硫电气设备运行、试验及检修人员安全防护细则》</a:t>
            </a:r>
          </a:p>
        </p:txBody>
      </p:sp>
      <p:sp>
        <p:nvSpPr>
          <p:cNvPr id="35" name="">
            <a:extLst xmlns:a="http://schemas.openxmlformats.org/drawingml/2006/main">
              <a:ext uri="{FF2B5EF4-FFF2-40B4-BE49-F238E27FC236}">
                <a16:creationId xmlns:a16="http://schemas.microsoft.com/office/drawing/2014/main" id="{422CC85B-25A3-49CD-BDA5-EC4C1133A925}"/>
              </a:ext>
            </a:extLst>
          </p:cNvPr>
          <p:cNvSpPr>
            <a:spLocks xmlns:a="http://schemas.openxmlformats.org/drawingml/2006/main" noGrp="1"/>
          </p:cNvSpPr>
          <p:nvPr/>
        </p:nvSpPr>
        <p:spPr>
          <a:xfrm xmlns:a="http://schemas.openxmlformats.org/drawingml/2006/main">
            <a:off x="3714750" y="2628900"/>
            <a:ext cx="21717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六氟化硫 </a:t>
            </a:r>
            <a:r>
              <a:rPr sz="975" b="1">
                <a:solidFill>
                  <a:srgbClr val="FFFFFF"/>
                </a:solidFill>
                <a:latin typeface="微软雅黑"/>
                <a:ea typeface="微软雅黑"/>
                <a:cs typeface="微软雅黑"/>
              </a:rPr>
              <a:t>1000 ppm</a:t>
            </a:r>
          </a:p>
        </p:txBody>
      </p:sp>
      <p:sp>
        <p:nvSpPr>
          <p:cNvPr id="36" name="">
            <a:extLst xmlns:a="http://schemas.openxmlformats.org/drawingml/2006/main">
              <a:ext uri="{FF2B5EF4-FFF2-40B4-BE49-F238E27FC236}">
                <a16:creationId xmlns:a16="http://schemas.microsoft.com/office/drawing/2014/main" id="{3EB65C4E-DDFC-47CF-937F-ADBDC6B8C0E0}"/>
              </a:ext>
            </a:extLst>
          </p:cNvPr>
          <p:cNvSpPr>
            <a:spLocks xmlns:a="http://schemas.openxmlformats.org/drawingml/2006/main" noGrp="1"/>
          </p:cNvSpPr>
          <p:nvPr/>
        </p:nvSpPr>
        <p:spPr>
          <a:xfrm xmlns:a="http://schemas.openxmlformats.org/drawingml/2006/main">
            <a:off x="6153150" y="2533650"/>
            <a:ext cx="5753100" cy="762000"/>
          </a:xfrm>
          <a:prstGeom xmlns:a="http://schemas.openxmlformats.org/drawingml/2006/main" prst="roundRect">
            <a:avLst>
              <a:gd name="adj" fmla="val 1125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5B02E686-ED5A-4648-A602-E0A2153C69D5}"/>
              </a:ext>
            </a:extLst>
          </p:cNvPr>
          <p:cNvSpPr>
            <a:spLocks xmlns:a="http://schemas.openxmlformats.org/drawingml/2006/main" noGrp="1"/>
          </p:cNvSpPr>
          <p:nvPr/>
        </p:nvSpPr>
        <p:spPr>
          <a:xfrm xmlns:a="http://schemas.openxmlformats.org/drawingml/2006/main">
            <a:off x="6153150" y="2533650"/>
            <a:ext cx="38100" cy="7620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912C2F94-7936-400A-A230-3DFF7B4F4886}"/>
              </a:ext>
            </a:extLst>
          </p:cNvPr>
          <p:cNvSpPr>
            <a:spLocks xmlns:a="http://schemas.openxmlformats.org/drawingml/2006/main" noGrp="1"/>
          </p:cNvSpPr>
          <p:nvPr/>
        </p:nvSpPr>
        <p:spPr>
          <a:xfrm xmlns:a="http://schemas.openxmlformats.org/drawingml/2006/main">
            <a:off x="6305550" y="2628900"/>
            <a:ext cx="2286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GB/T 11022 · DL/T 596</a:t>
            </a:r>
          </a:p>
        </p:txBody>
      </p:sp>
      <p:sp>
        <p:nvSpPr>
          <p:cNvPr id="39" name="">
            <a:extLst xmlns:a="http://schemas.openxmlformats.org/drawingml/2006/main">
              <a:ext uri="{FF2B5EF4-FFF2-40B4-BE49-F238E27FC236}">
                <a16:creationId xmlns:a16="http://schemas.microsoft.com/office/drawing/2014/main" id="{8CF2DCB2-E83F-4B59-A792-5DD871F9126C}"/>
              </a:ext>
            </a:extLst>
          </p:cNvPr>
          <p:cNvSpPr>
            <a:spLocks xmlns:a="http://schemas.openxmlformats.org/drawingml/2006/main" noGrp="1"/>
          </p:cNvSpPr>
          <p:nvPr/>
        </p:nvSpPr>
        <p:spPr>
          <a:xfrm xmlns:a="http://schemas.openxmlformats.org/drawingml/2006/main">
            <a:off x="6305550" y="2857500"/>
            <a:ext cx="32194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《电力设备预防性试验规程》</a:t>
            </a:r>
          </a:p>
        </p:txBody>
      </p:sp>
      <p:sp>
        <p:nvSpPr>
          <p:cNvPr id="40" name="">
            <a:extLst xmlns:a="http://schemas.openxmlformats.org/drawingml/2006/main">
              <a:ext uri="{FF2B5EF4-FFF2-40B4-BE49-F238E27FC236}">
                <a16:creationId xmlns:a16="http://schemas.microsoft.com/office/drawing/2014/main" id="{1AB59E9A-46ED-4B3F-88EC-D196ACA04A01}"/>
              </a:ext>
            </a:extLst>
          </p:cNvPr>
          <p:cNvSpPr>
            <a:spLocks xmlns:a="http://schemas.openxmlformats.org/drawingml/2006/main" noGrp="1"/>
          </p:cNvSpPr>
          <p:nvPr/>
        </p:nvSpPr>
        <p:spPr>
          <a:xfrm xmlns:a="http://schemas.openxmlformats.org/drawingml/2006/main">
            <a:off x="9582150" y="2628900"/>
            <a:ext cx="21717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SF6 </a:t>
            </a:r>
            <a:r>
              <a:rPr sz="975" b="1">
                <a:solidFill>
                  <a:srgbClr val="FFFFFF"/>
                </a:solidFill>
                <a:latin typeface="微软雅黑"/>
                <a:ea typeface="微软雅黑"/>
                <a:cs typeface="微软雅黑"/>
              </a:rPr>
              <a:t>微水 </a:t>
            </a:r>
            <a:r>
              <a:rPr sz="975" b="1">
                <a:solidFill>
                  <a:srgbClr val="FFFFFF"/>
                </a:solidFill>
                <a:latin typeface="微软雅黑"/>
                <a:ea typeface="微软雅黑"/>
                <a:cs typeface="微软雅黑"/>
              </a:rPr>
              <a:t>150 μL/L</a:t>
            </a:r>
          </a:p>
        </p:txBody>
      </p:sp>
      <p:sp>
        <p:nvSpPr>
          <p:cNvPr id="41" name="">
            <a:extLst xmlns:a="http://schemas.openxmlformats.org/drawingml/2006/main">
              <a:ext uri="{FF2B5EF4-FFF2-40B4-BE49-F238E27FC236}">
                <a16:creationId xmlns:a16="http://schemas.microsoft.com/office/drawing/2014/main" id="{4962D6EC-2641-428A-AB73-DA69EAAA2A87}"/>
              </a:ext>
            </a:extLst>
          </p:cNvPr>
          <p:cNvSpPr>
            <a:spLocks xmlns:a="http://schemas.openxmlformats.org/drawingml/2006/main" noGrp="1"/>
          </p:cNvSpPr>
          <p:nvPr/>
        </p:nvSpPr>
        <p:spPr>
          <a:xfrm xmlns:a="http://schemas.openxmlformats.org/drawingml/2006/main">
            <a:off x="285750" y="3486150"/>
            <a:ext cx="5753100" cy="2571750"/>
          </a:xfrm>
          <a:prstGeom xmlns:a="http://schemas.openxmlformats.org/drawingml/2006/main" prst="roundRect">
            <a:avLst>
              <a:gd name="adj" fmla="val 3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42" name="">
            <a:extLst xmlns:a="http://schemas.openxmlformats.org/drawingml/2006/main">
              <a:ext uri="{FF2B5EF4-FFF2-40B4-BE49-F238E27FC236}">
                <a16:creationId xmlns:a16="http://schemas.microsoft.com/office/drawing/2014/main" id="{7E4A7BD3-1A92-4835-B677-5D959CCC8661}"/>
              </a:ext>
            </a:extLst>
          </p:cNvPr>
          <p:cNvSpPr>
            <a:spLocks xmlns:a="http://schemas.openxmlformats.org/drawingml/2006/main" noGrp="1"/>
          </p:cNvSpPr>
          <p:nvPr/>
        </p:nvSpPr>
        <p:spPr>
          <a:xfrm xmlns:a="http://schemas.openxmlformats.org/drawingml/2006/main">
            <a:off x="495300" y="3638550"/>
            <a:ext cx="5334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二、阈值入库之后，直接换来三件事</a:t>
            </a:r>
          </a:p>
        </p:txBody>
      </p:sp>
      <p:sp>
        <p:nvSpPr>
          <p:cNvPr id="43" name="">
            <a:extLst xmlns:a="http://schemas.openxmlformats.org/drawingml/2006/main">
              <a:ext uri="{FF2B5EF4-FFF2-40B4-BE49-F238E27FC236}">
                <a16:creationId xmlns:a16="http://schemas.microsoft.com/office/drawing/2014/main" id="{0913F3F6-F8EF-4F6C-9E09-4F4F93739442}"/>
              </a:ext>
            </a:extLst>
          </p:cNvPr>
          <p:cNvSpPr>
            <a:spLocks xmlns:a="http://schemas.openxmlformats.org/drawingml/2006/main" noGrp="1"/>
          </p:cNvSpPr>
          <p:nvPr/>
        </p:nvSpPr>
        <p:spPr>
          <a:xfrm xmlns:a="http://schemas.openxmlformats.org/drawingml/2006/main">
            <a:off x="495300" y="3981450"/>
            <a:ext cx="535305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判定不再由个人经验决定，避免「同一份报告、不同人不同结论」。</a:t>
            </a:r>
          </a:p>
          <a:p xmlns:a="http://schemas.openxmlformats.org/drawingml/2006/main">
            <a:pPr algn="l">
              <a:lnSpc>
                <a:spcPct val="19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标准更新时只改数据库字典，不需要重新编译与发布。</a:t>
            </a:r>
          </a:p>
          <a:p xmlns:a="http://schemas.openxmlformats.org/drawingml/2006/main">
            <a:pPr algn="l">
              <a:lnSpc>
                <a:spcPct val="19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每条超限判定都能回指到标准条款，答辩与审计时可直接引用。</a:t>
            </a:r>
          </a:p>
        </p:txBody>
      </p:sp>
      <p:sp>
        <p:nvSpPr>
          <p:cNvPr id="44" name="">
            <a:extLst xmlns:a="http://schemas.openxmlformats.org/drawingml/2006/main">
              <a:ext uri="{FF2B5EF4-FFF2-40B4-BE49-F238E27FC236}">
                <a16:creationId xmlns:a16="http://schemas.microsoft.com/office/drawing/2014/main" id="{69FDB429-0467-4805-8D9B-566D5AD3BD67}"/>
              </a:ext>
            </a:extLst>
          </p:cNvPr>
          <p:cNvSpPr>
            <a:spLocks xmlns:a="http://schemas.openxmlformats.org/drawingml/2006/main" noGrp="1"/>
          </p:cNvSpPr>
          <p:nvPr/>
        </p:nvSpPr>
        <p:spPr>
          <a:xfrm xmlns:a="http://schemas.openxmlformats.org/drawingml/2006/main">
            <a:off x="495300" y="5353050"/>
            <a:ext cx="5334000" cy="9525"/>
          </a:xfrm>
          <a:prstGeom xmlns:a="http://schemas.openxmlformats.org/drawingml/2006/main" prst="rect">
            <a:avLst/>
          </a:prstGeom>
          <a:solidFill xmlns:a="http://schemas.openxmlformats.org/drawingml/2006/main">
            <a:srgbClr val="5FA8E8">
              <a:alpha val="7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B1B0EFAE-E987-40CA-BD6D-94629ADA39C2}"/>
              </a:ext>
            </a:extLst>
          </p:cNvPr>
          <p:cNvSpPr>
            <a:spLocks xmlns:a="http://schemas.openxmlformats.org/drawingml/2006/main" noGrp="1"/>
          </p:cNvSpPr>
          <p:nvPr/>
        </p:nvSpPr>
        <p:spPr>
          <a:xfrm xmlns:a="http://schemas.openxmlformats.org/drawingml/2006/main">
            <a:off x="495300" y="5467350"/>
            <a:ext cx="53530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FFD24A"/>
                </a:solidFill>
                <a:latin typeface="微软雅黑"/>
                <a:ea typeface="微软雅黑"/>
                <a:cs typeface="微软雅黑"/>
              </a:defRPr>
            </a:pPr>
            <a:r>
              <a:rPr sz="938" b="0">
                <a:solidFill>
                  <a:srgbClr val="FFD24A"/>
                </a:solidFill>
                <a:latin typeface="微软雅黑"/>
                <a:ea typeface="微软雅黑"/>
                <a:cs typeface="微软雅黑"/>
              </a:rPr>
              <a:t>所以：判定口径从「老师傅经验」变成「标准条款」</a:t>
            </a:r>
            <a:r>
              <a:rPr sz="938" b="0">
                <a:solidFill>
                  <a:srgbClr val="FFD24A"/>
                </a:solidFill>
                <a:latin typeface="微软雅黑"/>
                <a:ea typeface="微软雅黑"/>
                <a:cs typeface="微软雅黑"/>
              </a:rPr>
              <a:t>——</a:t>
            </a:r>
            <a:r>
              <a:rPr sz="938" b="0">
                <a:solidFill>
                  <a:srgbClr val="FFD24A"/>
                </a:solidFill>
                <a:latin typeface="微软雅黑"/>
                <a:ea typeface="微软雅黑"/>
                <a:cs typeface="微软雅黑"/>
              </a:rPr>
              <a:t>这是后续每条结论可复算、可审计的前提。</a:t>
            </a:r>
          </a:p>
        </p:txBody>
      </p:sp>
      <p:sp>
        <p:nvSpPr>
          <p:cNvPr id="46" name="">
            <a:extLst xmlns:a="http://schemas.openxmlformats.org/drawingml/2006/main">
              <a:ext uri="{FF2B5EF4-FFF2-40B4-BE49-F238E27FC236}">
                <a16:creationId xmlns:a16="http://schemas.microsoft.com/office/drawing/2014/main" id="{C1882D40-9866-4A47-9CD3-FC80815093F2}"/>
              </a:ext>
            </a:extLst>
          </p:cNvPr>
          <p:cNvSpPr>
            <a:spLocks xmlns:a="http://schemas.openxmlformats.org/drawingml/2006/main" noGrp="1"/>
          </p:cNvSpPr>
          <p:nvPr/>
        </p:nvSpPr>
        <p:spPr>
          <a:xfrm xmlns:a="http://schemas.openxmlformats.org/drawingml/2006/main">
            <a:off x="6153150" y="3486150"/>
            <a:ext cx="5772150" cy="2571750"/>
          </a:xfrm>
          <a:prstGeom xmlns:a="http://schemas.openxmlformats.org/drawingml/2006/main" prst="roundRect">
            <a:avLst>
              <a:gd name="adj" fmla="val 3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1430">
            <a:solidFill>
              <a:srgbClr val="7FC4FF"/>
            </a:solidFill>
            <a:prstDash val="solid"/>
          </a:ln>
        </p:spPr>
      </p:sp>
      <p:sp>
        <p:nvSpPr>
          <p:cNvPr id="47" name="">
            <a:extLst xmlns:a="http://schemas.openxmlformats.org/drawingml/2006/main">
              <a:ext uri="{FF2B5EF4-FFF2-40B4-BE49-F238E27FC236}">
                <a16:creationId xmlns:a16="http://schemas.microsoft.com/office/drawing/2014/main" id="{A4672C59-981D-41DC-9739-7FE6AAA6C71A}"/>
              </a:ext>
            </a:extLst>
          </p:cNvPr>
          <p:cNvSpPr>
            <a:spLocks xmlns:a="http://schemas.openxmlformats.org/drawingml/2006/main" noGrp="1"/>
          </p:cNvSpPr>
          <p:nvPr/>
        </p:nvSpPr>
        <p:spPr>
          <a:xfrm xmlns:a="http://schemas.openxmlformats.org/drawingml/2006/main">
            <a:off x="6362700" y="3638550"/>
            <a:ext cx="53530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三、一条超限判定是怎么变成可追溯结论的</a:t>
            </a:r>
          </a:p>
        </p:txBody>
      </p:sp>
      <p:sp>
        <p:nvSpPr>
          <p:cNvPr id="48" name="">
            <a:extLst xmlns:a="http://schemas.openxmlformats.org/drawingml/2006/main">
              <a:ext uri="{FF2B5EF4-FFF2-40B4-BE49-F238E27FC236}">
                <a16:creationId xmlns:a16="http://schemas.microsoft.com/office/drawing/2014/main" id="{01A958D8-B6AA-44A1-BBAB-0B944C44FC9F}"/>
              </a:ext>
            </a:extLst>
          </p:cNvPr>
          <p:cNvSpPr>
            <a:spLocks xmlns:a="http://schemas.openxmlformats.org/drawingml/2006/main" noGrp="1"/>
          </p:cNvSpPr>
          <p:nvPr/>
        </p:nvSpPr>
        <p:spPr>
          <a:xfrm xmlns:a="http://schemas.openxmlformats.org/drawingml/2006/main">
            <a:off x="6362700" y="39814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实测事实</a:t>
            </a:r>
          </a:p>
        </p:txBody>
      </p:sp>
      <p:sp>
        <p:nvSpPr>
          <p:cNvPr id="49" name="">
            <a:extLst xmlns:a="http://schemas.openxmlformats.org/drawingml/2006/main">
              <a:ext uri="{FF2B5EF4-FFF2-40B4-BE49-F238E27FC236}">
                <a16:creationId xmlns:a16="http://schemas.microsoft.com/office/drawing/2014/main" id="{493A741B-1EBD-40F8-86CF-DE6DBBA05D36}"/>
              </a:ext>
            </a:extLst>
          </p:cNvPr>
          <p:cNvSpPr>
            <a:spLocks xmlns:a="http://schemas.openxmlformats.org/drawingml/2006/main" noGrp="1"/>
          </p:cNvSpPr>
          <p:nvPr/>
        </p:nvSpPr>
        <p:spPr>
          <a:xfrm xmlns:a="http://schemas.openxmlformats.org/drawingml/2006/main">
            <a:off x="7372350" y="3943350"/>
            <a:ext cx="4381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110kV </a:t>
            </a:r>
            <a:r>
              <a:rPr sz="900" b="0">
                <a:solidFill>
                  <a:srgbClr val="EEF5FF"/>
                </a:solidFill>
                <a:latin typeface="微软雅黑"/>
                <a:ea typeface="微软雅黑"/>
                <a:cs typeface="微软雅黑"/>
              </a:rPr>
              <a:t>城北变电所 </a:t>
            </a:r>
            <a:r>
              <a:rPr sz="900" b="0">
                <a:solidFill>
                  <a:srgbClr val="EEF5FF"/>
                </a:solidFill>
                <a:latin typeface="微软雅黑"/>
                <a:ea typeface="微软雅黑"/>
                <a:cs typeface="微软雅黑"/>
              </a:rPr>
              <a:t>1 </a:t>
            </a:r>
            <a:r>
              <a:rPr sz="900" b="0">
                <a:solidFill>
                  <a:srgbClr val="EEF5FF"/>
                </a:solidFill>
                <a:latin typeface="微软雅黑"/>
                <a:ea typeface="微软雅黑"/>
                <a:cs typeface="微软雅黑"/>
              </a:rPr>
              <a:t>号检查井，氧气实测 </a:t>
            </a:r>
            <a:r>
              <a:rPr sz="900" b="0">
                <a:solidFill>
                  <a:srgbClr val="EEF5FF"/>
                </a:solidFill>
                <a:latin typeface="微软雅黑"/>
                <a:ea typeface="微软雅黑"/>
                <a:cs typeface="微软雅黑"/>
              </a:rPr>
              <a:t>18.2 %VOL</a:t>
            </a:r>
          </a:p>
        </p:txBody>
      </p:sp>
      <p:sp>
        <p:nvSpPr>
          <p:cNvPr id="50" name="">
            <a:extLst xmlns:a="http://schemas.openxmlformats.org/drawingml/2006/main">
              <a:ext uri="{FF2B5EF4-FFF2-40B4-BE49-F238E27FC236}">
                <a16:creationId xmlns:a16="http://schemas.microsoft.com/office/drawing/2014/main" id="{07A7ACA8-B6D3-4F51-9E11-B777CB2D5976}"/>
              </a:ext>
            </a:extLst>
          </p:cNvPr>
          <p:cNvSpPr>
            <a:spLocks xmlns:a="http://schemas.openxmlformats.org/drawingml/2006/main" noGrp="1"/>
          </p:cNvSpPr>
          <p:nvPr/>
        </p:nvSpPr>
        <p:spPr>
          <a:xfrm xmlns:a="http://schemas.openxmlformats.org/drawingml/2006/main">
            <a:off x="6362700" y="4391025"/>
            <a:ext cx="5391150" cy="9525"/>
          </a:xfrm>
          <a:prstGeom xmlns:a="http://schemas.openxmlformats.org/drawingml/2006/main" prst="rect">
            <a:avLst/>
          </a:prstGeom>
          <a:solidFill xmlns:a="http://schemas.openxmlformats.org/drawingml/2006/main">
            <a:srgbClr val="5FA8E8">
              <a:alpha val="55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1F72EB02-47C2-4701-8DFB-CC45BABB4636}"/>
              </a:ext>
            </a:extLst>
          </p:cNvPr>
          <p:cNvSpPr>
            <a:spLocks xmlns:a="http://schemas.openxmlformats.org/drawingml/2006/main" noGrp="1"/>
          </p:cNvSpPr>
          <p:nvPr/>
        </p:nvSpPr>
        <p:spPr>
          <a:xfrm xmlns:a="http://schemas.openxmlformats.org/drawingml/2006/main">
            <a:off x="6362700" y="44577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比较基准</a:t>
            </a:r>
          </a:p>
        </p:txBody>
      </p:sp>
      <p:sp>
        <p:nvSpPr>
          <p:cNvPr id="52" name="">
            <a:extLst xmlns:a="http://schemas.openxmlformats.org/drawingml/2006/main">
              <a:ext uri="{FF2B5EF4-FFF2-40B4-BE49-F238E27FC236}">
                <a16:creationId xmlns:a16="http://schemas.microsoft.com/office/drawing/2014/main" id="{D8F3E5A0-932A-4374-A391-FAF1111C0A28}"/>
              </a:ext>
            </a:extLst>
          </p:cNvPr>
          <p:cNvSpPr>
            <a:spLocks xmlns:a="http://schemas.openxmlformats.org/drawingml/2006/main" noGrp="1"/>
          </p:cNvSpPr>
          <p:nvPr/>
        </p:nvSpPr>
        <p:spPr>
          <a:xfrm xmlns:a="http://schemas.openxmlformats.org/drawingml/2006/main">
            <a:off x="7372350" y="4419600"/>
            <a:ext cx="4381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系统字典默认阈值 </a:t>
            </a:r>
            <a:r>
              <a:rPr sz="900" b="0">
                <a:solidFill>
                  <a:srgbClr val="EEF5FF"/>
                </a:solidFill>
                <a:latin typeface="微软雅黑"/>
                <a:ea typeface="微软雅黑"/>
                <a:cs typeface="微软雅黑"/>
              </a:rPr>
              <a:t>19.5 %VOL</a:t>
            </a:r>
            <a:r>
              <a:rPr sz="900" b="0">
                <a:solidFill>
                  <a:srgbClr val="EEF5FF"/>
                </a:solidFill>
                <a:latin typeface="微软雅黑"/>
                <a:ea typeface="微软雅黑"/>
                <a:cs typeface="微软雅黑"/>
              </a:rPr>
              <a:t>（缺氧下限），管理员可改库</a:t>
            </a:r>
          </a:p>
        </p:txBody>
      </p:sp>
      <p:sp>
        <p:nvSpPr>
          <p:cNvPr id="53" name="">
            <a:extLst xmlns:a="http://schemas.openxmlformats.org/drawingml/2006/main">
              <a:ext uri="{FF2B5EF4-FFF2-40B4-BE49-F238E27FC236}">
                <a16:creationId xmlns:a16="http://schemas.microsoft.com/office/drawing/2014/main" id="{1A784123-3735-40AF-B7F6-82FFC3B0A4C8}"/>
              </a:ext>
            </a:extLst>
          </p:cNvPr>
          <p:cNvSpPr>
            <a:spLocks xmlns:a="http://schemas.openxmlformats.org/drawingml/2006/main" noGrp="1"/>
          </p:cNvSpPr>
          <p:nvPr/>
        </p:nvSpPr>
        <p:spPr>
          <a:xfrm xmlns:a="http://schemas.openxmlformats.org/drawingml/2006/main">
            <a:off x="6362700" y="4867275"/>
            <a:ext cx="5391150" cy="9525"/>
          </a:xfrm>
          <a:prstGeom xmlns:a="http://schemas.openxmlformats.org/drawingml/2006/main" prst="rect">
            <a:avLst/>
          </a:prstGeom>
          <a:solidFill xmlns:a="http://schemas.openxmlformats.org/drawingml/2006/main">
            <a:srgbClr val="5FA8E8">
              <a:alpha val="55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5AC7130A-63F0-4F20-9649-9A440C626D87}"/>
              </a:ext>
            </a:extLst>
          </p:cNvPr>
          <p:cNvSpPr>
            <a:spLocks xmlns:a="http://schemas.openxmlformats.org/drawingml/2006/main" noGrp="1"/>
          </p:cNvSpPr>
          <p:nvPr/>
        </p:nvSpPr>
        <p:spPr>
          <a:xfrm xmlns:a="http://schemas.openxmlformats.org/drawingml/2006/main">
            <a:off x="6362700" y="49339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系统结论</a:t>
            </a:r>
          </a:p>
        </p:txBody>
      </p:sp>
      <p:sp>
        <p:nvSpPr>
          <p:cNvPr id="55" name="">
            <a:extLst xmlns:a="http://schemas.openxmlformats.org/drawingml/2006/main">
              <a:ext uri="{FF2B5EF4-FFF2-40B4-BE49-F238E27FC236}">
                <a16:creationId xmlns:a16="http://schemas.microsoft.com/office/drawing/2014/main" id="{97540F59-01C8-4C10-A747-09357F76FD98}"/>
              </a:ext>
            </a:extLst>
          </p:cNvPr>
          <p:cNvSpPr>
            <a:spLocks xmlns:a="http://schemas.openxmlformats.org/drawingml/2006/main" noGrp="1"/>
          </p:cNvSpPr>
          <p:nvPr/>
        </p:nvSpPr>
        <p:spPr>
          <a:xfrm xmlns:a="http://schemas.openxmlformats.org/drawingml/2006/main">
            <a:off x="7372350" y="4895850"/>
            <a:ext cx="4381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命中规则 </a:t>
            </a:r>
            <a:r>
              <a:rPr sz="900" b="0">
                <a:solidFill>
                  <a:srgbClr val="EEF5FF"/>
                </a:solidFill>
                <a:latin typeface="微软雅黑"/>
                <a:ea typeface="微软雅黑"/>
                <a:cs typeface="微软雅黑"/>
              </a:rPr>
              <a:t>REPORT_GAS_OVER_MARGIN_MID
</a:t>
            </a:r>
            <a:r>
              <a:rPr sz="900" b="0">
                <a:solidFill>
                  <a:srgbClr val="EEF5FF"/>
                </a:solidFill>
                <a:latin typeface="微软雅黑"/>
                <a:ea typeface="微软雅黑"/>
                <a:cs typeface="微软雅黑"/>
              </a:rPr>
              <a:t>严重度判为「高」，并给出原因与处置措施</a:t>
            </a:r>
          </a:p>
        </p:txBody>
      </p:sp>
      <p:sp>
        <p:nvSpPr>
          <p:cNvPr id="56" name="">
            <a:extLst xmlns:a="http://schemas.openxmlformats.org/drawingml/2006/main">
              <a:ext uri="{FF2B5EF4-FFF2-40B4-BE49-F238E27FC236}">
                <a16:creationId xmlns:a16="http://schemas.microsoft.com/office/drawing/2014/main" id="{DB711F3D-6FA9-4FCB-BF0B-FF982C737655}"/>
              </a:ext>
            </a:extLst>
          </p:cNvPr>
          <p:cNvSpPr>
            <a:spLocks xmlns:a="http://schemas.openxmlformats.org/drawingml/2006/main" noGrp="1"/>
          </p:cNvSpPr>
          <p:nvPr/>
        </p:nvSpPr>
        <p:spPr>
          <a:xfrm xmlns:a="http://schemas.openxmlformats.org/drawingml/2006/main">
            <a:off x="6362700" y="5343525"/>
            <a:ext cx="5391150" cy="9525"/>
          </a:xfrm>
          <a:prstGeom xmlns:a="http://schemas.openxmlformats.org/drawingml/2006/main" prst="rect">
            <a:avLst/>
          </a:prstGeom>
          <a:solidFill xmlns:a="http://schemas.openxmlformats.org/drawingml/2006/main">
            <a:srgbClr val="5FA8E8">
              <a:alpha val="5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855799B3-2C5B-4474-BD79-D647A3E093D2}"/>
              </a:ext>
            </a:extLst>
          </p:cNvPr>
          <p:cNvSpPr>
            <a:spLocks xmlns:a="http://schemas.openxmlformats.org/drawingml/2006/main" noGrp="1"/>
          </p:cNvSpPr>
          <p:nvPr/>
        </p:nvSpPr>
        <p:spPr>
          <a:xfrm xmlns:a="http://schemas.openxmlformats.org/drawingml/2006/main">
            <a:off x="6362700" y="54102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留痕</a:t>
            </a:r>
          </a:p>
        </p:txBody>
      </p:sp>
      <p:sp>
        <p:nvSpPr>
          <p:cNvPr id="58" name="">
            <a:extLst xmlns:a="http://schemas.openxmlformats.org/drawingml/2006/main">
              <a:ext uri="{FF2B5EF4-FFF2-40B4-BE49-F238E27FC236}">
                <a16:creationId xmlns:a16="http://schemas.microsoft.com/office/drawing/2014/main" id="{57440501-5DCC-4AD7-8664-A3CA534F183E}"/>
              </a:ext>
            </a:extLst>
          </p:cNvPr>
          <p:cNvSpPr>
            <a:spLocks xmlns:a="http://schemas.openxmlformats.org/drawingml/2006/main" noGrp="1"/>
          </p:cNvSpPr>
          <p:nvPr/>
        </p:nvSpPr>
        <p:spPr>
          <a:xfrm xmlns:a="http://schemas.openxmlformats.org/drawingml/2006/main">
            <a:off x="7372350" y="5372100"/>
            <a:ext cx="43815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结论回指阈值来源，班组长确认后写入决策留痕，全程可复算</a:t>
            </a:r>
          </a:p>
        </p:txBody>
      </p:sp>
      <p:sp>
        <p:nvSpPr>
          <p:cNvPr id="59" name="">
            <a:extLst xmlns:a="http://schemas.openxmlformats.org/drawingml/2006/main">
              <a:ext uri="{FF2B5EF4-FFF2-40B4-BE49-F238E27FC236}">
                <a16:creationId xmlns:a16="http://schemas.microsoft.com/office/drawing/2014/main" id="{CFC146DF-A809-4B96-A547-CCDE9299E59F}"/>
              </a:ext>
            </a:extLst>
          </p:cNvPr>
          <p:cNvSpPr>
            <a:spLocks xmlns:a="http://schemas.openxmlformats.org/drawingml/2006/main" noGrp="1"/>
          </p:cNvSpPr>
          <p:nvPr/>
        </p:nvSpPr>
        <p:spPr>
          <a:xfrm xmlns:a="http://schemas.openxmlformats.org/drawingml/2006/main">
            <a:off x="285750" y="6153150"/>
            <a:ext cx="116395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口径说明：标准阈值取自上述标准原文，作为系统气体字典默认值；成本参数取自本项目需求测算；现状描述来自项目调研与访谈，未做行业抽样统计。</a:t>
            </a:r>
          </a:p>
        </p:txBody>
      </p:sp>
      <p:sp>
        <p:nvSpPr>
          <p:cNvPr id="60" name="">
            <a:extLst xmlns:a="http://schemas.openxmlformats.org/drawingml/2006/main">
              <a:ext uri="{FF2B5EF4-FFF2-40B4-BE49-F238E27FC236}">
                <a16:creationId xmlns:a16="http://schemas.microsoft.com/office/drawing/2014/main" id="{82E14607-F72D-4A27-BBF7-F75805719C0B}"/>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A52EEF23-D266-4E03-AFD6-11B3DA5C1976}"/>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E1CB8424-3D48-48AD-ADAE-3FAE64B89F73}"/>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3" name="">
            <a:extLst xmlns:a="http://schemas.openxmlformats.org/drawingml/2006/main">
              <a:ext uri="{FF2B5EF4-FFF2-40B4-BE49-F238E27FC236}">
                <a16:creationId xmlns:a16="http://schemas.microsoft.com/office/drawing/2014/main" id="{446F9D1D-4B73-4984-8C79-E6569162280A}"/>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EAB6992B-BB71-46B5-BD80-ADA292167DCC}"/>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04</a:t>
            </a:r>
          </a:p>
        </p:txBody>
      </p:sp>
    </p:spTree>
    <p:extLst>
      <p:ext uri="{BB962C8B-B14F-4D97-AF65-F5344CB8AC3E}">
        <p14:creationId xmlns:p14="http://schemas.microsoft.com/office/powerpoint/2010/main" val="915389913"/>
      </p:ext>
    </p:extLst>
  </p:cSld>
</p:sld>
</file>

<file path=ppt/slides/slide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6fdecb004b9343f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DE4831-F68F-4FB4-A644-DA0FD86B63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D67D74D6-AB21-43D6-9272-9DB99F8A65EC}"/>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2FC57FE2-EB7B-443A-AA4D-084D880E2E9D}"/>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AD3B9C8B-0346-4450-9528-5FC2972D2B0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74B10A82-21C7-4554-AFDB-6F3672CFEEE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F43F9B9F-3866-4BFE-9F88-613B3680A32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CE816174-27C1-4EF1-A7B2-E8709E37136A}"/>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8668500-BCCA-4305-8CCE-F17F95C32329}"/>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4AB67091-6F0F-40D4-8463-A2ABC8975B35}"/>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FA10887A-E46B-47FD-AB4D-9FE4EF6B52F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D958026-9B75-48F9-87F0-B914229560AE}"/>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CD1BE8B-BED9-4999-9705-457C8E4382F2}"/>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2B73E0BB-B18A-42AF-AD0F-5B454A414C8F}"/>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变电运维培训的四本账</a:t>
            </a:r>
          </a:p>
        </p:txBody>
      </p:sp>
      <p:sp>
        <p:nvSpPr>
          <p:cNvPr id="15" name="">
            <a:extLst xmlns:a="http://schemas.openxmlformats.org/drawingml/2006/main">
              <a:ext uri="{FF2B5EF4-FFF2-40B4-BE49-F238E27FC236}">
                <a16:creationId xmlns:a16="http://schemas.microsoft.com/office/drawing/2014/main" id="{15A0DC19-BF21-4733-A08D-43F2AB020564}"/>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729F38D-5598-4F27-A4D9-8063F772F0AB}"/>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BC8820B6-2BAA-478C-AE32-1BA9B99EA3B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5113B4B2-5F24-4741-9E8E-01246135B8B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9A03B4B-7555-4958-ACAD-172FEE58D2CD}"/>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培训成本的大头不是「买系统的钱」，而是「人停下来的时间」和「做无用功的时间」。</a:t>
            </a:r>
          </a:p>
        </p:txBody>
      </p:sp>
      <p:sp>
        <p:nvSpPr>
          <p:cNvPr id="20" name="">
            <a:extLst xmlns:a="http://schemas.openxmlformats.org/drawingml/2006/main">
              <a:ext uri="{FF2B5EF4-FFF2-40B4-BE49-F238E27FC236}">
                <a16:creationId xmlns:a16="http://schemas.microsoft.com/office/drawing/2014/main" id="{83C5E9C0-D3CC-410B-B9D3-F68609990D57}"/>
              </a:ext>
            </a:extLst>
          </p:cNvPr>
          <p:cNvSpPr>
            <a:spLocks xmlns:a="http://schemas.openxmlformats.org/drawingml/2006/main" noGrp="1"/>
          </p:cNvSpPr>
          <p:nvPr/>
        </p:nvSpPr>
        <p:spPr>
          <a:xfrm xmlns:a="http://schemas.openxmlformats.org/drawingml/2006/main">
            <a:off x="2857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FCBF2BC0-28D1-4431-B3E1-4451FDE7C512}"/>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E2C7CAEB-3C13-4417-A2C7-B4DD8F27561B}"/>
              </a:ext>
            </a:extLst>
          </p:cNvPr>
          <p:cNvSpPr>
            <a:spLocks xmlns:a="http://schemas.openxmlformats.org/drawingml/2006/main" noGrp="1"/>
          </p:cNvSpPr>
          <p:nvPr/>
        </p:nvSpPr>
        <p:spPr>
          <a:xfrm xmlns:a="http://schemas.openxmlformats.org/drawingml/2006/main">
            <a:off x="4762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4FD8FF"/>
                </a:solidFill>
                <a:latin typeface="微软雅黑"/>
                <a:ea typeface="微软雅黑"/>
                <a:cs typeface="微软雅黑"/>
              </a:defRPr>
            </a:pPr>
            <a:r>
              <a:rPr sz="1575" b="1">
                <a:solidFill>
                  <a:srgbClr val="4FD8FF"/>
                </a:solidFill>
                <a:latin typeface="微软雅黑"/>
                <a:ea typeface="微软雅黑"/>
                <a:cs typeface="微软雅黑"/>
              </a:rPr>
              <a:t>工时账</a:t>
            </a:r>
          </a:p>
        </p:txBody>
      </p:sp>
      <p:sp>
        <p:nvSpPr>
          <p:cNvPr id="23" name="">
            <a:extLst xmlns:a="http://schemas.openxmlformats.org/drawingml/2006/main">
              <a:ext uri="{FF2B5EF4-FFF2-40B4-BE49-F238E27FC236}">
                <a16:creationId xmlns:a16="http://schemas.microsoft.com/office/drawing/2014/main" id="{6BE73E65-BF22-434B-B607-DAB375504940}"/>
              </a:ext>
            </a:extLst>
          </p:cNvPr>
          <p:cNvSpPr>
            <a:spLocks xmlns:a="http://schemas.openxmlformats.org/drawingml/2006/main" noGrp="1"/>
          </p:cNvSpPr>
          <p:nvPr/>
        </p:nvSpPr>
        <p:spPr>
          <a:xfrm xmlns:a="http://schemas.openxmlformats.org/drawingml/2006/main">
            <a:off x="476250" y="1885950"/>
            <a:ext cx="419100" cy="190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E1DED1E7-4686-40D3-B491-5B7FD571AB88}"/>
              </a:ext>
            </a:extLst>
          </p:cNvPr>
          <p:cNvSpPr>
            <a:spLocks xmlns:a="http://schemas.openxmlformats.org/drawingml/2006/main" noGrp="1"/>
          </p:cNvSpPr>
          <p:nvPr/>
        </p:nvSpPr>
        <p:spPr>
          <a:xfrm xmlns:a="http://schemas.openxmlformats.org/drawingml/2006/main">
            <a:off x="4762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老师傅现场带教占用产能</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集中培训挤占检修窗口</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同一技能被反复重复培训</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复训与补考继续挤占正常排期</a:t>
            </a:r>
          </a:p>
        </p:txBody>
      </p:sp>
      <p:sp>
        <p:nvSpPr>
          <p:cNvPr id="25" name="">
            <a:extLst xmlns:a="http://schemas.openxmlformats.org/drawingml/2006/main">
              <a:ext uri="{FF2B5EF4-FFF2-40B4-BE49-F238E27FC236}">
                <a16:creationId xmlns:a16="http://schemas.microsoft.com/office/drawing/2014/main" id="{398B743D-CA9A-4B78-BFB1-2330F459B69A}"/>
              </a:ext>
            </a:extLst>
          </p:cNvPr>
          <p:cNvSpPr>
            <a:spLocks xmlns:a="http://schemas.openxmlformats.org/drawingml/2006/main" noGrp="1"/>
          </p:cNvSpPr>
          <p:nvPr/>
        </p:nvSpPr>
        <p:spPr>
          <a:xfrm xmlns:a="http://schemas.openxmlformats.org/drawingml/2006/main">
            <a:off x="32194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6" name="">
            <a:extLst xmlns:a="http://schemas.openxmlformats.org/drawingml/2006/main">
              <a:ext uri="{FF2B5EF4-FFF2-40B4-BE49-F238E27FC236}">
                <a16:creationId xmlns:a16="http://schemas.microsoft.com/office/drawing/2014/main" id="{ED4C79AE-483B-43BB-BC48-4C68D3769105}"/>
              </a:ext>
            </a:extLst>
          </p:cNvPr>
          <p:cNvSpPr>
            <a:spLocks xmlns:a="http://schemas.openxmlformats.org/drawingml/2006/main" noGrp="1"/>
          </p:cNvSpPr>
          <p:nvPr/>
        </p:nvSpPr>
        <p:spPr>
          <a:xfrm xmlns:a="http://schemas.openxmlformats.org/drawingml/2006/main">
            <a:off x="3219450" y="1333500"/>
            <a:ext cx="2781300" cy="4762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E6577921-4A84-4DA7-8152-3C80F5829881}"/>
              </a:ext>
            </a:extLst>
          </p:cNvPr>
          <p:cNvSpPr>
            <a:spLocks xmlns:a="http://schemas.openxmlformats.org/drawingml/2006/main" noGrp="1"/>
          </p:cNvSpPr>
          <p:nvPr/>
        </p:nvSpPr>
        <p:spPr>
          <a:xfrm xmlns:a="http://schemas.openxmlformats.org/drawingml/2006/main">
            <a:off x="34099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D24A"/>
                </a:solidFill>
                <a:latin typeface="微软雅黑"/>
                <a:ea typeface="微软雅黑"/>
                <a:cs typeface="微软雅黑"/>
              </a:defRPr>
            </a:pPr>
            <a:r>
              <a:rPr sz="1575" b="1">
                <a:solidFill>
                  <a:srgbClr val="FFD24A"/>
                </a:solidFill>
                <a:latin typeface="微软雅黑"/>
                <a:ea typeface="微软雅黑"/>
                <a:cs typeface="微软雅黑"/>
              </a:rPr>
              <a:t>费用账</a:t>
            </a:r>
          </a:p>
        </p:txBody>
      </p:sp>
      <p:sp>
        <p:nvSpPr>
          <p:cNvPr id="28" name="">
            <a:extLst xmlns:a="http://schemas.openxmlformats.org/drawingml/2006/main">
              <a:ext uri="{FF2B5EF4-FFF2-40B4-BE49-F238E27FC236}">
                <a16:creationId xmlns:a16="http://schemas.microsoft.com/office/drawing/2014/main" id="{76AC300D-C14D-41C5-99FE-477D3FB4F7B4}"/>
              </a:ext>
            </a:extLst>
          </p:cNvPr>
          <p:cNvSpPr>
            <a:spLocks xmlns:a="http://schemas.openxmlformats.org/drawingml/2006/main" noGrp="1"/>
          </p:cNvSpPr>
          <p:nvPr/>
        </p:nvSpPr>
        <p:spPr>
          <a:xfrm xmlns:a="http://schemas.openxmlformats.org/drawingml/2006/main">
            <a:off x="3409950" y="1885950"/>
            <a:ext cx="4191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6D74F721-776B-4D09-980C-6906F2036967}"/>
              </a:ext>
            </a:extLst>
          </p:cNvPr>
          <p:cNvSpPr>
            <a:spLocks xmlns:a="http://schemas.openxmlformats.org/drawingml/2006/main" noGrp="1"/>
          </p:cNvSpPr>
          <p:nvPr/>
        </p:nvSpPr>
        <p:spPr>
          <a:xfrm xmlns:a="http://schemas.openxmlformats.org/drawingml/2006/main">
            <a:off x="34099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内部转岗培训 </a:t>
            </a:r>
            <a:r>
              <a:rPr sz="938">
                <a:solidFill>
                  <a:srgbClr val="EEF5FF"/>
                </a:solidFill>
                <a:latin typeface="微软雅黑"/>
                <a:ea typeface="微软雅黑"/>
                <a:cs typeface="微软雅黑"/>
              </a:rPr>
              <a:t>≈ 2 </a:t>
            </a:r>
            <a:r>
              <a:rPr sz="938">
                <a:solidFill>
                  <a:srgbClr val="EEF5FF"/>
                </a:solidFill>
                <a:latin typeface="微软雅黑"/>
                <a:ea typeface="微软雅黑"/>
                <a:cs typeface="微软雅黑"/>
              </a:rPr>
              <a:t>万元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人</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外部招聘 </a:t>
            </a:r>
            <a:r>
              <a:rPr sz="938">
                <a:solidFill>
                  <a:srgbClr val="EEF5FF"/>
                </a:solidFill>
                <a:latin typeface="微软雅黑"/>
                <a:ea typeface="微软雅黑"/>
                <a:cs typeface="微软雅黑"/>
              </a:rPr>
              <a:t>≈ 8 </a:t>
            </a:r>
            <a:r>
              <a:rPr sz="938">
                <a:solidFill>
                  <a:srgbClr val="EEF5FF"/>
                </a:solidFill>
                <a:latin typeface="微软雅黑"/>
                <a:ea typeface="微软雅黑"/>
                <a:cs typeface="微软雅黑"/>
              </a:rPr>
              <a:t>万元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人</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外委 </a:t>
            </a:r>
            <a:r>
              <a:rPr sz="938">
                <a:solidFill>
                  <a:srgbClr val="EEF5FF"/>
                </a:solidFill>
                <a:latin typeface="微软雅黑"/>
                <a:ea typeface="微软雅黑"/>
                <a:cs typeface="微软雅黑"/>
              </a:rPr>
              <a:t>≈ 1.5 </a:t>
            </a:r>
            <a:r>
              <a:rPr sz="938">
                <a:solidFill>
                  <a:srgbClr val="EEF5FF"/>
                </a:solidFill>
                <a:latin typeface="微软雅黑"/>
                <a:ea typeface="微软雅黑"/>
                <a:cs typeface="微软雅黑"/>
              </a:rPr>
              <a:t>万元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月（</a:t>
            </a:r>
            <a:r>
              <a:rPr sz="938">
                <a:solidFill>
                  <a:srgbClr val="EEF5FF"/>
                </a:solidFill>
                <a:latin typeface="微软雅黑"/>
                <a:ea typeface="微软雅黑"/>
                <a:cs typeface="微软雅黑"/>
              </a:rPr>
              <a:t>≈18 </a:t>
            </a:r>
            <a:r>
              <a:rPr sz="938">
                <a:solidFill>
                  <a:srgbClr val="EEF5FF"/>
                </a:solidFill>
                <a:latin typeface="微软雅黑"/>
                <a:ea typeface="微软雅黑"/>
                <a:cs typeface="微软雅黑"/>
              </a:rPr>
              <a:t>万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年）</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外委随工作量线性增长，不可复利</a:t>
            </a:r>
          </a:p>
        </p:txBody>
      </p:sp>
      <p:sp>
        <p:nvSpPr>
          <p:cNvPr id="30" name="">
            <a:extLst xmlns:a="http://schemas.openxmlformats.org/drawingml/2006/main">
              <a:ext uri="{FF2B5EF4-FFF2-40B4-BE49-F238E27FC236}">
                <a16:creationId xmlns:a16="http://schemas.microsoft.com/office/drawing/2014/main" id="{5C415DF4-6024-4AB5-91F7-B4F6326DDFF1}"/>
              </a:ext>
            </a:extLst>
          </p:cNvPr>
          <p:cNvSpPr>
            <a:spLocks xmlns:a="http://schemas.openxmlformats.org/drawingml/2006/main" noGrp="1"/>
          </p:cNvSpPr>
          <p:nvPr/>
        </p:nvSpPr>
        <p:spPr>
          <a:xfrm xmlns:a="http://schemas.openxmlformats.org/drawingml/2006/main">
            <a:off x="61531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A4157CD8-51E6-4B5C-A2BE-76D4493F7618}"/>
              </a:ext>
            </a:extLst>
          </p:cNvPr>
          <p:cNvSpPr>
            <a:spLocks xmlns:a="http://schemas.openxmlformats.org/drawingml/2006/main" noGrp="1"/>
          </p:cNvSpPr>
          <p:nvPr/>
        </p:nvSpPr>
        <p:spPr>
          <a:xfrm xmlns:a="http://schemas.openxmlformats.org/drawingml/2006/main">
            <a:off x="6153150" y="1333500"/>
            <a:ext cx="2781300" cy="47625"/>
          </a:xfrm>
          <a:prstGeom xmlns:a="http://schemas.openxmlformats.org/drawingml/2006/main" prst="rect">
            <a:avLst/>
          </a:prstGeom>
          <a:solidFill xmlns:a="http://schemas.openxmlformats.org/drawingml/2006/main">
            <a:srgbClr val="FF7A6B"/>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234D0D7B-94AB-4B4B-978A-4C10D67A69BD}"/>
              </a:ext>
            </a:extLst>
          </p:cNvPr>
          <p:cNvSpPr>
            <a:spLocks xmlns:a="http://schemas.openxmlformats.org/drawingml/2006/main" noGrp="1"/>
          </p:cNvSpPr>
          <p:nvPr/>
        </p:nvSpPr>
        <p:spPr>
          <a:xfrm xmlns:a="http://schemas.openxmlformats.org/drawingml/2006/main">
            <a:off x="63436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7A6B"/>
                </a:solidFill>
                <a:latin typeface="微软雅黑"/>
                <a:ea typeface="微软雅黑"/>
                <a:cs typeface="微软雅黑"/>
              </a:defRPr>
            </a:pPr>
            <a:r>
              <a:rPr sz="1575" b="1">
                <a:solidFill>
                  <a:srgbClr val="FF7A6B"/>
                </a:solidFill>
                <a:latin typeface="微软雅黑"/>
                <a:ea typeface="微软雅黑"/>
                <a:cs typeface="微软雅黑"/>
              </a:rPr>
              <a:t>风险账</a:t>
            </a:r>
          </a:p>
        </p:txBody>
      </p:sp>
      <p:sp>
        <p:nvSpPr>
          <p:cNvPr id="33" name="">
            <a:extLst xmlns:a="http://schemas.openxmlformats.org/drawingml/2006/main">
              <a:ext uri="{FF2B5EF4-FFF2-40B4-BE49-F238E27FC236}">
                <a16:creationId xmlns:a16="http://schemas.microsoft.com/office/drawing/2014/main" id="{B98F8AF4-244C-49DA-B2F6-FA45D8DB2A9C}"/>
              </a:ext>
            </a:extLst>
          </p:cNvPr>
          <p:cNvSpPr>
            <a:spLocks xmlns:a="http://schemas.openxmlformats.org/drawingml/2006/main" noGrp="1"/>
          </p:cNvSpPr>
          <p:nvPr/>
        </p:nvSpPr>
        <p:spPr>
          <a:xfrm xmlns:a="http://schemas.openxmlformats.org/drawingml/2006/main">
            <a:off x="6343650" y="1885950"/>
            <a:ext cx="419100" cy="19050"/>
          </a:xfrm>
          <a:prstGeom xmlns:a="http://schemas.openxmlformats.org/drawingml/2006/main" prst="rect">
            <a:avLst/>
          </a:prstGeom>
          <a:solidFill xmlns:a="http://schemas.openxmlformats.org/drawingml/2006/main">
            <a:srgbClr val="FF7A6B"/>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229693F6-3286-4AF1-B8AF-8DC87B376DE3}"/>
              </a:ext>
            </a:extLst>
          </p:cNvPr>
          <p:cNvSpPr>
            <a:spLocks xmlns:a="http://schemas.openxmlformats.org/drawingml/2006/main" noGrp="1"/>
          </p:cNvSpPr>
          <p:nvPr/>
        </p:nvSpPr>
        <p:spPr>
          <a:xfrm xmlns:a="http://schemas.openxmlformats.org/drawingml/2006/main">
            <a:off x="63436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关键岗位备份不足，形成单点依赖</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一人请假即出现能力断点</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风险往往在停线之后才暴露</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继任与轮岗缺少量化依据</a:t>
            </a:r>
          </a:p>
        </p:txBody>
      </p:sp>
      <p:sp>
        <p:nvSpPr>
          <p:cNvPr id="35" name="">
            <a:extLst xmlns:a="http://schemas.openxmlformats.org/drawingml/2006/main">
              <a:ext uri="{FF2B5EF4-FFF2-40B4-BE49-F238E27FC236}">
                <a16:creationId xmlns:a16="http://schemas.microsoft.com/office/drawing/2014/main" id="{E48DDB46-E16E-4F90-9A6A-EE60A5EE8860}"/>
              </a:ext>
            </a:extLst>
          </p:cNvPr>
          <p:cNvSpPr>
            <a:spLocks xmlns:a="http://schemas.openxmlformats.org/drawingml/2006/main" noGrp="1"/>
          </p:cNvSpPr>
          <p:nvPr/>
        </p:nvSpPr>
        <p:spPr>
          <a:xfrm xmlns:a="http://schemas.openxmlformats.org/drawingml/2006/main">
            <a:off x="90868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6" name="">
            <a:extLst xmlns:a="http://schemas.openxmlformats.org/drawingml/2006/main">
              <a:ext uri="{FF2B5EF4-FFF2-40B4-BE49-F238E27FC236}">
                <a16:creationId xmlns:a16="http://schemas.microsoft.com/office/drawing/2014/main" id="{B5A3AB0B-6308-49F8-BB5C-ED79ABE01F63}"/>
              </a:ext>
            </a:extLst>
          </p:cNvPr>
          <p:cNvSpPr>
            <a:spLocks xmlns:a="http://schemas.openxmlformats.org/drawingml/2006/main" noGrp="1"/>
          </p:cNvSpPr>
          <p:nvPr/>
        </p:nvSpPr>
        <p:spPr>
          <a:xfrm xmlns:a="http://schemas.openxmlformats.org/drawingml/2006/main">
            <a:off x="9086850" y="1333500"/>
            <a:ext cx="2781300" cy="47625"/>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72695FDA-BD9A-40E5-83F2-931FF38DF079}"/>
              </a:ext>
            </a:extLst>
          </p:cNvPr>
          <p:cNvSpPr>
            <a:spLocks xmlns:a="http://schemas.openxmlformats.org/drawingml/2006/main" noGrp="1"/>
          </p:cNvSpPr>
          <p:nvPr/>
        </p:nvSpPr>
        <p:spPr>
          <a:xfrm xmlns:a="http://schemas.openxmlformats.org/drawingml/2006/main">
            <a:off x="9277350" y="1504950"/>
            <a:ext cx="23812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5FE3A1"/>
                </a:solidFill>
                <a:latin typeface="微软雅黑"/>
                <a:ea typeface="微软雅黑"/>
                <a:cs typeface="微软雅黑"/>
              </a:defRPr>
            </a:pPr>
            <a:r>
              <a:rPr sz="1575" b="1">
                <a:solidFill>
                  <a:srgbClr val="5FE3A1"/>
                </a:solidFill>
                <a:latin typeface="微软雅黑"/>
                <a:ea typeface="微软雅黑"/>
                <a:cs typeface="微软雅黑"/>
              </a:rPr>
              <a:t>合规账</a:t>
            </a:r>
          </a:p>
        </p:txBody>
      </p:sp>
      <p:sp>
        <p:nvSpPr>
          <p:cNvPr id="38" name="">
            <a:extLst xmlns:a="http://schemas.openxmlformats.org/drawingml/2006/main">
              <a:ext uri="{FF2B5EF4-FFF2-40B4-BE49-F238E27FC236}">
                <a16:creationId xmlns:a16="http://schemas.microsoft.com/office/drawing/2014/main" id="{6A6C9010-E8BA-4E74-A646-39D8D6E79BAB}"/>
              </a:ext>
            </a:extLst>
          </p:cNvPr>
          <p:cNvSpPr>
            <a:spLocks xmlns:a="http://schemas.openxmlformats.org/drawingml/2006/main" noGrp="1"/>
          </p:cNvSpPr>
          <p:nvPr/>
        </p:nvSpPr>
        <p:spPr>
          <a:xfrm xmlns:a="http://schemas.openxmlformats.org/drawingml/2006/main">
            <a:off x="9277350" y="1885950"/>
            <a:ext cx="419100" cy="19050"/>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E1913E1E-1CD5-4C16-A276-2168D2230308}"/>
              </a:ext>
            </a:extLst>
          </p:cNvPr>
          <p:cNvSpPr>
            <a:spLocks xmlns:a="http://schemas.openxmlformats.org/drawingml/2006/main" noGrp="1"/>
          </p:cNvSpPr>
          <p:nvPr/>
        </p:nvSpPr>
        <p:spPr>
          <a:xfrm xmlns:a="http://schemas.openxmlformats.org/drawingml/2006/main">
            <a:off x="9277350" y="2038350"/>
            <a:ext cx="2438400" cy="1600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台账与证书分散在多张 </a:t>
            </a:r>
            <a:r>
              <a:rPr sz="938">
                <a:solidFill>
                  <a:srgbClr val="EEF5FF"/>
                </a:solidFill>
                <a:latin typeface="微软雅黑"/>
                <a:ea typeface="微软雅黑"/>
                <a:cs typeface="微软雅黑"/>
              </a:rPr>
              <a:t>Excel</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到期漏检需临时补材料</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迎检举证成本高、责任难界定</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同一资质在多个系统重复登记</a:t>
            </a:r>
          </a:p>
        </p:txBody>
      </p:sp>
      <p:sp>
        <p:nvSpPr>
          <p:cNvPr id="40" name="">
            <a:extLst xmlns:a="http://schemas.openxmlformats.org/drawingml/2006/main">
              <a:ext uri="{FF2B5EF4-FFF2-40B4-BE49-F238E27FC236}">
                <a16:creationId xmlns:a16="http://schemas.microsoft.com/office/drawing/2014/main" id="{4A23A9F7-B625-4B4D-9EC5-8C5EE2679F96}"/>
              </a:ext>
            </a:extLst>
          </p:cNvPr>
          <p:cNvSpPr>
            <a:spLocks xmlns:a="http://schemas.openxmlformats.org/drawingml/2006/main" noGrp="1"/>
          </p:cNvSpPr>
          <p:nvPr/>
        </p:nvSpPr>
        <p:spPr>
          <a:xfrm xmlns:a="http://schemas.openxmlformats.org/drawingml/2006/main">
            <a:off x="285750" y="3867150"/>
            <a:ext cx="11620500" cy="990600"/>
          </a:xfrm>
          <a:prstGeom xmlns:a="http://schemas.openxmlformats.org/drawingml/2006/main" prst="roundRect">
            <a:avLst>
              <a:gd name="adj" fmla="val 865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57F111D9-883E-4212-AEA8-85D1BDFF92C7}"/>
              </a:ext>
            </a:extLst>
          </p:cNvPr>
          <p:cNvSpPr>
            <a:spLocks xmlns:a="http://schemas.openxmlformats.org/drawingml/2006/main" noGrp="1"/>
          </p:cNvSpPr>
          <p:nvPr/>
        </p:nvSpPr>
        <p:spPr>
          <a:xfrm xmlns:a="http://schemas.openxmlformats.org/drawingml/2006/main">
            <a:off x="495300" y="3952875"/>
            <a:ext cx="8572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需求测算示例：新增 </a:t>
            </a:r>
            <a:r>
              <a:rPr sz="1125" b="1">
                <a:solidFill>
                  <a:srgbClr val="FFD24A"/>
                </a:solidFill>
                <a:latin typeface="微软雅黑"/>
                <a:ea typeface="微软雅黑"/>
                <a:cs typeface="微软雅黑"/>
              </a:rPr>
              <a:t>2 </a:t>
            </a:r>
            <a:r>
              <a:rPr sz="1125" b="1">
                <a:solidFill>
                  <a:srgbClr val="FFD24A"/>
                </a:solidFill>
                <a:latin typeface="微软雅黑"/>
                <a:ea typeface="微软雅黑"/>
                <a:cs typeface="微软雅黑"/>
              </a:rPr>
              <a:t>座 </a:t>
            </a:r>
            <a:r>
              <a:rPr sz="1125" b="1">
                <a:solidFill>
                  <a:srgbClr val="FFD24A"/>
                </a:solidFill>
                <a:latin typeface="微软雅黑"/>
                <a:ea typeface="微软雅黑"/>
                <a:cs typeface="微软雅黑"/>
              </a:rPr>
              <a:t>110kV </a:t>
            </a:r>
            <a:r>
              <a:rPr sz="1125" b="1">
                <a:solidFill>
                  <a:srgbClr val="FFD24A"/>
                </a:solidFill>
                <a:latin typeface="微软雅黑"/>
                <a:ea typeface="微软雅黑"/>
                <a:cs typeface="微软雅黑"/>
              </a:rPr>
              <a:t>变电站，运维工作量预计 </a:t>
            </a:r>
            <a:r>
              <a:rPr sz="1125" b="1">
                <a:solidFill>
                  <a:srgbClr val="FFD24A"/>
                </a:solidFill>
                <a:latin typeface="微软雅黑"/>
                <a:ea typeface="微软雅黑"/>
                <a:cs typeface="微软雅黑"/>
              </a:rPr>
              <a:t>+30%</a:t>
            </a:r>
          </a:p>
        </p:txBody>
      </p:sp>
      <p:sp>
        <p:nvSpPr>
          <p:cNvPr id="42" name="">
            <a:extLst xmlns:a="http://schemas.openxmlformats.org/drawingml/2006/main">
              <a:ext uri="{FF2B5EF4-FFF2-40B4-BE49-F238E27FC236}">
                <a16:creationId xmlns:a16="http://schemas.microsoft.com/office/drawing/2014/main" id="{9624FE3A-8275-48C5-A9C6-88CD9AD97974}"/>
              </a:ext>
            </a:extLst>
          </p:cNvPr>
          <p:cNvSpPr>
            <a:spLocks xmlns:a="http://schemas.openxmlformats.org/drawingml/2006/main" noGrp="1"/>
          </p:cNvSpPr>
          <p:nvPr/>
        </p:nvSpPr>
        <p:spPr>
          <a:xfrm xmlns:a="http://schemas.openxmlformats.org/drawingml/2006/main">
            <a:off x="4953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+30%</a:t>
            </a:r>
          </a:p>
        </p:txBody>
      </p:sp>
      <p:sp>
        <p:nvSpPr>
          <p:cNvPr id="43" name="">
            <a:extLst xmlns:a="http://schemas.openxmlformats.org/drawingml/2006/main">
              <a:ext uri="{FF2B5EF4-FFF2-40B4-BE49-F238E27FC236}">
                <a16:creationId xmlns:a16="http://schemas.microsoft.com/office/drawing/2014/main" id="{7B607BC7-2451-4D41-9290-23C4B8CF01FB}"/>
              </a:ext>
            </a:extLst>
          </p:cNvPr>
          <p:cNvSpPr>
            <a:spLocks xmlns:a="http://schemas.openxmlformats.org/drawingml/2006/main" noGrp="1"/>
          </p:cNvSpPr>
          <p:nvPr/>
        </p:nvSpPr>
        <p:spPr>
          <a:xfrm xmlns:a="http://schemas.openxmlformats.org/drawingml/2006/main">
            <a:off x="4953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运维工作量预计增长</a:t>
            </a:r>
          </a:p>
        </p:txBody>
      </p:sp>
      <p:sp>
        <p:nvSpPr>
          <p:cNvPr id="44" name="">
            <a:extLst xmlns:a="http://schemas.openxmlformats.org/drawingml/2006/main">
              <a:ext uri="{FF2B5EF4-FFF2-40B4-BE49-F238E27FC236}">
                <a16:creationId xmlns:a16="http://schemas.microsoft.com/office/drawing/2014/main" id="{1B56BE28-C3FD-4C37-9102-9C098034FC3A}"/>
              </a:ext>
            </a:extLst>
          </p:cNvPr>
          <p:cNvSpPr>
            <a:spLocks xmlns:a="http://schemas.openxmlformats.org/drawingml/2006/main" noGrp="1"/>
          </p:cNvSpPr>
          <p:nvPr/>
        </p:nvSpPr>
        <p:spPr>
          <a:xfrm xmlns:a="http://schemas.openxmlformats.org/drawingml/2006/main">
            <a:off x="33528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12 / 8</a:t>
            </a:r>
          </a:p>
        </p:txBody>
      </p:sp>
      <p:sp>
        <p:nvSpPr>
          <p:cNvPr id="45" name="">
            <a:extLst xmlns:a="http://schemas.openxmlformats.org/drawingml/2006/main">
              <a:ext uri="{FF2B5EF4-FFF2-40B4-BE49-F238E27FC236}">
                <a16:creationId xmlns:a16="http://schemas.microsoft.com/office/drawing/2014/main" id="{9FD62648-F165-4211-835C-688A6AA4B7C9}"/>
              </a:ext>
            </a:extLst>
          </p:cNvPr>
          <p:cNvSpPr>
            <a:spLocks xmlns:a="http://schemas.openxmlformats.org/drawingml/2006/main" noGrp="1"/>
          </p:cNvSpPr>
          <p:nvPr/>
        </p:nvSpPr>
        <p:spPr>
          <a:xfrm xmlns:a="http://schemas.openxmlformats.org/drawingml/2006/main">
            <a:off x="33528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继保 </a:t>
            </a:r>
            <a:r>
              <a:rPr sz="900" b="0">
                <a:solidFill>
                  <a:srgbClr val="C6DDFF"/>
                </a:solidFill>
                <a:latin typeface="微软雅黑"/>
                <a:ea typeface="微软雅黑"/>
                <a:cs typeface="微软雅黑"/>
              </a:rPr>
              <a:t>L3 </a:t>
            </a:r>
            <a:r>
              <a:rPr sz="900" b="0">
                <a:solidFill>
                  <a:srgbClr val="C6DDFF"/>
                </a:solidFill>
                <a:latin typeface="微软雅黑"/>
                <a:ea typeface="微软雅黑"/>
                <a:cs typeface="微软雅黑"/>
              </a:rPr>
              <a:t>需求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现有</a:t>
            </a:r>
          </a:p>
        </p:txBody>
      </p:sp>
      <p:sp>
        <p:nvSpPr>
          <p:cNvPr id="46" name="">
            <a:extLst xmlns:a="http://schemas.openxmlformats.org/drawingml/2006/main">
              <a:ext uri="{FF2B5EF4-FFF2-40B4-BE49-F238E27FC236}">
                <a16:creationId xmlns:a16="http://schemas.microsoft.com/office/drawing/2014/main" id="{38BBFD4F-AF51-4191-86C9-CFC60B394086}"/>
              </a:ext>
            </a:extLst>
          </p:cNvPr>
          <p:cNvSpPr>
            <a:spLocks xmlns:a="http://schemas.openxmlformats.org/drawingml/2006/main" noGrp="1"/>
          </p:cNvSpPr>
          <p:nvPr/>
        </p:nvSpPr>
        <p:spPr>
          <a:xfrm xmlns:a="http://schemas.openxmlformats.org/drawingml/2006/main">
            <a:off x="62103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6 / 3</a:t>
            </a:r>
          </a:p>
        </p:txBody>
      </p:sp>
      <p:sp>
        <p:nvSpPr>
          <p:cNvPr id="47" name="">
            <a:extLst xmlns:a="http://schemas.openxmlformats.org/drawingml/2006/main">
              <a:ext uri="{FF2B5EF4-FFF2-40B4-BE49-F238E27FC236}">
                <a16:creationId xmlns:a16="http://schemas.microsoft.com/office/drawing/2014/main" id="{45D83A9E-413D-4351-8D15-0DE9B508D461}"/>
              </a:ext>
            </a:extLst>
          </p:cNvPr>
          <p:cNvSpPr>
            <a:spLocks xmlns:a="http://schemas.openxmlformats.org/drawingml/2006/main" noGrp="1"/>
          </p:cNvSpPr>
          <p:nvPr/>
        </p:nvSpPr>
        <p:spPr>
          <a:xfrm xmlns:a="http://schemas.openxmlformats.org/drawingml/2006/main">
            <a:off x="62103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高压试验需求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现有</a:t>
            </a:r>
          </a:p>
        </p:txBody>
      </p:sp>
      <p:sp>
        <p:nvSpPr>
          <p:cNvPr id="48" name="">
            <a:extLst xmlns:a="http://schemas.openxmlformats.org/drawingml/2006/main">
              <a:ext uri="{FF2B5EF4-FFF2-40B4-BE49-F238E27FC236}">
                <a16:creationId xmlns:a16="http://schemas.microsoft.com/office/drawing/2014/main" id="{6687360D-9DC2-47FB-AEB4-953EC0749FFF}"/>
              </a:ext>
            </a:extLst>
          </p:cNvPr>
          <p:cNvSpPr>
            <a:spLocks xmlns:a="http://schemas.openxmlformats.org/drawingml/2006/main" noGrp="1"/>
          </p:cNvSpPr>
          <p:nvPr/>
        </p:nvSpPr>
        <p:spPr>
          <a:xfrm xmlns:a="http://schemas.openxmlformats.org/drawingml/2006/main">
            <a:off x="9067800" y="4210050"/>
            <a:ext cx="26670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2 · 8 · 1.5</a:t>
            </a:r>
          </a:p>
        </p:txBody>
      </p:sp>
      <p:sp>
        <p:nvSpPr>
          <p:cNvPr id="49" name="">
            <a:extLst xmlns:a="http://schemas.openxmlformats.org/drawingml/2006/main">
              <a:ext uri="{FF2B5EF4-FFF2-40B4-BE49-F238E27FC236}">
                <a16:creationId xmlns:a16="http://schemas.microsoft.com/office/drawing/2014/main" id="{A470A0C0-3E53-4DB2-8205-A4DB4DAD4A13}"/>
              </a:ext>
            </a:extLst>
          </p:cNvPr>
          <p:cNvSpPr>
            <a:spLocks xmlns:a="http://schemas.openxmlformats.org/drawingml/2006/main" noGrp="1"/>
          </p:cNvSpPr>
          <p:nvPr/>
        </p:nvSpPr>
        <p:spPr>
          <a:xfrm xmlns:a="http://schemas.openxmlformats.org/drawingml/2006/main">
            <a:off x="9067800" y="4572000"/>
            <a:ext cx="2667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转岗万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招聘万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外委万</a:t>
            </a:r>
            <a:r>
              <a:rPr sz="900" b="0">
                <a:solidFill>
                  <a:srgbClr val="C6DDFF"/>
                </a:solidFill>
                <a:latin typeface="微软雅黑"/>
                <a:ea typeface="微软雅黑"/>
                <a:cs typeface="微软雅黑"/>
              </a:rPr>
              <a:t>·</a:t>
            </a:r>
            <a:r>
              <a:rPr sz="900" b="0">
                <a:solidFill>
                  <a:srgbClr val="C6DDFF"/>
                </a:solidFill>
                <a:latin typeface="微软雅黑"/>
                <a:ea typeface="微软雅黑"/>
                <a:cs typeface="微软雅黑"/>
              </a:rPr>
              <a:t>月</a:t>
            </a:r>
          </a:p>
        </p:txBody>
      </p:sp>
      <p:sp>
        <p:nvSpPr>
          <p:cNvPr id="50" name="">
            <a:extLst xmlns:a="http://schemas.openxmlformats.org/drawingml/2006/main">
              <a:ext uri="{FF2B5EF4-FFF2-40B4-BE49-F238E27FC236}">
                <a16:creationId xmlns:a16="http://schemas.microsoft.com/office/drawing/2014/main" id="{FAF2ACFB-BF6F-4DF0-A33A-A1BFD9E4719D}"/>
              </a:ext>
            </a:extLst>
          </p:cNvPr>
          <p:cNvSpPr>
            <a:spLocks xmlns:a="http://schemas.openxmlformats.org/drawingml/2006/main" noGrp="1"/>
          </p:cNvSpPr>
          <p:nvPr/>
        </p:nvSpPr>
        <p:spPr>
          <a:xfrm xmlns:a="http://schemas.openxmlformats.org/drawingml/2006/main">
            <a:off x="2857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4FD8FF"/>
            </a:solidFill>
            <a:prstDash val="solid"/>
          </a:ln>
        </p:spPr>
      </p:sp>
      <p:sp>
        <p:nvSpPr>
          <p:cNvPr id="51" name="">
            <a:extLst xmlns:a="http://schemas.openxmlformats.org/drawingml/2006/main">
              <a:ext uri="{FF2B5EF4-FFF2-40B4-BE49-F238E27FC236}">
                <a16:creationId xmlns:a16="http://schemas.microsoft.com/office/drawing/2014/main" id="{9AC85EF0-B20E-40C8-8CEE-C0079A974A7D}"/>
              </a:ext>
            </a:extLst>
          </p:cNvPr>
          <p:cNvSpPr>
            <a:spLocks xmlns:a="http://schemas.openxmlformats.org/drawingml/2006/main" noGrp="1"/>
          </p:cNvSpPr>
          <p:nvPr/>
        </p:nvSpPr>
        <p:spPr>
          <a:xfrm xmlns:a="http://schemas.openxmlformats.org/drawingml/2006/main">
            <a:off x="4572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4FD8FF"/>
                </a:solidFill>
                <a:latin typeface="微软雅黑"/>
                <a:ea typeface="微软雅黑"/>
                <a:cs typeface="微软雅黑"/>
              </a:defRPr>
            </a:pPr>
            <a:r>
              <a:rPr sz="975" b="1">
                <a:solidFill>
                  <a:srgbClr val="4FD8FF"/>
                </a:solidFill>
                <a:latin typeface="微软雅黑"/>
                <a:ea typeface="微软雅黑"/>
                <a:cs typeface="微软雅黑"/>
              </a:rPr>
              <a:t>工时账 </a:t>
            </a:r>
            <a:r>
              <a:rPr sz="975" b="1">
                <a:solidFill>
                  <a:srgbClr val="4FD8FF"/>
                </a:solidFill>
                <a:latin typeface="微软雅黑"/>
                <a:ea typeface="微软雅黑"/>
                <a:cs typeface="微软雅黑"/>
              </a:rPr>
              <a:t>· </a:t>
            </a:r>
            <a:r>
              <a:rPr sz="975" b="1">
                <a:solidFill>
                  <a:srgbClr val="4FD8FF"/>
                </a:solidFill>
                <a:latin typeface="微软雅黑"/>
                <a:ea typeface="微软雅黑"/>
                <a:cs typeface="微软雅黑"/>
              </a:rPr>
              <a:t>核算口径</a:t>
            </a:r>
          </a:p>
        </p:txBody>
      </p:sp>
      <p:sp>
        <p:nvSpPr>
          <p:cNvPr id="52" name="">
            <a:extLst xmlns:a="http://schemas.openxmlformats.org/drawingml/2006/main">
              <a:ext uri="{FF2B5EF4-FFF2-40B4-BE49-F238E27FC236}">
                <a16:creationId xmlns:a16="http://schemas.microsoft.com/office/drawing/2014/main" id="{5C8E61A6-6A29-4478-9455-08C958FA070B}"/>
              </a:ext>
            </a:extLst>
          </p:cNvPr>
          <p:cNvSpPr>
            <a:spLocks xmlns:a="http://schemas.openxmlformats.org/drawingml/2006/main" noGrp="1"/>
          </p:cNvSpPr>
          <p:nvPr/>
        </p:nvSpPr>
        <p:spPr>
          <a:xfrm xmlns:a="http://schemas.openxmlformats.org/drawingml/2006/main">
            <a:off x="4572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人均年培训工时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参训人数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人工时成本</a:t>
            </a:r>
          </a:p>
        </p:txBody>
      </p:sp>
      <p:sp>
        <p:nvSpPr>
          <p:cNvPr id="53" name="">
            <a:extLst xmlns:a="http://schemas.openxmlformats.org/drawingml/2006/main">
              <a:ext uri="{FF2B5EF4-FFF2-40B4-BE49-F238E27FC236}">
                <a16:creationId xmlns:a16="http://schemas.microsoft.com/office/drawing/2014/main" id="{9D03ADFC-9770-450F-8343-15430C1E75B6}"/>
              </a:ext>
            </a:extLst>
          </p:cNvPr>
          <p:cNvSpPr>
            <a:spLocks xmlns:a="http://schemas.openxmlformats.org/drawingml/2006/main" noGrp="1"/>
          </p:cNvSpPr>
          <p:nvPr/>
        </p:nvSpPr>
        <p:spPr>
          <a:xfrm xmlns:a="http://schemas.openxmlformats.org/drawingml/2006/main">
            <a:off x="32194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FFD24A"/>
            </a:solidFill>
            <a:prstDash val="solid"/>
          </a:ln>
        </p:spPr>
      </p:sp>
      <p:sp>
        <p:nvSpPr>
          <p:cNvPr id="54" name="">
            <a:extLst xmlns:a="http://schemas.openxmlformats.org/drawingml/2006/main">
              <a:ext uri="{FF2B5EF4-FFF2-40B4-BE49-F238E27FC236}">
                <a16:creationId xmlns:a16="http://schemas.microsoft.com/office/drawing/2014/main" id="{DAE51DB8-E403-4627-9EE2-3F15F436B293}"/>
              </a:ext>
            </a:extLst>
          </p:cNvPr>
          <p:cNvSpPr>
            <a:spLocks xmlns:a="http://schemas.openxmlformats.org/drawingml/2006/main" noGrp="1"/>
          </p:cNvSpPr>
          <p:nvPr/>
        </p:nvSpPr>
        <p:spPr>
          <a:xfrm xmlns:a="http://schemas.openxmlformats.org/drawingml/2006/main">
            <a:off x="33909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FD24A"/>
                </a:solidFill>
                <a:latin typeface="微软雅黑"/>
                <a:ea typeface="微软雅黑"/>
                <a:cs typeface="微软雅黑"/>
              </a:defRPr>
            </a:pPr>
            <a:r>
              <a:rPr sz="975" b="1">
                <a:solidFill>
                  <a:srgbClr val="FFD24A"/>
                </a:solidFill>
                <a:latin typeface="微软雅黑"/>
                <a:ea typeface="微软雅黑"/>
                <a:cs typeface="微软雅黑"/>
              </a:rPr>
              <a:t>费用账 </a:t>
            </a:r>
            <a:r>
              <a:rPr sz="975" b="1">
                <a:solidFill>
                  <a:srgbClr val="FFD24A"/>
                </a:solidFill>
                <a:latin typeface="微软雅黑"/>
                <a:ea typeface="微软雅黑"/>
                <a:cs typeface="微软雅黑"/>
              </a:rPr>
              <a:t>· </a:t>
            </a:r>
            <a:r>
              <a:rPr sz="975" b="1">
                <a:solidFill>
                  <a:srgbClr val="FFD24A"/>
                </a:solidFill>
                <a:latin typeface="微软雅黑"/>
                <a:ea typeface="微软雅黑"/>
                <a:cs typeface="微软雅黑"/>
              </a:rPr>
              <a:t>核算口径</a:t>
            </a:r>
          </a:p>
        </p:txBody>
      </p:sp>
      <p:sp>
        <p:nvSpPr>
          <p:cNvPr id="55" name="">
            <a:extLst xmlns:a="http://schemas.openxmlformats.org/drawingml/2006/main">
              <a:ext uri="{FF2B5EF4-FFF2-40B4-BE49-F238E27FC236}">
                <a16:creationId xmlns:a16="http://schemas.microsoft.com/office/drawing/2014/main" id="{D7F4409A-EB7B-4D3A-BDCC-6636BCC3D2DE}"/>
              </a:ext>
            </a:extLst>
          </p:cNvPr>
          <p:cNvSpPr>
            <a:spLocks xmlns:a="http://schemas.openxmlformats.org/drawingml/2006/main" noGrp="1"/>
          </p:cNvSpPr>
          <p:nvPr/>
        </p:nvSpPr>
        <p:spPr>
          <a:xfrm xmlns:a="http://schemas.openxmlformats.org/drawingml/2006/main">
            <a:off x="33909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转岗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招聘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外委单价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实际人数（外委按月计）</a:t>
            </a:r>
          </a:p>
        </p:txBody>
      </p:sp>
      <p:sp>
        <p:nvSpPr>
          <p:cNvPr id="56" name="">
            <a:extLst xmlns:a="http://schemas.openxmlformats.org/drawingml/2006/main">
              <a:ext uri="{FF2B5EF4-FFF2-40B4-BE49-F238E27FC236}">
                <a16:creationId xmlns:a16="http://schemas.microsoft.com/office/drawing/2014/main" id="{1A6F7E7C-0B3B-454C-A276-746A2698D81B}"/>
              </a:ext>
            </a:extLst>
          </p:cNvPr>
          <p:cNvSpPr>
            <a:spLocks xmlns:a="http://schemas.openxmlformats.org/drawingml/2006/main" noGrp="1"/>
          </p:cNvSpPr>
          <p:nvPr/>
        </p:nvSpPr>
        <p:spPr>
          <a:xfrm xmlns:a="http://schemas.openxmlformats.org/drawingml/2006/main">
            <a:off x="61531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FF7A6B"/>
            </a:solidFill>
            <a:prstDash val="solid"/>
          </a:ln>
        </p:spPr>
      </p:sp>
      <p:sp>
        <p:nvSpPr>
          <p:cNvPr id="57" name="">
            <a:extLst xmlns:a="http://schemas.openxmlformats.org/drawingml/2006/main">
              <a:ext uri="{FF2B5EF4-FFF2-40B4-BE49-F238E27FC236}">
                <a16:creationId xmlns:a16="http://schemas.microsoft.com/office/drawing/2014/main" id="{5C7957AA-5BB6-4D9B-B227-DFA9F57D1F99}"/>
              </a:ext>
            </a:extLst>
          </p:cNvPr>
          <p:cNvSpPr>
            <a:spLocks xmlns:a="http://schemas.openxmlformats.org/drawingml/2006/main" noGrp="1"/>
          </p:cNvSpPr>
          <p:nvPr/>
        </p:nvSpPr>
        <p:spPr>
          <a:xfrm xmlns:a="http://schemas.openxmlformats.org/drawingml/2006/main">
            <a:off x="63246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F7A6B"/>
                </a:solidFill>
                <a:latin typeface="微软雅黑"/>
                <a:ea typeface="微软雅黑"/>
                <a:cs typeface="微软雅黑"/>
              </a:defRPr>
            </a:pPr>
            <a:r>
              <a:rPr sz="975" b="1">
                <a:solidFill>
                  <a:srgbClr val="FF7A6B"/>
                </a:solidFill>
                <a:latin typeface="微软雅黑"/>
                <a:ea typeface="微软雅黑"/>
                <a:cs typeface="微软雅黑"/>
              </a:rPr>
              <a:t>风险账 </a:t>
            </a:r>
            <a:r>
              <a:rPr sz="975" b="1">
                <a:solidFill>
                  <a:srgbClr val="FF7A6B"/>
                </a:solidFill>
                <a:latin typeface="微软雅黑"/>
                <a:ea typeface="微软雅黑"/>
                <a:cs typeface="微软雅黑"/>
              </a:rPr>
              <a:t>· </a:t>
            </a:r>
            <a:r>
              <a:rPr sz="975" b="1">
                <a:solidFill>
                  <a:srgbClr val="FF7A6B"/>
                </a:solidFill>
                <a:latin typeface="微软雅黑"/>
                <a:ea typeface="微软雅黑"/>
                <a:cs typeface="微软雅黑"/>
              </a:rPr>
              <a:t>核算口径</a:t>
            </a:r>
          </a:p>
        </p:txBody>
      </p:sp>
      <p:sp>
        <p:nvSpPr>
          <p:cNvPr id="58" name="">
            <a:extLst xmlns:a="http://schemas.openxmlformats.org/drawingml/2006/main">
              <a:ext uri="{FF2B5EF4-FFF2-40B4-BE49-F238E27FC236}">
                <a16:creationId xmlns:a16="http://schemas.microsoft.com/office/drawing/2014/main" id="{E8FA98FD-EB49-443D-BE89-29F4CDD2E7BC}"/>
              </a:ext>
            </a:extLst>
          </p:cNvPr>
          <p:cNvSpPr>
            <a:spLocks xmlns:a="http://schemas.openxmlformats.org/drawingml/2006/main" noGrp="1"/>
          </p:cNvSpPr>
          <p:nvPr/>
        </p:nvSpPr>
        <p:spPr>
          <a:xfrm xmlns:a="http://schemas.openxmlformats.org/drawingml/2006/main">
            <a:off x="63246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关键岗位备份人数 </a:t>
            </a:r>
            <a:r>
              <a:rPr sz="900" b="0">
                <a:solidFill>
                  <a:srgbClr val="EEF5FF"/>
                </a:solidFill>
                <a:latin typeface="微软雅黑"/>
                <a:ea typeface="微软雅黑"/>
                <a:cs typeface="微软雅黑"/>
              </a:rPr>
              <a:t>&lt; 2 </a:t>
            </a:r>
            <a:r>
              <a:rPr sz="900" b="0">
                <a:solidFill>
                  <a:srgbClr val="EEF5FF"/>
                </a:solidFill>
                <a:latin typeface="微软雅黑"/>
                <a:ea typeface="微软雅黑"/>
                <a:cs typeface="微软雅黑"/>
              </a:rPr>
              <a:t>即预警，按岗位逐个核</a:t>
            </a:r>
          </a:p>
        </p:txBody>
      </p:sp>
      <p:sp>
        <p:nvSpPr>
          <p:cNvPr id="59" name="">
            <a:extLst xmlns:a="http://schemas.openxmlformats.org/drawingml/2006/main">
              <a:ext uri="{FF2B5EF4-FFF2-40B4-BE49-F238E27FC236}">
                <a16:creationId xmlns:a16="http://schemas.microsoft.com/office/drawing/2014/main" id="{7A15F525-1B74-4136-90F6-C9A72D429C83}"/>
              </a:ext>
            </a:extLst>
          </p:cNvPr>
          <p:cNvSpPr>
            <a:spLocks xmlns:a="http://schemas.openxmlformats.org/drawingml/2006/main" noGrp="1"/>
          </p:cNvSpPr>
          <p:nvPr/>
        </p:nvSpPr>
        <p:spPr>
          <a:xfrm xmlns:a="http://schemas.openxmlformats.org/drawingml/2006/main">
            <a:off x="90868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5FE3A1"/>
            </a:solidFill>
            <a:prstDash val="solid"/>
          </a:ln>
        </p:spPr>
      </p:sp>
      <p:sp>
        <p:nvSpPr>
          <p:cNvPr id="60" name="">
            <a:extLst xmlns:a="http://schemas.openxmlformats.org/drawingml/2006/main">
              <a:ext uri="{FF2B5EF4-FFF2-40B4-BE49-F238E27FC236}">
                <a16:creationId xmlns:a16="http://schemas.microsoft.com/office/drawing/2014/main" id="{EE5AEF18-F81F-47E4-B170-F0BCF01C06AA}"/>
              </a:ext>
            </a:extLst>
          </p:cNvPr>
          <p:cNvSpPr>
            <a:spLocks xmlns:a="http://schemas.openxmlformats.org/drawingml/2006/main" noGrp="1"/>
          </p:cNvSpPr>
          <p:nvPr/>
        </p:nvSpPr>
        <p:spPr>
          <a:xfrm xmlns:a="http://schemas.openxmlformats.org/drawingml/2006/main">
            <a:off x="9258300" y="5257800"/>
            <a:ext cx="24574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5FE3A1"/>
                </a:solidFill>
                <a:latin typeface="微软雅黑"/>
                <a:ea typeface="微软雅黑"/>
                <a:cs typeface="微软雅黑"/>
              </a:defRPr>
            </a:pPr>
            <a:r>
              <a:rPr sz="975" b="1">
                <a:solidFill>
                  <a:srgbClr val="5FE3A1"/>
                </a:solidFill>
                <a:latin typeface="微软雅黑"/>
                <a:ea typeface="微软雅黑"/>
                <a:cs typeface="微软雅黑"/>
              </a:rPr>
              <a:t>合规账 </a:t>
            </a:r>
            <a:r>
              <a:rPr sz="975" b="1">
                <a:solidFill>
                  <a:srgbClr val="5FE3A1"/>
                </a:solidFill>
                <a:latin typeface="微软雅黑"/>
                <a:ea typeface="微软雅黑"/>
                <a:cs typeface="微软雅黑"/>
              </a:rPr>
              <a:t>· </a:t>
            </a:r>
            <a:r>
              <a:rPr sz="975" b="1">
                <a:solidFill>
                  <a:srgbClr val="5FE3A1"/>
                </a:solidFill>
                <a:latin typeface="微软雅黑"/>
                <a:ea typeface="微软雅黑"/>
                <a:cs typeface="微软雅黑"/>
              </a:rPr>
              <a:t>核算口径</a:t>
            </a:r>
          </a:p>
        </p:txBody>
      </p:sp>
      <p:sp>
        <p:nvSpPr>
          <p:cNvPr id="61" name="">
            <a:extLst xmlns:a="http://schemas.openxmlformats.org/drawingml/2006/main">
              <a:ext uri="{FF2B5EF4-FFF2-40B4-BE49-F238E27FC236}">
                <a16:creationId xmlns:a16="http://schemas.microsoft.com/office/drawing/2014/main" id="{26D76D61-8A07-4712-928F-FAE16F6F91F2}"/>
              </a:ext>
            </a:extLst>
          </p:cNvPr>
          <p:cNvSpPr>
            <a:spLocks xmlns:a="http://schemas.openxmlformats.org/drawingml/2006/main" noGrp="1"/>
          </p:cNvSpPr>
          <p:nvPr/>
        </p:nvSpPr>
        <p:spPr>
          <a:xfrm xmlns:a="http://schemas.openxmlformats.org/drawingml/2006/main">
            <a:off x="9258300" y="5543550"/>
            <a:ext cx="2476500" cy="800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证书有效期与台账一键导出，错漏数可复核</a:t>
            </a:r>
          </a:p>
        </p:txBody>
      </p:sp>
      <p:sp>
        <p:nvSpPr>
          <p:cNvPr id="62" name="">
            <a:extLst xmlns:a="http://schemas.openxmlformats.org/drawingml/2006/main">
              <a:ext uri="{FF2B5EF4-FFF2-40B4-BE49-F238E27FC236}">
                <a16:creationId xmlns:a16="http://schemas.microsoft.com/office/drawing/2014/main" id="{B10AB9CF-714B-483A-93F3-6F22FE3F0E1C}"/>
              </a:ext>
            </a:extLst>
          </p:cNvPr>
          <p:cNvSpPr>
            <a:spLocks xmlns:a="http://schemas.openxmlformats.org/drawingml/2006/main" noGrp="1"/>
          </p:cNvSpPr>
          <p:nvPr/>
        </p:nvSpPr>
        <p:spPr>
          <a:xfrm xmlns:a="http://schemas.openxmlformats.org/drawingml/2006/main">
            <a:off x="285750" y="4924425"/>
            <a:ext cx="11620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5FE3A1"/>
                </a:solidFill>
                <a:latin typeface="微软雅黑"/>
                <a:ea typeface="微软雅黑"/>
                <a:cs typeface="微软雅黑"/>
              </a:defRPr>
            </a:pPr>
            <a:r>
              <a:rPr sz="1013" b="1">
                <a:solidFill>
                  <a:srgbClr val="5FE3A1"/>
                </a:solidFill>
                <a:latin typeface="微软雅黑"/>
                <a:ea typeface="微软雅黑"/>
                <a:cs typeface="微软雅黑"/>
              </a:rPr>
              <a:t>四本账落到可核算的口径上（口径来源见表注，全部可复算）</a:t>
            </a:r>
          </a:p>
        </p:txBody>
      </p:sp>
      <p:sp>
        <p:nvSpPr>
          <p:cNvPr id="63" name="">
            <a:extLst xmlns:a="http://schemas.openxmlformats.org/drawingml/2006/main">
              <a:ext uri="{FF2B5EF4-FFF2-40B4-BE49-F238E27FC236}">
                <a16:creationId xmlns:a16="http://schemas.microsoft.com/office/drawing/2014/main" id="{B1434609-70F2-404D-94AB-B745EAF67DED}"/>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75E0E763-1E2C-4EEC-A7CE-84776AD592B1}"/>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F711BB45-6132-4D8B-9441-145A97051511}"/>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6" name="">
            <a:extLst xmlns:a="http://schemas.openxmlformats.org/drawingml/2006/main">
              <a:ext uri="{FF2B5EF4-FFF2-40B4-BE49-F238E27FC236}">
                <a16:creationId xmlns:a16="http://schemas.microsoft.com/office/drawing/2014/main" id="{36EA1203-0773-4415-B350-4D6C175A8724}"/>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4D092F34-5665-4D73-A061-2E06C6305493}"/>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05</a:t>
            </a:r>
          </a:p>
        </p:txBody>
      </p:sp>
    </p:spTree>
    <p:extLst>
      <p:ext uri="{BB962C8B-B14F-4D97-AF65-F5344CB8AC3E}">
        <p14:creationId xmlns:p14="http://schemas.microsoft.com/office/powerpoint/2010/main" val="1005139490"/>
      </p:ext>
    </p:extLst>
  </p:cSld>
</p:sld>
</file>

<file path=ppt/slides/slide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94864cc495f466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A516068-05EB-4C8C-A2D6-69714A411F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D0D757B5-88BB-4C38-B23D-9331AFCF6E51}"/>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5D3F8B0A-37EF-4DDF-BCFA-868A84AC70BF}"/>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22EBAE91-5D39-4160-A351-547242CCF5AF}"/>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CFA27C1-6600-4DB9-8692-79A78C29506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15D5E6EF-110C-4E7E-B1F2-51750DB9FA86}"/>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3788637D-3501-470B-938E-F84BCEE7BD1F}"/>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18972DCD-C462-41E0-878D-6BCDE09F0F02}"/>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8FF13E33-4C5C-4802-AC5E-D2A0CDFE56A0}"/>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9091A701-52BC-43C5-8121-E5C2CE505ADB}"/>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1891F21A-3C40-4714-AC18-E0F39A76DDA6}"/>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BFA8F401-CE45-4E6B-A9E8-F78433C32074}"/>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DE98ACAD-34AF-451D-B5CD-EEC5ECB9F1E9}"/>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典型行业场景</a:t>
            </a:r>
          </a:p>
        </p:txBody>
      </p:sp>
      <p:sp>
        <p:nvSpPr>
          <p:cNvPr id="15" name="">
            <a:extLst xmlns:a="http://schemas.openxmlformats.org/drawingml/2006/main">
              <a:ext uri="{FF2B5EF4-FFF2-40B4-BE49-F238E27FC236}">
                <a16:creationId xmlns:a16="http://schemas.microsoft.com/office/drawing/2014/main" id="{C1190505-017C-4115-82C9-339D0236646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88D8D730-8289-4AF6-B11E-AB52E6E2D250}"/>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4967C6DA-AAF2-4C91-9CDC-B9545B72491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65264298-4FE4-427D-801B-9B69FC4BB9B4}"/>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2C31292-035B-4ACE-835B-CB5521A1B85F}"/>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三类场景的共同点是</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「人的能力数据」不在系统里，所以培训、用人、归因只能靠经验。</a:t>
            </a:r>
          </a:p>
        </p:txBody>
      </p:sp>
      <p:sp>
        <p:nvSpPr>
          <p:cNvPr id="20" name="">
            <a:extLst xmlns:a="http://schemas.openxmlformats.org/drawingml/2006/main">
              <a:ext uri="{FF2B5EF4-FFF2-40B4-BE49-F238E27FC236}">
                <a16:creationId xmlns:a16="http://schemas.microsoft.com/office/drawing/2014/main" id="{4C3FE6AE-046B-420B-8364-C8C6FE410C6C}"/>
              </a:ext>
            </a:extLst>
          </p:cNvPr>
          <p:cNvSpPr>
            <a:spLocks xmlns:a="http://schemas.openxmlformats.org/drawingml/2006/main" noGrp="1"/>
          </p:cNvSpPr>
          <p:nvPr/>
        </p:nvSpPr>
        <p:spPr>
          <a:xfrm xmlns:a="http://schemas.openxmlformats.org/drawingml/2006/main">
            <a:off x="285750" y="1333500"/>
            <a:ext cx="11620500" cy="1524000"/>
          </a:xfrm>
          <a:prstGeom xmlns:a="http://schemas.openxmlformats.org/drawingml/2006/main" prst="roundRect">
            <a:avLst>
              <a:gd name="adj" fmla="val 562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21" name="">
            <a:extLst xmlns:a="http://schemas.openxmlformats.org/drawingml/2006/main">
              <a:ext uri="{FF2B5EF4-FFF2-40B4-BE49-F238E27FC236}">
                <a16:creationId xmlns:a16="http://schemas.microsoft.com/office/drawing/2014/main" id="{269FBC80-EF44-453E-A608-DAF1062324A7}"/>
              </a:ext>
            </a:extLst>
          </p:cNvPr>
          <p:cNvSpPr>
            <a:spLocks xmlns:a="http://schemas.openxmlformats.org/drawingml/2006/main" noGrp="1"/>
          </p:cNvSpPr>
          <p:nvPr/>
        </p:nvSpPr>
        <p:spPr>
          <a:xfrm xmlns:a="http://schemas.openxmlformats.org/drawingml/2006/main">
            <a:off x="285750" y="1333500"/>
            <a:ext cx="47625" cy="1524000"/>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3F48B7DE-3959-4421-9BB5-ED0DCD5093F3}"/>
              </a:ext>
            </a:extLst>
          </p:cNvPr>
          <p:cNvSpPr>
            <a:spLocks xmlns:a="http://schemas.openxmlformats.org/drawingml/2006/main" noGrp="1"/>
          </p:cNvSpPr>
          <p:nvPr/>
        </p:nvSpPr>
        <p:spPr>
          <a:xfrm xmlns:a="http://schemas.openxmlformats.org/drawingml/2006/main">
            <a:off x="476250" y="1466850"/>
            <a:ext cx="857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Bahnschrift"/>
                <a:ea typeface="Bahnschrift"/>
                <a:cs typeface="Bahnschrift"/>
              </a:defRPr>
            </a:pPr>
            <a:r>
              <a:rPr sz="975" b="0">
                <a:solidFill>
                  <a:srgbClr val="9DBEE8"/>
                </a:solidFill>
                <a:latin typeface="Bahnschrift"/>
                <a:ea typeface="Bahnschrift"/>
                <a:cs typeface="Bahnschrift"/>
              </a:rPr>
              <a:t>场景一</a:t>
            </a:r>
          </a:p>
        </p:txBody>
      </p:sp>
      <p:sp>
        <p:nvSpPr>
          <p:cNvPr id="23" name="">
            <a:extLst xmlns:a="http://schemas.openxmlformats.org/drawingml/2006/main">
              <a:ext uri="{FF2B5EF4-FFF2-40B4-BE49-F238E27FC236}">
                <a16:creationId xmlns:a16="http://schemas.microsoft.com/office/drawing/2014/main" id="{F76C4C4B-168F-4148-8E81-91CB1C41347B}"/>
              </a:ext>
            </a:extLst>
          </p:cNvPr>
          <p:cNvSpPr>
            <a:spLocks xmlns:a="http://schemas.openxmlformats.org/drawingml/2006/main" noGrp="1"/>
          </p:cNvSpPr>
          <p:nvPr/>
        </p:nvSpPr>
        <p:spPr>
          <a:xfrm xmlns:a="http://schemas.openxmlformats.org/drawingml/2006/main">
            <a:off x="476250" y="1714500"/>
            <a:ext cx="2476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电网变电运维</a:t>
            </a:r>
          </a:p>
        </p:txBody>
      </p:sp>
      <p:sp>
        <p:nvSpPr>
          <p:cNvPr id="24" name="">
            <a:extLst xmlns:a="http://schemas.openxmlformats.org/drawingml/2006/main">
              <a:ext uri="{FF2B5EF4-FFF2-40B4-BE49-F238E27FC236}">
                <a16:creationId xmlns:a16="http://schemas.microsoft.com/office/drawing/2014/main" id="{99BF58B2-BC81-4D91-B18C-6F70DE6B5755}"/>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5FE3A1"/>
            </a:solidFill>
            <a:prstDash val="solid"/>
          </a:ln>
        </p:spPr>
      </p:sp>
      <p:sp>
        <p:nvSpPr>
          <p:cNvPr id="25" name="">
            <a:extLst xmlns:a="http://schemas.openxmlformats.org/drawingml/2006/main">
              <a:ext uri="{FF2B5EF4-FFF2-40B4-BE49-F238E27FC236}">
                <a16:creationId xmlns:a16="http://schemas.microsoft.com/office/drawing/2014/main" id="{FE53F9F1-046D-4AF6-9CC3-791313DC3CF8}"/>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已落地</a:t>
            </a:r>
          </a:p>
        </p:txBody>
      </p:sp>
      <p:sp>
        <p:nvSpPr>
          <p:cNvPr id="26" name="">
            <a:extLst xmlns:a="http://schemas.openxmlformats.org/drawingml/2006/main">
              <a:ext uri="{FF2B5EF4-FFF2-40B4-BE49-F238E27FC236}">
                <a16:creationId xmlns:a16="http://schemas.microsoft.com/office/drawing/2014/main" id="{3683A36F-FC55-46E2-B6CC-72ED1F90635D}"/>
              </a:ext>
            </a:extLst>
          </p:cNvPr>
          <p:cNvSpPr>
            <a:spLocks xmlns:a="http://schemas.openxmlformats.org/drawingml/2006/main" noGrp="1"/>
          </p:cNvSpPr>
          <p:nvPr/>
        </p:nvSpPr>
        <p:spPr>
          <a:xfrm xmlns:a="http://schemas.openxmlformats.org/drawingml/2006/main">
            <a:off x="3238500" y="1524000"/>
            <a:ext cx="84772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110kV </a:t>
            </a:r>
            <a:r>
              <a:rPr sz="1013">
                <a:solidFill>
                  <a:srgbClr val="EEF5FF"/>
                </a:solidFill>
                <a:latin typeface="微软雅黑"/>
                <a:ea typeface="微软雅黑"/>
                <a:cs typeface="微软雅黑"/>
              </a:rPr>
              <a:t>城北变电所 </a:t>
            </a:r>
            <a:r>
              <a:rPr sz="1013">
                <a:solidFill>
                  <a:srgbClr val="EEF5FF"/>
                </a:solidFill>
                <a:latin typeface="微软雅黑"/>
                <a:ea typeface="微软雅黑"/>
                <a:cs typeface="微软雅黑"/>
              </a:rPr>
              <a:t>1 </a:t>
            </a:r>
            <a:r>
              <a:rPr sz="1013">
                <a:solidFill>
                  <a:srgbClr val="EEF5FF"/>
                </a:solidFill>
                <a:latin typeface="微软雅黑"/>
                <a:ea typeface="微软雅黑"/>
                <a:cs typeface="微软雅黑"/>
              </a:rPr>
              <a:t>号检查井，氧气实测 </a:t>
            </a:r>
            <a:r>
              <a:rPr sz="1013">
                <a:solidFill>
                  <a:srgbClr val="EEF5FF"/>
                </a:solidFill>
                <a:latin typeface="微软雅黑"/>
                <a:ea typeface="微软雅黑"/>
                <a:cs typeface="微软雅黑"/>
              </a:rPr>
              <a:t>18.2 %VOL / </a:t>
            </a:r>
            <a:r>
              <a:rPr sz="1013">
                <a:solidFill>
                  <a:srgbClr val="EEF5FF"/>
                </a:solidFill>
                <a:latin typeface="微软雅黑"/>
                <a:ea typeface="微软雅黑"/>
                <a:cs typeface="微软雅黑"/>
              </a:rPr>
              <a:t>阈值 </a:t>
            </a:r>
            <a:r>
              <a:rPr sz="1013">
                <a:solidFill>
                  <a:srgbClr val="EEF5FF"/>
                </a:solidFill>
                <a:latin typeface="微软雅黑"/>
                <a:ea typeface="微软雅黑"/>
                <a:cs typeface="微软雅黑"/>
              </a:rPr>
              <a:t>19.5 %VOL</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作业人员出现头晕、胸闷，已撤出通风；本次未按 </a:t>
            </a:r>
            <a:r>
              <a:rPr sz="1013">
                <a:solidFill>
                  <a:srgbClr val="EEF5FF"/>
                </a:solidFill>
                <a:latin typeface="微软雅黑"/>
                <a:ea typeface="微软雅黑"/>
                <a:cs typeface="微软雅黑"/>
              </a:rPr>
              <a:t>SOP </a:t>
            </a:r>
            <a:r>
              <a:rPr sz="1013">
                <a:solidFill>
                  <a:srgbClr val="EEF5FF"/>
                </a:solidFill>
                <a:latin typeface="微软雅黑"/>
                <a:ea typeface="微软雅黑"/>
                <a:cs typeface="微软雅黑"/>
              </a:rPr>
              <a:t>执行</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系统输出：严重度「高」</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原因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处置措施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规则编号，人工确认后留痕</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判定阈值全部来自国家标准，换站、换气体、换档位仍然适用</a:t>
            </a:r>
          </a:p>
        </p:txBody>
      </p:sp>
      <p:sp>
        <p:nvSpPr>
          <p:cNvPr id="27" name="">
            <a:extLst xmlns:a="http://schemas.openxmlformats.org/drawingml/2006/main">
              <a:ext uri="{FF2B5EF4-FFF2-40B4-BE49-F238E27FC236}">
                <a16:creationId xmlns:a16="http://schemas.microsoft.com/office/drawing/2014/main" id="{EA9F2301-119D-43D0-A649-10A618970DB5}"/>
              </a:ext>
            </a:extLst>
          </p:cNvPr>
          <p:cNvSpPr>
            <a:spLocks xmlns:a="http://schemas.openxmlformats.org/drawingml/2006/main" noGrp="1"/>
          </p:cNvSpPr>
          <p:nvPr/>
        </p:nvSpPr>
        <p:spPr>
          <a:xfrm xmlns:a="http://schemas.openxmlformats.org/drawingml/2006/main">
            <a:off x="285750" y="2933700"/>
            <a:ext cx="11620500" cy="1524000"/>
          </a:xfrm>
          <a:prstGeom xmlns:a="http://schemas.openxmlformats.org/drawingml/2006/main" prst="roundRect">
            <a:avLst>
              <a:gd name="adj" fmla="val 562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AF67D683-F540-4290-B96E-BA59EEB0D75A}"/>
              </a:ext>
            </a:extLst>
          </p:cNvPr>
          <p:cNvSpPr>
            <a:spLocks xmlns:a="http://schemas.openxmlformats.org/drawingml/2006/main" noGrp="1"/>
          </p:cNvSpPr>
          <p:nvPr/>
        </p:nvSpPr>
        <p:spPr>
          <a:xfrm xmlns:a="http://schemas.openxmlformats.org/drawingml/2006/main">
            <a:off x="285750" y="2933700"/>
            <a:ext cx="47625" cy="15240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50D608FD-35AD-4653-9115-590B6A6C4AFE}"/>
              </a:ext>
            </a:extLst>
          </p:cNvPr>
          <p:cNvSpPr>
            <a:spLocks xmlns:a="http://schemas.openxmlformats.org/drawingml/2006/main" noGrp="1"/>
          </p:cNvSpPr>
          <p:nvPr/>
        </p:nvSpPr>
        <p:spPr>
          <a:xfrm xmlns:a="http://schemas.openxmlformats.org/drawingml/2006/main">
            <a:off x="476250" y="3067050"/>
            <a:ext cx="857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Bahnschrift"/>
                <a:ea typeface="Bahnschrift"/>
                <a:cs typeface="Bahnschrift"/>
              </a:defRPr>
            </a:pPr>
            <a:r>
              <a:rPr sz="975" b="0">
                <a:solidFill>
                  <a:srgbClr val="9DBEE8"/>
                </a:solidFill>
                <a:latin typeface="Bahnschrift"/>
                <a:ea typeface="Bahnschrift"/>
                <a:cs typeface="Bahnschrift"/>
              </a:rPr>
              <a:t>场景二</a:t>
            </a:r>
          </a:p>
        </p:txBody>
      </p:sp>
      <p:sp>
        <p:nvSpPr>
          <p:cNvPr id="30" name="">
            <a:extLst xmlns:a="http://schemas.openxmlformats.org/drawingml/2006/main">
              <a:ext uri="{FF2B5EF4-FFF2-40B4-BE49-F238E27FC236}">
                <a16:creationId xmlns:a16="http://schemas.microsoft.com/office/drawing/2014/main" id="{706EBFAE-740C-4674-979A-BC345532BE99}"/>
              </a:ext>
            </a:extLst>
          </p:cNvPr>
          <p:cNvSpPr>
            <a:spLocks xmlns:a="http://schemas.openxmlformats.org/drawingml/2006/main" noGrp="1"/>
          </p:cNvSpPr>
          <p:nvPr/>
        </p:nvSpPr>
        <p:spPr>
          <a:xfrm xmlns:a="http://schemas.openxmlformats.org/drawingml/2006/main">
            <a:off x="476250" y="3314700"/>
            <a:ext cx="2476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新能源场站</a:t>
            </a:r>
          </a:p>
        </p:txBody>
      </p:sp>
      <p:sp>
        <p:nvSpPr>
          <p:cNvPr id="31" name="">
            <a:extLst xmlns:a="http://schemas.openxmlformats.org/drawingml/2006/main">
              <a:ext uri="{FF2B5EF4-FFF2-40B4-BE49-F238E27FC236}">
                <a16:creationId xmlns:a16="http://schemas.microsoft.com/office/drawing/2014/main" id="{D670D3BF-39EC-4DA9-9D24-FF822F23CF94}"/>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FD24A"/>
            </a:solidFill>
            <a:prstDash val="solid"/>
          </a:ln>
        </p:spPr>
      </p:sp>
      <p:sp>
        <p:nvSpPr>
          <p:cNvPr id="32" name="">
            <a:extLst xmlns:a="http://schemas.openxmlformats.org/drawingml/2006/main">
              <a:ext uri="{FF2B5EF4-FFF2-40B4-BE49-F238E27FC236}">
                <a16:creationId xmlns:a16="http://schemas.microsoft.com/office/drawing/2014/main" id="{70173607-7D5D-4201-85D1-3D9367C54625}"/>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待试点</a:t>
            </a:r>
          </a:p>
        </p:txBody>
      </p:sp>
      <p:sp>
        <p:nvSpPr>
          <p:cNvPr id="33" name="">
            <a:extLst xmlns:a="http://schemas.openxmlformats.org/drawingml/2006/main">
              <a:ext uri="{FF2B5EF4-FFF2-40B4-BE49-F238E27FC236}">
                <a16:creationId xmlns:a16="http://schemas.microsoft.com/office/drawing/2014/main" id="{624AC026-62FD-443B-BA3D-2B65ED4AC047}"/>
              </a:ext>
            </a:extLst>
          </p:cNvPr>
          <p:cNvSpPr>
            <a:spLocks xmlns:a="http://schemas.openxmlformats.org/drawingml/2006/main" noGrp="1"/>
          </p:cNvSpPr>
          <p:nvPr/>
        </p:nvSpPr>
        <p:spPr>
          <a:xfrm xmlns:a="http://schemas.openxmlformats.org/drawingml/2006/main">
            <a:off x="3238500" y="3124200"/>
            <a:ext cx="84772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站点分散、值守人员少，集中培训与复训窗口难以安排</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需要离线可运行、结论可审计的培训与考核证据链</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同一套引擎可迁移：证书到期预警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按缺口定向补训</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迁移成本低：换的是岗位与课程数据，不是引擎与接口</a:t>
            </a:r>
          </a:p>
        </p:txBody>
      </p:sp>
      <p:sp>
        <p:nvSpPr>
          <p:cNvPr id="34" name="">
            <a:extLst xmlns:a="http://schemas.openxmlformats.org/drawingml/2006/main">
              <a:ext uri="{FF2B5EF4-FFF2-40B4-BE49-F238E27FC236}">
                <a16:creationId xmlns:a16="http://schemas.microsoft.com/office/drawing/2014/main" id="{F1050A61-5488-4EFE-8681-F762A8B78D10}"/>
              </a:ext>
            </a:extLst>
          </p:cNvPr>
          <p:cNvSpPr>
            <a:spLocks xmlns:a="http://schemas.openxmlformats.org/drawingml/2006/main" noGrp="1"/>
          </p:cNvSpPr>
          <p:nvPr/>
        </p:nvSpPr>
        <p:spPr>
          <a:xfrm xmlns:a="http://schemas.openxmlformats.org/drawingml/2006/main">
            <a:off x="285750" y="4533900"/>
            <a:ext cx="11620500" cy="1524000"/>
          </a:xfrm>
          <a:prstGeom xmlns:a="http://schemas.openxmlformats.org/drawingml/2006/main" prst="roundRect">
            <a:avLst>
              <a:gd name="adj" fmla="val 562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D484E1B9-2376-4860-99F3-946804C7BB99}"/>
              </a:ext>
            </a:extLst>
          </p:cNvPr>
          <p:cNvSpPr>
            <a:spLocks xmlns:a="http://schemas.openxmlformats.org/drawingml/2006/main" noGrp="1"/>
          </p:cNvSpPr>
          <p:nvPr/>
        </p:nvSpPr>
        <p:spPr>
          <a:xfrm xmlns:a="http://schemas.openxmlformats.org/drawingml/2006/main">
            <a:off x="285750" y="4533900"/>
            <a:ext cx="47625" cy="15240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86F84B6A-6999-4E36-BAFE-A7556C142732}"/>
              </a:ext>
            </a:extLst>
          </p:cNvPr>
          <p:cNvSpPr>
            <a:spLocks xmlns:a="http://schemas.openxmlformats.org/drawingml/2006/main" noGrp="1"/>
          </p:cNvSpPr>
          <p:nvPr/>
        </p:nvSpPr>
        <p:spPr>
          <a:xfrm xmlns:a="http://schemas.openxmlformats.org/drawingml/2006/main">
            <a:off x="476250" y="4667250"/>
            <a:ext cx="857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Bahnschrift"/>
                <a:ea typeface="Bahnschrift"/>
                <a:cs typeface="Bahnschrift"/>
              </a:defRPr>
            </a:pPr>
            <a:r>
              <a:rPr sz="975" b="0">
                <a:solidFill>
                  <a:srgbClr val="9DBEE8"/>
                </a:solidFill>
                <a:latin typeface="Bahnschrift"/>
                <a:ea typeface="Bahnschrift"/>
                <a:cs typeface="Bahnschrift"/>
              </a:rPr>
              <a:t>场景三</a:t>
            </a:r>
          </a:p>
        </p:txBody>
      </p:sp>
      <p:sp>
        <p:nvSpPr>
          <p:cNvPr id="37" name="">
            <a:extLst xmlns:a="http://schemas.openxmlformats.org/drawingml/2006/main">
              <a:ext uri="{FF2B5EF4-FFF2-40B4-BE49-F238E27FC236}">
                <a16:creationId xmlns:a16="http://schemas.microsoft.com/office/drawing/2014/main" id="{E5E3E75D-545A-4659-A27C-823A99B20029}"/>
              </a:ext>
            </a:extLst>
          </p:cNvPr>
          <p:cNvSpPr>
            <a:spLocks xmlns:a="http://schemas.openxmlformats.org/drawingml/2006/main" noGrp="1"/>
          </p:cNvSpPr>
          <p:nvPr/>
        </p:nvSpPr>
        <p:spPr>
          <a:xfrm xmlns:a="http://schemas.openxmlformats.org/drawingml/2006/main">
            <a:off x="476250" y="4914900"/>
            <a:ext cx="2476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智能制造产线</a:t>
            </a:r>
          </a:p>
        </p:txBody>
      </p:sp>
      <p:sp>
        <p:nvSpPr>
          <p:cNvPr id="38" name="">
            <a:extLst xmlns:a="http://schemas.openxmlformats.org/drawingml/2006/main">
              <a:ext uri="{FF2B5EF4-FFF2-40B4-BE49-F238E27FC236}">
                <a16:creationId xmlns:a16="http://schemas.microsoft.com/office/drawing/2014/main" id="{7F5F97AE-3926-481A-BDA4-FD3279A05B90}"/>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FD24A"/>
            </a:solidFill>
            <a:prstDash val="solid"/>
          </a:ln>
        </p:spPr>
      </p:sp>
      <p:sp>
        <p:nvSpPr>
          <p:cNvPr id="39" name="">
            <a:extLst xmlns:a="http://schemas.openxmlformats.org/drawingml/2006/main">
              <a:ext uri="{FF2B5EF4-FFF2-40B4-BE49-F238E27FC236}">
                <a16:creationId xmlns:a16="http://schemas.microsoft.com/office/drawing/2014/main" id="{B1DB6664-01B8-42C3-9830-CF856DD3B3FF}"/>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待试点</a:t>
            </a:r>
          </a:p>
        </p:txBody>
      </p:sp>
      <p:sp>
        <p:nvSpPr>
          <p:cNvPr id="40" name="">
            <a:extLst xmlns:a="http://schemas.openxmlformats.org/drawingml/2006/main">
              <a:ext uri="{FF2B5EF4-FFF2-40B4-BE49-F238E27FC236}">
                <a16:creationId xmlns:a16="http://schemas.microsoft.com/office/drawing/2014/main" id="{E99C4F8F-07A4-4569-8853-9CD3BE860F0B}"/>
              </a:ext>
            </a:extLst>
          </p:cNvPr>
          <p:cNvSpPr>
            <a:spLocks xmlns:a="http://schemas.openxmlformats.org/drawingml/2006/main" noGrp="1"/>
          </p:cNvSpPr>
          <p:nvPr/>
        </p:nvSpPr>
        <p:spPr>
          <a:xfrm xmlns:a="http://schemas.openxmlformats.org/drawingml/2006/main">
            <a:off x="3238500" y="4724400"/>
            <a:ext cx="847725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多工种、多班次，停机培训的直接成本高</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需要按能力缺口精准补训，并让培训排期不与生产冲突</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同一套引擎可迁移：岗位技能矩阵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关键岗位备份预警</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迁移成本低：技能矩阵与培训排期复用同一套规则与角色</a:t>
            </a:r>
          </a:p>
        </p:txBody>
      </p:sp>
      <p:sp>
        <p:nvSpPr>
          <p:cNvPr id="41" name="">
            <a:extLst xmlns:a="http://schemas.openxmlformats.org/drawingml/2006/main">
              <a:ext uri="{FF2B5EF4-FFF2-40B4-BE49-F238E27FC236}">
                <a16:creationId xmlns:a16="http://schemas.microsoft.com/office/drawing/2014/main" id="{B06D376F-FCA1-4169-9405-244EEB453EFA}"/>
              </a:ext>
            </a:extLst>
          </p:cNvPr>
          <p:cNvSpPr>
            <a:spLocks xmlns:a="http://schemas.openxmlformats.org/drawingml/2006/main" noGrp="1"/>
          </p:cNvSpPr>
          <p:nvPr/>
        </p:nvSpPr>
        <p:spPr>
          <a:xfrm xmlns:a="http://schemas.openxmlformats.org/drawingml/2006/main">
            <a:off x="285750" y="6172200"/>
            <a:ext cx="11620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注：场景一为当前已落地并已验收的场景；场景二、三为同一套规则引擎与角色体系的场景迁移方向，尚未开展试点，此处如实标注。</a:t>
            </a:r>
          </a:p>
        </p:txBody>
      </p:sp>
      <p:sp>
        <p:nvSpPr>
          <p:cNvPr id="42" name="">
            <a:extLst xmlns:a="http://schemas.openxmlformats.org/drawingml/2006/main">
              <a:ext uri="{FF2B5EF4-FFF2-40B4-BE49-F238E27FC236}">
                <a16:creationId xmlns:a16="http://schemas.microsoft.com/office/drawing/2014/main" id="{43994BCB-EC27-4209-B18E-5781DB936946}"/>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E4884CA8-6295-4C94-BED1-E93315ACF931}"/>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D7727607-9F7B-4F7F-A2BE-68F4B874F98D}"/>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5" name="">
            <a:extLst xmlns:a="http://schemas.openxmlformats.org/drawingml/2006/main">
              <a:ext uri="{FF2B5EF4-FFF2-40B4-BE49-F238E27FC236}">
                <a16:creationId xmlns:a16="http://schemas.microsoft.com/office/drawing/2014/main" id="{A9400CAA-806A-4B8B-9FB8-5BC15BB8BD5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4A819573-EE8F-4CAA-9809-FADEEA14B737}"/>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06</a:t>
            </a:r>
          </a:p>
        </p:txBody>
      </p:sp>
    </p:spTree>
    <p:extLst>
      <p:ext uri="{BB962C8B-B14F-4D97-AF65-F5344CB8AC3E}">
        <p14:creationId xmlns:p14="http://schemas.microsoft.com/office/powerpoint/2010/main" val="1308426112"/>
      </p:ext>
    </p:extLst>
  </p:cSld>
</p:sld>
</file>

<file path=ppt/slides/slide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a0219459f932496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604082-D599-4B6A-8EA7-2C058EE4B7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A763EF7-279F-4068-BC76-AB0066C722B3}"/>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DCFC46D9-C151-49FB-B90C-FA5C21FF2309}"/>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3F64D993-D279-4617-A07A-0CF6478C225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385CFC18-AEB7-4663-A0D2-D5F43DBCC700}"/>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28643625-594B-48C1-9E85-CC88C1B752B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FBCA951C-2825-4387-9AA5-D77490DE08BC}"/>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8683B6C1-3940-47B8-951A-F735C68718E6}"/>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B53A1A0C-0E3F-40EB-AB5C-CC6CAE5B5366}"/>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CD286BDE-833C-405F-9C79-57298846412C}"/>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6234343F-0D1F-4B55-83FC-F417E38A4077}"/>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D711B9B-63E3-41AA-AA06-A7DEC6DA2AB9}"/>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D7B77B57-C5EE-401B-AA71-6188CC103A9F}"/>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三条高精度痛点</a:t>
            </a:r>
          </a:p>
        </p:txBody>
      </p:sp>
      <p:sp>
        <p:nvSpPr>
          <p:cNvPr id="15" name="">
            <a:extLst xmlns:a="http://schemas.openxmlformats.org/drawingml/2006/main">
              <a:ext uri="{FF2B5EF4-FFF2-40B4-BE49-F238E27FC236}">
                <a16:creationId xmlns:a16="http://schemas.microsoft.com/office/drawing/2014/main" id="{B18656E8-44D3-47B7-A5B5-B7641254F77C}"/>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3474DEAD-5231-400D-8427-B3B5AA82C4CF}"/>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C2078B3E-8232-4695-A409-21042FAB778B}"/>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0B1DCF6C-EBC8-4828-9FC1-F85D6B2BD581}"/>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BCF48731-2F59-4FFE-AF1D-5CCE06E7B11F}"/>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痛点不是「没有系统」，而是三条价值缺口：能力看不清、结论不可信、过程不可审。</a:t>
            </a:r>
          </a:p>
        </p:txBody>
      </p:sp>
      <p:sp>
        <p:nvSpPr>
          <p:cNvPr id="20" name="">
            <a:extLst xmlns:a="http://schemas.openxmlformats.org/drawingml/2006/main">
              <a:ext uri="{FF2B5EF4-FFF2-40B4-BE49-F238E27FC236}">
                <a16:creationId xmlns:a16="http://schemas.microsoft.com/office/drawing/2014/main" id="{6459C207-8BB2-4625-84C3-DCAD09B2C7C3}"/>
              </a:ext>
            </a:extLst>
          </p:cNvPr>
          <p:cNvSpPr>
            <a:spLocks xmlns:a="http://schemas.openxmlformats.org/drawingml/2006/main" noGrp="1"/>
          </p:cNvSpPr>
          <p:nvPr/>
        </p:nvSpPr>
        <p:spPr>
          <a:xfrm xmlns:a="http://schemas.openxmlformats.org/drawingml/2006/main">
            <a:off x="285750" y="1333500"/>
            <a:ext cx="3771900" cy="48768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93599C66-4915-4618-BB4F-9676925B9E69}"/>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C1894610-F014-4083-9B79-E89A223DE410}"/>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4FD8FF"/>
                </a:solidFill>
                <a:latin typeface="微软雅黑"/>
                <a:ea typeface="微软雅黑"/>
                <a:cs typeface="微软雅黑"/>
              </a:defRPr>
            </a:pPr>
            <a:r>
              <a:rPr sz="1425" b="1">
                <a:solidFill>
                  <a:srgbClr val="4FD8FF"/>
                </a:solidFill>
                <a:latin typeface="微软雅黑"/>
                <a:ea typeface="微软雅黑"/>
                <a:cs typeface="微软雅黑"/>
              </a:rPr>
              <a:t>痛点一 </a:t>
            </a:r>
            <a:r>
              <a:rPr sz="1425" b="1">
                <a:solidFill>
                  <a:srgbClr val="4FD8FF"/>
                </a:solidFill>
                <a:latin typeface="微软雅黑"/>
                <a:ea typeface="微软雅黑"/>
                <a:cs typeface="微软雅黑"/>
              </a:rPr>
              <a:t>· </a:t>
            </a:r>
            <a:r>
              <a:rPr sz="1425" b="1">
                <a:solidFill>
                  <a:srgbClr val="4FD8FF"/>
                </a:solidFill>
                <a:latin typeface="微软雅黑"/>
                <a:ea typeface="微软雅黑"/>
                <a:cs typeface="微软雅黑"/>
              </a:rPr>
              <a:t>能力看不清</a:t>
            </a:r>
          </a:p>
        </p:txBody>
      </p:sp>
      <p:sp>
        <p:nvSpPr>
          <p:cNvPr id="23" name="">
            <a:extLst xmlns:a="http://schemas.openxmlformats.org/drawingml/2006/main">
              <a:ext uri="{FF2B5EF4-FFF2-40B4-BE49-F238E27FC236}">
                <a16:creationId xmlns:a16="http://schemas.microsoft.com/office/drawing/2014/main" id="{58297E87-531D-4BA6-B46B-E69CDD8EA159}"/>
              </a:ext>
            </a:extLst>
          </p:cNvPr>
          <p:cNvSpPr>
            <a:spLocks xmlns:a="http://schemas.openxmlformats.org/drawingml/2006/main" noGrp="1"/>
          </p:cNvSpPr>
          <p:nvPr/>
        </p:nvSpPr>
        <p:spPr>
          <a:xfrm xmlns:a="http://schemas.openxmlformats.org/drawingml/2006/main">
            <a:off x="495300" y="1866900"/>
            <a:ext cx="33909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能力数据孤岛，培训投入难量化</a:t>
            </a:r>
          </a:p>
        </p:txBody>
      </p:sp>
      <p:sp>
        <p:nvSpPr>
          <p:cNvPr id="24" name="">
            <a:extLst xmlns:a="http://schemas.openxmlformats.org/drawingml/2006/main">
              <a:ext uri="{FF2B5EF4-FFF2-40B4-BE49-F238E27FC236}">
                <a16:creationId xmlns:a16="http://schemas.microsoft.com/office/drawing/2014/main" id="{16C12519-7FAE-4DB9-8BE8-717378D89725}"/>
              </a:ext>
            </a:extLst>
          </p:cNvPr>
          <p:cNvSpPr>
            <a:spLocks xmlns:a="http://schemas.openxmlformats.org/drawingml/2006/main" noGrp="1"/>
          </p:cNvSpPr>
          <p:nvPr/>
        </p:nvSpPr>
        <p:spPr>
          <a:xfrm xmlns:a="http://schemas.openxmlformats.org/drawingml/2006/main">
            <a:off x="495300" y="24193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25" name="">
            <a:extLst xmlns:a="http://schemas.openxmlformats.org/drawingml/2006/main">
              <a:ext uri="{FF2B5EF4-FFF2-40B4-BE49-F238E27FC236}">
                <a16:creationId xmlns:a16="http://schemas.microsoft.com/office/drawing/2014/main" id="{58BB66F8-8399-4C68-B2CC-8FEC79D32A1B}"/>
              </a:ext>
            </a:extLst>
          </p:cNvPr>
          <p:cNvSpPr>
            <a:spLocks xmlns:a="http://schemas.openxmlformats.org/drawingml/2006/main" noGrp="1"/>
          </p:cNvSpPr>
          <p:nvPr/>
        </p:nvSpPr>
        <p:spPr>
          <a:xfrm xmlns:a="http://schemas.openxmlformats.org/drawingml/2006/main">
            <a:off x="628650" y="25146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业务损失</a:t>
            </a:r>
          </a:p>
        </p:txBody>
      </p:sp>
      <p:sp>
        <p:nvSpPr>
          <p:cNvPr id="26" name="">
            <a:extLst xmlns:a="http://schemas.openxmlformats.org/drawingml/2006/main">
              <a:ext uri="{FF2B5EF4-FFF2-40B4-BE49-F238E27FC236}">
                <a16:creationId xmlns:a16="http://schemas.microsoft.com/office/drawing/2014/main" id="{34C3C06E-D93D-4876-97A3-7112A0E1CD2B}"/>
              </a:ext>
            </a:extLst>
          </p:cNvPr>
          <p:cNvSpPr>
            <a:spLocks xmlns:a="http://schemas.openxmlformats.org/drawingml/2006/main" noGrp="1"/>
          </p:cNvSpPr>
          <p:nvPr/>
        </p:nvSpPr>
        <p:spPr>
          <a:xfrm xmlns:a="http://schemas.openxmlformats.org/drawingml/2006/main">
            <a:off x="628650" y="27432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培训年年做，却说不清「谁补上了什么能力」，投入与产出无法对应</a:t>
            </a:r>
          </a:p>
        </p:txBody>
      </p:sp>
      <p:sp>
        <p:nvSpPr>
          <p:cNvPr id="27" name="">
            <a:extLst xmlns:a="http://schemas.openxmlformats.org/drawingml/2006/main">
              <a:ext uri="{FF2B5EF4-FFF2-40B4-BE49-F238E27FC236}">
                <a16:creationId xmlns:a16="http://schemas.microsoft.com/office/drawing/2014/main" id="{96E13012-9BB7-448A-9D4B-7DE5C75D00F5}"/>
              </a:ext>
            </a:extLst>
          </p:cNvPr>
          <p:cNvSpPr>
            <a:spLocks xmlns:a="http://schemas.openxmlformats.org/drawingml/2006/main" noGrp="1"/>
          </p:cNvSpPr>
          <p:nvPr/>
        </p:nvSpPr>
        <p:spPr>
          <a:xfrm xmlns:a="http://schemas.openxmlformats.org/drawingml/2006/main">
            <a:off x="495300" y="365760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28" name="">
            <a:extLst xmlns:a="http://schemas.openxmlformats.org/drawingml/2006/main">
              <a:ext uri="{FF2B5EF4-FFF2-40B4-BE49-F238E27FC236}">
                <a16:creationId xmlns:a16="http://schemas.microsoft.com/office/drawing/2014/main" id="{4E4B5885-9A05-421D-9B75-5051B50AEA65}"/>
              </a:ext>
            </a:extLst>
          </p:cNvPr>
          <p:cNvSpPr>
            <a:spLocks xmlns:a="http://schemas.openxmlformats.org/drawingml/2006/main" noGrp="1"/>
          </p:cNvSpPr>
          <p:nvPr/>
        </p:nvSpPr>
        <p:spPr>
          <a:xfrm xmlns:a="http://schemas.openxmlformats.org/drawingml/2006/main">
            <a:off x="628650" y="375285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管理风险</a:t>
            </a:r>
          </a:p>
        </p:txBody>
      </p:sp>
      <p:sp>
        <p:nvSpPr>
          <p:cNvPr id="29" name="">
            <a:extLst xmlns:a="http://schemas.openxmlformats.org/drawingml/2006/main">
              <a:ext uri="{FF2B5EF4-FFF2-40B4-BE49-F238E27FC236}">
                <a16:creationId xmlns:a16="http://schemas.microsoft.com/office/drawing/2014/main" id="{D311923B-7DCA-443B-B0E5-C8C71A4E0F74}"/>
              </a:ext>
            </a:extLst>
          </p:cNvPr>
          <p:cNvSpPr>
            <a:spLocks xmlns:a="http://schemas.openxmlformats.org/drawingml/2006/main" noGrp="1"/>
          </p:cNvSpPr>
          <p:nvPr/>
        </p:nvSpPr>
        <p:spPr>
          <a:xfrm xmlns:a="http://schemas.openxmlformats.org/drawingml/2006/main">
            <a:off x="628650" y="398145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排课靠印象、用人靠点名，关键岗位是否有备份无人能答</a:t>
            </a:r>
          </a:p>
        </p:txBody>
      </p:sp>
      <p:sp>
        <p:nvSpPr>
          <p:cNvPr id="30" name="">
            <a:extLst xmlns:a="http://schemas.openxmlformats.org/drawingml/2006/main">
              <a:ext uri="{FF2B5EF4-FFF2-40B4-BE49-F238E27FC236}">
                <a16:creationId xmlns:a16="http://schemas.microsoft.com/office/drawing/2014/main" id="{BC41E479-85B5-4C0D-ADD7-52A65E13550A}"/>
              </a:ext>
            </a:extLst>
          </p:cNvPr>
          <p:cNvSpPr>
            <a:spLocks xmlns:a="http://schemas.openxmlformats.org/drawingml/2006/main" noGrp="1"/>
          </p:cNvSpPr>
          <p:nvPr/>
        </p:nvSpPr>
        <p:spPr>
          <a:xfrm xmlns:a="http://schemas.openxmlformats.org/drawingml/2006/main">
            <a:off x="495300" y="48958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1" name="">
            <a:extLst xmlns:a="http://schemas.openxmlformats.org/drawingml/2006/main">
              <a:ext uri="{FF2B5EF4-FFF2-40B4-BE49-F238E27FC236}">
                <a16:creationId xmlns:a16="http://schemas.microsoft.com/office/drawing/2014/main" id="{92A83C52-72F9-4937-95CA-5505E3F67C93}"/>
              </a:ext>
            </a:extLst>
          </p:cNvPr>
          <p:cNvSpPr>
            <a:spLocks xmlns:a="http://schemas.openxmlformats.org/drawingml/2006/main" noGrp="1"/>
          </p:cNvSpPr>
          <p:nvPr/>
        </p:nvSpPr>
        <p:spPr>
          <a:xfrm xmlns:a="http://schemas.openxmlformats.org/drawingml/2006/main">
            <a:off x="628650" y="49911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智能化机会</a:t>
            </a:r>
          </a:p>
        </p:txBody>
      </p:sp>
      <p:sp>
        <p:nvSpPr>
          <p:cNvPr id="32" name="">
            <a:extLst xmlns:a="http://schemas.openxmlformats.org/drawingml/2006/main">
              <a:ext uri="{FF2B5EF4-FFF2-40B4-BE49-F238E27FC236}">
                <a16:creationId xmlns:a16="http://schemas.microsoft.com/office/drawing/2014/main" id="{072369CA-3CED-4230-B49D-19705FC09038}"/>
              </a:ext>
            </a:extLst>
          </p:cNvPr>
          <p:cNvSpPr>
            <a:spLocks xmlns:a="http://schemas.openxmlformats.org/drawingml/2006/main" noGrp="1"/>
          </p:cNvSpPr>
          <p:nvPr/>
        </p:nvSpPr>
        <p:spPr>
          <a:xfrm xmlns:a="http://schemas.openxmlformats.org/drawingml/2006/main">
            <a:off x="628650" y="52197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把考试、实操、证书、工单统一成结构化能力数据，让培训可量化</a:t>
            </a:r>
          </a:p>
        </p:txBody>
      </p:sp>
      <p:sp>
        <p:nvSpPr>
          <p:cNvPr id="33" name="">
            <a:extLst xmlns:a="http://schemas.openxmlformats.org/drawingml/2006/main">
              <a:ext uri="{FF2B5EF4-FFF2-40B4-BE49-F238E27FC236}">
                <a16:creationId xmlns:a16="http://schemas.microsoft.com/office/drawing/2014/main" id="{7A13AAC4-AE70-4EB0-9C93-AE24F93E9B94}"/>
              </a:ext>
            </a:extLst>
          </p:cNvPr>
          <p:cNvSpPr>
            <a:spLocks xmlns:a="http://schemas.openxmlformats.org/drawingml/2006/main" noGrp="1"/>
          </p:cNvSpPr>
          <p:nvPr/>
        </p:nvSpPr>
        <p:spPr>
          <a:xfrm xmlns:a="http://schemas.openxmlformats.org/drawingml/2006/main">
            <a:off x="4229100" y="1333500"/>
            <a:ext cx="3771900" cy="48768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4" name="">
            <a:extLst xmlns:a="http://schemas.openxmlformats.org/drawingml/2006/main">
              <a:ext uri="{FF2B5EF4-FFF2-40B4-BE49-F238E27FC236}">
                <a16:creationId xmlns:a16="http://schemas.microsoft.com/office/drawing/2014/main" id="{D4612E1B-F5F4-4AE5-9EBA-651D2560CDEB}"/>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30A514D1-7CEB-4D4A-A3C2-D6ABB2377722}"/>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微软雅黑"/>
                <a:ea typeface="微软雅黑"/>
                <a:cs typeface="微软雅黑"/>
              </a:defRPr>
            </a:pPr>
            <a:r>
              <a:rPr sz="1425" b="1">
                <a:solidFill>
                  <a:srgbClr val="FFD24A"/>
                </a:solidFill>
                <a:latin typeface="微软雅黑"/>
                <a:ea typeface="微软雅黑"/>
                <a:cs typeface="微软雅黑"/>
              </a:rPr>
              <a:t>痛点二 </a:t>
            </a:r>
            <a:r>
              <a:rPr sz="1425" b="1">
                <a:solidFill>
                  <a:srgbClr val="FFD24A"/>
                </a:solidFill>
                <a:latin typeface="微软雅黑"/>
                <a:ea typeface="微软雅黑"/>
                <a:cs typeface="微软雅黑"/>
              </a:rPr>
              <a:t>· </a:t>
            </a:r>
            <a:r>
              <a:rPr sz="1425" b="1">
                <a:solidFill>
                  <a:srgbClr val="FFD24A"/>
                </a:solidFill>
                <a:latin typeface="微软雅黑"/>
                <a:ea typeface="微软雅黑"/>
                <a:cs typeface="微软雅黑"/>
              </a:rPr>
              <a:t>结论不可信</a:t>
            </a:r>
          </a:p>
        </p:txBody>
      </p:sp>
      <p:sp>
        <p:nvSpPr>
          <p:cNvPr id="36" name="">
            <a:extLst xmlns:a="http://schemas.openxmlformats.org/drawingml/2006/main">
              <a:ext uri="{FF2B5EF4-FFF2-40B4-BE49-F238E27FC236}">
                <a16:creationId xmlns:a16="http://schemas.microsoft.com/office/drawing/2014/main" id="{823F8989-0485-4B6E-8F51-A494228559F0}"/>
              </a:ext>
            </a:extLst>
          </p:cNvPr>
          <p:cNvSpPr>
            <a:spLocks xmlns:a="http://schemas.openxmlformats.org/drawingml/2006/main" noGrp="1"/>
          </p:cNvSpPr>
          <p:nvPr/>
        </p:nvSpPr>
        <p:spPr>
          <a:xfrm xmlns:a="http://schemas.openxmlformats.org/drawingml/2006/main">
            <a:off x="4438650" y="1866900"/>
            <a:ext cx="33909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通用大模型结论不可复算、断网即失效</a:t>
            </a:r>
          </a:p>
        </p:txBody>
      </p:sp>
      <p:sp>
        <p:nvSpPr>
          <p:cNvPr id="37" name="">
            <a:extLst xmlns:a="http://schemas.openxmlformats.org/drawingml/2006/main">
              <a:ext uri="{FF2B5EF4-FFF2-40B4-BE49-F238E27FC236}">
                <a16:creationId xmlns:a16="http://schemas.microsoft.com/office/drawing/2014/main" id="{3DBDAFD7-BEDB-453D-BCD8-43B8C37DF3EB}"/>
              </a:ext>
            </a:extLst>
          </p:cNvPr>
          <p:cNvSpPr>
            <a:spLocks xmlns:a="http://schemas.openxmlformats.org/drawingml/2006/main" noGrp="1"/>
          </p:cNvSpPr>
          <p:nvPr/>
        </p:nvSpPr>
        <p:spPr>
          <a:xfrm xmlns:a="http://schemas.openxmlformats.org/drawingml/2006/main">
            <a:off x="4438650" y="24193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8" name="">
            <a:extLst xmlns:a="http://schemas.openxmlformats.org/drawingml/2006/main">
              <a:ext uri="{FF2B5EF4-FFF2-40B4-BE49-F238E27FC236}">
                <a16:creationId xmlns:a16="http://schemas.microsoft.com/office/drawing/2014/main" id="{58A5F657-0A63-4763-A33A-37FFCF674D2A}"/>
              </a:ext>
            </a:extLst>
          </p:cNvPr>
          <p:cNvSpPr>
            <a:spLocks xmlns:a="http://schemas.openxmlformats.org/drawingml/2006/main" noGrp="1"/>
          </p:cNvSpPr>
          <p:nvPr/>
        </p:nvSpPr>
        <p:spPr>
          <a:xfrm xmlns:a="http://schemas.openxmlformats.org/drawingml/2006/main">
            <a:off x="4572000" y="25146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业务损失</a:t>
            </a:r>
          </a:p>
        </p:txBody>
      </p:sp>
      <p:sp>
        <p:nvSpPr>
          <p:cNvPr id="39" name="">
            <a:extLst xmlns:a="http://schemas.openxmlformats.org/drawingml/2006/main">
              <a:ext uri="{FF2B5EF4-FFF2-40B4-BE49-F238E27FC236}">
                <a16:creationId xmlns:a16="http://schemas.microsoft.com/office/drawing/2014/main" id="{D8035381-B525-40C4-900A-2996BCBFF65B}"/>
              </a:ext>
            </a:extLst>
          </p:cNvPr>
          <p:cNvSpPr>
            <a:spLocks xmlns:a="http://schemas.openxmlformats.org/drawingml/2006/main" noGrp="1"/>
          </p:cNvSpPr>
          <p:nvPr/>
        </p:nvSpPr>
        <p:spPr>
          <a:xfrm xmlns:a="http://schemas.openxmlformats.org/drawingml/2006/main">
            <a:off x="4572000" y="27432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结论无法复算，答辩或审计时讲不清「为什么是这个人」</a:t>
            </a:r>
          </a:p>
        </p:txBody>
      </p:sp>
      <p:sp>
        <p:nvSpPr>
          <p:cNvPr id="40" name="">
            <a:extLst xmlns:a="http://schemas.openxmlformats.org/drawingml/2006/main">
              <a:ext uri="{FF2B5EF4-FFF2-40B4-BE49-F238E27FC236}">
                <a16:creationId xmlns:a16="http://schemas.microsoft.com/office/drawing/2014/main" id="{70DFF795-351C-4186-98C4-C970E7D1F99F}"/>
              </a:ext>
            </a:extLst>
          </p:cNvPr>
          <p:cNvSpPr>
            <a:spLocks xmlns:a="http://schemas.openxmlformats.org/drawingml/2006/main" noGrp="1"/>
          </p:cNvSpPr>
          <p:nvPr/>
        </p:nvSpPr>
        <p:spPr>
          <a:xfrm xmlns:a="http://schemas.openxmlformats.org/drawingml/2006/main">
            <a:off x="4438650" y="365760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1" name="">
            <a:extLst xmlns:a="http://schemas.openxmlformats.org/drawingml/2006/main">
              <a:ext uri="{FF2B5EF4-FFF2-40B4-BE49-F238E27FC236}">
                <a16:creationId xmlns:a16="http://schemas.microsoft.com/office/drawing/2014/main" id="{211CA22A-8DD1-4717-A566-E128BF857D3E}"/>
              </a:ext>
            </a:extLst>
          </p:cNvPr>
          <p:cNvSpPr>
            <a:spLocks xmlns:a="http://schemas.openxmlformats.org/drawingml/2006/main" noGrp="1"/>
          </p:cNvSpPr>
          <p:nvPr/>
        </p:nvSpPr>
        <p:spPr>
          <a:xfrm xmlns:a="http://schemas.openxmlformats.org/drawingml/2006/main">
            <a:off x="4572000" y="375285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管理风险</a:t>
            </a:r>
          </a:p>
        </p:txBody>
      </p:sp>
      <p:sp>
        <p:nvSpPr>
          <p:cNvPr id="42" name="">
            <a:extLst xmlns:a="http://schemas.openxmlformats.org/drawingml/2006/main">
              <a:ext uri="{FF2B5EF4-FFF2-40B4-BE49-F238E27FC236}">
                <a16:creationId xmlns:a16="http://schemas.microsoft.com/office/drawing/2014/main" id="{BE9CD440-80ED-46D5-BFF4-DDA84B0D6CC9}"/>
              </a:ext>
            </a:extLst>
          </p:cNvPr>
          <p:cNvSpPr>
            <a:spLocks xmlns:a="http://schemas.openxmlformats.org/drawingml/2006/main" noGrp="1"/>
          </p:cNvSpPr>
          <p:nvPr/>
        </p:nvSpPr>
        <p:spPr>
          <a:xfrm xmlns:a="http://schemas.openxmlformats.org/drawingml/2006/main">
            <a:off x="4572000" y="398145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依赖外网模型，断网即瘫痪；输出不稳定，无法上岗使用</a:t>
            </a:r>
          </a:p>
        </p:txBody>
      </p:sp>
      <p:sp>
        <p:nvSpPr>
          <p:cNvPr id="43" name="">
            <a:extLst xmlns:a="http://schemas.openxmlformats.org/drawingml/2006/main">
              <a:ext uri="{FF2B5EF4-FFF2-40B4-BE49-F238E27FC236}">
                <a16:creationId xmlns:a16="http://schemas.microsoft.com/office/drawing/2014/main" id="{66691905-6605-4962-9C41-B120D7A8152A}"/>
              </a:ext>
            </a:extLst>
          </p:cNvPr>
          <p:cNvSpPr>
            <a:spLocks xmlns:a="http://schemas.openxmlformats.org/drawingml/2006/main" noGrp="1"/>
          </p:cNvSpPr>
          <p:nvPr/>
        </p:nvSpPr>
        <p:spPr>
          <a:xfrm xmlns:a="http://schemas.openxmlformats.org/drawingml/2006/main">
            <a:off x="4438650" y="48958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4" name="">
            <a:extLst xmlns:a="http://schemas.openxmlformats.org/drawingml/2006/main">
              <a:ext uri="{FF2B5EF4-FFF2-40B4-BE49-F238E27FC236}">
                <a16:creationId xmlns:a16="http://schemas.microsoft.com/office/drawing/2014/main" id="{D1E552D4-2648-4EE7-8658-B19F066080B2}"/>
              </a:ext>
            </a:extLst>
          </p:cNvPr>
          <p:cNvSpPr>
            <a:spLocks xmlns:a="http://schemas.openxmlformats.org/drawingml/2006/main" noGrp="1"/>
          </p:cNvSpPr>
          <p:nvPr/>
        </p:nvSpPr>
        <p:spPr>
          <a:xfrm xmlns:a="http://schemas.openxmlformats.org/drawingml/2006/main">
            <a:off x="4572000" y="49911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智能化机会</a:t>
            </a:r>
          </a:p>
        </p:txBody>
      </p:sp>
      <p:sp>
        <p:nvSpPr>
          <p:cNvPr id="45" name="">
            <a:extLst xmlns:a="http://schemas.openxmlformats.org/drawingml/2006/main">
              <a:ext uri="{FF2B5EF4-FFF2-40B4-BE49-F238E27FC236}">
                <a16:creationId xmlns:a16="http://schemas.microsoft.com/office/drawing/2014/main" id="{25F9E384-F5E4-431D-8B5C-85079161CEB7}"/>
              </a:ext>
            </a:extLst>
          </p:cNvPr>
          <p:cNvSpPr>
            <a:spLocks xmlns:a="http://schemas.openxmlformats.org/drawingml/2006/main" noGrp="1"/>
          </p:cNvSpPr>
          <p:nvPr/>
        </p:nvSpPr>
        <p:spPr>
          <a:xfrm xmlns:a="http://schemas.openxmlformats.org/drawingml/2006/main">
            <a:off x="4572000" y="52197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规则进数据库、算子白名单求值，结论带 </a:t>
            </a:r>
            <a:r>
              <a:rPr sz="938" b="0">
                <a:solidFill>
                  <a:srgbClr val="EEF5FF"/>
                </a:solidFill>
                <a:latin typeface="微软雅黑"/>
                <a:ea typeface="微软雅黑"/>
                <a:cs typeface="微软雅黑"/>
              </a:rPr>
              <a:t>rule_code </a:t>
            </a:r>
            <a:r>
              <a:rPr sz="938" b="0">
                <a:solidFill>
                  <a:srgbClr val="EEF5FF"/>
                </a:solidFill>
                <a:latin typeface="微软雅黑"/>
                <a:ea typeface="微软雅黑"/>
                <a:cs typeface="微软雅黑"/>
              </a:rPr>
              <a:t>与依据事实，可复算</a:t>
            </a:r>
          </a:p>
        </p:txBody>
      </p:sp>
      <p:sp>
        <p:nvSpPr>
          <p:cNvPr id="46" name="">
            <a:extLst xmlns:a="http://schemas.openxmlformats.org/drawingml/2006/main">
              <a:ext uri="{FF2B5EF4-FFF2-40B4-BE49-F238E27FC236}">
                <a16:creationId xmlns:a16="http://schemas.microsoft.com/office/drawing/2014/main" id="{907DD496-12C6-4E7B-A14D-E8C7D4F3961F}"/>
              </a:ext>
            </a:extLst>
          </p:cNvPr>
          <p:cNvSpPr>
            <a:spLocks xmlns:a="http://schemas.openxmlformats.org/drawingml/2006/main" noGrp="1"/>
          </p:cNvSpPr>
          <p:nvPr/>
        </p:nvSpPr>
        <p:spPr>
          <a:xfrm xmlns:a="http://schemas.openxmlformats.org/drawingml/2006/main">
            <a:off x="8172450" y="1333500"/>
            <a:ext cx="3771900" cy="48768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7" name="">
            <a:extLst xmlns:a="http://schemas.openxmlformats.org/drawingml/2006/main">
              <a:ext uri="{FF2B5EF4-FFF2-40B4-BE49-F238E27FC236}">
                <a16:creationId xmlns:a16="http://schemas.microsoft.com/office/drawing/2014/main" id="{7A0953D0-9E64-4F54-A091-2199DE645A08}"/>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99AC030B-38BC-429D-87BF-BB88749C4BF7}"/>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B7A6FF"/>
                </a:solidFill>
                <a:latin typeface="微软雅黑"/>
                <a:ea typeface="微软雅黑"/>
                <a:cs typeface="微软雅黑"/>
              </a:defRPr>
            </a:pPr>
            <a:r>
              <a:rPr sz="1425" b="1">
                <a:solidFill>
                  <a:srgbClr val="B7A6FF"/>
                </a:solidFill>
                <a:latin typeface="微软雅黑"/>
                <a:ea typeface="微软雅黑"/>
                <a:cs typeface="微软雅黑"/>
              </a:rPr>
              <a:t>痛点三 </a:t>
            </a:r>
            <a:r>
              <a:rPr sz="1425" b="1">
                <a:solidFill>
                  <a:srgbClr val="B7A6FF"/>
                </a:solidFill>
                <a:latin typeface="微软雅黑"/>
                <a:ea typeface="微软雅黑"/>
                <a:cs typeface="微软雅黑"/>
              </a:rPr>
              <a:t>· </a:t>
            </a:r>
            <a:r>
              <a:rPr sz="1425" b="1">
                <a:solidFill>
                  <a:srgbClr val="B7A6FF"/>
                </a:solidFill>
                <a:latin typeface="微软雅黑"/>
                <a:ea typeface="微软雅黑"/>
                <a:cs typeface="微软雅黑"/>
              </a:rPr>
              <a:t>过程不可审</a:t>
            </a:r>
          </a:p>
        </p:txBody>
      </p:sp>
      <p:sp>
        <p:nvSpPr>
          <p:cNvPr id="49" name="">
            <a:extLst xmlns:a="http://schemas.openxmlformats.org/drawingml/2006/main">
              <a:ext uri="{FF2B5EF4-FFF2-40B4-BE49-F238E27FC236}">
                <a16:creationId xmlns:a16="http://schemas.microsoft.com/office/drawing/2014/main" id="{6ADA7A73-C958-4FED-BA2B-01071892FF7F}"/>
              </a:ext>
            </a:extLst>
          </p:cNvPr>
          <p:cNvSpPr>
            <a:spLocks xmlns:a="http://schemas.openxmlformats.org/drawingml/2006/main" noGrp="1"/>
          </p:cNvSpPr>
          <p:nvPr/>
        </p:nvSpPr>
        <p:spPr>
          <a:xfrm xmlns:a="http://schemas.openxmlformats.org/drawingml/2006/main">
            <a:off x="8382000" y="1866900"/>
            <a:ext cx="33909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建议、确认、执行、回滚没有留痕</a:t>
            </a:r>
          </a:p>
        </p:txBody>
      </p:sp>
      <p:sp>
        <p:nvSpPr>
          <p:cNvPr id="50" name="">
            <a:extLst xmlns:a="http://schemas.openxmlformats.org/drawingml/2006/main">
              <a:ext uri="{FF2B5EF4-FFF2-40B4-BE49-F238E27FC236}">
                <a16:creationId xmlns:a16="http://schemas.microsoft.com/office/drawing/2014/main" id="{8669C129-29F0-4CA1-8EEE-94050440E91B}"/>
              </a:ext>
            </a:extLst>
          </p:cNvPr>
          <p:cNvSpPr>
            <a:spLocks xmlns:a="http://schemas.openxmlformats.org/drawingml/2006/main" noGrp="1"/>
          </p:cNvSpPr>
          <p:nvPr/>
        </p:nvSpPr>
        <p:spPr>
          <a:xfrm xmlns:a="http://schemas.openxmlformats.org/drawingml/2006/main">
            <a:off x="8382000" y="24193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1" name="">
            <a:extLst xmlns:a="http://schemas.openxmlformats.org/drawingml/2006/main">
              <a:ext uri="{FF2B5EF4-FFF2-40B4-BE49-F238E27FC236}">
                <a16:creationId xmlns:a16="http://schemas.microsoft.com/office/drawing/2014/main" id="{F187E1E0-0013-4182-B8CC-B977C20B9FED}"/>
              </a:ext>
            </a:extLst>
          </p:cNvPr>
          <p:cNvSpPr>
            <a:spLocks xmlns:a="http://schemas.openxmlformats.org/drawingml/2006/main" noGrp="1"/>
          </p:cNvSpPr>
          <p:nvPr/>
        </p:nvSpPr>
        <p:spPr>
          <a:xfrm xmlns:a="http://schemas.openxmlformats.org/drawingml/2006/main">
            <a:off x="8515350" y="25146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业务损失</a:t>
            </a:r>
          </a:p>
        </p:txBody>
      </p:sp>
      <p:sp>
        <p:nvSpPr>
          <p:cNvPr id="52" name="">
            <a:extLst xmlns:a="http://schemas.openxmlformats.org/drawingml/2006/main">
              <a:ext uri="{FF2B5EF4-FFF2-40B4-BE49-F238E27FC236}">
                <a16:creationId xmlns:a16="http://schemas.microsoft.com/office/drawing/2014/main" id="{FE8BC990-D7B9-43CF-9CCD-6153CEB0F89E}"/>
              </a:ext>
            </a:extLst>
          </p:cNvPr>
          <p:cNvSpPr>
            <a:spLocks xmlns:a="http://schemas.openxmlformats.org/drawingml/2006/main" noGrp="1"/>
          </p:cNvSpPr>
          <p:nvPr/>
        </p:nvSpPr>
        <p:spPr>
          <a:xfrm xmlns:a="http://schemas.openxmlformats.org/drawingml/2006/main">
            <a:off x="8515350" y="27432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建议由谁提出、谁采纳、谁执行，事后无法界定责任</a:t>
            </a:r>
          </a:p>
        </p:txBody>
      </p:sp>
      <p:sp>
        <p:nvSpPr>
          <p:cNvPr id="53" name="">
            <a:extLst xmlns:a="http://schemas.openxmlformats.org/drawingml/2006/main">
              <a:ext uri="{FF2B5EF4-FFF2-40B4-BE49-F238E27FC236}">
                <a16:creationId xmlns:a16="http://schemas.microsoft.com/office/drawing/2014/main" id="{19DFFCA0-455F-4272-A902-4A24D5771A53}"/>
              </a:ext>
            </a:extLst>
          </p:cNvPr>
          <p:cNvSpPr>
            <a:spLocks xmlns:a="http://schemas.openxmlformats.org/drawingml/2006/main" noGrp="1"/>
          </p:cNvSpPr>
          <p:nvPr/>
        </p:nvSpPr>
        <p:spPr>
          <a:xfrm xmlns:a="http://schemas.openxmlformats.org/drawingml/2006/main">
            <a:off x="8382000" y="365760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4" name="">
            <a:extLst xmlns:a="http://schemas.openxmlformats.org/drawingml/2006/main">
              <a:ext uri="{FF2B5EF4-FFF2-40B4-BE49-F238E27FC236}">
                <a16:creationId xmlns:a16="http://schemas.microsoft.com/office/drawing/2014/main" id="{7223E035-29D5-4132-B35B-F443DC093547}"/>
              </a:ext>
            </a:extLst>
          </p:cNvPr>
          <p:cNvSpPr>
            <a:spLocks xmlns:a="http://schemas.openxmlformats.org/drawingml/2006/main" noGrp="1"/>
          </p:cNvSpPr>
          <p:nvPr/>
        </p:nvSpPr>
        <p:spPr>
          <a:xfrm xmlns:a="http://schemas.openxmlformats.org/drawingml/2006/main">
            <a:off x="8515350" y="375285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管理风险</a:t>
            </a:r>
          </a:p>
        </p:txBody>
      </p:sp>
      <p:sp>
        <p:nvSpPr>
          <p:cNvPr id="55" name="">
            <a:extLst xmlns:a="http://schemas.openxmlformats.org/drawingml/2006/main">
              <a:ext uri="{FF2B5EF4-FFF2-40B4-BE49-F238E27FC236}">
                <a16:creationId xmlns:a16="http://schemas.microsoft.com/office/drawing/2014/main" id="{35D8FCB0-14B7-43EF-B55F-F298DBA33A31}"/>
              </a:ext>
            </a:extLst>
          </p:cNvPr>
          <p:cNvSpPr>
            <a:spLocks xmlns:a="http://schemas.openxmlformats.org/drawingml/2006/main" noGrp="1"/>
          </p:cNvSpPr>
          <p:nvPr/>
        </p:nvSpPr>
        <p:spPr>
          <a:xfrm xmlns:a="http://schemas.openxmlformats.org/drawingml/2006/main">
            <a:off x="8515350" y="398145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缺乏审计链，心理与关怀数据也无隔离手段</a:t>
            </a:r>
          </a:p>
        </p:txBody>
      </p:sp>
      <p:sp>
        <p:nvSpPr>
          <p:cNvPr id="56" name="">
            <a:extLst xmlns:a="http://schemas.openxmlformats.org/drawingml/2006/main">
              <a:ext uri="{FF2B5EF4-FFF2-40B4-BE49-F238E27FC236}">
                <a16:creationId xmlns:a16="http://schemas.microsoft.com/office/drawing/2014/main" id="{305F60D4-BBA2-4829-9A32-9C1CB5B392E1}"/>
              </a:ext>
            </a:extLst>
          </p:cNvPr>
          <p:cNvSpPr>
            <a:spLocks xmlns:a="http://schemas.openxmlformats.org/drawingml/2006/main" noGrp="1"/>
          </p:cNvSpPr>
          <p:nvPr/>
        </p:nvSpPr>
        <p:spPr>
          <a:xfrm xmlns:a="http://schemas.openxmlformats.org/drawingml/2006/main">
            <a:off x="8382000" y="48958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7" name="">
            <a:extLst xmlns:a="http://schemas.openxmlformats.org/drawingml/2006/main">
              <a:ext uri="{FF2B5EF4-FFF2-40B4-BE49-F238E27FC236}">
                <a16:creationId xmlns:a16="http://schemas.microsoft.com/office/drawing/2014/main" id="{22B93159-7B4E-49F7-A9F6-EC9E2CCC4C40}"/>
              </a:ext>
            </a:extLst>
          </p:cNvPr>
          <p:cNvSpPr>
            <a:spLocks xmlns:a="http://schemas.openxmlformats.org/drawingml/2006/main" noGrp="1"/>
          </p:cNvSpPr>
          <p:nvPr/>
        </p:nvSpPr>
        <p:spPr>
          <a:xfrm xmlns:a="http://schemas.openxmlformats.org/drawingml/2006/main">
            <a:off x="8515350" y="4991100"/>
            <a:ext cx="19050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智能化机会</a:t>
            </a:r>
          </a:p>
        </p:txBody>
      </p:sp>
      <p:sp>
        <p:nvSpPr>
          <p:cNvPr id="58" name="">
            <a:extLst xmlns:a="http://schemas.openxmlformats.org/drawingml/2006/main">
              <a:ext uri="{FF2B5EF4-FFF2-40B4-BE49-F238E27FC236}">
                <a16:creationId xmlns:a16="http://schemas.microsoft.com/office/drawing/2014/main" id="{064299B8-8342-4D7F-A83C-994263569390}"/>
              </a:ext>
            </a:extLst>
          </p:cNvPr>
          <p:cNvSpPr>
            <a:spLocks xmlns:a="http://schemas.openxmlformats.org/drawingml/2006/main" noGrp="1"/>
          </p:cNvSpPr>
          <p:nvPr/>
        </p:nvSpPr>
        <p:spPr>
          <a:xfrm xmlns:a="http://schemas.openxmlformats.org/drawingml/2006/main">
            <a:off x="8515350" y="5219700"/>
            <a:ext cx="3143250" cy="723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建议写 </a:t>
            </a:r>
            <a:r>
              <a:rPr sz="938" b="0">
                <a:solidFill>
                  <a:srgbClr val="EEF5FF"/>
                </a:solidFill>
                <a:latin typeface="微软雅黑"/>
                <a:ea typeface="微软雅黑"/>
                <a:cs typeface="微软雅黑"/>
              </a:rPr>
              <a:t>agent_suggestion</a:t>
            </a:r>
            <a:r>
              <a:rPr sz="938" b="0">
                <a:solidFill>
                  <a:srgbClr val="EEF5FF"/>
                </a:solidFill>
                <a:latin typeface="微软雅黑"/>
                <a:ea typeface="微软雅黑"/>
                <a:cs typeface="微软雅黑"/>
              </a:rPr>
              <a:t>、确认写 </a:t>
            </a:r>
            <a:r>
              <a:rPr sz="938" b="0">
                <a:solidFill>
                  <a:srgbClr val="EEF5FF"/>
                </a:solidFill>
                <a:latin typeface="微软雅黑"/>
                <a:ea typeface="微软雅黑"/>
                <a:cs typeface="微软雅黑"/>
              </a:rPr>
              <a:t>decision_log</a:t>
            </a:r>
            <a:r>
              <a:rPr sz="938" b="0">
                <a:solidFill>
                  <a:srgbClr val="EEF5FF"/>
                </a:solidFill>
                <a:latin typeface="微软雅黑"/>
                <a:ea typeface="微软雅黑"/>
                <a:cs typeface="微软雅黑"/>
              </a:rPr>
              <a:t>，三表用同一 </a:t>
            </a:r>
            <a:r>
              <a:rPr sz="938" b="0">
                <a:solidFill>
                  <a:srgbClr val="EEF5FF"/>
                </a:solidFill>
                <a:latin typeface="微软雅黑"/>
                <a:ea typeface="微软雅黑"/>
                <a:cs typeface="微软雅黑"/>
              </a:rPr>
              <a:t>run_id </a:t>
            </a:r>
            <a:r>
              <a:rPr sz="938" b="0">
                <a:solidFill>
                  <a:srgbClr val="EEF5FF"/>
                </a:solidFill>
                <a:latin typeface="微软雅黑"/>
                <a:ea typeface="微软雅黑"/>
                <a:cs typeface="微软雅黑"/>
              </a:rPr>
              <a:t>串起</a:t>
            </a:r>
          </a:p>
        </p:txBody>
      </p:sp>
      <p:sp>
        <p:nvSpPr>
          <p:cNvPr id="59" name="">
            <a:extLst xmlns:a="http://schemas.openxmlformats.org/drawingml/2006/main">
              <a:ext uri="{FF2B5EF4-FFF2-40B4-BE49-F238E27FC236}">
                <a16:creationId xmlns:a16="http://schemas.microsoft.com/office/drawing/2014/main" id="{B20F0153-D252-4984-89BB-B8787BAB7AA2}"/>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80C45B48-A934-43B2-BEFA-27765045CEB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E3260695-4720-4431-8C51-3D368E0EC3A2}"/>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2" name="">
            <a:extLst xmlns:a="http://schemas.openxmlformats.org/drawingml/2006/main">
              <a:ext uri="{FF2B5EF4-FFF2-40B4-BE49-F238E27FC236}">
                <a16:creationId xmlns:a16="http://schemas.microsoft.com/office/drawing/2014/main" id="{BF7360CD-5714-4CD5-AFD5-8F31D2C7E0BF}"/>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7E4CDAE0-CC10-4644-87C7-2E55C25BED60}"/>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07</a:t>
            </a:r>
          </a:p>
        </p:txBody>
      </p:sp>
    </p:spTree>
    <p:extLst>
      <p:ext uri="{BB962C8B-B14F-4D97-AF65-F5344CB8AC3E}">
        <p14:creationId xmlns:p14="http://schemas.microsoft.com/office/powerpoint/2010/main" val="1624672044"/>
      </p:ext>
    </p:extLst>
  </p:cSld>
</p:sld>
</file>

<file path=ppt/slides/slide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35a6e16d4e0493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9B74507-6AD2-4E8B-90C8-09E751FAC3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40371F13-E5B2-4303-99C0-2A6FACE0CAA5}"/>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C9F60DF-54C7-4E30-A5FD-6104A3395EAA}"/>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A9BA2992-74F2-4CA9-86DA-CC438E5DA09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BF028D53-ED2E-4BF4-8E3B-0984001B6FC6}"/>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2A11B8DE-6475-4C92-B39E-DDF0FAC5868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5D5936EE-C5B3-4401-BB29-E58BB3A667F9}"/>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A1F186CB-811D-4188-B6FB-872E2A1E4F08}"/>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FACD2495-F089-49CA-97CB-6F77EC3F197D}"/>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739E141-57CC-45DD-8206-9A3DD3D54372}"/>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3BE55D26-92A0-48FC-890E-5B8113FF4D5C}"/>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9EBDFCE-6981-466D-8576-51DC9D8DF3CA}"/>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0929E800-A2F5-456B-8438-B4AE7A8C94E1}"/>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现有方案对标</a:t>
            </a:r>
          </a:p>
        </p:txBody>
      </p:sp>
      <p:sp>
        <p:nvSpPr>
          <p:cNvPr id="15" name="">
            <a:extLst xmlns:a="http://schemas.openxmlformats.org/drawingml/2006/main">
              <a:ext uri="{FF2B5EF4-FFF2-40B4-BE49-F238E27FC236}">
                <a16:creationId xmlns:a16="http://schemas.microsoft.com/office/drawing/2014/main" id="{071D164E-D915-4044-826A-ACB2641B8754}"/>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D71BD72E-847D-4062-8DE0-A4CFBA0EAF66}"/>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1ADA30A1-AB68-415D-8513-D8C10B5ECCA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15A42673-8F1A-4195-81BD-6F0EAB6DE8A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0690B79-4E69-49FF-BB82-3E5D558275E1}"/>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通用 </a:t>
            </a:r>
            <a:r>
              <a:rPr sz="1238">
                <a:solidFill>
                  <a:srgbClr val="FFFFFF"/>
                </a:solidFill>
                <a:latin typeface="微软雅黑"/>
                <a:ea typeface="微软雅黑"/>
                <a:cs typeface="微软雅黑"/>
              </a:rPr>
              <a:t>LMS </a:t>
            </a:r>
            <a:r>
              <a:rPr sz="1238">
                <a:solidFill>
                  <a:srgbClr val="FFFFFF"/>
                </a:solidFill>
                <a:latin typeface="微软雅黑"/>
                <a:ea typeface="微软雅黑"/>
                <a:cs typeface="微软雅黑"/>
              </a:rPr>
              <a:t>只有总分、通用大模型只有文本；我们要的是「可复算的能力结论」。</a:t>
            </a:r>
          </a:p>
        </p:txBody>
      </p:sp>
      <p:graphicFrame>
        <p:nvGraphicFramePr>
          <p:cNvPr id="45"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515778"/>
                <a:gridCol w="2755376"/>
                <a:gridCol w="2755376"/>
                <a:gridCol w="3593969"/>
              </a:tblGrid>
              <a:tr h="381000">
                <a:tc>
                  <a:txBody>
                    <a:bodyPr/>
                    <a:lstStyle/>
                    <a:p>
                      <a:r>
                        <a:rPr sz="1050" b="1">
                          <a:solidFill>
                            <a:srgbClr val="FFFFFF"/>
                          </a:solidFill>
                          <a:latin typeface="微软雅黑"/>
                          <a:ea typeface="微软雅黑"/>
                          <a:cs typeface="微软雅黑"/>
                        </a:rPr>
                        <a:t>对比维度</a:t>
                      </a:r>
                    </a:p>
                  </a:txBody>
                  <a:tcPr marL="91440" marR="91440" marT="45720" marB="45720">
                    <a:solidFill>
                      <a:srgbClr val="1A6AC0"/>
                    </a:solidFill>
                  </a:tcPr>
                </a:tc>
                <a:tc>
                  <a:txBody>
                    <a:bodyPr/>
                    <a:lstStyle/>
                    <a:p>
                      <a:r>
                        <a:rPr sz="1050" b="1">
                          <a:solidFill>
                            <a:srgbClr val="FFFFFF"/>
                          </a:solidFill>
                          <a:latin typeface="微软雅黑"/>
                          <a:ea typeface="微软雅黑"/>
                          <a:cs typeface="微软雅黑"/>
                        </a:rPr>
                        <a:t>传统 LMS / 线下培训</a:t>
                      </a:r>
                    </a:p>
                  </a:txBody>
                  <a:tcPr marL="91440" marR="91440" marT="45720" marB="45720">
                    <a:solidFill>
                      <a:srgbClr val="1A6AC0"/>
                    </a:solidFill>
                  </a:tcPr>
                </a:tc>
                <a:tc>
                  <a:txBody>
                    <a:bodyPr/>
                    <a:lstStyle/>
                    <a:p>
                      <a:r>
                        <a:rPr sz="1050" b="1">
                          <a:solidFill>
                            <a:srgbClr val="FFFFFF"/>
                          </a:solidFill>
                          <a:latin typeface="微软雅黑"/>
                          <a:ea typeface="微软雅黑"/>
                          <a:cs typeface="微软雅黑"/>
                        </a:rPr>
                        <a:t>通用大模型直接出结论</a:t>
                      </a:r>
                    </a:p>
                  </a:txBody>
                  <a:tcPr marL="91440" marR="91440" marT="45720" marB="45720">
                    <a:solidFill>
                      <a:srgbClr val="1A6AC0"/>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solidFill>
                      <a:srgbClr val="1A6AC0"/>
                    </a:solidFill>
                  </a:tcPr>
                </a:tc>
              </a:tr>
              <a:tr h="495300">
                <a:tc>
                  <a:txBody>
                    <a:bodyPr/>
                    <a:lstStyle/>
                    <a:p>
                      <a:r>
                        <a:rPr sz="938" b="1">
                          <a:solidFill>
                            <a:srgbClr val="4FD8FF"/>
                          </a:solidFill>
                          <a:latin typeface="微软雅黑"/>
                          <a:ea typeface="微软雅黑"/>
                          <a:cs typeface="微软雅黑"/>
                        </a:rPr>
                        <a:t>数据结构</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只有总分与进度，没有能力项</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只有自然语言，结论不可落库</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53 张表，能力项 / 事实 / 结论全部结构化</a:t>
                      </a:r>
                    </a:p>
                  </a:txBody>
                  <a:tcPr marL="91440" marR="91440" marT="45720" marB="45720">
                    <a:solidFill>
                      <a:srgbClr val="0C4489"/>
                    </a:solidFill>
                  </a:tcPr>
                </a:tc>
              </a:tr>
              <a:tr h="495300">
                <a:tc>
                  <a:txBody>
                    <a:bodyPr/>
                    <a:lstStyle/>
                    <a:p>
                      <a:r>
                        <a:rPr sz="938" b="1">
                          <a:solidFill>
                            <a:srgbClr val="4FD8FF"/>
                          </a:solidFill>
                          <a:latin typeface="微软雅黑"/>
                          <a:ea typeface="微软雅黑"/>
                          <a:cs typeface="微软雅黑"/>
                        </a:rPr>
                        <a:t>决策方式</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靠人读数据再拍板</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由模型直接生成结论</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规则引擎确定性匹配，同输入必同输出</a:t>
                      </a:r>
                    </a:p>
                  </a:txBody>
                  <a:tcPr marL="91440" marR="91440" marT="45720" marB="45720">
                    <a:solidFill>
                      <a:srgbClr val="0C4489"/>
                    </a:solidFill>
                  </a:tcPr>
                </a:tc>
              </a:tr>
              <a:tr h="495300">
                <a:tc>
                  <a:txBody>
                    <a:bodyPr/>
                    <a:lstStyle/>
                    <a:p>
                      <a:r>
                        <a:rPr sz="938" b="1">
                          <a:solidFill>
                            <a:srgbClr val="4FD8FF"/>
                          </a:solidFill>
                          <a:latin typeface="微软雅黑"/>
                          <a:ea typeface="微软雅黑"/>
                          <a:cs typeface="微软雅黑"/>
                        </a:rPr>
                        <a:t>结论可解释</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无法说明依据</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无法说明依据，易编造</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每条结论带 rule_code、依据事实与置信度</a:t>
                      </a:r>
                    </a:p>
                  </a:txBody>
                  <a:tcPr marL="91440" marR="91440" marT="45720" marB="45720">
                    <a:solidFill>
                      <a:srgbClr val="0C4489"/>
                    </a:solidFill>
                  </a:tcPr>
                </a:tc>
              </a:tr>
              <a:tr h="495300">
                <a:tc>
                  <a:txBody>
                    <a:bodyPr/>
                    <a:lstStyle/>
                    <a:p>
                      <a:r>
                        <a:rPr sz="938" b="1">
                          <a:solidFill>
                            <a:srgbClr val="4FD8FF"/>
                          </a:solidFill>
                          <a:latin typeface="微软雅黑"/>
                          <a:ea typeface="微软雅黑"/>
                          <a:cs typeface="微软雅黑"/>
                        </a:rPr>
                        <a:t>可复算</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不可复算</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不可复算（随机性）</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同输入连续 200 次，rule_refs 100% 一致</a:t>
                      </a:r>
                    </a:p>
                  </a:txBody>
                  <a:tcPr marL="91440" marR="91440" marT="45720" marB="45720">
                    <a:solidFill>
                      <a:srgbClr val="0C4489"/>
                    </a:solidFill>
                  </a:tcPr>
                </a:tc>
              </a:tr>
              <a:tr h="495300">
                <a:tc>
                  <a:txBody>
                    <a:bodyPr/>
                    <a:lstStyle/>
                    <a:p>
                      <a:r>
                        <a:rPr sz="938" b="1">
                          <a:solidFill>
                            <a:srgbClr val="4FD8FF"/>
                          </a:solidFill>
                          <a:latin typeface="微软雅黑"/>
                          <a:ea typeface="微软雅黑"/>
                          <a:cs typeface="微软雅黑"/>
                        </a:rPr>
                        <a:t>可离线</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可离线但无智能</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断网即失效</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AI_ENABLED=false 时全链路仍可运行</a:t>
                      </a:r>
                    </a:p>
                  </a:txBody>
                  <a:tcPr marL="91440" marR="91440" marT="45720" marB="45720">
                    <a:solidFill>
                      <a:srgbClr val="0C4489"/>
                    </a:solidFill>
                  </a:tcPr>
                </a:tc>
              </a:tr>
              <a:tr h="495300">
                <a:tc>
                  <a:txBody>
                    <a:bodyPr/>
                    <a:lstStyle/>
                    <a:p>
                      <a:r>
                        <a:rPr sz="938" b="1">
                          <a:solidFill>
                            <a:srgbClr val="4FD8FF"/>
                          </a:solidFill>
                          <a:latin typeface="微软雅黑"/>
                          <a:ea typeface="微软雅黑"/>
                          <a:cs typeface="微软雅黑"/>
                        </a:rPr>
                        <a:t>可审计</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纸质台账，难追溯</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无留痕</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建议 / 确认 / 执行 / 回滚三表同号留痕</a:t>
                      </a:r>
                    </a:p>
                  </a:txBody>
                  <a:tcPr marL="91440" marR="91440" marT="45720" marB="45720">
                    <a:solidFill>
                      <a:srgbClr val="0C4489"/>
                    </a:solidFill>
                  </a:tcPr>
                </a:tc>
              </a:tr>
              <a:tr h="495300">
                <a:tc>
                  <a:txBody>
                    <a:bodyPr/>
                    <a:lstStyle/>
                    <a:p>
                      <a:r>
                        <a:rPr sz="938" b="1">
                          <a:solidFill>
                            <a:srgbClr val="4FD8FF"/>
                          </a:solidFill>
                          <a:latin typeface="微软雅黑"/>
                          <a:ea typeface="微软雅黑"/>
                          <a:cs typeface="微软雅黑"/>
                        </a:rPr>
                        <a:t>人工确认</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无</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无</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need_human_confirm=true，人工决定写入 decision_log</a:t>
                      </a:r>
                    </a:p>
                  </a:txBody>
                  <a:tcPr marL="91440" marR="91440" marT="45720" marB="45720">
                    <a:solidFill>
                      <a:srgbClr val="0C4489"/>
                    </a:solidFill>
                  </a:tcPr>
                </a:tc>
              </a:tr>
              <a:tr h="495300">
                <a:tc>
                  <a:txBody>
                    <a:bodyPr/>
                    <a:lstStyle/>
                    <a:p>
                      <a:r>
                        <a:rPr sz="938" b="1">
                          <a:solidFill>
                            <a:srgbClr val="4FD8FF"/>
                          </a:solidFill>
                          <a:latin typeface="微软雅黑"/>
                          <a:ea typeface="微软雅黑"/>
                          <a:cs typeface="微软雅黑"/>
                        </a:rPr>
                        <a:t>岗位适配</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通用课程，与岗位脱节</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与岗位体系脱节</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岗位—技能—课程—考试—实操全链路打通</a:t>
                      </a:r>
                    </a:p>
                  </a:txBody>
                  <a:tcPr marL="91440" marR="91440" marT="45720" marB="45720">
                    <a:solidFill>
                      <a:srgbClr val="0C4489"/>
                    </a:solidFill>
                  </a:tcPr>
                </a:tc>
              </a:tr>
            </a:tbl>
          </a:graphicData>
        </a:graphic>
      </p:graphicFrame>
      <p:sp>
        <p:nvSpPr>
          <p:cNvPr id="21" name="">
            <a:extLst xmlns:a="http://schemas.openxmlformats.org/drawingml/2006/main">
              <a:ext uri="{FF2B5EF4-FFF2-40B4-BE49-F238E27FC236}">
                <a16:creationId xmlns:a16="http://schemas.microsoft.com/office/drawing/2014/main" id="{EF068B7F-2540-4D3C-820F-94F14950FCFD}"/>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84412C3A-420A-4C88-8953-0DF716546329}"/>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B76592D1-2836-4514-94CB-BC7D1ABAC25B}"/>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4" name="">
            <a:extLst xmlns:a="http://schemas.openxmlformats.org/drawingml/2006/main">
              <a:ext uri="{FF2B5EF4-FFF2-40B4-BE49-F238E27FC236}">
                <a16:creationId xmlns:a16="http://schemas.microsoft.com/office/drawing/2014/main" id="{FB8D2FA1-9D03-49B9-9781-5A0CBC980E1A}"/>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3298A1AB-A84A-47A9-8FD2-DB9305ECC7AB}"/>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08</a:t>
            </a:r>
          </a:p>
        </p:txBody>
      </p:sp>
    </p:spTree>
    <p:extLst>
      <p:ext uri="{BB962C8B-B14F-4D97-AF65-F5344CB8AC3E}">
        <p14:creationId xmlns:p14="http://schemas.microsoft.com/office/powerpoint/2010/main" val="1359753719"/>
      </p:ext>
    </p:extLst>
  </p:cSld>
</p:sld>
</file>

<file path=ppt/slides/slide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ec7dc8c5c7bb43e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6FD0F5-4071-4FF5-8069-CB31A47AD7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B26F195E-0C41-42B3-B2F0-5989B805EC58}"/>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CE414F57-EDEE-4ACE-A1B6-6EC1D597133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667E1939-B5A6-41F8-A55D-340F09E35B4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5B60E358-AA30-4E2E-9A3C-93D3AE6C563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4AD69C94-F205-4D42-B0A0-01D431DD58B3}"/>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69FBD714-595A-49A2-8FB2-A104FBFB87E8}"/>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0859D745-ABAD-4995-A9FB-7AF0F60EA499}"/>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2E86E0">
                  <a:alpha val="20000"/>
                </a:srgbClr>
              </a:gs>
              <a:gs pos="45000">
                <a:srgbClr val="2E86E0">
                  <a:alpha val="8000"/>
                </a:srgbClr>
              </a:gs>
              <a:gs pos="100000">
                <a:srgbClr val="2E86E0">
                  <a:alpha val="0"/>
                </a:srgbClr>
              </a:gs>
            </a:gsLst>
            <a:path path="shape"/>
          </a:gra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24346B10-CDE2-4C6E-A4FC-DCE1D775624E}"/>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7E028CFC-D403-4942-AEE5-F015703B733A}"/>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2E86E0"/>
              </a:gs>
              <a:gs pos="100000">
                <a:srgbClr val="2E86E0">
                  <a:alpha val="0"/>
                </a:srgbClr>
              </a:gs>
            </a:gsLst>
            <a:lin ang="5400000"/>
          </a:gra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495C3B5-0A0B-4AC2-8A85-8131988D4D2F}"/>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0">
              <a:alpha val="70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DBF6781-32C8-430D-8D4C-6879035124E1}"/>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C95BD92A-1FE8-417D-BBEA-B2AD54AAE473}"/>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6134A735-4B6E-4AAD-8921-D9611BD88355}"/>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947B501A-14EE-46E4-A1CF-C1707345765C}"/>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2E86E0">
                <a:alpha val="45000"/>
              </a:srgbClr>
            </a:solidFill>
            <a:prstDash val="solid"/>
          </a:ln>
        </p:spPr>
      </p:sp>
      <p:sp>
        <p:nvSpPr>
          <p:cNvPr id="17" name="">
            <a:extLst xmlns:a="http://schemas.openxmlformats.org/drawingml/2006/main">
              <a:ext uri="{FF2B5EF4-FFF2-40B4-BE49-F238E27FC236}">
                <a16:creationId xmlns:a16="http://schemas.microsoft.com/office/drawing/2014/main" id="{08A9968B-A62B-45C6-82BF-55CE5E487DD0}"/>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2E86E0">
                <a:alpha val="28000"/>
              </a:srgbClr>
            </a:solidFill>
            <a:prstDash val="solid"/>
          </a:ln>
        </p:spPr>
      </p:sp>
      <p:sp>
        <p:nvSpPr>
          <p:cNvPr id="18" name="">
            <a:extLst xmlns:a="http://schemas.openxmlformats.org/drawingml/2006/main">
              <a:ext uri="{FF2B5EF4-FFF2-40B4-BE49-F238E27FC236}">
                <a16:creationId xmlns:a16="http://schemas.microsoft.com/office/drawing/2014/main" id="{4B8C8660-A5ED-4D8F-BF38-1888809DD60C}"/>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0DFA4FD-144C-4DB6-B6EE-DF907F304D27}"/>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0F0028E7-8CC5-4783-B264-5F46D858A385}"/>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1CC545BF-EE3F-45EE-B716-A2A1549991B0}"/>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D49C6779-292A-48BB-A990-1AEF3638738B}"/>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839FBA69-DD7E-42B6-A5AC-776BF70577CB}"/>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3FD7CF21-881C-4B0D-A479-9AA5165F2760}"/>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7198DCB8-79D9-48E4-9DBB-48208DCB90FA}"/>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08CE42EF-1065-47E6-8E33-0EDEAAA3A5EB}"/>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BBC95AAE-610E-4097-B6B3-D06039F8D8EC}"/>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62807D78-3D2F-4A9C-AE6A-2FD37E9253AA}"/>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004B1410-6866-4563-B220-BCE707404654}"/>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FF610AF9-C6B1-427A-9F24-773C1CCDFFBA}"/>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B9817CE2-C1AF-4CF0-BDFE-139C1CAF1988}"/>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39F1BF29-B778-496E-9D6B-A47A4ACDCEF1}"/>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2ED62837-4ACC-4678-898D-ADD06E47EA5F}"/>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0EA9825B-0055-46B9-8BF8-5AAE08596FE9}"/>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0FE903FB-38EB-4035-9493-FB07779C49D7}"/>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080C9743-14F0-4F83-9625-F87749D5A0B6}"/>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E1E166EF-86A8-42CC-A26F-287DEE4204D0}"/>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CAB08CCE-6C9E-43FA-8AC4-5F96FC3C6F48}"/>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0F534C80-AC95-4893-BF8A-A869024CDEC6}"/>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FE716F3A-DA25-48B9-88AA-0A3A473B1F6E}"/>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2E86E0">
                      <a:alpha val="75000"/>
                    </a:srgbClr>
                  </a:solidFill>
                  <a:prstDash val="solid"/>
                </a:ln>
                <a:solidFill>
                  <a:srgbClr val="0B3E82"/>
                </a:solidFill>
                <a:latin typeface="Bahnschrift SemiBold"/>
                <a:ea typeface="Bahnschrift SemiBold"/>
                <a:cs typeface="Bahnschrift SemiBold"/>
              </a:defRPr>
            </a:pPr>
            <a:r>
              <a:rPr sz="9900" b="1">
                <a:ln w="14288">
                  <a:solidFill>
                    <a:srgbClr val="2E86E0">
                      <a:alpha val="75000"/>
                    </a:srgbClr>
                  </a:solidFill>
                  <a:prstDash val="solid"/>
                </a:ln>
                <a:solidFill>
                  <a:srgbClr val="0B3E82"/>
                </a:solidFill>
                <a:latin typeface="Bahnschrift SemiBold"/>
                <a:ea typeface="Bahnschrift SemiBold"/>
                <a:cs typeface="Bahnschrift SemiBold"/>
              </a:rPr>
              <a:t>02</a:t>
            </a:r>
          </a:p>
        </p:txBody>
      </p:sp>
      <p:sp>
        <p:nvSpPr>
          <p:cNvPr id="41" name="">
            <a:extLst xmlns:a="http://schemas.openxmlformats.org/drawingml/2006/main">
              <a:ext uri="{FF2B5EF4-FFF2-40B4-BE49-F238E27FC236}">
                <a16:creationId xmlns:a16="http://schemas.microsoft.com/office/drawing/2014/main" id="{11B1C9C5-0484-4B7D-AE70-C16054D20CA7}"/>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2E86E0"/>
              </a:gs>
              <a:gs pos="100000">
                <a:srgbClr val="2E86E0">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E1D475B8-B08B-4D62-A665-26866AB18FB6}"/>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2E86E0">
                <a:alpha val="24000"/>
              </a:srgbClr>
            </a:fgClr>
            <a:bgClr>
              <a:srgbClr val="0B3E82"/>
            </a:bgClr>
          </a:patt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199C7D98-F31B-4AA0-8017-96A34EE92EF3}"/>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13ED16F4-FFAA-481F-BE47-4E5349AD985A}"/>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57036411-1C3C-4277-BA8F-D7013041C1C4}"/>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A29F7625-3C5A-44E2-A40B-87F1A6246369}"/>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EC88A022-C9F8-4012-8E36-0F7093007052}"/>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7CE2803C-BD96-4057-B261-DB5098493C0B}"/>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8F7053D3-ABC1-40DF-9E7C-A480EEF9BB14}"/>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DDB2AD0A-9EF9-4178-859D-9CDE17BCAB49}"/>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3720D796-0212-4672-9BE9-7FF98AB2BA06}"/>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66861615-FC7E-460A-B5BE-2BC719199AD5}"/>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B11B4401-0461-4434-9788-49D6A57B66EA}"/>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A99E5EEC-DE12-4612-AB84-3226FE38E739}"/>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C0492175-F992-479C-A592-9FBC6EDC9BDF}"/>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FEB066B3-E5FF-4AB1-8AA9-B31535AD88DF}"/>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54D15EA9-16D3-4FD8-AC1C-E1ED18CDC01B}"/>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32485A1D-D8D4-4B25-9673-E78907669F9C}"/>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499C378F-AEA2-4454-A476-FD0D49BC671C}"/>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C5422EBB-9423-44CC-9F48-9F47AB82A2C3}"/>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8608E2A-92F3-464F-94EC-E7CCAAC28BC9}"/>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EE79E92F-0A46-44E1-B3C8-5BAA1E6DE7CC}"/>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FB6CBAD1-82E7-43B7-89BC-97571330ED48}"/>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41C59181-D578-430C-85E9-60DD82F63BB6}"/>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D46AFBCA-2A6C-41AC-9680-3D26C0AD18F2}"/>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A65C78C1-02B5-4CB3-8C57-4F354DBFE7DF}"/>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88DEB4B3-1350-439B-9D04-DA7FB1A5DDC8}"/>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609714D9-543C-456E-A890-E45565034A5D}"/>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C6F6151E-3053-4214-83E1-86E8422DB309}"/>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3873E1CF-1ADA-40ED-8BF8-AC7E5E509D52}"/>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2E86E0">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8B6E4B88-2476-438D-A76D-4DC13AF30B3A}"/>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2E86E0">
              <a:alpha val="28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3660F30C-142C-410B-8ECB-2D72FA97731A}"/>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2E86E0">
              <a:alpha val="14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73A5509E-86C7-4B44-BF71-DBDE81A88D56}"/>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90AF3D99-EC64-4821-B843-5A44AA9F7334}"/>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74FF46B5-ECFC-4ED8-8E47-55E9CE3DA383}"/>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25AEFB3A-4CEE-44D8-81A1-A09D194758A9}"/>
              </a:ext>
            </a:extLst>
          </p:cNvPr>
          <p:cNvSpPr>
            <a:spLocks xmlns:a="http://schemas.openxmlformats.org/drawingml/2006/main" noGrp="1"/>
          </p:cNvSpPr>
          <p:nvPr/>
        </p:nvSpPr>
        <p:spPr>
          <a:xfrm xmlns:a="http://schemas.openxmlformats.org/drawingml/2006/main">
            <a:off x="8010525" y="4895850"/>
            <a:ext cx="571500" cy="571500"/>
          </a:xfrm>
          <a:prstGeom xmlns:a="http://schemas.openxmlformats.org/drawingml/2006/main" prst="ellipse">
            <a:avLst/>
          </a:prstGeom>
          <a:gradFill xmlns:a="http://schemas.openxmlformats.org/drawingml/2006/main">
            <a:gsLst>
              <a:gs pos="0">
                <a:srgbClr val="2E86E0">
                  <a:alpha val="30000"/>
                </a:srgbClr>
              </a:gs>
              <a:gs pos="45000">
                <a:srgbClr val="2E86E0">
                  <a:alpha val="12000"/>
                </a:srgbClr>
              </a:gs>
              <a:gs pos="100000">
                <a:srgbClr val="2E86E0">
                  <a:alpha val="0"/>
                </a:srgbClr>
              </a:gs>
            </a:gsLst>
            <a:path path="shape"/>
          </a:gra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6CABB2F9-7AD3-4DF8-8CD1-4F0C7E560FB2}"/>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2E86E0"/>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70C4218F-4DB9-4E59-A903-086293348DB0}"/>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方案</a:t>
            </a:r>
          </a:p>
        </p:txBody>
      </p:sp>
      <p:sp>
        <p:nvSpPr>
          <p:cNvPr id="79" name="">
            <a:extLst xmlns:a="http://schemas.openxmlformats.org/drawingml/2006/main">
              <a:ext uri="{FF2B5EF4-FFF2-40B4-BE49-F238E27FC236}">
                <a16:creationId xmlns:a16="http://schemas.microsoft.com/office/drawing/2014/main" id="{18011BBE-08DE-48F4-873A-4D1A6DCECD98}"/>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D6BCBCD9-BC57-4342-BC2E-74167E4BDB1F}"/>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1" name="">
            <a:extLst xmlns:a="http://schemas.openxmlformats.org/drawingml/2006/main">
              <a:ext uri="{FF2B5EF4-FFF2-40B4-BE49-F238E27FC236}">
                <a16:creationId xmlns:a16="http://schemas.microsoft.com/office/drawing/2014/main" id="{BF85ED3D-60B4-49EE-8BC5-AF196910993B}"/>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BBB49A97-CD46-4081-8D01-D4429034945F}"/>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433089A9-EF5A-4DC4-88F7-0D6D3B56C015}"/>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6F23C911-D0D4-41E6-A2CC-5C761A23EB94}"/>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2F51D4CD-EE7C-4556-AD90-4B32857835A0}"/>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76EDF8C0-7DC8-46E1-8C9C-60AA26A4B2E9}"/>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AC602A6D-1684-40D5-905D-7BCE00EDC782}"/>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863476A4-59E6-484C-BADE-12E87776BF6B}"/>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B44FCD00-E250-4156-893A-DDDA1B04E483}"/>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02</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DE79562C-75AC-451D-A669-9E405D113B63}"/>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2E86E0"/>
              </a:gs>
              <a:gs pos="100000">
                <a:srgbClr val="2E86E0">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B332E65B-DB81-4808-AEB1-B06E46BABCE1}"/>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总体方案</a:t>
            </a:r>
          </a:p>
        </p:txBody>
      </p:sp>
      <p:sp>
        <p:nvSpPr>
          <p:cNvPr id="92" name="">
            <a:extLst xmlns:a="http://schemas.openxmlformats.org/drawingml/2006/main">
              <a:ext uri="{FF2B5EF4-FFF2-40B4-BE49-F238E27FC236}">
                <a16:creationId xmlns:a16="http://schemas.microsoft.com/office/drawing/2014/main" id="{6B53C1EF-9646-4F82-B9DF-413726134429}"/>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2E86E0"/>
                </a:solidFill>
                <a:latin typeface="Bahnschrift"/>
                <a:ea typeface="Bahnschrift"/>
                <a:cs typeface="Bahnschrift"/>
              </a:defRPr>
            </a:pPr>
            <a:r>
              <a:rPr sz="1013" b="0" spc="3">
                <a:solidFill>
                  <a:srgbClr val="2E86E0"/>
                </a:solidFill>
                <a:latin typeface="Bahnschrift"/>
                <a:ea typeface="Bahnschrift"/>
                <a:cs typeface="Bahnschrift"/>
              </a:rPr>
              <a:t>SOLUTION · ARCHITECTURE &amp; ROADMAP</a:t>
            </a:r>
          </a:p>
        </p:txBody>
      </p:sp>
      <p:sp>
        <p:nvSpPr>
          <p:cNvPr id="93" name="">
            <a:extLst xmlns:a="http://schemas.openxmlformats.org/drawingml/2006/main">
              <a:ext uri="{FF2B5EF4-FFF2-40B4-BE49-F238E27FC236}">
                <a16:creationId xmlns:a16="http://schemas.microsoft.com/office/drawing/2014/main" id="{9A024F61-15B7-4C96-93F9-FFCB32100DCF}"/>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6DD0848F-B36A-404C-A5B0-A78BB35DAC7F}"/>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先给出系统边界与总体框架，再谈算法细节</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五层架构：应用层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智能层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数据层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留痕层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部署层</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四项核心创新点，构成与通用方案的本质差异</a:t>
            </a:r>
          </a:p>
        </p:txBody>
      </p:sp>
      <p:sp>
        <p:nvSpPr>
          <p:cNvPr id="95" name="">
            <a:extLst xmlns:a="http://schemas.openxmlformats.org/drawingml/2006/main">
              <a:ext uri="{FF2B5EF4-FFF2-40B4-BE49-F238E27FC236}">
                <a16:creationId xmlns:a16="http://schemas.microsoft.com/office/drawing/2014/main" id="{95BEA4E4-98ED-4106-9519-D1358F4400D3}"/>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alpha val="50000"/>
              </a:srgbClr>
            </a:solidFill>
            <a:prstDash val="solid"/>
          </a:ln>
        </p:spPr>
      </p:sp>
      <p:sp>
        <p:nvSpPr>
          <p:cNvPr id="96" name="">
            <a:extLst xmlns:a="http://schemas.openxmlformats.org/drawingml/2006/main">
              <a:ext uri="{FF2B5EF4-FFF2-40B4-BE49-F238E27FC236}">
                <a16:creationId xmlns:a16="http://schemas.microsoft.com/office/drawing/2014/main" id="{352E84FA-2C50-4D65-A552-403559BA0994}"/>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18F47A89-7500-41D1-9A21-03D5BDD70AA1}"/>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8" name="">
            <a:extLst xmlns:a="http://schemas.openxmlformats.org/drawingml/2006/main">
              <a:ext uri="{FF2B5EF4-FFF2-40B4-BE49-F238E27FC236}">
                <a16:creationId xmlns:a16="http://schemas.microsoft.com/office/drawing/2014/main" id="{0A818CC3-20E9-40C3-B34A-F5A6135D8D35}"/>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层总体框架</a:t>
            </a:r>
          </a:p>
        </p:txBody>
      </p:sp>
      <p:sp>
        <p:nvSpPr>
          <p:cNvPr id="99" name="">
            <a:extLst xmlns:a="http://schemas.openxmlformats.org/drawingml/2006/main">
              <a:ext uri="{FF2B5EF4-FFF2-40B4-BE49-F238E27FC236}">
                <a16:creationId xmlns:a16="http://schemas.microsoft.com/office/drawing/2014/main" id="{172358C1-5E05-4DD6-9D6F-C9BBD90A088D}"/>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alpha val="50000"/>
              </a:srgbClr>
            </a:solidFill>
            <a:prstDash val="solid"/>
          </a:ln>
        </p:spPr>
      </p:sp>
      <p:sp>
        <p:nvSpPr>
          <p:cNvPr id="100" name="">
            <a:extLst xmlns:a="http://schemas.openxmlformats.org/drawingml/2006/main">
              <a:ext uri="{FF2B5EF4-FFF2-40B4-BE49-F238E27FC236}">
                <a16:creationId xmlns:a16="http://schemas.microsoft.com/office/drawing/2014/main" id="{D40760CC-9CD3-444D-B075-E23C6BCCA294}"/>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2E2778D5-1402-4C54-9FCC-EC614C35E00E}"/>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102" name="">
            <a:extLst xmlns:a="http://schemas.openxmlformats.org/drawingml/2006/main">
              <a:ext uri="{FF2B5EF4-FFF2-40B4-BE49-F238E27FC236}">
                <a16:creationId xmlns:a16="http://schemas.microsoft.com/office/drawing/2014/main" id="{5FF2F2F1-611F-4676-9A6E-6FA05410D77A}"/>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项核心创新点</a:t>
            </a:r>
          </a:p>
        </p:txBody>
      </p:sp>
      <p:sp>
        <p:nvSpPr>
          <p:cNvPr id="103" name="">
            <a:extLst xmlns:a="http://schemas.openxmlformats.org/drawingml/2006/main">
              <a:ext uri="{FF2B5EF4-FFF2-40B4-BE49-F238E27FC236}">
                <a16:creationId xmlns:a16="http://schemas.microsoft.com/office/drawing/2014/main" id="{C7D4C8AE-58E5-4A4A-B1A5-4F4082CB078B}"/>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alpha val="50000"/>
              </a:srgbClr>
            </a:solidFill>
            <a:prstDash val="solid"/>
          </a:ln>
        </p:spPr>
      </p:sp>
      <p:sp>
        <p:nvSpPr>
          <p:cNvPr id="104" name="">
            <a:extLst xmlns:a="http://schemas.openxmlformats.org/drawingml/2006/main">
              <a:ext uri="{FF2B5EF4-FFF2-40B4-BE49-F238E27FC236}">
                <a16:creationId xmlns:a16="http://schemas.microsoft.com/office/drawing/2014/main" id="{9F0DE17D-C38E-4DA8-BCB0-DE236BD080EE}"/>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887DEBFE-DC13-41BB-B93B-5DA8B1C56368}"/>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6" name="">
            <a:extLst xmlns:a="http://schemas.openxmlformats.org/drawingml/2006/main">
              <a:ext uri="{FF2B5EF4-FFF2-40B4-BE49-F238E27FC236}">
                <a16:creationId xmlns:a16="http://schemas.microsoft.com/office/drawing/2014/main" id="{29A30A69-F5B0-4235-B535-7BC3C7DD09FE}"/>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个稳定 </a:t>
            </a:r>
            <a:r>
              <a:rPr sz="863" b="0">
                <a:solidFill>
                  <a:srgbClr val="C6DDFF"/>
                </a:solidFill>
                <a:latin typeface="微软雅黑"/>
                <a:ea typeface="微软雅黑"/>
                <a:cs typeface="微软雅黑"/>
              </a:rPr>
              <a:t>Agent </a:t>
            </a:r>
            <a:r>
              <a:rPr sz="863" b="0">
                <a:solidFill>
                  <a:srgbClr val="C6DDFF"/>
                </a:solidFill>
                <a:latin typeface="微软雅黑"/>
                <a:ea typeface="微软雅黑"/>
                <a:cs typeface="微软雅黑"/>
              </a:rPr>
              <a:t>接口</a:t>
            </a:r>
          </a:p>
        </p:txBody>
      </p:sp>
      <p:sp>
        <p:nvSpPr>
          <p:cNvPr id="107" name="">
            <a:extLst xmlns:a="http://schemas.openxmlformats.org/drawingml/2006/main">
              <a:ext uri="{FF2B5EF4-FFF2-40B4-BE49-F238E27FC236}">
                <a16:creationId xmlns:a16="http://schemas.microsoft.com/office/drawing/2014/main" id="{DAC2DCFF-996F-4EF2-A2C0-04995A209C8C}"/>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2E86E0"/>
              </a:gs>
              <a:gs pos="100000">
                <a:srgbClr val="2E86E0">
                  <a:alpha val="0"/>
                </a:srgbClr>
              </a:gs>
            </a:gsLst>
            <a:lin ang="0"/>
          </a:gra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F079CF63-C7A7-422E-B64E-2A2087AB409A}"/>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2E86E0">
              <a:alpha val="60000"/>
            </a:srgbClr>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419A413D-0732-40E4-BFEF-A14297CFD009}"/>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2E86E0">
              <a:alpha val="60000"/>
            </a:srgbClr>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95370ADC-AE00-479E-957C-06C2A8F8D875}"/>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2E86E0">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70879595"/>
      </p:ext>
    </p:extLst>
  </p:cSld>
</p:sld>
</file>

<file path=ppt/slides/slide10.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9bccb46ac65b454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82A872-C4A3-4259-B134-F422E022DC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990C2343-1193-49DF-8B14-61893C2EF374}"/>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2184FF6D-4EDF-41C5-BD92-73894E5E3DD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C3DEA808-D279-4C0B-B7F4-4FFC4871457D}"/>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948CD5B-E23F-4F79-B8B9-A11E7BD092D9}"/>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B3358BEF-61F5-4FD6-A127-883451DEE70D}"/>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B7D71D59-0515-4F03-8035-8A92C99E327B}"/>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7DF0812-8999-4A00-9032-BE80A5D9498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B0C38723-4B32-499F-AF04-BE6AECCD191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3C05BED8-527A-4BDC-9FD4-940E702979EA}"/>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2C82F7D2-68F4-41E8-A833-2DA32B3159C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39B2166-6E6C-4724-A0E0-5B68ED6D3C64}"/>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2E86E0"/>
                </a:solidFill>
                <a:latin typeface="微软雅黑"/>
                <a:ea typeface="微软雅黑"/>
                <a:cs typeface="微软雅黑"/>
              </a:defRPr>
            </a:pPr>
            <a:r>
              <a:rPr sz="863" b="1" spc="1">
                <a:solidFill>
                  <a:srgbClr val="2E86E0"/>
                </a:solidFill>
                <a:latin typeface="微软雅黑"/>
                <a:ea typeface="微软雅黑"/>
                <a:cs typeface="微软雅黑"/>
              </a:rPr>
              <a:t>02　</a:t>
            </a:r>
            <a:r>
              <a:rPr sz="863" b="1" spc="1">
                <a:solidFill>
                  <a:srgbClr val="2E86E0"/>
                </a:solidFill>
                <a:latin typeface="微软雅黑"/>
                <a:ea typeface="微软雅黑"/>
                <a:cs typeface="微软雅黑"/>
              </a:rPr>
              <a:t>总体方案</a:t>
            </a:r>
          </a:p>
        </p:txBody>
      </p:sp>
      <p:sp>
        <p:nvSpPr>
          <p:cNvPr id="14" name="">
            <a:extLst xmlns:a="http://schemas.openxmlformats.org/drawingml/2006/main">
              <a:ext uri="{FF2B5EF4-FFF2-40B4-BE49-F238E27FC236}">
                <a16:creationId xmlns:a16="http://schemas.microsoft.com/office/drawing/2014/main" id="{6E7A5742-FAB8-449A-B45C-93F341C2A81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系统总体框架</a:t>
            </a:r>
          </a:p>
        </p:txBody>
      </p:sp>
      <p:sp>
        <p:nvSpPr>
          <p:cNvPr id="15" name="">
            <a:extLst xmlns:a="http://schemas.openxmlformats.org/drawingml/2006/main">
              <a:ext uri="{FF2B5EF4-FFF2-40B4-BE49-F238E27FC236}">
                <a16:creationId xmlns:a16="http://schemas.microsoft.com/office/drawing/2014/main" id="{106D722D-EA45-48C5-9FDA-8BBFE172A755}"/>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A75A0D91-1B39-448E-8284-3BB83BC44922}"/>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BED9038B-588C-4BE6-9B82-6EA537BB71C4}"/>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73662D41-F746-49C3-87FB-E0ABCF68AD5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9E4A3486-57FB-43B9-A413-E2EEB405A17E}"/>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一套 </a:t>
            </a:r>
            <a:r>
              <a:rPr sz="1238">
                <a:solidFill>
                  <a:srgbClr val="FFFFFF"/>
                </a:solidFill>
                <a:latin typeface="微软雅黑"/>
                <a:ea typeface="微软雅黑"/>
                <a:cs typeface="微软雅黑"/>
              </a:rPr>
              <a:t>MySQL </a:t>
            </a:r>
            <a:r>
              <a:rPr sz="1238">
                <a:solidFill>
                  <a:srgbClr val="FFFFFF"/>
                </a:solidFill>
                <a:latin typeface="微软雅黑"/>
                <a:ea typeface="微软雅黑"/>
                <a:cs typeface="微软雅黑"/>
              </a:rPr>
              <a:t>数据底座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规则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模型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人工三层分离，让系统边界清晰、结论可替换。</a:t>
            </a:r>
          </a:p>
        </p:txBody>
      </p:sp>
      <p:sp>
        <p:nvSpPr>
          <p:cNvPr id="20" name="">
            <a:extLst xmlns:a="http://schemas.openxmlformats.org/drawingml/2006/main">
              <a:ext uri="{FF2B5EF4-FFF2-40B4-BE49-F238E27FC236}">
                <a16:creationId xmlns:a16="http://schemas.microsoft.com/office/drawing/2014/main" id="{2A75B74C-1D25-4469-8835-34E6A8820648}"/>
              </a:ext>
            </a:extLst>
          </p:cNvPr>
          <p:cNvSpPr>
            <a:spLocks xmlns:a="http://schemas.openxmlformats.org/drawingml/2006/main" noGrp="1"/>
          </p:cNvSpPr>
          <p:nvPr/>
        </p:nvSpPr>
        <p:spPr>
          <a:xfrm xmlns:a="http://schemas.openxmlformats.org/drawingml/2006/main">
            <a:off x="285750" y="1333500"/>
            <a:ext cx="11620500" cy="838200"/>
          </a:xfrm>
          <a:prstGeom xmlns:a="http://schemas.openxmlformats.org/drawingml/2006/main" prst="roundRect">
            <a:avLst>
              <a:gd name="adj" fmla="val 1022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B093CE46-1F51-48BD-AD3C-0D3A5F61F87A}"/>
              </a:ext>
            </a:extLst>
          </p:cNvPr>
          <p:cNvSpPr>
            <a:spLocks xmlns:a="http://schemas.openxmlformats.org/drawingml/2006/main" noGrp="1"/>
          </p:cNvSpPr>
          <p:nvPr/>
        </p:nvSpPr>
        <p:spPr>
          <a:xfrm xmlns:a="http://schemas.openxmlformats.org/drawingml/2006/main">
            <a:off x="285750" y="1333500"/>
            <a:ext cx="47625" cy="83820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EF8E942F-E3F7-4AC7-806D-990C6A1CEA5F}"/>
              </a:ext>
            </a:extLst>
          </p:cNvPr>
          <p:cNvSpPr>
            <a:spLocks xmlns:a="http://schemas.openxmlformats.org/drawingml/2006/main" noGrp="1"/>
          </p:cNvSpPr>
          <p:nvPr/>
        </p:nvSpPr>
        <p:spPr>
          <a:xfrm xmlns:a="http://schemas.openxmlformats.org/drawingml/2006/main">
            <a:off x="457200" y="16002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4FD8FF"/>
                </a:solidFill>
                <a:latin typeface="微软雅黑"/>
                <a:ea typeface="微软雅黑"/>
                <a:cs typeface="微软雅黑"/>
              </a:defRPr>
            </a:pPr>
            <a:r>
              <a:rPr sz="1275" b="1">
                <a:solidFill>
                  <a:srgbClr val="4FD8FF"/>
                </a:solidFill>
                <a:latin typeface="微软雅黑"/>
                <a:ea typeface="微软雅黑"/>
                <a:cs typeface="微软雅黑"/>
              </a:rPr>
              <a:t>应用层</a:t>
            </a:r>
          </a:p>
        </p:txBody>
      </p:sp>
      <p:sp>
        <p:nvSpPr>
          <p:cNvPr id="23" name="">
            <a:extLst xmlns:a="http://schemas.openxmlformats.org/drawingml/2006/main">
              <a:ext uri="{FF2B5EF4-FFF2-40B4-BE49-F238E27FC236}">
                <a16:creationId xmlns:a16="http://schemas.microsoft.com/office/drawing/2014/main" id="{C845B690-31E0-4D5E-81C1-107483C4C233}"/>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4" name="">
            <a:extLst xmlns:a="http://schemas.openxmlformats.org/drawingml/2006/main">
              <a:ext uri="{FF2B5EF4-FFF2-40B4-BE49-F238E27FC236}">
                <a16:creationId xmlns:a16="http://schemas.microsoft.com/office/drawing/2014/main" id="{5858BF77-3C9B-461A-91CE-2D286E4DDA10}"/>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个人系统</a:t>
            </a:r>
          </a:p>
        </p:txBody>
      </p:sp>
      <p:sp>
        <p:nvSpPr>
          <p:cNvPr id="25" name="">
            <a:extLst xmlns:a="http://schemas.openxmlformats.org/drawingml/2006/main">
              <a:ext uri="{FF2B5EF4-FFF2-40B4-BE49-F238E27FC236}">
                <a16:creationId xmlns:a16="http://schemas.microsoft.com/office/drawing/2014/main" id="{470DECB5-DAF5-48A2-81C8-3893BB9274D2}"/>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6" name="">
            <a:extLst xmlns:a="http://schemas.openxmlformats.org/drawingml/2006/main">
              <a:ext uri="{FF2B5EF4-FFF2-40B4-BE49-F238E27FC236}">
                <a16:creationId xmlns:a16="http://schemas.microsoft.com/office/drawing/2014/main" id="{2129B142-83BC-4CF8-9D6D-55FB5EC566B3}"/>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考试系统</a:t>
            </a:r>
          </a:p>
        </p:txBody>
      </p:sp>
      <p:sp>
        <p:nvSpPr>
          <p:cNvPr id="27" name="">
            <a:extLst xmlns:a="http://schemas.openxmlformats.org/drawingml/2006/main">
              <a:ext uri="{FF2B5EF4-FFF2-40B4-BE49-F238E27FC236}">
                <a16:creationId xmlns:a16="http://schemas.microsoft.com/office/drawing/2014/main" id="{F474D799-CF9F-4920-AE86-E77D80D3FCAC}"/>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8" name="">
            <a:extLst xmlns:a="http://schemas.openxmlformats.org/drawingml/2006/main">
              <a:ext uri="{FF2B5EF4-FFF2-40B4-BE49-F238E27FC236}">
                <a16:creationId xmlns:a16="http://schemas.microsoft.com/office/drawing/2014/main" id="{83F20394-EB61-4AE9-8EC6-2BCC44FD6B82}"/>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老总管理板块</a:t>
            </a:r>
          </a:p>
        </p:txBody>
      </p:sp>
      <p:sp>
        <p:nvSpPr>
          <p:cNvPr id="29" name="">
            <a:extLst xmlns:a="http://schemas.openxmlformats.org/drawingml/2006/main">
              <a:ext uri="{FF2B5EF4-FFF2-40B4-BE49-F238E27FC236}">
                <a16:creationId xmlns:a16="http://schemas.microsoft.com/office/drawing/2014/main" id="{4147E03D-2076-4817-B9A9-BBBF7044F5F8}"/>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0" name="">
            <a:extLst xmlns:a="http://schemas.openxmlformats.org/drawingml/2006/main">
              <a:ext uri="{FF2B5EF4-FFF2-40B4-BE49-F238E27FC236}">
                <a16:creationId xmlns:a16="http://schemas.microsoft.com/office/drawing/2014/main" id="{4C81F9F9-F317-434C-8D33-8E0A97D51113}"/>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管理员后台</a:t>
            </a:r>
          </a:p>
        </p:txBody>
      </p:sp>
      <p:sp>
        <p:nvSpPr>
          <p:cNvPr id="31" name="">
            <a:extLst xmlns:a="http://schemas.openxmlformats.org/drawingml/2006/main">
              <a:ext uri="{FF2B5EF4-FFF2-40B4-BE49-F238E27FC236}">
                <a16:creationId xmlns:a16="http://schemas.microsoft.com/office/drawing/2014/main" id="{D42A2E99-4AEC-4B12-A2C3-E5BB17241F31}"/>
              </a:ext>
            </a:extLst>
          </p:cNvPr>
          <p:cNvSpPr>
            <a:spLocks xmlns:a="http://schemas.openxmlformats.org/drawingml/2006/main" noGrp="1"/>
          </p:cNvSpPr>
          <p:nvPr/>
        </p:nvSpPr>
        <p:spPr>
          <a:xfrm xmlns:a="http://schemas.openxmlformats.org/drawingml/2006/main">
            <a:off x="1600200" y="18859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员工看短板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统一开考评卷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高层看缺口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管理员配规则</a:t>
            </a:r>
          </a:p>
        </p:txBody>
      </p:sp>
      <p:sp>
        <p:nvSpPr>
          <p:cNvPr id="32" name="">
            <a:extLst xmlns:a="http://schemas.openxmlformats.org/drawingml/2006/main">
              <a:ext uri="{FF2B5EF4-FFF2-40B4-BE49-F238E27FC236}">
                <a16:creationId xmlns:a16="http://schemas.microsoft.com/office/drawing/2014/main" id="{9805358C-864F-45D0-A506-247969ABA597}"/>
              </a:ext>
            </a:extLst>
          </p:cNvPr>
          <p:cNvSpPr>
            <a:spLocks xmlns:a="http://schemas.openxmlformats.org/drawingml/2006/main" noGrp="1"/>
          </p:cNvSpPr>
          <p:nvPr/>
        </p:nvSpPr>
        <p:spPr>
          <a:xfrm xmlns:a="http://schemas.openxmlformats.org/drawingml/2006/main">
            <a:off x="285750" y="2286000"/>
            <a:ext cx="11620500" cy="838200"/>
          </a:xfrm>
          <a:prstGeom xmlns:a="http://schemas.openxmlformats.org/drawingml/2006/main" prst="roundRect">
            <a:avLst>
              <a:gd name="adj" fmla="val 10227"/>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2EFE0BBF-67AF-4507-AC83-53BB43571C39}"/>
              </a:ext>
            </a:extLst>
          </p:cNvPr>
          <p:cNvSpPr>
            <a:spLocks xmlns:a="http://schemas.openxmlformats.org/drawingml/2006/main" noGrp="1"/>
          </p:cNvSpPr>
          <p:nvPr/>
        </p:nvSpPr>
        <p:spPr>
          <a:xfrm xmlns:a="http://schemas.openxmlformats.org/drawingml/2006/main">
            <a:off x="285750" y="2286000"/>
            <a:ext cx="47625" cy="8382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83AB1002-02E5-4A77-A4B9-AC6939D13262}"/>
              </a:ext>
            </a:extLst>
          </p:cNvPr>
          <p:cNvSpPr>
            <a:spLocks xmlns:a="http://schemas.openxmlformats.org/drawingml/2006/main" noGrp="1"/>
          </p:cNvSpPr>
          <p:nvPr/>
        </p:nvSpPr>
        <p:spPr>
          <a:xfrm xmlns:a="http://schemas.openxmlformats.org/drawingml/2006/main">
            <a:off x="457200" y="25527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2E86E0"/>
                </a:solidFill>
                <a:latin typeface="微软雅黑"/>
                <a:ea typeface="微软雅黑"/>
                <a:cs typeface="微软雅黑"/>
              </a:defRPr>
            </a:pPr>
            <a:r>
              <a:rPr sz="1275" b="1">
                <a:solidFill>
                  <a:srgbClr val="2E86E0"/>
                </a:solidFill>
                <a:latin typeface="微软雅黑"/>
                <a:ea typeface="微软雅黑"/>
                <a:cs typeface="微软雅黑"/>
              </a:rPr>
              <a:t>智能层</a:t>
            </a:r>
          </a:p>
        </p:txBody>
      </p:sp>
      <p:sp>
        <p:nvSpPr>
          <p:cNvPr id="35" name="">
            <a:extLst xmlns:a="http://schemas.openxmlformats.org/drawingml/2006/main">
              <a:ext uri="{FF2B5EF4-FFF2-40B4-BE49-F238E27FC236}">
                <a16:creationId xmlns:a16="http://schemas.microsoft.com/office/drawing/2014/main" id="{2381D074-51C9-4A93-822F-1359A00F4653}"/>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6" name="">
            <a:extLst xmlns:a="http://schemas.openxmlformats.org/drawingml/2006/main">
              <a:ext uri="{FF2B5EF4-FFF2-40B4-BE49-F238E27FC236}">
                <a16:creationId xmlns:a16="http://schemas.microsoft.com/office/drawing/2014/main" id="{BB72385F-6C50-49FF-9F49-CEC2B7D888E1}"/>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规则引擎 </a:t>
            </a:r>
            <a:r>
              <a:rPr sz="938" b="1">
                <a:solidFill>
                  <a:srgbClr val="FFFFFF"/>
                </a:solidFill>
                <a:latin typeface="微软雅黑"/>
                <a:ea typeface="微软雅黑"/>
                <a:cs typeface="微软雅黑"/>
              </a:rPr>
              <a:t>RuleEngine</a:t>
            </a:r>
          </a:p>
        </p:txBody>
      </p:sp>
      <p:sp>
        <p:nvSpPr>
          <p:cNvPr id="37" name="">
            <a:extLst xmlns:a="http://schemas.openxmlformats.org/drawingml/2006/main">
              <a:ext uri="{FF2B5EF4-FFF2-40B4-BE49-F238E27FC236}">
                <a16:creationId xmlns:a16="http://schemas.microsoft.com/office/drawing/2014/main" id="{8C208980-F3B4-4F88-894A-4A71589B1EA9}"/>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8" name="">
            <a:extLst xmlns:a="http://schemas.openxmlformats.org/drawingml/2006/main">
              <a:ext uri="{FF2B5EF4-FFF2-40B4-BE49-F238E27FC236}">
                <a16:creationId xmlns:a16="http://schemas.microsoft.com/office/drawing/2014/main" id="{7BA92D2B-9A00-429B-8E62-6F6D96E2B0B3}"/>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三个 </a:t>
            </a:r>
            <a:r>
              <a:rPr sz="938" b="1">
                <a:solidFill>
                  <a:srgbClr val="FFFFFF"/>
                </a:solidFill>
                <a:latin typeface="微软雅黑"/>
                <a:ea typeface="微软雅黑"/>
                <a:cs typeface="微软雅黑"/>
              </a:rPr>
              <a:t>Agent </a:t>
            </a:r>
            <a:r>
              <a:rPr sz="938" b="1">
                <a:solidFill>
                  <a:srgbClr val="FFFFFF"/>
                </a:solidFill>
                <a:latin typeface="微软雅黑"/>
                <a:ea typeface="微软雅黑"/>
                <a:cs typeface="微软雅黑"/>
              </a:rPr>
              <a:t>接口桩</a:t>
            </a:r>
          </a:p>
        </p:txBody>
      </p:sp>
      <p:sp>
        <p:nvSpPr>
          <p:cNvPr id="39" name="">
            <a:extLst xmlns:a="http://schemas.openxmlformats.org/drawingml/2006/main">
              <a:ext uri="{FF2B5EF4-FFF2-40B4-BE49-F238E27FC236}">
                <a16:creationId xmlns:a16="http://schemas.microsoft.com/office/drawing/2014/main" id="{1BE5C3F6-47BD-4ACB-A27D-3D151D069DFF}"/>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0" name="">
            <a:extLst xmlns:a="http://schemas.openxmlformats.org/drawingml/2006/main">
              <a:ext uri="{FF2B5EF4-FFF2-40B4-BE49-F238E27FC236}">
                <a16:creationId xmlns:a16="http://schemas.microsoft.com/office/drawing/2014/main" id="{E0F4F813-BE9B-48F0-B441-C8E93239949B}"/>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source=rule → model</a:t>
            </a:r>
          </a:p>
        </p:txBody>
      </p:sp>
      <p:sp>
        <p:nvSpPr>
          <p:cNvPr id="41" name="">
            <a:extLst xmlns:a="http://schemas.openxmlformats.org/drawingml/2006/main">
              <a:ext uri="{FF2B5EF4-FFF2-40B4-BE49-F238E27FC236}">
                <a16:creationId xmlns:a16="http://schemas.microsoft.com/office/drawing/2014/main" id="{98403F01-C8A8-4580-A7A3-5D196DA88FB1}"/>
              </a:ext>
            </a:extLst>
          </p:cNvPr>
          <p:cNvSpPr>
            <a:spLocks xmlns:a="http://schemas.openxmlformats.org/drawingml/2006/main" noGrp="1"/>
          </p:cNvSpPr>
          <p:nvPr/>
        </p:nvSpPr>
        <p:spPr>
          <a:xfrm xmlns:a="http://schemas.openxmlformats.org/drawingml/2006/main">
            <a:off x="1600200" y="28384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只换 </a:t>
            </a:r>
            <a:r>
              <a:rPr sz="900" b="0">
                <a:solidFill>
                  <a:srgbClr val="C6DDFF"/>
                </a:solidFill>
                <a:latin typeface="微软雅黑"/>
                <a:ea typeface="微软雅黑"/>
                <a:cs typeface="微软雅黑"/>
              </a:rPr>
              <a:t>Service </a:t>
            </a:r>
            <a:r>
              <a:rPr sz="900" b="0">
                <a:solidFill>
                  <a:srgbClr val="C6DDFF"/>
                </a:solidFill>
                <a:latin typeface="微软雅黑"/>
                <a:ea typeface="微软雅黑"/>
                <a:cs typeface="微软雅黑"/>
              </a:rPr>
              <a:t>实现，</a:t>
            </a:r>
            <a:r>
              <a:rPr sz="900" b="0">
                <a:solidFill>
                  <a:srgbClr val="C6DDFF"/>
                </a:solidFill>
                <a:latin typeface="微软雅黑"/>
                <a:ea typeface="微软雅黑"/>
                <a:cs typeface="微软雅黑"/>
              </a:rPr>
              <a:t>Controller / DTO / </a:t>
            </a:r>
            <a:r>
              <a:rPr sz="900" b="0">
                <a:solidFill>
                  <a:srgbClr val="C6DDFF"/>
                </a:solidFill>
                <a:latin typeface="微软雅黑"/>
                <a:ea typeface="微软雅黑"/>
                <a:cs typeface="微软雅黑"/>
              </a:rPr>
              <a:t>接口路径与前端全部不动</a:t>
            </a:r>
          </a:p>
        </p:txBody>
      </p:sp>
      <p:sp>
        <p:nvSpPr>
          <p:cNvPr id="42" name="">
            <a:extLst xmlns:a="http://schemas.openxmlformats.org/drawingml/2006/main">
              <a:ext uri="{FF2B5EF4-FFF2-40B4-BE49-F238E27FC236}">
                <a16:creationId xmlns:a16="http://schemas.microsoft.com/office/drawing/2014/main" id="{437B0BE7-33F2-4B68-A762-CE777EE19621}"/>
              </a:ext>
            </a:extLst>
          </p:cNvPr>
          <p:cNvSpPr>
            <a:spLocks xmlns:a="http://schemas.openxmlformats.org/drawingml/2006/main" noGrp="1"/>
          </p:cNvSpPr>
          <p:nvPr/>
        </p:nvSpPr>
        <p:spPr>
          <a:xfrm xmlns:a="http://schemas.openxmlformats.org/drawingml/2006/main">
            <a:off x="285750" y="3238500"/>
            <a:ext cx="11620500" cy="838200"/>
          </a:xfrm>
          <a:prstGeom xmlns:a="http://schemas.openxmlformats.org/drawingml/2006/main" prst="roundRect">
            <a:avLst>
              <a:gd name="adj" fmla="val 1022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3" name="">
            <a:extLst xmlns:a="http://schemas.openxmlformats.org/drawingml/2006/main">
              <a:ext uri="{FF2B5EF4-FFF2-40B4-BE49-F238E27FC236}">
                <a16:creationId xmlns:a16="http://schemas.microsoft.com/office/drawing/2014/main" id="{43C090E6-9CE3-4D2C-BEB9-93983FF4D5D6}"/>
              </a:ext>
            </a:extLst>
          </p:cNvPr>
          <p:cNvSpPr>
            <a:spLocks xmlns:a="http://schemas.openxmlformats.org/drawingml/2006/main" noGrp="1"/>
          </p:cNvSpPr>
          <p:nvPr/>
        </p:nvSpPr>
        <p:spPr>
          <a:xfrm xmlns:a="http://schemas.openxmlformats.org/drawingml/2006/main">
            <a:off x="285750" y="3238500"/>
            <a:ext cx="47625" cy="838200"/>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82307E0A-C0A3-494E-8373-F21EEC701818}"/>
              </a:ext>
            </a:extLst>
          </p:cNvPr>
          <p:cNvSpPr>
            <a:spLocks xmlns:a="http://schemas.openxmlformats.org/drawingml/2006/main" noGrp="1"/>
          </p:cNvSpPr>
          <p:nvPr/>
        </p:nvSpPr>
        <p:spPr>
          <a:xfrm xmlns:a="http://schemas.openxmlformats.org/drawingml/2006/main">
            <a:off x="457200" y="35052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5FE3A1"/>
                </a:solidFill>
                <a:latin typeface="微软雅黑"/>
                <a:ea typeface="微软雅黑"/>
                <a:cs typeface="微软雅黑"/>
              </a:defRPr>
            </a:pPr>
            <a:r>
              <a:rPr sz="1275" b="1">
                <a:solidFill>
                  <a:srgbClr val="5FE3A1"/>
                </a:solidFill>
                <a:latin typeface="微软雅黑"/>
                <a:ea typeface="微软雅黑"/>
                <a:cs typeface="微软雅黑"/>
              </a:rPr>
              <a:t>数据层</a:t>
            </a:r>
          </a:p>
        </p:txBody>
      </p:sp>
      <p:sp>
        <p:nvSpPr>
          <p:cNvPr id="45" name="">
            <a:extLst xmlns:a="http://schemas.openxmlformats.org/drawingml/2006/main">
              <a:ext uri="{FF2B5EF4-FFF2-40B4-BE49-F238E27FC236}">
                <a16:creationId xmlns:a16="http://schemas.microsoft.com/office/drawing/2014/main" id="{45BA74E9-B15A-44F6-89CC-807929855184}"/>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6" name="">
            <a:extLst xmlns:a="http://schemas.openxmlformats.org/drawingml/2006/main">
              <a:ext uri="{FF2B5EF4-FFF2-40B4-BE49-F238E27FC236}">
                <a16:creationId xmlns:a16="http://schemas.microsoft.com/office/drawing/2014/main" id="{591DD346-DD97-4F3F-B1D6-0932B0F22DBC}"/>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8 </a:t>
            </a:r>
            <a:r>
              <a:rPr sz="938" b="1">
                <a:solidFill>
                  <a:srgbClr val="FFFFFF"/>
                </a:solidFill>
                <a:latin typeface="微软雅黑"/>
                <a:ea typeface="微软雅黑"/>
                <a:cs typeface="微软雅黑"/>
              </a:rPr>
              <a:t>一套库</a:t>
            </a:r>
          </a:p>
        </p:txBody>
      </p:sp>
      <p:sp>
        <p:nvSpPr>
          <p:cNvPr id="47" name="">
            <a:extLst xmlns:a="http://schemas.openxmlformats.org/drawingml/2006/main">
              <a:ext uri="{FF2B5EF4-FFF2-40B4-BE49-F238E27FC236}">
                <a16:creationId xmlns:a16="http://schemas.microsoft.com/office/drawing/2014/main" id="{ADA9ED7A-E9E9-48BF-91C1-835E44A7D06F}"/>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8" name="">
            <a:extLst xmlns:a="http://schemas.openxmlformats.org/drawingml/2006/main">
              <a:ext uri="{FF2B5EF4-FFF2-40B4-BE49-F238E27FC236}">
                <a16:creationId xmlns:a16="http://schemas.microsoft.com/office/drawing/2014/main" id="{C2131AF1-F2BB-4722-8502-A1E03DDF92C6}"/>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53 </a:t>
            </a:r>
            <a:r>
              <a:rPr sz="938" b="1">
                <a:solidFill>
                  <a:srgbClr val="FFFFFF"/>
                </a:solidFill>
                <a:latin typeface="微软雅黑"/>
                <a:ea typeface="微软雅黑"/>
                <a:cs typeface="微软雅黑"/>
              </a:rPr>
              <a:t>张表 </a:t>
            </a:r>
            <a:r>
              <a:rPr sz="938" b="1">
                <a:solidFill>
                  <a:srgbClr val="FFFFFF"/>
                </a:solidFill>
                <a:latin typeface="微软雅黑"/>
                <a:ea typeface="微软雅黑"/>
                <a:cs typeface="微软雅黑"/>
              </a:rPr>
              <a:t>/ 7 </a:t>
            </a:r>
            <a:r>
              <a:rPr sz="938" b="1">
                <a:solidFill>
                  <a:srgbClr val="FFFFFF"/>
                </a:solidFill>
                <a:latin typeface="微软雅黑"/>
                <a:ea typeface="微软雅黑"/>
                <a:cs typeface="微软雅黑"/>
              </a:rPr>
              <a:t>组</a:t>
            </a:r>
          </a:p>
        </p:txBody>
      </p:sp>
      <p:sp>
        <p:nvSpPr>
          <p:cNvPr id="49" name="">
            <a:extLst xmlns:a="http://schemas.openxmlformats.org/drawingml/2006/main">
              <a:ext uri="{FF2B5EF4-FFF2-40B4-BE49-F238E27FC236}">
                <a16:creationId xmlns:a16="http://schemas.microsoft.com/office/drawing/2014/main" id="{F1B20A8F-5CAE-487A-82E1-AF850F9B4009}"/>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0" name="">
            <a:extLst xmlns:a="http://schemas.openxmlformats.org/drawingml/2006/main">
              <a:ext uri="{FF2B5EF4-FFF2-40B4-BE49-F238E27FC236}">
                <a16:creationId xmlns:a16="http://schemas.microsoft.com/office/drawing/2014/main" id="{2386D164-88A3-4E02-AF82-3455AC2D3391}"/>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主数据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业务 </a:t>
            </a:r>
            <a:r>
              <a:rPr sz="938" b="1">
                <a:solidFill>
                  <a:srgbClr val="FFFFFF"/>
                </a:solidFill>
                <a:latin typeface="微软雅黑"/>
                <a:ea typeface="微软雅黑"/>
                <a:cs typeface="微软雅黑"/>
              </a:rPr>
              <a:t>· Agent </a:t>
            </a:r>
            <a:r>
              <a:rPr sz="938" b="1">
                <a:solidFill>
                  <a:srgbClr val="FFFFFF"/>
                </a:solidFill>
                <a:latin typeface="微软雅黑"/>
                <a:ea typeface="微软雅黑"/>
                <a:cs typeface="微软雅黑"/>
              </a:rPr>
              <a:t>结论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审计</a:t>
            </a:r>
          </a:p>
        </p:txBody>
      </p:sp>
      <p:sp>
        <p:nvSpPr>
          <p:cNvPr id="51" name="">
            <a:extLst xmlns:a="http://schemas.openxmlformats.org/drawingml/2006/main">
              <a:ext uri="{FF2B5EF4-FFF2-40B4-BE49-F238E27FC236}">
                <a16:creationId xmlns:a16="http://schemas.microsoft.com/office/drawing/2014/main" id="{5486AB28-BB68-40C6-B2FB-2E33131F4BDC}"/>
              </a:ext>
            </a:extLst>
          </p:cNvPr>
          <p:cNvSpPr>
            <a:spLocks xmlns:a="http://schemas.openxmlformats.org/drawingml/2006/main" noGrp="1"/>
          </p:cNvSpPr>
          <p:nvPr/>
        </p:nvSpPr>
        <p:spPr>
          <a:xfrm xmlns:a="http://schemas.openxmlformats.org/drawingml/2006/main">
            <a:off x="1600200" y="37909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规则与结论全部落库，改规则只动数据库，不碰代码</a:t>
            </a:r>
          </a:p>
        </p:txBody>
      </p:sp>
      <p:sp>
        <p:nvSpPr>
          <p:cNvPr id="52" name="">
            <a:extLst xmlns:a="http://schemas.openxmlformats.org/drawingml/2006/main">
              <a:ext uri="{FF2B5EF4-FFF2-40B4-BE49-F238E27FC236}">
                <a16:creationId xmlns:a16="http://schemas.microsoft.com/office/drawing/2014/main" id="{89CF5875-99A8-4585-B2BB-8A1B88779543}"/>
              </a:ext>
            </a:extLst>
          </p:cNvPr>
          <p:cNvSpPr>
            <a:spLocks xmlns:a="http://schemas.openxmlformats.org/drawingml/2006/main" noGrp="1"/>
          </p:cNvSpPr>
          <p:nvPr/>
        </p:nvSpPr>
        <p:spPr>
          <a:xfrm xmlns:a="http://schemas.openxmlformats.org/drawingml/2006/main">
            <a:off x="285750" y="4191000"/>
            <a:ext cx="11620500" cy="838200"/>
          </a:xfrm>
          <a:prstGeom xmlns:a="http://schemas.openxmlformats.org/drawingml/2006/main" prst="roundRect">
            <a:avLst>
              <a:gd name="adj" fmla="val 10227"/>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9C27DD68-322D-4B8B-9134-8231E195AEE9}"/>
              </a:ext>
            </a:extLst>
          </p:cNvPr>
          <p:cNvSpPr>
            <a:spLocks xmlns:a="http://schemas.openxmlformats.org/drawingml/2006/main" noGrp="1"/>
          </p:cNvSpPr>
          <p:nvPr/>
        </p:nvSpPr>
        <p:spPr>
          <a:xfrm xmlns:a="http://schemas.openxmlformats.org/drawingml/2006/main">
            <a:off x="285750" y="4191000"/>
            <a:ext cx="47625" cy="838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C484FDC8-4FD5-4F31-9F4E-A0975CD9B057}"/>
              </a:ext>
            </a:extLst>
          </p:cNvPr>
          <p:cNvSpPr>
            <a:spLocks xmlns:a="http://schemas.openxmlformats.org/drawingml/2006/main" noGrp="1"/>
          </p:cNvSpPr>
          <p:nvPr/>
        </p:nvSpPr>
        <p:spPr>
          <a:xfrm xmlns:a="http://schemas.openxmlformats.org/drawingml/2006/main">
            <a:off x="457200" y="44577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D24A"/>
                </a:solidFill>
                <a:latin typeface="微软雅黑"/>
                <a:ea typeface="微软雅黑"/>
                <a:cs typeface="微软雅黑"/>
              </a:defRPr>
            </a:pPr>
            <a:r>
              <a:rPr sz="1275" b="1">
                <a:solidFill>
                  <a:srgbClr val="FFD24A"/>
                </a:solidFill>
                <a:latin typeface="微软雅黑"/>
                <a:ea typeface="微软雅黑"/>
                <a:cs typeface="微软雅黑"/>
              </a:rPr>
              <a:t>留痕层</a:t>
            </a:r>
          </a:p>
        </p:txBody>
      </p:sp>
      <p:sp>
        <p:nvSpPr>
          <p:cNvPr id="55" name="">
            <a:extLst xmlns:a="http://schemas.openxmlformats.org/drawingml/2006/main">
              <a:ext uri="{FF2B5EF4-FFF2-40B4-BE49-F238E27FC236}">
                <a16:creationId xmlns:a16="http://schemas.microsoft.com/office/drawing/2014/main" id="{851C8CFA-EFD4-49E6-B0CD-803B379D3498}"/>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6" name="">
            <a:extLst xmlns:a="http://schemas.openxmlformats.org/drawingml/2006/main">
              <a:ext uri="{FF2B5EF4-FFF2-40B4-BE49-F238E27FC236}">
                <a16:creationId xmlns:a16="http://schemas.microsoft.com/office/drawing/2014/main" id="{0ED1B22A-8C2F-416D-AF80-BCA2E04004F0}"/>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rule_result </a:t>
            </a:r>
            <a:r>
              <a:rPr sz="938" b="1">
                <a:solidFill>
                  <a:srgbClr val="FFFFFF"/>
                </a:solidFill>
                <a:latin typeface="微软雅黑"/>
                <a:ea typeface="微软雅黑"/>
                <a:cs typeface="微软雅黑"/>
              </a:rPr>
              <a:t>执行留痕</a:t>
            </a:r>
          </a:p>
        </p:txBody>
      </p:sp>
      <p:sp>
        <p:nvSpPr>
          <p:cNvPr id="57" name="">
            <a:extLst xmlns:a="http://schemas.openxmlformats.org/drawingml/2006/main">
              <a:ext uri="{FF2B5EF4-FFF2-40B4-BE49-F238E27FC236}">
                <a16:creationId xmlns:a16="http://schemas.microsoft.com/office/drawing/2014/main" id="{AEA3553A-E247-4247-982A-228FA40916CB}"/>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8" name="">
            <a:extLst xmlns:a="http://schemas.openxmlformats.org/drawingml/2006/main">
              <a:ext uri="{FF2B5EF4-FFF2-40B4-BE49-F238E27FC236}">
                <a16:creationId xmlns:a16="http://schemas.microsoft.com/office/drawing/2014/main" id="{6AB3E900-D148-40C6-A238-632B1B86BD65}"/>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agent_suggestion </a:t>
            </a:r>
            <a:r>
              <a:rPr sz="938" b="1">
                <a:solidFill>
                  <a:srgbClr val="FFFFFF"/>
                </a:solidFill>
                <a:latin typeface="微软雅黑"/>
                <a:ea typeface="微软雅黑"/>
                <a:cs typeface="微软雅黑"/>
              </a:rPr>
              <a:t>建议</a:t>
            </a:r>
          </a:p>
        </p:txBody>
      </p:sp>
      <p:sp>
        <p:nvSpPr>
          <p:cNvPr id="59" name="">
            <a:extLst xmlns:a="http://schemas.openxmlformats.org/drawingml/2006/main">
              <a:ext uri="{FF2B5EF4-FFF2-40B4-BE49-F238E27FC236}">
                <a16:creationId xmlns:a16="http://schemas.microsoft.com/office/drawing/2014/main" id="{4046A331-B9A6-4280-9B3E-49567D12A320}"/>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60" name="">
            <a:extLst xmlns:a="http://schemas.openxmlformats.org/drawingml/2006/main">
              <a:ext uri="{FF2B5EF4-FFF2-40B4-BE49-F238E27FC236}">
                <a16:creationId xmlns:a16="http://schemas.microsoft.com/office/drawing/2014/main" id="{A706A9C1-159A-4D9C-A4CB-DDFCA399ADF0}"/>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decision_log </a:t>
            </a:r>
            <a:r>
              <a:rPr sz="938" b="1">
                <a:solidFill>
                  <a:srgbClr val="FFFFFF"/>
                </a:solidFill>
                <a:latin typeface="微软雅黑"/>
                <a:ea typeface="微软雅黑"/>
                <a:cs typeface="微软雅黑"/>
              </a:rPr>
              <a:t>人工决定</a:t>
            </a:r>
          </a:p>
        </p:txBody>
      </p:sp>
      <p:sp>
        <p:nvSpPr>
          <p:cNvPr id="61" name="">
            <a:extLst xmlns:a="http://schemas.openxmlformats.org/drawingml/2006/main">
              <a:ext uri="{FF2B5EF4-FFF2-40B4-BE49-F238E27FC236}">
                <a16:creationId xmlns:a16="http://schemas.microsoft.com/office/drawing/2014/main" id="{18ADEE02-25DB-427D-8722-59F2E2F89AF1}"/>
              </a:ext>
            </a:extLst>
          </p:cNvPr>
          <p:cNvSpPr>
            <a:spLocks xmlns:a="http://schemas.openxmlformats.org/drawingml/2006/main" noGrp="1"/>
          </p:cNvSpPr>
          <p:nvPr/>
        </p:nvSpPr>
        <p:spPr>
          <a:xfrm xmlns:a="http://schemas.openxmlformats.org/drawingml/2006/main">
            <a:off x="1600200" y="47434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一次归因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一个 </a:t>
            </a:r>
            <a:r>
              <a:rPr sz="900" b="0">
                <a:solidFill>
                  <a:srgbClr val="C6DDFF"/>
                </a:solidFill>
                <a:latin typeface="微软雅黑"/>
                <a:ea typeface="微软雅黑"/>
                <a:cs typeface="微软雅黑"/>
              </a:rPr>
              <a:t>run_id</a:t>
            </a:r>
            <a:r>
              <a:rPr sz="900" b="0">
                <a:solidFill>
                  <a:srgbClr val="C6DDFF"/>
                </a:solidFill>
                <a:latin typeface="微软雅黑"/>
                <a:ea typeface="微软雅黑"/>
                <a:cs typeface="微软雅黑"/>
              </a:rPr>
              <a:t>，三张表串成完整证据链</a:t>
            </a:r>
          </a:p>
        </p:txBody>
      </p:sp>
      <p:sp>
        <p:nvSpPr>
          <p:cNvPr id="62" name="">
            <a:extLst xmlns:a="http://schemas.openxmlformats.org/drawingml/2006/main">
              <a:ext uri="{FF2B5EF4-FFF2-40B4-BE49-F238E27FC236}">
                <a16:creationId xmlns:a16="http://schemas.microsoft.com/office/drawing/2014/main" id="{2249FB73-3B97-4015-9F45-895087A45281}"/>
              </a:ext>
            </a:extLst>
          </p:cNvPr>
          <p:cNvSpPr>
            <a:spLocks xmlns:a="http://schemas.openxmlformats.org/drawingml/2006/main" noGrp="1"/>
          </p:cNvSpPr>
          <p:nvPr/>
        </p:nvSpPr>
        <p:spPr>
          <a:xfrm xmlns:a="http://schemas.openxmlformats.org/drawingml/2006/main">
            <a:off x="285750" y="5143500"/>
            <a:ext cx="11620500" cy="838200"/>
          </a:xfrm>
          <a:prstGeom xmlns:a="http://schemas.openxmlformats.org/drawingml/2006/main" prst="roundRect">
            <a:avLst>
              <a:gd name="adj" fmla="val 1022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63" name="">
            <a:extLst xmlns:a="http://schemas.openxmlformats.org/drawingml/2006/main">
              <a:ext uri="{FF2B5EF4-FFF2-40B4-BE49-F238E27FC236}">
                <a16:creationId xmlns:a16="http://schemas.microsoft.com/office/drawing/2014/main" id="{5FB03543-B454-4B2F-828A-8EB0660BBB53}"/>
              </a:ext>
            </a:extLst>
          </p:cNvPr>
          <p:cNvSpPr>
            <a:spLocks xmlns:a="http://schemas.openxmlformats.org/drawingml/2006/main" noGrp="1"/>
          </p:cNvSpPr>
          <p:nvPr/>
        </p:nvSpPr>
        <p:spPr>
          <a:xfrm xmlns:a="http://schemas.openxmlformats.org/drawingml/2006/main">
            <a:off x="285750" y="5143500"/>
            <a:ext cx="47625" cy="838200"/>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5D711A06-D5C0-4768-942A-8BBB39A99929}"/>
              </a:ext>
            </a:extLst>
          </p:cNvPr>
          <p:cNvSpPr>
            <a:spLocks xmlns:a="http://schemas.openxmlformats.org/drawingml/2006/main" noGrp="1"/>
          </p:cNvSpPr>
          <p:nvPr/>
        </p:nvSpPr>
        <p:spPr>
          <a:xfrm xmlns:a="http://schemas.openxmlformats.org/drawingml/2006/main">
            <a:off x="457200" y="5410200"/>
            <a:ext cx="10287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B7A6FF"/>
                </a:solidFill>
                <a:latin typeface="微软雅黑"/>
                <a:ea typeface="微软雅黑"/>
                <a:cs typeface="微软雅黑"/>
              </a:defRPr>
            </a:pPr>
            <a:r>
              <a:rPr sz="1275" b="1">
                <a:solidFill>
                  <a:srgbClr val="B7A6FF"/>
                </a:solidFill>
                <a:latin typeface="微软雅黑"/>
                <a:ea typeface="微软雅黑"/>
                <a:cs typeface="微软雅黑"/>
              </a:rPr>
              <a:t>部署层</a:t>
            </a:r>
          </a:p>
        </p:txBody>
      </p:sp>
      <p:sp>
        <p:nvSpPr>
          <p:cNvPr id="65" name="">
            <a:extLst xmlns:a="http://schemas.openxmlformats.org/drawingml/2006/main">
              <a:ext uri="{FF2B5EF4-FFF2-40B4-BE49-F238E27FC236}">
                <a16:creationId xmlns:a16="http://schemas.microsoft.com/office/drawing/2014/main" id="{B12E2FCF-A29D-4E4E-928E-BB2C21CAD5C8}"/>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66" name="">
            <a:extLst xmlns:a="http://schemas.openxmlformats.org/drawingml/2006/main">
              <a:ext uri="{FF2B5EF4-FFF2-40B4-BE49-F238E27FC236}">
                <a16:creationId xmlns:a16="http://schemas.microsoft.com/office/drawing/2014/main" id="{8B676C60-C897-4B50-BFC2-9B1DFDB68436}"/>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Docker Compose</a:t>
            </a:r>
          </a:p>
        </p:txBody>
      </p:sp>
      <p:sp>
        <p:nvSpPr>
          <p:cNvPr id="67" name="">
            <a:extLst xmlns:a="http://schemas.openxmlformats.org/drawingml/2006/main">
              <a:ext uri="{FF2B5EF4-FFF2-40B4-BE49-F238E27FC236}">
                <a16:creationId xmlns:a16="http://schemas.microsoft.com/office/drawing/2014/main" id="{74FE22A8-07CE-462C-BBA9-7AB8E4DDF8B1}"/>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68" name="">
            <a:extLst xmlns:a="http://schemas.openxmlformats.org/drawingml/2006/main">
              <a:ext uri="{FF2B5EF4-FFF2-40B4-BE49-F238E27FC236}">
                <a16:creationId xmlns:a16="http://schemas.microsoft.com/office/drawing/2014/main" id="{283F5876-B203-4D27-8499-0F336AE224E9}"/>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 API + Web</a:t>
            </a:r>
          </a:p>
        </p:txBody>
      </p:sp>
      <p:sp>
        <p:nvSpPr>
          <p:cNvPr id="69" name="">
            <a:extLst xmlns:a="http://schemas.openxmlformats.org/drawingml/2006/main">
              <a:ext uri="{FF2B5EF4-FFF2-40B4-BE49-F238E27FC236}">
                <a16:creationId xmlns:a16="http://schemas.microsoft.com/office/drawing/2014/main" id="{D41E6792-1453-4AD3-8059-E661A9A50BA0}"/>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70" name="">
            <a:extLst xmlns:a="http://schemas.openxmlformats.org/drawingml/2006/main">
              <a:ext uri="{FF2B5EF4-FFF2-40B4-BE49-F238E27FC236}">
                <a16:creationId xmlns:a16="http://schemas.microsoft.com/office/drawing/2014/main" id="{8AA84A9B-11B9-48A2-AE2D-1E44C0D9225B}"/>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内网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离线可运行</a:t>
            </a:r>
          </a:p>
        </p:txBody>
      </p:sp>
      <p:sp>
        <p:nvSpPr>
          <p:cNvPr id="71" name="">
            <a:extLst xmlns:a="http://schemas.openxmlformats.org/drawingml/2006/main">
              <a:ext uri="{FF2B5EF4-FFF2-40B4-BE49-F238E27FC236}">
                <a16:creationId xmlns:a16="http://schemas.microsoft.com/office/drawing/2014/main" id="{EA0D11AD-3FA1-4523-82ED-1C71880D4CEE}"/>
              </a:ext>
            </a:extLst>
          </p:cNvPr>
          <p:cNvSpPr>
            <a:spLocks xmlns:a="http://schemas.openxmlformats.org/drawingml/2006/main" noGrp="1"/>
          </p:cNvSpPr>
          <p:nvPr/>
        </p:nvSpPr>
        <p:spPr>
          <a:xfrm xmlns:a="http://schemas.openxmlformats.org/drawingml/2006/main">
            <a:off x="1600200" y="5695950"/>
            <a:ext cx="9906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AI_ENABLED </a:t>
            </a:r>
            <a:r>
              <a:rPr sz="900" b="0">
                <a:solidFill>
                  <a:srgbClr val="C6DDFF"/>
                </a:solidFill>
                <a:latin typeface="微软雅黑"/>
                <a:ea typeface="微软雅黑"/>
                <a:cs typeface="微软雅黑"/>
              </a:rPr>
              <a:t>默认 </a:t>
            </a:r>
            <a:r>
              <a:rPr sz="900" b="0">
                <a:solidFill>
                  <a:srgbClr val="C6DDFF"/>
                </a:solidFill>
                <a:latin typeface="微软雅黑"/>
                <a:ea typeface="微软雅黑"/>
                <a:cs typeface="微软雅黑"/>
              </a:rPr>
              <a:t>false</a:t>
            </a:r>
            <a:r>
              <a:rPr sz="900" b="0">
                <a:solidFill>
                  <a:srgbClr val="C6DDFF"/>
                </a:solidFill>
                <a:latin typeface="微软雅黑"/>
                <a:ea typeface="微软雅黑"/>
                <a:cs typeface="微软雅黑"/>
              </a:rPr>
              <a:t>，规则链路不依赖任何外部模型</a:t>
            </a:r>
          </a:p>
        </p:txBody>
      </p:sp>
      <p:sp>
        <p:nvSpPr>
          <p:cNvPr id="72" name="">
            <a:extLst xmlns:a="http://schemas.openxmlformats.org/drawingml/2006/main">
              <a:ext uri="{FF2B5EF4-FFF2-40B4-BE49-F238E27FC236}">
                <a16:creationId xmlns:a16="http://schemas.microsoft.com/office/drawing/2014/main" id="{2D79E6B6-5CFE-407F-B863-F72662865DC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293F5363-7BCD-4E56-A720-FEB914EF6F57}"/>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053E07F5-3784-448E-BBB6-45BEB4F06279}"/>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5" name="">
            <a:extLst xmlns:a="http://schemas.openxmlformats.org/drawingml/2006/main">
              <a:ext uri="{FF2B5EF4-FFF2-40B4-BE49-F238E27FC236}">
                <a16:creationId xmlns:a16="http://schemas.microsoft.com/office/drawing/2014/main" id="{2CB8EACC-82A2-4E26-B04C-FD681F548E09}"/>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C446D3AF-B3AC-4523-8C36-0FD38E2C1408}"/>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10</a:t>
            </a:r>
          </a:p>
        </p:txBody>
      </p:sp>
    </p:spTree>
    <p:extLst>
      <p:ext uri="{BB962C8B-B14F-4D97-AF65-F5344CB8AC3E}">
        <p14:creationId xmlns:p14="http://schemas.microsoft.com/office/powerpoint/2010/main" val="24107432"/>
      </p:ext>
    </p:extLst>
  </p:cSld>
</p:sld>
</file>

<file path=ppt/slides/slide11.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4ea9ce6cb16949a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B33BBB-CD17-4961-A99D-3856EE1BAA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EC7A4B8E-7ECA-4E4E-9057-75E963BD007E}"/>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933A9F0E-E3CC-467F-AE1F-75482F728A28}"/>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13A3C444-DD66-41C5-BE22-35DAF0CB7A98}"/>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C2B04683-CA94-4675-A287-085E23029F37}"/>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1FD4F0A5-731B-40D3-A3C6-4063F207FBD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E345F2E4-2372-4CF1-B940-533A9F1FB46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8423687F-6E7D-40E4-9D02-2E95AE069854}"/>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23B3D03E-4FBF-40E1-ADFE-4D45499CF0F8}"/>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1FC47703-819B-48DC-8F56-36A19F3069E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8E07C02F-E0B1-4C15-802C-DB9AA55AFFE9}"/>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0CB1E869-B307-4E41-A904-E03C9BAD1590}"/>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2E86E0"/>
                </a:solidFill>
                <a:latin typeface="微软雅黑"/>
                <a:ea typeface="微软雅黑"/>
                <a:cs typeface="微软雅黑"/>
              </a:defRPr>
            </a:pPr>
            <a:r>
              <a:rPr sz="863" b="1" spc="1">
                <a:solidFill>
                  <a:srgbClr val="2E86E0"/>
                </a:solidFill>
                <a:latin typeface="微软雅黑"/>
                <a:ea typeface="微软雅黑"/>
                <a:cs typeface="微软雅黑"/>
              </a:rPr>
              <a:t>02　</a:t>
            </a:r>
            <a:r>
              <a:rPr sz="863" b="1" spc="1">
                <a:solidFill>
                  <a:srgbClr val="2E86E0"/>
                </a:solidFill>
                <a:latin typeface="微软雅黑"/>
                <a:ea typeface="微软雅黑"/>
                <a:cs typeface="微软雅黑"/>
              </a:rPr>
              <a:t>总体方案</a:t>
            </a:r>
          </a:p>
        </p:txBody>
      </p:sp>
      <p:sp>
        <p:nvSpPr>
          <p:cNvPr id="14" name="">
            <a:extLst xmlns:a="http://schemas.openxmlformats.org/drawingml/2006/main">
              <a:ext uri="{FF2B5EF4-FFF2-40B4-BE49-F238E27FC236}">
                <a16:creationId xmlns:a16="http://schemas.microsoft.com/office/drawing/2014/main" id="{4DCFA8B0-B73A-42C9-B767-52529242BE46}"/>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技术路线与数据流</a:t>
            </a:r>
          </a:p>
        </p:txBody>
      </p:sp>
      <p:sp>
        <p:nvSpPr>
          <p:cNvPr id="15" name="">
            <a:extLst xmlns:a="http://schemas.openxmlformats.org/drawingml/2006/main">
              <a:ext uri="{FF2B5EF4-FFF2-40B4-BE49-F238E27FC236}">
                <a16:creationId xmlns:a16="http://schemas.microsoft.com/office/drawing/2014/main" id="{0E3112D4-DE9D-4CB1-B4AE-AD9CCB6657D8}"/>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7109BF7E-BCC3-4057-81CE-E6DC8C5C0693}"/>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DAA9FB8C-70FA-49E1-8DA6-B45576AE0C1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B6828BC3-27CA-454E-B86B-E2CCE635365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7B4A2BD3-5DA2-453F-AE0D-0A8761914B27}"/>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从「业务问题」到「省下的成本」，中间每一步都由可复算的规则完成并留痕。</a:t>
            </a:r>
          </a:p>
        </p:txBody>
      </p:sp>
      <p:sp>
        <p:nvSpPr>
          <p:cNvPr id="20" name="">
            <a:extLst xmlns:a="http://schemas.openxmlformats.org/drawingml/2006/main">
              <a:ext uri="{FF2B5EF4-FFF2-40B4-BE49-F238E27FC236}">
                <a16:creationId xmlns:a16="http://schemas.microsoft.com/office/drawing/2014/main" id="{BABACB99-B4B7-457A-93D2-718F48435AA1}"/>
              </a:ext>
            </a:extLst>
          </p:cNvPr>
          <p:cNvSpPr>
            <a:spLocks xmlns:a="http://schemas.openxmlformats.org/drawingml/2006/main" noGrp="1"/>
          </p:cNvSpPr>
          <p:nvPr/>
        </p:nvSpPr>
        <p:spPr>
          <a:xfrm xmlns:a="http://schemas.openxmlformats.org/drawingml/2006/main">
            <a:off x="2857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73920F76-3303-4B48-8C39-55522EF52CD2}"/>
              </a:ext>
            </a:extLst>
          </p:cNvPr>
          <p:cNvSpPr>
            <a:spLocks xmlns:a="http://schemas.openxmlformats.org/drawingml/2006/main" noGrp="1"/>
          </p:cNvSpPr>
          <p:nvPr/>
        </p:nvSpPr>
        <p:spPr>
          <a:xfrm xmlns:a="http://schemas.openxmlformats.org/drawingml/2006/main">
            <a:off x="285750" y="1428750"/>
            <a:ext cx="1790700" cy="381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2B316D09-C5BB-4679-BADC-9AAF1A0C2EE8}"/>
              </a:ext>
            </a:extLst>
          </p:cNvPr>
          <p:cNvSpPr>
            <a:spLocks xmlns:a="http://schemas.openxmlformats.org/drawingml/2006/main" noGrp="1"/>
          </p:cNvSpPr>
          <p:nvPr/>
        </p:nvSpPr>
        <p:spPr>
          <a:xfrm xmlns:a="http://schemas.openxmlformats.org/drawingml/2006/main">
            <a:off x="4381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01</a:t>
            </a:r>
          </a:p>
        </p:txBody>
      </p:sp>
      <p:sp>
        <p:nvSpPr>
          <p:cNvPr id="23" name="">
            <a:extLst xmlns:a="http://schemas.openxmlformats.org/drawingml/2006/main">
              <a:ext uri="{FF2B5EF4-FFF2-40B4-BE49-F238E27FC236}">
                <a16:creationId xmlns:a16="http://schemas.microsoft.com/office/drawing/2014/main" id="{176836DD-57A5-4070-B316-CF9CCF78D231}"/>
              </a:ext>
            </a:extLst>
          </p:cNvPr>
          <p:cNvSpPr>
            <a:spLocks xmlns:a="http://schemas.openxmlformats.org/drawingml/2006/main" noGrp="1"/>
          </p:cNvSpPr>
          <p:nvPr/>
        </p:nvSpPr>
        <p:spPr>
          <a:xfrm xmlns:a="http://schemas.openxmlformats.org/drawingml/2006/main">
            <a:off x="4381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业务问题</a:t>
            </a:r>
          </a:p>
        </p:txBody>
      </p:sp>
      <p:sp>
        <p:nvSpPr>
          <p:cNvPr id="24" name="">
            <a:extLst xmlns:a="http://schemas.openxmlformats.org/drawingml/2006/main">
              <a:ext uri="{FF2B5EF4-FFF2-40B4-BE49-F238E27FC236}">
                <a16:creationId xmlns:a16="http://schemas.microsoft.com/office/drawing/2014/main" id="{C5E83F07-085C-4E36-B32C-257542F531B7}"/>
              </a:ext>
            </a:extLst>
          </p:cNvPr>
          <p:cNvSpPr>
            <a:spLocks xmlns:a="http://schemas.openxmlformats.org/drawingml/2006/main" noGrp="1"/>
          </p:cNvSpPr>
          <p:nvPr/>
        </p:nvSpPr>
        <p:spPr>
          <a:xfrm xmlns:a="http://schemas.openxmlformats.org/drawingml/2006/main">
            <a:off x="4381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缺人还是缺技能？</a:t>
            </a:r>
          </a:p>
        </p:txBody>
      </p:sp>
      <p:sp>
        <p:nvSpPr>
          <p:cNvPr id="25" name="">
            <a:extLst xmlns:a="http://schemas.openxmlformats.org/drawingml/2006/main">
              <a:ext uri="{FF2B5EF4-FFF2-40B4-BE49-F238E27FC236}">
                <a16:creationId xmlns:a16="http://schemas.microsoft.com/office/drawing/2014/main" id="{00839A7A-EE94-49D7-AEEF-52DC778EAB83}"/>
              </a:ext>
            </a:extLst>
          </p:cNvPr>
          <p:cNvSpPr>
            <a:spLocks xmlns:a="http://schemas.openxmlformats.org/drawingml/2006/main" noGrp="1"/>
          </p:cNvSpPr>
          <p:nvPr/>
        </p:nvSpPr>
        <p:spPr>
          <a:xfrm xmlns:a="http://schemas.openxmlformats.org/drawingml/2006/main">
            <a:off x="438150" y="2400300"/>
            <a:ext cx="3429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A56AA205-B7BE-4604-BF41-9291FEB0E283}"/>
              </a:ext>
            </a:extLst>
          </p:cNvPr>
          <p:cNvSpPr>
            <a:spLocks xmlns:a="http://schemas.openxmlformats.org/drawingml/2006/main" noGrp="1"/>
          </p:cNvSpPr>
          <p:nvPr/>
        </p:nvSpPr>
        <p:spPr>
          <a:xfrm xmlns:a="http://schemas.openxmlformats.org/drawingml/2006/main">
            <a:off x="4381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岗位要求、未来需求、关键岗位备份</a:t>
            </a:r>
          </a:p>
        </p:txBody>
      </p:sp>
      <p:sp>
        <p:nvSpPr>
          <p:cNvPr id="27" name="">
            <a:extLst xmlns:a="http://schemas.openxmlformats.org/drawingml/2006/main">
              <a:ext uri="{FF2B5EF4-FFF2-40B4-BE49-F238E27FC236}">
                <a16:creationId xmlns:a16="http://schemas.microsoft.com/office/drawing/2014/main" id="{39DD1FAD-ED8D-4DB1-A40D-65D7A3C4D170}"/>
              </a:ext>
            </a:extLst>
          </p:cNvPr>
          <p:cNvSpPr>
            <a:spLocks xmlns:a="http://schemas.openxmlformats.org/drawingml/2006/main" noGrp="1"/>
          </p:cNvSpPr>
          <p:nvPr/>
        </p:nvSpPr>
        <p:spPr>
          <a:xfrm xmlns:a="http://schemas.openxmlformats.org/drawingml/2006/main">
            <a:off x="20955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28" name="">
            <a:extLst xmlns:a="http://schemas.openxmlformats.org/drawingml/2006/main">
              <a:ext uri="{FF2B5EF4-FFF2-40B4-BE49-F238E27FC236}">
                <a16:creationId xmlns:a16="http://schemas.microsoft.com/office/drawing/2014/main" id="{A7438128-D098-4071-9BA6-3071B110E01D}"/>
              </a:ext>
            </a:extLst>
          </p:cNvPr>
          <p:cNvSpPr>
            <a:spLocks xmlns:a="http://schemas.openxmlformats.org/drawingml/2006/main" noGrp="1"/>
          </p:cNvSpPr>
          <p:nvPr/>
        </p:nvSpPr>
        <p:spPr>
          <a:xfrm xmlns:a="http://schemas.openxmlformats.org/drawingml/2006/main">
            <a:off x="22669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6415B668-2AE3-48B7-A275-75CE34D356E2}"/>
              </a:ext>
            </a:extLst>
          </p:cNvPr>
          <p:cNvSpPr>
            <a:spLocks xmlns:a="http://schemas.openxmlformats.org/drawingml/2006/main" noGrp="1"/>
          </p:cNvSpPr>
          <p:nvPr/>
        </p:nvSpPr>
        <p:spPr>
          <a:xfrm xmlns:a="http://schemas.openxmlformats.org/drawingml/2006/main">
            <a:off x="2266950" y="1428750"/>
            <a:ext cx="1790700" cy="381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47C2CF6-8AAB-4CD9-94BF-B43FA3F20118}"/>
              </a:ext>
            </a:extLst>
          </p:cNvPr>
          <p:cNvSpPr>
            <a:spLocks xmlns:a="http://schemas.openxmlformats.org/drawingml/2006/main" noGrp="1"/>
          </p:cNvSpPr>
          <p:nvPr/>
        </p:nvSpPr>
        <p:spPr>
          <a:xfrm xmlns:a="http://schemas.openxmlformats.org/drawingml/2006/main">
            <a:off x="24193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02</a:t>
            </a:r>
          </a:p>
        </p:txBody>
      </p:sp>
      <p:sp>
        <p:nvSpPr>
          <p:cNvPr id="31" name="">
            <a:extLst xmlns:a="http://schemas.openxmlformats.org/drawingml/2006/main">
              <a:ext uri="{FF2B5EF4-FFF2-40B4-BE49-F238E27FC236}">
                <a16:creationId xmlns:a16="http://schemas.microsoft.com/office/drawing/2014/main" id="{E1E20F39-A5AC-414C-B3F9-727D48C9DB48}"/>
              </a:ext>
            </a:extLst>
          </p:cNvPr>
          <p:cNvSpPr>
            <a:spLocks xmlns:a="http://schemas.openxmlformats.org/drawingml/2006/main" noGrp="1"/>
          </p:cNvSpPr>
          <p:nvPr/>
        </p:nvSpPr>
        <p:spPr>
          <a:xfrm xmlns:a="http://schemas.openxmlformats.org/drawingml/2006/main">
            <a:off x="24193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数据入库</a:t>
            </a:r>
          </a:p>
        </p:txBody>
      </p:sp>
      <p:sp>
        <p:nvSpPr>
          <p:cNvPr id="32" name="">
            <a:extLst xmlns:a="http://schemas.openxmlformats.org/drawingml/2006/main">
              <a:ext uri="{FF2B5EF4-FFF2-40B4-BE49-F238E27FC236}">
                <a16:creationId xmlns:a16="http://schemas.microsoft.com/office/drawing/2014/main" id="{9B95CFEF-58CC-4FF0-938B-3F7FE9D0D341}"/>
              </a:ext>
            </a:extLst>
          </p:cNvPr>
          <p:cNvSpPr>
            <a:spLocks xmlns:a="http://schemas.openxmlformats.org/drawingml/2006/main" noGrp="1"/>
          </p:cNvSpPr>
          <p:nvPr/>
        </p:nvSpPr>
        <p:spPr>
          <a:xfrm xmlns:a="http://schemas.openxmlformats.org/drawingml/2006/main">
            <a:off x="24193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结构化事实</a:t>
            </a:r>
          </a:p>
        </p:txBody>
      </p:sp>
      <p:sp>
        <p:nvSpPr>
          <p:cNvPr id="33" name="">
            <a:extLst xmlns:a="http://schemas.openxmlformats.org/drawingml/2006/main">
              <a:ext uri="{FF2B5EF4-FFF2-40B4-BE49-F238E27FC236}">
                <a16:creationId xmlns:a16="http://schemas.microsoft.com/office/drawing/2014/main" id="{EBCC1EBA-1A99-4588-99BE-E7C186BBCEF3}"/>
              </a:ext>
            </a:extLst>
          </p:cNvPr>
          <p:cNvSpPr>
            <a:spLocks xmlns:a="http://schemas.openxmlformats.org/drawingml/2006/main" noGrp="1"/>
          </p:cNvSpPr>
          <p:nvPr/>
        </p:nvSpPr>
        <p:spPr>
          <a:xfrm xmlns:a="http://schemas.openxmlformats.org/drawingml/2006/main">
            <a:off x="2419350" y="2400300"/>
            <a:ext cx="3429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F664D330-3D0E-46B3-BEB5-A943B2F52F06}"/>
              </a:ext>
            </a:extLst>
          </p:cNvPr>
          <p:cNvSpPr>
            <a:spLocks xmlns:a="http://schemas.openxmlformats.org/drawingml/2006/main" noGrp="1"/>
          </p:cNvSpPr>
          <p:nvPr/>
        </p:nvSpPr>
        <p:spPr>
          <a:xfrm xmlns:a="http://schemas.openxmlformats.org/drawingml/2006/main">
            <a:off x="24193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考试分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技能等级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检测值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报告文本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工时</a:t>
            </a:r>
          </a:p>
        </p:txBody>
      </p:sp>
      <p:sp>
        <p:nvSpPr>
          <p:cNvPr id="35" name="">
            <a:extLst xmlns:a="http://schemas.openxmlformats.org/drawingml/2006/main">
              <a:ext uri="{FF2B5EF4-FFF2-40B4-BE49-F238E27FC236}">
                <a16:creationId xmlns:a16="http://schemas.microsoft.com/office/drawing/2014/main" id="{32A18A6D-A469-4C44-8A50-0379F412A083}"/>
              </a:ext>
            </a:extLst>
          </p:cNvPr>
          <p:cNvSpPr>
            <a:spLocks xmlns:a="http://schemas.openxmlformats.org/drawingml/2006/main" noGrp="1"/>
          </p:cNvSpPr>
          <p:nvPr/>
        </p:nvSpPr>
        <p:spPr>
          <a:xfrm xmlns:a="http://schemas.openxmlformats.org/drawingml/2006/main">
            <a:off x="40767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36" name="">
            <a:extLst xmlns:a="http://schemas.openxmlformats.org/drawingml/2006/main">
              <a:ext uri="{FF2B5EF4-FFF2-40B4-BE49-F238E27FC236}">
                <a16:creationId xmlns:a16="http://schemas.microsoft.com/office/drawing/2014/main" id="{53301A51-05F6-426B-A43F-0AE8ABBA742B}"/>
              </a:ext>
            </a:extLst>
          </p:cNvPr>
          <p:cNvSpPr>
            <a:spLocks xmlns:a="http://schemas.openxmlformats.org/drawingml/2006/main" noGrp="1"/>
          </p:cNvSpPr>
          <p:nvPr/>
        </p:nvSpPr>
        <p:spPr>
          <a:xfrm xmlns:a="http://schemas.openxmlformats.org/drawingml/2006/main">
            <a:off x="42481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58CBFF32-D5B1-4A73-9FD9-4B1DB3E34256}"/>
              </a:ext>
            </a:extLst>
          </p:cNvPr>
          <p:cNvSpPr>
            <a:spLocks xmlns:a="http://schemas.openxmlformats.org/drawingml/2006/main" noGrp="1"/>
          </p:cNvSpPr>
          <p:nvPr/>
        </p:nvSpPr>
        <p:spPr>
          <a:xfrm xmlns:a="http://schemas.openxmlformats.org/drawingml/2006/main">
            <a:off x="4248150" y="1428750"/>
            <a:ext cx="1790700" cy="381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13B2DFAA-4835-4577-BC61-BBDD0B99FA3C}"/>
              </a:ext>
            </a:extLst>
          </p:cNvPr>
          <p:cNvSpPr>
            <a:spLocks xmlns:a="http://schemas.openxmlformats.org/drawingml/2006/main" noGrp="1"/>
          </p:cNvSpPr>
          <p:nvPr/>
        </p:nvSpPr>
        <p:spPr>
          <a:xfrm xmlns:a="http://schemas.openxmlformats.org/drawingml/2006/main">
            <a:off x="44005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03</a:t>
            </a:r>
          </a:p>
        </p:txBody>
      </p:sp>
      <p:sp>
        <p:nvSpPr>
          <p:cNvPr id="39" name="">
            <a:extLst xmlns:a="http://schemas.openxmlformats.org/drawingml/2006/main">
              <a:ext uri="{FF2B5EF4-FFF2-40B4-BE49-F238E27FC236}">
                <a16:creationId xmlns:a16="http://schemas.microsoft.com/office/drawing/2014/main" id="{6F46C50C-5BC1-4454-8D30-553B551A7745}"/>
              </a:ext>
            </a:extLst>
          </p:cNvPr>
          <p:cNvSpPr>
            <a:spLocks xmlns:a="http://schemas.openxmlformats.org/drawingml/2006/main" noGrp="1"/>
          </p:cNvSpPr>
          <p:nvPr/>
        </p:nvSpPr>
        <p:spPr>
          <a:xfrm xmlns:a="http://schemas.openxmlformats.org/drawingml/2006/main">
            <a:off x="44005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规则匹配</a:t>
            </a:r>
          </a:p>
        </p:txBody>
      </p:sp>
      <p:sp>
        <p:nvSpPr>
          <p:cNvPr id="40" name="">
            <a:extLst xmlns:a="http://schemas.openxmlformats.org/drawingml/2006/main">
              <a:ext uri="{FF2B5EF4-FFF2-40B4-BE49-F238E27FC236}">
                <a16:creationId xmlns:a16="http://schemas.microsoft.com/office/drawing/2014/main" id="{F285A72D-D417-4D00-944B-56D5FE0BFCF7}"/>
              </a:ext>
            </a:extLst>
          </p:cNvPr>
          <p:cNvSpPr>
            <a:spLocks xmlns:a="http://schemas.openxmlformats.org/drawingml/2006/main" noGrp="1"/>
          </p:cNvSpPr>
          <p:nvPr/>
        </p:nvSpPr>
        <p:spPr>
          <a:xfrm xmlns:a="http://schemas.openxmlformats.org/drawingml/2006/main">
            <a:off x="44005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确定性求值</a:t>
            </a:r>
          </a:p>
        </p:txBody>
      </p:sp>
      <p:sp>
        <p:nvSpPr>
          <p:cNvPr id="41" name="">
            <a:extLst xmlns:a="http://schemas.openxmlformats.org/drawingml/2006/main">
              <a:ext uri="{FF2B5EF4-FFF2-40B4-BE49-F238E27FC236}">
                <a16:creationId xmlns:a16="http://schemas.microsoft.com/office/drawing/2014/main" id="{ECEF6A7C-04EE-4A58-BC9F-39130459786B}"/>
              </a:ext>
            </a:extLst>
          </p:cNvPr>
          <p:cNvSpPr>
            <a:spLocks xmlns:a="http://schemas.openxmlformats.org/drawingml/2006/main" noGrp="1"/>
          </p:cNvSpPr>
          <p:nvPr/>
        </p:nvSpPr>
        <p:spPr>
          <a:xfrm xmlns:a="http://schemas.openxmlformats.org/drawingml/2006/main">
            <a:off x="4400550" y="2400300"/>
            <a:ext cx="3429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38592BF8-2AA9-43B8-99D4-0217DDCA559D}"/>
              </a:ext>
            </a:extLst>
          </p:cNvPr>
          <p:cNvSpPr>
            <a:spLocks xmlns:a="http://schemas.openxmlformats.org/drawingml/2006/main" noGrp="1"/>
          </p:cNvSpPr>
          <p:nvPr/>
        </p:nvSpPr>
        <p:spPr>
          <a:xfrm xmlns:a="http://schemas.openxmlformats.org/drawingml/2006/main">
            <a:off x="44005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按场景取规则 </a:t>
            </a:r>
            <a:r>
              <a:rPr sz="863" b="0">
                <a:solidFill>
                  <a:srgbClr val="EEF5FF"/>
                </a:solidFill>
                <a:latin typeface="微软雅黑"/>
                <a:ea typeface="微软雅黑"/>
                <a:cs typeface="微软雅黑"/>
              </a:rPr>
              <a:t>→ priority </a:t>
            </a:r>
            <a:r>
              <a:rPr sz="863" b="0">
                <a:solidFill>
                  <a:srgbClr val="EEF5FF"/>
                </a:solidFill>
                <a:latin typeface="微软雅黑"/>
                <a:ea typeface="微软雅黑"/>
                <a:cs typeface="微软雅黑"/>
              </a:rPr>
              <a:t>降序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白名单算子</a:t>
            </a:r>
          </a:p>
        </p:txBody>
      </p:sp>
      <p:sp>
        <p:nvSpPr>
          <p:cNvPr id="43" name="">
            <a:extLst xmlns:a="http://schemas.openxmlformats.org/drawingml/2006/main">
              <a:ext uri="{FF2B5EF4-FFF2-40B4-BE49-F238E27FC236}">
                <a16:creationId xmlns:a16="http://schemas.microsoft.com/office/drawing/2014/main" id="{D0D1FB90-56C4-43CD-AC5F-CB3C3A60829F}"/>
              </a:ext>
            </a:extLst>
          </p:cNvPr>
          <p:cNvSpPr>
            <a:spLocks xmlns:a="http://schemas.openxmlformats.org/drawingml/2006/main" noGrp="1"/>
          </p:cNvSpPr>
          <p:nvPr/>
        </p:nvSpPr>
        <p:spPr>
          <a:xfrm xmlns:a="http://schemas.openxmlformats.org/drawingml/2006/main">
            <a:off x="60579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44" name="">
            <a:extLst xmlns:a="http://schemas.openxmlformats.org/drawingml/2006/main">
              <a:ext uri="{FF2B5EF4-FFF2-40B4-BE49-F238E27FC236}">
                <a16:creationId xmlns:a16="http://schemas.microsoft.com/office/drawing/2014/main" id="{575BD777-60AB-48E3-93FB-6C04A9E85D4B}"/>
              </a:ext>
            </a:extLst>
          </p:cNvPr>
          <p:cNvSpPr>
            <a:spLocks xmlns:a="http://schemas.openxmlformats.org/drawingml/2006/main" noGrp="1"/>
          </p:cNvSpPr>
          <p:nvPr/>
        </p:nvSpPr>
        <p:spPr>
          <a:xfrm xmlns:a="http://schemas.openxmlformats.org/drawingml/2006/main">
            <a:off x="62293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5" name="">
            <a:extLst xmlns:a="http://schemas.openxmlformats.org/drawingml/2006/main">
              <a:ext uri="{FF2B5EF4-FFF2-40B4-BE49-F238E27FC236}">
                <a16:creationId xmlns:a16="http://schemas.microsoft.com/office/drawing/2014/main" id="{259A77FA-A4CE-4FA8-8909-C3A16CDE6F27}"/>
              </a:ext>
            </a:extLst>
          </p:cNvPr>
          <p:cNvSpPr>
            <a:spLocks xmlns:a="http://schemas.openxmlformats.org/drawingml/2006/main" noGrp="1"/>
          </p:cNvSpPr>
          <p:nvPr/>
        </p:nvSpPr>
        <p:spPr>
          <a:xfrm xmlns:a="http://schemas.openxmlformats.org/drawingml/2006/main">
            <a:off x="6229350" y="1428750"/>
            <a:ext cx="1790700" cy="381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ABA23375-12B1-4725-A484-295B45FC86B8}"/>
              </a:ext>
            </a:extLst>
          </p:cNvPr>
          <p:cNvSpPr>
            <a:spLocks xmlns:a="http://schemas.openxmlformats.org/drawingml/2006/main" noGrp="1"/>
          </p:cNvSpPr>
          <p:nvPr/>
        </p:nvSpPr>
        <p:spPr>
          <a:xfrm xmlns:a="http://schemas.openxmlformats.org/drawingml/2006/main">
            <a:off x="63817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04</a:t>
            </a:r>
          </a:p>
        </p:txBody>
      </p:sp>
      <p:sp>
        <p:nvSpPr>
          <p:cNvPr id="47" name="">
            <a:extLst xmlns:a="http://schemas.openxmlformats.org/drawingml/2006/main">
              <a:ext uri="{FF2B5EF4-FFF2-40B4-BE49-F238E27FC236}">
                <a16:creationId xmlns:a16="http://schemas.microsoft.com/office/drawing/2014/main" id="{63EB6B21-3E58-4624-83A4-0271959CACEC}"/>
              </a:ext>
            </a:extLst>
          </p:cNvPr>
          <p:cNvSpPr>
            <a:spLocks xmlns:a="http://schemas.openxmlformats.org/drawingml/2006/main" noGrp="1"/>
          </p:cNvSpPr>
          <p:nvPr/>
        </p:nvSpPr>
        <p:spPr>
          <a:xfrm xmlns:a="http://schemas.openxmlformats.org/drawingml/2006/main">
            <a:off x="63817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结论生成</a:t>
            </a:r>
          </a:p>
        </p:txBody>
      </p:sp>
      <p:sp>
        <p:nvSpPr>
          <p:cNvPr id="48" name="">
            <a:extLst xmlns:a="http://schemas.openxmlformats.org/drawingml/2006/main">
              <a:ext uri="{FF2B5EF4-FFF2-40B4-BE49-F238E27FC236}">
                <a16:creationId xmlns:a16="http://schemas.microsoft.com/office/drawing/2014/main" id="{3E86B126-0850-4663-BED6-383E3BA80CEB}"/>
              </a:ext>
            </a:extLst>
          </p:cNvPr>
          <p:cNvSpPr>
            <a:spLocks xmlns:a="http://schemas.openxmlformats.org/drawingml/2006/main" noGrp="1"/>
          </p:cNvSpPr>
          <p:nvPr/>
        </p:nvSpPr>
        <p:spPr>
          <a:xfrm xmlns:a="http://schemas.openxmlformats.org/drawingml/2006/main">
            <a:off x="63817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带依据的判定</a:t>
            </a:r>
          </a:p>
        </p:txBody>
      </p:sp>
      <p:sp>
        <p:nvSpPr>
          <p:cNvPr id="49" name="">
            <a:extLst xmlns:a="http://schemas.openxmlformats.org/drawingml/2006/main">
              <a:ext uri="{FF2B5EF4-FFF2-40B4-BE49-F238E27FC236}">
                <a16:creationId xmlns:a16="http://schemas.microsoft.com/office/drawing/2014/main" id="{DC25E6FF-ED16-474F-80D7-B0D8C4C105D3}"/>
              </a:ext>
            </a:extLst>
          </p:cNvPr>
          <p:cNvSpPr>
            <a:spLocks xmlns:a="http://schemas.openxmlformats.org/drawingml/2006/main" noGrp="1"/>
          </p:cNvSpPr>
          <p:nvPr/>
        </p:nvSpPr>
        <p:spPr>
          <a:xfrm xmlns:a="http://schemas.openxmlformats.org/drawingml/2006/main">
            <a:off x="6381750" y="2400300"/>
            <a:ext cx="3429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5936C867-8396-41C0-976E-9282B92519C7}"/>
              </a:ext>
            </a:extLst>
          </p:cNvPr>
          <p:cNvSpPr>
            <a:spLocks xmlns:a="http://schemas.openxmlformats.org/drawingml/2006/main" noGrp="1"/>
          </p:cNvSpPr>
          <p:nvPr/>
        </p:nvSpPr>
        <p:spPr>
          <a:xfrm xmlns:a="http://schemas.openxmlformats.org/drawingml/2006/main">
            <a:off x="63817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verdict</a:t>
            </a:r>
            <a:r>
              <a:rPr sz="863" b="0">
                <a:solidFill>
                  <a:srgbClr val="EEF5FF"/>
                </a:solidFill>
                <a:latin typeface="微软雅黑"/>
                <a:ea typeface="微软雅黑"/>
                <a:cs typeface="微软雅黑"/>
              </a:rPr>
              <a:t>：动作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原因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严重度 </a:t>
            </a:r>
            <a:r>
              <a:rPr sz="863" b="0">
                <a:solidFill>
                  <a:srgbClr val="EEF5FF"/>
                </a:solidFill>
                <a:latin typeface="微软雅黑"/>
                <a:ea typeface="微软雅黑"/>
                <a:cs typeface="微软雅黑"/>
              </a:rPr>
              <a:t>/ rule_refs / </a:t>
            </a:r>
            <a:r>
              <a:rPr sz="863" b="0">
                <a:solidFill>
                  <a:srgbClr val="EEF5FF"/>
                </a:solidFill>
                <a:latin typeface="微软雅黑"/>
                <a:ea typeface="微软雅黑"/>
                <a:cs typeface="微软雅黑"/>
              </a:rPr>
              <a:t>置信度</a:t>
            </a:r>
          </a:p>
        </p:txBody>
      </p:sp>
      <p:sp>
        <p:nvSpPr>
          <p:cNvPr id="51" name="">
            <a:extLst xmlns:a="http://schemas.openxmlformats.org/drawingml/2006/main">
              <a:ext uri="{FF2B5EF4-FFF2-40B4-BE49-F238E27FC236}">
                <a16:creationId xmlns:a16="http://schemas.microsoft.com/office/drawing/2014/main" id="{136FAA2F-257C-46AB-8F8B-C335AB4DCFFB}"/>
              </a:ext>
            </a:extLst>
          </p:cNvPr>
          <p:cNvSpPr>
            <a:spLocks xmlns:a="http://schemas.openxmlformats.org/drawingml/2006/main" noGrp="1"/>
          </p:cNvSpPr>
          <p:nvPr/>
        </p:nvSpPr>
        <p:spPr>
          <a:xfrm xmlns:a="http://schemas.openxmlformats.org/drawingml/2006/main">
            <a:off x="80391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52" name="">
            <a:extLst xmlns:a="http://schemas.openxmlformats.org/drawingml/2006/main">
              <a:ext uri="{FF2B5EF4-FFF2-40B4-BE49-F238E27FC236}">
                <a16:creationId xmlns:a16="http://schemas.microsoft.com/office/drawing/2014/main" id="{BED15925-AE88-4979-A21A-200EDFEA67CA}"/>
              </a:ext>
            </a:extLst>
          </p:cNvPr>
          <p:cNvSpPr>
            <a:spLocks xmlns:a="http://schemas.openxmlformats.org/drawingml/2006/main" noGrp="1"/>
          </p:cNvSpPr>
          <p:nvPr/>
        </p:nvSpPr>
        <p:spPr>
          <a:xfrm xmlns:a="http://schemas.openxmlformats.org/drawingml/2006/main">
            <a:off x="82105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471E1550-5621-473C-9FD2-0DEA73F86C8D}"/>
              </a:ext>
            </a:extLst>
          </p:cNvPr>
          <p:cNvSpPr>
            <a:spLocks xmlns:a="http://schemas.openxmlformats.org/drawingml/2006/main" noGrp="1"/>
          </p:cNvSpPr>
          <p:nvPr/>
        </p:nvSpPr>
        <p:spPr>
          <a:xfrm xmlns:a="http://schemas.openxmlformats.org/drawingml/2006/main">
            <a:off x="8210550" y="1428750"/>
            <a:ext cx="1790700" cy="381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4EAB4D8D-4D00-4D54-84C5-55676B108BA9}"/>
              </a:ext>
            </a:extLst>
          </p:cNvPr>
          <p:cNvSpPr>
            <a:spLocks xmlns:a="http://schemas.openxmlformats.org/drawingml/2006/main" noGrp="1"/>
          </p:cNvSpPr>
          <p:nvPr/>
        </p:nvSpPr>
        <p:spPr>
          <a:xfrm xmlns:a="http://schemas.openxmlformats.org/drawingml/2006/main">
            <a:off x="83629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05</a:t>
            </a:r>
          </a:p>
        </p:txBody>
      </p:sp>
      <p:sp>
        <p:nvSpPr>
          <p:cNvPr id="55" name="">
            <a:extLst xmlns:a="http://schemas.openxmlformats.org/drawingml/2006/main">
              <a:ext uri="{FF2B5EF4-FFF2-40B4-BE49-F238E27FC236}">
                <a16:creationId xmlns:a16="http://schemas.microsoft.com/office/drawing/2014/main" id="{89697220-63E2-47A0-91C3-9A4D82805895}"/>
              </a:ext>
            </a:extLst>
          </p:cNvPr>
          <p:cNvSpPr>
            <a:spLocks xmlns:a="http://schemas.openxmlformats.org/drawingml/2006/main" noGrp="1"/>
          </p:cNvSpPr>
          <p:nvPr/>
        </p:nvSpPr>
        <p:spPr>
          <a:xfrm xmlns:a="http://schemas.openxmlformats.org/drawingml/2006/main">
            <a:off x="83629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人工确认</a:t>
            </a:r>
          </a:p>
        </p:txBody>
      </p:sp>
      <p:sp>
        <p:nvSpPr>
          <p:cNvPr id="56" name="">
            <a:extLst xmlns:a="http://schemas.openxmlformats.org/drawingml/2006/main">
              <a:ext uri="{FF2B5EF4-FFF2-40B4-BE49-F238E27FC236}">
                <a16:creationId xmlns:a16="http://schemas.microsoft.com/office/drawing/2014/main" id="{97DFA3F8-97C4-4C16-A053-6C81516678CE}"/>
              </a:ext>
            </a:extLst>
          </p:cNvPr>
          <p:cNvSpPr>
            <a:spLocks xmlns:a="http://schemas.openxmlformats.org/drawingml/2006/main" noGrp="1"/>
          </p:cNvSpPr>
          <p:nvPr/>
        </p:nvSpPr>
        <p:spPr>
          <a:xfrm xmlns:a="http://schemas.openxmlformats.org/drawingml/2006/main">
            <a:off x="83629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角色把关</a:t>
            </a:r>
          </a:p>
        </p:txBody>
      </p:sp>
      <p:sp>
        <p:nvSpPr>
          <p:cNvPr id="57" name="">
            <a:extLst xmlns:a="http://schemas.openxmlformats.org/drawingml/2006/main">
              <a:ext uri="{FF2B5EF4-FFF2-40B4-BE49-F238E27FC236}">
                <a16:creationId xmlns:a16="http://schemas.microsoft.com/office/drawing/2014/main" id="{7E500C2C-7A71-4105-AEAA-87BD9841F11E}"/>
              </a:ext>
            </a:extLst>
          </p:cNvPr>
          <p:cNvSpPr>
            <a:spLocks xmlns:a="http://schemas.openxmlformats.org/drawingml/2006/main" noGrp="1"/>
          </p:cNvSpPr>
          <p:nvPr/>
        </p:nvSpPr>
        <p:spPr>
          <a:xfrm xmlns:a="http://schemas.openxmlformats.org/drawingml/2006/main">
            <a:off x="8362950" y="2400300"/>
            <a:ext cx="3429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6C5A0292-232E-49FD-A14F-5A8C18A720C5}"/>
              </a:ext>
            </a:extLst>
          </p:cNvPr>
          <p:cNvSpPr>
            <a:spLocks xmlns:a="http://schemas.openxmlformats.org/drawingml/2006/main" noGrp="1"/>
          </p:cNvSpPr>
          <p:nvPr/>
        </p:nvSpPr>
        <p:spPr>
          <a:xfrm xmlns:a="http://schemas.openxmlformats.org/drawingml/2006/main">
            <a:off x="83629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班组长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老总三端确认，采纳、驳回或修改</a:t>
            </a:r>
          </a:p>
        </p:txBody>
      </p:sp>
      <p:sp>
        <p:nvSpPr>
          <p:cNvPr id="59" name="">
            <a:extLst xmlns:a="http://schemas.openxmlformats.org/drawingml/2006/main">
              <a:ext uri="{FF2B5EF4-FFF2-40B4-BE49-F238E27FC236}">
                <a16:creationId xmlns:a16="http://schemas.microsoft.com/office/drawing/2014/main" id="{B96CA2C4-AD4F-4114-B9D5-31A93471B336}"/>
              </a:ext>
            </a:extLst>
          </p:cNvPr>
          <p:cNvSpPr>
            <a:spLocks xmlns:a="http://schemas.openxmlformats.org/drawingml/2006/main" noGrp="1"/>
          </p:cNvSpPr>
          <p:nvPr/>
        </p:nvSpPr>
        <p:spPr>
          <a:xfrm xmlns:a="http://schemas.openxmlformats.org/drawingml/2006/main">
            <a:off x="10020300" y="2209800"/>
            <a:ext cx="15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60" name="">
            <a:extLst xmlns:a="http://schemas.openxmlformats.org/drawingml/2006/main">
              <a:ext uri="{FF2B5EF4-FFF2-40B4-BE49-F238E27FC236}">
                <a16:creationId xmlns:a16="http://schemas.microsoft.com/office/drawing/2014/main" id="{50DD89EA-7A33-46F1-B3C2-D851023F2DE8}"/>
              </a:ext>
            </a:extLst>
          </p:cNvPr>
          <p:cNvSpPr>
            <a:spLocks xmlns:a="http://schemas.openxmlformats.org/drawingml/2006/main" noGrp="1"/>
          </p:cNvSpPr>
          <p:nvPr/>
        </p:nvSpPr>
        <p:spPr>
          <a:xfrm xmlns:a="http://schemas.openxmlformats.org/drawingml/2006/main">
            <a:off x="101917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1" name="">
            <a:extLst xmlns:a="http://schemas.openxmlformats.org/drawingml/2006/main">
              <a:ext uri="{FF2B5EF4-FFF2-40B4-BE49-F238E27FC236}">
                <a16:creationId xmlns:a16="http://schemas.microsoft.com/office/drawing/2014/main" id="{2F58BE81-F50E-406C-B507-69B0438A659A}"/>
              </a:ext>
            </a:extLst>
          </p:cNvPr>
          <p:cNvSpPr>
            <a:spLocks xmlns:a="http://schemas.openxmlformats.org/drawingml/2006/main" noGrp="1"/>
          </p:cNvSpPr>
          <p:nvPr/>
        </p:nvSpPr>
        <p:spPr>
          <a:xfrm xmlns:a="http://schemas.openxmlformats.org/drawingml/2006/main">
            <a:off x="10191750" y="1428750"/>
            <a:ext cx="1790700" cy="381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98F9B4A4-6E2F-482E-81AC-46E7FA8463F3}"/>
              </a:ext>
            </a:extLst>
          </p:cNvPr>
          <p:cNvSpPr>
            <a:spLocks xmlns:a="http://schemas.openxmlformats.org/drawingml/2006/main" noGrp="1"/>
          </p:cNvSpPr>
          <p:nvPr/>
        </p:nvSpPr>
        <p:spPr>
          <a:xfrm xmlns:a="http://schemas.openxmlformats.org/drawingml/2006/main">
            <a:off x="10344150" y="1562100"/>
            <a:ext cx="571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06</a:t>
            </a:r>
          </a:p>
        </p:txBody>
      </p:sp>
      <p:sp>
        <p:nvSpPr>
          <p:cNvPr id="63" name="">
            <a:extLst xmlns:a="http://schemas.openxmlformats.org/drawingml/2006/main">
              <a:ext uri="{FF2B5EF4-FFF2-40B4-BE49-F238E27FC236}">
                <a16:creationId xmlns:a16="http://schemas.microsoft.com/office/drawing/2014/main" id="{BD630EAF-E49D-451D-A461-D36987461AD0}"/>
              </a:ext>
            </a:extLst>
          </p:cNvPr>
          <p:cNvSpPr>
            <a:spLocks xmlns:a="http://schemas.openxmlformats.org/drawingml/2006/main" noGrp="1"/>
          </p:cNvSpPr>
          <p:nvPr/>
        </p:nvSpPr>
        <p:spPr>
          <a:xfrm xmlns:a="http://schemas.openxmlformats.org/drawingml/2006/main">
            <a:off x="10344150" y="1828800"/>
            <a:ext cx="1524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决策留痕</a:t>
            </a:r>
          </a:p>
        </p:txBody>
      </p:sp>
      <p:sp>
        <p:nvSpPr>
          <p:cNvPr id="64" name="">
            <a:extLst xmlns:a="http://schemas.openxmlformats.org/drawingml/2006/main">
              <a:ext uri="{FF2B5EF4-FFF2-40B4-BE49-F238E27FC236}">
                <a16:creationId xmlns:a16="http://schemas.microsoft.com/office/drawing/2014/main" id="{B456D6AD-04F5-4D7F-AF28-F9FE3507169E}"/>
              </a:ext>
            </a:extLst>
          </p:cNvPr>
          <p:cNvSpPr>
            <a:spLocks xmlns:a="http://schemas.openxmlformats.org/drawingml/2006/main" noGrp="1"/>
          </p:cNvSpPr>
          <p:nvPr/>
        </p:nvSpPr>
        <p:spPr>
          <a:xfrm xmlns:a="http://schemas.openxmlformats.org/drawingml/2006/main">
            <a:off x="10344150" y="2133600"/>
            <a:ext cx="152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可审计闭环</a:t>
            </a:r>
          </a:p>
        </p:txBody>
      </p:sp>
      <p:sp>
        <p:nvSpPr>
          <p:cNvPr id="65" name="">
            <a:extLst xmlns:a="http://schemas.openxmlformats.org/drawingml/2006/main">
              <a:ext uri="{FF2B5EF4-FFF2-40B4-BE49-F238E27FC236}">
                <a16:creationId xmlns:a16="http://schemas.microsoft.com/office/drawing/2014/main" id="{E97D0D8D-463B-4245-B745-EE1C965F0557}"/>
              </a:ext>
            </a:extLst>
          </p:cNvPr>
          <p:cNvSpPr>
            <a:spLocks xmlns:a="http://schemas.openxmlformats.org/drawingml/2006/main" noGrp="1"/>
          </p:cNvSpPr>
          <p:nvPr/>
        </p:nvSpPr>
        <p:spPr>
          <a:xfrm xmlns:a="http://schemas.openxmlformats.org/drawingml/2006/main">
            <a:off x="10344150" y="2400300"/>
            <a:ext cx="3429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790E21FB-9F9C-4D18-B709-9F89AB53A99C}"/>
              </a:ext>
            </a:extLst>
          </p:cNvPr>
          <p:cNvSpPr>
            <a:spLocks xmlns:a="http://schemas.openxmlformats.org/drawingml/2006/main" noGrp="1"/>
          </p:cNvSpPr>
          <p:nvPr/>
        </p:nvSpPr>
        <p:spPr>
          <a:xfrm xmlns:a="http://schemas.openxmlformats.org/drawingml/2006/main">
            <a:off x="10344150" y="2495550"/>
            <a:ext cx="152400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run_id </a:t>
            </a:r>
            <a:r>
              <a:rPr sz="863" b="0">
                <a:solidFill>
                  <a:srgbClr val="EEF5FF"/>
                </a:solidFill>
                <a:latin typeface="微软雅黑"/>
                <a:ea typeface="微软雅黑"/>
                <a:cs typeface="微软雅黑"/>
              </a:rPr>
              <a:t>串起 </a:t>
            </a:r>
            <a:r>
              <a:rPr sz="863" b="0">
                <a:solidFill>
                  <a:srgbClr val="EEF5FF"/>
                </a:solidFill>
                <a:latin typeface="微软雅黑"/>
                <a:ea typeface="微软雅黑"/>
                <a:cs typeface="微软雅黑"/>
              </a:rPr>
              <a:t>rule_result / agent_suggestion / decision_log</a:t>
            </a:r>
          </a:p>
        </p:txBody>
      </p:sp>
      <p:sp>
        <p:nvSpPr>
          <p:cNvPr id="67" name="">
            <a:extLst xmlns:a="http://schemas.openxmlformats.org/drawingml/2006/main">
              <a:ext uri="{FF2B5EF4-FFF2-40B4-BE49-F238E27FC236}">
                <a16:creationId xmlns:a16="http://schemas.microsoft.com/office/drawing/2014/main" id="{ECADD2CC-23C6-4FCB-A373-E85F95FC528D}"/>
              </a:ext>
            </a:extLst>
          </p:cNvPr>
          <p:cNvSpPr>
            <a:spLocks xmlns:a="http://schemas.openxmlformats.org/drawingml/2006/main" noGrp="1"/>
          </p:cNvSpPr>
          <p:nvPr/>
        </p:nvSpPr>
        <p:spPr>
          <a:xfrm xmlns:a="http://schemas.openxmlformats.org/drawingml/2006/main">
            <a:off x="285750" y="3429000"/>
            <a:ext cx="11620500" cy="1143000"/>
          </a:xfrm>
          <a:prstGeom xmlns:a="http://schemas.openxmlformats.org/drawingml/2006/main" prst="roundRect">
            <a:avLst>
              <a:gd name="adj" fmla="val 7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8" name="">
            <a:extLst xmlns:a="http://schemas.openxmlformats.org/drawingml/2006/main">
              <a:ext uri="{FF2B5EF4-FFF2-40B4-BE49-F238E27FC236}">
                <a16:creationId xmlns:a16="http://schemas.microsoft.com/office/drawing/2014/main" id="{596BC3E7-CB47-4495-9648-43B94F615B24}"/>
              </a:ext>
            </a:extLst>
          </p:cNvPr>
          <p:cNvSpPr>
            <a:spLocks xmlns:a="http://schemas.openxmlformats.org/drawingml/2006/main" noGrp="1"/>
          </p:cNvSpPr>
          <p:nvPr/>
        </p:nvSpPr>
        <p:spPr>
          <a:xfrm xmlns:a="http://schemas.openxmlformats.org/drawingml/2006/main">
            <a:off x="495300" y="3562350"/>
            <a:ext cx="8572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两条不可违背的铁律（决定接口与前端不改动）</a:t>
            </a:r>
          </a:p>
        </p:txBody>
      </p:sp>
      <p:sp>
        <p:nvSpPr>
          <p:cNvPr id="69" name="">
            <a:extLst xmlns:a="http://schemas.openxmlformats.org/drawingml/2006/main">
              <a:ext uri="{FF2B5EF4-FFF2-40B4-BE49-F238E27FC236}">
                <a16:creationId xmlns:a16="http://schemas.microsoft.com/office/drawing/2014/main" id="{1F59AEB7-5376-4D52-A30B-4A3B1D230170}"/>
              </a:ext>
            </a:extLst>
          </p:cNvPr>
          <p:cNvSpPr>
            <a:spLocks xmlns:a="http://schemas.openxmlformats.org/drawingml/2006/main" noGrp="1"/>
          </p:cNvSpPr>
          <p:nvPr/>
        </p:nvSpPr>
        <p:spPr>
          <a:xfrm xmlns:a="http://schemas.openxmlformats.org/drawingml/2006/main">
            <a:off x="495300" y="3848100"/>
            <a:ext cx="11239500" cy="628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EEF5FF"/>
                </a:solidFill>
                <a:latin typeface="微软雅黑"/>
                <a:ea typeface="微软雅黑"/>
                <a:cs typeface="微软雅黑"/>
              </a:defRPr>
            </a:pPr>
            <a:r>
              <a:rPr sz="975" b="1">
                <a:solidFill>
                  <a:srgbClr val="EEF5FF"/>
                </a:solidFill>
                <a:latin typeface="微软雅黑"/>
                <a:ea typeface="微软雅黑"/>
                <a:cs typeface="微软雅黑"/>
              </a:rPr>
              <a:t>铁律一　</a:t>
            </a:r>
            <a:r>
              <a:rPr sz="975" b="1">
                <a:solidFill>
                  <a:srgbClr val="EEF5FF"/>
                </a:solidFill>
                <a:latin typeface="微软雅黑"/>
                <a:ea typeface="微软雅黑"/>
                <a:cs typeface="微软雅黑"/>
              </a:rPr>
              <a:t>source=rule </a:t>
            </a:r>
            <a:r>
              <a:rPr sz="975" b="1">
                <a:solidFill>
                  <a:srgbClr val="EEF5FF"/>
                </a:solidFill>
                <a:latin typeface="微软雅黑"/>
                <a:ea typeface="微软雅黑"/>
                <a:cs typeface="微软雅黑"/>
              </a:rPr>
              <a:t>现在，</a:t>
            </a:r>
            <a:r>
              <a:rPr sz="975" b="1">
                <a:solidFill>
                  <a:srgbClr val="EEF5FF"/>
                </a:solidFill>
                <a:latin typeface="微软雅黑"/>
                <a:ea typeface="微软雅黑"/>
                <a:cs typeface="微软雅黑"/>
              </a:rPr>
              <a:t>source=model </a:t>
            </a:r>
            <a:r>
              <a:rPr sz="975" b="1">
                <a:solidFill>
                  <a:srgbClr val="EEF5FF"/>
                </a:solidFill>
                <a:latin typeface="微软雅黑"/>
                <a:ea typeface="微软雅黑"/>
                <a:cs typeface="微软雅黑"/>
              </a:rPr>
              <a:t>将来：</a:t>
            </a:r>
            <a:r>
              <a:rPr sz="975">
                <a:solidFill>
                  <a:srgbClr val="EEF5FF"/>
                </a:solidFill>
                <a:latin typeface="微软雅黑"/>
                <a:ea typeface="微软雅黑"/>
                <a:cs typeface="微软雅黑"/>
              </a:rPr>
              <a:t>替换 </a:t>
            </a:r>
            <a:r>
              <a:rPr sz="975">
                <a:solidFill>
                  <a:srgbClr val="EEF5FF"/>
                </a:solidFill>
                <a:latin typeface="微软雅黑"/>
                <a:ea typeface="微软雅黑"/>
                <a:cs typeface="微软雅黑"/>
              </a:rPr>
              <a:t>Agent </a:t>
            </a:r>
            <a:r>
              <a:rPr sz="975">
                <a:solidFill>
                  <a:srgbClr val="EEF5FF"/>
                </a:solidFill>
                <a:latin typeface="微软雅黑"/>
                <a:ea typeface="微软雅黑"/>
                <a:cs typeface="微软雅黑"/>
              </a:rPr>
              <a:t>模型时只换 </a:t>
            </a:r>
            <a:r>
              <a:rPr sz="975">
                <a:solidFill>
                  <a:srgbClr val="EEF5FF"/>
                </a:solidFill>
                <a:latin typeface="微软雅黑"/>
                <a:ea typeface="微软雅黑"/>
                <a:cs typeface="微软雅黑"/>
              </a:rPr>
              <a:t>Service </a:t>
            </a:r>
            <a:r>
              <a:rPr sz="975">
                <a:solidFill>
                  <a:srgbClr val="EEF5FF"/>
                </a:solidFill>
                <a:latin typeface="微软雅黑"/>
                <a:ea typeface="微软雅黑"/>
                <a:cs typeface="微软雅黑"/>
              </a:rPr>
              <a:t>实现，</a:t>
            </a:r>
            <a:r>
              <a:rPr sz="975">
                <a:solidFill>
                  <a:srgbClr val="EEF5FF"/>
                </a:solidFill>
                <a:latin typeface="微软雅黑"/>
                <a:ea typeface="微软雅黑"/>
                <a:cs typeface="微软雅黑"/>
              </a:rPr>
              <a:t>Controller</a:t>
            </a:r>
            <a:r>
              <a:rPr sz="975">
                <a:solidFill>
                  <a:srgbClr val="EEF5FF"/>
                </a:solidFill>
                <a:latin typeface="微软雅黑"/>
                <a:ea typeface="微软雅黑"/>
                <a:cs typeface="微软雅黑"/>
              </a:rPr>
              <a:t>、</a:t>
            </a:r>
            <a:r>
              <a:rPr sz="975">
                <a:solidFill>
                  <a:srgbClr val="EEF5FF"/>
                </a:solidFill>
                <a:latin typeface="微软雅黑"/>
                <a:ea typeface="微软雅黑"/>
                <a:cs typeface="微软雅黑"/>
              </a:rPr>
              <a:t>DTO</a:t>
            </a:r>
            <a:r>
              <a:rPr sz="975">
                <a:solidFill>
                  <a:srgbClr val="EEF5FF"/>
                </a:solidFill>
                <a:latin typeface="微软雅黑"/>
                <a:ea typeface="微软雅黑"/>
                <a:cs typeface="微软雅黑"/>
              </a:rPr>
              <a:t>、接口路径与前端全部不动。</a:t>
            </a:r>
          </a:p>
          <a:p xmlns:a="http://schemas.openxmlformats.org/drawingml/2006/main">
            <a:pPr algn="l">
              <a:lnSpc>
                <a:spcPct val="160000"/>
              </a:lnSpc>
              <a:buNone/>
              <a:defRPr sz="975">
                <a:solidFill>
                  <a:srgbClr val="EEF5FF"/>
                </a:solidFill>
                <a:latin typeface="微软雅黑"/>
                <a:ea typeface="微软雅黑"/>
                <a:cs typeface="微软雅黑"/>
              </a:defRPr>
            </a:pPr>
            <a:r>
              <a:rPr sz="975" b="1">
                <a:solidFill>
                  <a:srgbClr val="EEF5FF"/>
                </a:solidFill>
                <a:latin typeface="微软雅黑"/>
                <a:ea typeface="微软雅黑"/>
                <a:cs typeface="微软雅黑"/>
              </a:rPr>
              <a:t>铁律二　</a:t>
            </a:r>
            <a:r>
              <a:rPr sz="975" b="1">
                <a:solidFill>
                  <a:srgbClr val="EEF5FF"/>
                </a:solidFill>
                <a:latin typeface="微软雅黑"/>
                <a:ea typeface="微软雅黑"/>
                <a:cs typeface="微软雅黑"/>
              </a:rPr>
              <a:t>Agent </a:t>
            </a:r>
            <a:r>
              <a:rPr sz="975" b="1">
                <a:solidFill>
                  <a:srgbClr val="EEF5FF"/>
                </a:solidFill>
                <a:latin typeface="微软雅黑"/>
                <a:ea typeface="微软雅黑"/>
                <a:cs typeface="微软雅黑"/>
              </a:rPr>
              <a:t>只出建议，绝不直接改业务数据：</a:t>
            </a:r>
            <a:r>
              <a:rPr sz="975">
                <a:solidFill>
                  <a:srgbClr val="EEF5FF"/>
                </a:solidFill>
                <a:latin typeface="微软雅黑"/>
                <a:ea typeface="微软雅黑"/>
                <a:cs typeface="微软雅黑"/>
              </a:rPr>
              <a:t>建议写 </a:t>
            </a:r>
            <a:r>
              <a:rPr sz="975">
                <a:solidFill>
                  <a:srgbClr val="EEF5FF"/>
                </a:solidFill>
                <a:latin typeface="微软雅黑"/>
                <a:ea typeface="微软雅黑"/>
                <a:cs typeface="微软雅黑"/>
              </a:rPr>
              <a:t>agent_suggestion</a:t>
            </a:r>
            <a:r>
              <a:rPr sz="975">
                <a:solidFill>
                  <a:srgbClr val="EEF5FF"/>
                </a:solidFill>
                <a:latin typeface="微软雅黑"/>
                <a:ea typeface="微软雅黑"/>
                <a:cs typeface="微软雅黑"/>
              </a:rPr>
              <a:t>，人工确认写 </a:t>
            </a:r>
            <a:r>
              <a:rPr sz="975">
                <a:solidFill>
                  <a:srgbClr val="EEF5FF"/>
                </a:solidFill>
                <a:latin typeface="微软雅黑"/>
                <a:ea typeface="微软雅黑"/>
                <a:cs typeface="微软雅黑"/>
              </a:rPr>
              <a:t>decision_log</a:t>
            </a:r>
            <a:r>
              <a:rPr sz="975">
                <a:solidFill>
                  <a:srgbClr val="EEF5FF"/>
                </a:solidFill>
                <a:latin typeface="微软雅黑"/>
                <a:ea typeface="微软雅黑"/>
                <a:cs typeface="微软雅黑"/>
              </a:rPr>
              <a:t>，采纳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驳回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修改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执行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回滚全部留痕。</a:t>
            </a:r>
          </a:p>
        </p:txBody>
      </p:sp>
      <p:sp>
        <p:nvSpPr>
          <p:cNvPr id="70" name="">
            <a:extLst xmlns:a="http://schemas.openxmlformats.org/drawingml/2006/main">
              <a:ext uri="{FF2B5EF4-FFF2-40B4-BE49-F238E27FC236}">
                <a16:creationId xmlns:a16="http://schemas.microsoft.com/office/drawing/2014/main" id="{D51AABF5-C54B-4219-9368-583F5B709B28}"/>
              </a:ext>
            </a:extLst>
          </p:cNvPr>
          <p:cNvSpPr>
            <a:spLocks xmlns:a="http://schemas.openxmlformats.org/drawingml/2006/main" noGrp="1"/>
          </p:cNvSpPr>
          <p:nvPr/>
        </p:nvSpPr>
        <p:spPr>
          <a:xfrm xmlns:a="http://schemas.openxmlformats.org/drawingml/2006/main">
            <a:off x="285750" y="4686300"/>
            <a:ext cx="8572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三个典型角色的规则命中示例</a:t>
            </a:r>
          </a:p>
        </p:txBody>
      </p:sp>
      <p:sp>
        <p:nvSpPr>
          <p:cNvPr id="71" name="">
            <a:extLst xmlns:a="http://schemas.openxmlformats.org/drawingml/2006/main">
              <a:ext uri="{FF2B5EF4-FFF2-40B4-BE49-F238E27FC236}">
                <a16:creationId xmlns:a16="http://schemas.microsoft.com/office/drawing/2014/main" id="{947FF783-54AC-4F18-B67D-CE7A4F3B1BB9}"/>
              </a:ext>
            </a:extLst>
          </p:cNvPr>
          <p:cNvSpPr>
            <a:spLocks xmlns:a="http://schemas.openxmlformats.org/drawingml/2006/main" noGrp="1"/>
          </p:cNvSpPr>
          <p:nvPr/>
        </p:nvSpPr>
        <p:spPr>
          <a:xfrm xmlns:a="http://schemas.openxmlformats.org/drawingml/2006/main">
            <a:off x="285750" y="4972050"/>
            <a:ext cx="116205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72" name="">
            <a:extLst xmlns:a="http://schemas.openxmlformats.org/drawingml/2006/main">
              <a:ext uri="{FF2B5EF4-FFF2-40B4-BE49-F238E27FC236}">
                <a16:creationId xmlns:a16="http://schemas.microsoft.com/office/drawing/2014/main" id="{F68B7DB8-DE0F-4B22-BEBA-D64E72AD3D3D}"/>
              </a:ext>
            </a:extLst>
          </p:cNvPr>
          <p:cNvSpPr>
            <a:spLocks xmlns:a="http://schemas.openxmlformats.org/drawingml/2006/main" noGrp="1"/>
          </p:cNvSpPr>
          <p:nvPr/>
        </p:nvSpPr>
        <p:spPr>
          <a:xfrm xmlns:a="http://schemas.openxmlformats.org/drawingml/2006/main">
            <a:off x="438150" y="5067300"/>
            <a:ext cx="571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个人</a:t>
            </a:r>
          </a:p>
        </p:txBody>
      </p:sp>
      <p:sp>
        <p:nvSpPr>
          <p:cNvPr id="73" name="">
            <a:extLst xmlns:a="http://schemas.openxmlformats.org/drawingml/2006/main">
              <a:ext uri="{FF2B5EF4-FFF2-40B4-BE49-F238E27FC236}">
                <a16:creationId xmlns:a16="http://schemas.microsoft.com/office/drawing/2014/main" id="{8C7F7D2C-90F9-4E0D-8DF6-6B6861389F58}"/>
              </a:ext>
            </a:extLst>
          </p:cNvPr>
          <p:cNvSpPr>
            <a:spLocks xmlns:a="http://schemas.openxmlformats.org/drawingml/2006/main" noGrp="1"/>
          </p:cNvSpPr>
          <p:nvPr/>
        </p:nvSpPr>
        <p:spPr>
          <a:xfrm xmlns:a="http://schemas.openxmlformats.org/drawingml/2006/main">
            <a:off x="1066800" y="5067300"/>
            <a:ext cx="2000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员工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张伟</a:t>
            </a:r>
          </a:p>
        </p:txBody>
      </p:sp>
      <p:sp>
        <p:nvSpPr>
          <p:cNvPr id="74" name="">
            <a:extLst xmlns:a="http://schemas.openxmlformats.org/drawingml/2006/main">
              <a:ext uri="{FF2B5EF4-FFF2-40B4-BE49-F238E27FC236}">
                <a16:creationId xmlns:a16="http://schemas.microsoft.com/office/drawing/2014/main" id="{FD976FFB-F75F-4E2A-95E7-0315BB792B26}"/>
              </a:ext>
            </a:extLst>
          </p:cNvPr>
          <p:cNvSpPr>
            <a:spLocks xmlns:a="http://schemas.openxmlformats.org/drawingml/2006/main" noGrp="1"/>
          </p:cNvSpPr>
          <p:nvPr/>
        </p:nvSpPr>
        <p:spPr>
          <a:xfrm xmlns:a="http://schemas.openxmlformats.org/drawingml/2006/main">
            <a:off x="3143250" y="5067300"/>
            <a:ext cx="2667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当前 </a:t>
            </a:r>
            <a:r>
              <a:rPr sz="900" b="0">
                <a:solidFill>
                  <a:srgbClr val="EEF5FF"/>
                </a:solidFill>
                <a:latin typeface="微软雅黑"/>
                <a:ea typeface="微软雅黑"/>
                <a:cs typeface="微软雅黑"/>
              </a:rPr>
              <a:t>L1 </a:t>
            </a:r>
            <a:r>
              <a:rPr sz="900" b="0">
                <a:solidFill>
                  <a:srgbClr val="EEF5FF"/>
                </a:solidFill>
                <a:latin typeface="微软雅黑"/>
                <a:ea typeface="微软雅黑"/>
                <a:cs typeface="微软雅黑"/>
              </a:rPr>
              <a:t>＜ 岗位要求 </a:t>
            </a:r>
            <a:r>
              <a:rPr sz="900" b="0">
                <a:solidFill>
                  <a:srgbClr val="EEF5FF"/>
                </a:solidFill>
                <a:latin typeface="微软雅黑"/>
                <a:ea typeface="微软雅黑"/>
                <a:cs typeface="微软雅黑"/>
              </a:rPr>
              <a:t>L3</a:t>
            </a:r>
          </a:p>
        </p:txBody>
      </p:sp>
      <p:sp>
        <p:nvSpPr>
          <p:cNvPr id="75" name="">
            <a:extLst xmlns:a="http://schemas.openxmlformats.org/drawingml/2006/main">
              <a:ext uri="{FF2B5EF4-FFF2-40B4-BE49-F238E27FC236}">
                <a16:creationId xmlns:a16="http://schemas.microsoft.com/office/drawing/2014/main" id="{2BA6CD9B-138B-48E7-9687-3817939AE865}"/>
              </a:ext>
            </a:extLst>
          </p:cNvPr>
          <p:cNvSpPr>
            <a:spLocks xmlns:a="http://schemas.openxmlformats.org/drawingml/2006/main" noGrp="1"/>
          </p:cNvSpPr>
          <p:nvPr/>
        </p:nvSpPr>
        <p:spPr>
          <a:xfrm xmlns:a="http://schemas.openxmlformats.org/drawingml/2006/main">
            <a:off x="5886450" y="5067300"/>
            <a:ext cx="361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4FD8FF"/>
                </a:solidFill>
                <a:latin typeface="Bahnschrift"/>
                <a:ea typeface="Bahnschrift"/>
                <a:cs typeface="Bahnschrift"/>
              </a:defRPr>
            </a:pPr>
            <a:r>
              <a:rPr sz="900" b="1">
                <a:solidFill>
                  <a:srgbClr val="4FD8FF"/>
                </a:solidFill>
                <a:latin typeface="Bahnschrift"/>
                <a:ea typeface="Bahnschrift"/>
                <a:cs typeface="Bahnschrift"/>
              </a:rPr>
              <a:t>SKILL_GAP_L3</a:t>
            </a:r>
          </a:p>
        </p:txBody>
      </p:sp>
      <p:sp>
        <p:nvSpPr>
          <p:cNvPr id="76" name="">
            <a:extLst xmlns:a="http://schemas.openxmlformats.org/drawingml/2006/main">
              <a:ext uri="{FF2B5EF4-FFF2-40B4-BE49-F238E27FC236}">
                <a16:creationId xmlns:a16="http://schemas.microsoft.com/office/drawing/2014/main" id="{8EC59FEC-FE71-4976-9B34-0A7AD9E75796}"/>
              </a:ext>
            </a:extLst>
          </p:cNvPr>
          <p:cNvSpPr>
            <a:spLocks xmlns:a="http://schemas.openxmlformats.org/drawingml/2006/main" noGrp="1"/>
          </p:cNvSpPr>
          <p:nvPr/>
        </p:nvSpPr>
        <p:spPr>
          <a:xfrm xmlns:a="http://schemas.openxmlformats.org/drawingml/2006/main">
            <a:off x="9582150" y="5067300"/>
            <a:ext cx="2190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推荐课程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带教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模拟考</a:t>
            </a:r>
          </a:p>
        </p:txBody>
      </p:sp>
      <p:sp>
        <p:nvSpPr>
          <p:cNvPr id="77" name="">
            <a:extLst xmlns:a="http://schemas.openxmlformats.org/drawingml/2006/main">
              <a:ext uri="{FF2B5EF4-FFF2-40B4-BE49-F238E27FC236}">
                <a16:creationId xmlns:a16="http://schemas.microsoft.com/office/drawing/2014/main" id="{F9E84F24-D8A9-4D7A-9068-A099D0024FC0}"/>
              </a:ext>
            </a:extLst>
          </p:cNvPr>
          <p:cNvSpPr>
            <a:spLocks xmlns:a="http://schemas.openxmlformats.org/drawingml/2006/main" noGrp="1"/>
          </p:cNvSpPr>
          <p:nvPr/>
        </p:nvSpPr>
        <p:spPr>
          <a:xfrm xmlns:a="http://schemas.openxmlformats.org/drawingml/2006/main">
            <a:off x="285750" y="5467350"/>
            <a:ext cx="116205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78" name="">
            <a:extLst xmlns:a="http://schemas.openxmlformats.org/drawingml/2006/main">
              <a:ext uri="{FF2B5EF4-FFF2-40B4-BE49-F238E27FC236}">
                <a16:creationId xmlns:a16="http://schemas.microsoft.com/office/drawing/2014/main" id="{E95C5CA1-9941-44EC-9DE3-7246D41E7821}"/>
              </a:ext>
            </a:extLst>
          </p:cNvPr>
          <p:cNvSpPr>
            <a:spLocks xmlns:a="http://schemas.openxmlformats.org/drawingml/2006/main" noGrp="1"/>
          </p:cNvSpPr>
          <p:nvPr/>
        </p:nvSpPr>
        <p:spPr>
          <a:xfrm xmlns:a="http://schemas.openxmlformats.org/drawingml/2006/main">
            <a:off x="438150" y="5562600"/>
            <a:ext cx="571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实操</a:t>
            </a:r>
          </a:p>
        </p:txBody>
      </p:sp>
      <p:sp>
        <p:nvSpPr>
          <p:cNvPr id="79" name="">
            <a:extLst xmlns:a="http://schemas.openxmlformats.org/drawingml/2006/main">
              <a:ext uri="{FF2B5EF4-FFF2-40B4-BE49-F238E27FC236}">
                <a16:creationId xmlns:a16="http://schemas.microsoft.com/office/drawing/2014/main" id="{11626D82-2AED-4E54-9C7C-FAE5752E184D}"/>
              </a:ext>
            </a:extLst>
          </p:cNvPr>
          <p:cNvSpPr>
            <a:spLocks xmlns:a="http://schemas.openxmlformats.org/drawingml/2006/main" noGrp="1"/>
          </p:cNvSpPr>
          <p:nvPr/>
        </p:nvSpPr>
        <p:spPr>
          <a:xfrm xmlns:a="http://schemas.openxmlformats.org/drawingml/2006/main">
            <a:off x="1066800" y="5562600"/>
            <a:ext cx="2000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班组长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李民</a:t>
            </a:r>
          </a:p>
        </p:txBody>
      </p:sp>
      <p:sp>
        <p:nvSpPr>
          <p:cNvPr id="80" name="">
            <a:extLst xmlns:a="http://schemas.openxmlformats.org/drawingml/2006/main">
              <a:ext uri="{FF2B5EF4-FFF2-40B4-BE49-F238E27FC236}">
                <a16:creationId xmlns:a16="http://schemas.microsoft.com/office/drawing/2014/main" id="{7C91CA66-430C-4062-AB90-A68D54DC4F57}"/>
              </a:ext>
            </a:extLst>
          </p:cNvPr>
          <p:cNvSpPr>
            <a:spLocks xmlns:a="http://schemas.openxmlformats.org/drawingml/2006/main" noGrp="1"/>
          </p:cNvSpPr>
          <p:nvPr/>
        </p:nvSpPr>
        <p:spPr>
          <a:xfrm xmlns:a="http://schemas.openxmlformats.org/drawingml/2006/main">
            <a:off x="3143250" y="5562600"/>
            <a:ext cx="2667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O2 18.2 %VOL </a:t>
            </a:r>
            <a:r>
              <a:rPr sz="900" b="0">
                <a:solidFill>
                  <a:srgbClr val="EEF5FF"/>
                </a:solidFill>
                <a:latin typeface="微软雅黑"/>
                <a:ea typeface="微软雅黑"/>
                <a:cs typeface="微软雅黑"/>
              </a:rPr>
              <a:t>＜ 阈值 </a:t>
            </a:r>
            <a:r>
              <a:rPr sz="900" b="0">
                <a:solidFill>
                  <a:srgbClr val="EEF5FF"/>
                </a:solidFill>
                <a:latin typeface="微软雅黑"/>
                <a:ea typeface="微软雅黑"/>
                <a:cs typeface="微软雅黑"/>
              </a:rPr>
              <a:t>19.5</a:t>
            </a:r>
          </a:p>
        </p:txBody>
      </p:sp>
      <p:sp>
        <p:nvSpPr>
          <p:cNvPr id="81" name="">
            <a:extLst xmlns:a="http://schemas.openxmlformats.org/drawingml/2006/main">
              <a:ext uri="{FF2B5EF4-FFF2-40B4-BE49-F238E27FC236}">
                <a16:creationId xmlns:a16="http://schemas.microsoft.com/office/drawing/2014/main" id="{BD55C22C-A152-445A-985E-9A5493EC7625}"/>
              </a:ext>
            </a:extLst>
          </p:cNvPr>
          <p:cNvSpPr>
            <a:spLocks xmlns:a="http://schemas.openxmlformats.org/drawingml/2006/main" noGrp="1"/>
          </p:cNvSpPr>
          <p:nvPr/>
        </p:nvSpPr>
        <p:spPr>
          <a:xfrm xmlns:a="http://schemas.openxmlformats.org/drawingml/2006/main">
            <a:off x="5886450" y="5562600"/>
            <a:ext cx="361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4FD8FF"/>
                </a:solidFill>
                <a:latin typeface="Bahnschrift"/>
                <a:ea typeface="Bahnschrift"/>
                <a:cs typeface="Bahnschrift"/>
              </a:defRPr>
            </a:pPr>
            <a:r>
              <a:rPr sz="900" b="1">
                <a:solidFill>
                  <a:srgbClr val="4FD8FF"/>
                </a:solidFill>
                <a:latin typeface="Bahnschrift"/>
                <a:ea typeface="Bahnschrift"/>
                <a:cs typeface="Bahnschrift"/>
              </a:rPr>
              <a:t>REPORT_GAS_OVER_MARGIN_MID + RULE-KW-HEALTH</a:t>
            </a:r>
          </a:p>
        </p:txBody>
      </p:sp>
      <p:sp>
        <p:nvSpPr>
          <p:cNvPr id="82" name="">
            <a:extLst xmlns:a="http://schemas.openxmlformats.org/drawingml/2006/main">
              <a:ext uri="{FF2B5EF4-FFF2-40B4-BE49-F238E27FC236}">
                <a16:creationId xmlns:a16="http://schemas.microsoft.com/office/drawing/2014/main" id="{1818B0E1-36DF-4DF7-8312-51B2A68C1749}"/>
              </a:ext>
            </a:extLst>
          </p:cNvPr>
          <p:cNvSpPr>
            <a:spLocks xmlns:a="http://schemas.openxmlformats.org/drawingml/2006/main" noGrp="1"/>
          </p:cNvSpPr>
          <p:nvPr/>
        </p:nvSpPr>
        <p:spPr>
          <a:xfrm xmlns:a="http://schemas.openxmlformats.org/drawingml/2006/main">
            <a:off x="9582150" y="5562600"/>
            <a:ext cx="2190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严重度「高」</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原因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处置措施</a:t>
            </a:r>
          </a:p>
        </p:txBody>
      </p:sp>
      <p:sp>
        <p:nvSpPr>
          <p:cNvPr id="83" name="">
            <a:extLst xmlns:a="http://schemas.openxmlformats.org/drawingml/2006/main">
              <a:ext uri="{FF2B5EF4-FFF2-40B4-BE49-F238E27FC236}">
                <a16:creationId xmlns:a16="http://schemas.microsoft.com/office/drawing/2014/main" id="{B34D3ADC-E78F-44EF-A2A6-C78737898F74}"/>
              </a:ext>
            </a:extLst>
          </p:cNvPr>
          <p:cNvSpPr>
            <a:spLocks xmlns:a="http://schemas.openxmlformats.org/drawingml/2006/main" noGrp="1"/>
          </p:cNvSpPr>
          <p:nvPr/>
        </p:nvSpPr>
        <p:spPr>
          <a:xfrm xmlns:a="http://schemas.openxmlformats.org/drawingml/2006/main">
            <a:off x="285750" y="5962650"/>
            <a:ext cx="116205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84" name="">
            <a:extLst xmlns:a="http://schemas.openxmlformats.org/drawingml/2006/main">
              <a:ext uri="{FF2B5EF4-FFF2-40B4-BE49-F238E27FC236}">
                <a16:creationId xmlns:a16="http://schemas.microsoft.com/office/drawing/2014/main" id="{F3D70655-B98D-4DAF-B198-77503A80159B}"/>
              </a:ext>
            </a:extLst>
          </p:cNvPr>
          <p:cNvSpPr>
            <a:spLocks xmlns:a="http://schemas.openxmlformats.org/drawingml/2006/main" noGrp="1"/>
          </p:cNvSpPr>
          <p:nvPr/>
        </p:nvSpPr>
        <p:spPr>
          <a:xfrm xmlns:a="http://schemas.openxmlformats.org/drawingml/2006/main">
            <a:off x="438150" y="6057900"/>
            <a:ext cx="571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人才</a:t>
            </a:r>
          </a:p>
        </p:txBody>
      </p:sp>
      <p:sp>
        <p:nvSpPr>
          <p:cNvPr id="85" name="">
            <a:extLst xmlns:a="http://schemas.openxmlformats.org/drawingml/2006/main">
              <a:ext uri="{FF2B5EF4-FFF2-40B4-BE49-F238E27FC236}">
                <a16:creationId xmlns:a16="http://schemas.microsoft.com/office/drawing/2014/main" id="{563F0AE2-9C28-462D-8140-716F9CB070C1}"/>
              </a:ext>
            </a:extLst>
          </p:cNvPr>
          <p:cNvSpPr>
            <a:spLocks xmlns:a="http://schemas.openxmlformats.org/drawingml/2006/main" noGrp="1"/>
          </p:cNvSpPr>
          <p:nvPr/>
        </p:nvSpPr>
        <p:spPr>
          <a:xfrm xmlns:a="http://schemas.openxmlformats.org/drawingml/2006/main">
            <a:off x="1066800" y="6057900"/>
            <a:ext cx="2000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老总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王总</a:t>
            </a:r>
          </a:p>
        </p:txBody>
      </p:sp>
      <p:sp>
        <p:nvSpPr>
          <p:cNvPr id="86" name="">
            <a:extLst xmlns:a="http://schemas.openxmlformats.org/drawingml/2006/main">
              <a:ext uri="{FF2B5EF4-FFF2-40B4-BE49-F238E27FC236}">
                <a16:creationId xmlns:a16="http://schemas.microsoft.com/office/drawing/2014/main" id="{C79F2F34-D5BD-4B86-9981-9645E92F271B}"/>
              </a:ext>
            </a:extLst>
          </p:cNvPr>
          <p:cNvSpPr>
            <a:spLocks xmlns:a="http://schemas.openxmlformats.org/drawingml/2006/main" noGrp="1"/>
          </p:cNvSpPr>
          <p:nvPr/>
        </p:nvSpPr>
        <p:spPr>
          <a:xfrm xmlns:a="http://schemas.openxmlformats.org/drawingml/2006/main">
            <a:off x="3143250" y="6057900"/>
            <a:ext cx="2667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备份不足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未来需求 </a:t>
            </a:r>
            <a:r>
              <a:rPr sz="900" b="0">
                <a:solidFill>
                  <a:srgbClr val="EEF5FF"/>
                </a:solidFill>
                <a:latin typeface="微软雅黑"/>
                <a:ea typeface="微软雅黑"/>
                <a:cs typeface="微软雅黑"/>
              </a:rPr>
              <a:t>&gt; </a:t>
            </a:r>
            <a:r>
              <a:rPr sz="900" b="0">
                <a:solidFill>
                  <a:srgbClr val="EEF5FF"/>
                </a:solidFill>
                <a:latin typeface="微软雅黑"/>
                <a:ea typeface="微软雅黑"/>
                <a:cs typeface="微软雅黑"/>
              </a:rPr>
              <a:t>现有供给</a:t>
            </a:r>
          </a:p>
        </p:txBody>
      </p:sp>
      <p:sp>
        <p:nvSpPr>
          <p:cNvPr id="87" name="">
            <a:extLst xmlns:a="http://schemas.openxmlformats.org/drawingml/2006/main">
              <a:ext uri="{FF2B5EF4-FFF2-40B4-BE49-F238E27FC236}">
                <a16:creationId xmlns:a16="http://schemas.microsoft.com/office/drawing/2014/main" id="{D4C13899-9DA9-4EF9-A608-003B43B58006}"/>
              </a:ext>
            </a:extLst>
          </p:cNvPr>
          <p:cNvSpPr>
            <a:spLocks xmlns:a="http://schemas.openxmlformats.org/drawingml/2006/main" noGrp="1"/>
          </p:cNvSpPr>
          <p:nvPr/>
        </p:nvSpPr>
        <p:spPr>
          <a:xfrm xmlns:a="http://schemas.openxmlformats.org/drawingml/2006/main">
            <a:off x="5886450" y="6057900"/>
            <a:ext cx="361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4FD8FF"/>
                </a:solidFill>
                <a:latin typeface="Bahnschrift"/>
                <a:ea typeface="Bahnschrift"/>
                <a:cs typeface="Bahnschrift"/>
              </a:defRPr>
            </a:pPr>
            <a:r>
              <a:rPr sz="900" b="1">
                <a:solidFill>
                  <a:srgbClr val="4FD8FF"/>
                </a:solidFill>
                <a:latin typeface="Bahnschrift"/>
                <a:ea typeface="Bahnschrift"/>
                <a:cs typeface="Bahnschrift"/>
              </a:rPr>
              <a:t>BACKUP_SHORTAGE + FUTURE_DEMAND_GAP</a:t>
            </a:r>
          </a:p>
        </p:txBody>
      </p:sp>
      <p:sp>
        <p:nvSpPr>
          <p:cNvPr id="88" name="">
            <a:extLst xmlns:a="http://schemas.openxmlformats.org/drawingml/2006/main">
              <a:ext uri="{FF2B5EF4-FFF2-40B4-BE49-F238E27FC236}">
                <a16:creationId xmlns:a16="http://schemas.microsoft.com/office/drawing/2014/main" id="{23E5BA71-227A-4049-9870-8CC61EF00C53}"/>
              </a:ext>
            </a:extLst>
          </p:cNvPr>
          <p:cNvSpPr>
            <a:spLocks xmlns:a="http://schemas.openxmlformats.org/drawingml/2006/main" noGrp="1"/>
          </p:cNvSpPr>
          <p:nvPr/>
        </p:nvSpPr>
        <p:spPr>
          <a:xfrm xmlns:a="http://schemas.openxmlformats.org/drawingml/2006/main">
            <a:off x="9582150" y="6057900"/>
            <a:ext cx="2190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风险预警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转岗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招聘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外委</a:t>
            </a:r>
          </a:p>
        </p:txBody>
      </p:sp>
      <p:sp>
        <p:nvSpPr>
          <p:cNvPr id="89" name="">
            <a:extLst xmlns:a="http://schemas.openxmlformats.org/drawingml/2006/main">
              <a:ext uri="{FF2B5EF4-FFF2-40B4-BE49-F238E27FC236}">
                <a16:creationId xmlns:a16="http://schemas.microsoft.com/office/drawing/2014/main" id="{78C45ADD-E037-4629-9971-F7AAC652CBD0}"/>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624181B0-9DE8-4632-A3A3-C72578102921}"/>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49F48BDD-5A2E-4A9D-A75F-6BB836083E4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92" name="">
            <a:extLst xmlns:a="http://schemas.openxmlformats.org/drawingml/2006/main">
              <a:ext uri="{FF2B5EF4-FFF2-40B4-BE49-F238E27FC236}">
                <a16:creationId xmlns:a16="http://schemas.microsoft.com/office/drawing/2014/main" id="{A957E7D9-E233-4065-91BF-635EF9B3F3D1}"/>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93" name="">
            <a:extLst xmlns:a="http://schemas.openxmlformats.org/drawingml/2006/main">
              <a:ext uri="{FF2B5EF4-FFF2-40B4-BE49-F238E27FC236}">
                <a16:creationId xmlns:a16="http://schemas.microsoft.com/office/drawing/2014/main" id="{ED3B9437-E357-49C5-AAB6-927AF32B0359}"/>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11</a:t>
            </a:r>
          </a:p>
        </p:txBody>
      </p:sp>
    </p:spTree>
    <p:extLst>
      <p:ext uri="{BB962C8B-B14F-4D97-AF65-F5344CB8AC3E}">
        <p14:creationId xmlns:p14="http://schemas.microsoft.com/office/powerpoint/2010/main" val="1479475130"/>
      </p:ext>
    </p:extLst>
  </p:cSld>
</p:sld>
</file>

<file path=ppt/slides/slide12.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9e8d21681bf046b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AF5FDE-625D-40B8-88FC-5628C614D4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DE675C68-2A98-4513-8FB5-136D3789A050}"/>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C71C91D6-7B81-40E3-A652-653F29B5D15E}"/>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6CE4DF71-4B92-4035-B4F9-E6036E5EDBAB}"/>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53990BE9-3B41-454F-ADF8-B57CA00B27F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2575F209-B2B2-406F-8723-544778DD0A1D}"/>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ABF91124-CAF8-49A5-8AC0-D13EFA1089F1}"/>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31A752DD-A536-49B5-8C9F-85E92B4DF83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7C1876B7-1B3B-4964-929F-D178532C7304}"/>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9B1A5C9-E7B0-43D6-BE14-130CC45D07F2}"/>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FEEA966-B687-4627-B867-A5D39BD5C353}"/>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5B4375CA-F1F7-4CF4-B1B0-02DFDD31CC50}"/>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2E86E0"/>
                </a:solidFill>
                <a:latin typeface="微软雅黑"/>
                <a:ea typeface="微软雅黑"/>
                <a:cs typeface="微软雅黑"/>
              </a:defRPr>
            </a:pPr>
            <a:r>
              <a:rPr sz="863" b="1" spc="1">
                <a:solidFill>
                  <a:srgbClr val="2E86E0"/>
                </a:solidFill>
                <a:latin typeface="微软雅黑"/>
                <a:ea typeface="微软雅黑"/>
                <a:cs typeface="微软雅黑"/>
              </a:rPr>
              <a:t>02　</a:t>
            </a:r>
            <a:r>
              <a:rPr sz="863" b="1" spc="1">
                <a:solidFill>
                  <a:srgbClr val="2E86E0"/>
                </a:solidFill>
                <a:latin typeface="微软雅黑"/>
                <a:ea typeface="微软雅黑"/>
                <a:cs typeface="微软雅黑"/>
              </a:rPr>
              <a:t>总体方案</a:t>
            </a:r>
          </a:p>
        </p:txBody>
      </p:sp>
      <p:sp>
        <p:nvSpPr>
          <p:cNvPr id="14" name="">
            <a:extLst xmlns:a="http://schemas.openxmlformats.org/drawingml/2006/main">
              <a:ext uri="{FF2B5EF4-FFF2-40B4-BE49-F238E27FC236}">
                <a16:creationId xmlns:a16="http://schemas.microsoft.com/office/drawing/2014/main" id="{7937D305-9907-4D79-82F6-56FBD6A7913A}"/>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四项核心创新点</a:t>
            </a:r>
          </a:p>
        </p:txBody>
      </p:sp>
      <p:sp>
        <p:nvSpPr>
          <p:cNvPr id="15" name="">
            <a:extLst xmlns:a="http://schemas.openxmlformats.org/drawingml/2006/main">
              <a:ext uri="{FF2B5EF4-FFF2-40B4-BE49-F238E27FC236}">
                <a16:creationId xmlns:a16="http://schemas.microsoft.com/office/drawing/2014/main" id="{647E668F-EEC4-4A02-9BFE-4B72B2F34A04}"/>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5CC0AA99-2888-49C0-93B5-706DC921DD87}"/>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68F20F52-D9CB-44A1-A4B8-1FE6156B7EA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4A848B1-6FFD-4C29-AB47-0FB39B903620}"/>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BB4BDB48-B107-465C-A1C1-C64EAAD849AD}"/>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把判断逻辑从代码搬进数据库，再把结论落成可复算、可审计的证据链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这是与通用方案的本质差异。</a:t>
            </a:r>
          </a:p>
        </p:txBody>
      </p:sp>
      <p:sp>
        <p:nvSpPr>
          <p:cNvPr id="20" name="">
            <a:extLst xmlns:a="http://schemas.openxmlformats.org/drawingml/2006/main">
              <a:ext uri="{FF2B5EF4-FFF2-40B4-BE49-F238E27FC236}">
                <a16:creationId xmlns:a16="http://schemas.microsoft.com/office/drawing/2014/main" id="{D28DC01A-2373-4BB2-A2D3-925CB261C692}"/>
              </a:ext>
            </a:extLst>
          </p:cNvPr>
          <p:cNvSpPr>
            <a:spLocks xmlns:a="http://schemas.openxmlformats.org/drawingml/2006/main" noGrp="1"/>
          </p:cNvSpPr>
          <p:nvPr/>
        </p:nvSpPr>
        <p:spPr>
          <a:xfrm xmlns:a="http://schemas.openxmlformats.org/drawingml/2006/main">
            <a:off x="285750" y="133350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43C23ED0-A1B8-491F-A3A9-D6438D1A58A8}"/>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0167D283-44DB-4CB7-948A-70348960D8DD}"/>
              </a:ext>
            </a:extLst>
          </p:cNvPr>
          <p:cNvSpPr>
            <a:spLocks xmlns:a="http://schemas.openxmlformats.org/drawingml/2006/main" noGrp="1"/>
          </p:cNvSpPr>
          <p:nvPr/>
        </p:nvSpPr>
        <p:spPr>
          <a:xfrm xmlns:a="http://schemas.openxmlformats.org/drawingml/2006/main">
            <a:off x="514350" y="15240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创新点一</a:t>
            </a:r>
          </a:p>
        </p:txBody>
      </p:sp>
      <p:sp>
        <p:nvSpPr>
          <p:cNvPr id="23" name="">
            <a:extLst xmlns:a="http://schemas.openxmlformats.org/drawingml/2006/main">
              <a:ext uri="{FF2B5EF4-FFF2-40B4-BE49-F238E27FC236}">
                <a16:creationId xmlns:a16="http://schemas.microsoft.com/office/drawing/2014/main" id="{93081221-7FED-4335-A9A2-1C3FC5B3636B}"/>
              </a:ext>
            </a:extLst>
          </p:cNvPr>
          <p:cNvSpPr>
            <a:spLocks xmlns:a="http://schemas.openxmlformats.org/drawingml/2006/main" noGrp="1"/>
          </p:cNvSpPr>
          <p:nvPr/>
        </p:nvSpPr>
        <p:spPr>
          <a:xfrm xmlns:a="http://schemas.openxmlformats.org/drawingml/2006/main">
            <a:off x="514350" y="179070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规则进数据库（改库即改规则）</a:t>
            </a:r>
          </a:p>
        </p:txBody>
      </p:sp>
      <p:sp>
        <p:nvSpPr>
          <p:cNvPr id="24" name="">
            <a:extLst xmlns:a="http://schemas.openxmlformats.org/drawingml/2006/main">
              <a:ext uri="{FF2B5EF4-FFF2-40B4-BE49-F238E27FC236}">
                <a16:creationId xmlns:a16="http://schemas.microsoft.com/office/drawing/2014/main" id="{110E4475-6EE3-40AB-813C-CA2033ECA2F7}"/>
              </a:ext>
            </a:extLst>
          </p:cNvPr>
          <p:cNvSpPr>
            <a:spLocks xmlns:a="http://schemas.openxmlformats.org/drawingml/2006/main" noGrp="1"/>
          </p:cNvSpPr>
          <p:nvPr/>
        </p:nvSpPr>
        <p:spPr>
          <a:xfrm xmlns:a="http://schemas.openxmlformats.org/drawingml/2006/main">
            <a:off x="514350" y="2228850"/>
            <a:ext cx="457200" cy="190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9EA3F817-960B-4BB8-B0CD-99E29FCFE7F6}"/>
              </a:ext>
            </a:extLst>
          </p:cNvPr>
          <p:cNvSpPr>
            <a:spLocks xmlns:a="http://schemas.openxmlformats.org/drawingml/2006/main" noGrp="1"/>
          </p:cNvSpPr>
          <p:nvPr/>
        </p:nvSpPr>
        <p:spPr>
          <a:xfrm xmlns:a="http://schemas.openxmlformats.org/drawingml/2006/main">
            <a:off x="514350" y="238125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条件 </a:t>
            </a:r>
            <a:r>
              <a:rPr sz="975">
                <a:solidFill>
                  <a:srgbClr val="EEF5FF"/>
                </a:solidFill>
                <a:latin typeface="微软雅黑"/>
                <a:ea typeface="微软雅黑"/>
                <a:cs typeface="微软雅黑"/>
              </a:rPr>
              <a:t>JSON + </a:t>
            </a:r>
            <a:r>
              <a:rPr sz="975">
                <a:solidFill>
                  <a:srgbClr val="EEF5FF"/>
                </a:solidFill>
                <a:latin typeface="微软雅黑"/>
                <a:ea typeface="微软雅黑"/>
                <a:cs typeface="微软雅黑"/>
              </a:rPr>
              <a:t>动作 </a:t>
            </a:r>
            <a:r>
              <a:rPr sz="975">
                <a:solidFill>
                  <a:srgbClr val="EEF5FF"/>
                </a:solidFill>
                <a:latin typeface="微软雅黑"/>
                <a:ea typeface="微软雅黑"/>
                <a:cs typeface="微软雅黑"/>
              </a:rPr>
              <a:t>JSON + </a:t>
            </a:r>
            <a:r>
              <a:rPr sz="975">
                <a:solidFill>
                  <a:srgbClr val="EEF5FF"/>
                </a:solidFill>
                <a:latin typeface="微软雅黑"/>
                <a:ea typeface="微软雅黑"/>
                <a:cs typeface="微软雅黑"/>
              </a:rPr>
              <a:t>优先级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分组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启停全部落库</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改规则无需重新编译或发布，管理员可在后台试算</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算子白名单求值，绝不使用 </a:t>
            </a:r>
            <a:r>
              <a:rPr sz="975">
                <a:solidFill>
                  <a:srgbClr val="EEF5FF"/>
                </a:solidFill>
                <a:latin typeface="微软雅黑"/>
                <a:ea typeface="微软雅黑"/>
                <a:cs typeface="微软雅黑"/>
              </a:rPr>
              <a:t>SpEL / eval / </a:t>
            </a:r>
            <a:r>
              <a:rPr sz="975">
                <a:solidFill>
                  <a:srgbClr val="EEF5FF"/>
                </a:solidFill>
                <a:latin typeface="微软雅黑"/>
                <a:ea typeface="微软雅黑"/>
                <a:cs typeface="微软雅黑"/>
              </a:rPr>
              <a:t>拼 </a:t>
            </a:r>
            <a:r>
              <a:rPr sz="975">
                <a:solidFill>
                  <a:srgbClr val="EEF5FF"/>
                </a:solidFill>
                <a:latin typeface="微软雅黑"/>
                <a:ea typeface="微软雅黑"/>
                <a:cs typeface="微软雅黑"/>
              </a:rPr>
              <a:t>SQL</a:t>
            </a:r>
            <a:r>
              <a:rPr sz="975">
                <a:solidFill>
                  <a:srgbClr val="EEF5FF"/>
                </a:solidFill>
                <a:latin typeface="微软雅黑"/>
                <a:ea typeface="微软雅黑"/>
                <a:cs typeface="微软雅黑"/>
              </a:rPr>
              <a:t>，规则当不可信输入</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规则表由 </a:t>
            </a:r>
            <a:r>
              <a:rPr sz="975">
                <a:solidFill>
                  <a:srgbClr val="EEF5FF"/>
                </a:solidFill>
                <a:latin typeface="微软雅黑"/>
                <a:ea typeface="微软雅黑"/>
                <a:cs typeface="微软雅黑"/>
              </a:rPr>
              <a:t>RuleEngine </a:t>
            </a:r>
            <a:r>
              <a:rPr sz="975">
                <a:solidFill>
                  <a:srgbClr val="EEF5FF"/>
                </a:solidFill>
                <a:latin typeface="微软雅黑"/>
                <a:ea typeface="微软雅黑"/>
                <a:cs typeface="微软雅黑"/>
              </a:rPr>
              <a:t>读库驱动，</a:t>
            </a:r>
            <a:r>
              <a:rPr sz="975">
                <a:solidFill>
                  <a:srgbClr val="EEF5FF"/>
                </a:solidFill>
                <a:latin typeface="微软雅黑"/>
                <a:ea typeface="微软雅黑"/>
                <a:cs typeface="微软雅黑"/>
              </a:rPr>
              <a:t>rule_result </a:t>
            </a:r>
            <a:r>
              <a:rPr sz="975">
                <a:solidFill>
                  <a:srgbClr val="EEF5FF"/>
                </a:solidFill>
                <a:latin typeface="微软雅黑"/>
                <a:ea typeface="微软雅黑"/>
                <a:cs typeface="微软雅黑"/>
              </a:rPr>
              <a:t>落执行留痕</a:t>
            </a:r>
          </a:p>
        </p:txBody>
      </p:sp>
      <p:sp>
        <p:nvSpPr>
          <p:cNvPr id="26" name="">
            <a:extLst xmlns:a="http://schemas.openxmlformats.org/drawingml/2006/main">
              <a:ext uri="{FF2B5EF4-FFF2-40B4-BE49-F238E27FC236}">
                <a16:creationId xmlns:a16="http://schemas.microsoft.com/office/drawing/2014/main" id="{211B6D79-28A3-4B2F-8487-EB0C983573EB}"/>
              </a:ext>
            </a:extLst>
          </p:cNvPr>
          <p:cNvSpPr>
            <a:spLocks xmlns:a="http://schemas.openxmlformats.org/drawingml/2006/main" noGrp="1"/>
          </p:cNvSpPr>
          <p:nvPr/>
        </p:nvSpPr>
        <p:spPr>
          <a:xfrm xmlns:a="http://schemas.openxmlformats.org/drawingml/2006/main">
            <a:off x="6210300" y="133350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E234419D-95FD-4695-B61C-7A319B2862A2}"/>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C7B37A4D-E7BC-4572-B17D-709ABAB2DC2E}"/>
              </a:ext>
            </a:extLst>
          </p:cNvPr>
          <p:cNvSpPr>
            <a:spLocks xmlns:a="http://schemas.openxmlformats.org/drawingml/2006/main" noGrp="1"/>
          </p:cNvSpPr>
          <p:nvPr/>
        </p:nvSpPr>
        <p:spPr>
          <a:xfrm xmlns:a="http://schemas.openxmlformats.org/drawingml/2006/main">
            <a:off x="6438900" y="152400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2E86E0"/>
                </a:solidFill>
                <a:latin typeface="微软雅黑"/>
                <a:ea typeface="微软雅黑"/>
                <a:cs typeface="微软雅黑"/>
              </a:defRPr>
            </a:pPr>
            <a:r>
              <a:rPr sz="938" b="1">
                <a:solidFill>
                  <a:srgbClr val="2E86E0"/>
                </a:solidFill>
                <a:latin typeface="微软雅黑"/>
                <a:ea typeface="微软雅黑"/>
                <a:cs typeface="微软雅黑"/>
              </a:rPr>
              <a:t>创新点二</a:t>
            </a:r>
          </a:p>
        </p:txBody>
      </p:sp>
      <p:sp>
        <p:nvSpPr>
          <p:cNvPr id="29" name="">
            <a:extLst xmlns:a="http://schemas.openxmlformats.org/drawingml/2006/main">
              <a:ext uri="{FF2B5EF4-FFF2-40B4-BE49-F238E27FC236}">
                <a16:creationId xmlns:a16="http://schemas.microsoft.com/office/drawing/2014/main" id="{552B2CC1-5B8B-4608-979D-126AC859015C}"/>
              </a:ext>
            </a:extLst>
          </p:cNvPr>
          <p:cNvSpPr>
            <a:spLocks xmlns:a="http://schemas.openxmlformats.org/drawingml/2006/main" noGrp="1"/>
          </p:cNvSpPr>
          <p:nvPr/>
        </p:nvSpPr>
        <p:spPr>
          <a:xfrm xmlns:a="http://schemas.openxmlformats.org/drawingml/2006/main">
            <a:off x="6438900" y="179070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双组匹配 </a:t>
            </a:r>
            <a:r>
              <a:rPr sz="1575" b="1">
                <a:solidFill>
                  <a:srgbClr val="FFFFFF"/>
                </a:solidFill>
                <a:latin typeface="微软雅黑"/>
                <a:ea typeface="微软雅黑"/>
                <a:cs typeface="微软雅黑"/>
              </a:rPr>
              <a:t>+ </a:t>
            </a:r>
            <a:r>
              <a:rPr sz="1575" b="1">
                <a:solidFill>
                  <a:srgbClr val="FFFFFF"/>
                </a:solidFill>
                <a:latin typeface="微软雅黑"/>
                <a:ea typeface="微软雅黑"/>
                <a:cs typeface="微软雅黑"/>
              </a:rPr>
              <a:t>引用事实</a:t>
            </a:r>
          </a:p>
        </p:txBody>
      </p:sp>
      <p:sp>
        <p:nvSpPr>
          <p:cNvPr id="30" name="">
            <a:extLst xmlns:a="http://schemas.openxmlformats.org/drawingml/2006/main">
              <a:ext uri="{FF2B5EF4-FFF2-40B4-BE49-F238E27FC236}">
                <a16:creationId xmlns:a16="http://schemas.microsoft.com/office/drawing/2014/main" id="{EFEC6E79-282F-48FD-9675-3D959AF69503}"/>
              </a:ext>
            </a:extLst>
          </p:cNvPr>
          <p:cNvSpPr>
            <a:spLocks xmlns:a="http://schemas.openxmlformats.org/drawingml/2006/main" noGrp="1"/>
          </p:cNvSpPr>
          <p:nvPr/>
        </p:nvSpPr>
        <p:spPr>
          <a:xfrm xmlns:a="http://schemas.openxmlformats.org/drawingml/2006/main">
            <a:off x="6438900" y="2228850"/>
            <a:ext cx="457200" cy="1905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803FBB0A-41E1-4128-A5DF-39058A5EF8BA}"/>
              </a:ext>
            </a:extLst>
          </p:cNvPr>
          <p:cNvSpPr>
            <a:spLocks xmlns:a="http://schemas.openxmlformats.org/drawingml/2006/main" noGrp="1"/>
          </p:cNvSpPr>
          <p:nvPr/>
        </p:nvSpPr>
        <p:spPr>
          <a:xfrm xmlns:a="http://schemas.openxmlformats.org/drawingml/2006/main">
            <a:off x="6438900" y="238125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rule_group </a:t>
            </a:r>
            <a:r>
              <a:rPr sz="975">
                <a:solidFill>
                  <a:srgbClr val="EEF5FF"/>
                </a:solidFill>
                <a:latin typeface="微软雅黑"/>
                <a:ea typeface="微软雅黑"/>
                <a:cs typeface="微软雅黑"/>
              </a:rPr>
              <a:t>把「定档」与「关键词补充」分成两组，各判各的</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stop_on_match </a:t>
            </a:r>
            <a:r>
              <a:rPr sz="975">
                <a:solidFill>
                  <a:srgbClr val="EEF5FF"/>
                </a:solidFill>
                <a:latin typeface="微软雅黑"/>
                <a:ea typeface="微软雅黑"/>
                <a:cs typeface="微软雅黑"/>
              </a:rPr>
              <a:t>只结束本组，</a:t>
            </a:r>
            <a:r>
              <a:rPr sz="975">
                <a:solidFill>
                  <a:srgbClr val="EEF5FF"/>
                </a:solidFill>
                <a:latin typeface="微软雅黑"/>
                <a:ea typeface="微软雅黑"/>
                <a:cs typeface="微软雅黑"/>
              </a:rPr>
              <a:t>max_hits </a:t>
            </a:r>
            <a:r>
              <a:rPr sz="975">
                <a:solidFill>
                  <a:srgbClr val="EEF5FF"/>
                </a:solidFill>
                <a:latin typeface="微软雅黑"/>
                <a:ea typeface="微软雅黑"/>
                <a:cs typeface="微软雅黑"/>
              </a:rPr>
              <a:t>只限制本组命中条数</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action_json </a:t>
            </a:r>
            <a:r>
              <a:rPr sz="975">
                <a:solidFill>
                  <a:srgbClr val="EEF5FF"/>
                </a:solidFill>
                <a:latin typeface="微软雅黑"/>
                <a:ea typeface="微软雅黑"/>
                <a:cs typeface="微软雅黑"/>
              </a:rPr>
              <a:t>中以 </a:t>
            </a:r>
            <a:r>
              <a:rPr sz="975">
                <a:solidFill>
                  <a:srgbClr val="EEF5FF"/>
                </a:solidFill>
                <a:latin typeface="微软雅黑"/>
                <a:ea typeface="微软雅黑"/>
                <a:cs typeface="微软雅黑"/>
              </a:rPr>
              <a:t>_from </a:t>
            </a:r>
            <a:r>
              <a:rPr sz="975">
                <a:solidFill>
                  <a:srgbClr val="EEF5FF"/>
                </a:solidFill>
                <a:latin typeface="微软雅黑"/>
                <a:ea typeface="微软雅黑"/>
                <a:cs typeface="微软雅黑"/>
              </a:rPr>
              <a:t>结尾的字段引用事实，一条规则服务所有气体与档位</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同一场景多条规则按 </a:t>
            </a:r>
            <a:r>
              <a:rPr sz="975">
                <a:solidFill>
                  <a:srgbClr val="EEF5FF"/>
                </a:solidFill>
                <a:latin typeface="微软雅黑"/>
                <a:ea typeface="微软雅黑"/>
                <a:cs typeface="微软雅黑"/>
              </a:rPr>
              <a:t>priority </a:t>
            </a:r>
            <a:r>
              <a:rPr sz="975">
                <a:solidFill>
                  <a:srgbClr val="EEF5FF"/>
                </a:solidFill>
                <a:latin typeface="微软雅黑"/>
                <a:ea typeface="微软雅黑"/>
                <a:cs typeface="微软雅黑"/>
              </a:rPr>
              <a:t>从高到低稳定匹配，同优先级按 </a:t>
            </a:r>
            <a:r>
              <a:rPr sz="975">
                <a:solidFill>
                  <a:srgbClr val="EEF5FF"/>
                </a:solidFill>
                <a:latin typeface="微软雅黑"/>
                <a:ea typeface="微软雅黑"/>
                <a:cs typeface="微软雅黑"/>
              </a:rPr>
              <a:t>rule_code </a:t>
            </a:r>
            <a:r>
              <a:rPr sz="975">
                <a:solidFill>
                  <a:srgbClr val="EEF5FF"/>
                </a:solidFill>
                <a:latin typeface="微软雅黑"/>
                <a:ea typeface="微软雅黑"/>
                <a:cs typeface="微软雅黑"/>
              </a:rPr>
              <a:t>排序</a:t>
            </a:r>
          </a:p>
        </p:txBody>
      </p:sp>
      <p:sp>
        <p:nvSpPr>
          <p:cNvPr id="32" name="">
            <a:extLst xmlns:a="http://schemas.openxmlformats.org/drawingml/2006/main">
              <a:ext uri="{FF2B5EF4-FFF2-40B4-BE49-F238E27FC236}">
                <a16:creationId xmlns:a16="http://schemas.microsoft.com/office/drawing/2014/main" id="{0AB426DA-2ED7-4B09-9429-D0C899CAA1AD}"/>
              </a:ext>
            </a:extLst>
          </p:cNvPr>
          <p:cNvSpPr>
            <a:spLocks xmlns:a="http://schemas.openxmlformats.org/drawingml/2006/main" noGrp="1"/>
          </p:cNvSpPr>
          <p:nvPr/>
        </p:nvSpPr>
        <p:spPr>
          <a:xfrm xmlns:a="http://schemas.openxmlformats.org/drawingml/2006/main">
            <a:off x="285750" y="382905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7FD37536-1D5B-4AE7-BEEB-39AEEC64E83D}"/>
              </a:ext>
            </a:extLst>
          </p:cNvPr>
          <p:cNvSpPr>
            <a:spLocks xmlns:a="http://schemas.openxmlformats.org/drawingml/2006/main" noGrp="1"/>
          </p:cNvSpPr>
          <p:nvPr/>
        </p:nvSpPr>
        <p:spPr>
          <a:xfrm xmlns:a="http://schemas.openxmlformats.org/drawingml/2006/main">
            <a:off x="285750" y="3829050"/>
            <a:ext cx="5695950" cy="4762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89CADD05-6B81-441A-9958-620AF72F4564}"/>
              </a:ext>
            </a:extLst>
          </p:cNvPr>
          <p:cNvSpPr>
            <a:spLocks xmlns:a="http://schemas.openxmlformats.org/drawingml/2006/main" noGrp="1"/>
          </p:cNvSpPr>
          <p:nvPr/>
        </p:nvSpPr>
        <p:spPr>
          <a:xfrm xmlns:a="http://schemas.openxmlformats.org/drawingml/2006/main">
            <a:off x="514350" y="40195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创新点三</a:t>
            </a:r>
          </a:p>
        </p:txBody>
      </p:sp>
      <p:sp>
        <p:nvSpPr>
          <p:cNvPr id="35" name="">
            <a:extLst xmlns:a="http://schemas.openxmlformats.org/drawingml/2006/main">
              <a:ext uri="{FF2B5EF4-FFF2-40B4-BE49-F238E27FC236}">
                <a16:creationId xmlns:a16="http://schemas.microsoft.com/office/drawing/2014/main" id="{A3EB61AE-E769-4F98-9F2C-CDBBBD282A72}"/>
              </a:ext>
            </a:extLst>
          </p:cNvPr>
          <p:cNvSpPr>
            <a:spLocks xmlns:a="http://schemas.openxmlformats.org/drawingml/2006/main" noGrp="1"/>
          </p:cNvSpPr>
          <p:nvPr/>
        </p:nvSpPr>
        <p:spPr>
          <a:xfrm xmlns:a="http://schemas.openxmlformats.org/drawingml/2006/main">
            <a:off x="514350" y="428625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结论可解释到数据点</a:t>
            </a:r>
          </a:p>
        </p:txBody>
      </p:sp>
      <p:sp>
        <p:nvSpPr>
          <p:cNvPr id="36" name="">
            <a:extLst xmlns:a="http://schemas.openxmlformats.org/drawingml/2006/main">
              <a:ext uri="{FF2B5EF4-FFF2-40B4-BE49-F238E27FC236}">
                <a16:creationId xmlns:a16="http://schemas.microsoft.com/office/drawing/2014/main" id="{B23A2558-8730-435A-93BF-4F2E9A876646}"/>
              </a:ext>
            </a:extLst>
          </p:cNvPr>
          <p:cNvSpPr>
            <a:spLocks xmlns:a="http://schemas.openxmlformats.org/drawingml/2006/main" noGrp="1"/>
          </p:cNvSpPr>
          <p:nvPr/>
        </p:nvSpPr>
        <p:spPr>
          <a:xfrm xmlns:a="http://schemas.openxmlformats.org/drawingml/2006/main">
            <a:off x="514350" y="4724400"/>
            <a:ext cx="4572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2BBF1504-B207-4EFB-80FD-BAA040155FB7}"/>
              </a:ext>
            </a:extLst>
          </p:cNvPr>
          <p:cNvSpPr>
            <a:spLocks xmlns:a="http://schemas.openxmlformats.org/drawingml/2006/main" noGrp="1"/>
          </p:cNvSpPr>
          <p:nvPr/>
        </p:nvSpPr>
        <p:spPr>
          <a:xfrm xmlns:a="http://schemas.openxmlformats.org/drawingml/2006/main">
            <a:off x="514350" y="487680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每条结论携带 </a:t>
            </a:r>
            <a:r>
              <a:rPr sz="975">
                <a:solidFill>
                  <a:srgbClr val="EEF5FF"/>
                </a:solidFill>
                <a:latin typeface="微软雅黑"/>
                <a:ea typeface="微软雅黑"/>
                <a:cs typeface="微软雅黑"/>
              </a:rPr>
              <a:t>rule_code</a:t>
            </a:r>
            <a:r>
              <a:rPr sz="975">
                <a:solidFill>
                  <a:srgbClr val="EEF5FF"/>
                </a:solidFill>
                <a:latin typeface="微软雅黑"/>
                <a:ea typeface="微软雅黑"/>
                <a:cs typeface="微软雅黑"/>
              </a:rPr>
              <a:t>、命中条件、依据事实与置信度</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severity </a:t>
            </a:r>
            <a:r>
              <a:rPr sz="975">
                <a:solidFill>
                  <a:srgbClr val="EEF5FF"/>
                </a:solidFill>
                <a:latin typeface="微软雅黑"/>
                <a:ea typeface="微软雅黑"/>
                <a:cs typeface="微软雅黑"/>
              </a:rPr>
              <a:t>取命中里最严重的一档，</a:t>
            </a:r>
            <a:r>
              <a:rPr sz="975">
                <a:solidFill>
                  <a:srgbClr val="EEF5FF"/>
                </a:solidFill>
                <a:latin typeface="微软雅黑"/>
                <a:ea typeface="微软雅黑"/>
                <a:cs typeface="微软雅黑"/>
              </a:rPr>
              <a:t>actions / causes </a:t>
            </a:r>
            <a:r>
              <a:rPr sz="975">
                <a:solidFill>
                  <a:srgbClr val="EEF5FF"/>
                </a:solidFill>
                <a:latin typeface="微软雅黑"/>
                <a:ea typeface="微软雅黑"/>
                <a:cs typeface="微软雅黑"/>
              </a:rPr>
              <a:t>去重保序</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同一份报告连续归因两次，</a:t>
            </a:r>
            <a:r>
              <a:rPr sz="975">
                <a:solidFill>
                  <a:srgbClr val="EEF5FF"/>
                </a:solidFill>
                <a:latin typeface="微软雅黑"/>
                <a:ea typeface="微软雅黑"/>
                <a:cs typeface="微软雅黑"/>
              </a:rPr>
              <a:t>rule_refs </a:t>
            </a:r>
            <a:r>
              <a:rPr sz="975">
                <a:solidFill>
                  <a:srgbClr val="EEF5FF"/>
                </a:solidFill>
                <a:latin typeface="微软雅黑"/>
                <a:ea typeface="微软雅黑"/>
                <a:cs typeface="微软雅黑"/>
              </a:rPr>
              <a:t>必须完全一致（回灌自验）</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结论可下钻到「哪几个人、哪几份报告、哪几条记录」</a:t>
            </a:r>
          </a:p>
        </p:txBody>
      </p:sp>
      <p:sp>
        <p:nvSpPr>
          <p:cNvPr id="38" name="">
            <a:extLst xmlns:a="http://schemas.openxmlformats.org/drawingml/2006/main">
              <a:ext uri="{FF2B5EF4-FFF2-40B4-BE49-F238E27FC236}">
                <a16:creationId xmlns:a16="http://schemas.microsoft.com/office/drawing/2014/main" id="{243906C6-40AE-4C6C-A98E-9D7B09D625CF}"/>
              </a:ext>
            </a:extLst>
          </p:cNvPr>
          <p:cNvSpPr>
            <a:spLocks xmlns:a="http://schemas.openxmlformats.org/drawingml/2006/main" noGrp="1"/>
          </p:cNvSpPr>
          <p:nvPr/>
        </p:nvSpPr>
        <p:spPr>
          <a:xfrm xmlns:a="http://schemas.openxmlformats.org/drawingml/2006/main">
            <a:off x="6210300" y="382905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9" name="">
            <a:extLst xmlns:a="http://schemas.openxmlformats.org/drawingml/2006/main">
              <a:ext uri="{FF2B5EF4-FFF2-40B4-BE49-F238E27FC236}">
                <a16:creationId xmlns:a16="http://schemas.microsoft.com/office/drawing/2014/main" id="{4D4FEA8F-208D-48BD-9ACF-55CEB445D62C}"/>
              </a:ext>
            </a:extLst>
          </p:cNvPr>
          <p:cNvSpPr>
            <a:spLocks xmlns:a="http://schemas.openxmlformats.org/drawingml/2006/main" noGrp="1"/>
          </p:cNvSpPr>
          <p:nvPr/>
        </p:nvSpPr>
        <p:spPr>
          <a:xfrm xmlns:a="http://schemas.openxmlformats.org/drawingml/2006/main">
            <a:off x="6210300" y="3829050"/>
            <a:ext cx="5695950" cy="47625"/>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407127BF-3F0D-474D-8B7A-648D575ADA19}"/>
              </a:ext>
            </a:extLst>
          </p:cNvPr>
          <p:cNvSpPr>
            <a:spLocks xmlns:a="http://schemas.openxmlformats.org/drawingml/2006/main" noGrp="1"/>
          </p:cNvSpPr>
          <p:nvPr/>
        </p:nvSpPr>
        <p:spPr>
          <a:xfrm xmlns:a="http://schemas.openxmlformats.org/drawingml/2006/main">
            <a:off x="6438900" y="40195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B7A6FF"/>
                </a:solidFill>
                <a:latin typeface="微软雅黑"/>
                <a:ea typeface="微软雅黑"/>
                <a:cs typeface="微软雅黑"/>
              </a:defRPr>
            </a:pPr>
            <a:r>
              <a:rPr sz="938" b="1">
                <a:solidFill>
                  <a:srgbClr val="B7A6FF"/>
                </a:solidFill>
                <a:latin typeface="微软雅黑"/>
                <a:ea typeface="微软雅黑"/>
                <a:cs typeface="微软雅黑"/>
              </a:rPr>
              <a:t>创新点四</a:t>
            </a:r>
          </a:p>
        </p:txBody>
      </p:sp>
      <p:sp>
        <p:nvSpPr>
          <p:cNvPr id="41" name="">
            <a:extLst xmlns:a="http://schemas.openxmlformats.org/drawingml/2006/main">
              <a:ext uri="{FF2B5EF4-FFF2-40B4-BE49-F238E27FC236}">
                <a16:creationId xmlns:a16="http://schemas.microsoft.com/office/drawing/2014/main" id="{C212F32A-B64A-4A23-91FB-9657C844A0F3}"/>
              </a:ext>
            </a:extLst>
          </p:cNvPr>
          <p:cNvSpPr>
            <a:spLocks xmlns:a="http://schemas.openxmlformats.org/drawingml/2006/main" noGrp="1"/>
          </p:cNvSpPr>
          <p:nvPr/>
        </p:nvSpPr>
        <p:spPr>
          <a:xfrm xmlns:a="http://schemas.openxmlformats.org/drawingml/2006/main">
            <a:off x="6438900" y="4286250"/>
            <a:ext cx="52578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建议与人工决定全程留痕</a:t>
            </a:r>
          </a:p>
        </p:txBody>
      </p:sp>
      <p:sp>
        <p:nvSpPr>
          <p:cNvPr id="42" name="">
            <a:extLst xmlns:a="http://schemas.openxmlformats.org/drawingml/2006/main">
              <a:ext uri="{FF2B5EF4-FFF2-40B4-BE49-F238E27FC236}">
                <a16:creationId xmlns:a16="http://schemas.microsoft.com/office/drawing/2014/main" id="{43BDD003-558F-463B-851F-EBA627F3FAA7}"/>
              </a:ext>
            </a:extLst>
          </p:cNvPr>
          <p:cNvSpPr>
            <a:spLocks xmlns:a="http://schemas.openxmlformats.org/drawingml/2006/main" noGrp="1"/>
          </p:cNvSpPr>
          <p:nvPr/>
        </p:nvSpPr>
        <p:spPr>
          <a:xfrm xmlns:a="http://schemas.openxmlformats.org/drawingml/2006/main">
            <a:off x="6438900" y="4724400"/>
            <a:ext cx="457200" cy="19050"/>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DBBAE4EC-3C38-42C1-AB2D-60C3666B2D2D}"/>
              </a:ext>
            </a:extLst>
          </p:cNvPr>
          <p:cNvSpPr>
            <a:spLocks xmlns:a="http://schemas.openxmlformats.org/drawingml/2006/main" noGrp="1"/>
          </p:cNvSpPr>
          <p:nvPr/>
        </p:nvSpPr>
        <p:spPr>
          <a:xfrm xmlns:a="http://schemas.openxmlformats.org/drawingml/2006/main">
            <a:off x="6438900" y="4876800"/>
            <a:ext cx="5295900" cy="1200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一次归因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一个 </a:t>
            </a:r>
            <a:r>
              <a:rPr sz="975">
                <a:solidFill>
                  <a:srgbClr val="EEF5FF"/>
                </a:solidFill>
                <a:latin typeface="微软雅黑"/>
                <a:ea typeface="微软雅黑"/>
                <a:cs typeface="微软雅黑"/>
              </a:rPr>
              <a:t>run_id</a:t>
            </a:r>
            <a:r>
              <a:rPr sz="975">
                <a:solidFill>
                  <a:srgbClr val="EEF5FF"/>
                </a:solidFill>
                <a:latin typeface="微软雅黑"/>
                <a:ea typeface="微软雅黑"/>
                <a:cs typeface="微软雅黑"/>
              </a:rPr>
              <a:t>，串起三张留痕表</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确认接口只改建议状态，不改任何业务数据</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采纳、驳回、修改、执行、回滚全部可追溯，责任归属清楚</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老总、班组长、员工三端均可确认，决定统一写入 </a:t>
            </a:r>
            <a:r>
              <a:rPr sz="975">
                <a:solidFill>
                  <a:srgbClr val="EEF5FF"/>
                </a:solidFill>
                <a:latin typeface="微软雅黑"/>
                <a:ea typeface="微软雅黑"/>
                <a:cs typeface="微软雅黑"/>
              </a:rPr>
              <a:t>decision_log</a:t>
            </a:r>
          </a:p>
        </p:txBody>
      </p:sp>
      <p:sp>
        <p:nvSpPr>
          <p:cNvPr id="44" name="">
            <a:extLst xmlns:a="http://schemas.openxmlformats.org/drawingml/2006/main">
              <a:ext uri="{FF2B5EF4-FFF2-40B4-BE49-F238E27FC236}">
                <a16:creationId xmlns:a16="http://schemas.microsoft.com/office/drawing/2014/main" id="{E3BDDCC6-CA98-4522-AFD3-21114543275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F6947D53-D286-4C03-9C19-D80BA5293430}"/>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456AA78B-DB0B-40E3-A179-A511B37C031D}"/>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7" name="">
            <a:extLst xmlns:a="http://schemas.openxmlformats.org/drawingml/2006/main">
              <a:ext uri="{FF2B5EF4-FFF2-40B4-BE49-F238E27FC236}">
                <a16:creationId xmlns:a16="http://schemas.microsoft.com/office/drawing/2014/main" id="{5E323148-43E9-4B27-81AD-6AC41BF8DE36}"/>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F8FD7F5B-BCCA-4435-AB33-36B2B396F033}"/>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12</a:t>
            </a:r>
          </a:p>
        </p:txBody>
      </p:sp>
    </p:spTree>
    <p:extLst>
      <p:ext uri="{BB962C8B-B14F-4D97-AF65-F5344CB8AC3E}">
        <p14:creationId xmlns:p14="http://schemas.microsoft.com/office/powerpoint/2010/main" val="1357617682"/>
      </p:ext>
    </p:extLst>
  </p:cSld>
</p:sld>
</file>

<file path=ppt/slides/slide1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e42a059c1b9c4d8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21D3A7-C003-46AC-A66F-83A9EF62CA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F019926-E91F-4926-8C6B-C4345D03345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4B7DCE4A-D431-4F78-97C6-279E17DE4920}"/>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6D22FC17-E2A1-4803-9B8C-8DF42C76726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55748582-DB10-481A-8577-7B602FB24AA0}"/>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C746576E-B6FB-4E92-8202-BEDFE62F8B15}"/>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4E802477-B6B3-433E-B03E-5D72ADF0512A}"/>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B26DD3D3-9F87-4946-A2DD-411D294DFE54}"/>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FFD24A">
                  <a:alpha val="20000"/>
                </a:srgbClr>
              </a:gs>
              <a:gs pos="45000">
                <a:srgbClr val="FFD24A">
                  <a:alpha val="8000"/>
                </a:srgbClr>
              </a:gs>
              <a:gs pos="100000">
                <a:srgbClr val="FFD24A">
                  <a:alpha val="0"/>
                </a:srgbClr>
              </a:gs>
            </a:gsLst>
            <a:path path="shape"/>
          </a:gra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6ECD217D-7F80-4A8D-941F-A2608B3A19F4}"/>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86DA56D7-52D2-4F41-81E0-206E657B6D77}"/>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FFD24A"/>
              </a:gs>
              <a:gs pos="100000">
                <a:srgbClr val="FFD24A">
                  <a:alpha val="0"/>
                </a:srgbClr>
              </a:gs>
            </a:gsLst>
            <a:lin ang="5400000"/>
          </a:gra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75D616A-8943-4C0B-B1E4-7E815F738D1D}"/>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FFD24A">
              <a:alpha val="70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6EAD73BF-884D-4AF5-A4CC-CA0236BC4B3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17546F6A-68B9-4011-86DF-3A56BC8B1009}"/>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C8CD37C-07A8-4CB3-992F-E586D4471C7D}"/>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F6F5B76F-A058-4AAE-ADFC-0D4E3AA1A3F7}"/>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FFD24A">
                <a:alpha val="45000"/>
              </a:srgbClr>
            </a:solidFill>
            <a:prstDash val="solid"/>
          </a:ln>
        </p:spPr>
      </p:sp>
      <p:sp>
        <p:nvSpPr>
          <p:cNvPr id="17" name="">
            <a:extLst xmlns:a="http://schemas.openxmlformats.org/drawingml/2006/main">
              <a:ext uri="{FF2B5EF4-FFF2-40B4-BE49-F238E27FC236}">
                <a16:creationId xmlns:a16="http://schemas.microsoft.com/office/drawing/2014/main" id="{6FF8B4FF-B73C-42F9-B8A3-1D847A5EEA78}"/>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FFD24A">
                <a:alpha val="28000"/>
              </a:srgbClr>
            </a:solidFill>
            <a:prstDash val="solid"/>
          </a:ln>
        </p:spPr>
      </p:sp>
      <p:sp>
        <p:nvSpPr>
          <p:cNvPr id="18" name="">
            <a:extLst xmlns:a="http://schemas.openxmlformats.org/drawingml/2006/main">
              <a:ext uri="{FF2B5EF4-FFF2-40B4-BE49-F238E27FC236}">
                <a16:creationId xmlns:a16="http://schemas.microsoft.com/office/drawing/2014/main" id="{2813F41F-C574-4846-B139-BF369E468CDC}"/>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10343F5D-D542-4B86-996F-2C6787F10E79}"/>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480C5485-A558-41B1-A749-2DDABB26E78F}"/>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084A3181-B140-4EF2-A52B-CCD26D6B6ABF}"/>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4D70A2F4-CD72-4DF1-955B-24B8036D61DD}"/>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8F227FB1-32B3-4A49-AB11-2699B6C60596}"/>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1C06100-4102-4B2E-ACBB-FBE7B3998127}"/>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0E3A30A0-2E74-4695-99E3-739E70947FCE}"/>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8B2FE386-74C0-4957-8225-CF6C75AEAFB4}"/>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06D06386-6919-4566-BEFF-3D3FDC457C59}"/>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A34BAC11-7348-4C70-BA7B-897DE23E7118}"/>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E979A070-B948-4142-8BD2-FFAFEEFF93FC}"/>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91B6FCC6-3C79-44BD-8089-4CE9AC7C7AA6}"/>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D6243687-D47A-42A3-BF34-76F7391A1CFE}"/>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0B576FC5-70AB-4542-9385-63C166B7E483}"/>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394A0BF4-33EE-4D26-ABAC-6B8E35593CBD}"/>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7B7323EE-C5F1-4B47-B2AA-A6BD3E6616D7}"/>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5D67BDDE-DB7A-44FC-89D5-91C66C564B07}"/>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DC415705-4EC2-4444-97C9-6D86CD811CC8}"/>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111EDDCA-D8C2-4D19-AAE2-7AA6A3D007F1}"/>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9EC26B4D-8B5C-4211-9545-19839E74976B}"/>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B37F1D85-BA10-4025-8A1A-5E02A904F0F4}"/>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9002A886-8EFE-44D7-B9FA-F4095BABD42A}"/>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FFD24A">
                      <a:alpha val="75000"/>
                    </a:srgbClr>
                  </a:solidFill>
                  <a:prstDash val="solid"/>
                </a:ln>
                <a:solidFill>
                  <a:srgbClr val="0B3E82"/>
                </a:solidFill>
                <a:latin typeface="Bahnschrift SemiBold"/>
                <a:ea typeface="Bahnschrift SemiBold"/>
                <a:cs typeface="Bahnschrift SemiBold"/>
              </a:defRPr>
            </a:pPr>
            <a:r>
              <a:rPr sz="9900" b="1">
                <a:ln w="14288">
                  <a:solidFill>
                    <a:srgbClr val="FFD24A">
                      <a:alpha val="75000"/>
                    </a:srgbClr>
                  </a:solidFill>
                  <a:prstDash val="solid"/>
                </a:ln>
                <a:solidFill>
                  <a:srgbClr val="0B3E82"/>
                </a:solidFill>
                <a:latin typeface="Bahnschrift SemiBold"/>
                <a:ea typeface="Bahnschrift SemiBold"/>
                <a:cs typeface="Bahnschrift SemiBold"/>
              </a:rPr>
              <a:t>03</a:t>
            </a:r>
          </a:p>
        </p:txBody>
      </p:sp>
      <p:sp>
        <p:nvSpPr>
          <p:cNvPr id="41" name="">
            <a:extLst xmlns:a="http://schemas.openxmlformats.org/drawingml/2006/main">
              <a:ext uri="{FF2B5EF4-FFF2-40B4-BE49-F238E27FC236}">
                <a16:creationId xmlns:a16="http://schemas.microsoft.com/office/drawing/2014/main" id="{59930173-909D-48E8-9403-6D3A4CC7AB95}"/>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16438CC6-1390-4E40-B8C3-9A182A71742C}"/>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FFD24A">
                <a:alpha val="24000"/>
              </a:srgbClr>
            </a:fgClr>
            <a:bgClr>
              <a:srgbClr val="0B3E82"/>
            </a:bgClr>
          </a:patt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5AC9CBBB-A97D-4104-97C5-8ABCDC0FC71E}"/>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32D78290-1FFA-42B8-8E79-CDA997C721CA}"/>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576D4FB6-EBEF-47F5-BE05-FDA636094E8B}"/>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5779B5CF-11BA-4AC2-9304-4F7BDEF9F282}"/>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1BF2D84A-A394-484A-B546-B71E622AF489}"/>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EEB67B1B-8082-40F8-A5AF-F7253D4D1ABA}"/>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301C647A-A7CA-4A9E-8B62-C163F62FAEA1}"/>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5C8B9B57-48EC-42CF-8639-E7A12015BE7E}"/>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CB161186-A91D-4F78-B445-A5DA6C0E94C6}"/>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C8FF1F89-C7AA-431A-86C2-18AF5DD48FC7}"/>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FF921AB5-DD55-4C61-9852-BD7EF2F4F308}"/>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27CC961F-FCD7-4CC4-A140-D5269847B45B}"/>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A26F4433-18CF-4966-B148-75CC4B7C751B}"/>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4B5D6378-657A-494A-99CF-E86E29ADE43C}"/>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6A1A0D33-72DC-4655-AAC3-36EFBB934D83}"/>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8155EF54-0A09-4F0F-AC76-7F9821A2175C}"/>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AF45AFFC-578E-4A36-B615-12E6865906B5}"/>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737BB9EA-F93E-47B9-B292-F4F2B4AFDAC9}"/>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69B22548-ACE7-4B74-8E27-C60639EEC406}"/>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994AD7E9-85B4-4AF4-A7CB-0C28681FC6A0}"/>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8DFA26CC-5E59-4515-BAFE-8E75EBBE7CDD}"/>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EFF9FCB3-E203-405F-B80C-20101F92B08D}"/>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15D21573-26F5-473C-9535-841485CE216C}"/>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A5ACCF31-EC7A-4E58-8B33-8CA0370617FE}"/>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FFC6BD84-8776-4FDE-90FD-62A46D50E076}"/>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E5C33E10-5E47-4DB8-99B2-636195C61F2E}"/>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AF8DC109-DD28-4A3C-B262-D4DF5A8E1F06}"/>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CA5D6EF3-3907-4B60-BEBB-305F417A7A34}"/>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FFD24A">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ABD462F2-2B97-417F-8B92-35CE0FC5F1BB}"/>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FFD24A">
              <a:alpha val="28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66E27D2E-01E8-4814-871A-4EAA3DB492E1}"/>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FFD24A">
              <a:alpha val="14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FF1C0064-ABC5-480A-883D-8F05530BD849}"/>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DF9BD948-0670-49E4-A9F7-6530ABA14C1F}"/>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0FA29E3E-9781-49CC-AE8F-4B3E7444854A}"/>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8C6BCABF-4FEB-4B20-9729-109AE7AD2B71}"/>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B395159D-6CF0-4355-9EE9-2D5D11FE0A13}"/>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89B1A49A-737A-49F4-9E87-1B228F258D31}"/>
              </a:ext>
            </a:extLst>
          </p:cNvPr>
          <p:cNvSpPr>
            <a:spLocks xmlns:a="http://schemas.openxmlformats.org/drawingml/2006/main" noGrp="1"/>
          </p:cNvSpPr>
          <p:nvPr/>
        </p:nvSpPr>
        <p:spPr>
          <a:xfrm xmlns:a="http://schemas.openxmlformats.org/drawingml/2006/main">
            <a:off x="8667750" y="4895850"/>
            <a:ext cx="571500" cy="571500"/>
          </a:xfrm>
          <a:prstGeom xmlns:a="http://schemas.openxmlformats.org/drawingml/2006/main" prst="ellipse">
            <a:avLst/>
          </a:prstGeom>
          <a:gradFill xmlns:a="http://schemas.openxmlformats.org/drawingml/2006/main">
            <a:gsLst>
              <a:gs pos="0">
                <a:srgbClr val="FFD24A">
                  <a:alpha val="30000"/>
                </a:srgbClr>
              </a:gs>
              <a:gs pos="45000">
                <a:srgbClr val="FFD24A">
                  <a:alpha val="12000"/>
                </a:srgbClr>
              </a:gs>
              <a:gs pos="100000">
                <a:srgbClr val="FFD24A">
                  <a:alpha val="0"/>
                </a:srgbClr>
              </a:gs>
            </a:gsLst>
            <a:path path="shape"/>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A5D8FF0F-E261-4499-9624-49FB7B2FEBD3}"/>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FFD24A"/>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562636C9-36E2-4309-B6D5-C4E9E9B705AC}"/>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算法</a:t>
            </a:r>
          </a:p>
        </p:txBody>
      </p:sp>
      <p:sp>
        <p:nvSpPr>
          <p:cNvPr id="81" name="">
            <a:extLst xmlns:a="http://schemas.openxmlformats.org/drawingml/2006/main">
              <a:ext uri="{FF2B5EF4-FFF2-40B4-BE49-F238E27FC236}">
                <a16:creationId xmlns:a16="http://schemas.microsoft.com/office/drawing/2014/main" id="{0251090D-1614-4A0F-8CAB-934D0758EED6}"/>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E88D56F6-D44A-41E6-979A-84C48B6A3FCB}"/>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02856E07-1D24-48FA-8012-E3943593F0DF}"/>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389DF772-69A7-4641-A396-D6CA0E53551F}"/>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ED4CFB93-3B9C-4D30-A23B-482EF6399ACD}"/>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C8488121-0B72-4A37-A7B8-F43E845E19F7}"/>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AA65D694-FBDB-49C1-846B-25558171054D}"/>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A1964FF9-BD9D-4180-997D-0658127F1F2F}"/>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FC3A0A29-B59B-4BB9-8B4B-BE15992FA62C}"/>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03</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975C2FBB-A1AD-4D34-8B3B-BCA3DDCE4D35}"/>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98B3DA97-F50D-48DF-965A-D9B5A42FAD79}"/>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核心算法</a:t>
            </a:r>
          </a:p>
        </p:txBody>
      </p:sp>
      <p:sp>
        <p:nvSpPr>
          <p:cNvPr id="92" name="">
            <a:extLst xmlns:a="http://schemas.openxmlformats.org/drawingml/2006/main">
              <a:ext uri="{FF2B5EF4-FFF2-40B4-BE49-F238E27FC236}">
                <a16:creationId xmlns:a16="http://schemas.microsoft.com/office/drawing/2014/main" id="{465A6765-FE06-4D43-94AF-E88B532AB6F5}"/>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FFD24A"/>
                </a:solidFill>
                <a:latin typeface="Bahnschrift"/>
                <a:ea typeface="Bahnschrift"/>
                <a:cs typeface="Bahnschrift"/>
              </a:defRPr>
            </a:pPr>
            <a:r>
              <a:rPr sz="1013" b="0" spc="3">
                <a:solidFill>
                  <a:srgbClr val="FFD24A"/>
                </a:solidFill>
                <a:latin typeface="Bahnschrift"/>
                <a:ea typeface="Bahnschrift"/>
                <a:cs typeface="Bahnschrift"/>
              </a:rPr>
              <a:t>ALGORITHMS · RULE ENGINE &amp; RECOMMENDATION</a:t>
            </a:r>
          </a:p>
        </p:txBody>
      </p:sp>
      <p:sp>
        <p:nvSpPr>
          <p:cNvPr id="93" name="">
            <a:extLst xmlns:a="http://schemas.openxmlformats.org/drawingml/2006/main">
              <a:ext uri="{FF2B5EF4-FFF2-40B4-BE49-F238E27FC236}">
                <a16:creationId xmlns:a16="http://schemas.microsoft.com/office/drawing/2014/main" id="{CE16FE6F-C7C1-4392-A267-9EA7D4172FC6}"/>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7B7B55D3-E4C0-4E6A-8F7F-397278F8C173}"/>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四个算法：规则引擎、气体检测归因、个性化组卷、课程匹配</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每个算法给出公式、流程图、具体案例与输入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约束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输出</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并说明相比「纯规则」或「纯大模型」单用的优势</a:t>
            </a:r>
          </a:p>
        </p:txBody>
      </p:sp>
      <p:sp>
        <p:nvSpPr>
          <p:cNvPr id="95" name="">
            <a:extLst xmlns:a="http://schemas.openxmlformats.org/drawingml/2006/main">
              <a:ext uri="{FF2B5EF4-FFF2-40B4-BE49-F238E27FC236}">
                <a16:creationId xmlns:a16="http://schemas.microsoft.com/office/drawing/2014/main" id="{DE89F26F-8092-410C-A7F3-8FE59AF5CB06}"/>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FFD24A">
                <a:alpha val="50000"/>
              </a:srgbClr>
            </a:solidFill>
            <a:prstDash val="solid"/>
          </a:ln>
        </p:spPr>
      </p:sp>
      <p:sp>
        <p:nvSpPr>
          <p:cNvPr id="96" name="">
            <a:extLst xmlns:a="http://schemas.openxmlformats.org/drawingml/2006/main">
              <a:ext uri="{FF2B5EF4-FFF2-40B4-BE49-F238E27FC236}">
                <a16:creationId xmlns:a16="http://schemas.microsoft.com/office/drawing/2014/main" id="{DDE5AAA0-3175-4A0E-BFDD-9CCDA289DA99}"/>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61158446-19EC-4A8E-9AA9-BF270FF7A4D3}"/>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18</a:t>
            </a:r>
          </a:p>
        </p:txBody>
      </p:sp>
      <p:sp>
        <p:nvSpPr>
          <p:cNvPr id="98" name="">
            <a:extLst xmlns:a="http://schemas.openxmlformats.org/drawingml/2006/main">
              <a:ext uri="{FF2B5EF4-FFF2-40B4-BE49-F238E27FC236}">
                <a16:creationId xmlns:a16="http://schemas.microsoft.com/office/drawing/2014/main" id="{5F090BC3-CFD0-489B-98E2-D1FBE97D77D5}"/>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条启用规则 </a:t>
            </a:r>
            <a:r>
              <a:rPr sz="863" b="0">
                <a:solidFill>
                  <a:srgbClr val="C6DDFF"/>
                </a:solidFill>
                <a:latin typeface="微软雅黑"/>
                <a:ea typeface="微软雅黑"/>
                <a:cs typeface="微软雅黑"/>
              </a:rPr>
              <a:t>/ 5 </a:t>
            </a:r>
            <a:r>
              <a:rPr sz="863" b="0">
                <a:solidFill>
                  <a:srgbClr val="C6DDFF"/>
                </a:solidFill>
                <a:latin typeface="微软雅黑"/>
                <a:ea typeface="微软雅黑"/>
                <a:cs typeface="微软雅黑"/>
              </a:rPr>
              <a:t>个场景</a:t>
            </a:r>
          </a:p>
        </p:txBody>
      </p:sp>
      <p:sp>
        <p:nvSpPr>
          <p:cNvPr id="99" name="">
            <a:extLst xmlns:a="http://schemas.openxmlformats.org/drawingml/2006/main">
              <a:ext uri="{FF2B5EF4-FFF2-40B4-BE49-F238E27FC236}">
                <a16:creationId xmlns:a16="http://schemas.microsoft.com/office/drawing/2014/main" id="{9E5B4293-7B29-41CD-9C4A-274A5944BA94}"/>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FFD24A">
                <a:alpha val="50000"/>
              </a:srgbClr>
            </a:solidFill>
            <a:prstDash val="solid"/>
          </a:ln>
        </p:spPr>
      </p:sp>
      <p:sp>
        <p:nvSpPr>
          <p:cNvPr id="100" name="">
            <a:extLst xmlns:a="http://schemas.openxmlformats.org/drawingml/2006/main">
              <a:ext uri="{FF2B5EF4-FFF2-40B4-BE49-F238E27FC236}">
                <a16:creationId xmlns:a16="http://schemas.microsoft.com/office/drawing/2014/main" id="{B1085A9B-42AE-4CAD-9DA4-8A8F0E77ADE9}"/>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46102669-9F06-44B0-9B63-56A5AC973248}"/>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2" name="">
            <a:extLst xmlns:a="http://schemas.openxmlformats.org/drawingml/2006/main">
              <a:ext uri="{FF2B5EF4-FFF2-40B4-BE49-F238E27FC236}">
                <a16:creationId xmlns:a16="http://schemas.microsoft.com/office/drawing/2014/main" id="{20B9775F-CFBC-46B4-8085-3C66141C1605}"/>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个匹配分组</a:t>
            </a:r>
          </a:p>
        </p:txBody>
      </p:sp>
      <p:sp>
        <p:nvSpPr>
          <p:cNvPr id="103" name="">
            <a:extLst xmlns:a="http://schemas.openxmlformats.org/drawingml/2006/main">
              <a:ext uri="{FF2B5EF4-FFF2-40B4-BE49-F238E27FC236}">
                <a16:creationId xmlns:a16="http://schemas.microsoft.com/office/drawing/2014/main" id="{4D604908-DC15-4074-A620-71B9E16DE5D8}"/>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FFD24A">
                <a:alpha val="50000"/>
              </a:srgbClr>
            </a:solidFill>
            <a:prstDash val="solid"/>
          </a:ln>
        </p:spPr>
      </p:sp>
      <p:sp>
        <p:nvSpPr>
          <p:cNvPr id="104" name="">
            <a:extLst xmlns:a="http://schemas.openxmlformats.org/drawingml/2006/main">
              <a:ext uri="{FF2B5EF4-FFF2-40B4-BE49-F238E27FC236}">
                <a16:creationId xmlns:a16="http://schemas.microsoft.com/office/drawing/2014/main" id="{26663334-3B88-4572-8844-D9BDBD5CF98D}"/>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5B7CB855-E0C2-44B2-971F-BE287C08B19B}"/>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a:t>
            </a:r>
          </a:p>
        </p:txBody>
      </p:sp>
      <p:sp>
        <p:nvSpPr>
          <p:cNvPr id="106" name="">
            <a:extLst xmlns:a="http://schemas.openxmlformats.org/drawingml/2006/main">
              <a:ext uri="{FF2B5EF4-FFF2-40B4-BE49-F238E27FC236}">
                <a16:creationId xmlns:a16="http://schemas.microsoft.com/office/drawing/2014/main" id="{B8EFC87A-6ED0-4F5C-A220-5C9A77053183}"/>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条可复算留痕链</a:t>
            </a:r>
          </a:p>
        </p:txBody>
      </p:sp>
      <p:sp>
        <p:nvSpPr>
          <p:cNvPr id="107" name="">
            <a:extLst xmlns:a="http://schemas.openxmlformats.org/drawingml/2006/main">
              <a:ext uri="{FF2B5EF4-FFF2-40B4-BE49-F238E27FC236}">
                <a16:creationId xmlns:a16="http://schemas.microsoft.com/office/drawing/2014/main" id="{F3B33483-A1E5-432D-939F-58AD37F48898}"/>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DE5666A6-8BCC-49ED-81F3-BC1572AE2DBA}"/>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FFD24A">
              <a:alpha val="60000"/>
            </a:srgbClr>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A6DE9B39-9082-4422-835E-D0AE4BD058CB}"/>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FFD24A">
              <a:alpha val="60000"/>
            </a:srgbClr>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076C2C6C-36A5-4A8E-A404-8AD613864024}"/>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FFD24A">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287234099"/>
      </p:ext>
    </p:extLst>
  </p:cSld>
</p:sld>
</file>

<file path=ppt/slides/slide1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196ebf47c7174a5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D296D89-5C3E-4C46-9EDB-4EE6E7FFE1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8D717A8-9F86-46B3-8C07-6CE5FC2B7448}"/>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DAF337B1-8B4A-416B-A654-8A09AD657913}"/>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48A0717C-3BAD-4B55-920F-C91CA4766574}"/>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721610F4-E836-4654-A703-74A6F4E900B3}"/>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AECF8A67-CE71-4ACC-9E42-BF2E8EDCE1F6}"/>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13338617-16F8-4ED4-BB7A-502433441823}"/>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30413B9-AD47-4C01-928F-9ED0035CD420}"/>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F3945B13-2FFF-4E71-9F0F-1A1A87B1449C}"/>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6878E55-71FA-4D0D-ABBF-100C6757B1DC}"/>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947E2AD-B817-4697-BDED-EB89C28FBB6C}"/>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CC03C4B2-9A32-4AA3-AA2F-2BBDCD3006A8}"/>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A99E2CA8-2684-4AC1-A50E-A949E1E954E4}"/>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算法一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规则引擎：确定性匹配、可复算输出</a:t>
            </a:r>
          </a:p>
        </p:txBody>
      </p:sp>
      <p:sp>
        <p:nvSpPr>
          <p:cNvPr id="15" name="">
            <a:extLst xmlns:a="http://schemas.openxmlformats.org/drawingml/2006/main">
              <a:ext uri="{FF2B5EF4-FFF2-40B4-BE49-F238E27FC236}">
                <a16:creationId xmlns:a16="http://schemas.microsoft.com/office/drawing/2014/main" id="{392E6E94-8465-4497-A6BC-360751DE6DC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C72A0BAD-9B5A-43AD-9A42-F10BC6620DC6}"/>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C6F2BE53-BF9D-414D-AC53-9F27F4AC6343}"/>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B849C19C-F1B6-4473-8AE1-1B18125F3F9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BD15F89D-8618-4F31-98B0-18156DCD0C82}"/>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同一输入必然得到同一输出</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这是「可复算」的前提，也是规则引擎相对大模型的根本优势。</a:t>
            </a:r>
          </a:p>
        </p:txBody>
      </p:sp>
      <p:sp>
        <p:nvSpPr>
          <p:cNvPr id="20" name="">
            <a:extLst xmlns:a="http://schemas.openxmlformats.org/drawingml/2006/main">
              <a:ext uri="{FF2B5EF4-FFF2-40B4-BE49-F238E27FC236}">
                <a16:creationId xmlns:a16="http://schemas.microsoft.com/office/drawing/2014/main" id="{44A78049-82A4-4BB4-B484-0189406DE36D}"/>
              </a:ext>
            </a:extLst>
          </p:cNvPr>
          <p:cNvSpPr>
            <a:spLocks xmlns:a="http://schemas.openxmlformats.org/drawingml/2006/main" noGrp="1"/>
          </p:cNvSpPr>
          <p:nvPr/>
        </p:nvSpPr>
        <p:spPr>
          <a:xfrm xmlns:a="http://schemas.openxmlformats.org/drawingml/2006/main">
            <a:off x="285750" y="1333500"/>
            <a:ext cx="5715000" cy="1123950"/>
          </a:xfrm>
          <a:prstGeom xmlns:a="http://schemas.openxmlformats.org/drawingml/2006/main" prst="roundRect">
            <a:avLst>
              <a:gd name="adj" fmla="val 76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1BE474BF-CF2A-4E57-B68D-8F69975313D4}"/>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核心公式</a:t>
            </a:r>
          </a:p>
        </p:txBody>
      </p:sp>
      <p:sp>
        <p:nvSpPr>
          <p:cNvPr id="22" name="">
            <a:extLst xmlns:a="http://schemas.openxmlformats.org/drawingml/2006/main">
              <a:ext uri="{FF2B5EF4-FFF2-40B4-BE49-F238E27FC236}">
                <a16:creationId xmlns:a16="http://schemas.microsoft.com/office/drawing/2014/main" id="{75D25333-3FF8-4E7C-8C1D-8FD45395E047}"/>
              </a:ext>
            </a:extLst>
          </p:cNvPr>
          <p:cNvSpPr>
            <a:spLocks xmlns:a="http://schemas.openxmlformats.org/drawingml/2006/main" noGrp="1"/>
          </p:cNvSpPr>
          <p:nvPr/>
        </p:nvSpPr>
        <p:spPr>
          <a:xfrm xmlns:a="http://schemas.openxmlformats.org/drawingml/2006/main">
            <a:off x="457200" y="1714500"/>
            <a:ext cx="539115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verdict.actions = unique(concat(actions_i))　　</a:t>
            </a:r>
          </a:p>
          <a:p xmlns:a="http://schemas.openxmlformats.org/drawingml/2006/main">
            <a:pPr algn="l">
              <a:lnSpc>
                <a:spcPct val="155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verdict.severity = max_severity(severity_i)　　</a:t>
            </a:r>
          </a:p>
          <a:p xmlns:a="http://schemas.openxmlformats.org/drawingml/2006/main">
            <a:pPr algn="l">
              <a:lnSpc>
                <a:spcPct val="155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其中 </a:t>
            </a:r>
            <a:r>
              <a:rPr sz="975">
                <a:solidFill>
                  <a:srgbClr val="EEF5FF"/>
                </a:solidFill>
                <a:latin typeface="微软雅黑"/>
                <a:ea typeface="微软雅黑"/>
                <a:cs typeface="微软雅黑"/>
              </a:rPr>
              <a:t>i ∈ hits(rule)</a:t>
            </a:r>
            <a:r>
              <a:rPr sz="975">
                <a:solidFill>
                  <a:srgbClr val="EEF5FF"/>
                </a:solidFill>
                <a:latin typeface="微软雅黑"/>
                <a:ea typeface="微软雅黑"/>
                <a:cs typeface="微软雅黑"/>
              </a:rPr>
              <a:t>，</a:t>
            </a:r>
            <a:r>
              <a:rPr sz="975">
                <a:solidFill>
                  <a:srgbClr val="EEF5FF"/>
                </a:solidFill>
                <a:latin typeface="微软雅黑"/>
                <a:ea typeface="微软雅黑"/>
                <a:cs typeface="微软雅黑"/>
              </a:rPr>
              <a:t>hits </a:t>
            </a:r>
            <a:r>
              <a:rPr sz="975">
                <a:solidFill>
                  <a:srgbClr val="EEF5FF"/>
                </a:solidFill>
                <a:latin typeface="微软雅黑"/>
                <a:ea typeface="微软雅黑"/>
                <a:cs typeface="微软雅黑"/>
              </a:rPr>
              <a:t>按 </a:t>
            </a:r>
            <a:r>
              <a:rPr sz="975">
                <a:solidFill>
                  <a:srgbClr val="EEF5FF"/>
                </a:solidFill>
                <a:latin typeface="微软雅黑"/>
                <a:ea typeface="微软雅黑"/>
                <a:cs typeface="微软雅黑"/>
              </a:rPr>
              <a:t>priority </a:t>
            </a:r>
            <a:r>
              <a:rPr sz="975">
                <a:solidFill>
                  <a:srgbClr val="EEF5FF"/>
                </a:solidFill>
                <a:latin typeface="微软雅黑"/>
                <a:ea typeface="微软雅黑"/>
                <a:cs typeface="微软雅黑"/>
              </a:rPr>
              <a:t>降序、同优先级按 </a:t>
            </a:r>
            <a:r>
              <a:rPr sz="975">
                <a:solidFill>
                  <a:srgbClr val="EEF5FF"/>
                </a:solidFill>
                <a:latin typeface="微软雅黑"/>
                <a:ea typeface="微软雅黑"/>
                <a:cs typeface="微软雅黑"/>
              </a:rPr>
              <a:t>rule_code </a:t>
            </a:r>
            <a:r>
              <a:rPr sz="975">
                <a:solidFill>
                  <a:srgbClr val="EEF5FF"/>
                </a:solidFill>
                <a:latin typeface="微软雅黑"/>
                <a:ea typeface="微软雅黑"/>
                <a:cs typeface="微软雅黑"/>
              </a:rPr>
              <a:t>稳定排序。</a:t>
            </a:r>
          </a:p>
        </p:txBody>
      </p:sp>
      <p:sp>
        <p:nvSpPr>
          <p:cNvPr id="23" name="">
            <a:extLst xmlns:a="http://schemas.openxmlformats.org/drawingml/2006/main">
              <a:ext uri="{FF2B5EF4-FFF2-40B4-BE49-F238E27FC236}">
                <a16:creationId xmlns:a16="http://schemas.microsoft.com/office/drawing/2014/main" id="{10CCD25E-D322-4D28-BC65-2AE317F27665}"/>
              </a:ext>
            </a:extLst>
          </p:cNvPr>
          <p:cNvSpPr>
            <a:spLocks xmlns:a="http://schemas.openxmlformats.org/drawingml/2006/main" noGrp="1"/>
          </p:cNvSpPr>
          <p:nvPr/>
        </p:nvSpPr>
        <p:spPr>
          <a:xfrm xmlns:a="http://schemas.openxmlformats.org/drawingml/2006/main">
            <a:off x="285750" y="2590800"/>
            <a:ext cx="5715000" cy="1676400"/>
          </a:xfrm>
          <a:prstGeom xmlns:a="http://schemas.openxmlformats.org/drawingml/2006/main" prst="roundRect">
            <a:avLst>
              <a:gd name="adj" fmla="val 511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CE29937D-F855-4035-A2D6-8DC557918F81}"/>
              </a:ext>
            </a:extLst>
          </p:cNvPr>
          <p:cNvSpPr>
            <a:spLocks xmlns:a="http://schemas.openxmlformats.org/drawingml/2006/main" noGrp="1"/>
          </p:cNvSpPr>
          <p:nvPr/>
        </p:nvSpPr>
        <p:spPr>
          <a:xfrm xmlns:a="http://schemas.openxmlformats.org/drawingml/2006/main">
            <a:off x="457200" y="27051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匹配顺序（决定结果可复现）</a:t>
            </a:r>
          </a:p>
        </p:txBody>
      </p:sp>
      <p:sp>
        <p:nvSpPr>
          <p:cNvPr id="25" name="">
            <a:extLst xmlns:a="http://schemas.openxmlformats.org/drawingml/2006/main">
              <a:ext uri="{FF2B5EF4-FFF2-40B4-BE49-F238E27FC236}">
                <a16:creationId xmlns:a16="http://schemas.microsoft.com/office/drawing/2014/main" id="{573E9E34-D139-4917-BEF4-325A37B8C919}"/>
              </a:ext>
            </a:extLst>
          </p:cNvPr>
          <p:cNvSpPr>
            <a:spLocks xmlns:a="http://schemas.openxmlformats.org/drawingml/2006/main" noGrp="1"/>
          </p:cNvSpPr>
          <p:nvPr/>
        </p:nvSpPr>
        <p:spPr>
          <a:xfrm xmlns:a="http://schemas.openxmlformats.org/drawingml/2006/main">
            <a:off x="457200" y="2990850"/>
            <a:ext cx="5391150" cy="1181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scene </a:t>
            </a:r>
            <a:r>
              <a:rPr sz="938">
                <a:solidFill>
                  <a:srgbClr val="EEF5FF"/>
                </a:solidFill>
                <a:latin typeface="微软雅黑"/>
                <a:ea typeface="微软雅黑"/>
                <a:cs typeface="微软雅黑"/>
              </a:rPr>
              <a:t>读取 </a:t>
            </a:r>
            <a:r>
              <a:rPr sz="938">
                <a:solidFill>
                  <a:srgbClr val="EEF5FF"/>
                </a:solidFill>
                <a:latin typeface="微软雅黑"/>
                <a:ea typeface="微软雅黑"/>
                <a:cs typeface="微软雅黑"/>
              </a:rPr>
              <a:t>enabled=1 </a:t>
            </a:r>
            <a:r>
              <a:rPr sz="938">
                <a:solidFill>
                  <a:srgbClr val="EEF5FF"/>
                </a:solidFill>
                <a:latin typeface="微软雅黑"/>
                <a:ea typeface="微软雅黑"/>
                <a:cs typeface="微软雅黑"/>
              </a:rPr>
              <a:t>的规则；</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2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priority </a:t>
            </a:r>
            <a:r>
              <a:rPr sz="938">
                <a:solidFill>
                  <a:srgbClr val="EEF5FF"/>
                </a:solidFill>
                <a:latin typeface="微软雅黑"/>
                <a:ea typeface="微软雅黑"/>
                <a:cs typeface="微软雅黑"/>
              </a:rPr>
              <a:t>从高到低排序；</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3　</a:t>
            </a:r>
            <a:r>
              <a:rPr sz="938">
                <a:solidFill>
                  <a:srgbClr val="EEF5FF"/>
                </a:solidFill>
                <a:latin typeface="微软雅黑"/>
                <a:ea typeface="微软雅黑"/>
                <a:cs typeface="微软雅黑"/>
              </a:rPr>
              <a:t>对条件树做白名单算子求值（</a:t>
            </a:r>
            <a:r>
              <a:rPr sz="938">
                <a:solidFill>
                  <a:srgbClr val="EEF5FF"/>
                </a:solidFill>
                <a:latin typeface="微软雅黑"/>
                <a:ea typeface="微软雅黑"/>
                <a:cs typeface="微软雅黑"/>
              </a:rPr>
              <a:t>and / or / not + 20 </a:t>
            </a:r>
            <a:r>
              <a:rPr sz="938">
                <a:solidFill>
                  <a:srgbClr val="EEF5FF"/>
                </a:solidFill>
                <a:latin typeface="微软雅黑"/>
                <a:ea typeface="微软雅黑"/>
                <a:cs typeface="微软雅黑"/>
              </a:rPr>
              <a:t>个算子）；</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4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rule_group </a:t>
            </a:r>
            <a:r>
              <a:rPr sz="938">
                <a:solidFill>
                  <a:srgbClr val="EEF5FF"/>
                </a:solidFill>
                <a:latin typeface="微软雅黑"/>
                <a:ea typeface="微软雅黑"/>
                <a:cs typeface="微软雅黑"/>
              </a:rPr>
              <a:t>分别处理 </a:t>
            </a:r>
            <a:r>
              <a:rPr sz="938">
                <a:solidFill>
                  <a:srgbClr val="EEF5FF"/>
                </a:solidFill>
                <a:latin typeface="微软雅黑"/>
                <a:ea typeface="微软雅黑"/>
                <a:cs typeface="微软雅黑"/>
              </a:rPr>
              <a:t>stop_on_match </a:t>
            </a:r>
            <a:r>
              <a:rPr sz="938">
                <a:solidFill>
                  <a:srgbClr val="EEF5FF"/>
                </a:solidFill>
                <a:latin typeface="微软雅黑"/>
                <a:ea typeface="微软雅黑"/>
                <a:cs typeface="微软雅黑"/>
              </a:rPr>
              <a:t>与 </a:t>
            </a:r>
            <a:r>
              <a:rPr sz="938">
                <a:solidFill>
                  <a:srgbClr val="EEF5FF"/>
                </a:solidFill>
                <a:latin typeface="微软雅黑"/>
                <a:ea typeface="微软雅黑"/>
                <a:cs typeface="微软雅黑"/>
              </a:rPr>
              <a:t>max_hits</a:t>
            </a:r>
            <a:r>
              <a:rPr sz="938">
                <a:solidFill>
                  <a:srgbClr val="EEF5FF"/>
                </a:solidFill>
                <a:latin typeface="微软雅黑"/>
                <a:ea typeface="微软雅黑"/>
                <a:cs typeface="微软雅黑"/>
              </a:rPr>
              <a:t>；</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合并 </a:t>
            </a:r>
            <a:r>
              <a:rPr sz="938">
                <a:solidFill>
                  <a:srgbClr val="EEF5FF"/>
                </a:solidFill>
                <a:latin typeface="微软雅黑"/>
                <a:ea typeface="微软雅黑"/>
                <a:cs typeface="微软雅黑"/>
              </a:rPr>
              <a:t>actions / causes / rule_refs</a:t>
            </a:r>
            <a:r>
              <a:rPr sz="938">
                <a:solidFill>
                  <a:srgbClr val="EEF5FF"/>
                </a:solidFill>
                <a:latin typeface="微软雅黑"/>
                <a:ea typeface="微软雅黑"/>
                <a:cs typeface="微软雅黑"/>
              </a:rPr>
              <a:t>，严重度取最高档。</a:t>
            </a:r>
          </a:p>
        </p:txBody>
      </p:sp>
      <p:sp>
        <p:nvSpPr>
          <p:cNvPr id="26" name="">
            <a:extLst xmlns:a="http://schemas.openxmlformats.org/drawingml/2006/main">
              <a:ext uri="{FF2B5EF4-FFF2-40B4-BE49-F238E27FC236}">
                <a16:creationId xmlns:a16="http://schemas.microsoft.com/office/drawing/2014/main" id="{DC54CB03-C8C0-4BAD-80CA-C0F5BBA1A66E}"/>
              </a:ext>
            </a:extLst>
          </p:cNvPr>
          <p:cNvSpPr>
            <a:spLocks xmlns:a="http://schemas.openxmlformats.org/drawingml/2006/main" noGrp="1"/>
          </p:cNvSpPr>
          <p:nvPr/>
        </p:nvSpPr>
        <p:spPr>
          <a:xfrm xmlns:a="http://schemas.openxmlformats.org/drawingml/2006/main">
            <a:off x="285750" y="4381500"/>
            <a:ext cx="5715000" cy="1866900"/>
          </a:xfrm>
          <a:prstGeom xmlns:a="http://schemas.openxmlformats.org/drawingml/2006/main" prst="roundRect">
            <a:avLst>
              <a:gd name="adj" fmla="val 4592"/>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692CD61D-23FA-43BE-B96D-7554A3E2A394}"/>
              </a:ext>
            </a:extLst>
          </p:cNvPr>
          <p:cNvSpPr>
            <a:spLocks xmlns:a="http://schemas.openxmlformats.org/drawingml/2006/main" noGrp="1"/>
          </p:cNvSpPr>
          <p:nvPr/>
        </p:nvSpPr>
        <p:spPr>
          <a:xfrm xmlns:a="http://schemas.openxmlformats.org/drawingml/2006/main">
            <a:off x="457200" y="4495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算子白名单（规则内容当不可信输入）</a:t>
            </a:r>
          </a:p>
        </p:txBody>
      </p:sp>
      <p:sp>
        <p:nvSpPr>
          <p:cNvPr id="28" name="">
            <a:extLst xmlns:a="http://schemas.openxmlformats.org/drawingml/2006/main">
              <a:ext uri="{FF2B5EF4-FFF2-40B4-BE49-F238E27FC236}">
                <a16:creationId xmlns:a16="http://schemas.microsoft.com/office/drawing/2014/main" id="{945E5D58-7D35-422C-B233-F1623A083E78}"/>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9" name="">
            <a:extLst xmlns:a="http://schemas.openxmlformats.org/drawingml/2006/main">
              <a:ext uri="{FF2B5EF4-FFF2-40B4-BE49-F238E27FC236}">
                <a16:creationId xmlns:a16="http://schemas.microsoft.com/office/drawing/2014/main" id="{4695A38C-F8CB-4F84-9518-5E75F4230A6E}"/>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eq / ne</a:t>
            </a:r>
          </a:p>
        </p:txBody>
      </p:sp>
      <p:sp>
        <p:nvSpPr>
          <p:cNvPr id="30" name="">
            <a:extLst xmlns:a="http://schemas.openxmlformats.org/drawingml/2006/main">
              <a:ext uri="{FF2B5EF4-FFF2-40B4-BE49-F238E27FC236}">
                <a16:creationId xmlns:a16="http://schemas.microsoft.com/office/drawing/2014/main" id="{9133B35E-86AE-412B-BC94-2FAFC85CD5B1}"/>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1" name="">
            <a:extLst xmlns:a="http://schemas.openxmlformats.org/drawingml/2006/main">
              <a:ext uri="{FF2B5EF4-FFF2-40B4-BE49-F238E27FC236}">
                <a16:creationId xmlns:a16="http://schemas.microsoft.com/office/drawing/2014/main" id="{F8654F8B-E3E6-4792-8538-8216EF250084}"/>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gt / gte / lt / lte</a:t>
            </a:r>
          </a:p>
        </p:txBody>
      </p:sp>
      <p:sp>
        <p:nvSpPr>
          <p:cNvPr id="32" name="">
            <a:extLst xmlns:a="http://schemas.openxmlformats.org/drawingml/2006/main">
              <a:ext uri="{FF2B5EF4-FFF2-40B4-BE49-F238E27FC236}">
                <a16:creationId xmlns:a16="http://schemas.microsoft.com/office/drawing/2014/main" id="{08DCF1BF-0FEC-4050-9DFB-1CE9BDFBDE39}"/>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3" name="">
            <a:extLst xmlns:a="http://schemas.openxmlformats.org/drawingml/2006/main">
              <a:ext uri="{FF2B5EF4-FFF2-40B4-BE49-F238E27FC236}">
                <a16:creationId xmlns:a16="http://schemas.microsoft.com/office/drawing/2014/main" id="{3ABD5F5B-7745-48C1-B61E-FA327AA470A6}"/>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between</a:t>
            </a:r>
          </a:p>
        </p:txBody>
      </p:sp>
      <p:sp>
        <p:nvSpPr>
          <p:cNvPr id="34" name="">
            <a:extLst xmlns:a="http://schemas.openxmlformats.org/drawingml/2006/main">
              <a:ext uri="{FF2B5EF4-FFF2-40B4-BE49-F238E27FC236}">
                <a16:creationId xmlns:a16="http://schemas.microsoft.com/office/drawing/2014/main" id="{73DD15E0-B3DC-4D7B-AC69-D993E823304C}"/>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5" name="">
            <a:extLst xmlns:a="http://schemas.openxmlformats.org/drawingml/2006/main">
              <a:ext uri="{FF2B5EF4-FFF2-40B4-BE49-F238E27FC236}">
                <a16:creationId xmlns:a16="http://schemas.microsoft.com/office/drawing/2014/main" id="{9414E810-694A-4B46-968A-B6C61F27AD6F}"/>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in / not_in</a:t>
            </a:r>
          </a:p>
        </p:txBody>
      </p:sp>
      <p:sp>
        <p:nvSpPr>
          <p:cNvPr id="36" name="">
            <a:extLst xmlns:a="http://schemas.openxmlformats.org/drawingml/2006/main">
              <a:ext uri="{FF2B5EF4-FFF2-40B4-BE49-F238E27FC236}">
                <a16:creationId xmlns:a16="http://schemas.microsoft.com/office/drawing/2014/main" id="{5EDEF3B4-F2F1-4280-8177-0BFC1D9CFA7B}"/>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7" name="">
            <a:extLst xmlns:a="http://schemas.openxmlformats.org/drawingml/2006/main">
              <a:ext uri="{FF2B5EF4-FFF2-40B4-BE49-F238E27FC236}">
                <a16:creationId xmlns:a16="http://schemas.microsoft.com/office/drawing/2014/main" id="{1C28153C-18AC-443F-9A06-18E7AE13291A}"/>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 / not_contains</a:t>
            </a:r>
          </a:p>
        </p:txBody>
      </p:sp>
      <p:sp>
        <p:nvSpPr>
          <p:cNvPr id="38" name="">
            <a:extLst xmlns:a="http://schemas.openxmlformats.org/drawingml/2006/main">
              <a:ext uri="{FF2B5EF4-FFF2-40B4-BE49-F238E27FC236}">
                <a16:creationId xmlns:a16="http://schemas.microsoft.com/office/drawing/2014/main" id="{9CACE77A-EC9B-4256-AE03-E713C29D24F6}"/>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9" name="">
            <a:extLst xmlns:a="http://schemas.openxmlformats.org/drawingml/2006/main">
              <a:ext uri="{FF2B5EF4-FFF2-40B4-BE49-F238E27FC236}">
                <a16:creationId xmlns:a16="http://schemas.microsoft.com/office/drawing/2014/main" id="{FED5DFBD-BD78-4AEB-8B1B-C35E898C1D47}"/>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contains_any</a:t>
            </a:r>
          </a:p>
        </p:txBody>
      </p:sp>
      <p:sp>
        <p:nvSpPr>
          <p:cNvPr id="40" name="">
            <a:extLst xmlns:a="http://schemas.openxmlformats.org/drawingml/2006/main">
              <a:ext uri="{FF2B5EF4-FFF2-40B4-BE49-F238E27FC236}">
                <a16:creationId xmlns:a16="http://schemas.microsoft.com/office/drawing/2014/main" id="{C49BE778-5203-41C2-9366-3309F7082E86}"/>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1" name="">
            <a:extLst xmlns:a="http://schemas.openxmlformats.org/drawingml/2006/main">
              <a:ext uri="{FF2B5EF4-FFF2-40B4-BE49-F238E27FC236}">
                <a16:creationId xmlns:a16="http://schemas.microsoft.com/office/drawing/2014/main" id="{1C4766BA-2779-416E-8CE7-234ECC52E40C}"/>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starts_with / ends_with</a:t>
            </a:r>
          </a:p>
        </p:txBody>
      </p:sp>
      <p:sp>
        <p:nvSpPr>
          <p:cNvPr id="42" name="">
            <a:extLst xmlns:a="http://schemas.openxmlformats.org/drawingml/2006/main">
              <a:ext uri="{FF2B5EF4-FFF2-40B4-BE49-F238E27FC236}">
                <a16:creationId xmlns:a16="http://schemas.microsoft.com/office/drawing/2014/main" id="{21C91BDE-ACA0-4E4F-AB8E-8895049AC90F}"/>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3" name="">
            <a:extLst xmlns:a="http://schemas.openxmlformats.org/drawingml/2006/main">
              <a:ext uri="{FF2B5EF4-FFF2-40B4-BE49-F238E27FC236}">
                <a16:creationId xmlns:a16="http://schemas.microsoft.com/office/drawing/2014/main" id="{5CE5683C-ED4E-4ACC-9BBC-4F582E1C3E48}"/>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is_true / is_false</a:t>
            </a:r>
          </a:p>
        </p:txBody>
      </p:sp>
      <p:sp>
        <p:nvSpPr>
          <p:cNvPr id="44" name="">
            <a:extLst xmlns:a="http://schemas.openxmlformats.org/drawingml/2006/main">
              <a:ext uri="{FF2B5EF4-FFF2-40B4-BE49-F238E27FC236}">
                <a16:creationId xmlns:a16="http://schemas.microsoft.com/office/drawing/2014/main" id="{53ED713C-7A65-4A4B-B88C-5BFA5567DFEB}"/>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5" name="">
            <a:extLst xmlns:a="http://schemas.openxmlformats.org/drawingml/2006/main">
              <a:ext uri="{FF2B5EF4-FFF2-40B4-BE49-F238E27FC236}">
                <a16:creationId xmlns:a16="http://schemas.microsoft.com/office/drawing/2014/main" id="{746F7AE5-7604-4DD5-B721-4AC087A6ED6F}"/>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exists / missing</a:t>
            </a:r>
          </a:p>
        </p:txBody>
      </p:sp>
      <p:sp>
        <p:nvSpPr>
          <p:cNvPr id="46" name="">
            <a:extLst xmlns:a="http://schemas.openxmlformats.org/drawingml/2006/main">
              <a:ext uri="{FF2B5EF4-FFF2-40B4-BE49-F238E27FC236}">
                <a16:creationId xmlns:a16="http://schemas.microsoft.com/office/drawing/2014/main" id="{F610737A-1463-47F0-86AF-BE9336C52296}"/>
              </a:ext>
            </a:extLst>
          </p:cNvPr>
          <p:cNvSpPr>
            <a:spLocks xmlns:a="http://schemas.openxmlformats.org/drawingml/2006/main" noGrp="1"/>
          </p:cNvSpPr>
          <p:nvPr/>
        </p:nvSpPr>
        <p:spPr>
          <a:xfrm xmlns:a="http://schemas.openxmlformats.org/drawingml/2006/main">
            <a:off x="457200" y="6038850"/>
            <a:ext cx="539115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FF7A6B"/>
                </a:solidFill>
                <a:latin typeface="微软雅黑"/>
                <a:ea typeface="微软雅黑"/>
                <a:cs typeface="微软雅黑"/>
              </a:defRPr>
            </a:pPr>
            <a:r>
              <a:rPr sz="863" b="0">
                <a:solidFill>
                  <a:srgbClr val="FF7A6B"/>
                </a:solidFill>
                <a:latin typeface="微软雅黑"/>
                <a:ea typeface="微软雅黑"/>
                <a:cs typeface="微软雅黑"/>
              </a:rPr>
              <a:t>全程不使用 </a:t>
            </a:r>
            <a:r>
              <a:rPr sz="863" b="0">
                <a:solidFill>
                  <a:srgbClr val="FF7A6B"/>
                </a:solidFill>
                <a:latin typeface="微软雅黑"/>
                <a:ea typeface="微软雅黑"/>
                <a:cs typeface="微软雅黑"/>
              </a:rPr>
              <a:t>SpEL / eval / </a:t>
            </a:r>
            <a:r>
              <a:rPr sz="863" b="0">
                <a:solidFill>
                  <a:srgbClr val="FF7A6B"/>
                </a:solidFill>
                <a:latin typeface="微软雅黑"/>
                <a:ea typeface="微软雅黑"/>
                <a:cs typeface="微软雅黑"/>
              </a:rPr>
              <a:t>脚本引擎 </a:t>
            </a:r>
            <a:r>
              <a:rPr sz="863" b="0">
                <a:solidFill>
                  <a:srgbClr val="FF7A6B"/>
                </a:solidFill>
                <a:latin typeface="微软雅黑"/>
                <a:ea typeface="微软雅黑"/>
                <a:cs typeface="微软雅黑"/>
              </a:rPr>
              <a:t>/ </a:t>
            </a:r>
            <a:r>
              <a:rPr sz="863" b="0">
                <a:solidFill>
                  <a:srgbClr val="FF7A6B"/>
                </a:solidFill>
                <a:latin typeface="微软雅黑"/>
                <a:ea typeface="微软雅黑"/>
                <a:cs typeface="微软雅黑"/>
              </a:rPr>
              <a:t>拼 </a:t>
            </a:r>
            <a:r>
              <a:rPr sz="863" b="0">
                <a:solidFill>
                  <a:srgbClr val="FF7A6B"/>
                </a:solidFill>
                <a:latin typeface="微软雅黑"/>
                <a:ea typeface="微软雅黑"/>
                <a:cs typeface="微软雅黑"/>
              </a:rPr>
              <a:t>SQL</a:t>
            </a:r>
            <a:r>
              <a:rPr sz="863" b="0">
                <a:solidFill>
                  <a:srgbClr val="FF7A6B"/>
                </a:solidFill>
                <a:latin typeface="微软雅黑"/>
                <a:ea typeface="微软雅黑"/>
                <a:cs typeface="微软雅黑"/>
              </a:rPr>
              <a:t>。</a:t>
            </a:r>
          </a:p>
        </p:txBody>
      </p:sp>
      <p:sp>
        <p:nvSpPr>
          <p:cNvPr id="47" name="">
            <a:extLst xmlns:a="http://schemas.openxmlformats.org/drawingml/2006/main">
              <a:ext uri="{FF2B5EF4-FFF2-40B4-BE49-F238E27FC236}">
                <a16:creationId xmlns:a16="http://schemas.microsoft.com/office/drawing/2014/main" id="{2F9E29EF-9BBA-4CF6-B4E2-C7DE1A8119A3}"/>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输入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匹配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求值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分组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合并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输出</a:t>
            </a:r>
          </a:p>
        </p:txBody>
      </p:sp>
      <p:sp>
        <p:nvSpPr>
          <p:cNvPr id="48" name="">
            <a:extLst xmlns:a="http://schemas.openxmlformats.org/drawingml/2006/main">
              <a:ext uri="{FF2B5EF4-FFF2-40B4-BE49-F238E27FC236}">
                <a16:creationId xmlns:a16="http://schemas.microsoft.com/office/drawing/2014/main" id="{E02FE4DE-D781-4E9F-990D-1194B052D17F}"/>
              </a:ext>
            </a:extLst>
          </p:cNvPr>
          <p:cNvSpPr>
            <a:spLocks xmlns:a="http://schemas.openxmlformats.org/drawingml/2006/main" noGrp="1"/>
          </p:cNvSpPr>
          <p:nvPr/>
        </p:nvSpPr>
        <p:spPr>
          <a:xfrm xmlns:a="http://schemas.openxmlformats.org/drawingml/2006/main">
            <a:off x="6229350" y="16192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9" name="">
            <a:extLst xmlns:a="http://schemas.openxmlformats.org/drawingml/2006/main">
              <a:ext uri="{FF2B5EF4-FFF2-40B4-BE49-F238E27FC236}">
                <a16:creationId xmlns:a16="http://schemas.microsoft.com/office/drawing/2014/main" id="{82347C3A-A6A5-4620-B2CB-5B74C1A75409}"/>
              </a:ext>
            </a:extLst>
          </p:cNvPr>
          <p:cNvSpPr>
            <a:spLocks xmlns:a="http://schemas.openxmlformats.org/drawingml/2006/main" noGrp="1"/>
          </p:cNvSpPr>
          <p:nvPr/>
        </p:nvSpPr>
        <p:spPr>
          <a:xfrm xmlns:a="http://schemas.openxmlformats.org/drawingml/2006/main">
            <a:off x="6362700" y="16764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输入</a:t>
            </a:r>
          </a:p>
        </p:txBody>
      </p:sp>
      <p:sp>
        <p:nvSpPr>
          <p:cNvPr id="50" name="">
            <a:extLst xmlns:a="http://schemas.openxmlformats.org/drawingml/2006/main">
              <a:ext uri="{FF2B5EF4-FFF2-40B4-BE49-F238E27FC236}">
                <a16:creationId xmlns:a16="http://schemas.microsoft.com/office/drawing/2014/main" id="{7C43541C-CCCC-428B-A2DB-FBEC01D3E284}"/>
              </a:ext>
            </a:extLst>
          </p:cNvPr>
          <p:cNvSpPr>
            <a:spLocks xmlns:a="http://schemas.openxmlformats.org/drawingml/2006/main" noGrp="1"/>
          </p:cNvSpPr>
          <p:nvPr/>
        </p:nvSpPr>
        <p:spPr>
          <a:xfrm xmlns:a="http://schemas.openxmlformats.org/drawingml/2006/main">
            <a:off x="6362700" y="18669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场景 </a:t>
            </a:r>
            <a:r>
              <a:rPr sz="825" b="0">
                <a:solidFill>
                  <a:srgbClr val="EEF5FF"/>
                </a:solidFill>
                <a:latin typeface="微软雅黑"/>
                <a:ea typeface="微软雅黑"/>
                <a:cs typeface="微软雅黑"/>
              </a:rPr>
              <a:t>PERSONAL_GAP / EXAM_RESULT / TALENT_GAP / REPORT_GAS / REPORT_ANALYSIS</a:t>
            </a:r>
            <a:r>
              <a:rPr sz="825" b="0">
                <a:solidFill>
                  <a:srgbClr val="EEF5FF"/>
                </a:solidFill>
                <a:latin typeface="微软雅黑"/>
                <a:ea typeface="微软雅黑"/>
                <a:cs typeface="微软雅黑"/>
              </a:rPr>
              <a:t>；事实：考试分、技能等级、岗位要求、检测值、报告文本</a:t>
            </a:r>
          </a:p>
        </p:txBody>
      </p:sp>
      <p:sp>
        <p:nvSpPr>
          <p:cNvPr id="51" name="">
            <a:extLst xmlns:a="http://schemas.openxmlformats.org/drawingml/2006/main">
              <a:ext uri="{FF2B5EF4-FFF2-40B4-BE49-F238E27FC236}">
                <a16:creationId xmlns:a16="http://schemas.microsoft.com/office/drawing/2014/main" id="{1849D829-0675-4530-826A-F5601326F401}"/>
              </a:ext>
            </a:extLst>
          </p:cNvPr>
          <p:cNvSpPr>
            <a:spLocks xmlns:a="http://schemas.openxmlformats.org/drawingml/2006/main" noGrp="1"/>
          </p:cNvSpPr>
          <p:nvPr/>
        </p:nvSpPr>
        <p:spPr>
          <a:xfrm xmlns:a="http://schemas.openxmlformats.org/drawingml/2006/main">
            <a:off x="6229350" y="22669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2" name="">
            <a:extLst xmlns:a="http://schemas.openxmlformats.org/drawingml/2006/main">
              <a:ext uri="{FF2B5EF4-FFF2-40B4-BE49-F238E27FC236}">
                <a16:creationId xmlns:a16="http://schemas.microsoft.com/office/drawing/2014/main" id="{5EFCED03-D126-45B9-8C21-9B7F5645E311}"/>
              </a:ext>
            </a:extLst>
          </p:cNvPr>
          <p:cNvSpPr>
            <a:spLocks xmlns:a="http://schemas.openxmlformats.org/drawingml/2006/main" noGrp="1"/>
          </p:cNvSpPr>
          <p:nvPr/>
        </p:nvSpPr>
        <p:spPr>
          <a:xfrm xmlns:a="http://schemas.openxmlformats.org/drawingml/2006/main">
            <a:off x="6362700" y="23241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匹配</a:t>
            </a:r>
          </a:p>
        </p:txBody>
      </p:sp>
      <p:sp>
        <p:nvSpPr>
          <p:cNvPr id="53" name="">
            <a:extLst xmlns:a="http://schemas.openxmlformats.org/drawingml/2006/main">
              <a:ext uri="{FF2B5EF4-FFF2-40B4-BE49-F238E27FC236}">
                <a16:creationId xmlns:a16="http://schemas.microsoft.com/office/drawing/2014/main" id="{D3697924-5770-45DC-9EC9-748016989D88}"/>
              </a:ext>
            </a:extLst>
          </p:cNvPr>
          <p:cNvSpPr>
            <a:spLocks xmlns:a="http://schemas.openxmlformats.org/drawingml/2006/main" noGrp="1"/>
          </p:cNvSpPr>
          <p:nvPr/>
        </p:nvSpPr>
        <p:spPr>
          <a:xfrm xmlns:a="http://schemas.openxmlformats.org/drawingml/2006/main">
            <a:off x="6362700" y="25146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取启用规则 </a:t>
            </a:r>
            <a:r>
              <a:rPr sz="825" b="0">
                <a:solidFill>
                  <a:srgbClr val="EEF5FF"/>
                </a:solidFill>
                <a:latin typeface="微软雅黑"/>
                <a:ea typeface="微软雅黑"/>
                <a:cs typeface="微软雅黑"/>
              </a:rPr>
              <a:t>→ priority </a:t>
            </a:r>
            <a:r>
              <a:rPr sz="825" b="0">
                <a:solidFill>
                  <a:srgbClr val="EEF5FF"/>
                </a:solidFill>
                <a:latin typeface="微软雅黑"/>
                <a:ea typeface="微软雅黑"/>
                <a:cs typeface="微软雅黑"/>
              </a:rPr>
              <a:t>降序 </a:t>
            </a:r>
            <a:r>
              <a:rPr sz="825" b="0">
                <a:solidFill>
                  <a:srgbClr val="EEF5FF"/>
                </a:solidFill>
                <a:latin typeface="微软雅黑"/>
                <a:ea typeface="微软雅黑"/>
                <a:cs typeface="微软雅黑"/>
              </a:rPr>
              <a:t>→ rule_code </a:t>
            </a:r>
            <a:r>
              <a:rPr sz="825" b="0">
                <a:solidFill>
                  <a:srgbClr val="EEF5FF"/>
                </a:solidFill>
                <a:latin typeface="微软雅黑"/>
                <a:ea typeface="微软雅黑"/>
                <a:cs typeface="微软雅黑"/>
              </a:rPr>
              <a:t>稳定排序</a:t>
            </a:r>
          </a:p>
        </p:txBody>
      </p:sp>
      <p:sp>
        <p:nvSpPr>
          <p:cNvPr id="54" name="">
            <a:extLst xmlns:a="http://schemas.openxmlformats.org/drawingml/2006/main">
              <a:ext uri="{FF2B5EF4-FFF2-40B4-BE49-F238E27FC236}">
                <a16:creationId xmlns:a16="http://schemas.microsoft.com/office/drawing/2014/main" id="{2EF30B6C-2743-48B4-8B7A-06397279E400}"/>
              </a:ext>
            </a:extLst>
          </p:cNvPr>
          <p:cNvSpPr>
            <a:spLocks xmlns:a="http://schemas.openxmlformats.org/drawingml/2006/main" noGrp="1"/>
          </p:cNvSpPr>
          <p:nvPr/>
        </p:nvSpPr>
        <p:spPr>
          <a:xfrm xmlns:a="http://schemas.openxmlformats.org/drawingml/2006/main">
            <a:off x="6229350" y="29146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5" name="">
            <a:extLst xmlns:a="http://schemas.openxmlformats.org/drawingml/2006/main">
              <a:ext uri="{FF2B5EF4-FFF2-40B4-BE49-F238E27FC236}">
                <a16:creationId xmlns:a16="http://schemas.microsoft.com/office/drawing/2014/main" id="{05A50EE5-9464-469B-B57D-476589FE1535}"/>
              </a:ext>
            </a:extLst>
          </p:cNvPr>
          <p:cNvSpPr>
            <a:spLocks xmlns:a="http://schemas.openxmlformats.org/drawingml/2006/main" noGrp="1"/>
          </p:cNvSpPr>
          <p:nvPr/>
        </p:nvSpPr>
        <p:spPr>
          <a:xfrm xmlns:a="http://schemas.openxmlformats.org/drawingml/2006/main">
            <a:off x="6362700" y="29718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求值</a:t>
            </a:r>
          </a:p>
        </p:txBody>
      </p:sp>
      <p:sp>
        <p:nvSpPr>
          <p:cNvPr id="56" name="">
            <a:extLst xmlns:a="http://schemas.openxmlformats.org/drawingml/2006/main">
              <a:ext uri="{FF2B5EF4-FFF2-40B4-BE49-F238E27FC236}">
                <a16:creationId xmlns:a16="http://schemas.microsoft.com/office/drawing/2014/main" id="{7F112185-FE87-4080-A461-9B1F0CDDCCE6}"/>
              </a:ext>
            </a:extLst>
          </p:cNvPr>
          <p:cNvSpPr>
            <a:spLocks xmlns:a="http://schemas.openxmlformats.org/drawingml/2006/main" noGrp="1"/>
          </p:cNvSpPr>
          <p:nvPr/>
        </p:nvSpPr>
        <p:spPr>
          <a:xfrm xmlns:a="http://schemas.openxmlformats.org/drawingml/2006/main">
            <a:off x="6362700" y="31623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条件树逐节点求值，缺失字段或类型不符不抛错，计入 </a:t>
            </a:r>
            <a:r>
              <a:rPr sz="825" b="0">
                <a:solidFill>
                  <a:srgbClr val="EEF5FF"/>
                </a:solidFill>
                <a:latin typeface="微软雅黑"/>
                <a:ea typeface="微软雅黑"/>
                <a:cs typeface="微软雅黑"/>
              </a:rPr>
              <a:t>skipped </a:t>
            </a:r>
            <a:r>
              <a:rPr sz="825" b="0">
                <a:solidFill>
                  <a:srgbClr val="EEF5FF"/>
                </a:solidFill>
                <a:latin typeface="微软雅黑"/>
                <a:ea typeface="微软雅黑"/>
                <a:cs typeface="微软雅黑"/>
              </a:rPr>
              <a:t>并给出原因</a:t>
            </a:r>
          </a:p>
        </p:txBody>
      </p:sp>
      <p:sp>
        <p:nvSpPr>
          <p:cNvPr id="57" name="">
            <a:extLst xmlns:a="http://schemas.openxmlformats.org/drawingml/2006/main">
              <a:ext uri="{FF2B5EF4-FFF2-40B4-BE49-F238E27FC236}">
                <a16:creationId xmlns:a16="http://schemas.microsoft.com/office/drawing/2014/main" id="{6EA83B8B-79CC-4CB4-8117-09F397AB1EFF}"/>
              </a:ext>
            </a:extLst>
          </p:cNvPr>
          <p:cNvSpPr>
            <a:spLocks xmlns:a="http://schemas.openxmlformats.org/drawingml/2006/main" noGrp="1"/>
          </p:cNvSpPr>
          <p:nvPr/>
        </p:nvSpPr>
        <p:spPr>
          <a:xfrm xmlns:a="http://schemas.openxmlformats.org/drawingml/2006/main">
            <a:off x="6229350" y="35623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8" name="">
            <a:extLst xmlns:a="http://schemas.openxmlformats.org/drawingml/2006/main">
              <a:ext uri="{FF2B5EF4-FFF2-40B4-BE49-F238E27FC236}">
                <a16:creationId xmlns:a16="http://schemas.microsoft.com/office/drawing/2014/main" id="{C76B832F-1729-4455-8DE6-B1D3F1A27F44}"/>
              </a:ext>
            </a:extLst>
          </p:cNvPr>
          <p:cNvSpPr>
            <a:spLocks xmlns:a="http://schemas.openxmlformats.org/drawingml/2006/main" noGrp="1"/>
          </p:cNvSpPr>
          <p:nvPr/>
        </p:nvSpPr>
        <p:spPr>
          <a:xfrm xmlns:a="http://schemas.openxmlformats.org/drawingml/2006/main">
            <a:off x="6362700" y="36195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分组</a:t>
            </a:r>
          </a:p>
        </p:txBody>
      </p:sp>
      <p:sp>
        <p:nvSpPr>
          <p:cNvPr id="59" name="">
            <a:extLst xmlns:a="http://schemas.openxmlformats.org/drawingml/2006/main">
              <a:ext uri="{FF2B5EF4-FFF2-40B4-BE49-F238E27FC236}">
                <a16:creationId xmlns:a16="http://schemas.microsoft.com/office/drawing/2014/main" id="{9C6269F4-E329-4F4E-8A57-9B461D190478}"/>
              </a:ext>
            </a:extLst>
          </p:cNvPr>
          <p:cNvSpPr>
            <a:spLocks xmlns:a="http://schemas.openxmlformats.org/drawingml/2006/main" noGrp="1"/>
          </p:cNvSpPr>
          <p:nvPr/>
        </p:nvSpPr>
        <p:spPr>
          <a:xfrm xmlns:a="http://schemas.openxmlformats.org/drawingml/2006/main">
            <a:off x="6362700" y="38100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VALUE </a:t>
            </a:r>
            <a:r>
              <a:rPr sz="825" b="0">
                <a:solidFill>
                  <a:srgbClr val="EEF5FF"/>
                </a:solidFill>
                <a:latin typeface="微软雅黑"/>
                <a:ea typeface="微软雅黑"/>
                <a:cs typeface="微软雅黑"/>
              </a:rPr>
              <a:t>组定严重度、</a:t>
            </a:r>
            <a:r>
              <a:rPr sz="825" b="0">
                <a:solidFill>
                  <a:srgbClr val="EEF5FF"/>
                </a:solidFill>
                <a:latin typeface="微软雅黑"/>
                <a:ea typeface="微软雅黑"/>
                <a:cs typeface="微软雅黑"/>
              </a:rPr>
              <a:t>KEYWORD </a:t>
            </a:r>
            <a:r>
              <a:rPr sz="825" b="0">
                <a:solidFill>
                  <a:srgbClr val="EEF5FF"/>
                </a:solidFill>
                <a:latin typeface="微软雅黑"/>
                <a:ea typeface="微软雅黑"/>
                <a:cs typeface="微软雅黑"/>
              </a:rPr>
              <a:t>组补原因，两组独立，互不阻断</a:t>
            </a:r>
          </a:p>
        </p:txBody>
      </p:sp>
      <p:sp>
        <p:nvSpPr>
          <p:cNvPr id="60" name="">
            <a:extLst xmlns:a="http://schemas.openxmlformats.org/drawingml/2006/main">
              <a:ext uri="{FF2B5EF4-FFF2-40B4-BE49-F238E27FC236}">
                <a16:creationId xmlns:a16="http://schemas.microsoft.com/office/drawing/2014/main" id="{54CD0870-04AA-4CF5-B013-4B626A67FE88}"/>
              </a:ext>
            </a:extLst>
          </p:cNvPr>
          <p:cNvSpPr>
            <a:spLocks xmlns:a="http://schemas.openxmlformats.org/drawingml/2006/main" noGrp="1"/>
          </p:cNvSpPr>
          <p:nvPr/>
        </p:nvSpPr>
        <p:spPr>
          <a:xfrm xmlns:a="http://schemas.openxmlformats.org/drawingml/2006/main">
            <a:off x="6229350" y="4210050"/>
            <a:ext cx="5676900" cy="571500"/>
          </a:xfrm>
          <a:prstGeom xmlns:a="http://schemas.openxmlformats.org/drawingml/2006/main" prst="roundRect">
            <a:avLst>
              <a:gd name="adj" fmla="val 15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FFD24A"/>
            </a:solidFill>
            <a:prstDash val="solid"/>
          </a:ln>
        </p:spPr>
      </p:sp>
      <p:sp>
        <p:nvSpPr>
          <p:cNvPr id="61" name="">
            <a:extLst xmlns:a="http://schemas.openxmlformats.org/drawingml/2006/main">
              <a:ext uri="{FF2B5EF4-FFF2-40B4-BE49-F238E27FC236}">
                <a16:creationId xmlns:a16="http://schemas.microsoft.com/office/drawing/2014/main" id="{C6A9CD1D-FA25-48CB-810C-CEB1B0B2AFF4}"/>
              </a:ext>
            </a:extLst>
          </p:cNvPr>
          <p:cNvSpPr>
            <a:spLocks xmlns:a="http://schemas.openxmlformats.org/drawingml/2006/main" noGrp="1"/>
          </p:cNvSpPr>
          <p:nvPr/>
        </p:nvSpPr>
        <p:spPr>
          <a:xfrm xmlns:a="http://schemas.openxmlformats.org/drawingml/2006/main">
            <a:off x="6362700" y="4267200"/>
            <a:ext cx="8001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输出</a:t>
            </a:r>
          </a:p>
        </p:txBody>
      </p:sp>
      <p:sp>
        <p:nvSpPr>
          <p:cNvPr id="62" name="">
            <a:extLst xmlns:a="http://schemas.openxmlformats.org/drawingml/2006/main">
              <a:ext uri="{FF2B5EF4-FFF2-40B4-BE49-F238E27FC236}">
                <a16:creationId xmlns:a16="http://schemas.microsoft.com/office/drawing/2014/main" id="{1ADEE3BB-FB83-48BB-A699-7436EB531E5C}"/>
              </a:ext>
            </a:extLst>
          </p:cNvPr>
          <p:cNvSpPr>
            <a:spLocks xmlns:a="http://schemas.openxmlformats.org/drawingml/2006/main" noGrp="1"/>
          </p:cNvSpPr>
          <p:nvPr/>
        </p:nvSpPr>
        <p:spPr>
          <a:xfrm xmlns:a="http://schemas.openxmlformats.org/drawingml/2006/main">
            <a:off x="6362700" y="4457700"/>
            <a:ext cx="5448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matched / hits</a:t>
            </a:r>
            <a:r>
              <a:rPr sz="825" b="0">
                <a:solidFill>
                  <a:srgbClr val="EEF5FF"/>
                </a:solidFill>
                <a:latin typeface="微软雅黑"/>
                <a:ea typeface="微软雅黑"/>
                <a:cs typeface="微软雅黑"/>
              </a:rPr>
              <a:t>（命中规则与解释）</a:t>
            </a:r>
            <a:r>
              <a:rPr sz="825" b="0">
                <a:solidFill>
                  <a:srgbClr val="EEF5FF"/>
                </a:solidFill>
                <a:latin typeface="微软雅黑"/>
                <a:ea typeface="微软雅黑"/>
                <a:cs typeface="微软雅黑"/>
              </a:rPr>
              <a:t>/ skipped</a:t>
            </a:r>
            <a:r>
              <a:rPr sz="825" b="0">
                <a:solidFill>
                  <a:srgbClr val="EEF5FF"/>
                </a:solidFill>
                <a:latin typeface="微软雅黑"/>
                <a:ea typeface="微软雅黑"/>
                <a:cs typeface="微软雅黑"/>
              </a:rPr>
              <a:t>（无法判定及原因）</a:t>
            </a:r>
            <a:r>
              <a:rPr sz="825" b="0">
                <a:solidFill>
                  <a:srgbClr val="EEF5FF"/>
                </a:solidFill>
                <a:latin typeface="微软雅黑"/>
                <a:ea typeface="微软雅黑"/>
                <a:cs typeface="微软雅黑"/>
              </a:rPr>
              <a:t>/ verdict</a:t>
            </a:r>
            <a:r>
              <a:rPr sz="825" b="0">
                <a:solidFill>
                  <a:srgbClr val="EEF5FF"/>
                </a:solidFill>
                <a:latin typeface="微软雅黑"/>
                <a:ea typeface="微软雅黑"/>
                <a:cs typeface="微软雅黑"/>
              </a:rPr>
              <a:t>（动作、原因、严重度、</a:t>
            </a:r>
            <a:r>
              <a:rPr sz="825" b="0">
                <a:solidFill>
                  <a:srgbClr val="EEF5FF"/>
                </a:solidFill>
                <a:latin typeface="微软雅黑"/>
                <a:ea typeface="微软雅黑"/>
                <a:cs typeface="微软雅黑"/>
              </a:rPr>
              <a:t>rule_code</a:t>
            </a:r>
            <a:r>
              <a:rPr sz="825" b="0">
                <a:solidFill>
                  <a:srgbClr val="EEF5FF"/>
                </a:solidFill>
                <a:latin typeface="微软雅黑"/>
                <a:ea typeface="微软雅黑"/>
                <a:cs typeface="微软雅黑"/>
              </a:rPr>
              <a:t>、置信度）</a:t>
            </a:r>
          </a:p>
        </p:txBody>
      </p:sp>
      <p:sp>
        <p:nvSpPr>
          <p:cNvPr id="63" name="">
            <a:extLst xmlns:a="http://schemas.openxmlformats.org/drawingml/2006/main">
              <a:ext uri="{FF2B5EF4-FFF2-40B4-BE49-F238E27FC236}">
                <a16:creationId xmlns:a16="http://schemas.microsoft.com/office/drawing/2014/main" id="{0A7A9132-170C-4793-BD83-F30006418B70}"/>
              </a:ext>
            </a:extLst>
          </p:cNvPr>
          <p:cNvSpPr>
            <a:spLocks xmlns:a="http://schemas.openxmlformats.org/drawingml/2006/main" noGrp="1"/>
          </p:cNvSpPr>
          <p:nvPr/>
        </p:nvSpPr>
        <p:spPr>
          <a:xfrm xmlns:a="http://schemas.openxmlformats.org/drawingml/2006/main">
            <a:off x="6229350" y="4914900"/>
            <a:ext cx="5676900" cy="1333500"/>
          </a:xfrm>
          <a:prstGeom xmlns:a="http://schemas.openxmlformats.org/drawingml/2006/main" prst="roundRect">
            <a:avLst>
              <a:gd name="adj" fmla="val 64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4" name="">
            <a:extLst xmlns:a="http://schemas.openxmlformats.org/drawingml/2006/main">
              <a:ext uri="{FF2B5EF4-FFF2-40B4-BE49-F238E27FC236}">
                <a16:creationId xmlns:a16="http://schemas.microsoft.com/office/drawing/2014/main" id="{CAF47B83-3E0F-4966-847F-B765589C7014}"/>
              </a:ext>
            </a:extLst>
          </p:cNvPr>
          <p:cNvSpPr>
            <a:spLocks xmlns:a="http://schemas.openxmlformats.org/drawingml/2006/main" noGrp="1"/>
          </p:cNvSpPr>
          <p:nvPr/>
        </p:nvSpPr>
        <p:spPr>
          <a:xfrm xmlns:a="http://schemas.openxmlformats.org/drawingml/2006/main">
            <a:off x="6400800" y="50292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5FE3A1"/>
                </a:solidFill>
                <a:latin typeface="微软雅黑"/>
                <a:ea typeface="微软雅黑"/>
                <a:cs typeface="微软雅黑"/>
              </a:defRPr>
            </a:pPr>
            <a:r>
              <a:rPr sz="1050" b="1">
                <a:solidFill>
                  <a:srgbClr val="5FE3A1"/>
                </a:solidFill>
                <a:latin typeface="微软雅黑"/>
                <a:ea typeface="微软雅黑"/>
                <a:cs typeface="微软雅黑"/>
              </a:rPr>
              <a:t>实测数据（演示数据集口径）</a:t>
            </a:r>
          </a:p>
        </p:txBody>
      </p:sp>
      <p:sp>
        <p:nvSpPr>
          <p:cNvPr id="65" name="">
            <a:extLst xmlns:a="http://schemas.openxmlformats.org/drawingml/2006/main">
              <a:ext uri="{FF2B5EF4-FFF2-40B4-BE49-F238E27FC236}">
                <a16:creationId xmlns:a16="http://schemas.microsoft.com/office/drawing/2014/main" id="{286631F0-E4F2-4042-BF1D-27FD2ECB0E16}"/>
              </a:ext>
            </a:extLst>
          </p:cNvPr>
          <p:cNvSpPr>
            <a:spLocks xmlns:a="http://schemas.openxmlformats.org/drawingml/2006/main" noGrp="1"/>
          </p:cNvSpPr>
          <p:nvPr/>
        </p:nvSpPr>
        <p:spPr>
          <a:xfrm xmlns:a="http://schemas.openxmlformats.org/drawingml/2006/main">
            <a:off x="640080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18 </a:t>
            </a:r>
            <a:r>
              <a:rPr sz="1425" b="1">
                <a:solidFill>
                  <a:srgbClr val="FFD24A"/>
                </a:solidFill>
                <a:latin typeface="Bahnschrift"/>
                <a:ea typeface="Bahnschrift"/>
                <a:cs typeface="Bahnschrift"/>
              </a:rPr>
              <a:t>条</a:t>
            </a:r>
          </a:p>
        </p:txBody>
      </p:sp>
      <p:sp>
        <p:nvSpPr>
          <p:cNvPr id="66" name="">
            <a:extLst xmlns:a="http://schemas.openxmlformats.org/drawingml/2006/main">
              <a:ext uri="{FF2B5EF4-FFF2-40B4-BE49-F238E27FC236}">
                <a16:creationId xmlns:a16="http://schemas.microsoft.com/office/drawing/2014/main" id="{89EC0D85-F834-42E1-8BE0-6A3A68EA4976}"/>
              </a:ext>
            </a:extLst>
          </p:cNvPr>
          <p:cNvSpPr>
            <a:spLocks xmlns:a="http://schemas.openxmlformats.org/drawingml/2006/main" noGrp="1"/>
          </p:cNvSpPr>
          <p:nvPr/>
        </p:nvSpPr>
        <p:spPr>
          <a:xfrm xmlns:a="http://schemas.openxmlformats.org/drawingml/2006/main">
            <a:off x="640080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规则总数</a:t>
            </a:r>
          </a:p>
        </p:txBody>
      </p:sp>
      <p:sp>
        <p:nvSpPr>
          <p:cNvPr id="67" name="">
            <a:extLst xmlns:a="http://schemas.openxmlformats.org/drawingml/2006/main">
              <a:ext uri="{FF2B5EF4-FFF2-40B4-BE49-F238E27FC236}">
                <a16:creationId xmlns:a16="http://schemas.microsoft.com/office/drawing/2014/main" id="{CEAAEE4C-5D7D-4CAC-80CC-D64A1218957C}"/>
              </a:ext>
            </a:extLst>
          </p:cNvPr>
          <p:cNvSpPr>
            <a:spLocks xmlns:a="http://schemas.openxmlformats.org/drawingml/2006/main" noGrp="1"/>
          </p:cNvSpPr>
          <p:nvPr/>
        </p:nvSpPr>
        <p:spPr>
          <a:xfrm xmlns:a="http://schemas.openxmlformats.org/drawingml/2006/main">
            <a:off x="748665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5 </a:t>
            </a:r>
            <a:r>
              <a:rPr sz="1425" b="1">
                <a:solidFill>
                  <a:srgbClr val="FFD24A"/>
                </a:solidFill>
                <a:latin typeface="Bahnschrift"/>
                <a:ea typeface="Bahnschrift"/>
                <a:cs typeface="Bahnschrift"/>
              </a:rPr>
              <a:t>个</a:t>
            </a:r>
          </a:p>
        </p:txBody>
      </p:sp>
      <p:sp>
        <p:nvSpPr>
          <p:cNvPr id="68" name="">
            <a:extLst xmlns:a="http://schemas.openxmlformats.org/drawingml/2006/main">
              <a:ext uri="{FF2B5EF4-FFF2-40B4-BE49-F238E27FC236}">
                <a16:creationId xmlns:a16="http://schemas.microsoft.com/office/drawing/2014/main" id="{4BABA828-4E8A-497E-8EF2-D349AAB68414}"/>
              </a:ext>
            </a:extLst>
          </p:cNvPr>
          <p:cNvSpPr>
            <a:spLocks xmlns:a="http://schemas.openxmlformats.org/drawingml/2006/main" noGrp="1"/>
          </p:cNvSpPr>
          <p:nvPr/>
        </p:nvSpPr>
        <p:spPr>
          <a:xfrm xmlns:a="http://schemas.openxmlformats.org/drawingml/2006/main">
            <a:off x="748665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覆盖场景</a:t>
            </a:r>
          </a:p>
        </p:txBody>
      </p:sp>
      <p:sp>
        <p:nvSpPr>
          <p:cNvPr id="69" name="">
            <a:extLst xmlns:a="http://schemas.openxmlformats.org/drawingml/2006/main">
              <a:ext uri="{FF2B5EF4-FFF2-40B4-BE49-F238E27FC236}">
                <a16:creationId xmlns:a16="http://schemas.microsoft.com/office/drawing/2014/main" id="{FA1CACA3-F255-4581-A754-17A7EE91D957}"/>
              </a:ext>
            </a:extLst>
          </p:cNvPr>
          <p:cNvSpPr>
            <a:spLocks xmlns:a="http://schemas.openxmlformats.org/drawingml/2006/main" noGrp="1"/>
          </p:cNvSpPr>
          <p:nvPr/>
        </p:nvSpPr>
        <p:spPr>
          <a:xfrm xmlns:a="http://schemas.openxmlformats.org/drawingml/2006/main">
            <a:off x="857250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3 </a:t>
            </a:r>
            <a:r>
              <a:rPr sz="1425" b="1">
                <a:solidFill>
                  <a:srgbClr val="FFD24A"/>
                </a:solidFill>
                <a:latin typeface="Bahnschrift"/>
                <a:ea typeface="Bahnschrift"/>
                <a:cs typeface="Bahnschrift"/>
              </a:rPr>
              <a:t>组</a:t>
            </a:r>
          </a:p>
        </p:txBody>
      </p:sp>
      <p:sp>
        <p:nvSpPr>
          <p:cNvPr id="70" name="">
            <a:extLst xmlns:a="http://schemas.openxmlformats.org/drawingml/2006/main">
              <a:ext uri="{FF2B5EF4-FFF2-40B4-BE49-F238E27FC236}">
                <a16:creationId xmlns:a16="http://schemas.microsoft.com/office/drawing/2014/main" id="{593021F5-8A2F-4558-A4E7-7656EF940CAF}"/>
              </a:ext>
            </a:extLst>
          </p:cNvPr>
          <p:cNvSpPr>
            <a:spLocks xmlns:a="http://schemas.openxmlformats.org/drawingml/2006/main" noGrp="1"/>
          </p:cNvSpPr>
          <p:nvPr/>
        </p:nvSpPr>
        <p:spPr>
          <a:xfrm xmlns:a="http://schemas.openxmlformats.org/drawingml/2006/main">
            <a:off x="857250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匹配分组</a:t>
            </a:r>
          </a:p>
        </p:txBody>
      </p:sp>
      <p:sp>
        <p:nvSpPr>
          <p:cNvPr id="71" name="">
            <a:extLst xmlns:a="http://schemas.openxmlformats.org/drawingml/2006/main">
              <a:ext uri="{FF2B5EF4-FFF2-40B4-BE49-F238E27FC236}">
                <a16:creationId xmlns:a16="http://schemas.microsoft.com/office/drawing/2014/main" id="{CF09B4B4-AB31-48FE-819E-0B7E7DA5DBEF}"/>
              </a:ext>
            </a:extLst>
          </p:cNvPr>
          <p:cNvSpPr>
            <a:spLocks xmlns:a="http://schemas.openxmlformats.org/drawingml/2006/main" noGrp="1"/>
          </p:cNvSpPr>
          <p:nvPr/>
        </p:nvSpPr>
        <p:spPr>
          <a:xfrm xmlns:a="http://schemas.openxmlformats.org/drawingml/2006/main">
            <a:off x="965835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200 </a:t>
            </a:r>
            <a:r>
              <a:rPr sz="1425" b="1">
                <a:solidFill>
                  <a:srgbClr val="FFD24A"/>
                </a:solidFill>
                <a:latin typeface="Bahnschrift"/>
                <a:ea typeface="Bahnschrift"/>
                <a:cs typeface="Bahnschrift"/>
              </a:rPr>
              <a:t>次</a:t>
            </a:r>
          </a:p>
        </p:txBody>
      </p:sp>
      <p:sp>
        <p:nvSpPr>
          <p:cNvPr id="72" name="">
            <a:extLst xmlns:a="http://schemas.openxmlformats.org/drawingml/2006/main">
              <a:ext uri="{FF2B5EF4-FFF2-40B4-BE49-F238E27FC236}">
                <a16:creationId xmlns:a16="http://schemas.microsoft.com/office/drawing/2014/main" id="{80D0A280-FF0E-41AC-B066-4FAF344D43BB}"/>
              </a:ext>
            </a:extLst>
          </p:cNvPr>
          <p:cNvSpPr>
            <a:spLocks xmlns:a="http://schemas.openxmlformats.org/drawingml/2006/main" noGrp="1"/>
          </p:cNvSpPr>
          <p:nvPr/>
        </p:nvSpPr>
        <p:spPr>
          <a:xfrm xmlns:a="http://schemas.openxmlformats.org/drawingml/2006/main">
            <a:off x="965835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重复一致性 </a:t>
            </a:r>
            <a:r>
              <a:rPr sz="825" b="0">
                <a:solidFill>
                  <a:srgbClr val="C6DDFF"/>
                </a:solidFill>
                <a:latin typeface="微软雅黑"/>
                <a:ea typeface="微软雅黑"/>
                <a:cs typeface="微软雅黑"/>
              </a:rPr>
              <a:t>100%</a:t>
            </a:r>
          </a:p>
        </p:txBody>
      </p:sp>
      <p:sp>
        <p:nvSpPr>
          <p:cNvPr id="73" name="">
            <a:extLst xmlns:a="http://schemas.openxmlformats.org/drawingml/2006/main">
              <a:ext uri="{FF2B5EF4-FFF2-40B4-BE49-F238E27FC236}">
                <a16:creationId xmlns:a16="http://schemas.microsoft.com/office/drawing/2014/main" id="{0D74DAF6-005E-4795-8B04-95618FAA864F}"/>
              </a:ext>
            </a:extLst>
          </p:cNvPr>
          <p:cNvSpPr>
            <a:spLocks xmlns:a="http://schemas.openxmlformats.org/drawingml/2006/main" noGrp="1"/>
          </p:cNvSpPr>
          <p:nvPr/>
        </p:nvSpPr>
        <p:spPr>
          <a:xfrm xmlns:a="http://schemas.openxmlformats.org/drawingml/2006/main">
            <a:off x="10744200" y="5314950"/>
            <a:ext cx="10287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11 </a:t>
            </a:r>
            <a:r>
              <a:rPr sz="1425" b="1">
                <a:solidFill>
                  <a:srgbClr val="FFD24A"/>
                </a:solidFill>
                <a:latin typeface="Bahnschrift"/>
                <a:ea typeface="Bahnschrift"/>
                <a:cs typeface="Bahnschrift"/>
              </a:rPr>
              <a:t>项</a:t>
            </a:r>
          </a:p>
        </p:txBody>
      </p:sp>
      <p:sp>
        <p:nvSpPr>
          <p:cNvPr id="74" name="">
            <a:extLst xmlns:a="http://schemas.openxmlformats.org/drawingml/2006/main">
              <a:ext uri="{FF2B5EF4-FFF2-40B4-BE49-F238E27FC236}">
                <a16:creationId xmlns:a16="http://schemas.microsoft.com/office/drawing/2014/main" id="{263CD049-3721-45EC-BD8E-6FDA02A10FCD}"/>
              </a:ext>
            </a:extLst>
          </p:cNvPr>
          <p:cNvSpPr>
            <a:spLocks xmlns:a="http://schemas.openxmlformats.org/drawingml/2006/main" noGrp="1"/>
          </p:cNvSpPr>
          <p:nvPr/>
        </p:nvSpPr>
        <p:spPr>
          <a:xfrm xmlns:a="http://schemas.openxmlformats.org/drawingml/2006/main">
            <a:off x="10744200" y="5619750"/>
            <a:ext cx="1028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规则测试场景通过</a:t>
            </a:r>
          </a:p>
        </p:txBody>
      </p:sp>
      <p:sp>
        <p:nvSpPr>
          <p:cNvPr id="75" name="">
            <a:extLst xmlns:a="http://schemas.openxmlformats.org/drawingml/2006/main">
              <a:ext uri="{FF2B5EF4-FFF2-40B4-BE49-F238E27FC236}">
                <a16:creationId xmlns:a16="http://schemas.microsoft.com/office/drawing/2014/main" id="{4C335E74-1B24-43F5-9A18-5181E4EF94FF}"/>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8180667E-F222-4CA0-94EA-1EADAC48E7D8}"/>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D7A1B6A4-C562-4017-AE29-F443649DEFFC}"/>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8" name="">
            <a:extLst xmlns:a="http://schemas.openxmlformats.org/drawingml/2006/main">
              <a:ext uri="{FF2B5EF4-FFF2-40B4-BE49-F238E27FC236}">
                <a16:creationId xmlns:a16="http://schemas.microsoft.com/office/drawing/2014/main" id="{C5FBCC73-07B9-4F88-A296-16A6E972B6D6}"/>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611E5A03-6A33-4967-A8AE-54CC64D9F7F9}"/>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14</a:t>
            </a:r>
          </a:p>
        </p:txBody>
      </p:sp>
    </p:spTree>
    <p:extLst>
      <p:ext uri="{BB962C8B-B14F-4D97-AF65-F5344CB8AC3E}">
        <p14:creationId xmlns:p14="http://schemas.microsoft.com/office/powerpoint/2010/main" val="1121363717"/>
      </p:ext>
    </p:extLst>
  </p:cSld>
</p:sld>
</file>

<file path=ppt/slides/slide1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41d759e7c7204d0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0BA867-013A-47B7-83E1-7FFDCCFBB2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AAD848BC-E474-4EB5-A591-7E84D0E314D6}"/>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2C9CF302-9514-494C-BC10-BB085243F1AD}"/>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65532267-B893-4B7B-BE8D-28A9953AFE5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AD7A579C-7B30-4BA6-9CDA-088C6AB41FD7}"/>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0ABE6268-D02A-4ECB-839A-79F8E48C90B0}"/>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79A7F626-0836-4453-BBD3-A0371524CB1C}"/>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4066D9E2-A945-48EA-9359-D9EF7F0C3719}"/>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9B8DD7C7-58B4-4B50-BBB8-B3A7F2617D76}"/>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3D9FBB50-0AF5-4F49-BEB0-ED7B374594F8}"/>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A13FB4F9-FFD6-4589-855A-405F4F3A074A}"/>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7FAC41BB-9CF2-4D4F-AB56-BAEB7582A808}"/>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02B1C969-DD4B-4B01-96D4-39D17E9086BE}"/>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算法二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气体检测报告双组匹配与引用事实</a:t>
            </a:r>
          </a:p>
        </p:txBody>
      </p:sp>
      <p:sp>
        <p:nvSpPr>
          <p:cNvPr id="15" name="">
            <a:extLst xmlns:a="http://schemas.openxmlformats.org/drawingml/2006/main">
              <a:ext uri="{FF2B5EF4-FFF2-40B4-BE49-F238E27FC236}">
                <a16:creationId xmlns:a16="http://schemas.microsoft.com/office/drawing/2014/main" id="{03DC3E97-A28C-47B2-B6B6-E64DA68A150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0F47483B-F63B-45BF-A5FE-D1945A683B55}"/>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F6FA6D36-E12F-4260-8645-0E4395CA6E50}"/>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85F26ECB-5213-4290-AB7D-EC0C8F51FAA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AEBAB2FC-A85D-4585-9A76-1010085E2B93}"/>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用「双组匹配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引用事实」把规则条数从「气体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档位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现象」压到 </a:t>
            </a:r>
            <a:r>
              <a:rPr sz="1238">
                <a:solidFill>
                  <a:srgbClr val="FFFFFF"/>
                </a:solidFill>
                <a:latin typeface="微软雅黑"/>
                <a:ea typeface="微软雅黑"/>
                <a:cs typeface="微软雅黑"/>
              </a:rPr>
              <a:t>12 </a:t>
            </a:r>
            <a:r>
              <a:rPr sz="1238">
                <a:solidFill>
                  <a:srgbClr val="FFFFFF"/>
                </a:solidFill>
                <a:latin typeface="微软雅黑"/>
                <a:ea typeface="微软雅黑"/>
                <a:cs typeface="微软雅黑"/>
              </a:rPr>
              <a:t>条，且两组互不阻断。</a:t>
            </a:r>
          </a:p>
        </p:txBody>
      </p:sp>
      <p:sp>
        <p:nvSpPr>
          <p:cNvPr id="20" name="">
            <a:extLst xmlns:a="http://schemas.openxmlformats.org/drawingml/2006/main">
              <a:ext uri="{FF2B5EF4-FFF2-40B4-BE49-F238E27FC236}">
                <a16:creationId xmlns:a16="http://schemas.microsoft.com/office/drawing/2014/main" id="{97390CD5-73CB-48C0-90B1-824462CDCB1D}"/>
              </a:ext>
            </a:extLst>
          </p:cNvPr>
          <p:cNvSpPr>
            <a:spLocks xmlns:a="http://schemas.openxmlformats.org/drawingml/2006/main" noGrp="1"/>
          </p:cNvSpPr>
          <p:nvPr/>
        </p:nvSpPr>
        <p:spPr>
          <a:xfrm xmlns:a="http://schemas.openxmlformats.org/drawingml/2006/main">
            <a:off x="285750" y="1333500"/>
            <a:ext cx="3771900" cy="2381250"/>
          </a:xfrm>
          <a:prstGeom xmlns:a="http://schemas.openxmlformats.org/drawingml/2006/main" prst="roundRect">
            <a:avLst>
              <a:gd name="adj" fmla="val 36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3AED957F-D25B-46CA-9FB7-905C092B572D}"/>
              </a:ext>
            </a:extLst>
          </p:cNvPr>
          <p:cNvSpPr>
            <a:spLocks xmlns:a="http://schemas.openxmlformats.org/drawingml/2006/main" noGrp="1"/>
          </p:cNvSpPr>
          <p:nvPr/>
        </p:nvSpPr>
        <p:spPr>
          <a:xfrm xmlns:a="http://schemas.openxmlformats.org/drawingml/2006/main">
            <a:off x="457200" y="14478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输入：一份真实填报的报告</a:t>
            </a:r>
          </a:p>
        </p:txBody>
      </p:sp>
      <p:sp>
        <p:nvSpPr>
          <p:cNvPr id="22" name="">
            <a:extLst xmlns:a="http://schemas.openxmlformats.org/drawingml/2006/main">
              <a:ext uri="{FF2B5EF4-FFF2-40B4-BE49-F238E27FC236}">
                <a16:creationId xmlns:a16="http://schemas.microsoft.com/office/drawing/2014/main" id="{85CEE20A-62EF-4C64-9D05-2D4E25CDE896}"/>
              </a:ext>
            </a:extLst>
          </p:cNvPr>
          <p:cNvSpPr>
            <a:spLocks xmlns:a="http://schemas.openxmlformats.org/drawingml/2006/main" noGrp="1"/>
          </p:cNvSpPr>
          <p:nvPr/>
        </p:nvSpPr>
        <p:spPr>
          <a:xfrm xmlns:a="http://schemas.openxmlformats.org/drawingml/2006/main">
            <a:off x="457200" y="1733550"/>
            <a:ext cx="3448050" cy="1866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报告编号　</a:t>
            </a:r>
            <a:r>
              <a:rPr sz="938">
                <a:solidFill>
                  <a:srgbClr val="EEF5FF"/>
                </a:solidFill>
                <a:latin typeface="微软雅黑"/>
                <a:ea typeface="微软雅黑"/>
                <a:cs typeface="微软雅黑"/>
              </a:rPr>
              <a:t>RPT-20260919-0003</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检测地点　</a:t>
            </a:r>
            <a:r>
              <a:rPr sz="938">
                <a:solidFill>
                  <a:srgbClr val="EEF5FF"/>
                </a:solidFill>
                <a:latin typeface="微软雅黑"/>
                <a:ea typeface="微软雅黑"/>
                <a:cs typeface="微软雅黑"/>
              </a:rPr>
              <a:t>110kV </a:t>
            </a:r>
            <a:r>
              <a:rPr sz="938">
                <a:solidFill>
                  <a:srgbClr val="EEF5FF"/>
                </a:solidFill>
                <a:latin typeface="微软雅黑"/>
                <a:ea typeface="微软雅黑"/>
                <a:cs typeface="微软雅黑"/>
              </a:rPr>
              <a:t>城北变电所电缆沟 </a:t>
            </a:r>
            <a:r>
              <a:rPr sz="938">
                <a:solidFill>
                  <a:srgbClr val="EEF5FF"/>
                </a:solidFill>
                <a:latin typeface="微软雅黑"/>
                <a:ea typeface="微软雅黑"/>
                <a:cs typeface="微软雅黑"/>
              </a:rPr>
              <a:t>A </a:t>
            </a:r>
            <a:r>
              <a:rPr sz="938">
                <a:solidFill>
                  <a:srgbClr val="EEF5FF"/>
                </a:solidFill>
                <a:latin typeface="微软雅黑"/>
                <a:ea typeface="微软雅黑"/>
                <a:cs typeface="微软雅黑"/>
              </a:rPr>
              <a:t>段 </a:t>
            </a: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检查井</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气体类型　</a:t>
            </a:r>
            <a:r>
              <a:rPr sz="938">
                <a:solidFill>
                  <a:srgbClr val="EEF5FF"/>
                </a:solidFill>
                <a:latin typeface="微软雅黑"/>
                <a:ea typeface="微软雅黑"/>
                <a:cs typeface="微软雅黑"/>
              </a:rPr>
              <a:t>氧气 </a:t>
            </a:r>
            <a:r>
              <a:rPr sz="938">
                <a:solidFill>
                  <a:srgbClr val="EEF5FF"/>
                </a:solidFill>
                <a:latin typeface="微软雅黑"/>
                <a:ea typeface="微软雅黑"/>
                <a:cs typeface="微软雅黑"/>
              </a:rPr>
              <a:t>O2</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检测值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阈值　</a:t>
            </a:r>
            <a:r>
              <a:rPr sz="938" b="1">
                <a:solidFill>
                  <a:srgbClr val="EEF5FF"/>
                </a:solidFill>
                <a:latin typeface="微软雅黑"/>
                <a:ea typeface="微软雅黑"/>
                <a:cs typeface="微软雅黑"/>
              </a:rPr>
              <a:t>18.2 %VOL / 19.5 %VOL</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异常现象　</a:t>
            </a:r>
            <a:r>
              <a:rPr sz="938">
                <a:solidFill>
                  <a:srgbClr val="EEF5FF"/>
                </a:solidFill>
                <a:latin typeface="微软雅黑"/>
                <a:ea typeface="微软雅黑"/>
                <a:cs typeface="微软雅黑"/>
              </a:rPr>
              <a:t>作业人员出现头晕、胸闷不适，已撤出并通风</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SOP </a:t>
            </a:r>
            <a:r>
              <a:rPr sz="938">
                <a:solidFill>
                  <a:srgbClr val="EEF5FF"/>
                </a:solidFill>
                <a:latin typeface="微软雅黑"/>
                <a:ea typeface="微软雅黑"/>
                <a:cs typeface="微软雅黑"/>
              </a:rPr>
              <a:t>执行　</a:t>
            </a:r>
            <a:r>
              <a:rPr sz="938" b="1">
                <a:solidFill>
                  <a:srgbClr val="EEF5FF"/>
                </a:solidFill>
                <a:latin typeface="微软雅黑"/>
                <a:ea typeface="微软雅黑"/>
                <a:cs typeface="微软雅黑"/>
              </a:rPr>
              <a:t>未按 </a:t>
            </a:r>
            <a:r>
              <a:rPr sz="938" b="1">
                <a:solidFill>
                  <a:srgbClr val="EEF5FF"/>
                </a:solidFill>
                <a:latin typeface="微软雅黑"/>
                <a:ea typeface="微软雅黑"/>
                <a:cs typeface="微软雅黑"/>
              </a:rPr>
              <a:t>SOP </a:t>
            </a:r>
            <a:r>
              <a:rPr sz="938" b="1">
                <a:solidFill>
                  <a:srgbClr val="EEF5FF"/>
                </a:solidFill>
                <a:latin typeface="微软雅黑"/>
                <a:ea typeface="微软雅黑"/>
                <a:cs typeface="微软雅黑"/>
              </a:rPr>
              <a:t>执行</a:t>
            </a:r>
          </a:p>
        </p:txBody>
      </p:sp>
      <p:sp>
        <p:nvSpPr>
          <p:cNvPr id="23" name="">
            <a:extLst xmlns:a="http://schemas.openxmlformats.org/drawingml/2006/main">
              <a:ext uri="{FF2B5EF4-FFF2-40B4-BE49-F238E27FC236}">
                <a16:creationId xmlns:a16="http://schemas.microsoft.com/office/drawing/2014/main" id="{53EA597F-7D7A-4101-BE3C-F0535930A19F}"/>
              </a:ext>
            </a:extLst>
          </p:cNvPr>
          <p:cNvSpPr>
            <a:spLocks xmlns:a="http://schemas.openxmlformats.org/drawingml/2006/main" noGrp="1"/>
          </p:cNvSpPr>
          <p:nvPr/>
        </p:nvSpPr>
        <p:spPr>
          <a:xfrm xmlns:a="http://schemas.openxmlformats.org/drawingml/2006/main">
            <a:off x="285750" y="3848100"/>
            <a:ext cx="3771900" cy="2400300"/>
          </a:xfrm>
          <a:prstGeom xmlns:a="http://schemas.openxmlformats.org/drawingml/2006/main" prst="roundRect">
            <a:avLst>
              <a:gd name="adj" fmla="val 357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A3716BC5-56A8-49A0-AA26-4F8901A9F34D}"/>
              </a:ext>
            </a:extLst>
          </p:cNvPr>
          <p:cNvSpPr>
            <a:spLocks xmlns:a="http://schemas.openxmlformats.org/drawingml/2006/main" noGrp="1"/>
          </p:cNvSpPr>
          <p:nvPr/>
        </p:nvSpPr>
        <p:spPr>
          <a:xfrm xmlns:a="http://schemas.openxmlformats.org/drawingml/2006/main">
            <a:off x="457200" y="39624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设计要点：为什么只写一条</a:t>
            </a:r>
          </a:p>
        </p:txBody>
      </p:sp>
      <p:sp>
        <p:nvSpPr>
          <p:cNvPr id="25" name="">
            <a:extLst xmlns:a="http://schemas.openxmlformats.org/drawingml/2006/main">
              <a:ext uri="{FF2B5EF4-FFF2-40B4-BE49-F238E27FC236}">
                <a16:creationId xmlns:a16="http://schemas.microsoft.com/office/drawing/2014/main" id="{5AC983EC-57E5-4FD3-A4B9-C27BBABC6C44}"/>
              </a:ext>
            </a:extLst>
          </p:cNvPr>
          <p:cNvSpPr>
            <a:spLocks xmlns:a="http://schemas.openxmlformats.org/drawingml/2006/main" noGrp="1"/>
          </p:cNvSpPr>
          <p:nvPr/>
        </p:nvSpPr>
        <p:spPr>
          <a:xfrm xmlns:a="http://schemas.openxmlformats.org/drawingml/2006/main">
            <a:off x="457200" y="4248150"/>
            <a:ext cx="3448050" cy="1905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问题　</a:t>
            </a:r>
            <a:r>
              <a:rPr sz="938">
                <a:solidFill>
                  <a:srgbClr val="EEF5FF"/>
                </a:solidFill>
                <a:latin typeface="微软雅黑"/>
                <a:ea typeface="微软雅黑"/>
                <a:cs typeface="微软雅黑"/>
              </a:rPr>
              <a:t>每种气体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每个档位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每条现象都写规则，规则库会迅速膨胀。</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做法一　</a:t>
            </a:r>
            <a:r>
              <a:rPr sz="938">
                <a:solidFill>
                  <a:srgbClr val="EEF5FF"/>
                </a:solidFill>
                <a:latin typeface="微软雅黑"/>
                <a:ea typeface="微软雅黑"/>
                <a:cs typeface="微软雅黑"/>
              </a:rPr>
              <a:t>VALUE </a:t>
            </a:r>
            <a:r>
              <a:rPr sz="938">
                <a:solidFill>
                  <a:srgbClr val="EEF5FF"/>
                </a:solidFill>
                <a:latin typeface="微软雅黑"/>
                <a:ea typeface="微软雅黑"/>
                <a:cs typeface="微软雅黑"/>
              </a:rPr>
              <a:t>组只判「超没超、余量多少」，一套规则服务全部 </a:t>
            </a: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类气体。</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做法二　</a:t>
            </a:r>
            <a:r>
              <a:rPr sz="938">
                <a:solidFill>
                  <a:srgbClr val="EEF5FF"/>
                </a:solidFill>
                <a:latin typeface="微软雅黑"/>
                <a:ea typeface="微软雅黑"/>
                <a:cs typeface="微软雅黑"/>
              </a:rPr>
              <a:t>KEYWORD </a:t>
            </a:r>
            <a:r>
              <a:rPr sz="938">
                <a:solidFill>
                  <a:srgbClr val="EEF5FF"/>
                </a:solidFill>
                <a:latin typeface="微软雅黑"/>
                <a:ea typeface="微软雅黑"/>
                <a:cs typeface="微软雅黑"/>
              </a:rPr>
              <a:t>组只判现象文本，</a:t>
            </a:r>
            <a:r>
              <a:rPr sz="938">
                <a:solidFill>
                  <a:srgbClr val="EEF5FF"/>
                </a:solidFill>
                <a:latin typeface="微软雅黑"/>
                <a:ea typeface="微软雅黑"/>
                <a:cs typeface="微软雅黑"/>
              </a:rPr>
              <a:t>7 </a:t>
            </a:r>
            <a:r>
              <a:rPr sz="938">
                <a:solidFill>
                  <a:srgbClr val="EEF5FF"/>
                </a:solidFill>
                <a:latin typeface="微软雅黑"/>
                <a:ea typeface="微软雅黑"/>
                <a:cs typeface="微软雅黑"/>
              </a:rPr>
              <a:t>条规则覆盖 </a:t>
            </a:r>
            <a:r>
              <a:rPr sz="938">
                <a:solidFill>
                  <a:srgbClr val="EEF5FF"/>
                </a:solidFill>
                <a:latin typeface="微软雅黑"/>
                <a:ea typeface="微软雅黑"/>
                <a:cs typeface="微软雅黑"/>
              </a:rPr>
              <a:t>7 </a:t>
            </a:r>
            <a:r>
              <a:rPr sz="938">
                <a:solidFill>
                  <a:srgbClr val="EEF5FF"/>
                </a:solidFill>
                <a:latin typeface="微软雅黑"/>
                <a:ea typeface="微软雅黑"/>
                <a:cs typeface="微软雅黑"/>
              </a:rPr>
              <a:t>类典型缺陷。</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做法三　</a:t>
            </a:r>
            <a:r>
              <a:rPr sz="938">
                <a:solidFill>
                  <a:srgbClr val="EEF5FF"/>
                </a:solidFill>
                <a:latin typeface="微软雅黑"/>
                <a:ea typeface="微软雅黑"/>
                <a:cs typeface="微软雅黑"/>
              </a:rPr>
              <a:t>action_json </a:t>
            </a:r>
            <a:r>
              <a:rPr sz="938">
                <a:solidFill>
                  <a:srgbClr val="EEF5FF"/>
                </a:solidFill>
                <a:latin typeface="微软雅黑"/>
                <a:ea typeface="微软雅黑"/>
                <a:cs typeface="微软雅黑"/>
              </a:rPr>
              <a:t>用 </a:t>
            </a:r>
            <a:r>
              <a:rPr sz="938">
                <a:solidFill>
                  <a:srgbClr val="EEF5FF"/>
                </a:solidFill>
                <a:latin typeface="微软雅黑"/>
                <a:ea typeface="微软雅黑"/>
                <a:cs typeface="微软雅黑"/>
              </a:rPr>
              <a:t>*_from </a:t>
            </a:r>
            <a:r>
              <a:rPr sz="938">
                <a:solidFill>
                  <a:srgbClr val="EEF5FF"/>
                </a:solidFill>
                <a:latin typeface="微软雅黑"/>
                <a:ea typeface="微软雅黑"/>
                <a:cs typeface="微软雅黑"/>
              </a:rPr>
              <a:t>引用事实（如 </a:t>
            </a:r>
            <a:r>
              <a:rPr sz="938">
                <a:solidFill>
                  <a:srgbClr val="EEF5FF"/>
                </a:solidFill>
                <a:latin typeface="微软雅黑"/>
                <a:ea typeface="微软雅黑"/>
                <a:cs typeface="微软雅黑"/>
              </a:rPr>
              <a:t>cause_from=gas_attribution</a:t>
            </a:r>
            <a:r>
              <a:rPr sz="938">
                <a:solidFill>
                  <a:srgbClr val="EEF5FF"/>
                </a:solidFill>
                <a:latin typeface="微软雅黑"/>
                <a:ea typeface="微软雅黑"/>
                <a:cs typeface="微软雅黑"/>
              </a:rPr>
              <a:t>），输出时替换为当前值。</a:t>
            </a:r>
          </a:p>
        </p:txBody>
      </p:sp>
      <p:sp>
        <p:nvSpPr>
          <p:cNvPr id="26" name="">
            <a:extLst xmlns:a="http://schemas.openxmlformats.org/drawingml/2006/main">
              <a:ext uri="{FF2B5EF4-FFF2-40B4-BE49-F238E27FC236}">
                <a16:creationId xmlns:a16="http://schemas.microsoft.com/office/drawing/2014/main" id="{BD48BA8D-75A3-49F7-AF32-AAD7C3111BCC}"/>
              </a:ext>
            </a:extLst>
          </p:cNvPr>
          <p:cNvSpPr>
            <a:spLocks xmlns:a="http://schemas.openxmlformats.org/drawingml/2006/main" noGrp="1"/>
          </p:cNvSpPr>
          <p:nvPr/>
        </p:nvSpPr>
        <p:spPr>
          <a:xfrm xmlns:a="http://schemas.openxmlformats.org/drawingml/2006/main">
            <a:off x="4286250" y="1333500"/>
            <a:ext cx="3810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双组匹配结果</a:t>
            </a:r>
          </a:p>
        </p:txBody>
      </p:sp>
      <p:sp>
        <p:nvSpPr>
          <p:cNvPr id="27" name="">
            <a:extLst xmlns:a="http://schemas.openxmlformats.org/drawingml/2006/main">
              <a:ext uri="{FF2B5EF4-FFF2-40B4-BE49-F238E27FC236}">
                <a16:creationId xmlns:a16="http://schemas.microsoft.com/office/drawing/2014/main" id="{D4CBB0F2-1D8D-4134-961C-1793963A15CC}"/>
              </a:ext>
            </a:extLst>
          </p:cNvPr>
          <p:cNvSpPr>
            <a:spLocks xmlns:a="http://schemas.openxmlformats.org/drawingml/2006/main" noGrp="1"/>
          </p:cNvSpPr>
          <p:nvPr/>
        </p:nvSpPr>
        <p:spPr>
          <a:xfrm xmlns:a="http://schemas.openxmlformats.org/drawingml/2006/main">
            <a:off x="4286250" y="1619250"/>
            <a:ext cx="3676650" cy="1485900"/>
          </a:xfrm>
          <a:prstGeom xmlns:a="http://schemas.openxmlformats.org/drawingml/2006/main" prst="roundRect">
            <a:avLst>
              <a:gd name="adj" fmla="val 576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solidFill>
            <a:prstDash val="solid"/>
          </a:ln>
        </p:spPr>
      </p:sp>
      <p:sp>
        <p:nvSpPr>
          <p:cNvPr id="28" name="">
            <a:extLst xmlns:a="http://schemas.openxmlformats.org/drawingml/2006/main">
              <a:ext uri="{FF2B5EF4-FFF2-40B4-BE49-F238E27FC236}">
                <a16:creationId xmlns:a16="http://schemas.microsoft.com/office/drawing/2014/main" id="{4D5E3E3D-E04F-49EC-974D-D1EE51BF4E2C}"/>
              </a:ext>
            </a:extLst>
          </p:cNvPr>
          <p:cNvSpPr>
            <a:spLocks xmlns:a="http://schemas.openxmlformats.org/drawingml/2006/main" noGrp="1"/>
          </p:cNvSpPr>
          <p:nvPr/>
        </p:nvSpPr>
        <p:spPr>
          <a:xfrm xmlns:a="http://schemas.openxmlformats.org/drawingml/2006/main">
            <a:off x="4286250" y="1619250"/>
            <a:ext cx="3676650" cy="381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920BE945-1C54-41EF-99DA-DD2EC6D7AE64}"/>
              </a:ext>
            </a:extLst>
          </p:cNvPr>
          <p:cNvSpPr>
            <a:spLocks xmlns:a="http://schemas.openxmlformats.org/drawingml/2006/main" noGrp="1"/>
          </p:cNvSpPr>
          <p:nvPr/>
        </p:nvSpPr>
        <p:spPr>
          <a:xfrm xmlns:a="http://schemas.openxmlformats.org/drawingml/2006/main">
            <a:off x="4438650" y="17526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2E86E0"/>
                </a:solidFill>
                <a:latin typeface="微软雅黑"/>
                <a:ea typeface="微软雅黑"/>
                <a:cs typeface="微软雅黑"/>
              </a:defRPr>
            </a:pPr>
            <a:r>
              <a:rPr sz="1050" b="1">
                <a:solidFill>
                  <a:srgbClr val="2E86E0"/>
                </a:solidFill>
                <a:latin typeface="微软雅黑"/>
                <a:ea typeface="微软雅黑"/>
                <a:cs typeface="微软雅黑"/>
              </a:rPr>
              <a:t>VALUE </a:t>
            </a:r>
            <a:r>
              <a:rPr sz="1050" b="1">
                <a:solidFill>
                  <a:srgbClr val="2E86E0"/>
                </a:solidFill>
                <a:latin typeface="微软雅黑"/>
                <a:ea typeface="微软雅黑"/>
                <a:cs typeface="微软雅黑"/>
              </a:rPr>
              <a:t>组 </a:t>
            </a:r>
            <a:r>
              <a:rPr sz="1050" b="1">
                <a:solidFill>
                  <a:srgbClr val="2E86E0"/>
                </a:solidFill>
                <a:latin typeface="微软雅黑"/>
                <a:ea typeface="微软雅黑"/>
                <a:cs typeface="微软雅黑"/>
              </a:rPr>
              <a:t>· </a:t>
            </a:r>
            <a:r>
              <a:rPr sz="1050" b="1">
                <a:solidFill>
                  <a:srgbClr val="2E86E0"/>
                </a:solidFill>
                <a:latin typeface="微软雅黑"/>
                <a:ea typeface="微软雅黑"/>
                <a:cs typeface="微软雅黑"/>
              </a:rPr>
              <a:t>定档</a:t>
            </a:r>
          </a:p>
        </p:txBody>
      </p:sp>
      <p:sp>
        <p:nvSpPr>
          <p:cNvPr id="30" name="">
            <a:extLst xmlns:a="http://schemas.openxmlformats.org/drawingml/2006/main">
              <a:ext uri="{FF2B5EF4-FFF2-40B4-BE49-F238E27FC236}">
                <a16:creationId xmlns:a16="http://schemas.microsoft.com/office/drawing/2014/main" id="{9539F93A-C4AE-4DC1-9CE0-9BFEF4687E84}"/>
              </a:ext>
            </a:extLst>
          </p:cNvPr>
          <p:cNvSpPr>
            <a:spLocks xmlns:a="http://schemas.openxmlformats.org/drawingml/2006/main" noGrp="1"/>
          </p:cNvSpPr>
          <p:nvPr/>
        </p:nvSpPr>
        <p:spPr>
          <a:xfrm xmlns:a="http://schemas.openxmlformats.org/drawingml/2006/main">
            <a:off x="4438650" y="20193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命中规则</a:t>
            </a:r>
          </a:p>
        </p:txBody>
      </p:sp>
      <p:sp>
        <p:nvSpPr>
          <p:cNvPr id="31" name="">
            <a:extLst xmlns:a="http://schemas.openxmlformats.org/drawingml/2006/main">
              <a:ext uri="{FF2B5EF4-FFF2-40B4-BE49-F238E27FC236}">
                <a16:creationId xmlns:a16="http://schemas.microsoft.com/office/drawing/2014/main" id="{2D820D21-ECD4-4AED-AFB0-1EFF2E20D55D}"/>
              </a:ext>
            </a:extLst>
          </p:cNvPr>
          <p:cNvSpPr>
            <a:spLocks xmlns:a="http://schemas.openxmlformats.org/drawingml/2006/main" noGrp="1"/>
          </p:cNvSpPr>
          <p:nvPr/>
        </p:nvSpPr>
        <p:spPr>
          <a:xfrm xmlns:a="http://schemas.openxmlformats.org/drawingml/2006/main">
            <a:off x="5124450" y="20193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REPORT_GAS_OVER_MARGIN_MID</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140</a:t>
            </a:r>
            <a:r>
              <a:rPr sz="825" b="0">
                <a:solidFill>
                  <a:srgbClr val="FFFFFF"/>
                </a:solidFill>
                <a:latin typeface="Bahnschrift"/>
                <a:ea typeface="Bahnschrift"/>
                <a:cs typeface="Bahnschrift"/>
              </a:rPr>
              <a:t>）</a:t>
            </a:r>
          </a:p>
        </p:txBody>
      </p:sp>
      <p:sp>
        <p:nvSpPr>
          <p:cNvPr id="32" name="">
            <a:extLst xmlns:a="http://schemas.openxmlformats.org/drawingml/2006/main">
              <a:ext uri="{FF2B5EF4-FFF2-40B4-BE49-F238E27FC236}">
                <a16:creationId xmlns:a16="http://schemas.microsoft.com/office/drawing/2014/main" id="{306DA9BE-3B1F-435C-A9B3-76F98D778464}"/>
              </a:ext>
            </a:extLst>
          </p:cNvPr>
          <p:cNvSpPr>
            <a:spLocks xmlns:a="http://schemas.openxmlformats.org/drawingml/2006/main" noGrp="1"/>
          </p:cNvSpPr>
          <p:nvPr/>
        </p:nvSpPr>
        <p:spPr>
          <a:xfrm xmlns:a="http://schemas.openxmlformats.org/drawingml/2006/main">
            <a:off x="4438650" y="23622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判定依据</a:t>
            </a:r>
          </a:p>
        </p:txBody>
      </p:sp>
      <p:sp>
        <p:nvSpPr>
          <p:cNvPr id="33" name="">
            <a:extLst xmlns:a="http://schemas.openxmlformats.org/drawingml/2006/main">
              <a:ext uri="{FF2B5EF4-FFF2-40B4-BE49-F238E27FC236}">
                <a16:creationId xmlns:a16="http://schemas.microsoft.com/office/drawing/2014/main" id="{E28EA309-0AF5-4F3F-9C8D-538AA44B7A3D}"/>
              </a:ext>
            </a:extLst>
          </p:cNvPr>
          <p:cNvSpPr>
            <a:spLocks xmlns:a="http://schemas.openxmlformats.org/drawingml/2006/main" noGrp="1"/>
          </p:cNvSpPr>
          <p:nvPr/>
        </p:nvSpPr>
        <p:spPr>
          <a:xfrm xmlns:a="http://schemas.openxmlformats.org/drawingml/2006/main">
            <a:off x="5124450" y="23622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over_threshold = true → is_true</a:t>
            </a:r>
            <a:r>
              <a:rPr sz="825" b="0">
                <a:solidFill>
                  <a:srgbClr val="FFFFFF"/>
                </a:solidFill>
                <a:latin typeface="微软雅黑"/>
                <a:ea typeface="微软雅黑"/>
                <a:cs typeface="微软雅黑"/>
              </a:rPr>
              <a:t>；</a:t>
            </a:r>
            <a:r>
              <a:rPr sz="825" b="0">
                <a:solidFill>
                  <a:srgbClr val="FFFFFF"/>
                </a:solidFill>
                <a:latin typeface="微软雅黑"/>
                <a:ea typeface="微软雅黑"/>
                <a:cs typeface="微软雅黑"/>
              </a:rPr>
              <a:t>ratio = 0.0667 → gte 0.05</a:t>
            </a:r>
          </a:p>
        </p:txBody>
      </p:sp>
      <p:sp>
        <p:nvSpPr>
          <p:cNvPr id="34" name="">
            <a:extLst xmlns:a="http://schemas.openxmlformats.org/drawingml/2006/main">
              <a:ext uri="{FF2B5EF4-FFF2-40B4-BE49-F238E27FC236}">
                <a16:creationId xmlns:a16="http://schemas.microsoft.com/office/drawing/2014/main" id="{CF957C30-695F-4D38-900A-E1AC97A81E19}"/>
              </a:ext>
            </a:extLst>
          </p:cNvPr>
          <p:cNvSpPr>
            <a:spLocks xmlns:a="http://schemas.openxmlformats.org/drawingml/2006/main" noGrp="1"/>
          </p:cNvSpPr>
          <p:nvPr/>
        </p:nvSpPr>
        <p:spPr>
          <a:xfrm xmlns:a="http://schemas.openxmlformats.org/drawingml/2006/main">
            <a:off x="4438650" y="27051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命中条数</a:t>
            </a:r>
          </a:p>
        </p:txBody>
      </p:sp>
      <p:sp>
        <p:nvSpPr>
          <p:cNvPr id="35" name="">
            <a:extLst xmlns:a="http://schemas.openxmlformats.org/drawingml/2006/main">
              <a:ext uri="{FF2B5EF4-FFF2-40B4-BE49-F238E27FC236}">
                <a16:creationId xmlns:a16="http://schemas.microsoft.com/office/drawing/2014/main" id="{E0173064-109B-4A4F-9FCE-90344512D13F}"/>
              </a:ext>
            </a:extLst>
          </p:cNvPr>
          <p:cNvSpPr>
            <a:spLocks xmlns:a="http://schemas.openxmlformats.org/drawingml/2006/main" noGrp="1"/>
          </p:cNvSpPr>
          <p:nvPr/>
        </p:nvSpPr>
        <p:spPr>
          <a:xfrm xmlns:a="http://schemas.openxmlformats.org/drawingml/2006/main">
            <a:off x="5124450" y="27051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p>
        </p:txBody>
      </p:sp>
      <p:sp>
        <p:nvSpPr>
          <p:cNvPr id="36" name="">
            <a:extLst xmlns:a="http://schemas.openxmlformats.org/drawingml/2006/main">
              <a:ext uri="{FF2B5EF4-FFF2-40B4-BE49-F238E27FC236}">
                <a16:creationId xmlns:a16="http://schemas.microsoft.com/office/drawing/2014/main" id="{8A9B5B8B-62D9-43D5-9667-1A9366501AB3}"/>
              </a:ext>
            </a:extLst>
          </p:cNvPr>
          <p:cNvSpPr>
            <a:spLocks xmlns:a="http://schemas.openxmlformats.org/drawingml/2006/main" noGrp="1"/>
          </p:cNvSpPr>
          <p:nvPr/>
        </p:nvSpPr>
        <p:spPr>
          <a:xfrm xmlns:a="http://schemas.openxmlformats.org/drawingml/2006/main">
            <a:off x="4286250" y="3181350"/>
            <a:ext cx="3676650" cy="1485900"/>
          </a:xfrm>
          <a:prstGeom xmlns:a="http://schemas.openxmlformats.org/drawingml/2006/main" prst="roundRect">
            <a:avLst>
              <a:gd name="adj" fmla="val 576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solidFill>
            <a:prstDash val="solid"/>
          </a:ln>
        </p:spPr>
      </p:sp>
      <p:sp>
        <p:nvSpPr>
          <p:cNvPr id="37" name="">
            <a:extLst xmlns:a="http://schemas.openxmlformats.org/drawingml/2006/main">
              <a:ext uri="{FF2B5EF4-FFF2-40B4-BE49-F238E27FC236}">
                <a16:creationId xmlns:a16="http://schemas.microsoft.com/office/drawing/2014/main" id="{38165F37-84B0-4E0B-B27B-2232EF1E7761}"/>
              </a:ext>
            </a:extLst>
          </p:cNvPr>
          <p:cNvSpPr>
            <a:spLocks xmlns:a="http://schemas.openxmlformats.org/drawingml/2006/main" noGrp="1"/>
          </p:cNvSpPr>
          <p:nvPr/>
        </p:nvSpPr>
        <p:spPr>
          <a:xfrm xmlns:a="http://schemas.openxmlformats.org/drawingml/2006/main">
            <a:off x="4286250" y="3181350"/>
            <a:ext cx="3676650" cy="3810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8ADD6400-33FE-48DA-AF30-EA9F4C3B998E}"/>
              </a:ext>
            </a:extLst>
          </p:cNvPr>
          <p:cNvSpPr>
            <a:spLocks xmlns:a="http://schemas.openxmlformats.org/drawingml/2006/main" noGrp="1"/>
          </p:cNvSpPr>
          <p:nvPr/>
        </p:nvSpPr>
        <p:spPr>
          <a:xfrm xmlns:a="http://schemas.openxmlformats.org/drawingml/2006/main">
            <a:off x="4438650" y="3314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KEYWORD </a:t>
            </a:r>
            <a:r>
              <a:rPr sz="1050" b="1">
                <a:solidFill>
                  <a:srgbClr val="4FD8FF"/>
                </a:solidFill>
                <a:latin typeface="微软雅黑"/>
                <a:ea typeface="微软雅黑"/>
                <a:cs typeface="微软雅黑"/>
              </a:rPr>
              <a:t>组 </a:t>
            </a:r>
            <a:r>
              <a:rPr sz="1050" b="1">
                <a:solidFill>
                  <a:srgbClr val="4FD8FF"/>
                </a:solidFill>
                <a:latin typeface="微软雅黑"/>
                <a:ea typeface="微软雅黑"/>
                <a:cs typeface="微软雅黑"/>
              </a:rPr>
              <a:t>· </a:t>
            </a:r>
            <a:r>
              <a:rPr sz="1050" b="1">
                <a:solidFill>
                  <a:srgbClr val="4FD8FF"/>
                </a:solidFill>
                <a:latin typeface="微软雅黑"/>
                <a:ea typeface="微软雅黑"/>
                <a:cs typeface="微软雅黑"/>
              </a:rPr>
              <a:t>补充</a:t>
            </a:r>
          </a:p>
        </p:txBody>
      </p:sp>
      <p:sp>
        <p:nvSpPr>
          <p:cNvPr id="39" name="">
            <a:extLst xmlns:a="http://schemas.openxmlformats.org/drawingml/2006/main">
              <a:ext uri="{FF2B5EF4-FFF2-40B4-BE49-F238E27FC236}">
                <a16:creationId xmlns:a16="http://schemas.microsoft.com/office/drawing/2014/main" id="{6F3CA0CF-7733-4190-AF9E-D64ADB7CE652}"/>
              </a:ext>
            </a:extLst>
          </p:cNvPr>
          <p:cNvSpPr>
            <a:spLocks xmlns:a="http://schemas.openxmlformats.org/drawingml/2006/main" noGrp="1"/>
          </p:cNvSpPr>
          <p:nvPr/>
        </p:nvSpPr>
        <p:spPr>
          <a:xfrm xmlns:a="http://schemas.openxmlformats.org/drawingml/2006/main">
            <a:off x="4438650" y="35814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命中规则</a:t>
            </a:r>
          </a:p>
        </p:txBody>
      </p:sp>
      <p:sp>
        <p:nvSpPr>
          <p:cNvPr id="40" name="">
            <a:extLst xmlns:a="http://schemas.openxmlformats.org/drawingml/2006/main">
              <a:ext uri="{FF2B5EF4-FFF2-40B4-BE49-F238E27FC236}">
                <a16:creationId xmlns:a16="http://schemas.microsoft.com/office/drawing/2014/main" id="{B3A6A51F-F0B5-4F43-A9ED-AF9A1197D194}"/>
              </a:ext>
            </a:extLst>
          </p:cNvPr>
          <p:cNvSpPr>
            <a:spLocks xmlns:a="http://schemas.openxmlformats.org/drawingml/2006/main" noGrp="1"/>
          </p:cNvSpPr>
          <p:nvPr/>
        </p:nvSpPr>
        <p:spPr>
          <a:xfrm xmlns:a="http://schemas.openxmlformats.org/drawingml/2006/main">
            <a:off x="5124450" y="35814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RULE-KW-HEALTH</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95</a:t>
            </a:r>
            <a:r>
              <a:rPr sz="825" b="0">
                <a:solidFill>
                  <a:srgbClr val="FFFFFF"/>
                </a:solidFill>
                <a:latin typeface="Bahnschrift"/>
                <a:ea typeface="Bahnschrift"/>
                <a:cs typeface="Bahnschrift"/>
              </a:rPr>
              <a:t>）</a:t>
            </a:r>
          </a:p>
        </p:txBody>
      </p:sp>
      <p:sp>
        <p:nvSpPr>
          <p:cNvPr id="41" name="">
            <a:extLst xmlns:a="http://schemas.openxmlformats.org/drawingml/2006/main">
              <a:ext uri="{FF2B5EF4-FFF2-40B4-BE49-F238E27FC236}">
                <a16:creationId xmlns:a16="http://schemas.microsoft.com/office/drawing/2014/main" id="{5B6470B3-3D5E-473C-B694-B9FC6DEC0BA9}"/>
              </a:ext>
            </a:extLst>
          </p:cNvPr>
          <p:cNvSpPr>
            <a:spLocks xmlns:a="http://schemas.openxmlformats.org/drawingml/2006/main" noGrp="1"/>
          </p:cNvSpPr>
          <p:nvPr/>
        </p:nvSpPr>
        <p:spPr>
          <a:xfrm xmlns:a="http://schemas.openxmlformats.org/drawingml/2006/main">
            <a:off x="4438650" y="39243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判定依据</a:t>
            </a:r>
          </a:p>
        </p:txBody>
      </p:sp>
      <p:sp>
        <p:nvSpPr>
          <p:cNvPr id="42" name="">
            <a:extLst xmlns:a="http://schemas.openxmlformats.org/drawingml/2006/main">
              <a:ext uri="{FF2B5EF4-FFF2-40B4-BE49-F238E27FC236}">
                <a16:creationId xmlns:a16="http://schemas.microsoft.com/office/drawing/2014/main" id="{FD5FD739-D937-4C6A-B5FE-853A87607F5E}"/>
              </a:ext>
            </a:extLst>
          </p:cNvPr>
          <p:cNvSpPr>
            <a:spLocks xmlns:a="http://schemas.openxmlformats.org/drawingml/2006/main" noGrp="1"/>
          </p:cNvSpPr>
          <p:nvPr/>
        </p:nvSpPr>
        <p:spPr>
          <a:xfrm xmlns:a="http://schemas.openxmlformats.org/drawingml/2006/main">
            <a:off x="5124450" y="39243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报告正文包含「头晕、胸闷、不适」</a:t>
            </a:r>
          </a:p>
        </p:txBody>
      </p:sp>
      <p:sp>
        <p:nvSpPr>
          <p:cNvPr id="43" name="">
            <a:extLst xmlns:a="http://schemas.openxmlformats.org/drawingml/2006/main">
              <a:ext uri="{FF2B5EF4-FFF2-40B4-BE49-F238E27FC236}">
                <a16:creationId xmlns:a16="http://schemas.microsoft.com/office/drawing/2014/main" id="{966C5D47-9D56-4349-87C5-A308C3282AEA}"/>
              </a:ext>
            </a:extLst>
          </p:cNvPr>
          <p:cNvSpPr>
            <a:spLocks xmlns:a="http://schemas.openxmlformats.org/drawingml/2006/main" noGrp="1"/>
          </p:cNvSpPr>
          <p:nvPr/>
        </p:nvSpPr>
        <p:spPr>
          <a:xfrm xmlns:a="http://schemas.openxmlformats.org/drawingml/2006/main">
            <a:off x="4438650" y="4267200"/>
            <a:ext cx="6667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命中条数</a:t>
            </a:r>
          </a:p>
        </p:txBody>
      </p:sp>
      <p:sp>
        <p:nvSpPr>
          <p:cNvPr id="44" name="">
            <a:extLst xmlns:a="http://schemas.openxmlformats.org/drawingml/2006/main">
              <a:ext uri="{FF2B5EF4-FFF2-40B4-BE49-F238E27FC236}">
                <a16:creationId xmlns:a16="http://schemas.microsoft.com/office/drawing/2014/main" id="{FA0DD91B-0FB8-4025-9CC5-C3702415EB43}"/>
              </a:ext>
            </a:extLst>
          </p:cNvPr>
          <p:cNvSpPr>
            <a:spLocks xmlns:a="http://schemas.openxmlformats.org/drawingml/2006/main" noGrp="1"/>
          </p:cNvSpPr>
          <p:nvPr/>
        </p:nvSpPr>
        <p:spPr>
          <a:xfrm xmlns:a="http://schemas.openxmlformats.org/drawingml/2006/main">
            <a:off x="5124450" y="4267200"/>
            <a:ext cx="27813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r>
              <a:rPr sz="825" b="0">
                <a:solidFill>
                  <a:srgbClr val="FFFFFF"/>
                </a:solidFill>
                <a:latin typeface="微软雅黑"/>
                <a:ea typeface="微软雅黑"/>
                <a:cs typeface="微软雅黑"/>
              </a:rPr>
              <a:t>max_hits </a:t>
            </a:r>
            <a:r>
              <a:rPr sz="825" b="0">
                <a:solidFill>
                  <a:srgbClr val="FFFFFF"/>
                </a:solidFill>
                <a:latin typeface="微软雅黑"/>
                <a:ea typeface="微软雅黑"/>
                <a:cs typeface="微软雅黑"/>
              </a:rPr>
              <a:t>限本组）</a:t>
            </a:r>
          </a:p>
        </p:txBody>
      </p:sp>
      <p:sp>
        <p:nvSpPr>
          <p:cNvPr id="45" name="">
            <a:extLst xmlns:a="http://schemas.openxmlformats.org/drawingml/2006/main">
              <a:ext uri="{FF2B5EF4-FFF2-40B4-BE49-F238E27FC236}">
                <a16:creationId xmlns:a16="http://schemas.microsoft.com/office/drawing/2014/main" id="{87780D1F-70AF-4AEB-8A9C-93BF9ACD54DB}"/>
              </a:ext>
            </a:extLst>
          </p:cNvPr>
          <p:cNvSpPr>
            <a:spLocks xmlns:a="http://schemas.openxmlformats.org/drawingml/2006/main" noGrp="1"/>
          </p:cNvSpPr>
          <p:nvPr/>
        </p:nvSpPr>
        <p:spPr>
          <a:xfrm xmlns:a="http://schemas.openxmlformats.org/drawingml/2006/main">
            <a:off x="4286250" y="4724400"/>
            <a:ext cx="3676650" cy="1524000"/>
          </a:xfrm>
          <a:prstGeom xmlns:a="http://schemas.openxmlformats.org/drawingml/2006/main" prst="roundRect">
            <a:avLst>
              <a:gd name="adj" fmla="val 562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solidFill>
            <a:prstDash val="solid"/>
          </a:ln>
        </p:spPr>
      </p:sp>
      <p:sp>
        <p:nvSpPr>
          <p:cNvPr id="46" name="">
            <a:extLst xmlns:a="http://schemas.openxmlformats.org/drawingml/2006/main">
              <a:ext uri="{FF2B5EF4-FFF2-40B4-BE49-F238E27FC236}">
                <a16:creationId xmlns:a16="http://schemas.microsoft.com/office/drawing/2014/main" id="{B8089E4A-A115-46A3-9D2A-F5EF8C9D07C3}"/>
              </a:ext>
            </a:extLst>
          </p:cNvPr>
          <p:cNvSpPr>
            <a:spLocks xmlns:a="http://schemas.openxmlformats.org/drawingml/2006/main" noGrp="1"/>
          </p:cNvSpPr>
          <p:nvPr/>
        </p:nvSpPr>
        <p:spPr>
          <a:xfrm xmlns:a="http://schemas.openxmlformats.org/drawingml/2006/main">
            <a:off x="4438650" y="4838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两组独立：一组命中不会阻断另一组</a:t>
            </a:r>
          </a:p>
        </p:txBody>
      </p:sp>
      <p:sp>
        <p:nvSpPr>
          <p:cNvPr id="47" name="">
            <a:extLst xmlns:a="http://schemas.openxmlformats.org/drawingml/2006/main">
              <a:ext uri="{FF2B5EF4-FFF2-40B4-BE49-F238E27FC236}">
                <a16:creationId xmlns:a16="http://schemas.microsoft.com/office/drawing/2014/main" id="{A917ADF9-8326-46FE-8033-BD2FF49CB114}"/>
              </a:ext>
            </a:extLst>
          </p:cNvPr>
          <p:cNvSpPr>
            <a:spLocks xmlns:a="http://schemas.openxmlformats.org/drawingml/2006/main" noGrp="1"/>
          </p:cNvSpPr>
          <p:nvPr/>
        </p:nvSpPr>
        <p:spPr>
          <a:xfrm xmlns:a="http://schemas.openxmlformats.org/drawingml/2006/main">
            <a:off x="4438650" y="5105400"/>
            <a:ext cx="3429000" cy="1047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旧实现用 </a:t>
            </a:r>
            <a:r>
              <a:rPr sz="863" b="0">
                <a:solidFill>
                  <a:srgbClr val="EEF5FF"/>
                </a:solidFill>
                <a:latin typeface="微软雅黑"/>
                <a:ea typeface="微软雅黑"/>
                <a:cs typeface="微软雅黑"/>
              </a:rPr>
              <a:t>Java </a:t>
            </a:r>
            <a:r>
              <a:rPr sz="863" b="0">
                <a:solidFill>
                  <a:srgbClr val="EEF5FF"/>
                </a:solidFill>
                <a:latin typeface="微软雅黑"/>
                <a:ea typeface="微软雅黑"/>
                <a:cs typeface="微软雅黑"/>
              </a:rPr>
              <a:t>拼出 </a:t>
            </a:r>
            <a:r>
              <a:rPr sz="863" b="0">
                <a:solidFill>
                  <a:srgbClr val="EEF5FF"/>
                </a:solidFill>
                <a:latin typeface="微软雅黑"/>
                <a:ea typeface="微软雅黑"/>
                <a:cs typeface="微软雅黑"/>
              </a:rPr>
              <a:t>RULE-GAS-ABOVE </a:t>
            </a:r>
            <a:r>
              <a:rPr sz="863" b="0">
                <a:solidFill>
                  <a:srgbClr val="EEF5FF"/>
                </a:solidFill>
                <a:latin typeface="微软雅黑"/>
                <a:ea typeface="微软雅黑"/>
                <a:cs typeface="微软雅黑"/>
              </a:rPr>
              <a:t>这类【假规则编号】，无法与数据库对应；改造后 </a:t>
            </a:r>
            <a:r>
              <a:rPr sz="863" b="0">
                <a:solidFill>
                  <a:srgbClr val="EEF5FF"/>
                </a:solidFill>
                <a:latin typeface="微软雅黑"/>
                <a:ea typeface="微软雅黑"/>
                <a:cs typeface="微软雅黑"/>
              </a:rPr>
              <a:t>rule_refs </a:t>
            </a:r>
            <a:r>
              <a:rPr sz="863" b="0">
                <a:solidFill>
                  <a:srgbClr val="EEF5FF"/>
                </a:solidFill>
                <a:latin typeface="微软雅黑"/>
                <a:ea typeface="微软雅黑"/>
                <a:cs typeface="微软雅黑"/>
              </a:rPr>
              <a:t>输出的是真实存在的 </a:t>
            </a:r>
            <a:r>
              <a:rPr sz="863" b="0">
                <a:solidFill>
                  <a:srgbClr val="EEF5FF"/>
                </a:solidFill>
                <a:latin typeface="微软雅黑"/>
                <a:ea typeface="微软雅黑"/>
                <a:cs typeface="微软雅黑"/>
              </a:rPr>
              <a:t>rule_code</a:t>
            </a:r>
            <a:r>
              <a:rPr sz="863" b="0">
                <a:solidFill>
                  <a:srgbClr val="EEF5FF"/>
                </a:solidFill>
                <a:latin typeface="微软雅黑"/>
                <a:ea typeface="微软雅黑"/>
                <a:cs typeface="微软雅黑"/>
              </a:rPr>
              <a:t>，可直接回表核对。</a:t>
            </a:r>
          </a:p>
        </p:txBody>
      </p:sp>
      <p:sp>
        <p:nvSpPr>
          <p:cNvPr id="48" name="">
            <a:extLst xmlns:a="http://schemas.openxmlformats.org/drawingml/2006/main">
              <a:ext uri="{FF2B5EF4-FFF2-40B4-BE49-F238E27FC236}">
                <a16:creationId xmlns:a16="http://schemas.microsoft.com/office/drawing/2014/main" id="{141ED6CA-4BD1-4922-B549-A50040CBCEE8}"/>
              </a:ext>
            </a:extLst>
          </p:cNvPr>
          <p:cNvSpPr>
            <a:spLocks xmlns:a="http://schemas.openxmlformats.org/drawingml/2006/main" noGrp="1"/>
          </p:cNvSpPr>
          <p:nvPr/>
        </p:nvSpPr>
        <p:spPr>
          <a:xfrm xmlns:a="http://schemas.openxmlformats.org/drawingml/2006/main">
            <a:off x="8172450" y="1333500"/>
            <a:ext cx="3733800" cy="2857500"/>
          </a:xfrm>
          <a:prstGeom xmlns:a="http://schemas.openxmlformats.org/drawingml/2006/main" prst="roundRect">
            <a:avLst>
              <a:gd name="adj" fmla="val 3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13335">
            <a:solidFill>
              <a:srgbClr val="FFD24A"/>
            </a:solidFill>
            <a:prstDash val="solid"/>
          </a:ln>
        </p:spPr>
      </p:sp>
      <p:sp>
        <p:nvSpPr>
          <p:cNvPr id="49" name="">
            <a:extLst xmlns:a="http://schemas.openxmlformats.org/drawingml/2006/main">
              <a:ext uri="{FF2B5EF4-FFF2-40B4-BE49-F238E27FC236}">
                <a16:creationId xmlns:a16="http://schemas.microsoft.com/office/drawing/2014/main" id="{6A6FE75C-B9EA-4E5F-A29A-1A21A5C244E2}"/>
              </a:ext>
            </a:extLst>
          </p:cNvPr>
          <p:cNvSpPr>
            <a:spLocks xmlns:a="http://schemas.openxmlformats.org/drawingml/2006/main" noGrp="1"/>
          </p:cNvSpPr>
          <p:nvPr/>
        </p:nvSpPr>
        <p:spPr>
          <a:xfrm xmlns:a="http://schemas.openxmlformats.org/drawingml/2006/main">
            <a:off x="8343900" y="14478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输出：一次归因的完整结论</a:t>
            </a:r>
          </a:p>
        </p:txBody>
      </p:sp>
      <p:sp>
        <p:nvSpPr>
          <p:cNvPr id="50" name="">
            <a:extLst xmlns:a="http://schemas.openxmlformats.org/drawingml/2006/main">
              <a:ext uri="{FF2B5EF4-FFF2-40B4-BE49-F238E27FC236}">
                <a16:creationId xmlns:a16="http://schemas.microsoft.com/office/drawing/2014/main" id="{40A6A76E-4077-4E71-B038-B331216DC8FC}"/>
              </a:ext>
            </a:extLst>
          </p:cNvPr>
          <p:cNvSpPr>
            <a:spLocks xmlns:a="http://schemas.openxmlformats.org/drawingml/2006/main" noGrp="1"/>
          </p:cNvSpPr>
          <p:nvPr/>
        </p:nvSpPr>
        <p:spPr>
          <a:xfrm xmlns:a="http://schemas.openxmlformats.org/drawingml/2006/main">
            <a:off x="8343900" y="175260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最终严重度</a:t>
            </a:r>
          </a:p>
        </p:txBody>
      </p:sp>
      <p:sp>
        <p:nvSpPr>
          <p:cNvPr id="51" name="">
            <a:extLst xmlns:a="http://schemas.openxmlformats.org/drawingml/2006/main">
              <a:ext uri="{FF2B5EF4-FFF2-40B4-BE49-F238E27FC236}">
                <a16:creationId xmlns:a16="http://schemas.microsoft.com/office/drawing/2014/main" id="{F3C75D8E-7902-45A1-8594-36B99809D6B5}"/>
              </a:ext>
            </a:extLst>
          </p:cNvPr>
          <p:cNvSpPr>
            <a:spLocks xmlns:a="http://schemas.openxmlformats.org/drawingml/2006/main" noGrp="1"/>
          </p:cNvSpPr>
          <p:nvPr/>
        </p:nvSpPr>
        <p:spPr>
          <a:xfrm xmlns:a="http://schemas.openxmlformats.org/drawingml/2006/main">
            <a:off x="9296400" y="167640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1">
                <a:solidFill>
                  <a:srgbClr val="FF7A6B"/>
                </a:solidFill>
                <a:latin typeface="微软雅黑"/>
                <a:ea typeface="微软雅黑"/>
                <a:cs typeface="微软雅黑"/>
              </a:defRPr>
            </a:pPr>
            <a:r>
              <a:rPr sz="900" b="1">
                <a:solidFill>
                  <a:srgbClr val="FF7A6B"/>
                </a:solidFill>
                <a:latin typeface="微软雅黑"/>
                <a:ea typeface="微软雅黑"/>
                <a:cs typeface="微软雅黑"/>
              </a:rPr>
              <a:t>高</a:t>
            </a:r>
          </a:p>
        </p:txBody>
      </p:sp>
      <p:sp>
        <p:nvSpPr>
          <p:cNvPr id="52" name="">
            <a:extLst xmlns:a="http://schemas.openxmlformats.org/drawingml/2006/main">
              <a:ext uri="{FF2B5EF4-FFF2-40B4-BE49-F238E27FC236}">
                <a16:creationId xmlns:a16="http://schemas.microsoft.com/office/drawing/2014/main" id="{D9AE65B6-0E78-4692-984F-4DF76CB59450}"/>
              </a:ext>
            </a:extLst>
          </p:cNvPr>
          <p:cNvSpPr>
            <a:spLocks xmlns:a="http://schemas.openxmlformats.org/drawingml/2006/main" noGrp="1"/>
          </p:cNvSpPr>
          <p:nvPr/>
        </p:nvSpPr>
        <p:spPr>
          <a:xfrm xmlns:a="http://schemas.openxmlformats.org/drawingml/2006/main">
            <a:off x="8343900" y="226695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综合原因</a:t>
            </a:r>
          </a:p>
        </p:txBody>
      </p:sp>
      <p:sp>
        <p:nvSpPr>
          <p:cNvPr id="53" name="">
            <a:extLst xmlns:a="http://schemas.openxmlformats.org/drawingml/2006/main">
              <a:ext uri="{FF2B5EF4-FFF2-40B4-BE49-F238E27FC236}">
                <a16:creationId xmlns:a16="http://schemas.microsoft.com/office/drawing/2014/main" id="{306CB391-6DDB-45BA-9E77-A0C89B143E13}"/>
              </a:ext>
            </a:extLst>
          </p:cNvPr>
          <p:cNvSpPr>
            <a:spLocks xmlns:a="http://schemas.openxmlformats.org/drawingml/2006/main" noGrp="1"/>
          </p:cNvSpPr>
          <p:nvPr/>
        </p:nvSpPr>
        <p:spPr>
          <a:xfrm xmlns:a="http://schemas.openxmlformats.org/drawingml/2006/main">
            <a:off x="9296400" y="219075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通风不足或 </a:t>
            </a:r>
            <a:r>
              <a:rPr sz="900" b="0">
                <a:solidFill>
                  <a:srgbClr val="EEF5FF"/>
                </a:solidFill>
                <a:latin typeface="微软雅黑"/>
                <a:ea typeface="微软雅黑"/>
                <a:cs typeface="微软雅黑"/>
              </a:rPr>
              <a:t>SF6 </a:t>
            </a:r>
            <a:r>
              <a:rPr sz="900" b="0">
                <a:solidFill>
                  <a:srgbClr val="EEF5FF"/>
                </a:solidFill>
                <a:latin typeface="微软雅黑"/>
                <a:ea typeface="微软雅黑"/>
                <a:cs typeface="微软雅黑"/>
              </a:rPr>
              <a:t>聚集导致氧含量下降，人员出现身体不适</a:t>
            </a:r>
          </a:p>
        </p:txBody>
      </p:sp>
      <p:sp>
        <p:nvSpPr>
          <p:cNvPr id="54" name="">
            <a:extLst xmlns:a="http://schemas.openxmlformats.org/drawingml/2006/main">
              <a:ext uri="{FF2B5EF4-FFF2-40B4-BE49-F238E27FC236}">
                <a16:creationId xmlns:a16="http://schemas.microsoft.com/office/drawing/2014/main" id="{E25E5B23-5682-444B-8ABD-754EC540E1B1}"/>
              </a:ext>
            </a:extLst>
          </p:cNvPr>
          <p:cNvSpPr>
            <a:spLocks xmlns:a="http://schemas.openxmlformats.org/drawingml/2006/main" noGrp="1"/>
          </p:cNvSpPr>
          <p:nvPr/>
        </p:nvSpPr>
        <p:spPr>
          <a:xfrm xmlns:a="http://schemas.openxmlformats.org/drawingml/2006/main">
            <a:off x="8343900" y="278130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建议措施</a:t>
            </a:r>
          </a:p>
        </p:txBody>
      </p:sp>
      <p:sp>
        <p:nvSpPr>
          <p:cNvPr id="55" name="">
            <a:extLst xmlns:a="http://schemas.openxmlformats.org/drawingml/2006/main">
              <a:ext uri="{FF2B5EF4-FFF2-40B4-BE49-F238E27FC236}">
                <a16:creationId xmlns:a16="http://schemas.microsoft.com/office/drawing/2014/main" id="{95C9C248-9C3B-4E80-9B43-ABD618887E15}"/>
              </a:ext>
            </a:extLst>
          </p:cNvPr>
          <p:cNvSpPr>
            <a:spLocks xmlns:a="http://schemas.openxmlformats.org/drawingml/2006/main" noGrp="1"/>
          </p:cNvSpPr>
          <p:nvPr/>
        </p:nvSpPr>
        <p:spPr>
          <a:xfrm xmlns:a="http://schemas.openxmlformats.org/drawingml/2006/main">
            <a:off x="9296400" y="270510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停止作业、撤出人员、强制通风、复测合格后再进入</a:t>
            </a:r>
          </a:p>
        </p:txBody>
      </p:sp>
      <p:sp>
        <p:nvSpPr>
          <p:cNvPr id="56" name="">
            <a:extLst xmlns:a="http://schemas.openxmlformats.org/drawingml/2006/main">
              <a:ext uri="{FF2B5EF4-FFF2-40B4-BE49-F238E27FC236}">
                <a16:creationId xmlns:a16="http://schemas.microsoft.com/office/drawing/2014/main" id="{06F760EE-200C-4445-BDFC-4D770BE847C3}"/>
              </a:ext>
            </a:extLst>
          </p:cNvPr>
          <p:cNvSpPr>
            <a:spLocks xmlns:a="http://schemas.openxmlformats.org/drawingml/2006/main" noGrp="1"/>
          </p:cNvSpPr>
          <p:nvPr/>
        </p:nvSpPr>
        <p:spPr>
          <a:xfrm xmlns:a="http://schemas.openxmlformats.org/drawingml/2006/main">
            <a:off x="8343900" y="329565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规则编号</a:t>
            </a:r>
          </a:p>
        </p:txBody>
      </p:sp>
      <p:sp>
        <p:nvSpPr>
          <p:cNvPr id="57" name="">
            <a:extLst xmlns:a="http://schemas.openxmlformats.org/drawingml/2006/main">
              <a:ext uri="{FF2B5EF4-FFF2-40B4-BE49-F238E27FC236}">
                <a16:creationId xmlns:a16="http://schemas.microsoft.com/office/drawing/2014/main" id="{5D2D8D93-E8D9-4E0D-ACBB-FA6E4FDBDADD}"/>
              </a:ext>
            </a:extLst>
          </p:cNvPr>
          <p:cNvSpPr>
            <a:spLocks xmlns:a="http://schemas.openxmlformats.org/drawingml/2006/main" noGrp="1"/>
          </p:cNvSpPr>
          <p:nvPr/>
        </p:nvSpPr>
        <p:spPr>
          <a:xfrm xmlns:a="http://schemas.openxmlformats.org/drawingml/2006/main">
            <a:off x="9296400" y="321945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4FD8FF"/>
                </a:solidFill>
                <a:latin typeface="微软雅黑"/>
                <a:ea typeface="微软雅黑"/>
                <a:cs typeface="微软雅黑"/>
              </a:defRPr>
            </a:pPr>
            <a:r>
              <a:rPr sz="900" b="0">
                <a:solidFill>
                  <a:srgbClr val="4FD8FF"/>
                </a:solidFill>
                <a:latin typeface="微软雅黑"/>
                <a:ea typeface="微软雅黑"/>
                <a:cs typeface="微软雅黑"/>
              </a:rPr>
              <a:t>REPORT_GAS_OVER_MARGIN_MID</a:t>
            </a:r>
            <a:r>
              <a:rPr sz="900" b="0">
                <a:solidFill>
                  <a:srgbClr val="4FD8FF"/>
                </a:solidFill>
                <a:latin typeface="微软雅黑"/>
                <a:ea typeface="微软雅黑"/>
                <a:cs typeface="微软雅黑"/>
              </a:rPr>
              <a:t>、</a:t>
            </a:r>
            <a:r>
              <a:rPr sz="900" b="0">
                <a:solidFill>
                  <a:srgbClr val="4FD8FF"/>
                </a:solidFill>
                <a:latin typeface="微软雅黑"/>
                <a:ea typeface="微软雅黑"/>
                <a:cs typeface="微软雅黑"/>
              </a:rPr>
              <a:t>RULE-KW-HEALTH</a:t>
            </a:r>
          </a:p>
        </p:txBody>
      </p:sp>
      <p:sp>
        <p:nvSpPr>
          <p:cNvPr id="58" name="">
            <a:extLst xmlns:a="http://schemas.openxmlformats.org/drawingml/2006/main">
              <a:ext uri="{FF2B5EF4-FFF2-40B4-BE49-F238E27FC236}">
                <a16:creationId xmlns:a16="http://schemas.microsoft.com/office/drawing/2014/main" id="{5AAD5004-81CB-48BD-8767-F3CD00F599BA}"/>
              </a:ext>
            </a:extLst>
          </p:cNvPr>
          <p:cNvSpPr>
            <a:spLocks xmlns:a="http://schemas.openxmlformats.org/drawingml/2006/main" noGrp="1"/>
          </p:cNvSpPr>
          <p:nvPr/>
        </p:nvSpPr>
        <p:spPr>
          <a:xfrm xmlns:a="http://schemas.openxmlformats.org/drawingml/2006/main">
            <a:off x="8343900" y="3810000"/>
            <a:ext cx="9144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置信度 </a:t>
            </a:r>
            <a:r>
              <a:rPr sz="863" b="0">
                <a:solidFill>
                  <a:srgbClr val="9DBEE8"/>
                </a:solidFill>
                <a:latin typeface="微软雅黑"/>
                <a:ea typeface="微软雅黑"/>
                <a:cs typeface="微软雅黑"/>
              </a:rPr>
              <a:t>/ </a:t>
            </a:r>
            <a:r>
              <a:rPr sz="863" b="0">
                <a:solidFill>
                  <a:srgbClr val="9DBEE8"/>
                </a:solidFill>
                <a:latin typeface="微软雅黑"/>
                <a:ea typeface="微软雅黑"/>
                <a:cs typeface="微软雅黑"/>
              </a:rPr>
              <a:t>来源</a:t>
            </a:r>
          </a:p>
        </p:txBody>
      </p:sp>
      <p:sp>
        <p:nvSpPr>
          <p:cNvPr id="59" name="">
            <a:extLst xmlns:a="http://schemas.openxmlformats.org/drawingml/2006/main">
              <a:ext uri="{FF2B5EF4-FFF2-40B4-BE49-F238E27FC236}">
                <a16:creationId xmlns:a16="http://schemas.microsoft.com/office/drawing/2014/main" id="{6B549B88-8765-408F-8A57-96FF8576202D}"/>
              </a:ext>
            </a:extLst>
          </p:cNvPr>
          <p:cNvSpPr>
            <a:spLocks xmlns:a="http://schemas.openxmlformats.org/drawingml/2006/main" noGrp="1"/>
          </p:cNvSpPr>
          <p:nvPr/>
        </p:nvSpPr>
        <p:spPr>
          <a:xfrm xmlns:a="http://schemas.openxmlformats.org/drawingml/2006/main">
            <a:off x="9296400" y="3733800"/>
            <a:ext cx="2552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FFFFFF"/>
                </a:solidFill>
                <a:latin typeface="微软雅黑"/>
                <a:ea typeface="微软雅黑"/>
                <a:cs typeface="微软雅黑"/>
              </a:defRPr>
            </a:pPr>
            <a:r>
              <a:rPr sz="900" b="0">
                <a:solidFill>
                  <a:srgbClr val="FFFFFF"/>
                </a:solidFill>
                <a:latin typeface="微软雅黑"/>
                <a:ea typeface="微软雅黑"/>
                <a:cs typeface="微软雅黑"/>
              </a:rPr>
              <a:t>0.8 / rule</a:t>
            </a:r>
          </a:p>
        </p:txBody>
      </p:sp>
      <p:sp>
        <p:nvSpPr>
          <p:cNvPr id="60" name="">
            <a:extLst xmlns:a="http://schemas.openxmlformats.org/drawingml/2006/main">
              <a:ext uri="{FF2B5EF4-FFF2-40B4-BE49-F238E27FC236}">
                <a16:creationId xmlns:a16="http://schemas.microsoft.com/office/drawing/2014/main" id="{0BD0D80C-E81A-49B6-9130-498F4A119FDE}"/>
              </a:ext>
            </a:extLst>
          </p:cNvPr>
          <p:cNvSpPr>
            <a:spLocks xmlns:a="http://schemas.openxmlformats.org/drawingml/2006/main" noGrp="1"/>
          </p:cNvSpPr>
          <p:nvPr/>
        </p:nvSpPr>
        <p:spPr>
          <a:xfrm xmlns:a="http://schemas.openxmlformats.org/drawingml/2006/main">
            <a:off x="8172450" y="4343400"/>
            <a:ext cx="3733800" cy="1905000"/>
          </a:xfrm>
          <a:prstGeom xmlns:a="http://schemas.openxmlformats.org/drawingml/2006/main" prst="roundRect">
            <a:avLst>
              <a:gd name="adj" fmla="val 4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1" name="">
            <a:extLst xmlns:a="http://schemas.openxmlformats.org/drawingml/2006/main">
              <a:ext uri="{FF2B5EF4-FFF2-40B4-BE49-F238E27FC236}">
                <a16:creationId xmlns:a16="http://schemas.microsoft.com/office/drawing/2014/main" id="{76E4DD44-35A6-4F2D-B39A-107F7F8227BD}"/>
              </a:ext>
            </a:extLst>
          </p:cNvPr>
          <p:cNvSpPr>
            <a:spLocks xmlns:a="http://schemas.openxmlformats.org/drawingml/2006/main" noGrp="1"/>
          </p:cNvSpPr>
          <p:nvPr/>
        </p:nvSpPr>
        <p:spPr>
          <a:xfrm xmlns:a="http://schemas.openxmlformats.org/drawingml/2006/main">
            <a:off x="8343900" y="4457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B7A6FF"/>
                </a:solidFill>
                <a:latin typeface="微软雅黑"/>
                <a:ea typeface="微软雅黑"/>
                <a:cs typeface="微软雅黑"/>
              </a:defRPr>
            </a:pPr>
            <a:r>
              <a:rPr sz="1013" b="1">
                <a:solidFill>
                  <a:srgbClr val="B7A6FF"/>
                </a:solidFill>
                <a:latin typeface="微软雅黑"/>
                <a:ea typeface="微软雅黑"/>
                <a:cs typeface="微软雅黑"/>
              </a:rPr>
              <a:t>人工确认（</a:t>
            </a:r>
            <a:r>
              <a:rPr sz="1013" b="1">
                <a:solidFill>
                  <a:srgbClr val="B7A6FF"/>
                </a:solidFill>
                <a:latin typeface="微软雅黑"/>
                <a:ea typeface="微软雅黑"/>
                <a:cs typeface="微软雅黑"/>
              </a:rPr>
              <a:t>need_human_confirm = true</a:t>
            </a:r>
            <a:r>
              <a:rPr sz="1013" b="1">
                <a:solidFill>
                  <a:srgbClr val="B7A6FF"/>
                </a:solidFill>
                <a:latin typeface="微软雅黑"/>
                <a:ea typeface="微软雅黑"/>
                <a:cs typeface="微软雅黑"/>
              </a:rPr>
              <a:t>）</a:t>
            </a:r>
          </a:p>
        </p:txBody>
      </p:sp>
      <p:sp>
        <p:nvSpPr>
          <p:cNvPr id="62" name="">
            <a:extLst xmlns:a="http://schemas.openxmlformats.org/drawingml/2006/main">
              <a:ext uri="{FF2B5EF4-FFF2-40B4-BE49-F238E27FC236}">
                <a16:creationId xmlns:a16="http://schemas.microsoft.com/office/drawing/2014/main" id="{2C8AFF39-AC4C-41BA-8412-C24F4547517B}"/>
              </a:ext>
            </a:extLst>
          </p:cNvPr>
          <p:cNvSpPr>
            <a:spLocks xmlns:a="http://schemas.openxmlformats.org/drawingml/2006/main" noGrp="1"/>
          </p:cNvSpPr>
          <p:nvPr/>
        </p:nvSpPr>
        <p:spPr>
          <a:xfrm xmlns:a="http://schemas.openxmlformats.org/drawingml/2006/main">
            <a:off x="8343900" y="4762500"/>
            <a:ext cx="3448050" cy="1390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确认人　</a:t>
            </a:r>
            <a:r>
              <a:rPr sz="900">
                <a:solidFill>
                  <a:srgbClr val="EEF5FF"/>
                </a:solidFill>
                <a:latin typeface="微软雅黑"/>
                <a:ea typeface="微软雅黑"/>
                <a:cs typeface="微软雅黑"/>
              </a:rPr>
              <a:t>limin</a:t>
            </a:r>
            <a:r>
              <a:rPr sz="900">
                <a:solidFill>
                  <a:srgbClr val="EEF5FF"/>
                </a:solidFill>
                <a:latin typeface="微软雅黑"/>
                <a:ea typeface="微软雅黑"/>
                <a:cs typeface="微软雅黑"/>
              </a:rPr>
              <a:t>（班组长）</a:t>
            </a:r>
          </a:p>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决定　</a:t>
            </a:r>
            <a:r>
              <a:rPr sz="900" b="1">
                <a:solidFill>
                  <a:srgbClr val="EEF5FF"/>
                </a:solidFill>
                <a:latin typeface="微软雅黑"/>
                <a:ea typeface="微软雅黑"/>
                <a:cs typeface="微软雅黑"/>
              </a:rPr>
              <a:t>ACCEPTED</a:t>
            </a:r>
            <a:r>
              <a:rPr sz="900" b="1">
                <a:solidFill>
                  <a:srgbClr val="EEF5FF"/>
                </a:solidFill>
                <a:latin typeface="微软雅黑"/>
                <a:ea typeface="微软雅黑"/>
                <a:cs typeface="微软雅黑"/>
              </a:rPr>
              <a:t>（采纳）</a:t>
            </a:r>
          </a:p>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理由　</a:t>
            </a:r>
            <a:r>
              <a:rPr sz="900">
                <a:solidFill>
                  <a:srgbClr val="EEF5FF"/>
                </a:solidFill>
                <a:latin typeface="微软雅黑"/>
                <a:ea typeface="微软雅黑"/>
                <a:cs typeface="微软雅黑"/>
              </a:rPr>
              <a:t>结论与现场情况一致，按建议补充 </a:t>
            </a:r>
            <a:r>
              <a:rPr sz="900">
                <a:solidFill>
                  <a:srgbClr val="EEF5FF"/>
                </a:solidFill>
                <a:latin typeface="微软雅黑"/>
                <a:ea typeface="微软雅黑"/>
                <a:cs typeface="微软雅黑"/>
              </a:rPr>
              <a:t>SOP </a:t>
            </a:r>
            <a:r>
              <a:rPr sz="900">
                <a:solidFill>
                  <a:srgbClr val="EEF5FF"/>
                </a:solidFill>
                <a:latin typeface="微软雅黑"/>
                <a:ea typeface="微软雅黑"/>
                <a:cs typeface="微软雅黑"/>
              </a:rPr>
              <a:t>卡并跟踪隐患</a:t>
            </a:r>
          </a:p>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说明　</a:t>
            </a:r>
            <a:r>
              <a:rPr sz="900">
                <a:solidFill>
                  <a:srgbClr val="EEF5FF"/>
                </a:solidFill>
                <a:latin typeface="微软雅黑"/>
                <a:ea typeface="微软雅黑"/>
                <a:cs typeface="微软雅黑"/>
              </a:rPr>
              <a:t>确认接口只改建议状态，不改任何业务数据。</a:t>
            </a:r>
          </a:p>
        </p:txBody>
      </p:sp>
      <p:sp>
        <p:nvSpPr>
          <p:cNvPr id="63" name="">
            <a:extLst xmlns:a="http://schemas.openxmlformats.org/drawingml/2006/main">
              <a:ext uri="{FF2B5EF4-FFF2-40B4-BE49-F238E27FC236}">
                <a16:creationId xmlns:a16="http://schemas.microsoft.com/office/drawing/2014/main" id="{85289A3B-0696-4A72-A252-6A8D9C217539}"/>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4E281EE7-A847-47C0-8C0B-83CEF7B8EF41}"/>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1B4E112A-E2FC-4E84-9978-1C8BC8654A25}"/>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6" name="">
            <a:extLst xmlns:a="http://schemas.openxmlformats.org/drawingml/2006/main">
              <a:ext uri="{FF2B5EF4-FFF2-40B4-BE49-F238E27FC236}">
                <a16:creationId xmlns:a16="http://schemas.microsoft.com/office/drawing/2014/main" id="{7516EED7-8792-4130-AA41-14056275B235}"/>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0D7A059A-787F-4CEA-8C4D-B7EA12FAE439}"/>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15</a:t>
            </a:r>
          </a:p>
        </p:txBody>
      </p:sp>
    </p:spTree>
    <p:extLst>
      <p:ext uri="{BB962C8B-B14F-4D97-AF65-F5344CB8AC3E}">
        <p14:creationId xmlns:p14="http://schemas.microsoft.com/office/powerpoint/2010/main" val="1958219341"/>
      </p:ext>
    </p:extLst>
  </p:cSld>
</p:sld>
</file>

<file path=ppt/slides/slide1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3b3d7b017d994dd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782E20-ADC8-4E3F-84EE-47BF1BA4F01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88AA9F6F-26FE-452A-A902-8D87A5ACA3A6}"/>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91AB5ED7-9CB7-44D4-B94B-81809D50434C}"/>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CD6AA87-1680-40F6-9B64-363FDBAC82F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1624E78-84ED-41AC-B1B4-C8EE30F0DF8A}"/>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E7777A3A-19B5-4860-8058-ABC5CB98F7B6}"/>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F1C7A1E1-8F13-46CF-A114-12533D7C5F02}"/>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7BA83D94-2B7C-45F2-9814-67E236D28526}"/>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0843058D-FB58-4639-B430-9A091AA06BE9}"/>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C379CEDC-C4FB-4345-994C-A390D195CF3E}"/>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E81E75D8-8760-43AA-875A-A5C727DEC328}"/>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B3B30D7C-F97A-47A5-88B2-C20A10B86B8E}"/>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A556396C-D80A-4A52-B481-112641748B2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算法三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个性化组卷与题量分配</a:t>
            </a:r>
          </a:p>
        </p:txBody>
      </p:sp>
      <p:sp>
        <p:nvSpPr>
          <p:cNvPr id="15" name="">
            <a:extLst xmlns:a="http://schemas.openxmlformats.org/drawingml/2006/main">
              <a:ext uri="{FF2B5EF4-FFF2-40B4-BE49-F238E27FC236}">
                <a16:creationId xmlns:a16="http://schemas.microsoft.com/office/drawing/2014/main" id="{662BA660-EE3B-4B49-8EAA-39B0B6678888}"/>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59A57400-0833-4ACE-8CC4-E0049FD29E9E}"/>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4D2140A-B701-4801-9161-C33A19D3A70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C1F6A630-6079-45E2-80BC-B1012E385262}"/>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70ADC251-6887-4BC3-BA56-7C6B57591001}"/>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题目按「缺口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历史正确率」分配，练完回流正确率</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让每一道题都打在当前的短板上。</a:t>
            </a:r>
          </a:p>
        </p:txBody>
      </p:sp>
      <p:sp>
        <p:nvSpPr>
          <p:cNvPr id="20" name="">
            <a:extLst xmlns:a="http://schemas.openxmlformats.org/drawingml/2006/main">
              <a:ext uri="{FF2B5EF4-FFF2-40B4-BE49-F238E27FC236}">
                <a16:creationId xmlns:a16="http://schemas.microsoft.com/office/drawing/2014/main" id="{87C00058-A737-4C5C-8520-D6EB09B5530E}"/>
              </a:ext>
            </a:extLst>
          </p:cNvPr>
          <p:cNvSpPr>
            <a:spLocks xmlns:a="http://schemas.openxmlformats.org/drawingml/2006/main" noGrp="1"/>
          </p:cNvSpPr>
          <p:nvPr/>
        </p:nvSpPr>
        <p:spPr>
          <a:xfrm xmlns:a="http://schemas.openxmlformats.org/drawingml/2006/main">
            <a:off x="285750" y="1333500"/>
            <a:ext cx="5905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A82E6CA0-C85D-405D-A767-8D67A51B5419}"/>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核心公式</a:t>
            </a:r>
          </a:p>
        </p:txBody>
      </p:sp>
      <p:sp>
        <p:nvSpPr>
          <p:cNvPr id="22" name="">
            <a:extLst xmlns:a="http://schemas.openxmlformats.org/drawingml/2006/main">
              <a:ext uri="{FF2B5EF4-FFF2-40B4-BE49-F238E27FC236}">
                <a16:creationId xmlns:a16="http://schemas.microsoft.com/office/drawing/2014/main" id="{B944D30C-850C-414E-A980-22300D133FF5}"/>
              </a:ext>
            </a:extLst>
          </p:cNvPr>
          <p:cNvSpPr>
            <a:spLocks xmlns:a="http://schemas.openxmlformats.org/drawingml/2006/main" noGrp="1"/>
          </p:cNvSpPr>
          <p:nvPr/>
        </p:nvSpPr>
        <p:spPr>
          <a:xfrm xmlns:a="http://schemas.openxmlformats.org/drawingml/2006/main">
            <a:off x="457200" y="1733550"/>
            <a:ext cx="5581650" cy="762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EEF5FF"/>
                </a:solidFill>
                <a:latin typeface="微软雅黑"/>
                <a:ea typeface="微软雅黑"/>
                <a:cs typeface="微软雅黑"/>
              </a:defRPr>
            </a:pPr>
            <a:r>
              <a:rPr sz="975" b="1">
                <a:solidFill>
                  <a:srgbClr val="EEF5FF"/>
                </a:solidFill>
                <a:latin typeface="微软雅黑"/>
                <a:ea typeface="微软雅黑"/>
                <a:cs typeface="微软雅黑"/>
              </a:rPr>
              <a:t>effort(</a:t>
            </a:r>
            <a:r>
              <a:rPr sz="975" b="1">
                <a:solidFill>
                  <a:srgbClr val="EEF5FF"/>
                </a:solidFill>
                <a:latin typeface="微软雅黑"/>
                <a:ea typeface="微软雅黑"/>
                <a:cs typeface="微软雅黑"/>
              </a:rPr>
              <a:t>技能</a:t>
            </a:r>
            <a:r>
              <a:rPr sz="975" b="1">
                <a:solidFill>
                  <a:srgbClr val="EEF5FF"/>
                </a:solidFill>
                <a:latin typeface="微软雅黑"/>
                <a:ea typeface="微软雅黑"/>
                <a:cs typeface="微软雅黑"/>
              </a:rPr>
              <a:t>) = </a:t>
            </a:r>
            <a:r>
              <a:rPr sz="975" b="1">
                <a:solidFill>
                  <a:srgbClr val="EEF5FF"/>
                </a:solidFill>
                <a:latin typeface="微软雅黑"/>
                <a:ea typeface="微软雅黑"/>
                <a:cs typeface="微软雅黑"/>
              </a:rPr>
              <a:t>缺口权重 </a:t>
            </a:r>
            <a:r>
              <a:rPr sz="975" b="1">
                <a:solidFill>
                  <a:srgbClr val="EEF5FF"/>
                </a:solidFill>
                <a:latin typeface="微软雅黑"/>
                <a:ea typeface="微软雅黑"/>
                <a:cs typeface="微软雅黑"/>
              </a:rPr>
              <a:t>× max(0.2, 1.6 − </a:t>
            </a:r>
            <a:r>
              <a:rPr sz="975" b="1">
                <a:solidFill>
                  <a:srgbClr val="EEF5FF"/>
                </a:solidFill>
                <a:latin typeface="微软雅黑"/>
                <a:ea typeface="微软雅黑"/>
                <a:cs typeface="微软雅黑"/>
              </a:rPr>
              <a:t>历史正确率</a:t>
            </a:r>
            <a:r>
              <a:rPr sz="975" b="1">
                <a:solidFill>
                  <a:srgbClr val="EEF5FF"/>
                </a:solidFill>
                <a:latin typeface="微软雅黑"/>
                <a:ea typeface="微软雅黑"/>
                <a:cs typeface="微软雅黑"/>
              </a:rPr>
              <a:t>)</a:t>
            </a:r>
          </a:p>
          <a:p xmlns:a="http://schemas.openxmlformats.org/drawingml/2006/main">
            <a:pPr algn="l">
              <a:lnSpc>
                <a:spcPct val="16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题量分配量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总题量 </a:t>
            </a:r>
            <a:r>
              <a:rPr sz="975">
                <a:solidFill>
                  <a:srgbClr val="EEF5FF"/>
                </a:solidFill>
                <a:latin typeface="微软雅黑"/>
                <a:ea typeface="微软雅黑"/>
                <a:cs typeface="微软雅黑"/>
              </a:rPr>
              <a:t>× effort / Σ effort</a:t>
            </a:r>
            <a:r>
              <a:rPr sz="975">
                <a:solidFill>
                  <a:srgbClr val="EEF5FF"/>
                </a:solidFill>
                <a:latin typeface="微软雅黑"/>
                <a:ea typeface="微软雅黑"/>
                <a:cs typeface="微软雅黑"/>
              </a:rPr>
              <a:t>；实际分配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向下取整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余量按 </a:t>
            </a:r>
            <a:r>
              <a:rPr sz="975">
                <a:solidFill>
                  <a:srgbClr val="EEF5FF"/>
                </a:solidFill>
                <a:latin typeface="微软雅黑"/>
                <a:ea typeface="微软雅黑"/>
                <a:cs typeface="微软雅黑"/>
              </a:rPr>
              <a:t>effort </a:t>
            </a:r>
            <a:r>
              <a:rPr sz="975">
                <a:solidFill>
                  <a:srgbClr val="EEF5FF"/>
                </a:solidFill>
                <a:latin typeface="微软雅黑"/>
                <a:ea typeface="微软雅黑"/>
                <a:cs typeface="微软雅黑"/>
              </a:rPr>
              <a:t>补足</a:t>
            </a:r>
          </a:p>
        </p:txBody>
      </p:sp>
      <p:sp>
        <p:nvSpPr>
          <p:cNvPr id="23" name="">
            <a:extLst xmlns:a="http://schemas.openxmlformats.org/drawingml/2006/main">
              <a:ext uri="{FF2B5EF4-FFF2-40B4-BE49-F238E27FC236}">
                <a16:creationId xmlns:a16="http://schemas.microsoft.com/office/drawing/2014/main" id="{C72A7977-36C2-4621-807E-FEE1D99A29BF}"/>
              </a:ext>
            </a:extLst>
          </p:cNvPr>
          <p:cNvSpPr>
            <a:spLocks xmlns:a="http://schemas.openxmlformats.org/drawingml/2006/main" noGrp="1"/>
          </p:cNvSpPr>
          <p:nvPr/>
        </p:nvSpPr>
        <p:spPr>
          <a:xfrm xmlns:a="http://schemas.openxmlformats.org/drawingml/2006/main">
            <a:off x="285750" y="2705100"/>
            <a:ext cx="5905500" cy="1504950"/>
          </a:xfrm>
          <a:prstGeom xmlns:a="http://schemas.openxmlformats.org/drawingml/2006/main" prst="roundRect">
            <a:avLst>
              <a:gd name="adj" fmla="val 569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0BCAD5BF-902D-4742-845C-E7C1F9641509}"/>
              </a:ext>
            </a:extLst>
          </p:cNvPr>
          <p:cNvSpPr>
            <a:spLocks xmlns:a="http://schemas.openxmlformats.org/drawingml/2006/main" noGrp="1"/>
          </p:cNvSpPr>
          <p:nvPr/>
        </p:nvSpPr>
        <p:spPr>
          <a:xfrm xmlns:a="http://schemas.openxmlformats.org/drawingml/2006/main">
            <a:off x="457200" y="28194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算法流程（</a:t>
            </a:r>
            <a:r>
              <a:rPr sz="1050" b="1">
                <a:solidFill>
                  <a:srgbClr val="4FD8FF"/>
                </a:solidFill>
                <a:latin typeface="微软雅黑"/>
                <a:ea typeface="微软雅黑"/>
                <a:cs typeface="微软雅黑"/>
              </a:rPr>
              <a:t>5 </a:t>
            </a:r>
            <a:r>
              <a:rPr sz="1050" b="1">
                <a:solidFill>
                  <a:srgbClr val="4FD8FF"/>
                </a:solidFill>
                <a:latin typeface="微软雅黑"/>
                <a:ea typeface="微软雅黑"/>
                <a:cs typeface="微软雅黑"/>
              </a:rPr>
              <a:t>步）</a:t>
            </a:r>
          </a:p>
        </p:txBody>
      </p:sp>
      <p:sp>
        <p:nvSpPr>
          <p:cNvPr id="25" name="">
            <a:extLst xmlns:a="http://schemas.openxmlformats.org/drawingml/2006/main">
              <a:ext uri="{FF2B5EF4-FFF2-40B4-BE49-F238E27FC236}">
                <a16:creationId xmlns:a16="http://schemas.microsoft.com/office/drawing/2014/main" id="{FACEFDBB-182A-4D64-A2F0-C94B653DF47D}"/>
              </a:ext>
            </a:extLst>
          </p:cNvPr>
          <p:cNvSpPr>
            <a:spLocks xmlns:a="http://schemas.openxmlformats.org/drawingml/2006/main" noGrp="1"/>
          </p:cNvSpPr>
          <p:nvPr/>
        </p:nvSpPr>
        <p:spPr>
          <a:xfrm xmlns:a="http://schemas.openxmlformats.org/drawingml/2006/main">
            <a:off x="457200" y="3105150"/>
            <a:ext cx="5581650" cy="1028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计算每个技能的 </a:t>
            </a:r>
            <a:r>
              <a:rPr sz="938">
                <a:solidFill>
                  <a:srgbClr val="EEF5FF"/>
                </a:solidFill>
                <a:latin typeface="微软雅黑"/>
                <a:ea typeface="微软雅黑"/>
                <a:cs typeface="微软雅黑"/>
              </a:rPr>
              <a:t>effort = </a:t>
            </a:r>
            <a:r>
              <a:rPr sz="938">
                <a:solidFill>
                  <a:srgbClr val="EEF5FF"/>
                </a:solidFill>
                <a:latin typeface="微软雅黑"/>
                <a:ea typeface="微软雅黑"/>
                <a:cs typeface="微软雅黑"/>
              </a:rPr>
              <a:t>缺口权重 </a:t>
            </a:r>
            <a:r>
              <a:rPr sz="938">
                <a:solidFill>
                  <a:srgbClr val="EEF5FF"/>
                </a:solidFill>
                <a:latin typeface="微软雅黑"/>
                <a:ea typeface="微软雅黑"/>
                <a:cs typeface="微软雅黑"/>
              </a:rPr>
              <a:t>× max(0.2, 1.6 − </a:t>
            </a:r>
            <a:r>
              <a:rPr sz="938">
                <a:solidFill>
                  <a:srgbClr val="EEF5FF"/>
                </a:solidFill>
                <a:latin typeface="微软雅黑"/>
                <a:ea typeface="微软雅黑"/>
                <a:cs typeface="微软雅黑"/>
              </a:rPr>
              <a:t>历史正确率</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2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effort </a:t>
            </a:r>
            <a:r>
              <a:rPr sz="938">
                <a:solidFill>
                  <a:srgbClr val="EEF5FF"/>
                </a:solidFill>
                <a:latin typeface="微软雅黑"/>
                <a:ea typeface="微软雅黑"/>
                <a:cs typeface="微软雅黑"/>
              </a:rPr>
              <a:t>降序排列，并按权重占比把本次题量分配到各技能；</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3　</a:t>
            </a:r>
            <a:r>
              <a:rPr sz="938">
                <a:solidFill>
                  <a:srgbClr val="EEF5FF"/>
                </a:solidFill>
                <a:latin typeface="微软雅黑"/>
                <a:ea typeface="微软雅黑"/>
                <a:cs typeface="微软雅黑"/>
              </a:rPr>
              <a:t>每个实际分配到的技能至少 </a:t>
            </a: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题，且不超过题库存量与本次剩余题量，题量耗尽后不再分配；</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4　</a:t>
            </a:r>
            <a:r>
              <a:rPr sz="938">
                <a:solidFill>
                  <a:srgbClr val="EEF5FF"/>
                </a:solidFill>
                <a:latin typeface="微软雅黑"/>
                <a:ea typeface="微软雅黑"/>
                <a:cs typeface="微软雅黑"/>
              </a:rPr>
              <a:t>技能内部按 </a:t>
            </a:r>
            <a:r>
              <a:rPr sz="938">
                <a:solidFill>
                  <a:srgbClr val="EEF5FF"/>
                </a:solidFill>
                <a:latin typeface="微软雅黑"/>
                <a:ea typeface="微软雅黑"/>
                <a:cs typeface="微软雅黑"/>
              </a:rPr>
              <a:t>used_count </a:t>
            </a:r>
            <a:r>
              <a:rPr sz="938">
                <a:solidFill>
                  <a:srgbClr val="EEF5FF"/>
                </a:solidFill>
                <a:latin typeface="微软雅黑"/>
                <a:ea typeface="微软雅黑"/>
                <a:cs typeface="微软雅黑"/>
              </a:rPr>
              <a:t>升序、题目等级升序取题；</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交卷后更新 </a:t>
            </a:r>
            <a:r>
              <a:rPr sz="938">
                <a:solidFill>
                  <a:srgbClr val="EEF5FF"/>
                </a:solidFill>
                <a:latin typeface="微软雅黑"/>
                <a:ea typeface="微软雅黑"/>
                <a:cs typeface="微软雅黑"/>
              </a:rPr>
              <a:t>practice_stat</a:t>
            </a:r>
            <a:r>
              <a:rPr sz="938">
                <a:solidFill>
                  <a:srgbClr val="EEF5FF"/>
                </a:solidFill>
                <a:latin typeface="微软雅黑"/>
                <a:ea typeface="微软雅黑"/>
                <a:cs typeface="微软雅黑"/>
              </a:rPr>
              <a:t>，错题写入 </a:t>
            </a:r>
            <a:r>
              <a:rPr sz="938">
                <a:solidFill>
                  <a:srgbClr val="EEF5FF"/>
                </a:solidFill>
                <a:latin typeface="微软雅黑"/>
                <a:ea typeface="微软雅黑"/>
                <a:cs typeface="微软雅黑"/>
              </a:rPr>
              <a:t>memory_item</a:t>
            </a:r>
            <a:r>
              <a:rPr sz="938">
                <a:solidFill>
                  <a:srgbClr val="EEF5FF"/>
                </a:solidFill>
                <a:latin typeface="微软雅黑"/>
                <a:ea typeface="微软雅黑"/>
                <a:cs typeface="微软雅黑"/>
              </a:rPr>
              <a:t>，由历史正确率影响后续组卷权重。</a:t>
            </a:r>
          </a:p>
        </p:txBody>
      </p:sp>
      <p:sp>
        <p:nvSpPr>
          <p:cNvPr id="26" name="">
            <a:extLst xmlns:a="http://schemas.openxmlformats.org/drawingml/2006/main">
              <a:ext uri="{FF2B5EF4-FFF2-40B4-BE49-F238E27FC236}">
                <a16:creationId xmlns:a16="http://schemas.microsoft.com/office/drawing/2014/main" id="{F1A01BF7-96BF-4DE7-9E6B-C934BA730916}"/>
              </a:ext>
            </a:extLst>
          </p:cNvPr>
          <p:cNvSpPr>
            <a:spLocks xmlns:a="http://schemas.openxmlformats.org/drawingml/2006/main" noGrp="1"/>
          </p:cNvSpPr>
          <p:nvPr/>
        </p:nvSpPr>
        <p:spPr>
          <a:xfrm xmlns:a="http://schemas.openxmlformats.org/drawingml/2006/main">
            <a:off x="285750" y="4343400"/>
            <a:ext cx="5905500" cy="1905000"/>
          </a:xfrm>
          <a:prstGeom xmlns:a="http://schemas.openxmlformats.org/drawingml/2006/main" prst="roundRect">
            <a:avLst>
              <a:gd name="adj" fmla="val 45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20F6794F-8438-4950-9FC2-A7DD384A40E0}"/>
              </a:ext>
            </a:extLst>
          </p:cNvPr>
          <p:cNvSpPr>
            <a:spLocks xmlns:a="http://schemas.openxmlformats.org/drawingml/2006/main" noGrp="1"/>
          </p:cNvSpPr>
          <p:nvPr/>
        </p:nvSpPr>
        <p:spPr>
          <a:xfrm xmlns:a="http://schemas.openxmlformats.org/drawingml/2006/main">
            <a:off x="457200" y="44577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输入参数（演示数据口径）</a:t>
            </a:r>
          </a:p>
        </p:txBody>
      </p:sp>
      <p:sp>
        <p:nvSpPr>
          <p:cNvPr id="28" name="">
            <a:extLst xmlns:a="http://schemas.openxmlformats.org/drawingml/2006/main">
              <a:ext uri="{FF2B5EF4-FFF2-40B4-BE49-F238E27FC236}">
                <a16:creationId xmlns:a16="http://schemas.microsoft.com/office/drawing/2014/main" id="{AE5A3304-C418-4A48-9030-1A9DD70964A2}"/>
              </a:ext>
            </a:extLst>
          </p:cNvPr>
          <p:cNvSpPr>
            <a:spLocks xmlns:a="http://schemas.openxmlformats.org/drawingml/2006/main" noGrp="1"/>
          </p:cNvSpPr>
          <p:nvPr/>
        </p:nvSpPr>
        <p:spPr>
          <a:xfrm xmlns:a="http://schemas.openxmlformats.org/drawingml/2006/main">
            <a:off x="457200" y="47815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缺口权重</a:t>
            </a:r>
          </a:p>
        </p:txBody>
      </p:sp>
      <p:sp>
        <p:nvSpPr>
          <p:cNvPr id="29" name="">
            <a:extLst xmlns:a="http://schemas.openxmlformats.org/drawingml/2006/main">
              <a:ext uri="{FF2B5EF4-FFF2-40B4-BE49-F238E27FC236}">
                <a16:creationId xmlns:a16="http://schemas.microsoft.com/office/drawing/2014/main" id="{ADE9CA61-F4AB-4826-8B4C-8DEF32179A33}"/>
              </a:ext>
            </a:extLst>
          </p:cNvPr>
          <p:cNvSpPr>
            <a:spLocks xmlns:a="http://schemas.openxmlformats.org/drawingml/2006/main" noGrp="1"/>
          </p:cNvSpPr>
          <p:nvPr/>
        </p:nvSpPr>
        <p:spPr>
          <a:xfrm xmlns:a="http://schemas.openxmlformats.org/drawingml/2006/main">
            <a:off x="1447800" y="478155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继电保护 </a:t>
            </a:r>
            <a:r>
              <a:rPr sz="863" b="0">
                <a:solidFill>
                  <a:srgbClr val="EEF5FF"/>
                </a:solidFill>
                <a:latin typeface="微软雅黑"/>
                <a:ea typeface="微软雅黑"/>
                <a:cs typeface="微软雅黑"/>
              </a:rPr>
              <a:t>3.0 / </a:t>
            </a:r>
            <a:r>
              <a:rPr sz="863" b="0">
                <a:solidFill>
                  <a:srgbClr val="EEF5FF"/>
                </a:solidFill>
                <a:latin typeface="微软雅黑"/>
                <a:ea typeface="微软雅黑"/>
                <a:cs typeface="微软雅黑"/>
              </a:rPr>
              <a:t>高压试验 </a:t>
            </a:r>
            <a:r>
              <a:rPr sz="863" b="0">
                <a:solidFill>
                  <a:srgbClr val="EEF5FF"/>
                </a:solidFill>
                <a:latin typeface="微软雅黑"/>
                <a:ea typeface="微软雅黑"/>
                <a:cs typeface="微软雅黑"/>
              </a:rPr>
              <a:t>2.0 / </a:t>
            </a:r>
            <a:r>
              <a:rPr sz="863" b="0">
                <a:solidFill>
                  <a:srgbClr val="EEF5FF"/>
                </a:solidFill>
                <a:latin typeface="微软雅黑"/>
                <a:ea typeface="微软雅黑"/>
                <a:cs typeface="微软雅黑"/>
              </a:rPr>
              <a:t>故障录波 </a:t>
            </a:r>
            <a:r>
              <a:rPr sz="863" b="0">
                <a:solidFill>
                  <a:srgbClr val="EEF5FF"/>
                </a:solidFill>
                <a:latin typeface="微软雅黑"/>
                <a:ea typeface="微软雅黑"/>
                <a:cs typeface="微软雅黑"/>
              </a:rPr>
              <a:t>2.0 / </a:t>
            </a:r>
            <a:r>
              <a:rPr sz="863" b="0">
                <a:solidFill>
                  <a:srgbClr val="EEF5FF"/>
                </a:solidFill>
                <a:latin typeface="微软雅黑"/>
                <a:ea typeface="微软雅黑"/>
                <a:cs typeface="微软雅黑"/>
              </a:rPr>
              <a:t>倒闸操作 </a:t>
            </a:r>
            <a:r>
              <a:rPr sz="863" b="0">
                <a:solidFill>
                  <a:srgbClr val="EEF5FF"/>
                </a:solidFill>
                <a:latin typeface="微软雅黑"/>
                <a:ea typeface="微软雅黑"/>
                <a:cs typeface="微软雅黑"/>
              </a:rPr>
              <a:t>1.0 / </a:t>
            </a:r>
            <a:r>
              <a:rPr sz="863" b="0">
                <a:solidFill>
                  <a:srgbClr val="EEF5FF"/>
                </a:solidFill>
                <a:latin typeface="微软雅黑"/>
                <a:ea typeface="微软雅黑"/>
                <a:cs typeface="微软雅黑"/>
              </a:rPr>
              <a:t>安全规程 </a:t>
            </a:r>
            <a:r>
              <a:rPr sz="863" b="0">
                <a:solidFill>
                  <a:srgbClr val="EEF5FF"/>
                </a:solidFill>
                <a:latin typeface="微软雅黑"/>
                <a:ea typeface="微软雅黑"/>
                <a:cs typeface="微软雅黑"/>
              </a:rPr>
              <a:t>1.0</a:t>
            </a:r>
          </a:p>
        </p:txBody>
      </p:sp>
      <p:sp>
        <p:nvSpPr>
          <p:cNvPr id="30" name="">
            <a:extLst xmlns:a="http://schemas.openxmlformats.org/drawingml/2006/main">
              <a:ext uri="{FF2B5EF4-FFF2-40B4-BE49-F238E27FC236}">
                <a16:creationId xmlns:a16="http://schemas.microsoft.com/office/drawing/2014/main" id="{675AD0C8-FC73-443E-9282-F8ACB243800A}"/>
              </a:ext>
            </a:extLst>
          </p:cNvPr>
          <p:cNvSpPr>
            <a:spLocks xmlns:a="http://schemas.openxmlformats.org/drawingml/2006/main" noGrp="1"/>
          </p:cNvSpPr>
          <p:nvPr/>
        </p:nvSpPr>
        <p:spPr>
          <a:xfrm xmlns:a="http://schemas.openxmlformats.org/drawingml/2006/main">
            <a:off x="457200" y="51435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历史正确率</a:t>
            </a:r>
          </a:p>
        </p:txBody>
      </p:sp>
      <p:sp>
        <p:nvSpPr>
          <p:cNvPr id="31" name="">
            <a:extLst xmlns:a="http://schemas.openxmlformats.org/drawingml/2006/main">
              <a:ext uri="{FF2B5EF4-FFF2-40B4-BE49-F238E27FC236}">
                <a16:creationId xmlns:a16="http://schemas.microsoft.com/office/drawing/2014/main" id="{5F232A48-E08E-4B81-BF89-BBF656B99633}"/>
              </a:ext>
            </a:extLst>
          </p:cNvPr>
          <p:cNvSpPr>
            <a:spLocks xmlns:a="http://schemas.openxmlformats.org/drawingml/2006/main" noGrp="1"/>
          </p:cNvSpPr>
          <p:nvPr/>
        </p:nvSpPr>
        <p:spPr>
          <a:xfrm xmlns:a="http://schemas.openxmlformats.org/drawingml/2006/main">
            <a:off x="1447800" y="514350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正确题数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已答题数；没有练习记录时按 </a:t>
            </a:r>
            <a:r>
              <a:rPr sz="863" b="0">
                <a:solidFill>
                  <a:srgbClr val="EEF5FF"/>
                </a:solidFill>
                <a:latin typeface="微软雅黑"/>
                <a:ea typeface="微软雅黑"/>
                <a:cs typeface="微软雅黑"/>
              </a:rPr>
              <a:t>0.70 </a:t>
            </a:r>
            <a:r>
              <a:rPr sz="863" b="0">
                <a:solidFill>
                  <a:srgbClr val="EEF5FF"/>
                </a:solidFill>
                <a:latin typeface="微软雅黑"/>
                <a:ea typeface="微软雅黑"/>
                <a:cs typeface="微软雅黑"/>
              </a:rPr>
              <a:t>冷启动</a:t>
            </a:r>
          </a:p>
        </p:txBody>
      </p:sp>
      <p:sp>
        <p:nvSpPr>
          <p:cNvPr id="32" name="">
            <a:extLst xmlns:a="http://schemas.openxmlformats.org/drawingml/2006/main">
              <a:ext uri="{FF2B5EF4-FFF2-40B4-BE49-F238E27FC236}">
                <a16:creationId xmlns:a16="http://schemas.microsoft.com/office/drawing/2014/main" id="{57B01FC9-B05C-4347-9BB0-668052ED9816}"/>
              </a:ext>
            </a:extLst>
          </p:cNvPr>
          <p:cNvSpPr>
            <a:spLocks xmlns:a="http://schemas.openxmlformats.org/drawingml/2006/main" noGrp="1"/>
          </p:cNvSpPr>
          <p:nvPr/>
        </p:nvSpPr>
        <p:spPr>
          <a:xfrm xmlns:a="http://schemas.openxmlformats.org/drawingml/2006/main">
            <a:off x="457200" y="550545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题库存量</a:t>
            </a:r>
          </a:p>
        </p:txBody>
      </p:sp>
      <p:sp>
        <p:nvSpPr>
          <p:cNvPr id="33" name="">
            <a:extLst xmlns:a="http://schemas.openxmlformats.org/drawingml/2006/main">
              <a:ext uri="{FF2B5EF4-FFF2-40B4-BE49-F238E27FC236}">
                <a16:creationId xmlns:a16="http://schemas.microsoft.com/office/drawing/2014/main" id="{A8A61D98-4850-41CA-AA12-A027ACB0D6A6}"/>
              </a:ext>
            </a:extLst>
          </p:cNvPr>
          <p:cNvSpPr>
            <a:spLocks xmlns:a="http://schemas.openxmlformats.org/drawingml/2006/main" noGrp="1"/>
          </p:cNvSpPr>
          <p:nvPr/>
        </p:nvSpPr>
        <p:spPr>
          <a:xfrm xmlns:a="http://schemas.openxmlformats.org/drawingml/2006/main">
            <a:off x="1447800" y="550545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按技能统计可抽题数，并从 </a:t>
            </a:r>
            <a:r>
              <a:rPr sz="863" b="0">
                <a:solidFill>
                  <a:srgbClr val="EEF5FF"/>
                </a:solidFill>
                <a:latin typeface="微软雅黑"/>
                <a:ea typeface="微软雅黑"/>
                <a:cs typeface="微软雅黑"/>
              </a:rPr>
              <a:t>used_count </a:t>
            </a:r>
            <a:r>
              <a:rPr sz="863" b="0">
                <a:solidFill>
                  <a:srgbClr val="EEF5FF"/>
                </a:solidFill>
                <a:latin typeface="微软雅黑"/>
                <a:ea typeface="微软雅黑"/>
                <a:cs typeface="微软雅黑"/>
              </a:rPr>
              <a:t>少的题开始选，避免反复抽同一题</a:t>
            </a:r>
          </a:p>
        </p:txBody>
      </p:sp>
      <p:sp>
        <p:nvSpPr>
          <p:cNvPr id="34" name="">
            <a:extLst xmlns:a="http://schemas.openxmlformats.org/drawingml/2006/main">
              <a:ext uri="{FF2B5EF4-FFF2-40B4-BE49-F238E27FC236}">
                <a16:creationId xmlns:a16="http://schemas.microsoft.com/office/drawing/2014/main" id="{14E10035-5E6E-4D66-9267-FBA691A4F286}"/>
              </a:ext>
            </a:extLst>
          </p:cNvPr>
          <p:cNvSpPr>
            <a:spLocks xmlns:a="http://schemas.openxmlformats.org/drawingml/2006/main" noGrp="1"/>
          </p:cNvSpPr>
          <p:nvPr/>
        </p:nvSpPr>
        <p:spPr>
          <a:xfrm xmlns:a="http://schemas.openxmlformats.org/drawingml/2006/main">
            <a:off x="457200" y="5867400"/>
            <a:ext cx="952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已实现入口</a:t>
            </a:r>
          </a:p>
        </p:txBody>
      </p:sp>
      <p:sp>
        <p:nvSpPr>
          <p:cNvPr id="35" name="">
            <a:extLst xmlns:a="http://schemas.openxmlformats.org/drawingml/2006/main">
              <a:ext uri="{FF2B5EF4-FFF2-40B4-BE49-F238E27FC236}">
                <a16:creationId xmlns:a16="http://schemas.microsoft.com/office/drawing/2014/main" id="{D5DF9EE1-ABBE-4F31-98A9-39499BFB57F2}"/>
              </a:ext>
            </a:extLst>
          </p:cNvPr>
          <p:cNvSpPr>
            <a:spLocks xmlns:a="http://schemas.openxmlformats.org/drawingml/2006/main" noGrp="1"/>
          </p:cNvSpPr>
          <p:nvPr/>
        </p:nvSpPr>
        <p:spPr>
          <a:xfrm xmlns:a="http://schemas.openxmlformats.org/drawingml/2006/main">
            <a:off x="1447800" y="5867400"/>
            <a:ext cx="45910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员工端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学习与考试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练习题；已落库：缺口权重、逐技能正确率、题目使用次数、抽题与练习记录</a:t>
            </a:r>
          </a:p>
        </p:txBody>
      </p:sp>
      <p:sp>
        <p:nvSpPr>
          <p:cNvPr id="36" name="">
            <a:extLst xmlns:a="http://schemas.openxmlformats.org/drawingml/2006/main">
              <a:ext uri="{FF2B5EF4-FFF2-40B4-BE49-F238E27FC236}">
                <a16:creationId xmlns:a16="http://schemas.microsoft.com/office/drawing/2014/main" id="{D7090BDD-5595-4B74-A200-1C247EA8D134}"/>
              </a:ext>
            </a:extLst>
          </p:cNvPr>
          <p:cNvSpPr>
            <a:spLocks xmlns:a="http://schemas.openxmlformats.org/drawingml/2006/main" noGrp="1"/>
          </p:cNvSpPr>
          <p:nvPr/>
        </p:nvSpPr>
        <p:spPr>
          <a:xfrm xmlns:a="http://schemas.openxmlformats.org/drawingml/2006/main">
            <a:off x="6419850" y="13335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闭环：抽题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作答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正确率更新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错题入记忆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重新分配题量</a:t>
            </a:r>
          </a:p>
        </p:txBody>
      </p:sp>
      <p:sp>
        <p:nvSpPr>
          <p:cNvPr id="37" name="">
            <a:extLst xmlns:a="http://schemas.openxmlformats.org/drawingml/2006/main">
              <a:ext uri="{FF2B5EF4-FFF2-40B4-BE49-F238E27FC236}">
                <a16:creationId xmlns:a16="http://schemas.microsoft.com/office/drawing/2014/main" id="{4F100B04-8A00-44B9-B37E-D362503F5A86}"/>
              </a:ext>
            </a:extLst>
          </p:cNvPr>
          <p:cNvSpPr>
            <a:spLocks xmlns:a="http://schemas.openxmlformats.org/drawingml/2006/main" noGrp="1"/>
          </p:cNvSpPr>
          <p:nvPr/>
        </p:nvSpPr>
        <p:spPr>
          <a:xfrm xmlns:a="http://schemas.openxmlformats.org/drawingml/2006/main">
            <a:off x="6419850" y="16383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8" name="">
            <a:extLst xmlns:a="http://schemas.openxmlformats.org/drawingml/2006/main">
              <a:ext uri="{FF2B5EF4-FFF2-40B4-BE49-F238E27FC236}">
                <a16:creationId xmlns:a16="http://schemas.microsoft.com/office/drawing/2014/main" id="{CE9CF4DB-D9AF-4AE6-BF4D-39B28825A7CA}"/>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ellipse">
            <a:avLst/>
          </a:prstGeom>
          <a:solidFill xmlns:a="http://schemas.openxmlformats.org/drawingml/2006/main">
            <a:srgbClr val="2E86E0"/>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364D7B6D-E1A5-4FBB-A32F-2B41B9385CAA}"/>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1</a:t>
            </a:r>
          </a:p>
        </p:txBody>
      </p:sp>
      <p:sp>
        <p:nvSpPr>
          <p:cNvPr id="40" name="">
            <a:extLst xmlns:a="http://schemas.openxmlformats.org/drawingml/2006/main">
              <a:ext uri="{FF2B5EF4-FFF2-40B4-BE49-F238E27FC236}">
                <a16:creationId xmlns:a16="http://schemas.microsoft.com/office/drawing/2014/main" id="{C02C752F-1373-46C8-939D-CC1B89C3AC88}"/>
              </a:ext>
            </a:extLst>
          </p:cNvPr>
          <p:cNvSpPr>
            <a:spLocks xmlns:a="http://schemas.openxmlformats.org/drawingml/2006/main" noGrp="1"/>
          </p:cNvSpPr>
          <p:nvPr/>
        </p:nvSpPr>
        <p:spPr>
          <a:xfrm xmlns:a="http://schemas.openxmlformats.org/drawingml/2006/main">
            <a:off x="6915150" y="17335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抽题</a:t>
            </a:r>
          </a:p>
        </p:txBody>
      </p:sp>
      <p:sp>
        <p:nvSpPr>
          <p:cNvPr id="41" name="">
            <a:extLst xmlns:a="http://schemas.openxmlformats.org/drawingml/2006/main">
              <a:ext uri="{FF2B5EF4-FFF2-40B4-BE49-F238E27FC236}">
                <a16:creationId xmlns:a16="http://schemas.microsoft.com/office/drawing/2014/main" id="{DF799733-8B8C-45F1-91B6-16491A0B76E8}"/>
              </a:ext>
            </a:extLst>
          </p:cNvPr>
          <p:cNvSpPr>
            <a:spLocks xmlns:a="http://schemas.openxmlformats.org/drawingml/2006/main" noGrp="1"/>
          </p:cNvSpPr>
          <p:nvPr/>
        </p:nvSpPr>
        <p:spPr>
          <a:xfrm xmlns:a="http://schemas.openxmlformats.org/drawingml/2006/main">
            <a:off x="6915150" y="19621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 </a:t>
            </a:r>
            <a:r>
              <a:rPr sz="863" b="0">
                <a:solidFill>
                  <a:srgbClr val="EEF5FF"/>
                </a:solidFill>
                <a:latin typeface="微软雅黑"/>
                <a:ea typeface="微软雅黑"/>
                <a:cs typeface="微软雅黑"/>
              </a:rPr>
              <a:t>effort </a:t>
            </a:r>
            <a:r>
              <a:rPr sz="863" b="0">
                <a:solidFill>
                  <a:srgbClr val="EEF5FF"/>
                </a:solidFill>
                <a:latin typeface="微软雅黑"/>
                <a:ea typeface="微软雅黑"/>
                <a:cs typeface="微软雅黑"/>
              </a:rPr>
              <a:t>分配题量，</a:t>
            </a:r>
            <a:r>
              <a:rPr sz="863" b="0">
                <a:solidFill>
                  <a:srgbClr val="EEF5FF"/>
                </a:solidFill>
                <a:latin typeface="微软雅黑"/>
                <a:ea typeface="微软雅黑"/>
                <a:cs typeface="微软雅黑"/>
              </a:rPr>
              <a:t>used_count </a:t>
            </a:r>
            <a:r>
              <a:rPr sz="863" b="0">
                <a:solidFill>
                  <a:srgbClr val="EEF5FF"/>
                </a:solidFill>
                <a:latin typeface="微软雅黑"/>
                <a:ea typeface="微软雅黑"/>
                <a:cs typeface="微软雅黑"/>
              </a:rPr>
              <a:t>少的题优先</a:t>
            </a:r>
          </a:p>
        </p:txBody>
      </p:sp>
      <p:sp>
        <p:nvSpPr>
          <p:cNvPr id="42" name="">
            <a:extLst xmlns:a="http://schemas.openxmlformats.org/drawingml/2006/main">
              <a:ext uri="{FF2B5EF4-FFF2-40B4-BE49-F238E27FC236}">
                <a16:creationId xmlns:a16="http://schemas.microsoft.com/office/drawing/2014/main" id="{5AD6667C-A9DD-427F-96B5-8FDC61E830D6}"/>
              </a:ext>
            </a:extLst>
          </p:cNvPr>
          <p:cNvSpPr>
            <a:spLocks xmlns:a="http://schemas.openxmlformats.org/drawingml/2006/main" noGrp="1"/>
          </p:cNvSpPr>
          <p:nvPr/>
        </p:nvSpPr>
        <p:spPr>
          <a:xfrm xmlns:a="http://schemas.openxmlformats.org/drawingml/2006/main">
            <a:off x="6610350" y="22669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43" name="">
            <a:extLst xmlns:a="http://schemas.openxmlformats.org/drawingml/2006/main">
              <a:ext uri="{FF2B5EF4-FFF2-40B4-BE49-F238E27FC236}">
                <a16:creationId xmlns:a16="http://schemas.microsoft.com/office/drawing/2014/main" id="{02B2B326-D817-4739-933D-D2E447FA9B6F}"/>
              </a:ext>
            </a:extLst>
          </p:cNvPr>
          <p:cNvSpPr>
            <a:spLocks xmlns:a="http://schemas.openxmlformats.org/drawingml/2006/main" noGrp="1"/>
          </p:cNvSpPr>
          <p:nvPr/>
        </p:nvSpPr>
        <p:spPr>
          <a:xfrm xmlns:a="http://schemas.openxmlformats.org/drawingml/2006/main">
            <a:off x="6419850" y="23622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4" name="">
            <a:extLst xmlns:a="http://schemas.openxmlformats.org/drawingml/2006/main">
              <a:ext uri="{FF2B5EF4-FFF2-40B4-BE49-F238E27FC236}">
                <a16:creationId xmlns:a16="http://schemas.microsoft.com/office/drawing/2014/main" id="{90A5A5F0-FBBE-43F4-8482-E39BA70EABAB}"/>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ellipse">
            <a:avLst/>
          </a:prstGeom>
          <a:solidFill xmlns:a="http://schemas.openxmlformats.org/drawingml/2006/main">
            <a:srgbClr val="2E86E0"/>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95D5562C-5524-4011-8199-61381AE34821}"/>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2</a:t>
            </a:r>
          </a:p>
        </p:txBody>
      </p:sp>
      <p:sp>
        <p:nvSpPr>
          <p:cNvPr id="46" name="">
            <a:extLst xmlns:a="http://schemas.openxmlformats.org/drawingml/2006/main">
              <a:ext uri="{FF2B5EF4-FFF2-40B4-BE49-F238E27FC236}">
                <a16:creationId xmlns:a16="http://schemas.microsoft.com/office/drawing/2014/main" id="{6C754D3F-9C0B-4648-9DF2-1FA91D966B14}"/>
              </a:ext>
            </a:extLst>
          </p:cNvPr>
          <p:cNvSpPr>
            <a:spLocks xmlns:a="http://schemas.openxmlformats.org/drawingml/2006/main" noGrp="1"/>
          </p:cNvSpPr>
          <p:nvPr/>
        </p:nvSpPr>
        <p:spPr>
          <a:xfrm xmlns:a="http://schemas.openxmlformats.org/drawingml/2006/main">
            <a:off x="6915150" y="24574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作答</a:t>
            </a:r>
          </a:p>
        </p:txBody>
      </p:sp>
      <p:sp>
        <p:nvSpPr>
          <p:cNvPr id="47" name="">
            <a:extLst xmlns:a="http://schemas.openxmlformats.org/drawingml/2006/main">
              <a:ext uri="{FF2B5EF4-FFF2-40B4-BE49-F238E27FC236}">
                <a16:creationId xmlns:a16="http://schemas.microsoft.com/office/drawing/2014/main" id="{D8CFB1C1-A59A-4070-BEAD-96750D7A692C}"/>
              </a:ext>
            </a:extLst>
          </p:cNvPr>
          <p:cNvSpPr>
            <a:spLocks xmlns:a="http://schemas.openxmlformats.org/drawingml/2006/main" noGrp="1"/>
          </p:cNvSpPr>
          <p:nvPr/>
        </p:nvSpPr>
        <p:spPr>
          <a:xfrm xmlns:a="http://schemas.openxmlformats.org/drawingml/2006/main">
            <a:off x="6915150" y="26860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员工端在线作答，客观题自动判分</a:t>
            </a:r>
          </a:p>
        </p:txBody>
      </p:sp>
      <p:sp>
        <p:nvSpPr>
          <p:cNvPr id="48" name="">
            <a:extLst xmlns:a="http://schemas.openxmlformats.org/drawingml/2006/main">
              <a:ext uri="{FF2B5EF4-FFF2-40B4-BE49-F238E27FC236}">
                <a16:creationId xmlns:a16="http://schemas.microsoft.com/office/drawing/2014/main" id="{CF783724-8E16-43DC-AF27-1A636EEE904A}"/>
              </a:ext>
            </a:extLst>
          </p:cNvPr>
          <p:cNvSpPr>
            <a:spLocks xmlns:a="http://schemas.openxmlformats.org/drawingml/2006/main" noGrp="1"/>
          </p:cNvSpPr>
          <p:nvPr/>
        </p:nvSpPr>
        <p:spPr>
          <a:xfrm xmlns:a="http://schemas.openxmlformats.org/drawingml/2006/main">
            <a:off x="6610350" y="29908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49" name="">
            <a:extLst xmlns:a="http://schemas.openxmlformats.org/drawingml/2006/main">
              <a:ext uri="{FF2B5EF4-FFF2-40B4-BE49-F238E27FC236}">
                <a16:creationId xmlns:a16="http://schemas.microsoft.com/office/drawing/2014/main" id="{E3F5B5DF-6872-4D98-9E8B-90AF578852C9}"/>
              </a:ext>
            </a:extLst>
          </p:cNvPr>
          <p:cNvSpPr>
            <a:spLocks xmlns:a="http://schemas.openxmlformats.org/drawingml/2006/main" noGrp="1"/>
          </p:cNvSpPr>
          <p:nvPr/>
        </p:nvSpPr>
        <p:spPr>
          <a:xfrm xmlns:a="http://schemas.openxmlformats.org/drawingml/2006/main">
            <a:off x="6419850" y="30861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0" name="">
            <a:extLst xmlns:a="http://schemas.openxmlformats.org/drawingml/2006/main">
              <a:ext uri="{FF2B5EF4-FFF2-40B4-BE49-F238E27FC236}">
                <a16:creationId xmlns:a16="http://schemas.microsoft.com/office/drawing/2014/main" id="{F148B38A-9F33-495C-A23F-D04D16FB9876}"/>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ellipse">
            <a:avLst/>
          </a:prstGeom>
          <a:solidFill xmlns:a="http://schemas.openxmlformats.org/drawingml/2006/main">
            <a:srgbClr val="2E86E0"/>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1EB8068F-F935-4F99-8461-B781EC3349EF}"/>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3</a:t>
            </a:r>
          </a:p>
        </p:txBody>
      </p:sp>
      <p:sp>
        <p:nvSpPr>
          <p:cNvPr id="52" name="">
            <a:extLst xmlns:a="http://schemas.openxmlformats.org/drawingml/2006/main">
              <a:ext uri="{FF2B5EF4-FFF2-40B4-BE49-F238E27FC236}">
                <a16:creationId xmlns:a16="http://schemas.microsoft.com/office/drawing/2014/main" id="{7FECDEA1-B8A9-4995-9EA5-9E306C90621D}"/>
              </a:ext>
            </a:extLst>
          </p:cNvPr>
          <p:cNvSpPr>
            <a:spLocks xmlns:a="http://schemas.openxmlformats.org/drawingml/2006/main" noGrp="1"/>
          </p:cNvSpPr>
          <p:nvPr/>
        </p:nvSpPr>
        <p:spPr>
          <a:xfrm xmlns:a="http://schemas.openxmlformats.org/drawingml/2006/main">
            <a:off x="6915150" y="31813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正确率更新</a:t>
            </a:r>
          </a:p>
        </p:txBody>
      </p:sp>
      <p:sp>
        <p:nvSpPr>
          <p:cNvPr id="53" name="">
            <a:extLst xmlns:a="http://schemas.openxmlformats.org/drawingml/2006/main">
              <a:ext uri="{FF2B5EF4-FFF2-40B4-BE49-F238E27FC236}">
                <a16:creationId xmlns:a16="http://schemas.microsoft.com/office/drawing/2014/main" id="{C93E661B-C829-470C-8050-0D80E9DE0C96}"/>
              </a:ext>
            </a:extLst>
          </p:cNvPr>
          <p:cNvSpPr>
            <a:spLocks xmlns:a="http://schemas.openxmlformats.org/drawingml/2006/main" noGrp="1"/>
          </p:cNvSpPr>
          <p:nvPr/>
        </p:nvSpPr>
        <p:spPr>
          <a:xfrm xmlns:a="http://schemas.openxmlformats.org/drawingml/2006/main">
            <a:off x="6915150" y="34099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写回 </a:t>
            </a:r>
            <a:r>
              <a:rPr sz="863" b="0">
                <a:solidFill>
                  <a:srgbClr val="EEF5FF"/>
                </a:solidFill>
                <a:latin typeface="微软雅黑"/>
                <a:ea typeface="微软雅黑"/>
                <a:cs typeface="微软雅黑"/>
              </a:rPr>
              <a:t>practice_stat</a:t>
            </a:r>
            <a:r>
              <a:rPr sz="863" b="0">
                <a:solidFill>
                  <a:srgbClr val="EEF5FF"/>
                </a:solidFill>
                <a:latin typeface="微软雅黑"/>
                <a:ea typeface="微软雅黑"/>
                <a:cs typeface="微软雅黑"/>
              </a:rPr>
              <a:t>，形成逐技能正确率</a:t>
            </a:r>
          </a:p>
        </p:txBody>
      </p:sp>
      <p:sp>
        <p:nvSpPr>
          <p:cNvPr id="54" name="">
            <a:extLst xmlns:a="http://schemas.openxmlformats.org/drawingml/2006/main">
              <a:ext uri="{FF2B5EF4-FFF2-40B4-BE49-F238E27FC236}">
                <a16:creationId xmlns:a16="http://schemas.microsoft.com/office/drawing/2014/main" id="{61B31CE2-596D-4A41-B9A6-58993801CFF7}"/>
              </a:ext>
            </a:extLst>
          </p:cNvPr>
          <p:cNvSpPr>
            <a:spLocks xmlns:a="http://schemas.openxmlformats.org/drawingml/2006/main" noGrp="1"/>
          </p:cNvSpPr>
          <p:nvPr/>
        </p:nvSpPr>
        <p:spPr>
          <a:xfrm xmlns:a="http://schemas.openxmlformats.org/drawingml/2006/main">
            <a:off x="6610350" y="37147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55" name="">
            <a:extLst xmlns:a="http://schemas.openxmlformats.org/drawingml/2006/main">
              <a:ext uri="{FF2B5EF4-FFF2-40B4-BE49-F238E27FC236}">
                <a16:creationId xmlns:a16="http://schemas.microsoft.com/office/drawing/2014/main" id="{A1409F6D-7E18-4A4F-8FE7-BDF11E1DBFF4}"/>
              </a:ext>
            </a:extLst>
          </p:cNvPr>
          <p:cNvSpPr>
            <a:spLocks xmlns:a="http://schemas.openxmlformats.org/drawingml/2006/main" noGrp="1"/>
          </p:cNvSpPr>
          <p:nvPr/>
        </p:nvSpPr>
        <p:spPr>
          <a:xfrm xmlns:a="http://schemas.openxmlformats.org/drawingml/2006/main">
            <a:off x="6419850" y="38100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6" name="">
            <a:extLst xmlns:a="http://schemas.openxmlformats.org/drawingml/2006/main">
              <a:ext uri="{FF2B5EF4-FFF2-40B4-BE49-F238E27FC236}">
                <a16:creationId xmlns:a16="http://schemas.microsoft.com/office/drawing/2014/main" id="{B618D82A-52EC-4754-B8EA-217C8C254821}"/>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ellipse">
            <a:avLst/>
          </a:prstGeom>
          <a:solidFill xmlns:a="http://schemas.openxmlformats.org/drawingml/2006/main">
            <a:srgbClr val="2E86E0"/>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D4E9C668-F286-459A-BFA3-224DE3678317}"/>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4</a:t>
            </a:r>
          </a:p>
        </p:txBody>
      </p:sp>
      <p:sp>
        <p:nvSpPr>
          <p:cNvPr id="58" name="">
            <a:extLst xmlns:a="http://schemas.openxmlformats.org/drawingml/2006/main">
              <a:ext uri="{FF2B5EF4-FFF2-40B4-BE49-F238E27FC236}">
                <a16:creationId xmlns:a16="http://schemas.microsoft.com/office/drawing/2014/main" id="{A1773F8D-97F8-40E5-8426-D3CDB74B61E3}"/>
              </a:ext>
            </a:extLst>
          </p:cNvPr>
          <p:cNvSpPr>
            <a:spLocks xmlns:a="http://schemas.openxmlformats.org/drawingml/2006/main" noGrp="1"/>
          </p:cNvSpPr>
          <p:nvPr/>
        </p:nvSpPr>
        <p:spPr>
          <a:xfrm xmlns:a="http://schemas.openxmlformats.org/drawingml/2006/main">
            <a:off x="6915150" y="39052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错题入记忆</a:t>
            </a:r>
          </a:p>
        </p:txBody>
      </p:sp>
      <p:sp>
        <p:nvSpPr>
          <p:cNvPr id="59" name="">
            <a:extLst xmlns:a="http://schemas.openxmlformats.org/drawingml/2006/main">
              <a:ext uri="{FF2B5EF4-FFF2-40B4-BE49-F238E27FC236}">
                <a16:creationId xmlns:a16="http://schemas.microsoft.com/office/drawing/2014/main" id="{21BE99DB-0969-46D4-808D-2054B1396865}"/>
              </a:ext>
            </a:extLst>
          </p:cNvPr>
          <p:cNvSpPr>
            <a:spLocks xmlns:a="http://schemas.openxmlformats.org/drawingml/2006/main" noGrp="1"/>
          </p:cNvSpPr>
          <p:nvPr/>
        </p:nvSpPr>
        <p:spPr>
          <a:xfrm xmlns:a="http://schemas.openxmlformats.org/drawingml/2006/main">
            <a:off x="6915150" y="41338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错题写 </a:t>
            </a:r>
            <a:r>
              <a:rPr sz="863" b="0">
                <a:solidFill>
                  <a:srgbClr val="EEF5FF"/>
                </a:solidFill>
                <a:latin typeface="微软雅黑"/>
                <a:ea typeface="微软雅黑"/>
                <a:cs typeface="微软雅黑"/>
              </a:rPr>
              <a:t>memory_item</a:t>
            </a:r>
            <a:r>
              <a:rPr sz="863" b="0">
                <a:solidFill>
                  <a:srgbClr val="EEF5FF"/>
                </a:solidFill>
                <a:latin typeface="微软雅黑"/>
                <a:ea typeface="微软雅黑"/>
                <a:cs typeface="微软雅黑"/>
              </a:rPr>
              <a:t>，归因到知识点与技能</a:t>
            </a:r>
          </a:p>
        </p:txBody>
      </p:sp>
      <p:sp>
        <p:nvSpPr>
          <p:cNvPr id="60" name="">
            <a:extLst xmlns:a="http://schemas.openxmlformats.org/drawingml/2006/main">
              <a:ext uri="{FF2B5EF4-FFF2-40B4-BE49-F238E27FC236}">
                <a16:creationId xmlns:a16="http://schemas.microsoft.com/office/drawing/2014/main" id="{27851B3D-DA61-4289-AC04-306A8B79F094}"/>
              </a:ext>
            </a:extLst>
          </p:cNvPr>
          <p:cNvSpPr>
            <a:spLocks xmlns:a="http://schemas.openxmlformats.org/drawingml/2006/main" noGrp="1"/>
          </p:cNvSpPr>
          <p:nvPr/>
        </p:nvSpPr>
        <p:spPr>
          <a:xfrm xmlns:a="http://schemas.openxmlformats.org/drawingml/2006/main">
            <a:off x="6610350" y="4438650"/>
            <a:ext cx="228600" cy="114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61" name="">
            <a:extLst xmlns:a="http://schemas.openxmlformats.org/drawingml/2006/main">
              <a:ext uri="{FF2B5EF4-FFF2-40B4-BE49-F238E27FC236}">
                <a16:creationId xmlns:a16="http://schemas.microsoft.com/office/drawing/2014/main" id="{57450A73-FD0E-4126-A67B-974A8BAA5804}"/>
              </a:ext>
            </a:extLst>
          </p:cNvPr>
          <p:cNvSpPr>
            <a:spLocks xmlns:a="http://schemas.openxmlformats.org/drawingml/2006/main" noGrp="1"/>
          </p:cNvSpPr>
          <p:nvPr/>
        </p:nvSpPr>
        <p:spPr>
          <a:xfrm xmlns:a="http://schemas.openxmlformats.org/drawingml/2006/main">
            <a:off x="6419850" y="4533900"/>
            <a:ext cx="5486400" cy="609600"/>
          </a:xfrm>
          <a:prstGeom xmlns:a="http://schemas.openxmlformats.org/drawingml/2006/main" prst="roundRect">
            <a:avLst>
              <a:gd name="adj" fmla="val 14063"/>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FFD24A"/>
            </a:solidFill>
            <a:prstDash val="solid"/>
          </a:ln>
        </p:spPr>
      </p:sp>
      <p:sp>
        <p:nvSpPr>
          <p:cNvPr id="62" name="">
            <a:extLst xmlns:a="http://schemas.openxmlformats.org/drawingml/2006/main">
              <a:ext uri="{FF2B5EF4-FFF2-40B4-BE49-F238E27FC236}">
                <a16:creationId xmlns:a16="http://schemas.microsoft.com/office/drawing/2014/main" id="{7B8BC90F-7AD1-4797-8C1D-417029B25382}"/>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ellipse">
            <a:avLst/>
          </a:prstGeom>
          <a:solidFill xmlns:a="http://schemas.openxmlformats.org/drawingml/2006/main">
            <a:srgbClr val="FFD24A"/>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1FE57B42-3F82-4EB6-91EC-6BF27C3D3672}"/>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0A2F6B"/>
                </a:solidFill>
                <a:latin typeface="Bahnschrift"/>
                <a:ea typeface="Bahnschrift"/>
                <a:cs typeface="Bahnschrift"/>
              </a:defRPr>
            </a:pPr>
            <a:r>
              <a:rPr sz="900" b="1">
                <a:solidFill>
                  <a:srgbClr val="0A2F6B"/>
                </a:solidFill>
                <a:latin typeface="Bahnschrift"/>
                <a:ea typeface="Bahnschrift"/>
                <a:cs typeface="Bahnschrift"/>
              </a:rPr>
              <a:t>5</a:t>
            </a:r>
          </a:p>
        </p:txBody>
      </p:sp>
      <p:sp>
        <p:nvSpPr>
          <p:cNvPr id="64" name="">
            <a:extLst xmlns:a="http://schemas.openxmlformats.org/drawingml/2006/main">
              <a:ext uri="{FF2B5EF4-FFF2-40B4-BE49-F238E27FC236}">
                <a16:creationId xmlns:a16="http://schemas.microsoft.com/office/drawing/2014/main" id="{96355B54-09C9-4079-AC2B-49A261817E8D}"/>
              </a:ext>
            </a:extLst>
          </p:cNvPr>
          <p:cNvSpPr>
            <a:spLocks xmlns:a="http://schemas.openxmlformats.org/drawingml/2006/main" noGrp="1"/>
          </p:cNvSpPr>
          <p:nvPr/>
        </p:nvSpPr>
        <p:spPr>
          <a:xfrm xmlns:a="http://schemas.openxmlformats.org/drawingml/2006/main">
            <a:off x="6915150" y="4629150"/>
            <a:ext cx="190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重新分配题量</a:t>
            </a:r>
          </a:p>
        </p:txBody>
      </p:sp>
      <p:sp>
        <p:nvSpPr>
          <p:cNvPr id="65" name="">
            <a:extLst xmlns:a="http://schemas.openxmlformats.org/drawingml/2006/main">
              <a:ext uri="{FF2B5EF4-FFF2-40B4-BE49-F238E27FC236}">
                <a16:creationId xmlns:a16="http://schemas.microsoft.com/office/drawing/2014/main" id="{83970480-0055-4815-B70E-A743566CB948}"/>
              </a:ext>
            </a:extLst>
          </p:cNvPr>
          <p:cNvSpPr>
            <a:spLocks xmlns:a="http://schemas.openxmlformats.org/drawingml/2006/main" noGrp="1"/>
          </p:cNvSpPr>
          <p:nvPr/>
        </p:nvSpPr>
        <p:spPr>
          <a:xfrm xmlns:a="http://schemas.openxmlformats.org/drawingml/2006/main">
            <a:off x="6915150" y="4857750"/>
            <a:ext cx="48768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下一轮组卷按新的正确率重新计算 </a:t>
            </a:r>
            <a:r>
              <a:rPr sz="863" b="0">
                <a:solidFill>
                  <a:srgbClr val="EEF5FF"/>
                </a:solidFill>
                <a:latin typeface="微软雅黑"/>
                <a:ea typeface="微软雅黑"/>
                <a:cs typeface="微软雅黑"/>
              </a:rPr>
              <a:t>effort</a:t>
            </a:r>
          </a:p>
        </p:txBody>
      </p:sp>
      <p:sp>
        <p:nvSpPr>
          <p:cNvPr id="66" name="">
            <a:extLst xmlns:a="http://schemas.openxmlformats.org/drawingml/2006/main">
              <a:ext uri="{FF2B5EF4-FFF2-40B4-BE49-F238E27FC236}">
                <a16:creationId xmlns:a16="http://schemas.microsoft.com/office/drawing/2014/main" id="{0E1D43D2-35AC-4E9F-969C-B3C19C3E94F8}"/>
              </a:ext>
            </a:extLst>
          </p:cNvPr>
          <p:cNvSpPr>
            <a:spLocks xmlns:a="http://schemas.openxmlformats.org/drawingml/2006/main" noGrp="1"/>
          </p:cNvSpPr>
          <p:nvPr/>
        </p:nvSpPr>
        <p:spPr>
          <a:xfrm xmlns:a="http://schemas.openxmlformats.org/drawingml/2006/main">
            <a:off x="6419850" y="5257800"/>
            <a:ext cx="5486400" cy="990600"/>
          </a:xfrm>
          <a:prstGeom xmlns:a="http://schemas.openxmlformats.org/drawingml/2006/main" prst="roundRect">
            <a:avLst>
              <a:gd name="adj" fmla="val 865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7" name="">
            <a:extLst xmlns:a="http://schemas.openxmlformats.org/drawingml/2006/main">
              <a:ext uri="{FF2B5EF4-FFF2-40B4-BE49-F238E27FC236}">
                <a16:creationId xmlns:a16="http://schemas.microsoft.com/office/drawing/2014/main" id="{DC7D09B1-5D7F-4CC5-81B9-331953ECFFFF}"/>
              </a:ext>
            </a:extLst>
          </p:cNvPr>
          <p:cNvSpPr>
            <a:spLocks xmlns:a="http://schemas.openxmlformats.org/drawingml/2006/main" noGrp="1"/>
          </p:cNvSpPr>
          <p:nvPr/>
        </p:nvSpPr>
        <p:spPr>
          <a:xfrm xmlns:a="http://schemas.openxmlformats.org/drawingml/2006/main">
            <a:off x="6591300" y="5372100"/>
            <a:ext cx="5143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5FE3A1"/>
                </a:solidFill>
                <a:latin typeface="微软雅黑"/>
                <a:ea typeface="微软雅黑"/>
                <a:cs typeface="微软雅黑"/>
              </a:defRPr>
            </a:pPr>
            <a:r>
              <a:rPr sz="1013" b="1">
                <a:solidFill>
                  <a:srgbClr val="5FE3A1"/>
                </a:solidFill>
                <a:latin typeface="微软雅黑"/>
                <a:ea typeface="微软雅黑"/>
                <a:cs typeface="微软雅黑"/>
              </a:rPr>
              <a:t>与「固定套卷」的差异</a:t>
            </a:r>
          </a:p>
        </p:txBody>
      </p:sp>
      <p:sp>
        <p:nvSpPr>
          <p:cNvPr id="68" name="">
            <a:extLst xmlns:a="http://schemas.openxmlformats.org/drawingml/2006/main">
              <a:ext uri="{FF2B5EF4-FFF2-40B4-BE49-F238E27FC236}">
                <a16:creationId xmlns:a16="http://schemas.microsoft.com/office/drawing/2014/main" id="{7DCA171D-8241-4249-982F-C62A1BE7EED1}"/>
              </a:ext>
            </a:extLst>
          </p:cNvPr>
          <p:cNvSpPr>
            <a:spLocks xmlns:a="http://schemas.openxmlformats.org/drawingml/2006/main" noGrp="1"/>
          </p:cNvSpPr>
          <p:nvPr/>
        </p:nvSpPr>
        <p:spPr>
          <a:xfrm xmlns:a="http://schemas.openxmlformats.org/drawingml/2006/main">
            <a:off x="6591300" y="5638800"/>
            <a:ext cx="516255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固定套卷：</a:t>
            </a:r>
            <a:r>
              <a:rPr sz="900">
                <a:solidFill>
                  <a:srgbClr val="EEF5FF"/>
                </a:solidFill>
                <a:latin typeface="微软雅黑"/>
                <a:ea typeface="微软雅黑"/>
                <a:cs typeface="微软雅黑"/>
              </a:rPr>
              <a:t>所有人做同一套题，会的人重复做、不会的人永远练不到。</a:t>
            </a:r>
          </a:p>
          <a:p xmlns:a="http://schemas.openxmlformats.org/drawingml/2006/main">
            <a:pPr algn="l">
              <a:lnSpc>
                <a:spcPct val="145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本算法：</a:t>
            </a:r>
            <a:r>
              <a:rPr sz="900">
                <a:solidFill>
                  <a:srgbClr val="EEF5FF"/>
                </a:solidFill>
                <a:latin typeface="微软雅黑"/>
                <a:ea typeface="微软雅黑"/>
                <a:cs typeface="微软雅黑"/>
              </a:rPr>
              <a:t>题量随缺口与正确率动态变化，一次交卷即改变下一轮权重。</a:t>
            </a:r>
          </a:p>
        </p:txBody>
      </p:sp>
      <p:sp>
        <p:nvSpPr>
          <p:cNvPr id="69" name="">
            <a:extLst xmlns:a="http://schemas.openxmlformats.org/drawingml/2006/main">
              <a:ext uri="{FF2B5EF4-FFF2-40B4-BE49-F238E27FC236}">
                <a16:creationId xmlns:a16="http://schemas.microsoft.com/office/drawing/2014/main" id="{9D963B9E-4159-4480-9F41-D07D83BA163F}"/>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40832460-A94F-4A0B-96DF-1954679C88AC}"/>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D25120A2-0303-4667-8659-65DC170D37F2}"/>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2" name="">
            <a:extLst xmlns:a="http://schemas.openxmlformats.org/drawingml/2006/main">
              <a:ext uri="{FF2B5EF4-FFF2-40B4-BE49-F238E27FC236}">
                <a16:creationId xmlns:a16="http://schemas.microsoft.com/office/drawing/2014/main" id="{FDD4423C-FCA4-4D43-B77C-2A9042F0978C}"/>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B7DCFDF4-5DFB-47B8-A13F-A22C8A866D2A}"/>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16</a:t>
            </a:r>
          </a:p>
        </p:txBody>
      </p:sp>
    </p:spTree>
    <p:extLst>
      <p:ext uri="{BB962C8B-B14F-4D97-AF65-F5344CB8AC3E}">
        <p14:creationId xmlns:p14="http://schemas.microsoft.com/office/powerpoint/2010/main" val="477055895"/>
      </p:ext>
    </p:extLst>
  </p:cSld>
</p:sld>
</file>

<file path=ppt/slides/slide1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140f834d933a4f8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9576B6-CD35-44BB-BC0B-9AF4AB3DE3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9431E807-1A2E-47AC-8B04-B4976F628A43}"/>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E8ECCCEB-1FAE-46E9-B127-222DFBB44FB2}"/>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15446517-C9F4-4ED4-9491-F1C7BF87BB51}"/>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5FC428A4-333A-4DF7-8303-30F0B584B2EF}"/>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D8ED4874-F21F-45F4-87E9-1E468DA741BB}"/>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E92DC18B-77EE-4ED2-876C-99C3347C9896}"/>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04452481-4EB8-404E-B175-4C209DA9500B}"/>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D04D67BC-3016-42CA-A14D-CCEE0F04CA15}"/>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E3813097-B246-4050-BD8E-F060913E8D77}"/>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68046925-3507-4BDB-B197-9EAA2A0B08C3}"/>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4633C1AB-1CAF-4EF2-A4F3-16A6DDEDBCAD}"/>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4C47BA7A-9887-4E52-B3D9-70949E0E636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算法四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课程内容匹配与缺口优先排序</a:t>
            </a:r>
          </a:p>
        </p:txBody>
      </p:sp>
      <p:sp>
        <p:nvSpPr>
          <p:cNvPr id="15" name="">
            <a:extLst xmlns:a="http://schemas.openxmlformats.org/drawingml/2006/main">
              <a:ext uri="{FF2B5EF4-FFF2-40B4-BE49-F238E27FC236}">
                <a16:creationId xmlns:a16="http://schemas.microsoft.com/office/drawing/2014/main" id="{56641BFA-739D-4FE7-A46A-37E2EB510EC6}"/>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BDEBC7E-C176-4B33-97BB-08834394B55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CC9BBB98-01A7-42C0-A85C-2DE7BB28D8AB}"/>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4A127645-4EBE-491C-97EB-D9369EF9743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BC94F484-E219-47CC-B014-34D93A16DBBC}"/>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「搜到课程」不等于「该学这门课」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先算内容命中分，再用岗位缺口做二次排序。</a:t>
            </a:r>
          </a:p>
        </p:txBody>
      </p:sp>
      <p:sp>
        <p:nvSpPr>
          <p:cNvPr id="20" name="">
            <a:extLst xmlns:a="http://schemas.openxmlformats.org/drawingml/2006/main">
              <a:ext uri="{FF2B5EF4-FFF2-40B4-BE49-F238E27FC236}">
                <a16:creationId xmlns:a16="http://schemas.microsoft.com/office/drawing/2014/main" id="{852B84BA-8971-43B8-AB8A-2AF48E30D9B3}"/>
              </a:ext>
            </a:extLst>
          </p:cNvPr>
          <p:cNvSpPr>
            <a:spLocks xmlns:a="http://schemas.openxmlformats.org/drawingml/2006/main" noGrp="1"/>
          </p:cNvSpPr>
          <p:nvPr/>
        </p:nvSpPr>
        <p:spPr>
          <a:xfrm xmlns:a="http://schemas.openxmlformats.org/drawingml/2006/main">
            <a:off x="285750" y="1333500"/>
            <a:ext cx="5905500" cy="952500"/>
          </a:xfrm>
          <a:prstGeom xmlns:a="http://schemas.openxmlformats.org/drawingml/2006/main" prst="roundRect">
            <a:avLst>
              <a:gd name="adj" fmla="val 9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5014897F-C65B-48CF-BF9A-C42E2FBA6860}"/>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问题定义</a:t>
            </a:r>
          </a:p>
        </p:txBody>
      </p:sp>
      <p:sp>
        <p:nvSpPr>
          <p:cNvPr id="22" name="">
            <a:extLst xmlns:a="http://schemas.openxmlformats.org/drawingml/2006/main">
              <a:ext uri="{FF2B5EF4-FFF2-40B4-BE49-F238E27FC236}">
                <a16:creationId xmlns:a16="http://schemas.microsoft.com/office/drawing/2014/main" id="{2E47E767-9EB9-45C5-BA0D-5BCABF79E48E}"/>
              </a:ext>
            </a:extLst>
          </p:cNvPr>
          <p:cNvSpPr>
            <a:spLocks xmlns:a="http://schemas.openxmlformats.org/drawingml/2006/main" noGrp="1"/>
          </p:cNvSpPr>
          <p:nvPr/>
        </p:nvSpPr>
        <p:spPr>
          <a:xfrm xmlns:a="http://schemas.openxmlformats.org/drawingml/2006/main">
            <a:off x="457200" y="1714500"/>
            <a:ext cx="55816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外网课程数量多，关键词出现不代表课程对当前员工有价值。系统同时判断「内容与检索词匹配得多准」和「课程技能是否对应该员工的岗位缺口」。</a:t>
            </a:r>
          </a:p>
        </p:txBody>
      </p:sp>
      <p:sp>
        <p:nvSpPr>
          <p:cNvPr id="23" name="">
            <a:extLst xmlns:a="http://schemas.openxmlformats.org/drawingml/2006/main">
              <a:ext uri="{FF2B5EF4-FFF2-40B4-BE49-F238E27FC236}">
                <a16:creationId xmlns:a16="http://schemas.microsoft.com/office/drawing/2014/main" id="{B5F23F22-7CCB-4F61-B848-05A4278084EB}"/>
              </a:ext>
            </a:extLst>
          </p:cNvPr>
          <p:cNvSpPr>
            <a:spLocks xmlns:a="http://schemas.openxmlformats.org/drawingml/2006/main" noGrp="1"/>
          </p:cNvSpPr>
          <p:nvPr/>
        </p:nvSpPr>
        <p:spPr>
          <a:xfrm xmlns:a="http://schemas.openxmlformats.org/drawingml/2006/main">
            <a:off x="285750" y="2419350"/>
            <a:ext cx="5905500" cy="2019300"/>
          </a:xfrm>
          <a:prstGeom xmlns:a="http://schemas.openxmlformats.org/drawingml/2006/main" prst="roundRect">
            <a:avLst>
              <a:gd name="adj" fmla="val 424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20E0E743-A807-4E74-8DA2-9A123DE92F35}"/>
              </a:ext>
            </a:extLst>
          </p:cNvPr>
          <p:cNvSpPr>
            <a:spLocks xmlns:a="http://schemas.openxmlformats.org/drawingml/2006/main" noGrp="1"/>
          </p:cNvSpPr>
          <p:nvPr/>
        </p:nvSpPr>
        <p:spPr>
          <a:xfrm xmlns:a="http://schemas.openxmlformats.org/drawingml/2006/main">
            <a:off x="457200" y="253365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打分公式（命中即加分，可叠加）</a:t>
            </a:r>
          </a:p>
        </p:txBody>
      </p:sp>
      <p:sp>
        <p:nvSpPr>
          <p:cNvPr id="25" name="">
            <a:extLst xmlns:a="http://schemas.openxmlformats.org/drawingml/2006/main">
              <a:ext uri="{FF2B5EF4-FFF2-40B4-BE49-F238E27FC236}">
                <a16:creationId xmlns:a16="http://schemas.microsoft.com/office/drawing/2014/main" id="{831E2866-C99B-4977-B8CF-25C7980DEF68}"/>
              </a:ext>
            </a:extLst>
          </p:cNvPr>
          <p:cNvSpPr>
            <a:spLocks xmlns:a="http://schemas.openxmlformats.org/drawingml/2006/main" noGrp="1"/>
          </p:cNvSpPr>
          <p:nvPr/>
        </p:nvSpPr>
        <p:spPr>
          <a:xfrm xmlns:a="http://schemas.openxmlformats.org/drawingml/2006/main">
            <a:off x="457200" y="28194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标题命中</a:t>
            </a:r>
          </a:p>
        </p:txBody>
      </p:sp>
      <p:sp>
        <p:nvSpPr>
          <p:cNvPr id="26" name="">
            <a:extLst xmlns:a="http://schemas.openxmlformats.org/drawingml/2006/main">
              <a:ext uri="{FF2B5EF4-FFF2-40B4-BE49-F238E27FC236}">
                <a16:creationId xmlns:a16="http://schemas.microsoft.com/office/drawing/2014/main" id="{B16E4979-9CAD-4673-AFB4-0B92366B08BC}"/>
              </a:ext>
            </a:extLst>
          </p:cNvPr>
          <p:cNvSpPr>
            <a:spLocks xmlns:a="http://schemas.openxmlformats.org/drawingml/2006/main" noGrp="1"/>
          </p:cNvSpPr>
          <p:nvPr/>
        </p:nvSpPr>
        <p:spPr>
          <a:xfrm xmlns:a="http://schemas.openxmlformats.org/drawingml/2006/main">
            <a:off x="1733550" y="2819400"/>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+6 / </a:t>
            </a:r>
            <a:r>
              <a:rPr sz="938" b="1">
                <a:solidFill>
                  <a:srgbClr val="FFD24A"/>
                </a:solidFill>
                <a:latin typeface="微软雅黑"/>
                <a:ea typeface="微软雅黑"/>
                <a:cs typeface="微软雅黑"/>
              </a:rPr>
              <a:t>每个检索词</a:t>
            </a:r>
          </a:p>
        </p:txBody>
      </p:sp>
      <p:sp>
        <p:nvSpPr>
          <p:cNvPr id="27" name="">
            <a:extLst xmlns:a="http://schemas.openxmlformats.org/drawingml/2006/main">
              <a:ext uri="{FF2B5EF4-FFF2-40B4-BE49-F238E27FC236}">
                <a16:creationId xmlns:a16="http://schemas.microsoft.com/office/drawing/2014/main" id="{AD446343-CE4B-477A-AD48-C12341D83010}"/>
              </a:ext>
            </a:extLst>
          </p:cNvPr>
          <p:cNvSpPr>
            <a:spLocks xmlns:a="http://schemas.openxmlformats.org/drawingml/2006/main" noGrp="1"/>
          </p:cNvSpPr>
          <p:nvPr/>
        </p:nvSpPr>
        <p:spPr>
          <a:xfrm xmlns:a="http://schemas.openxmlformats.org/drawingml/2006/main">
            <a:off x="3143250" y="2819400"/>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最高权重，标题最能代表课程主题</a:t>
            </a:r>
          </a:p>
        </p:txBody>
      </p:sp>
      <p:sp>
        <p:nvSpPr>
          <p:cNvPr id="28" name="">
            <a:extLst xmlns:a="http://schemas.openxmlformats.org/drawingml/2006/main">
              <a:ext uri="{FF2B5EF4-FFF2-40B4-BE49-F238E27FC236}">
                <a16:creationId xmlns:a16="http://schemas.microsoft.com/office/drawing/2014/main" id="{4D40E0A8-F8D4-4515-9B92-22A4D484B00A}"/>
              </a:ext>
            </a:extLst>
          </p:cNvPr>
          <p:cNvSpPr>
            <a:spLocks xmlns:a="http://schemas.openxmlformats.org/drawingml/2006/main" noGrp="1"/>
          </p:cNvSpPr>
          <p:nvPr/>
        </p:nvSpPr>
        <p:spPr>
          <a:xfrm xmlns:a="http://schemas.openxmlformats.org/drawingml/2006/main">
            <a:off x="457200" y="3133725"/>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平台检索词命中</a:t>
            </a:r>
          </a:p>
        </p:txBody>
      </p:sp>
      <p:sp>
        <p:nvSpPr>
          <p:cNvPr id="29" name="">
            <a:extLst xmlns:a="http://schemas.openxmlformats.org/drawingml/2006/main">
              <a:ext uri="{FF2B5EF4-FFF2-40B4-BE49-F238E27FC236}">
                <a16:creationId xmlns:a16="http://schemas.microsoft.com/office/drawing/2014/main" id="{E4F8FF31-41BA-4877-AF4D-E75E3F3E930F}"/>
              </a:ext>
            </a:extLst>
          </p:cNvPr>
          <p:cNvSpPr>
            <a:spLocks xmlns:a="http://schemas.openxmlformats.org/drawingml/2006/main" noGrp="1"/>
          </p:cNvSpPr>
          <p:nvPr/>
        </p:nvSpPr>
        <p:spPr>
          <a:xfrm xmlns:a="http://schemas.openxmlformats.org/drawingml/2006/main">
            <a:off x="1733550" y="3133725"/>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+4 / </a:t>
            </a:r>
            <a:r>
              <a:rPr sz="938" b="1">
                <a:solidFill>
                  <a:srgbClr val="FFD24A"/>
                </a:solidFill>
                <a:latin typeface="微软雅黑"/>
                <a:ea typeface="微软雅黑"/>
                <a:cs typeface="微软雅黑"/>
              </a:rPr>
              <a:t>每个检索词</a:t>
            </a:r>
          </a:p>
        </p:txBody>
      </p:sp>
      <p:sp>
        <p:nvSpPr>
          <p:cNvPr id="30" name="">
            <a:extLst xmlns:a="http://schemas.openxmlformats.org/drawingml/2006/main">
              <a:ext uri="{FF2B5EF4-FFF2-40B4-BE49-F238E27FC236}">
                <a16:creationId xmlns:a16="http://schemas.microsoft.com/office/drawing/2014/main" id="{94771FC6-2ED2-4A5F-A804-6B356F5B66BB}"/>
              </a:ext>
            </a:extLst>
          </p:cNvPr>
          <p:cNvSpPr>
            <a:spLocks xmlns:a="http://schemas.openxmlformats.org/drawingml/2006/main" noGrp="1"/>
          </p:cNvSpPr>
          <p:nvPr/>
        </p:nvSpPr>
        <p:spPr>
          <a:xfrm xmlns:a="http://schemas.openxmlformats.org/drawingml/2006/main">
            <a:off x="3143250" y="3133725"/>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课程在各平台的实际检索入口</a:t>
            </a:r>
          </a:p>
        </p:txBody>
      </p:sp>
      <p:sp>
        <p:nvSpPr>
          <p:cNvPr id="31" name="">
            <a:extLst xmlns:a="http://schemas.openxmlformats.org/drawingml/2006/main">
              <a:ext uri="{FF2B5EF4-FFF2-40B4-BE49-F238E27FC236}">
                <a16:creationId xmlns:a16="http://schemas.microsoft.com/office/drawing/2014/main" id="{46A3160A-7E47-4103-AC36-CF2354850861}"/>
              </a:ext>
            </a:extLst>
          </p:cNvPr>
          <p:cNvSpPr>
            <a:spLocks xmlns:a="http://schemas.openxmlformats.org/drawingml/2006/main" noGrp="1"/>
          </p:cNvSpPr>
          <p:nvPr/>
        </p:nvSpPr>
        <p:spPr>
          <a:xfrm xmlns:a="http://schemas.openxmlformats.org/drawingml/2006/main">
            <a:off x="457200" y="344805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标签命中</a:t>
            </a:r>
          </a:p>
        </p:txBody>
      </p:sp>
      <p:sp>
        <p:nvSpPr>
          <p:cNvPr id="32" name="">
            <a:extLst xmlns:a="http://schemas.openxmlformats.org/drawingml/2006/main">
              <a:ext uri="{FF2B5EF4-FFF2-40B4-BE49-F238E27FC236}">
                <a16:creationId xmlns:a16="http://schemas.microsoft.com/office/drawing/2014/main" id="{9EF6A7AF-7C51-403A-B1CA-091EB62A58D8}"/>
              </a:ext>
            </a:extLst>
          </p:cNvPr>
          <p:cNvSpPr>
            <a:spLocks xmlns:a="http://schemas.openxmlformats.org/drawingml/2006/main" noGrp="1"/>
          </p:cNvSpPr>
          <p:nvPr/>
        </p:nvSpPr>
        <p:spPr>
          <a:xfrm xmlns:a="http://schemas.openxmlformats.org/drawingml/2006/main">
            <a:off x="1733550" y="3448050"/>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+3 / </a:t>
            </a:r>
            <a:r>
              <a:rPr sz="938" b="1">
                <a:solidFill>
                  <a:srgbClr val="FFD24A"/>
                </a:solidFill>
                <a:latin typeface="微软雅黑"/>
                <a:ea typeface="微软雅黑"/>
                <a:cs typeface="微软雅黑"/>
              </a:rPr>
              <a:t>每个检索词</a:t>
            </a:r>
          </a:p>
        </p:txBody>
      </p:sp>
      <p:sp>
        <p:nvSpPr>
          <p:cNvPr id="33" name="">
            <a:extLst xmlns:a="http://schemas.openxmlformats.org/drawingml/2006/main">
              <a:ext uri="{FF2B5EF4-FFF2-40B4-BE49-F238E27FC236}">
                <a16:creationId xmlns:a16="http://schemas.microsoft.com/office/drawing/2014/main" id="{75E5F40E-15C8-43D5-81EA-DCE2A6783AA5}"/>
              </a:ext>
            </a:extLst>
          </p:cNvPr>
          <p:cNvSpPr>
            <a:spLocks xmlns:a="http://schemas.openxmlformats.org/drawingml/2006/main" noGrp="1"/>
          </p:cNvSpPr>
          <p:nvPr/>
        </p:nvSpPr>
        <p:spPr>
          <a:xfrm xmlns:a="http://schemas.openxmlformats.org/drawingml/2006/main">
            <a:off x="3143250" y="3448050"/>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技能命中再加 </a:t>
            </a:r>
            <a:r>
              <a:rPr sz="863" b="0">
                <a:solidFill>
                  <a:srgbClr val="C6DDFF"/>
                </a:solidFill>
                <a:latin typeface="微软雅黑"/>
                <a:ea typeface="微软雅黑"/>
                <a:cs typeface="微软雅黑"/>
              </a:rPr>
              <a:t>+3</a:t>
            </a:r>
          </a:p>
        </p:txBody>
      </p:sp>
      <p:sp>
        <p:nvSpPr>
          <p:cNvPr id="34" name="">
            <a:extLst xmlns:a="http://schemas.openxmlformats.org/drawingml/2006/main">
              <a:ext uri="{FF2B5EF4-FFF2-40B4-BE49-F238E27FC236}">
                <a16:creationId xmlns:a16="http://schemas.microsoft.com/office/drawing/2014/main" id="{11520A34-687C-411F-B3C0-029302CC36C0}"/>
              </a:ext>
            </a:extLst>
          </p:cNvPr>
          <p:cNvSpPr>
            <a:spLocks xmlns:a="http://schemas.openxmlformats.org/drawingml/2006/main" noGrp="1"/>
          </p:cNvSpPr>
          <p:nvPr/>
        </p:nvSpPr>
        <p:spPr>
          <a:xfrm xmlns:a="http://schemas.openxmlformats.org/drawingml/2006/main">
            <a:off x="457200" y="3762375"/>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机构命中</a:t>
            </a:r>
          </a:p>
        </p:txBody>
      </p:sp>
      <p:sp>
        <p:nvSpPr>
          <p:cNvPr id="35" name="">
            <a:extLst xmlns:a="http://schemas.openxmlformats.org/drawingml/2006/main">
              <a:ext uri="{FF2B5EF4-FFF2-40B4-BE49-F238E27FC236}">
                <a16:creationId xmlns:a16="http://schemas.microsoft.com/office/drawing/2014/main" id="{3362C80F-DB89-4ED5-818E-6B84CE8CABD3}"/>
              </a:ext>
            </a:extLst>
          </p:cNvPr>
          <p:cNvSpPr>
            <a:spLocks xmlns:a="http://schemas.openxmlformats.org/drawingml/2006/main" noGrp="1"/>
          </p:cNvSpPr>
          <p:nvPr/>
        </p:nvSpPr>
        <p:spPr>
          <a:xfrm xmlns:a="http://schemas.openxmlformats.org/drawingml/2006/main">
            <a:off x="1733550" y="3762375"/>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+2</a:t>
            </a:r>
          </a:p>
        </p:txBody>
      </p:sp>
      <p:sp>
        <p:nvSpPr>
          <p:cNvPr id="36" name="">
            <a:extLst xmlns:a="http://schemas.openxmlformats.org/drawingml/2006/main">
              <a:ext uri="{FF2B5EF4-FFF2-40B4-BE49-F238E27FC236}">
                <a16:creationId xmlns:a16="http://schemas.microsoft.com/office/drawing/2014/main" id="{1B451649-CE93-4275-B281-DE5E94872206}"/>
              </a:ext>
            </a:extLst>
          </p:cNvPr>
          <p:cNvSpPr>
            <a:spLocks xmlns:a="http://schemas.openxmlformats.org/drawingml/2006/main" noGrp="1"/>
          </p:cNvSpPr>
          <p:nvPr/>
        </p:nvSpPr>
        <p:spPr>
          <a:xfrm xmlns:a="http://schemas.openxmlformats.org/drawingml/2006/main">
            <a:off x="3143250" y="3762375"/>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机构权威度作为弱信号</a:t>
            </a:r>
          </a:p>
        </p:txBody>
      </p:sp>
      <p:sp>
        <p:nvSpPr>
          <p:cNvPr id="37" name="">
            <a:extLst xmlns:a="http://schemas.openxmlformats.org/drawingml/2006/main">
              <a:ext uri="{FF2B5EF4-FFF2-40B4-BE49-F238E27FC236}">
                <a16:creationId xmlns:a16="http://schemas.microsoft.com/office/drawing/2014/main" id="{6F0A8344-C6E6-46E2-8741-04954E9DCBCD}"/>
              </a:ext>
            </a:extLst>
          </p:cNvPr>
          <p:cNvSpPr>
            <a:spLocks xmlns:a="http://schemas.openxmlformats.org/drawingml/2006/main" noGrp="1"/>
          </p:cNvSpPr>
          <p:nvPr/>
        </p:nvSpPr>
        <p:spPr>
          <a:xfrm xmlns:a="http://schemas.openxmlformats.org/drawingml/2006/main">
            <a:off x="457200" y="40767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匹配理由命中</a:t>
            </a:r>
          </a:p>
        </p:txBody>
      </p:sp>
      <p:sp>
        <p:nvSpPr>
          <p:cNvPr id="38" name="">
            <a:extLst xmlns:a="http://schemas.openxmlformats.org/drawingml/2006/main">
              <a:ext uri="{FF2B5EF4-FFF2-40B4-BE49-F238E27FC236}">
                <a16:creationId xmlns:a16="http://schemas.microsoft.com/office/drawing/2014/main" id="{2396EA0A-8C95-4147-ACE1-2BB734E8A49B}"/>
              </a:ext>
            </a:extLst>
          </p:cNvPr>
          <p:cNvSpPr>
            <a:spLocks xmlns:a="http://schemas.openxmlformats.org/drawingml/2006/main" noGrp="1"/>
          </p:cNvSpPr>
          <p:nvPr/>
        </p:nvSpPr>
        <p:spPr>
          <a:xfrm xmlns:a="http://schemas.openxmlformats.org/drawingml/2006/main">
            <a:off x="1733550" y="4076700"/>
            <a:ext cx="133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+1</a:t>
            </a:r>
          </a:p>
        </p:txBody>
      </p:sp>
      <p:sp>
        <p:nvSpPr>
          <p:cNvPr id="39" name="">
            <a:extLst xmlns:a="http://schemas.openxmlformats.org/drawingml/2006/main">
              <a:ext uri="{FF2B5EF4-FFF2-40B4-BE49-F238E27FC236}">
                <a16:creationId xmlns:a16="http://schemas.microsoft.com/office/drawing/2014/main" id="{438E034C-3A26-4C02-AE47-EA5315D19E2B}"/>
              </a:ext>
            </a:extLst>
          </p:cNvPr>
          <p:cNvSpPr>
            <a:spLocks xmlns:a="http://schemas.openxmlformats.org/drawingml/2006/main" noGrp="1"/>
          </p:cNvSpPr>
          <p:nvPr/>
        </p:nvSpPr>
        <p:spPr>
          <a:xfrm xmlns:a="http://schemas.openxmlformats.org/drawingml/2006/main">
            <a:off x="3143250" y="4076700"/>
            <a:ext cx="29146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课程自带的匹配理由文本</a:t>
            </a:r>
          </a:p>
        </p:txBody>
      </p:sp>
      <p:sp>
        <p:nvSpPr>
          <p:cNvPr id="40" name="">
            <a:extLst xmlns:a="http://schemas.openxmlformats.org/drawingml/2006/main">
              <a:ext uri="{FF2B5EF4-FFF2-40B4-BE49-F238E27FC236}">
                <a16:creationId xmlns:a16="http://schemas.microsoft.com/office/drawing/2014/main" id="{07887741-B3AA-4789-94B7-48D8D9A879FF}"/>
              </a:ext>
            </a:extLst>
          </p:cNvPr>
          <p:cNvSpPr>
            <a:spLocks xmlns:a="http://schemas.openxmlformats.org/drawingml/2006/main" noGrp="1"/>
          </p:cNvSpPr>
          <p:nvPr/>
        </p:nvSpPr>
        <p:spPr>
          <a:xfrm xmlns:a="http://schemas.openxmlformats.org/drawingml/2006/main">
            <a:off x="285750" y="4572000"/>
            <a:ext cx="5905500" cy="1771650"/>
          </a:xfrm>
          <a:prstGeom xmlns:a="http://schemas.openxmlformats.org/drawingml/2006/main" prst="roundRect">
            <a:avLst>
              <a:gd name="adj" fmla="val 4839"/>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A664EC56-6D05-4149-A356-51EF8576E1F9}"/>
              </a:ext>
            </a:extLst>
          </p:cNvPr>
          <p:cNvSpPr>
            <a:spLocks xmlns:a="http://schemas.openxmlformats.org/drawingml/2006/main" noGrp="1"/>
          </p:cNvSpPr>
          <p:nvPr/>
        </p:nvSpPr>
        <p:spPr>
          <a:xfrm xmlns:a="http://schemas.openxmlformats.org/drawingml/2006/main">
            <a:off x="457200" y="4686300"/>
            <a:ext cx="5524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输入与输出</a:t>
            </a:r>
          </a:p>
        </p:txBody>
      </p:sp>
      <p:sp>
        <p:nvSpPr>
          <p:cNvPr id="42" name="">
            <a:extLst xmlns:a="http://schemas.openxmlformats.org/drawingml/2006/main">
              <a:ext uri="{FF2B5EF4-FFF2-40B4-BE49-F238E27FC236}">
                <a16:creationId xmlns:a16="http://schemas.microsoft.com/office/drawing/2014/main" id="{8F934E80-E7A8-4553-BBD4-0587D4D54879}"/>
              </a:ext>
            </a:extLst>
          </p:cNvPr>
          <p:cNvSpPr>
            <a:spLocks xmlns:a="http://schemas.openxmlformats.org/drawingml/2006/main" noGrp="1"/>
          </p:cNvSpPr>
          <p:nvPr/>
        </p:nvSpPr>
        <p:spPr>
          <a:xfrm xmlns:a="http://schemas.openxmlformats.org/drawingml/2006/main">
            <a:off x="457200" y="4972050"/>
            <a:ext cx="5581650" cy="12573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输入　</a:t>
            </a:r>
            <a:r>
              <a:rPr sz="900">
                <a:solidFill>
                  <a:srgbClr val="EEF5FF"/>
                </a:solidFill>
                <a:latin typeface="微软雅黑"/>
                <a:ea typeface="微软雅黑"/>
                <a:cs typeface="微软雅黑"/>
              </a:rPr>
              <a:t>检索词（按空格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逗号拆分去重）；课程字段（标题、平台检索词、标签、技能、机构、匹配理由）；个人缺口（</a:t>
            </a:r>
            <a:r>
              <a:rPr sz="900">
                <a:solidFill>
                  <a:srgbClr val="EEF5FF"/>
                </a:solidFill>
                <a:latin typeface="微软雅黑"/>
                <a:ea typeface="微软雅黑"/>
                <a:cs typeface="微软雅黑"/>
              </a:rPr>
              <a:t>employee_skill.level </a:t>
            </a:r>
            <a:r>
              <a:rPr sz="900">
                <a:solidFill>
                  <a:srgbClr val="EEF5FF"/>
                </a:solidFill>
                <a:latin typeface="微软雅黑"/>
                <a:ea typeface="微软雅黑"/>
                <a:cs typeface="微软雅黑"/>
              </a:rPr>
              <a:t>与 </a:t>
            </a:r>
            <a:r>
              <a:rPr sz="900">
                <a:solidFill>
                  <a:srgbClr val="EEF5FF"/>
                </a:solidFill>
                <a:latin typeface="微软雅黑"/>
                <a:ea typeface="微软雅黑"/>
                <a:cs typeface="微软雅黑"/>
              </a:rPr>
              <a:t>required_level</a:t>
            </a:r>
            <a:r>
              <a:rPr sz="900">
                <a:solidFill>
                  <a:srgbClr val="EEF5FF"/>
                </a:solidFill>
                <a:latin typeface="微软雅黑"/>
                <a:ea typeface="微软雅黑"/>
                <a:cs typeface="微软雅黑"/>
              </a:rPr>
              <a:t>）。</a:t>
            </a:r>
          </a:p>
          <a:p xmlns:a="http://schemas.openxmlformats.org/drawingml/2006/main">
            <a:pPr algn="l">
              <a:lnSpc>
                <a:spcPct val="150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输出　</a:t>
            </a:r>
            <a:r>
              <a:rPr sz="900">
                <a:solidFill>
                  <a:srgbClr val="EEF5FF"/>
                </a:solidFill>
                <a:latin typeface="微软雅黑"/>
                <a:ea typeface="微软雅黑"/>
                <a:cs typeface="微软雅黑"/>
              </a:rPr>
              <a:t>按内容命中分降序的课程列表；内容分相同时，对口个人缺口的课程再加 </a:t>
            </a:r>
            <a:r>
              <a:rPr sz="900">
                <a:solidFill>
                  <a:srgbClr val="EEF5FF"/>
                </a:solidFill>
                <a:latin typeface="微软雅黑"/>
                <a:ea typeface="微软雅黑"/>
                <a:cs typeface="微软雅黑"/>
              </a:rPr>
              <a:t>5 </a:t>
            </a:r>
            <a:r>
              <a:rPr sz="900">
                <a:solidFill>
                  <a:srgbClr val="EEF5FF"/>
                </a:solidFill>
                <a:latin typeface="微软雅黑"/>
                <a:ea typeface="微软雅黑"/>
                <a:cs typeface="微软雅黑"/>
              </a:rPr>
              <a:t>分并优先排列。</a:t>
            </a:r>
          </a:p>
          <a:p xmlns:a="http://schemas.openxmlformats.org/drawingml/2006/main">
            <a:pPr algn="l">
              <a:lnSpc>
                <a:spcPct val="150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落库　</a:t>
            </a:r>
            <a:r>
              <a:rPr sz="900">
                <a:solidFill>
                  <a:srgbClr val="EEF5FF"/>
                </a:solidFill>
                <a:latin typeface="微软雅黑"/>
                <a:ea typeface="微软雅黑"/>
                <a:cs typeface="微软雅黑"/>
              </a:rPr>
              <a:t>external_course</a:t>
            </a:r>
            <a:r>
              <a:rPr sz="900">
                <a:solidFill>
                  <a:srgbClr val="EEF5FF"/>
                </a:solidFill>
                <a:latin typeface="微软雅黑"/>
                <a:ea typeface="微软雅黑"/>
                <a:cs typeface="微软雅黑"/>
              </a:rPr>
              <a:t>、</a:t>
            </a:r>
            <a:r>
              <a:rPr sz="900">
                <a:solidFill>
                  <a:srgbClr val="EEF5FF"/>
                </a:solidFill>
                <a:latin typeface="微软雅黑"/>
                <a:ea typeface="微软雅黑"/>
                <a:cs typeface="微软雅黑"/>
              </a:rPr>
              <a:t>external_course_source</a:t>
            </a:r>
            <a:r>
              <a:rPr sz="900">
                <a:solidFill>
                  <a:srgbClr val="EEF5FF"/>
                </a:solidFill>
                <a:latin typeface="微软雅黑"/>
                <a:ea typeface="微软雅黑"/>
                <a:cs typeface="微软雅黑"/>
              </a:rPr>
              <a:t>、</a:t>
            </a:r>
            <a:r>
              <a:rPr sz="900">
                <a:solidFill>
                  <a:srgbClr val="EEF5FF"/>
                </a:solidFill>
                <a:latin typeface="微软雅黑"/>
                <a:ea typeface="微软雅黑"/>
                <a:cs typeface="微软雅黑"/>
              </a:rPr>
              <a:t>employee_skill </a:t>
            </a:r>
            <a:r>
              <a:rPr sz="900">
                <a:solidFill>
                  <a:srgbClr val="EEF5FF"/>
                </a:solidFill>
                <a:latin typeface="微软雅黑"/>
                <a:ea typeface="微软雅黑"/>
                <a:cs typeface="微软雅黑"/>
              </a:rPr>
              <a:t>三张表。</a:t>
            </a:r>
          </a:p>
        </p:txBody>
      </p:sp>
      <p:sp>
        <p:nvSpPr>
          <p:cNvPr id="43" name="">
            <a:extLst xmlns:a="http://schemas.openxmlformats.org/drawingml/2006/main">
              <a:ext uri="{FF2B5EF4-FFF2-40B4-BE49-F238E27FC236}">
                <a16:creationId xmlns:a16="http://schemas.microsoft.com/office/drawing/2014/main" id="{0B986F94-0F74-4E0F-B8CA-901AE31A0614}"/>
              </a:ext>
            </a:extLst>
          </p:cNvPr>
          <p:cNvSpPr>
            <a:spLocks xmlns:a="http://schemas.openxmlformats.org/drawingml/2006/main" noGrp="1"/>
          </p:cNvSpPr>
          <p:nvPr/>
        </p:nvSpPr>
        <p:spPr>
          <a:xfrm xmlns:a="http://schemas.openxmlformats.org/drawingml/2006/main">
            <a:off x="6419850" y="1333500"/>
            <a:ext cx="5486400" cy="5010150"/>
          </a:xfrm>
          <a:prstGeom xmlns:a="http://schemas.openxmlformats.org/drawingml/2006/main" prst="roundRect">
            <a:avLst>
              <a:gd name="adj" fmla="val 171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4" name="">
            <a:extLst xmlns:a="http://schemas.openxmlformats.org/drawingml/2006/main">
              <a:ext uri="{FF2B5EF4-FFF2-40B4-BE49-F238E27FC236}">
                <a16:creationId xmlns:a16="http://schemas.microsoft.com/office/drawing/2014/main" id="{7FD926DB-7394-451F-AD67-25540E62C79D}"/>
              </a:ext>
            </a:extLst>
          </p:cNvPr>
          <p:cNvSpPr>
            <a:spLocks xmlns:a="http://schemas.openxmlformats.org/drawingml/2006/main" noGrp="1"/>
          </p:cNvSpPr>
          <p:nvPr/>
        </p:nvSpPr>
        <p:spPr>
          <a:xfrm xmlns:a="http://schemas.openxmlformats.org/drawingml/2006/main">
            <a:off x="6591300" y="1447800"/>
            <a:ext cx="5143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案例：继电保护 </a:t>
            </a:r>
            <a:r>
              <a:rPr sz="1013" b="1">
                <a:solidFill>
                  <a:srgbClr val="FFD24A"/>
                </a:solidFill>
                <a:latin typeface="微软雅黑"/>
                <a:ea typeface="微软雅黑"/>
                <a:cs typeface="微软雅黑"/>
              </a:rPr>
              <a:t>L1 → </a:t>
            </a:r>
            <a:r>
              <a:rPr sz="1013" b="1">
                <a:solidFill>
                  <a:srgbClr val="FFD24A"/>
                </a:solidFill>
                <a:latin typeface="微软雅黑"/>
                <a:ea typeface="微软雅黑"/>
                <a:cs typeface="微软雅黑"/>
              </a:rPr>
              <a:t>要求 </a:t>
            </a:r>
            <a:r>
              <a:rPr sz="1013" b="1">
                <a:solidFill>
                  <a:srgbClr val="FFD24A"/>
                </a:solidFill>
                <a:latin typeface="微软雅黑"/>
                <a:ea typeface="微软雅黑"/>
                <a:cs typeface="微软雅黑"/>
              </a:rPr>
              <a:t>L3 </a:t>
            </a:r>
            <a:r>
              <a:rPr sz="1013" b="1">
                <a:solidFill>
                  <a:srgbClr val="FFD24A"/>
                </a:solidFill>
                <a:latin typeface="微软雅黑"/>
                <a:ea typeface="微软雅黑"/>
                <a:cs typeface="微软雅黑"/>
              </a:rPr>
              <a:t>的员工检索「软压板」</a:t>
            </a:r>
          </a:p>
        </p:txBody>
      </p:sp>
      <p:sp>
        <p:nvSpPr>
          <p:cNvPr id="45" name="">
            <a:extLst xmlns:a="http://schemas.openxmlformats.org/drawingml/2006/main">
              <a:ext uri="{FF2B5EF4-FFF2-40B4-BE49-F238E27FC236}">
                <a16:creationId xmlns:a16="http://schemas.microsoft.com/office/drawing/2014/main" id="{D45D2182-2C3D-4672-B2CA-8A10634F2B9B}"/>
              </a:ext>
            </a:extLst>
          </p:cNvPr>
          <p:cNvSpPr>
            <a:spLocks xmlns:a="http://schemas.openxmlformats.org/drawingml/2006/main" noGrp="1"/>
          </p:cNvSpPr>
          <p:nvPr/>
        </p:nvSpPr>
        <p:spPr>
          <a:xfrm xmlns:a="http://schemas.openxmlformats.org/drawingml/2006/main">
            <a:off x="6591300" y="1809750"/>
            <a:ext cx="5143500" cy="685800"/>
          </a:xfrm>
          <a:prstGeom xmlns:a="http://schemas.openxmlformats.org/drawingml/2006/main" prst="roundRect">
            <a:avLst>
              <a:gd name="adj" fmla="val 125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46" name="">
            <a:extLst xmlns:a="http://schemas.openxmlformats.org/drawingml/2006/main">
              <a:ext uri="{FF2B5EF4-FFF2-40B4-BE49-F238E27FC236}">
                <a16:creationId xmlns:a16="http://schemas.microsoft.com/office/drawing/2014/main" id="{6F9E5534-435C-4F66-A15B-F52FDA17EC1D}"/>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856F5E1F-076D-421D-BD60-B3C6EF2ECFC9}"/>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1</a:t>
            </a:r>
          </a:p>
        </p:txBody>
      </p:sp>
      <p:sp>
        <p:nvSpPr>
          <p:cNvPr id="48" name="">
            <a:extLst xmlns:a="http://schemas.openxmlformats.org/drawingml/2006/main">
              <a:ext uri="{FF2B5EF4-FFF2-40B4-BE49-F238E27FC236}">
                <a16:creationId xmlns:a16="http://schemas.microsoft.com/office/drawing/2014/main" id="{B3527FF3-CC63-4317-970B-66F21167B78C}"/>
              </a:ext>
            </a:extLst>
          </p:cNvPr>
          <p:cNvSpPr>
            <a:spLocks xmlns:a="http://schemas.openxmlformats.org/drawingml/2006/main" noGrp="1"/>
          </p:cNvSpPr>
          <p:nvPr/>
        </p:nvSpPr>
        <p:spPr>
          <a:xfrm xmlns:a="http://schemas.openxmlformats.org/drawingml/2006/main">
            <a:off x="7124700" y="19145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《继电保护软压板投退与定值核对》</a:t>
            </a:r>
          </a:p>
        </p:txBody>
      </p:sp>
      <p:sp>
        <p:nvSpPr>
          <p:cNvPr id="49" name="">
            <a:extLst xmlns:a="http://schemas.openxmlformats.org/drawingml/2006/main">
              <a:ext uri="{FF2B5EF4-FFF2-40B4-BE49-F238E27FC236}">
                <a16:creationId xmlns:a16="http://schemas.microsoft.com/office/drawing/2014/main" id="{CD67E2C5-6697-450C-B0FE-457D28BB355F}"/>
              </a:ext>
            </a:extLst>
          </p:cNvPr>
          <p:cNvSpPr>
            <a:spLocks xmlns:a="http://schemas.openxmlformats.org/drawingml/2006/main" noGrp="1"/>
          </p:cNvSpPr>
          <p:nvPr/>
        </p:nvSpPr>
        <p:spPr>
          <a:xfrm xmlns:a="http://schemas.openxmlformats.org/drawingml/2006/main">
            <a:off x="7124700" y="21526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标题 </a:t>
            </a:r>
            <a:r>
              <a:rPr sz="825" b="0">
                <a:solidFill>
                  <a:srgbClr val="C6DDFF"/>
                </a:solidFill>
                <a:latin typeface="微软雅黑"/>
                <a:ea typeface="微软雅黑"/>
                <a:cs typeface="微软雅黑"/>
              </a:rPr>
              <a:t>+6 · </a:t>
            </a:r>
            <a:r>
              <a:rPr sz="825" b="0">
                <a:solidFill>
                  <a:srgbClr val="C6DDFF"/>
                </a:solidFill>
                <a:latin typeface="微软雅黑"/>
                <a:ea typeface="微软雅黑"/>
                <a:cs typeface="微软雅黑"/>
              </a:rPr>
              <a:t>技能 </a:t>
            </a:r>
            <a:r>
              <a:rPr sz="825" b="0">
                <a:solidFill>
                  <a:srgbClr val="C6DDFF"/>
                </a:solidFill>
                <a:latin typeface="微软雅黑"/>
                <a:ea typeface="微软雅黑"/>
                <a:cs typeface="微软雅黑"/>
              </a:rPr>
              <a:t>+3 · </a:t>
            </a:r>
            <a:r>
              <a:rPr sz="825" b="0">
                <a:solidFill>
                  <a:srgbClr val="C6DDFF"/>
                </a:solidFill>
                <a:latin typeface="微软雅黑"/>
                <a:ea typeface="微软雅黑"/>
                <a:cs typeface="微软雅黑"/>
              </a:rPr>
              <a:t>缺口 </a:t>
            </a:r>
            <a:r>
              <a:rPr sz="825" b="0">
                <a:solidFill>
                  <a:srgbClr val="C6DDFF"/>
                </a:solidFill>
                <a:latin typeface="微软雅黑"/>
                <a:ea typeface="微软雅黑"/>
                <a:cs typeface="微软雅黑"/>
              </a:rPr>
              <a:t>+5</a:t>
            </a:r>
          </a:p>
        </p:txBody>
      </p:sp>
      <p:sp>
        <p:nvSpPr>
          <p:cNvPr id="50" name="">
            <a:extLst xmlns:a="http://schemas.openxmlformats.org/drawingml/2006/main">
              <a:ext uri="{FF2B5EF4-FFF2-40B4-BE49-F238E27FC236}">
                <a16:creationId xmlns:a16="http://schemas.microsoft.com/office/drawing/2014/main" id="{AD019ABE-D40C-407B-A9D3-372F9619C727}"/>
              </a:ext>
            </a:extLst>
          </p:cNvPr>
          <p:cNvSpPr>
            <a:spLocks xmlns:a="http://schemas.openxmlformats.org/drawingml/2006/main" noGrp="1"/>
          </p:cNvSpPr>
          <p:nvPr/>
        </p:nvSpPr>
        <p:spPr>
          <a:xfrm xmlns:a="http://schemas.openxmlformats.org/drawingml/2006/main">
            <a:off x="10477500" y="19907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5FE3A1"/>
                </a:solidFill>
                <a:latin typeface="Bahnschrift"/>
                <a:ea typeface="Bahnschrift"/>
                <a:cs typeface="Bahnschrift"/>
              </a:defRPr>
            </a:pPr>
            <a:r>
              <a:rPr sz="1200" b="1">
                <a:solidFill>
                  <a:srgbClr val="5FE3A1"/>
                </a:solidFill>
                <a:latin typeface="Bahnschrift"/>
                <a:ea typeface="Bahnschrift"/>
                <a:cs typeface="Bahnschrift"/>
              </a:rPr>
              <a:t>14 </a:t>
            </a:r>
            <a:r>
              <a:rPr sz="1200" b="1">
                <a:solidFill>
                  <a:srgbClr val="5FE3A1"/>
                </a:solidFill>
                <a:latin typeface="Bahnschrift"/>
                <a:ea typeface="Bahnschrift"/>
                <a:cs typeface="Bahnschrift"/>
              </a:rPr>
              <a:t>分</a:t>
            </a:r>
          </a:p>
        </p:txBody>
      </p:sp>
      <p:sp>
        <p:nvSpPr>
          <p:cNvPr id="51" name="">
            <a:extLst xmlns:a="http://schemas.openxmlformats.org/drawingml/2006/main">
              <a:ext uri="{FF2B5EF4-FFF2-40B4-BE49-F238E27FC236}">
                <a16:creationId xmlns:a16="http://schemas.microsoft.com/office/drawing/2014/main" id="{8E29B8E1-BEA5-497D-A4A3-86118553012B}"/>
              </a:ext>
            </a:extLst>
          </p:cNvPr>
          <p:cNvSpPr>
            <a:spLocks xmlns:a="http://schemas.openxmlformats.org/drawingml/2006/main" noGrp="1"/>
          </p:cNvSpPr>
          <p:nvPr/>
        </p:nvSpPr>
        <p:spPr>
          <a:xfrm xmlns:a="http://schemas.openxmlformats.org/drawingml/2006/main">
            <a:off x="6591300" y="2609850"/>
            <a:ext cx="5143500" cy="685800"/>
          </a:xfrm>
          <a:prstGeom xmlns:a="http://schemas.openxmlformats.org/drawingml/2006/main" prst="roundRect">
            <a:avLst>
              <a:gd name="adj" fmla="val 125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52" name="">
            <a:extLst xmlns:a="http://schemas.openxmlformats.org/drawingml/2006/main">
              <a:ext uri="{FF2B5EF4-FFF2-40B4-BE49-F238E27FC236}">
                <a16:creationId xmlns:a16="http://schemas.microsoft.com/office/drawing/2014/main" id="{800E26B0-71E7-4F11-8CF0-1B8160497752}"/>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977489B0-783F-4D5D-8EC0-673FF1ECCBA3}"/>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2</a:t>
            </a:r>
          </a:p>
        </p:txBody>
      </p:sp>
      <p:sp>
        <p:nvSpPr>
          <p:cNvPr id="54" name="">
            <a:extLst xmlns:a="http://schemas.openxmlformats.org/drawingml/2006/main">
              <a:ext uri="{FF2B5EF4-FFF2-40B4-BE49-F238E27FC236}">
                <a16:creationId xmlns:a16="http://schemas.microsoft.com/office/drawing/2014/main" id="{9B9217FF-E089-46AD-A903-AB2AC61DC40C}"/>
              </a:ext>
            </a:extLst>
          </p:cNvPr>
          <p:cNvSpPr>
            <a:spLocks xmlns:a="http://schemas.openxmlformats.org/drawingml/2006/main" noGrp="1"/>
          </p:cNvSpPr>
          <p:nvPr/>
        </p:nvSpPr>
        <p:spPr>
          <a:xfrm xmlns:a="http://schemas.openxmlformats.org/drawingml/2006/main">
            <a:off x="7124700" y="27146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《软压板逻辑与保护定值整定》</a:t>
            </a:r>
          </a:p>
        </p:txBody>
      </p:sp>
      <p:sp>
        <p:nvSpPr>
          <p:cNvPr id="55" name="">
            <a:extLst xmlns:a="http://schemas.openxmlformats.org/drawingml/2006/main">
              <a:ext uri="{FF2B5EF4-FFF2-40B4-BE49-F238E27FC236}">
                <a16:creationId xmlns:a16="http://schemas.microsoft.com/office/drawing/2014/main" id="{5C749C87-6CB7-4EEF-8201-24107F4F3287}"/>
              </a:ext>
            </a:extLst>
          </p:cNvPr>
          <p:cNvSpPr>
            <a:spLocks xmlns:a="http://schemas.openxmlformats.org/drawingml/2006/main" noGrp="1"/>
          </p:cNvSpPr>
          <p:nvPr/>
        </p:nvSpPr>
        <p:spPr>
          <a:xfrm xmlns:a="http://schemas.openxmlformats.org/drawingml/2006/main">
            <a:off x="7124700" y="29527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标题 </a:t>
            </a:r>
            <a:r>
              <a:rPr sz="825" b="0">
                <a:solidFill>
                  <a:srgbClr val="C6DDFF"/>
                </a:solidFill>
                <a:latin typeface="微软雅黑"/>
                <a:ea typeface="微软雅黑"/>
                <a:cs typeface="微软雅黑"/>
              </a:rPr>
              <a:t>+6 · </a:t>
            </a:r>
            <a:r>
              <a:rPr sz="825" b="0">
                <a:solidFill>
                  <a:srgbClr val="C6DDFF"/>
                </a:solidFill>
                <a:latin typeface="微软雅黑"/>
                <a:ea typeface="微软雅黑"/>
                <a:cs typeface="微软雅黑"/>
              </a:rPr>
              <a:t>平台词 </a:t>
            </a:r>
            <a:r>
              <a:rPr sz="825" b="0">
                <a:solidFill>
                  <a:srgbClr val="C6DDFF"/>
                </a:solidFill>
                <a:latin typeface="微软雅黑"/>
                <a:ea typeface="微软雅黑"/>
                <a:cs typeface="微软雅黑"/>
              </a:rPr>
              <a:t>+4</a:t>
            </a:r>
          </a:p>
        </p:txBody>
      </p:sp>
      <p:sp>
        <p:nvSpPr>
          <p:cNvPr id="56" name="">
            <a:extLst xmlns:a="http://schemas.openxmlformats.org/drawingml/2006/main">
              <a:ext uri="{FF2B5EF4-FFF2-40B4-BE49-F238E27FC236}">
                <a16:creationId xmlns:a16="http://schemas.microsoft.com/office/drawing/2014/main" id="{1B289F2F-4C52-4BF6-AC2D-379BD422B5F5}"/>
              </a:ext>
            </a:extLst>
          </p:cNvPr>
          <p:cNvSpPr>
            <a:spLocks xmlns:a="http://schemas.openxmlformats.org/drawingml/2006/main" noGrp="1"/>
          </p:cNvSpPr>
          <p:nvPr/>
        </p:nvSpPr>
        <p:spPr>
          <a:xfrm xmlns:a="http://schemas.openxmlformats.org/drawingml/2006/main">
            <a:off x="10477500" y="27908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5FE3A1"/>
                </a:solidFill>
                <a:latin typeface="Bahnschrift"/>
                <a:ea typeface="Bahnschrift"/>
                <a:cs typeface="Bahnschrift"/>
              </a:defRPr>
            </a:pPr>
            <a:r>
              <a:rPr sz="1200" b="1">
                <a:solidFill>
                  <a:srgbClr val="5FE3A1"/>
                </a:solidFill>
                <a:latin typeface="Bahnschrift"/>
                <a:ea typeface="Bahnschrift"/>
                <a:cs typeface="Bahnschrift"/>
              </a:rPr>
              <a:t>10 </a:t>
            </a:r>
            <a:r>
              <a:rPr sz="1200" b="1">
                <a:solidFill>
                  <a:srgbClr val="5FE3A1"/>
                </a:solidFill>
                <a:latin typeface="Bahnschrift"/>
                <a:ea typeface="Bahnschrift"/>
                <a:cs typeface="Bahnschrift"/>
              </a:rPr>
              <a:t>分</a:t>
            </a:r>
          </a:p>
        </p:txBody>
      </p:sp>
      <p:sp>
        <p:nvSpPr>
          <p:cNvPr id="57" name="">
            <a:extLst xmlns:a="http://schemas.openxmlformats.org/drawingml/2006/main">
              <a:ext uri="{FF2B5EF4-FFF2-40B4-BE49-F238E27FC236}">
                <a16:creationId xmlns:a16="http://schemas.microsoft.com/office/drawing/2014/main" id="{1AA39424-ED1A-49E7-B08A-47EC53B1EFC2}"/>
              </a:ext>
            </a:extLst>
          </p:cNvPr>
          <p:cNvSpPr>
            <a:spLocks xmlns:a="http://schemas.openxmlformats.org/drawingml/2006/main" noGrp="1"/>
          </p:cNvSpPr>
          <p:nvPr/>
        </p:nvSpPr>
        <p:spPr>
          <a:xfrm xmlns:a="http://schemas.openxmlformats.org/drawingml/2006/main">
            <a:off x="6591300" y="3409950"/>
            <a:ext cx="5143500" cy="685800"/>
          </a:xfrm>
          <a:prstGeom xmlns:a="http://schemas.openxmlformats.org/drawingml/2006/main" prst="roundRect">
            <a:avLst>
              <a:gd name="adj" fmla="val 12500"/>
            </a:avLst>
          </a:prstGeom>
          <a:gradFill xmlns:a="http://schemas.openxmlformats.org/drawingml/2006/main">
            <a:gsLst>
              <a:gs pos="0">
                <a:srgbClr val="26528E"/>
              </a:gs>
              <a:gs pos="62000">
                <a:srgbClr val="0B3D80"/>
              </a:gs>
              <a:gs pos="100000">
                <a:srgbClr val="093064"/>
              </a:gs>
            </a:gsLst>
            <a:lin ang="8100000"/>
          </a:gradFill>
          <a:ln xmlns:a="http://schemas.openxmlformats.org/drawingml/2006/main" w="9525">
            <a:solidFill>
              <a:srgbClr val="1763B8"/>
            </a:solidFill>
            <a:prstDash val="solid"/>
          </a:ln>
        </p:spPr>
      </p:sp>
      <p:sp>
        <p:nvSpPr>
          <p:cNvPr id="58" name="">
            <a:extLst xmlns:a="http://schemas.openxmlformats.org/drawingml/2006/main">
              <a:ext uri="{FF2B5EF4-FFF2-40B4-BE49-F238E27FC236}">
                <a16:creationId xmlns:a16="http://schemas.microsoft.com/office/drawing/2014/main" id="{A4A0CD93-722A-4DE9-9A30-BB962F220CCE}"/>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ellipse">
            <a:avLst/>
          </a:prstGeom>
          <a:solidFill xmlns:a="http://schemas.openxmlformats.org/drawingml/2006/main">
            <a:srgbClr val="5FA8E8"/>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55E756D0-E1E0-4932-8268-FA1C7D25B561}"/>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3</a:t>
            </a:r>
          </a:p>
        </p:txBody>
      </p:sp>
      <p:sp>
        <p:nvSpPr>
          <p:cNvPr id="60" name="">
            <a:extLst xmlns:a="http://schemas.openxmlformats.org/drawingml/2006/main">
              <a:ext uri="{FF2B5EF4-FFF2-40B4-BE49-F238E27FC236}">
                <a16:creationId xmlns:a16="http://schemas.microsoft.com/office/drawing/2014/main" id="{B50F709C-7A22-49C5-9393-D625F64B844B}"/>
              </a:ext>
            </a:extLst>
          </p:cNvPr>
          <p:cNvSpPr>
            <a:spLocks xmlns:a="http://schemas.openxmlformats.org/drawingml/2006/main" noGrp="1"/>
          </p:cNvSpPr>
          <p:nvPr/>
        </p:nvSpPr>
        <p:spPr>
          <a:xfrm xmlns:a="http://schemas.openxmlformats.org/drawingml/2006/main">
            <a:off x="7124700" y="35147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《变电站二次回路识图》</a:t>
            </a:r>
          </a:p>
        </p:txBody>
      </p:sp>
      <p:sp>
        <p:nvSpPr>
          <p:cNvPr id="61" name="">
            <a:extLst xmlns:a="http://schemas.openxmlformats.org/drawingml/2006/main">
              <a:ext uri="{FF2B5EF4-FFF2-40B4-BE49-F238E27FC236}">
                <a16:creationId xmlns:a16="http://schemas.microsoft.com/office/drawing/2014/main" id="{A163D77C-6881-42C2-83E6-7677655E00BA}"/>
              </a:ext>
            </a:extLst>
          </p:cNvPr>
          <p:cNvSpPr>
            <a:spLocks xmlns:a="http://schemas.openxmlformats.org/drawingml/2006/main" noGrp="1"/>
          </p:cNvSpPr>
          <p:nvPr/>
        </p:nvSpPr>
        <p:spPr>
          <a:xfrm xmlns:a="http://schemas.openxmlformats.org/drawingml/2006/main">
            <a:off x="7124700" y="37528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标签 </a:t>
            </a:r>
            <a:r>
              <a:rPr sz="825" b="0">
                <a:solidFill>
                  <a:srgbClr val="C6DDFF"/>
                </a:solidFill>
                <a:latin typeface="微软雅黑"/>
                <a:ea typeface="微软雅黑"/>
                <a:cs typeface="微软雅黑"/>
              </a:rPr>
              <a:t>+3 · </a:t>
            </a:r>
            <a:r>
              <a:rPr sz="825" b="0">
                <a:solidFill>
                  <a:srgbClr val="C6DDFF"/>
                </a:solidFill>
                <a:latin typeface="微软雅黑"/>
                <a:ea typeface="微软雅黑"/>
                <a:cs typeface="微软雅黑"/>
              </a:rPr>
              <a:t>机构 </a:t>
            </a:r>
            <a:r>
              <a:rPr sz="825" b="0">
                <a:solidFill>
                  <a:srgbClr val="C6DDFF"/>
                </a:solidFill>
                <a:latin typeface="微软雅黑"/>
                <a:ea typeface="微软雅黑"/>
                <a:cs typeface="微软雅黑"/>
              </a:rPr>
              <a:t>+2</a:t>
            </a:r>
          </a:p>
        </p:txBody>
      </p:sp>
      <p:sp>
        <p:nvSpPr>
          <p:cNvPr id="62" name="">
            <a:extLst xmlns:a="http://schemas.openxmlformats.org/drawingml/2006/main">
              <a:ext uri="{FF2B5EF4-FFF2-40B4-BE49-F238E27FC236}">
                <a16:creationId xmlns:a16="http://schemas.microsoft.com/office/drawing/2014/main" id="{C3A855DB-A278-4D3A-A326-E57204CD5995}"/>
              </a:ext>
            </a:extLst>
          </p:cNvPr>
          <p:cNvSpPr>
            <a:spLocks xmlns:a="http://schemas.openxmlformats.org/drawingml/2006/main" noGrp="1"/>
          </p:cNvSpPr>
          <p:nvPr/>
        </p:nvSpPr>
        <p:spPr>
          <a:xfrm xmlns:a="http://schemas.openxmlformats.org/drawingml/2006/main">
            <a:off x="10477500" y="35909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9DBEE8"/>
                </a:solidFill>
                <a:latin typeface="Bahnschrift"/>
                <a:ea typeface="Bahnschrift"/>
                <a:cs typeface="Bahnschrift"/>
              </a:defRPr>
            </a:pPr>
            <a:r>
              <a:rPr sz="1200" b="1">
                <a:solidFill>
                  <a:srgbClr val="9DBEE8"/>
                </a:solidFill>
                <a:latin typeface="Bahnschrift"/>
                <a:ea typeface="Bahnschrift"/>
                <a:cs typeface="Bahnschrift"/>
              </a:rPr>
              <a:t>5 </a:t>
            </a:r>
            <a:r>
              <a:rPr sz="1200" b="1">
                <a:solidFill>
                  <a:srgbClr val="9DBEE8"/>
                </a:solidFill>
                <a:latin typeface="Bahnschrift"/>
                <a:ea typeface="Bahnschrift"/>
                <a:cs typeface="Bahnschrift"/>
              </a:rPr>
              <a:t>分</a:t>
            </a:r>
          </a:p>
        </p:txBody>
      </p:sp>
      <p:sp>
        <p:nvSpPr>
          <p:cNvPr id="63" name="">
            <a:extLst xmlns:a="http://schemas.openxmlformats.org/drawingml/2006/main">
              <a:ext uri="{FF2B5EF4-FFF2-40B4-BE49-F238E27FC236}">
                <a16:creationId xmlns:a16="http://schemas.microsoft.com/office/drawing/2014/main" id="{FB613475-2DAC-410E-B6B4-D6F6C6C7F886}"/>
              </a:ext>
            </a:extLst>
          </p:cNvPr>
          <p:cNvSpPr>
            <a:spLocks xmlns:a="http://schemas.openxmlformats.org/drawingml/2006/main" noGrp="1"/>
          </p:cNvSpPr>
          <p:nvPr/>
        </p:nvSpPr>
        <p:spPr>
          <a:xfrm xmlns:a="http://schemas.openxmlformats.org/drawingml/2006/main">
            <a:off x="6591300" y="4210050"/>
            <a:ext cx="5143500" cy="685800"/>
          </a:xfrm>
          <a:prstGeom xmlns:a="http://schemas.openxmlformats.org/drawingml/2006/main" prst="roundRect">
            <a:avLst>
              <a:gd name="adj" fmla="val 12500"/>
            </a:avLst>
          </a:prstGeom>
          <a:gradFill xmlns:a="http://schemas.openxmlformats.org/drawingml/2006/main">
            <a:gsLst>
              <a:gs pos="0">
                <a:srgbClr val="26528E"/>
              </a:gs>
              <a:gs pos="62000">
                <a:srgbClr val="0B3D80"/>
              </a:gs>
              <a:gs pos="100000">
                <a:srgbClr val="093064"/>
              </a:gs>
            </a:gsLst>
            <a:lin ang="8100000"/>
          </a:gradFill>
          <a:ln xmlns:a="http://schemas.openxmlformats.org/drawingml/2006/main" w="9525">
            <a:solidFill>
              <a:srgbClr val="1763B8"/>
            </a:solidFill>
            <a:prstDash val="solid"/>
          </a:ln>
        </p:spPr>
      </p:sp>
      <p:sp>
        <p:nvSpPr>
          <p:cNvPr id="64" name="">
            <a:extLst xmlns:a="http://schemas.openxmlformats.org/drawingml/2006/main">
              <a:ext uri="{FF2B5EF4-FFF2-40B4-BE49-F238E27FC236}">
                <a16:creationId xmlns:a16="http://schemas.microsoft.com/office/drawing/2014/main" id="{C1232FEF-AFD8-4160-AE7A-6FF7D892A92C}"/>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ellipse">
            <a:avLst/>
          </a:prstGeom>
          <a:solidFill xmlns:a="http://schemas.openxmlformats.org/drawingml/2006/main">
            <a:srgbClr val="5FA8E8"/>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2D38148E-E95A-4BB8-8F14-042C1BA7DFF7}"/>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4</a:t>
            </a:r>
          </a:p>
        </p:txBody>
      </p:sp>
      <p:sp>
        <p:nvSpPr>
          <p:cNvPr id="66" name="">
            <a:extLst xmlns:a="http://schemas.openxmlformats.org/drawingml/2006/main">
              <a:ext uri="{FF2B5EF4-FFF2-40B4-BE49-F238E27FC236}">
                <a16:creationId xmlns:a16="http://schemas.microsoft.com/office/drawing/2014/main" id="{4D8A2778-B63A-4322-AEFA-97E269E3F75D}"/>
              </a:ext>
            </a:extLst>
          </p:cNvPr>
          <p:cNvSpPr>
            <a:spLocks xmlns:a="http://schemas.openxmlformats.org/drawingml/2006/main" noGrp="1"/>
          </p:cNvSpPr>
          <p:nvPr/>
        </p:nvSpPr>
        <p:spPr>
          <a:xfrm xmlns:a="http://schemas.openxmlformats.org/drawingml/2006/main">
            <a:off x="7124700" y="4314825"/>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《电力安全工作规程通用课》</a:t>
            </a:r>
          </a:p>
        </p:txBody>
      </p:sp>
      <p:sp>
        <p:nvSpPr>
          <p:cNvPr id="67" name="">
            <a:extLst xmlns:a="http://schemas.openxmlformats.org/drawingml/2006/main">
              <a:ext uri="{FF2B5EF4-FFF2-40B4-BE49-F238E27FC236}">
                <a16:creationId xmlns:a16="http://schemas.microsoft.com/office/drawing/2014/main" id="{6A24715E-83AD-43D8-B1A4-89138AFC825D}"/>
              </a:ext>
            </a:extLst>
          </p:cNvPr>
          <p:cNvSpPr>
            <a:spLocks xmlns:a="http://schemas.openxmlformats.org/drawingml/2006/main" noGrp="1"/>
          </p:cNvSpPr>
          <p:nvPr/>
        </p:nvSpPr>
        <p:spPr>
          <a:xfrm xmlns:a="http://schemas.openxmlformats.org/drawingml/2006/main">
            <a:off x="7124700" y="4552950"/>
            <a:ext cx="3238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匹配理由 </a:t>
            </a:r>
            <a:r>
              <a:rPr sz="825" b="0">
                <a:solidFill>
                  <a:srgbClr val="C6DDFF"/>
                </a:solidFill>
                <a:latin typeface="微软雅黑"/>
                <a:ea typeface="微软雅黑"/>
                <a:cs typeface="微软雅黑"/>
              </a:rPr>
              <a:t>+1</a:t>
            </a:r>
          </a:p>
        </p:txBody>
      </p:sp>
      <p:sp>
        <p:nvSpPr>
          <p:cNvPr id="68" name="">
            <a:extLst xmlns:a="http://schemas.openxmlformats.org/drawingml/2006/main">
              <a:ext uri="{FF2B5EF4-FFF2-40B4-BE49-F238E27FC236}">
                <a16:creationId xmlns:a16="http://schemas.microsoft.com/office/drawing/2014/main" id="{273BF7BD-8633-4D11-BD28-5F7C8A54D3BB}"/>
              </a:ext>
            </a:extLst>
          </p:cNvPr>
          <p:cNvSpPr>
            <a:spLocks xmlns:a="http://schemas.openxmlformats.org/drawingml/2006/main" noGrp="1"/>
          </p:cNvSpPr>
          <p:nvPr/>
        </p:nvSpPr>
        <p:spPr>
          <a:xfrm xmlns:a="http://schemas.openxmlformats.org/drawingml/2006/main">
            <a:off x="10477500" y="4391025"/>
            <a:ext cx="1047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9DBEE8"/>
                </a:solidFill>
                <a:latin typeface="Bahnschrift"/>
                <a:ea typeface="Bahnschrift"/>
                <a:cs typeface="Bahnschrift"/>
              </a:defRPr>
            </a:pPr>
            <a:r>
              <a:rPr sz="1200" b="1">
                <a:solidFill>
                  <a:srgbClr val="9DBEE8"/>
                </a:solidFill>
                <a:latin typeface="Bahnschrift"/>
                <a:ea typeface="Bahnschrift"/>
                <a:cs typeface="Bahnschrift"/>
              </a:rPr>
              <a:t>1 </a:t>
            </a:r>
            <a:r>
              <a:rPr sz="1200" b="1">
                <a:solidFill>
                  <a:srgbClr val="9DBEE8"/>
                </a:solidFill>
                <a:latin typeface="Bahnschrift"/>
                <a:ea typeface="Bahnschrift"/>
                <a:cs typeface="Bahnschrift"/>
              </a:rPr>
              <a:t>分</a:t>
            </a:r>
          </a:p>
        </p:txBody>
      </p:sp>
      <p:sp>
        <p:nvSpPr>
          <p:cNvPr id="69" name="">
            <a:extLst xmlns:a="http://schemas.openxmlformats.org/drawingml/2006/main">
              <a:ext uri="{FF2B5EF4-FFF2-40B4-BE49-F238E27FC236}">
                <a16:creationId xmlns:a16="http://schemas.microsoft.com/office/drawing/2014/main" id="{80933768-F35B-4E1A-8B49-12B66038044C}"/>
              </a:ext>
            </a:extLst>
          </p:cNvPr>
          <p:cNvSpPr>
            <a:spLocks xmlns:a="http://schemas.openxmlformats.org/drawingml/2006/main" noGrp="1"/>
          </p:cNvSpPr>
          <p:nvPr/>
        </p:nvSpPr>
        <p:spPr>
          <a:xfrm xmlns:a="http://schemas.openxmlformats.org/drawingml/2006/main">
            <a:off x="6591300" y="5029200"/>
            <a:ext cx="5143500" cy="1162050"/>
          </a:xfrm>
          <a:prstGeom xmlns:a="http://schemas.openxmlformats.org/drawingml/2006/main" prst="roundRect">
            <a:avLst>
              <a:gd name="adj" fmla="val 737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70" name="">
            <a:extLst xmlns:a="http://schemas.openxmlformats.org/drawingml/2006/main">
              <a:ext uri="{FF2B5EF4-FFF2-40B4-BE49-F238E27FC236}">
                <a16:creationId xmlns:a16="http://schemas.microsoft.com/office/drawing/2014/main" id="{90BF2DF1-73BB-4B9B-A94F-1104A000D743}"/>
              </a:ext>
            </a:extLst>
          </p:cNvPr>
          <p:cNvSpPr>
            <a:spLocks xmlns:a="http://schemas.openxmlformats.org/drawingml/2006/main" noGrp="1"/>
          </p:cNvSpPr>
          <p:nvPr/>
        </p:nvSpPr>
        <p:spPr>
          <a:xfrm xmlns:a="http://schemas.openxmlformats.org/drawingml/2006/main">
            <a:off x="6762750" y="5143500"/>
            <a:ext cx="48196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4FD8FF"/>
                </a:solidFill>
                <a:latin typeface="微软雅黑"/>
                <a:ea typeface="微软雅黑"/>
                <a:cs typeface="微软雅黑"/>
              </a:defRPr>
            </a:pPr>
            <a:r>
              <a:rPr sz="975" b="1">
                <a:solidFill>
                  <a:srgbClr val="4FD8FF"/>
                </a:solidFill>
                <a:latin typeface="微软雅黑"/>
                <a:ea typeface="微软雅黑"/>
                <a:cs typeface="微软雅黑"/>
              </a:rPr>
              <a:t>排序规则：先内容分，再缺口加权</a:t>
            </a:r>
          </a:p>
        </p:txBody>
      </p:sp>
      <p:sp>
        <p:nvSpPr>
          <p:cNvPr id="71" name="">
            <a:extLst xmlns:a="http://schemas.openxmlformats.org/drawingml/2006/main">
              <a:ext uri="{FF2B5EF4-FFF2-40B4-BE49-F238E27FC236}">
                <a16:creationId xmlns:a16="http://schemas.microsoft.com/office/drawing/2014/main" id="{FA43576A-0747-42AA-815B-D7E75D54C547}"/>
              </a:ext>
            </a:extLst>
          </p:cNvPr>
          <p:cNvSpPr>
            <a:spLocks xmlns:a="http://schemas.openxmlformats.org/drawingml/2006/main" noGrp="1"/>
          </p:cNvSpPr>
          <p:nvPr/>
        </p:nvSpPr>
        <p:spPr>
          <a:xfrm xmlns:a="http://schemas.openxmlformats.org/drawingml/2006/main">
            <a:off x="6762750" y="5410200"/>
            <a:ext cx="4838700" cy="704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内容分把「标题里出现软压板」的课排前面；缺口加权再把「正好补当前 </a:t>
            </a:r>
            <a:r>
              <a:rPr sz="900" b="0">
                <a:solidFill>
                  <a:srgbClr val="EEF5FF"/>
                </a:solidFill>
                <a:latin typeface="微软雅黑"/>
                <a:ea typeface="微软雅黑"/>
                <a:cs typeface="微软雅黑"/>
              </a:rPr>
              <a:t>L1→L3 </a:t>
            </a:r>
            <a:r>
              <a:rPr sz="900" b="0">
                <a:solidFill>
                  <a:srgbClr val="EEF5FF"/>
                </a:solidFill>
                <a:latin typeface="微软雅黑"/>
                <a:ea typeface="微软雅黑"/>
                <a:cs typeface="微软雅黑"/>
              </a:rPr>
              <a:t>缺口」的课顶到最前。两者结合，才不会出现「搜到一堆相关课，却不知道该学哪一门」。</a:t>
            </a:r>
          </a:p>
        </p:txBody>
      </p:sp>
      <p:sp>
        <p:nvSpPr>
          <p:cNvPr id="72" name="">
            <a:extLst xmlns:a="http://schemas.openxmlformats.org/drawingml/2006/main">
              <a:ext uri="{FF2B5EF4-FFF2-40B4-BE49-F238E27FC236}">
                <a16:creationId xmlns:a16="http://schemas.microsoft.com/office/drawing/2014/main" id="{F6F5032D-FA1B-4056-A428-2A30891755FE}"/>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D7F9D441-8515-415A-92A0-9841CAFC5870}"/>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D81D946C-8F56-41CB-B4B2-4C55E863B09F}"/>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5" name="">
            <a:extLst xmlns:a="http://schemas.openxmlformats.org/drawingml/2006/main">
              <a:ext uri="{FF2B5EF4-FFF2-40B4-BE49-F238E27FC236}">
                <a16:creationId xmlns:a16="http://schemas.microsoft.com/office/drawing/2014/main" id="{FD69B12C-3B14-440D-9B3E-9EA463A8855F}"/>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D2598CA0-6B83-4E97-990C-6CECA5D6CF9A}"/>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17</a:t>
            </a:r>
          </a:p>
        </p:txBody>
      </p:sp>
    </p:spTree>
    <p:extLst>
      <p:ext uri="{BB962C8B-B14F-4D97-AF65-F5344CB8AC3E}">
        <p14:creationId xmlns:p14="http://schemas.microsoft.com/office/powerpoint/2010/main" val="476978569"/>
      </p:ext>
    </p:extLst>
  </p:cSld>
</p:sld>
</file>

<file path=ppt/slides/slide1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8f3077f1527c4a9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C71F40-20B8-469C-92C7-3E424653B3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98C0F2A-89D5-4BF8-BB54-EABC1CF91F9E}"/>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32683A6-089E-4122-90BC-7F6E7A7A6F68}"/>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30F90DC3-353F-4014-AE9E-932D3EA7B7B5}"/>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F86F72E9-307B-4BDD-AEE8-699978C71B8F}"/>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E8650B6D-58BF-498E-89C3-64562A5550B6}"/>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B0C3E5A3-B8CD-4D9E-A59F-B939468CFF26}"/>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A26691F6-6C67-4978-B6BF-E948EDF1135E}"/>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B2008690-362E-45A9-B0DE-5F92A3B15097}"/>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77378BD-744C-4610-B580-B28D85ED7D2F}"/>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BAE6DF86-EE35-4353-9FA5-E8463903E816}"/>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4DB077E-219D-4056-A684-37694A8CE576}"/>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B2BCF134-76E7-4C7F-8D52-DCF3AB097813}"/>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算法小结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为什么不让大模型直接下结论</a:t>
            </a:r>
          </a:p>
        </p:txBody>
      </p:sp>
      <p:sp>
        <p:nvSpPr>
          <p:cNvPr id="15" name="">
            <a:extLst xmlns:a="http://schemas.openxmlformats.org/drawingml/2006/main">
              <a:ext uri="{FF2B5EF4-FFF2-40B4-BE49-F238E27FC236}">
                <a16:creationId xmlns:a16="http://schemas.microsoft.com/office/drawing/2014/main" id="{E48DFE47-710A-4813-9E67-F2C60FE0DE2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25179D83-A76D-4873-9F9F-9FADD52494D6}"/>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9801BEB3-67D5-4BE6-A797-42DCAC9529B4}"/>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6EBB324D-3AE8-4F47-BF66-ADE682F659C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1BAC9A1A-7248-4A00-B345-5849A9FE35A3}"/>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大模型负责把「话」变成「数」、再把「数」翻译回「话」；凡是涉及人和钱的判断，都交给可复算的算法。</a:t>
            </a:r>
          </a:p>
        </p:txBody>
      </p:sp>
      <p:sp>
        <p:nvSpPr>
          <p:cNvPr id="20" name="">
            <a:extLst xmlns:a="http://schemas.openxmlformats.org/drawingml/2006/main">
              <a:ext uri="{FF2B5EF4-FFF2-40B4-BE49-F238E27FC236}">
                <a16:creationId xmlns:a16="http://schemas.microsoft.com/office/drawing/2014/main" id="{0BFBBDCB-EA26-4BB9-B750-1547A714ED31}"/>
              </a:ext>
            </a:extLst>
          </p:cNvPr>
          <p:cNvSpPr>
            <a:spLocks xmlns:a="http://schemas.openxmlformats.org/drawingml/2006/main" noGrp="1"/>
          </p:cNvSpPr>
          <p:nvPr/>
        </p:nvSpPr>
        <p:spPr>
          <a:xfrm xmlns:a="http://schemas.openxmlformats.org/drawingml/2006/main">
            <a:off x="285750" y="1333500"/>
            <a:ext cx="3771900" cy="2857500"/>
          </a:xfrm>
          <a:prstGeom xmlns:a="http://schemas.openxmlformats.org/drawingml/2006/main" prst="roundRect">
            <a:avLst>
              <a:gd name="adj" fmla="val 3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C9E6A7D4-FA89-46D5-B660-B65E7394DD30}"/>
              </a:ext>
            </a:extLst>
          </p:cNvPr>
          <p:cNvSpPr>
            <a:spLocks xmlns:a="http://schemas.openxmlformats.org/drawingml/2006/main" noGrp="1"/>
          </p:cNvSpPr>
          <p:nvPr/>
        </p:nvSpPr>
        <p:spPr>
          <a:xfrm xmlns:a="http://schemas.openxmlformats.org/drawingml/2006/main">
            <a:off x="285750" y="1333500"/>
            <a:ext cx="3771900" cy="47625"/>
          </a:xfrm>
          <a:prstGeom xmlns:a="http://schemas.openxmlformats.org/drawingml/2006/main" prst="rect">
            <a:avLst/>
          </a:prstGeom>
          <a:solidFill xmlns:a="http://schemas.openxmlformats.org/drawingml/2006/main">
            <a:srgbClr val="C6DD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FC25E5E8-86E3-49D7-8E62-F771E2CC211A}"/>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C6DDFF"/>
                </a:solidFill>
                <a:latin typeface="微软雅黑"/>
                <a:ea typeface="微软雅黑"/>
                <a:cs typeface="微软雅黑"/>
              </a:defRPr>
            </a:pPr>
            <a:r>
              <a:rPr sz="1425" b="1">
                <a:solidFill>
                  <a:srgbClr val="C6DDFF"/>
                </a:solidFill>
                <a:latin typeface="微软雅黑"/>
                <a:ea typeface="微软雅黑"/>
                <a:cs typeface="微软雅黑"/>
              </a:rPr>
              <a:t>纯规则</a:t>
            </a:r>
          </a:p>
        </p:txBody>
      </p:sp>
      <p:sp>
        <p:nvSpPr>
          <p:cNvPr id="23" name="">
            <a:extLst xmlns:a="http://schemas.openxmlformats.org/drawingml/2006/main">
              <a:ext uri="{FF2B5EF4-FFF2-40B4-BE49-F238E27FC236}">
                <a16:creationId xmlns:a16="http://schemas.microsoft.com/office/drawing/2014/main" id="{36197BAD-DAE5-4A69-B1FF-5A73B16DB37A}"/>
              </a:ext>
            </a:extLst>
          </p:cNvPr>
          <p:cNvSpPr>
            <a:spLocks xmlns:a="http://schemas.openxmlformats.org/drawingml/2006/main" noGrp="1"/>
          </p:cNvSpPr>
          <p:nvPr/>
        </p:nvSpPr>
        <p:spPr>
          <a:xfrm xmlns:a="http://schemas.openxmlformats.org/drawingml/2006/main">
            <a:off x="495300" y="1924050"/>
            <a:ext cx="3409950" cy="2133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优点：确定、可复算、可离线、无幻觉</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缺点：规则条数随场景爆炸，无法理解自由文本</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在本系统中的位置：作为保底与定档，</a:t>
            </a:r>
            <a:r>
              <a:rPr sz="938">
                <a:solidFill>
                  <a:srgbClr val="EEF5FF"/>
                </a:solidFill>
                <a:latin typeface="微软雅黑"/>
                <a:ea typeface="微软雅黑"/>
                <a:cs typeface="微软雅黑"/>
              </a:rPr>
              <a:t>18 </a:t>
            </a:r>
            <a:r>
              <a:rPr sz="938">
                <a:solidFill>
                  <a:srgbClr val="EEF5FF"/>
                </a:solidFill>
                <a:latin typeface="微软雅黑"/>
                <a:ea typeface="微软雅黑"/>
                <a:cs typeface="微软雅黑"/>
              </a:rPr>
              <a:t>条规则覆盖 </a:t>
            </a: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个场景</a:t>
            </a:r>
          </a:p>
        </p:txBody>
      </p:sp>
      <p:sp>
        <p:nvSpPr>
          <p:cNvPr id="24" name="">
            <a:extLst xmlns:a="http://schemas.openxmlformats.org/drawingml/2006/main">
              <a:ext uri="{FF2B5EF4-FFF2-40B4-BE49-F238E27FC236}">
                <a16:creationId xmlns:a16="http://schemas.microsoft.com/office/drawing/2014/main" id="{79AC402A-E1ED-41C0-A93D-C65F739FBC78}"/>
              </a:ext>
            </a:extLst>
          </p:cNvPr>
          <p:cNvSpPr>
            <a:spLocks xmlns:a="http://schemas.openxmlformats.org/drawingml/2006/main" noGrp="1"/>
          </p:cNvSpPr>
          <p:nvPr/>
        </p:nvSpPr>
        <p:spPr>
          <a:xfrm xmlns:a="http://schemas.openxmlformats.org/drawingml/2006/main">
            <a:off x="4229100" y="1333500"/>
            <a:ext cx="3771900" cy="2857500"/>
          </a:xfrm>
          <a:prstGeom xmlns:a="http://schemas.openxmlformats.org/drawingml/2006/main" prst="roundRect">
            <a:avLst>
              <a:gd name="adj" fmla="val 3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79D70CA1-5C9B-4B2A-A35F-E1675D5DDE44}"/>
              </a:ext>
            </a:extLst>
          </p:cNvPr>
          <p:cNvSpPr>
            <a:spLocks xmlns:a="http://schemas.openxmlformats.org/drawingml/2006/main" noGrp="1"/>
          </p:cNvSpPr>
          <p:nvPr/>
        </p:nvSpPr>
        <p:spPr>
          <a:xfrm xmlns:a="http://schemas.openxmlformats.org/drawingml/2006/main">
            <a:off x="4229100" y="1333500"/>
            <a:ext cx="3771900" cy="47625"/>
          </a:xfrm>
          <a:prstGeom xmlns:a="http://schemas.openxmlformats.org/drawingml/2006/main" prst="rect">
            <a:avLst/>
          </a:prstGeom>
          <a:solidFill xmlns:a="http://schemas.openxmlformats.org/drawingml/2006/main">
            <a:srgbClr val="FF7A6B"/>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81410EC0-C20A-4B78-98AC-F6B4F4E602EA}"/>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F7A6B"/>
                </a:solidFill>
                <a:latin typeface="微软雅黑"/>
                <a:ea typeface="微软雅黑"/>
                <a:cs typeface="微软雅黑"/>
              </a:defRPr>
            </a:pPr>
            <a:r>
              <a:rPr sz="1425" b="1">
                <a:solidFill>
                  <a:srgbClr val="FF7A6B"/>
                </a:solidFill>
                <a:latin typeface="微软雅黑"/>
                <a:ea typeface="微软雅黑"/>
                <a:cs typeface="微软雅黑"/>
              </a:rPr>
              <a:t>纯大模型</a:t>
            </a:r>
          </a:p>
        </p:txBody>
      </p:sp>
      <p:sp>
        <p:nvSpPr>
          <p:cNvPr id="27" name="">
            <a:extLst xmlns:a="http://schemas.openxmlformats.org/drawingml/2006/main">
              <a:ext uri="{FF2B5EF4-FFF2-40B4-BE49-F238E27FC236}">
                <a16:creationId xmlns:a16="http://schemas.microsoft.com/office/drawing/2014/main" id="{581BF053-2C89-45D6-89C5-CE884B0F104F}"/>
              </a:ext>
            </a:extLst>
          </p:cNvPr>
          <p:cNvSpPr>
            <a:spLocks xmlns:a="http://schemas.openxmlformats.org/drawingml/2006/main" noGrp="1"/>
          </p:cNvSpPr>
          <p:nvPr/>
        </p:nvSpPr>
        <p:spPr>
          <a:xfrm xmlns:a="http://schemas.openxmlformats.org/drawingml/2006/main">
            <a:off x="4438650" y="1924050"/>
            <a:ext cx="3409950" cy="2133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优点：能读自由文本、能生成自然语言解释</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缺点：结论不可复算、有随机性、断网即失效、无法追责</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在本系统中的位置：仅作为可选增强（</a:t>
            </a:r>
            <a:r>
              <a:rPr sz="938">
                <a:solidFill>
                  <a:srgbClr val="EEF5FF"/>
                </a:solidFill>
                <a:latin typeface="微软雅黑"/>
                <a:ea typeface="微软雅黑"/>
                <a:cs typeface="微软雅黑"/>
              </a:rPr>
              <a:t>AI_ENABLED </a:t>
            </a:r>
            <a:r>
              <a:rPr sz="938">
                <a:solidFill>
                  <a:srgbClr val="EEF5FF"/>
                </a:solidFill>
                <a:latin typeface="微软雅黑"/>
                <a:ea typeface="微软雅黑"/>
                <a:cs typeface="微软雅黑"/>
              </a:rPr>
              <a:t>默认 </a:t>
            </a:r>
            <a:r>
              <a:rPr sz="938">
                <a:solidFill>
                  <a:srgbClr val="EEF5FF"/>
                </a:solidFill>
                <a:latin typeface="微软雅黑"/>
                <a:ea typeface="微软雅黑"/>
                <a:cs typeface="微软雅黑"/>
              </a:rPr>
              <a:t>false</a:t>
            </a:r>
            <a:r>
              <a:rPr sz="938">
                <a:solidFill>
                  <a:srgbClr val="EEF5FF"/>
                </a:solidFill>
                <a:latin typeface="微软雅黑"/>
                <a:ea typeface="微软雅黑"/>
                <a:cs typeface="微软雅黑"/>
              </a:rPr>
              <a:t>）</a:t>
            </a:r>
          </a:p>
        </p:txBody>
      </p:sp>
      <p:sp>
        <p:nvSpPr>
          <p:cNvPr id="28" name="">
            <a:extLst xmlns:a="http://schemas.openxmlformats.org/drawingml/2006/main">
              <a:ext uri="{FF2B5EF4-FFF2-40B4-BE49-F238E27FC236}">
                <a16:creationId xmlns:a16="http://schemas.microsoft.com/office/drawing/2014/main" id="{85BDD9F9-5969-46D2-88A3-A564A633849F}"/>
              </a:ext>
            </a:extLst>
          </p:cNvPr>
          <p:cNvSpPr>
            <a:spLocks xmlns:a="http://schemas.openxmlformats.org/drawingml/2006/main" noGrp="1"/>
          </p:cNvSpPr>
          <p:nvPr/>
        </p:nvSpPr>
        <p:spPr>
          <a:xfrm xmlns:a="http://schemas.openxmlformats.org/drawingml/2006/main">
            <a:off x="8172450" y="1333500"/>
            <a:ext cx="3771900" cy="2857500"/>
          </a:xfrm>
          <a:prstGeom xmlns:a="http://schemas.openxmlformats.org/drawingml/2006/main" prst="roundRect">
            <a:avLst>
              <a:gd name="adj" fmla="val 3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29" name="">
            <a:extLst xmlns:a="http://schemas.openxmlformats.org/drawingml/2006/main">
              <a:ext uri="{FF2B5EF4-FFF2-40B4-BE49-F238E27FC236}">
                <a16:creationId xmlns:a16="http://schemas.microsoft.com/office/drawing/2014/main" id="{8679893E-461E-4A49-92DE-9C8722770CE3}"/>
              </a:ext>
            </a:extLst>
          </p:cNvPr>
          <p:cNvSpPr>
            <a:spLocks xmlns:a="http://schemas.openxmlformats.org/drawingml/2006/main" noGrp="1"/>
          </p:cNvSpPr>
          <p:nvPr/>
        </p:nvSpPr>
        <p:spPr>
          <a:xfrm xmlns:a="http://schemas.openxmlformats.org/drawingml/2006/main">
            <a:off x="8172450" y="1333500"/>
            <a:ext cx="3771900" cy="47625"/>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3EC709FF-D1CE-458A-8B08-2D8C1E67ACD5}"/>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5FE3A1"/>
                </a:solidFill>
                <a:latin typeface="微软雅黑"/>
                <a:ea typeface="微软雅黑"/>
                <a:cs typeface="微软雅黑"/>
              </a:defRPr>
            </a:pPr>
            <a:r>
              <a:rPr sz="1425" b="1">
                <a:solidFill>
                  <a:srgbClr val="5FE3A1"/>
                </a:solidFill>
                <a:latin typeface="微软雅黑"/>
                <a:ea typeface="微软雅黑"/>
                <a:cs typeface="微软雅黑"/>
              </a:rPr>
              <a:t>本系统（规则 </a:t>
            </a:r>
            <a:r>
              <a:rPr sz="1425" b="1">
                <a:solidFill>
                  <a:srgbClr val="5FE3A1"/>
                </a:solidFill>
                <a:latin typeface="微软雅黑"/>
                <a:ea typeface="微软雅黑"/>
                <a:cs typeface="微软雅黑"/>
              </a:rPr>
              <a:t>+ </a:t>
            </a:r>
            <a:r>
              <a:rPr sz="1425" b="1">
                <a:solidFill>
                  <a:srgbClr val="5FE3A1"/>
                </a:solidFill>
                <a:latin typeface="微软雅黑"/>
                <a:ea typeface="微软雅黑"/>
                <a:cs typeface="微软雅黑"/>
              </a:rPr>
              <a:t>引用事实）</a:t>
            </a:r>
          </a:p>
        </p:txBody>
      </p:sp>
      <p:sp>
        <p:nvSpPr>
          <p:cNvPr id="31" name="">
            <a:extLst xmlns:a="http://schemas.openxmlformats.org/drawingml/2006/main">
              <a:ext uri="{FF2B5EF4-FFF2-40B4-BE49-F238E27FC236}">
                <a16:creationId xmlns:a16="http://schemas.microsoft.com/office/drawing/2014/main" id="{1D12D5C7-76A6-4848-8273-AC07D2518CA2}"/>
              </a:ext>
            </a:extLst>
          </p:cNvPr>
          <p:cNvSpPr>
            <a:spLocks xmlns:a="http://schemas.openxmlformats.org/drawingml/2006/main" noGrp="1"/>
          </p:cNvSpPr>
          <p:nvPr/>
        </p:nvSpPr>
        <p:spPr>
          <a:xfrm xmlns:a="http://schemas.openxmlformats.org/drawingml/2006/main">
            <a:off x="8382000" y="1924050"/>
            <a:ext cx="3409950" cy="2133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优点：判断逻辑进库，规则条数不再爆炸</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缺点：需要先把事实字段定义清楚（这也是我们做的事）</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在本系统中的位置：决策主链路，结论带 </a:t>
            </a:r>
            <a:r>
              <a:rPr sz="938">
                <a:solidFill>
                  <a:srgbClr val="EEF5FF"/>
                </a:solidFill>
                <a:latin typeface="微软雅黑"/>
                <a:ea typeface="微软雅黑"/>
                <a:cs typeface="微软雅黑"/>
              </a:rPr>
              <a:t>rule_code </a:t>
            </a:r>
            <a:r>
              <a:rPr sz="938">
                <a:solidFill>
                  <a:srgbClr val="EEF5FF"/>
                </a:solidFill>
                <a:latin typeface="微软雅黑"/>
                <a:ea typeface="微软雅黑"/>
                <a:cs typeface="微软雅黑"/>
              </a:rPr>
              <a:t>与依据事实</a:t>
            </a:r>
          </a:p>
        </p:txBody>
      </p:sp>
      <p:sp>
        <p:nvSpPr>
          <p:cNvPr id="32" name="">
            <a:extLst xmlns:a="http://schemas.openxmlformats.org/drawingml/2006/main">
              <a:ext uri="{FF2B5EF4-FFF2-40B4-BE49-F238E27FC236}">
                <a16:creationId xmlns:a16="http://schemas.microsoft.com/office/drawing/2014/main" id="{791DFADF-68F3-48FA-8314-A9E33D01E6A4}"/>
              </a:ext>
            </a:extLst>
          </p:cNvPr>
          <p:cNvSpPr>
            <a:spLocks xmlns:a="http://schemas.openxmlformats.org/drawingml/2006/main" noGrp="1"/>
          </p:cNvSpPr>
          <p:nvPr/>
        </p:nvSpPr>
        <p:spPr>
          <a:xfrm xmlns:a="http://schemas.openxmlformats.org/drawingml/2006/main">
            <a:off x="285750" y="4343400"/>
            <a:ext cx="11620500" cy="1009650"/>
          </a:xfrm>
          <a:prstGeom xmlns:a="http://schemas.openxmlformats.org/drawingml/2006/main" prst="roundRect">
            <a:avLst>
              <a:gd name="adj" fmla="val 84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33" name="">
            <a:extLst xmlns:a="http://schemas.openxmlformats.org/drawingml/2006/main">
              <a:ext uri="{FF2B5EF4-FFF2-40B4-BE49-F238E27FC236}">
                <a16:creationId xmlns:a16="http://schemas.microsoft.com/office/drawing/2014/main" id="{F2692D41-1678-4AAA-AAF4-BAC7E28FA54E}"/>
              </a:ext>
            </a:extLst>
          </p:cNvPr>
          <p:cNvSpPr>
            <a:spLocks xmlns:a="http://schemas.openxmlformats.org/drawingml/2006/main" noGrp="1"/>
          </p:cNvSpPr>
          <p:nvPr/>
        </p:nvSpPr>
        <p:spPr>
          <a:xfrm xmlns:a="http://schemas.openxmlformats.org/drawingml/2006/main">
            <a:off x="495300" y="4457700"/>
            <a:ext cx="11239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大模型与本系统的分工（也是未来升级模型的接入点）</a:t>
            </a:r>
          </a:p>
        </p:txBody>
      </p:sp>
      <p:sp>
        <p:nvSpPr>
          <p:cNvPr id="34" name="">
            <a:extLst xmlns:a="http://schemas.openxmlformats.org/drawingml/2006/main">
              <a:ext uri="{FF2B5EF4-FFF2-40B4-BE49-F238E27FC236}">
                <a16:creationId xmlns:a16="http://schemas.microsoft.com/office/drawing/2014/main" id="{E3BEED78-0E4C-4054-8548-41558E60E6EC}"/>
              </a:ext>
            </a:extLst>
          </p:cNvPr>
          <p:cNvSpPr>
            <a:spLocks xmlns:a="http://schemas.openxmlformats.org/drawingml/2006/main" noGrp="1"/>
          </p:cNvSpPr>
          <p:nvPr/>
        </p:nvSpPr>
        <p:spPr>
          <a:xfrm xmlns:a="http://schemas.openxmlformats.org/drawingml/2006/main">
            <a:off x="495300" y="4743450"/>
            <a:ext cx="11239500" cy="533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大模型做翻译　</a:t>
            </a:r>
            <a:r>
              <a:rPr sz="938">
                <a:solidFill>
                  <a:srgbClr val="EEF5FF"/>
                </a:solidFill>
                <a:latin typeface="微软雅黑"/>
                <a:ea typeface="微软雅黑"/>
                <a:cs typeface="微软雅黑"/>
              </a:rPr>
              <a:t>把报告、</a:t>
            </a:r>
            <a:r>
              <a:rPr sz="938">
                <a:solidFill>
                  <a:srgbClr val="EEF5FF"/>
                </a:solidFill>
                <a:latin typeface="微软雅黑"/>
                <a:ea typeface="微软雅黑"/>
                <a:cs typeface="微软雅黑"/>
              </a:rPr>
              <a:t>SOP </a:t>
            </a:r>
            <a:r>
              <a:rPr sz="938">
                <a:solidFill>
                  <a:srgbClr val="EEF5FF"/>
                </a:solidFill>
                <a:latin typeface="微软雅黑"/>
                <a:ea typeface="微软雅黑"/>
                <a:cs typeface="微软雅黑"/>
              </a:rPr>
              <a:t>等自由文本抽取成结构化事实（如 </a:t>
            </a:r>
            <a:r>
              <a:rPr sz="938">
                <a:solidFill>
                  <a:srgbClr val="EEF5FF"/>
                </a:solidFill>
                <a:latin typeface="微软雅黑"/>
                <a:ea typeface="微软雅黑"/>
                <a:cs typeface="微软雅黑"/>
              </a:rPr>
              <a:t>over_threshold</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ratio</a:t>
            </a:r>
            <a:r>
              <a:rPr sz="938">
                <a:solidFill>
                  <a:srgbClr val="EEF5FF"/>
                </a:solidFill>
                <a:latin typeface="微软雅黑"/>
                <a:ea typeface="微软雅黑"/>
                <a:cs typeface="微软雅黑"/>
              </a:rPr>
              <a:t>、现象关键词），以及把算法结论翻译回人话。</a:t>
            </a:r>
          </a:p>
          <a:p xmlns:a="http://schemas.openxmlformats.org/drawingml/2006/main">
            <a:pPr algn="l">
              <a:lnSpc>
                <a:spcPct val="155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算法做决策　</a:t>
            </a:r>
            <a:r>
              <a:rPr sz="938">
                <a:solidFill>
                  <a:srgbClr val="EEF5FF"/>
                </a:solidFill>
                <a:latin typeface="微软雅黑"/>
                <a:ea typeface="微软雅黑"/>
                <a:cs typeface="微软雅黑"/>
              </a:rPr>
              <a:t>涉及人（晋升、转岗、培训）和钱（招聘、外委）的判断全部由规则引擎生成，保证有数学定义、有唯一解、可复算、可申诉。</a:t>
            </a:r>
          </a:p>
        </p:txBody>
      </p:sp>
      <p:sp>
        <p:nvSpPr>
          <p:cNvPr id="35" name="">
            <a:extLst xmlns:a="http://schemas.openxmlformats.org/drawingml/2006/main">
              <a:ext uri="{FF2B5EF4-FFF2-40B4-BE49-F238E27FC236}">
                <a16:creationId xmlns:a16="http://schemas.microsoft.com/office/drawing/2014/main" id="{AFE4E14C-0D9B-4128-8EB3-64C13B0A17FD}"/>
              </a:ext>
            </a:extLst>
          </p:cNvPr>
          <p:cNvSpPr>
            <a:spLocks xmlns:a="http://schemas.openxmlformats.org/drawingml/2006/main" noGrp="1"/>
          </p:cNvSpPr>
          <p:nvPr/>
        </p:nvSpPr>
        <p:spPr>
          <a:xfrm xmlns:a="http://schemas.openxmlformats.org/drawingml/2006/main">
            <a:off x="285750" y="5505450"/>
            <a:ext cx="3771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6" name="">
            <a:extLst xmlns:a="http://schemas.openxmlformats.org/drawingml/2006/main">
              <a:ext uri="{FF2B5EF4-FFF2-40B4-BE49-F238E27FC236}">
                <a16:creationId xmlns:a16="http://schemas.microsoft.com/office/drawing/2014/main" id="{06A14115-B086-4DDF-AFFE-7D8189352C11}"/>
              </a:ext>
            </a:extLst>
          </p:cNvPr>
          <p:cNvSpPr>
            <a:spLocks xmlns:a="http://schemas.openxmlformats.org/drawingml/2006/main" noGrp="1"/>
          </p:cNvSpPr>
          <p:nvPr/>
        </p:nvSpPr>
        <p:spPr>
          <a:xfrm xmlns:a="http://schemas.openxmlformats.org/drawingml/2006/main">
            <a:off x="457200" y="5600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无匹配规则时</a:t>
            </a:r>
          </a:p>
        </p:txBody>
      </p:sp>
      <p:sp>
        <p:nvSpPr>
          <p:cNvPr id="37" name="">
            <a:extLst xmlns:a="http://schemas.openxmlformats.org/drawingml/2006/main">
              <a:ext uri="{FF2B5EF4-FFF2-40B4-BE49-F238E27FC236}">
                <a16:creationId xmlns:a16="http://schemas.microsoft.com/office/drawing/2014/main" id="{DAEF3A74-4626-4239-9E28-6E482A7B6D88}"/>
              </a:ext>
            </a:extLst>
          </p:cNvPr>
          <p:cNvSpPr>
            <a:spLocks xmlns:a="http://schemas.openxmlformats.org/drawingml/2006/main" noGrp="1"/>
          </p:cNvSpPr>
          <p:nvPr/>
        </p:nvSpPr>
        <p:spPr>
          <a:xfrm xmlns:a="http://schemas.openxmlformats.org/drawingml/2006/main">
            <a:off x="457200" y="5848350"/>
            <a:ext cx="344805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返回 </a:t>
            </a:r>
            <a:r>
              <a:rPr sz="863" b="0">
                <a:solidFill>
                  <a:srgbClr val="EEF5FF"/>
                </a:solidFill>
                <a:latin typeface="微软雅黑"/>
                <a:ea typeface="微软雅黑"/>
                <a:cs typeface="微软雅黑"/>
              </a:rPr>
              <a:t>matched=false </a:t>
            </a:r>
            <a:r>
              <a:rPr sz="863" b="0">
                <a:solidFill>
                  <a:srgbClr val="EEF5FF"/>
                </a:solidFill>
                <a:latin typeface="微软雅黑"/>
                <a:ea typeface="微软雅黑"/>
                <a:cs typeface="微软雅黑"/>
              </a:rPr>
              <a:t>的兜底输出，并给出「未命中任何规则」的原因，接口不报错</a:t>
            </a:r>
          </a:p>
        </p:txBody>
      </p:sp>
      <p:sp>
        <p:nvSpPr>
          <p:cNvPr id="38" name="">
            <a:extLst xmlns:a="http://schemas.openxmlformats.org/drawingml/2006/main">
              <a:ext uri="{FF2B5EF4-FFF2-40B4-BE49-F238E27FC236}">
                <a16:creationId xmlns:a16="http://schemas.microsoft.com/office/drawing/2014/main" id="{33FF6224-2DE2-4C29-8FE3-3505A95DFF37}"/>
              </a:ext>
            </a:extLst>
          </p:cNvPr>
          <p:cNvSpPr>
            <a:spLocks xmlns:a="http://schemas.openxmlformats.org/drawingml/2006/main" noGrp="1"/>
          </p:cNvSpPr>
          <p:nvPr/>
        </p:nvSpPr>
        <p:spPr>
          <a:xfrm xmlns:a="http://schemas.openxmlformats.org/drawingml/2006/main">
            <a:off x="4229100" y="5505450"/>
            <a:ext cx="3771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9" name="">
            <a:extLst xmlns:a="http://schemas.openxmlformats.org/drawingml/2006/main">
              <a:ext uri="{FF2B5EF4-FFF2-40B4-BE49-F238E27FC236}">
                <a16:creationId xmlns:a16="http://schemas.microsoft.com/office/drawing/2014/main" id="{FC739791-3ED5-4156-8F9D-739A93A30EBD}"/>
              </a:ext>
            </a:extLst>
          </p:cNvPr>
          <p:cNvSpPr>
            <a:spLocks xmlns:a="http://schemas.openxmlformats.org/drawingml/2006/main" noGrp="1"/>
          </p:cNvSpPr>
          <p:nvPr/>
        </p:nvSpPr>
        <p:spPr>
          <a:xfrm xmlns:a="http://schemas.openxmlformats.org/drawingml/2006/main">
            <a:off x="4400550" y="5600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字段缺失或类型不对时</a:t>
            </a:r>
          </a:p>
        </p:txBody>
      </p:sp>
      <p:sp>
        <p:nvSpPr>
          <p:cNvPr id="40" name="">
            <a:extLst xmlns:a="http://schemas.openxmlformats.org/drawingml/2006/main">
              <a:ext uri="{FF2B5EF4-FFF2-40B4-BE49-F238E27FC236}">
                <a16:creationId xmlns:a16="http://schemas.microsoft.com/office/drawing/2014/main" id="{5820E94F-02D7-4CE2-8B23-F44BB82A34F9}"/>
              </a:ext>
            </a:extLst>
          </p:cNvPr>
          <p:cNvSpPr>
            <a:spLocks xmlns:a="http://schemas.openxmlformats.org/drawingml/2006/main" noGrp="1"/>
          </p:cNvSpPr>
          <p:nvPr/>
        </p:nvSpPr>
        <p:spPr>
          <a:xfrm xmlns:a="http://schemas.openxmlformats.org/drawingml/2006/main">
            <a:off x="4400550" y="5848350"/>
            <a:ext cx="344805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该条规则计入 </a:t>
            </a:r>
            <a:r>
              <a:rPr sz="863" b="0">
                <a:solidFill>
                  <a:srgbClr val="EEF5FF"/>
                </a:solidFill>
                <a:latin typeface="微软雅黑"/>
                <a:ea typeface="微软雅黑"/>
                <a:cs typeface="微软雅黑"/>
              </a:rPr>
              <a:t>skipped </a:t>
            </a:r>
            <a:r>
              <a:rPr sz="863" b="0">
                <a:solidFill>
                  <a:srgbClr val="EEF5FF"/>
                </a:solidFill>
                <a:latin typeface="微软雅黑"/>
                <a:ea typeface="微软雅黑"/>
                <a:cs typeface="微软雅黑"/>
              </a:rPr>
              <a:t>并记录原因，其余规则继续执行，不影响整体结论</a:t>
            </a:r>
          </a:p>
        </p:txBody>
      </p:sp>
      <p:sp>
        <p:nvSpPr>
          <p:cNvPr id="41" name="">
            <a:extLst xmlns:a="http://schemas.openxmlformats.org/drawingml/2006/main">
              <a:ext uri="{FF2B5EF4-FFF2-40B4-BE49-F238E27FC236}">
                <a16:creationId xmlns:a16="http://schemas.microsoft.com/office/drawing/2014/main" id="{38C547FF-CB98-4585-AD8F-7D7FB1C0A455}"/>
              </a:ext>
            </a:extLst>
          </p:cNvPr>
          <p:cNvSpPr>
            <a:spLocks xmlns:a="http://schemas.openxmlformats.org/drawingml/2006/main" noGrp="1"/>
          </p:cNvSpPr>
          <p:nvPr/>
        </p:nvSpPr>
        <p:spPr>
          <a:xfrm xmlns:a="http://schemas.openxmlformats.org/drawingml/2006/main">
            <a:off x="8172450" y="5505450"/>
            <a:ext cx="3771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2" name="">
            <a:extLst xmlns:a="http://schemas.openxmlformats.org/drawingml/2006/main">
              <a:ext uri="{FF2B5EF4-FFF2-40B4-BE49-F238E27FC236}">
                <a16:creationId xmlns:a16="http://schemas.microsoft.com/office/drawing/2014/main" id="{2F7BD095-C4C4-4AE5-9A57-EA95519A56A7}"/>
              </a:ext>
            </a:extLst>
          </p:cNvPr>
          <p:cNvSpPr>
            <a:spLocks xmlns:a="http://schemas.openxmlformats.org/drawingml/2006/main" noGrp="1"/>
          </p:cNvSpPr>
          <p:nvPr/>
        </p:nvSpPr>
        <p:spPr>
          <a:xfrm xmlns:a="http://schemas.openxmlformats.org/drawingml/2006/main">
            <a:off x="8343900" y="5600700"/>
            <a:ext cx="3429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规则被管理员停用后</a:t>
            </a:r>
          </a:p>
        </p:txBody>
      </p:sp>
      <p:sp>
        <p:nvSpPr>
          <p:cNvPr id="43" name="">
            <a:extLst xmlns:a="http://schemas.openxmlformats.org/drawingml/2006/main">
              <a:ext uri="{FF2B5EF4-FFF2-40B4-BE49-F238E27FC236}">
                <a16:creationId xmlns:a16="http://schemas.microsoft.com/office/drawing/2014/main" id="{F645C662-876F-4114-8651-E6E1D2927FED}"/>
              </a:ext>
            </a:extLst>
          </p:cNvPr>
          <p:cNvSpPr>
            <a:spLocks xmlns:a="http://schemas.openxmlformats.org/drawingml/2006/main" noGrp="1"/>
          </p:cNvSpPr>
          <p:nvPr/>
        </p:nvSpPr>
        <p:spPr>
          <a:xfrm xmlns:a="http://schemas.openxmlformats.org/drawingml/2006/main">
            <a:off x="8343900" y="5848350"/>
            <a:ext cx="3448050" cy="5143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重复执行 </a:t>
            </a:r>
            <a:r>
              <a:rPr sz="863" b="0">
                <a:solidFill>
                  <a:srgbClr val="EEF5FF"/>
                </a:solidFill>
                <a:latin typeface="微软雅黑"/>
                <a:ea typeface="微软雅黑"/>
                <a:cs typeface="微软雅黑"/>
              </a:rPr>
              <a:t>008 / 009 </a:t>
            </a:r>
            <a:r>
              <a:rPr sz="863" b="0">
                <a:solidFill>
                  <a:srgbClr val="EEF5FF"/>
                </a:solidFill>
                <a:latin typeface="微软雅黑"/>
                <a:ea typeface="微软雅黑"/>
                <a:cs typeface="微软雅黑"/>
              </a:rPr>
              <a:t>脚本不会把手工停用的规则重新启用（幂等自验）</a:t>
            </a:r>
          </a:p>
        </p:txBody>
      </p:sp>
      <p:sp>
        <p:nvSpPr>
          <p:cNvPr id="44" name="">
            <a:extLst xmlns:a="http://schemas.openxmlformats.org/drawingml/2006/main">
              <a:ext uri="{FF2B5EF4-FFF2-40B4-BE49-F238E27FC236}">
                <a16:creationId xmlns:a16="http://schemas.microsoft.com/office/drawing/2014/main" id="{6B537899-5382-4202-9610-9B6999C049C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BFD451FD-F601-4408-8219-936484BF6974}"/>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CF1BEAA6-9A64-4934-A138-E1D1CF06C16D}"/>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7" name="">
            <a:extLst xmlns:a="http://schemas.openxmlformats.org/drawingml/2006/main">
              <a:ext uri="{FF2B5EF4-FFF2-40B4-BE49-F238E27FC236}">
                <a16:creationId xmlns:a16="http://schemas.microsoft.com/office/drawing/2014/main" id="{8CABC476-5362-42C5-AC2C-ED6BBCD56A76}"/>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C13C7FD2-97D7-4CED-B244-5D90514CFA20}"/>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18</a:t>
            </a:r>
          </a:p>
        </p:txBody>
      </p:sp>
    </p:spTree>
    <p:extLst>
      <p:ext uri="{BB962C8B-B14F-4D97-AF65-F5344CB8AC3E}">
        <p14:creationId xmlns:p14="http://schemas.microsoft.com/office/powerpoint/2010/main" val="1300060826"/>
      </p:ext>
    </p:extLst>
  </p:cSld>
</p:sld>
</file>

<file path=ppt/slides/slide1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5736459cac03455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FA2BAE-FF30-4DF7-A53E-364CA14376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CF328DF4-4E3F-4BF5-901C-8DB669A57657}"/>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1BEB79DF-FC03-4659-9F0A-852DED71C9C7}"/>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872987A-BA97-4506-95A3-0C04D9FDEB5D}"/>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00DF2211-E9E5-4C0C-8C8D-E3ECCF25933B}"/>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EBAD520C-67DC-496C-9F4D-424649FD4E83}"/>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4D77CEFF-4038-4D67-95DB-278C789D57EC}"/>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ECD9AF79-93DD-4551-A823-74213327C2C8}"/>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4FE0C8">
                  <a:alpha val="20000"/>
                </a:srgbClr>
              </a:gs>
              <a:gs pos="45000">
                <a:srgbClr val="4FE0C8">
                  <a:alpha val="8000"/>
                </a:srgbClr>
              </a:gs>
              <a:gs pos="100000">
                <a:srgbClr val="4FE0C8">
                  <a:alpha val="0"/>
                </a:srgbClr>
              </a:gs>
            </a:gsLst>
            <a:path path="shape"/>
          </a:gra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975B81EC-6E6A-4F5F-8B38-5029A25FB637}"/>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7809AC63-9030-43E8-83CF-86F48797F2B2}"/>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4FE0C8"/>
              </a:gs>
              <a:gs pos="100000">
                <a:srgbClr val="4FE0C8">
                  <a:alpha val="0"/>
                </a:srgbClr>
              </a:gs>
            </a:gsLst>
            <a:lin ang="5400000"/>
          </a:gra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FD73CD2E-6AA6-4DE9-BC99-08C93024964E}"/>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4FE0C8">
              <a:alpha val="70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75131CF5-D9B7-4F1B-A317-840E9841274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05C6665F-3F45-4443-8155-75DF63248C79}"/>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FE4A1A84-0D68-4EDE-BF1E-BA83E562CF74}"/>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C56A3FE4-61C8-4E63-9CA4-8B690724C6C0}"/>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4FE0C8">
                <a:alpha val="45000"/>
              </a:srgbClr>
            </a:solidFill>
            <a:prstDash val="solid"/>
          </a:ln>
        </p:spPr>
      </p:sp>
      <p:sp>
        <p:nvSpPr>
          <p:cNvPr id="17" name="">
            <a:extLst xmlns:a="http://schemas.openxmlformats.org/drawingml/2006/main">
              <a:ext uri="{FF2B5EF4-FFF2-40B4-BE49-F238E27FC236}">
                <a16:creationId xmlns:a16="http://schemas.microsoft.com/office/drawing/2014/main" id="{F7D2E271-1354-41F9-8C4A-17B92D9F227C}"/>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4FE0C8">
                <a:alpha val="28000"/>
              </a:srgbClr>
            </a:solidFill>
            <a:prstDash val="solid"/>
          </a:ln>
        </p:spPr>
      </p:sp>
      <p:sp>
        <p:nvSpPr>
          <p:cNvPr id="18" name="">
            <a:extLst xmlns:a="http://schemas.openxmlformats.org/drawingml/2006/main">
              <a:ext uri="{FF2B5EF4-FFF2-40B4-BE49-F238E27FC236}">
                <a16:creationId xmlns:a16="http://schemas.microsoft.com/office/drawing/2014/main" id="{CFA56EC3-0E14-4686-B72D-4141C95EB46F}"/>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6EE69D7-94F9-4AFA-871C-DE10D39625F6}"/>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CDF31690-F1F2-4B4F-AE20-BE434C113231}"/>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FCAE70A3-A92A-4025-99D0-F70B650854A1}"/>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5AEC9271-1665-446D-A041-52161166BEDE}"/>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0660BFA3-907C-4B1D-804F-615B39284DA2}"/>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D83DFB0-845E-4956-92FB-F46B7C025C5F}"/>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25A9264A-231F-4DF3-8B37-045420F721EC}"/>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FDC55B41-D830-442A-9CD5-D15969700A19}"/>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42A343D-2460-4368-8E5E-09014CBABBFF}"/>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525828DB-12D0-4E4A-9ECD-6C8FDE3D042F}"/>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5C21486E-4264-477C-972A-1173DEC2B62B}"/>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7632626F-1B87-478D-8876-D76A9C537A6C}"/>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332FBAE5-D0D6-4C44-8738-72EFA13FBBDA}"/>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0AF02D1D-F602-4BBF-B029-B16C05E2101B}"/>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E237C7E5-D5D4-4321-8B5D-A6C48F0ABE93}"/>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12145614-D96F-4BDD-ACE4-15EB4307F16B}"/>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13432A73-39ED-4FF3-935D-6DDC4F4B7CDD}"/>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4685132F-0C83-4317-A10B-368FB55017FB}"/>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B4A815D4-CC18-4F1A-9940-3091438886B7}"/>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8229B1A0-38A4-45CE-9493-A5598EE1E00A}"/>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A5895C70-8B01-4AF8-86B5-E266A6AB1790}"/>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C7D8252F-05A2-4BE3-A8D9-9FECB2B4F12D}"/>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4FE0C8">
                      <a:alpha val="75000"/>
                    </a:srgbClr>
                  </a:solidFill>
                  <a:prstDash val="solid"/>
                </a:ln>
                <a:solidFill>
                  <a:srgbClr val="0B3E82"/>
                </a:solidFill>
                <a:latin typeface="Bahnschrift SemiBold"/>
                <a:ea typeface="Bahnschrift SemiBold"/>
                <a:cs typeface="Bahnschrift SemiBold"/>
              </a:defRPr>
            </a:pPr>
            <a:r>
              <a:rPr sz="9900" b="1">
                <a:ln w="14288">
                  <a:solidFill>
                    <a:srgbClr val="4FE0C8">
                      <a:alpha val="75000"/>
                    </a:srgbClr>
                  </a:solidFill>
                  <a:prstDash val="solid"/>
                </a:ln>
                <a:solidFill>
                  <a:srgbClr val="0B3E82"/>
                </a:solidFill>
                <a:latin typeface="Bahnschrift SemiBold"/>
                <a:ea typeface="Bahnschrift SemiBold"/>
                <a:cs typeface="Bahnschrift SemiBold"/>
              </a:rPr>
              <a:t>04</a:t>
            </a:r>
          </a:p>
        </p:txBody>
      </p:sp>
      <p:sp>
        <p:nvSpPr>
          <p:cNvPr id="41" name="">
            <a:extLst xmlns:a="http://schemas.openxmlformats.org/drawingml/2006/main">
              <a:ext uri="{FF2B5EF4-FFF2-40B4-BE49-F238E27FC236}">
                <a16:creationId xmlns:a16="http://schemas.microsoft.com/office/drawing/2014/main" id="{3185D4D2-4363-435C-BC71-15C7D80A0ABD}"/>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4FE0C8"/>
              </a:gs>
              <a:gs pos="100000">
                <a:srgbClr val="4FE0C8">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4D9492F0-5BA4-469E-92FB-A8DF69B45AC2}"/>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4FE0C8">
                <a:alpha val="24000"/>
              </a:srgbClr>
            </a:fgClr>
            <a:bgClr>
              <a:srgbClr val="0B3E82"/>
            </a:bgClr>
          </a:patt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EEE87C71-799A-4ECC-A883-43416A6FA3ED}"/>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8B41FC9E-9772-4974-A003-DF93E821F869}"/>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FA4D7548-6BA4-49CD-97AB-052B3C17DCEC}"/>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1CE1FDBA-2530-4E5C-BB64-51732BACC911}"/>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70157B27-AE1C-489A-9EB6-39B1A2C67BC8}"/>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29204378-FDAA-40A9-8D6F-06CE648A3B22}"/>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2719E07D-260D-4DB5-A977-B5ACF00131CE}"/>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06730D22-A24E-4AC3-A91D-23DE8E909CE0}"/>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9A8D95F3-87BE-4446-A93D-9688269AAFCB}"/>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A7E3AE9A-B450-4CC4-8191-D463C6F6BA91}"/>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4B9E2DE5-DF1D-4BD9-8E2A-EAC58130F568}"/>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C126A82F-F5F2-4D68-9F8A-E649C7390BF3}"/>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AFF72C08-E4E8-4742-9FDE-22C32B58125D}"/>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3D6C7709-A6D4-45A2-ABCC-D9EEAAC2D95A}"/>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311CCDB1-397B-4634-9290-6C705673D864}"/>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FD9543D7-1B7F-434D-BC61-5E15B405C749}"/>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118C39E3-0FD8-4571-9172-C409CBD52675}"/>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62602048-B3CD-457B-83E0-B0F47DC0FDF1}"/>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B057A275-3303-4441-9417-AEE0E00E12A6}"/>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FDF6C8F6-6491-4797-9647-47051C2BE7F7}"/>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43780EBD-9A00-4734-B91D-C78C125E7D23}"/>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115FD3E6-2A5B-4B81-B824-6F87F8A47B21}"/>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ECD8C8F0-25D8-4384-8408-E67F81B2DBF9}"/>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04B02A6B-CD65-492F-930C-5DDC30243126}"/>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9EEDDE41-2F08-4D62-9715-093E4AF10ECE}"/>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2D4A925F-2BA2-47FD-9BE4-1F54AFC99489}"/>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2C7F18C5-F87A-4B56-B837-E5FACF8A8EC5}"/>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EF27B566-90D9-4027-9C23-1BCC0F76E737}"/>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4FE0C8">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2525FA95-6AE4-4036-A902-C278910ACF73}"/>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4FE0C8">
              <a:alpha val="28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92EC8263-75D9-465A-A1AE-E5031E426A21}"/>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4FE0C8">
              <a:alpha val="14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976FD0E2-340B-4669-A18C-63521EFDD319}"/>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8D6753A0-B4F2-4AD8-A707-B3657B30600B}"/>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829AF11C-BA26-40A9-B961-B4C7F7E23BF8}"/>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766C2D7F-50D6-4483-97CC-E6A2F3F0E7A4}"/>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B8CB8548-948D-423F-A879-A9FC7CA8D080}"/>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FAA0502B-8A23-4CA9-8761-7E6FD4DB6B70}"/>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E3E84508-AA7C-4213-84B6-EDE8509EAC89}"/>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0" name="">
            <a:extLst xmlns:a="http://schemas.openxmlformats.org/drawingml/2006/main">
              <a:ext uri="{FF2B5EF4-FFF2-40B4-BE49-F238E27FC236}">
                <a16:creationId xmlns:a16="http://schemas.microsoft.com/office/drawing/2014/main" id="{CFA9E0B4-DBAC-4C04-9E33-F1061C2CD0B3}"/>
              </a:ext>
            </a:extLst>
          </p:cNvPr>
          <p:cNvSpPr>
            <a:spLocks xmlns:a="http://schemas.openxmlformats.org/drawingml/2006/main" noGrp="1"/>
          </p:cNvSpPr>
          <p:nvPr/>
        </p:nvSpPr>
        <p:spPr>
          <a:xfrm xmlns:a="http://schemas.openxmlformats.org/drawingml/2006/main">
            <a:off x="9324975" y="4895850"/>
            <a:ext cx="571500" cy="571500"/>
          </a:xfrm>
          <a:prstGeom xmlns:a="http://schemas.openxmlformats.org/drawingml/2006/main" prst="ellipse">
            <a:avLst/>
          </a:prstGeom>
          <a:gradFill xmlns:a="http://schemas.openxmlformats.org/drawingml/2006/main">
            <a:gsLst>
              <a:gs pos="0">
                <a:srgbClr val="4FE0C8">
                  <a:alpha val="30000"/>
                </a:srgbClr>
              </a:gs>
              <a:gs pos="45000">
                <a:srgbClr val="4FE0C8">
                  <a:alpha val="12000"/>
                </a:srgbClr>
              </a:gs>
              <a:gs pos="100000">
                <a:srgbClr val="4FE0C8">
                  <a:alpha val="0"/>
                </a:srgbClr>
              </a:gs>
            </a:gsLst>
            <a:path path="shape"/>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B6B34D66-93CB-4F12-AE18-3BF45814A318}"/>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4FE0C8"/>
          </a:soli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D823B841-1C0A-4098-8117-AF3989344908}"/>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5DCAA889-327A-4AE2-BE35-F349FFF49D11}"/>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8A9C4580-80DC-4BD6-891E-398A353668CB}"/>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83D2D265-305C-4B7C-A4C8-75DAB1C1D2F6}"/>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8F1530E6-0B04-4BB1-BBD2-B6F680539011}"/>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BF4FE6B3-7AF5-4D82-A7C0-7ABA854E6EDA}"/>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C973BD37-FBD7-4D85-9571-8FFA8E8323C7}"/>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9F193AA3-7254-4642-A117-D91CB9582560}"/>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04</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DC6F16CB-C33D-4D1B-8B00-51BF99AD13F5}"/>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4FE0C8"/>
              </a:gs>
              <a:gs pos="100000">
                <a:srgbClr val="4FE0C8">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8BB52C4F-40CB-4348-B9F2-25AED6D657A0}"/>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系统实现</a:t>
            </a:r>
          </a:p>
        </p:txBody>
      </p:sp>
      <p:sp>
        <p:nvSpPr>
          <p:cNvPr id="92" name="">
            <a:extLst xmlns:a="http://schemas.openxmlformats.org/drawingml/2006/main">
              <a:ext uri="{FF2B5EF4-FFF2-40B4-BE49-F238E27FC236}">
                <a16:creationId xmlns:a16="http://schemas.microsoft.com/office/drawing/2014/main" id="{B48DC2C3-5393-4B01-873C-92E0EAD1C431}"/>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4FE0C8"/>
                </a:solidFill>
                <a:latin typeface="Bahnschrift"/>
                <a:ea typeface="Bahnschrift"/>
                <a:cs typeface="Bahnschrift"/>
              </a:defRPr>
            </a:pPr>
            <a:r>
              <a:rPr sz="1013" b="0" spc="3">
                <a:solidFill>
                  <a:srgbClr val="4FE0C8"/>
                </a:solidFill>
                <a:latin typeface="Bahnschrift"/>
                <a:ea typeface="Bahnschrift"/>
                <a:cs typeface="Bahnschrift"/>
              </a:rPr>
              <a:t>IMPLEMENTATION · SYSTEM &amp; ROLES</a:t>
            </a:r>
          </a:p>
        </p:txBody>
      </p:sp>
      <p:sp>
        <p:nvSpPr>
          <p:cNvPr id="93" name="">
            <a:extLst xmlns:a="http://schemas.openxmlformats.org/drawingml/2006/main">
              <a:ext uri="{FF2B5EF4-FFF2-40B4-BE49-F238E27FC236}">
                <a16:creationId xmlns:a16="http://schemas.microsoft.com/office/drawing/2014/main" id="{36B5B6D6-EDFC-4688-9C13-B54782FFAC6F}"/>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B2E88548-1E85-4073-9D8D-45BA4CA27ACD}"/>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从架构到界面：先讲清系统边界，再用真实系统截图说话</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技能画像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实操归因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组卷考试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运行诊断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审计溯源</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员工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班组长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管理者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管理员四类角色的功能边界与数据流</a:t>
            </a:r>
          </a:p>
        </p:txBody>
      </p:sp>
      <p:sp>
        <p:nvSpPr>
          <p:cNvPr id="95" name="">
            <a:extLst xmlns:a="http://schemas.openxmlformats.org/drawingml/2006/main">
              <a:ext uri="{FF2B5EF4-FFF2-40B4-BE49-F238E27FC236}">
                <a16:creationId xmlns:a16="http://schemas.microsoft.com/office/drawing/2014/main" id="{19ADA97E-F217-456E-98CE-6993B855D5A8}"/>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E0C8">
                <a:alpha val="50000"/>
              </a:srgbClr>
            </a:solidFill>
            <a:prstDash val="solid"/>
          </a:ln>
        </p:spPr>
      </p:sp>
      <p:sp>
        <p:nvSpPr>
          <p:cNvPr id="96" name="">
            <a:extLst xmlns:a="http://schemas.openxmlformats.org/drawingml/2006/main">
              <a:ext uri="{FF2B5EF4-FFF2-40B4-BE49-F238E27FC236}">
                <a16:creationId xmlns:a16="http://schemas.microsoft.com/office/drawing/2014/main" id="{E3F22230-84DD-4903-A2B0-662A8C85C498}"/>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4FE0C8"/>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931742C8-EDA8-48D9-AB90-F958EE97FD7B}"/>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8" name="">
            <a:extLst xmlns:a="http://schemas.openxmlformats.org/drawingml/2006/main">
              <a:ext uri="{FF2B5EF4-FFF2-40B4-BE49-F238E27FC236}">
                <a16:creationId xmlns:a16="http://schemas.microsoft.com/office/drawing/2014/main" id="{A5D24768-0CF8-4645-92C9-10D700316125}"/>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类角色 </a:t>
            </a:r>
            <a:r>
              <a:rPr sz="863" b="0">
                <a:solidFill>
                  <a:srgbClr val="C6DDFF"/>
                </a:solidFill>
                <a:latin typeface="微软雅黑"/>
                <a:ea typeface="微软雅黑"/>
                <a:cs typeface="微软雅黑"/>
              </a:rPr>
              <a:t>/ 75 </a:t>
            </a:r>
            <a:r>
              <a:rPr sz="863" b="0">
                <a:solidFill>
                  <a:srgbClr val="C6DDFF"/>
                </a:solidFill>
                <a:latin typeface="微软雅黑"/>
                <a:ea typeface="微软雅黑"/>
                <a:cs typeface="微软雅黑"/>
              </a:rPr>
              <a:t>个在线接口</a:t>
            </a:r>
          </a:p>
        </p:txBody>
      </p:sp>
      <p:sp>
        <p:nvSpPr>
          <p:cNvPr id="99" name="">
            <a:extLst xmlns:a="http://schemas.openxmlformats.org/drawingml/2006/main">
              <a:ext uri="{FF2B5EF4-FFF2-40B4-BE49-F238E27FC236}">
                <a16:creationId xmlns:a16="http://schemas.microsoft.com/office/drawing/2014/main" id="{75BD36B7-3470-48EE-87B3-523326AD76E7}"/>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E0C8">
                <a:alpha val="50000"/>
              </a:srgbClr>
            </a:solidFill>
            <a:prstDash val="solid"/>
          </a:ln>
        </p:spPr>
      </p:sp>
      <p:sp>
        <p:nvSpPr>
          <p:cNvPr id="100" name="">
            <a:extLst xmlns:a="http://schemas.openxmlformats.org/drawingml/2006/main">
              <a:ext uri="{FF2B5EF4-FFF2-40B4-BE49-F238E27FC236}">
                <a16:creationId xmlns:a16="http://schemas.microsoft.com/office/drawing/2014/main" id="{987998BD-D32C-4678-9282-2626171D31F9}"/>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94E0DECA-6C9F-43F6-8C36-91873F44527F}"/>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53</a:t>
            </a:r>
          </a:p>
        </p:txBody>
      </p:sp>
      <p:sp>
        <p:nvSpPr>
          <p:cNvPr id="102" name="">
            <a:extLst xmlns:a="http://schemas.openxmlformats.org/drawingml/2006/main">
              <a:ext uri="{FF2B5EF4-FFF2-40B4-BE49-F238E27FC236}">
                <a16:creationId xmlns:a16="http://schemas.microsoft.com/office/drawing/2014/main" id="{42F67051-6565-4FC2-8A30-57731860AD1E}"/>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张数据库表 </a:t>
            </a:r>
            <a:r>
              <a:rPr sz="863" b="0">
                <a:solidFill>
                  <a:srgbClr val="C6DDFF"/>
                </a:solidFill>
                <a:latin typeface="微软雅黑"/>
                <a:ea typeface="微软雅黑"/>
                <a:cs typeface="微软雅黑"/>
              </a:rPr>
              <a:t>/ 7 </a:t>
            </a:r>
            <a:r>
              <a:rPr sz="863" b="0">
                <a:solidFill>
                  <a:srgbClr val="C6DDFF"/>
                </a:solidFill>
                <a:latin typeface="微软雅黑"/>
                <a:ea typeface="微软雅黑"/>
                <a:cs typeface="微软雅黑"/>
              </a:rPr>
              <a:t>组</a:t>
            </a:r>
          </a:p>
        </p:txBody>
      </p:sp>
      <p:sp>
        <p:nvSpPr>
          <p:cNvPr id="103" name="">
            <a:extLst xmlns:a="http://schemas.openxmlformats.org/drawingml/2006/main">
              <a:ext uri="{FF2B5EF4-FFF2-40B4-BE49-F238E27FC236}">
                <a16:creationId xmlns:a16="http://schemas.microsoft.com/office/drawing/2014/main" id="{1858C982-6BEE-476F-9336-571EF8066B30}"/>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E0C8">
                <a:alpha val="50000"/>
              </a:srgbClr>
            </a:solidFill>
            <a:prstDash val="solid"/>
          </a:ln>
        </p:spPr>
      </p:sp>
      <p:sp>
        <p:nvSpPr>
          <p:cNvPr id="104" name="">
            <a:extLst xmlns:a="http://schemas.openxmlformats.org/drawingml/2006/main">
              <a:ext uri="{FF2B5EF4-FFF2-40B4-BE49-F238E27FC236}">
                <a16:creationId xmlns:a16="http://schemas.microsoft.com/office/drawing/2014/main" id="{BA3EACB0-6F27-4EF4-88F9-C8B4B9F4BD06}"/>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4FE0C8"/>
          </a:soli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39C24BC8-B457-476D-89DE-1D3965DBACC3}"/>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8</a:t>
            </a:r>
          </a:p>
        </p:txBody>
      </p:sp>
      <p:sp>
        <p:nvSpPr>
          <p:cNvPr id="106" name="">
            <a:extLst xmlns:a="http://schemas.openxmlformats.org/drawingml/2006/main">
              <a:ext uri="{FF2B5EF4-FFF2-40B4-BE49-F238E27FC236}">
                <a16:creationId xmlns:a16="http://schemas.microsoft.com/office/drawing/2014/main" id="{0B367120-4A01-4914-967E-3B418CF63696}"/>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张系统真实截图</a:t>
            </a:r>
          </a:p>
        </p:txBody>
      </p:sp>
      <p:sp>
        <p:nvSpPr>
          <p:cNvPr id="107" name="">
            <a:extLst xmlns:a="http://schemas.openxmlformats.org/drawingml/2006/main">
              <a:ext uri="{FF2B5EF4-FFF2-40B4-BE49-F238E27FC236}">
                <a16:creationId xmlns:a16="http://schemas.microsoft.com/office/drawing/2014/main" id="{97399572-B13B-444C-B259-C5E40F676687}"/>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4FE0C8"/>
              </a:gs>
              <a:gs pos="100000">
                <a:srgbClr val="4FE0C8">
                  <a:alpha val="0"/>
                </a:srgbClr>
              </a:gs>
            </a:gsLst>
            <a:lin ang="0"/>
          </a:gra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B89FE161-13BE-406F-9D1A-644B53225AC1}"/>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52CC958F-3ED2-49CB-AC32-6FBA16BEFD65}"/>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AD08D13C-629E-4167-A32C-C18A31D1806F}"/>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4FE0C8">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380003589"/>
      </p:ext>
    </p:extLst>
  </p:cSld>
</p:sld>
</file>

<file path=ppt/slides/slide20.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5eb38aaa122f45d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3EB48A-CD8B-48BD-B430-03A6DA129F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1574DC80-F462-4993-89DC-D4C4E9BEC2BA}"/>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8BE5DD67-D5D2-4224-8E31-C114DA4DAFD7}"/>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76F37D90-42DB-4BF2-BF5E-390D66C179DD}"/>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CCEED656-631C-4CD1-8E43-8E9C7DB8CAF8}"/>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A9D49F69-4828-4DF5-8F52-2017A3109D02}"/>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ADD451AE-FAC9-4152-AA7C-D609FADC424B}"/>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9B4C6762-0045-4E2C-AC1D-784D54CA7E3E}"/>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C24A2CCF-4BCD-4142-8495-90EF894BCF47}"/>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10FF1B2-1942-4ED2-9985-5A51999DDD35}"/>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BC8EFA1-2D31-49E3-81D8-6327BF03E257}"/>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46C90575-A47F-4F36-BF72-CDDF2425D352}"/>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FCC1F930-5DB9-4E81-9437-3A0BBF8062E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软件系统架构：四层解耦、互补牵连</a:t>
            </a:r>
          </a:p>
        </p:txBody>
      </p:sp>
      <p:sp>
        <p:nvSpPr>
          <p:cNvPr id="15" name="">
            <a:extLst xmlns:a="http://schemas.openxmlformats.org/drawingml/2006/main">
              <a:ext uri="{FF2B5EF4-FFF2-40B4-BE49-F238E27FC236}">
                <a16:creationId xmlns:a16="http://schemas.microsoft.com/office/drawing/2014/main" id="{A4E66BEA-668F-499D-9F43-1BEBCDE77947}"/>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041DA9D1-4F65-49B5-A690-FBD6B2C95A73}"/>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18643431-8E55-48E4-98E0-DAF3D67F928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A38E5B90-755D-4352-A306-0E4593D6BB4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1D7859EE-E543-4358-83D4-0B1AF7A3D2E7}"/>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换页面、换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、调规则三件事互不影响</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因为它们被四层架构隔开了。</a:t>
            </a:r>
          </a:p>
        </p:txBody>
      </p:sp>
      <p:sp>
        <p:nvSpPr>
          <p:cNvPr id="20" name="">
            <a:extLst xmlns:a="http://schemas.openxmlformats.org/drawingml/2006/main">
              <a:ext uri="{FF2B5EF4-FFF2-40B4-BE49-F238E27FC236}">
                <a16:creationId xmlns:a16="http://schemas.microsoft.com/office/drawing/2014/main" id="{94448FEA-69AC-49CC-9C40-D00B9B6537C3}"/>
              </a:ext>
            </a:extLst>
          </p:cNvPr>
          <p:cNvSpPr>
            <a:spLocks xmlns:a="http://schemas.openxmlformats.org/drawingml/2006/main" noGrp="1"/>
          </p:cNvSpPr>
          <p:nvPr/>
        </p:nvSpPr>
        <p:spPr>
          <a:xfrm xmlns:a="http://schemas.openxmlformats.org/drawingml/2006/main">
            <a:off x="285750" y="1333500"/>
            <a:ext cx="7620000" cy="1066800"/>
          </a:xfrm>
          <a:prstGeom xmlns:a="http://schemas.openxmlformats.org/drawingml/2006/main" prst="roundRect">
            <a:avLst>
              <a:gd name="adj" fmla="val 8036"/>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68A08DC8-003A-4939-A10C-C705BA76A921}"/>
              </a:ext>
            </a:extLst>
          </p:cNvPr>
          <p:cNvSpPr>
            <a:spLocks xmlns:a="http://schemas.openxmlformats.org/drawingml/2006/main" noGrp="1"/>
          </p:cNvSpPr>
          <p:nvPr/>
        </p:nvSpPr>
        <p:spPr>
          <a:xfrm xmlns:a="http://schemas.openxmlformats.org/drawingml/2006/main">
            <a:off x="285750" y="1333500"/>
            <a:ext cx="47625" cy="106680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0CD9C3AB-42E3-4E84-9B95-9C2ACB1ABD48}"/>
              </a:ext>
            </a:extLst>
          </p:cNvPr>
          <p:cNvSpPr>
            <a:spLocks xmlns:a="http://schemas.openxmlformats.org/drawingml/2006/main" noGrp="1"/>
          </p:cNvSpPr>
          <p:nvPr/>
        </p:nvSpPr>
        <p:spPr>
          <a:xfrm xmlns:a="http://schemas.openxmlformats.org/drawingml/2006/main">
            <a:off x="476250" y="17145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应用层</a:t>
            </a:r>
          </a:p>
        </p:txBody>
      </p:sp>
      <p:sp>
        <p:nvSpPr>
          <p:cNvPr id="23" name="">
            <a:extLst xmlns:a="http://schemas.openxmlformats.org/drawingml/2006/main">
              <a:ext uri="{FF2B5EF4-FFF2-40B4-BE49-F238E27FC236}">
                <a16:creationId xmlns:a16="http://schemas.microsoft.com/office/drawing/2014/main" id="{C39A4B8C-52DC-41AD-9B06-7817636DFBC5}"/>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4" name="">
            <a:extLst xmlns:a="http://schemas.openxmlformats.org/drawingml/2006/main">
              <a:ext uri="{FF2B5EF4-FFF2-40B4-BE49-F238E27FC236}">
                <a16:creationId xmlns:a16="http://schemas.microsoft.com/office/drawing/2014/main" id="{840C8303-2113-400E-815D-070BE6C03132}"/>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个人系统：员工看短板</a:t>
            </a:r>
          </a:p>
        </p:txBody>
      </p:sp>
      <p:sp>
        <p:nvSpPr>
          <p:cNvPr id="25" name="">
            <a:extLst xmlns:a="http://schemas.openxmlformats.org/drawingml/2006/main">
              <a:ext uri="{FF2B5EF4-FFF2-40B4-BE49-F238E27FC236}">
                <a16:creationId xmlns:a16="http://schemas.microsoft.com/office/drawing/2014/main" id="{EBBCA1D1-E839-44F0-AE4D-B6141CCFDACB}"/>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6" name="">
            <a:extLst xmlns:a="http://schemas.openxmlformats.org/drawingml/2006/main">
              <a:ext uri="{FF2B5EF4-FFF2-40B4-BE49-F238E27FC236}">
                <a16:creationId xmlns:a16="http://schemas.microsoft.com/office/drawing/2014/main" id="{E50327D8-7D7E-4185-957B-DC529B197662}"/>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考试系统：统一开考判卷</a:t>
            </a:r>
          </a:p>
        </p:txBody>
      </p:sp>
      <p:sp>
        <p:nvSpPr>
          <p:cNvPr id="27" name="">
            <a:extLst xmlns:a="http://schemas.openxmlformats.org/drawingml/2006/main">
              <a:ext uri="{FF2B5EF4-FFF2-40B4-BE49-F238E27FC236}">
                <a16:creationId xmlns:a16="http://schemas.microsoft.com/office/drawing/2014/main" id="{72F3D92D-3F21-4FD1-A8F1-1DE36F875137}"/>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8" name="">
            <a:extLst xmlns:a="http://schemas.openxmlformats.org/drawingml/2006/main">
              <a:ext uri="{FF2B5EF4-FFF2-40B4-BE49-F238E27FC236}">
                <a16:creationId xmlns:a16="http://schemas.microsoft.com/office/drawing/2014/main" id="{0CC20623-A0A6-4283-992B-925834DE688F}"/>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管理后台：看缺口配规则</a:t>
            </a:r>
          </a:p>
        </p:txBody>
      </p:sp>
      <p:sp>
        <p:nvSpPr>
          <p:cNvPr id="29" name="">
            <a:extLst xmlns:a="http://schemas.openxmlformats.org/drawingml/2006/main">
              <a:ext uri="{FF2B5EF4-FFF2-40B4-BE49-F238E27FC236}">
                <a16:creationId xmlns:a16="http://schemas.microsoft.com/office/drawing/2014/main" id="{421F2A85-87CA-4C8A-B702-A9F2C7330AC4}"/>
              </a:ext>
            </a:extLst>
          </p:cNvPr>
          <p:cNvSpPr>
            <a:spLocks xmlns:a="http://schemas.openxmlformats.org/drawingml/2006/main" noGrp="1"/>
          </p:cNvSpPr>
          <p:nvPr/>
        </p:nvSpPr>
        <p:spPr>
          <a:xfrm xmlns:a="http://schemas.openxmlformats.org/drawingml/2006/main">
            <a:off x="1409700" y="18859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四端页面共用同一套能力数据；页面可增删，引擎与接口不动。</a:t>
            </a:r>
          </a:p>
        </p:txBody>
      </p:sp>
      <p:sp>
        <p:nvSpPr>
          <p:cNvPr id="30" name="">
            <a:extLst xmlns:a="http://schemas.openxmlformats.org/drawingml/2006/main">
              <a:ext uri="{FF2B5EF4-FFF2-40B4-BE49-F238E27FC236}">
                <a16:creationId xmlns:a16="http://schemas.microsoft.com/office/drawing/2014/main" id="{D426970D-5A07-4C38-BBCB-286EA4363897}"/>
              </a:ext>
            </a:extLst>
          </p:cNvPr>
          <p:cNvSpPr>
            <a:spLocks xmlns:a="http://schemas.openxmlformats.org/drawingml/2006/main" noGrp="1"/>
          </p:cNvSpPr>
          <p:nvPr/>
        </p:nvSpPr>
        <p:spPr>
          <a:xfrm xmlns:a="http://schemas.openxmlformats.org/drawingml/2006/main">
            <a:off x="285750" y="2514600"/>
            <a:ext cx="7620000" cy="1066800"/>
          </a:xfrm>
          <a:prstGeom xmlns:a="http://schemas.openxmlformats.org/drawingml/2006/main" prst="roundRect">
            <a:avLst>
              <a:gd name="adj" fmla="val 803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E47D5AD7-2C2B-4EA9-83AF-FE89462D3E78}"/>
              </a:ext>
            </a:extLst>
          </p:cNvPr>
          <p:cNvSpPr>
            <a:spLocks xmlns:a="http://schemas.openxmlformats.org/drawingml/2006/main" noGrp="1"/>
          </p:cNvSpPr>
          <p:nvPr/>
        </p:nvSpPr>
        <p:spPr>
          <a:xfrm xmlns:a="http://schemas.openxmlformats.org/drawingml/2006/main">
            <a:off x="285750" y="2514600"/>
            <a:ext cx="47625" cy="10668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D1C94A12-2088-47C4-913F-740A65F319F3}"/>
              </a:ext>
            </a:extLst>
          </p:cNvPr>
          <p:cNvSpPr>
            <a:spLocks xmlns:a="http://schemas.openxmlformats.org/drawingml/2006/main" noGrp="1"/>
          </p:cNvSpPr>
          <p:nvPr/>
        </p:nvSpPr>
        <p:spPr>
          <a:xfrm xmlns:a="http://schemas.openxmlformats.org/drawingml/2006/main">
            <a:off x="476250" y="28956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0"/>
                </a:solidFill>
                <a:latin typeface="微软雅黑"/>
                <a:ea typeface="微软雅黑"/>
                <a:cs typeface="微软雅黑"/>
              </a:defRPr>
            </a:pPr>
            <a:r>
              <a:rPr sz="1125" b="1">
                <a:solidFill>
                  <a:srgbClr val="2E86E0"/>
                </a:solidFill>
                <a:latin typeface="微软雅黑"/>
                <a:ea typeface="微软雅黑"/>
                <a:cs typeface="微软雅黑"/>
              </a:rPr>
              <a:t>智能层</a:t>
            </a:r>
          </a:p>
        </p:txBody>
      </p:sp>
      <p:sp>
        <p:nvSpPr>
          <p:cNvPr id="33" name="">
            <a:extLst xmlns:a="http://schemas.openxmlformats.org/drawingml/2006/main">
              <a:ext uri="{FF2B5EF4-FFF2-40B4-BE49-F238E27FC236}">
                <a16:creationId xmlns:a16="http://schemas.microsoft.com/office/drawing/2014/main" id="{7A63AEE5-A024-4E20-ADEE-454939BA4324}"/>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4" name="">
            <a:extLst xmlns:a="http://schemas.openxmlformats.org/drawingml/2006/main">
              <a:ext uri="{FF2B5EF4-FFF2-40B4-BE49-F238E27FC236}">
                <a16:creationId xmlns:a16="http://schemas.microsoft.com/office/drawing/2014/main" id="{0A09575E-45A3-47D6-B788-374C1B3745F6}"/>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规则引擎 </a:t>
            </a:r>
            <a:r>
              <a:rPr sz="863" b="1">
                <a:solidFill>
                  <a:srgbClr val="FFFFFF"/>
                </a:solidFill>
                <a:latin typeface="微软雅黑"/>
                <a:ea typeface="微软雅黑"/>
                <a:cs typeface="微软雅黑"/>
              </a:rPr>
              <a:t>RuleEngine</a:t>
            </a:r>
          </a:p>
        </p:txBody>
      </p:sp>
      <p:sp>
        <p:nvSpPr>
          <p:cNvPr id="35" name="">
            <a:extLst xmlns:a="http://schemas.openxmlformats.org/drawingml/2006/main">
              <a:ext uri="{FF2B5EF4-FFF2-40B4-BE49-F238E27FC236}">
                <a16:creationId xmlns:a16="http://schemas.microsoft.com/office/drawing/2014/main" id="{CEBA9D18-E7EE-4CB3-AD3D-7A00F45F2CE6}"/>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6" name="">
            <a:extLst xmlns:a="http://schemas.openxmlformats.org/drawingml/2006/main">
              <a:ext uri="{FF2B5EF4-FFF2-40B4-BE49-F238E27FC236}">
                <a16:creationId xmlns:a16="http://schemas.microsoft.com/office/drawing/2014/main" id="{6D074C34-BC35-4B6D-8879-B28A0FE1F55E}"/>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三个 </a:t>
            </a:r>
            <a:r>
              <a:rPr sz="863" b="1">
                <a:solidFill>
                  <a:srgbClr val="FFFFFF"/>
                </a:solidFill>
                <a:latin typeface="微软雅黑"/>
                <a:ea typeface="微软雅黑"/>
                <a:cs typeface="微软雅黑"/>
              </a:rPr>
              <a:t>Agent </a:t>
            </a:r>
            <a:r>
              <a:rPr sz="863" b="1">
                <a:solidFill>
                  <a:srgbClr val="FFFFFF"/>
                </a:solidFill>
                <a:latin typeface="微软雅黑"/>
                <a:ea typeface="微软雅黑"/>
                <a:cs typeface="微软雅黑"/>
              </a:rPr>
              <a:t>接口（稳定契约）</a:t>
            </a:r>
          </a:p>
        </p:txBody>
      </p:sp>
      <p:sp>
        <p:nvSpPr>
          <p:cNvPr id="37" name="">
            <a:extLst xmlns:a="http://schemas.openxmlformats.org/drawingml/2006/main">
              <a:ext uri="{FF2B5EF4-FFF2-40B4-BE49-F238E27FC236}">
                <a16:creationId xmlns:a16="http://schemas.microsoft.com/office/drawing/2014/main" id="{27620AFD-3CBB-4AF7-A301-D84138445261}"/>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8" name="">
            <a:extLst xmlns:a="http://schemas.openxmlformats.org/drawingml/2006/main">
              <a:ext uri="{FF2B5EF4-FFF2-40B4-BE49-F238E27FC236}">
                <a16:creationId xmlns:a16="http://schemas.microsoft.com/office/drawing/2014/main" id="{7241E31D-7ABA-4B76-ABD1-E2D15F78CD6F}"/>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source=rule → model</a:t>
            </a:r>
          </a:p>
        </p:txBody>
      </p:sp>
      <p:sp>
        <p:nvSpPr>
          <p:cNvPr id="39" name="">
            <a:extLst xmlns:a="http://schemas.openxmlformats.org/drawingml/2006/main">
              <a:ext uri="{FF2B5EF4-FFF2-40B4-BE49-F238E27FC236}">
                <a16:creationId xmlns:a16="http://schemas.microsoft.com/office/drawing/2014/main" id="{581B3CC5-40F4-419B-87E7-E257E9D0DBD2}"/>
              </a:ext>
            </a:extLst>
          </p:cNvPr>
          <p:cNvSpPr>
            <a:spLocks xmlns:a="http://schemas.openxmlformats.org/drawingml/2006/main" noGrp="1"/>
          </p:cNvSpPr>
          <p:nvPr/>
        </p:nvSpPr>
        <p:spPr>
          <a:xfrm xmlns:a="http://schemas.openxmlformats.org/drawingml/2006/main">
            <a:off x="1409700" y="30670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只换 </a:t>
            </a:r>
            <a:r>
              <a:rPr sz="863" b="0">
                <a:solidFill>
                  <a:srgbClr val="C6DDFF"/>
                </a:solidFill>
                <a:latin typeface="微软雅黑"/>
                <a:ea typeface="微软雅黑"/>
                <a:cs typeface="微软雅黑"/>
              </a:rPr>
              <a:t>Service </a:t>
            </a:r>
            <a:r>
              <a:rPr sz="863" b="0">
                <a:solidFill>
                  <a:srgbClr val="C6DDFF"/>
                </a:solidFill>
                <a:latin typeface="微软雅黑"/>
                <a:ea typeface="微软雅黑"/>
                <a:cs typeface="微软雅黑"/>
              </a:rPr>
              <a:t>实现：</a:t>
            </a:r>
            <a:r>
              <a:rPr sz="863" b="0">
                <a:solidFill>
                  <a:srgbClr val="C6DDFF"/>
                </a:solidFill>
                <a:latin typeface="微软雅黑"/>
                <a:ea typeface="微软雅黑"/>
                <a:cs typeface="微软雅黑"/>
              </a:rPr>
              <a:t>Controller / DTO / </a:t>
            </a:r>
            <a:r>
              <a:rPr sz="863" b="0">
                <a:solidFill>
                  <a:srgbClr val="C6DDFF"/>
                </a:solidFill>
                <a:latin typeface="微软雅黑"/>
                <a:ea typeface="微软雅黑"/>
                <a:cs typeface="微软雅黑"/>
              </a:rPr>
              <a:t>接口路径与前端全部不动。</a:t>
            </a:r>
          </a:p>
        </p:txBody>
      </p:sp>
      <p:sp>
        <p:nvSpPr>
          <p:cNvPr id="40" name="">
            <a:extLst xmlns:a="http://schemas.openxmlformats.org/drawingml/2006/main">
              <a:ext uri="{FF2B5EF4-FFF2-40B4-BE49-F238E27FC236}">
                <a16:creationId xmlns:a16="http://schemas.microsoft.com/office/drawing/2014/main" id="{325F1BBD-129F-451B-A4CA-7FEA94D76868}"/>
              </a:ext>
            </a:extLst>
          </p:cNvPr>
          <p:cNvSpPr>
            <a:spLocks xmlns:a="http://schemas.openxmlformats.org/drawingml/2006/main" noGrp="1"/>
          </p:cNvSpPr>
          <p:nvPr/>
        </p:nvSpPr>
        <p:spPr>
          <a:xfrm xmlns:a="http://schemas.openxmlformats.org/drawingml/2006/main">
            <a:off x="285750" y="3695700"/>
            <a:ext cx="7620000" cy="1066800"/>
          </a:xfrm>
          <a:prstGeom xmlns:a="http://schemas.openxmlformats.org/drawingml/2006/main" prst="roundRect">
            <a:avLst>
              <a:gd name="adj" fmla="val 8036"/>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F4794797-75BF-4CD6-BA2F-D1A97F1DDC26}"/>
              </a:ext>
            </a:extLst>
          </p:cNvPr>
          <p:cNvSpPr>
            <a:spLocks xmlns:a="http://schemas.openxmlformats.org/drawingml/2006/main" noGrp="1"/>
          </p:cNvSpPr>
          <p:nvPr/>
        </p:nvSpPr>
        <p:spPr>
          <a:xfrm xmlns:a="http://schemas.openxmlformats.org/drawingml/2006/main">
            <a:off x="285750" y="3695700"/>
            <a:ext cx="47625" cy="1066800"/>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48DED849-ADF6-46AE-9BFB-435C65E2EA16}"/>
              </a:ext>
            </a:extLst>
          </p:cNvPr>
          <p:cNvSpPr>
            <a:spLocks xmlns:a="http://schemas.openxmlformats.org/drawingml/2006/main" noGrp="1"/>
          </p:cNvSpPr>
          <p:nvPr/>
        </p:nvSpPr>
        <p:spPr>
          <a:xfrm xmlns:a="http://schemas.openxmlformats.org/drawingml/2006/main">
            <a:off x="476250" y="40767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5FE3A1"/>
                </a:solidFill>
                <a:latin typeface="微软雅黑"/>
                <a:ea typeface="微软雅黑"/>
                <a:cs typeface="微软雅黑"/>
              </a:defRPr>
            </a:pPr>
            <a:r>
              <a:rPr sz="1125" b="1">
                <a:solidFill>
                  <a:srgbClr val="5FE3A1"/>
                </a:solidFill>
                <a:latin typeface="微软雅黑"/>
                <a:ea typeface="微软雅黑"/>
                <a:cs typeface="微软雅黑"/>
              </a:rPr>
              <a:t>数据层</a:t>
            </a:r>
          </a:p>
        </p:txBody>
      </p:sp>
      <p:sp>
        <p:nvSpPr>
          <p:cNvPr id="43" name="">
            <a:extLst xmlns:a="http://schemas.openxmlformats.org/drawingml/2006/main">
              <a:ext uri="{FF2B5EF4-FFF2-40B4-BE49-F238E27FC236}">
                <a16:creationId xmlns:a16="http://schemas.microsoft.com/office/drawing/2014/main" id="{6E9C8BCB-8E10-4D88-B03F-8CFF8E1F9992}"/>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4" name="">
            <a:extLst xmlns:a="http://schemas.openxmlformats.org/drawingml/2006/main">
              <a:ext uri="{FF2B5EF4-FFF2-40B4-BE49-F238E27FC236}">
                <a16:creationId xmlns:a16="http://schemas.microsoft.com/office/drawing/2014/main" id="{285440B6-26BE-4C3D-89F1-63820C4F5295}"/>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MySQL 8 </a:t>
            </a:r>
            <a:r>
              <a:rPr sz="863" b="1">
                <a:solidFill>
                  <a:srgbClr val="FFFFFF"/>
                </a:solidFill>
                <a:latin typeface="微软雅黑"/>
                <a:ea typeface="微软雅黑"/>
                <a:cs typeface="微软雅黑"/>
              </a:rPr>
              <a:t>一套库</a:t>
            </a:r>
          </a:p>
        </p:txBody>
      </p:sp>
      <p:sp>
        <p:nvSpPr>
          <p:cNvPr id="45" name="">
            <a:extLst xmlns:a="http://schemas.openxmlformats.org/drawingml/2006/main">
              <a:ext uri="{FF2B5EF4-FFF2-40B4-BE49-F238E27FC236}">
                <a16:creationId xmlns:a16="http://schemas.microsoft.com/office/drawing/2014/main" id="{866DE6A1-6232-4D66-9559-CD21A556A154}"/>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6" name="">
            <a:extLst xmlns:a="http://schemas.openxmlformats.org/drawingml/2006/main">
              <a:ext uri="{FF2B5EF4-FFF2-40B4-BE49-F238E27FC236}">
                <a16:creationId xmlns:a16="http://schemas.microsoft.com/office/drawing/2014/main" id="{7D0B5965-CA58-47D6-9171-A0106D553D5F}"/>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53 </a:t>
            </a:r>
            <a:r>
              <a:rPr sz="863" b="1">
                <a:solidFill>
                  <a:srgbClr val="FFFFFF"/>
                </a:solidFill>
                <a:latin typeface="微软雅黑"/>
                <a:ea typeface="微软雅黑"/>
                <a:cs typeface="微软雅黑"/>
              </a:rPr>
              <a:t>张表 </a:t>
            </a:r>
            <a:r>
              <a:rPr sz="863" b="1">
                <a:solidFill>
                  <a:srgbClr val="FFFFFF"/>
                </a:solidFill>
                <a:latin typeface="微软雅黑"/>
                <a:ea typeface="微软雅黑"/>
                <a:cs typeface="微软雅黑"/>
              </a:rPr>
              <a:t>/ 7 </a:t>
            </a:r>
            <a:r>
              <a:rPr sz="863" b="1">
                <a:solidFill>
                  <a:srgbClr val="FFFFFF"/>
                </a:solidFill>
                <a:latin typeface="微软雅黑"/>
                <a:ea typeface="微软雅黑"/>
                <a:cs typeface="微软雅黑"/>
              </a:rPr>
              <a:t>组</a:t>
            </a:r>
          </a:p>
        </p:txBody>
      </p:sp>
      <p:sp>
        <p:nvSpPr>
          <p:cNvPr id="47" name="">
            <a:extLst xmlns:a="http://schemas.openxmlformats.org/drawingml/2006/main">
              <a:ext uri="{FF2B5EF4-FFF2-40B4-BE49-F238E27FC236}">
                <a16:creationId xmlns:a16="http://schemas.microsoft.com/office/drawing/2014/main" id="{31E91147-453F-4B21-AA18-221730CA5D16}"/>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8" name="">
            <a:extLst xmlns:a="http://schemas.openxmlformats.org/drawingml/2006/main">
              <a:ext uri="{FF2B5EF4-FFF2-40B4-BE49-F238E27FC236}">
                <a16:creationId xmlns:a16="http://schemas.microsoft.com/office/drawing/2014/main" id="{B9FA906F-EEF4-4ECE-97D7-CAFAEFA26B0A}"/>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JSON </a:t>
            </a:r>
            <a:r>
              <a:rPr sz="863" b="1">
                <a:solidFill>
                  <a:srgbClr val="FFFFFF"/>
                </a:solidFill>
                <a:latin typeface="微软雅黑"/>
                <a:ea typeface="微软雅黑"/>
                <a:cs typeface="微软雅黑"/>
              </a:rPr>
              <a:t>列存规则与结论</a:t>
            </a:r>
          </a:p>
        </p:txBody>
      </p:sp>
      <p:sp>
        <p:nvSpPr>
          <p:cNvPr id="49" name="">
            <a:extLst xmlns:a="http://schemas.openxmlformats.org/drawingml/2006/main">
              <a:ext uri="{FF2B5EF4-FFF2-40B4-BE49-F238E27FC236}">
                <a16:creationId xmlns:a16="http://schemas.microsoft.com/office/drawing/2014/main" id="{AFC53505-A9D5-440F-82BB-31D367C3301A}"/>
              </a:ext>
            </a:extLst>
          </p:cNvPr>
          <p:cNvSpPr>
            <a:spLocks xmlns:a="http://schemas.openxmlformats.org/drawingml/2006/main" noGrp="1"/>
          </p:cNvSpPr>
          <p:nvPr/>
        </p:nvSpPr>
        <p:spPr>
          <a:xfrm xmlns:a="http://schemas.openxmlformats.org/drawingml/2006/main">
            <a:off x="1409700" y="42481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主数据、业务数据、</a:t>
            </a:r>
            <a:r>
              <a:rPr sz="863" b="0">
                <a:solidFill>
                  <a:srgbClr val="C6DDFF"/>
                </a:solidFill>
                <a:latin typeface="微软雅黑"/>
                <a:ea typeface="微软雅黑"/>
                <a:cs typeface="微软雅黑"/>
              </a:rPr>
              <a:t>Agent </a:t>
            </a:r>
            <a:r>
              <a:rPr sz="863" b="0">
                <a:solidFill>
                  <a:srgbClr val="C6DDFF"/>
                </a:solidFill>
                <a:latin typeface="微软雅黑"/>
                <a:ea typeface="微软雅黑"/>
                <a:cs typeface="微软雅黑"/>
              </a:rPr>
              <a:t>结论与审计留痕全部落库，改规则只动数据库。</a:t>
            </a:r>
          </a:p>
        </p:txBody>
      </p:sp>
      <p:sp>
        <p:nvSpPr>
          <p:cNvPr id="50" name="">
            <a:extLst xmlns:a="http://schemas.openxmlformats.org/drawingml/2006/main">
              <a:ext uri="{FF2B5EF4-FFF2-40B4-BE49-F238E27FC236}">
                <a16:creationId xmlns:a16="http://schemas.microsoft.com/office/drawing/2014/main" id="{E5D80872-944F-4320-87CE-D035DAC622BD}"/>
              </a:ext>
            </a:extLst>
          </p:cNvPr>
          <p:cNvSpPr>
            <a:spLocks xmlns:a="http://schemas.openxmlformats.org/drawingml/2006/main" noGrp="1"/>
          </p:cNvSpPr>
          <p:nvPr/>
        </p:nvSpPr>
        <p:spPr>
          <a:xfrm xmlns:a="http://schemas.openxmlformats.org/drawingml/2006/main">
            <a:off x="285750" y="4876800"/>
            <a:ext cx="7620000" cy="1066800"/>
          </a:xfrm>
          <a:prstGeom xmlns:a="http://schemas.openxmlformats.org/drawingml/2006/main" prst="roundRect">
            <a:avLst>
              <a:gd name="adj" fmla="val 803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51" name="">
            <a:extLst xmlns:a="http://schemas.openxmlformats.org/drawingml/2006/main">
              <a:ext uri="{FF2B5EF4-FFF2-40B4-BE49-F238E27FC236}">
                <a16:creationId xmlns:a16="http://schemas.microsoft.com/office/drawing/2014/main" id="{531C8272-23C0-4046-8461-CF633703F08F}"/>
              </a:ext>
            </a:extLst>
          </p:cNvPr>
          <p:cNvSpPr>
            <a:spLocks xmlns:a="http://schemas.openxmlformats.org/drawingml/2006/main" noGrp="1"/>
          </p:cNvSpPr>
          <p:nvPr/>
        </p:nvSpPr>
        <p:spPr>
          <a:xfrm xmlns:a="http://schemas.openxmlformats.org/drawingml/2006/main">
            <a:off x="285750" y="4876800"/>
            <a:ext cx="47625" cy="1066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8661C501-74C0-4E77-B073-BEF287011E2C}"/>
              </a:ext>
            </a:extLst>
          </p:cNvPr>
          <p:cNvSpPr>
            <a:spLocks xmlns:a="http://schemas.openxmlformats.org/drawingml/2006/main" noGrp="1"/>
          </p:cNvSpPr>
          <p:nvPr/>
        </p:nvSpPr>
        <p:spPr>
          <a:xfrm xmlns:a="http://schemas.openxmlformats.org/drawingml/2006/main">
            <a:off x="476250" y="5257800"/>
            <a:ext cx="8572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部署层</a:t>
            </a:r>
          </a:p>
        </p:txBody>
      </p:sp>
      <p:sp>
        <p:nvSpPr>
          <p:cNvPr id="53" name="">
            <a:extLst xmlns:a="http://schemas.openxmlformats.org/drawingml/2006/main">
              <a:ext uri="{FF2B5EF4-FFF2-40B4-BE49-F238E27FC236}">
                <a16:creationId xmlns:a16="http://schemas.microsoft.com/office/drawing/2014/main" id="{6F6E6F4B-7750-46EA-945B-55794862C3E6}"/>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4" name="">
            <a:extLst xmlns:a="http://schemas.openxmlformats.org/drawingml/2006/main">
              <a:ext uri="{FF2B5EF4-FFF2-40B4-BE49-F238E27FC236}">
                <a16:creationId xmlns:a16="http://schemas.microsoft.com/office/drawing/2014/main" id="{52DB04C8-DFC1-4492-A82C-2D72E06479DB}"/>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Vue 3 + Vite + Element Plus</a:t>
            </a:r>
          </a:p>
        </p:txBody>
      </p:sp>
      <p:sp>
        <p:nvSpPr>
          <p:cNvPr id="55" name="">
            <a:extLst xmlns:a="http://schemas.openxmlformats.org/drawingml/2006/main">
              <a:ext uri="{FF2B5EF4-FFF2-40B4-BE49-F238E27FC236}">
                <a16:creationId xmlns:a16="http://schemas.microsoft.com/office/drawing/2014/main" id="{DC54F28E-D6EB-4DB9-A79D-2065832CD9A9}"/>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6" name="">
            <a:extLst xmlns:a="http://schemas.openxmlformats.org/drawingml/2006/main">
              <a:ext uri="{FF2B5EF4-FFF2-40B4-BE49-F238E27FC236}">
                <a16:creationId xmlns:a16="http://schemas.microsoft.com/office/drawing/2014/main" id="{2050BFF6-34F2-46F2-9CF9-1B16D2BB5F33}"/>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Spring Boot + JdbcTemplate</a:t>
            </a:r>
          </a:p>
        </p:txBody>
      </p:sp>
      <p:sp>
        <p:nvSpPr>
          <p:cNvPr id="57" name="">
            <a:extLst xmlns:a="http://schemas.openxmlformats.org/drawingml/2006/main">
              <a:ext uri="{FF2B5EF4-FFF2-40B4-BE49-F238E27FC236}">
                <a16:creationId xmlns:a16="http://schemas.microsoft.com/office/drawing/2014/main" id="{321962DB-A846-4CB9-8B55-45C4AAF4560A}"/>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8" name="">
            <a:extLst xmlns:a="http://schemas.openxmlformats.org/drawingml/2006/main">
              <a:ext uri="{FF2B5EF4-FFF2-40B4-BE49-F238E27FC236}">
                <a16:creationId xmlns:a16="http://schemas.microsoft.com/office/drawing/2014/main" id="{F9255AB4-38E8-4826-993F-25AEE95EEF20}"/>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Docker Compose </a:t>
            </a:r>
            <a:r>
              <a:rPr sz="863" b="1">
                <a:solidFill>
                  <a:srgbClr val="FFFFFF"/>
                </a:solidFill>
                <a:latin typeface="微软雅黑"/>
                <a:ea typeface="微软雅黑"/>
                <a:cs typeface="微软雅黑"/>
              </a:rPr>
              <a:t>一键起</a:t>
            </a:r>
          </a:p>
        </p:txBody>
      </p:sp>
      <p:sp>
        <p:nvSpPr>
          <p:cNvPr id="59" name="">
            <a:extLst xmlns:a="http://schemas.openxmlformats.org/drawingml/2006/main">
              <a:ext uri="{FF2B5EF4-FFF2-40B4-BE49-F238E27FC236}">
                <a16:creationId xmlns:a16="http://schemas.microsoft.com/office/drawing/2014/main" id="{7706644D-9E74-4177-957F-3D702C03B143}"/>
              </a:ext>
            </a:extLst>
          </p:cNvPr>
          <p:cNvSpPr>
            <a:spLocks xmlns:a="http://schemas.openxmlformats.org/drawingml/2006/main" noGrp="1"/>
          </p:cNvSpPr>
          <p:nvPr/>
        </p:nvSpPr>
        <p:spPr>
          <a:xfrm xmlns:a="http://schemas.openxmlformats.org/drawingml/2006/main">
            <a:off x="1409700" y="5429250"/>
            <a:ext cx="6400800" cy="4381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无 </a:t>
            </a:r>
            <a:r>
              <a:rPr sz="863" b="0">
                <a:solidFill>
                  <a:srgbClr val="C6DDFF"/>
                </a:solidFill>
                <a:latin typeface="微软雅黑"/>
                <a:ea typeface="微软雅黑"/>
                <a:cs typeface="微软雅黑"/>
              </a:rPr>
              <a:t>ORM</a:t>
            </a:r>
            <a:r>
              <a:rPr sz="863" b="0">
                <a:solidFill>
                  <a:srgbClr val="C6DDFF"/>
                </a:solidFill>
                <a:latin typeface="微软雅黑"/>
                <a:ea typeface="微软雅黑"/>
                <a:cs typeface="微软雅黑"/>
              </a:rPr>
              <a:t>；</a:t>
            </a:r>
            <a:r>
              <a:rPr sz="863" b="0">
                <a:solidFill>
                  <a:srgbClr val="C6DDFF"/>
                </a:solidFill>
                <a:latin typeface="微软雅黑"/>
                <a:ea typeface="微软雅黑"/>
                <a:cs typeface="微软雅黑"/>
              </a:rPr>
              <a:t>MySQL + API + Web </a:t>
            </a:r>
            <a:r>
              <a:rPr sz="863" b="0">
                <a:solidFill>
                  <a:srgbClr val="C6DDFF"/>
                </a:solidFill>
                <a:latin typeface="微软雅黑"/>
                <a:ea typeface="微软雅黑"/>
                <a:cs typeface="微软雅黑"/>
              </a:rPr>
              <a:t>三容器，支持内网部署与完全离线运行。</a:t>
            </a:r>
          </a:p>
        </p:txBody>
      </p:sp>
      <p:sp>
        <p:nvSpPr>
          <p:cNvPr id="60" name="">
            <a:extLst xmlns:a="http://schemas.openxmlformats.org/drawingml/2006/main">
              <a:ext uri="{FF2B5EF4-FFF2-40B4-BE49-F238E27FC236}">
                <a16:creationId xmlns:a16="http://schemas.microsoft.com/office/drawing/2014/main" id="{A366E869-D6B3-43F4-95F0-3FA1484617B4}"/>
              </a:ext>
            </a:extLst>
          </p:cNvPr>
          <p:cNvSpPr>
            <a:spLocks xmlns:a="http://schemas.openxmlformats.org/drawingml/2006/main" noGrp="1"/>
          </p:cNvSpPr>
          <p:nvPr/>
        </p:nvSpPr>
        <p:spPr>
          <a:xfrm xmlns:a="http://schemas.openxmlformats.org/drawingml/2006/main">
            <a:off x="8077200" y="1333500"/>
            <a:ext cx="3829050" cy="4610100"/>
          </a:xfrm>
          <a:prstGeom xmlns:a="http://schemas.openxmlformats.org/drawingml/2006/main" prst="roundRect">
            <a:avLst>
              <a:gd name="adj" fmla="val 223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1" name="">
            <a:extLst xmlns:a="http://schemas.openxmlformats.org/drawingml/2006/main">
              <a:ext uri="{FF2B5EF4-FFF2-40B4-BE49-F238E27FC236}">
                <a16:creationId xmlns:a16="http://schemas.microsoft.com/office/drawing/2014/main" id="{A528E499-36AE-4289-A1CA-7699F7BBE526}"/>
              </a:ext>
            </a:extLst>
          </p:cNvPr>
          <p:cNvSpPr>
            <a:spLocks xmlns:a="http://schemas.openxmlformats.org/drawingml/2006/main" noGrp="1"/>
          </p:cNvSpPr>
          <p:nvPr/>
        </p:nvSpPr>
        <p:spPr>
          <a:xfrm xmlns:a="http://schemas.openxmlformats.org/drawingml/2006/main">
            <a:off x="8267700" y="1466850"/>
            <a:ext cx="34861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工程规模（可现场核对）</a:t>
            </a:r>
          </a:p>
        </p:txBody>
      </p:sp>
      <p:sp>
        <p:nvSpPr>
          <p:cNvPr id="62" name="">
            <a:extLst xmlns:a="http://schemas.openxmlformats.org/drawingml/2006/main">
              <a:ext uri="{FF2B5EF4-FFF2-40B4-BE49-F238E27FC236}">
                <a16:creationId xmlns:a16="http://schemas.microsoft.com/office/drawing/2014/main" id="{90672D23-5BDD-4A86-BDCC-ED919E40D547}"/>
              </a:ext>
            </a:extLst>
          </p:cNvPr>
          <p:cNvSpPr>
            <a:spLocks xmlns:a="http://schemas.openxmlformats.org/drawingml/2006/main" noGrp="1"/>
          </p:cNvSpPr>
          <p:nvPr/>
        </p:nvSpPr>
        <p:spPr>
          <a:xfrm xmlns:a="http://schemas.openxmlformats.org/drawingml/2006/main">
            <a:off x="8267700" y="18859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75 </a:t>
            </a:r>
            <a:r>
              <a:rPr sz="1950" b="1">
                <a:solidFill>
                  <a:srgbClr val="FFFFFF"/>
                </a:solidFill>
                <a:latin typeface="Bahnschrift"/>
                <a:ea typeface="Bahnschrift"/>
                <a:cs typeface="Bahnschrift"/>
              </a:rPr>
              <a:t>个</a:t>
            </a:r>
          </a:p>
        </p:txBody>
      </p:sp>
      <p:sp>
        <p:nvSpPr>
          <p:cNvPr id="63" name="">
            <a:extLst xmlns:a="http://schemas.openxmlformats.org/drawingml/2006/main">
              <a:ext uri="{FF2B5EF4-FFF2-40B4-BE49-F238E27FC236}">
                <a16:creationId xmlns:a16="http://schemas.microsoft.com/office/drawing/2014/main" id="{109942D0-0517-4A57-90F9-CA808FBC4F0C}"/>
              </a:ext>
            </a:extLst>
          </p:cNvPr>
          <p:cNvSpPr>
            <a:spLocks xmlns:a="http://schemas.openxmlformats.org/drawingml/2006/main" noGrp="1"/>
          </p:cNvSpPr>
          <p:nvPr/>
        </p:nvSpPr>
        <p:spPr>
          <a:xfrm xmlns:a="http://schemas.openxmlformats.org/drawingml/2006/main">
            <a:off x="8267700" y="22098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在线接口</a:t>
            </a:r>
          </a:p>
        </p:txBody>
      </p:sp>
      <p:sp>
        <p:nvSpPr>
          <p:cNvPr id="64" name="">
            <a:extLst xmlns:a="http://schemas.openxmlformats.org/drawingml/2006/main">
              <a:ext uri="{FF2B5EF4-FFF2-40B4-BE49-F238E27FC236}">
                <a16:creationId xmlns:a16="http://schemas.microsoft.com/office/drawing/2014/main" id="{BE057587-1696-4556-9833-84F3A71CD809}"/>
              </a:ext>
            </a:extLst>
          </p:cNvPr>
          <p:cNvSpPr>
            <a:spLocks xmlns:a="http://schemas.openxmlformats.org/drawingml/2006/main" noGrp="1"/>
          </p:cNvSpPr>
          <p:nvPr/>
        </p:nvSpPr>
        <p:spPr>
          <a:xfrm xmlns:a="http://schemas.openxmlformats.org/drawingml/2006/main">
            <a:off x="8267700" y="2476500"/>
            <a:ext cx="3486150" cy="9525"/>
          </a:xfrm>
          <a:prstGeom xmlns:a="http://schemas.openxmlformats.org/drawingml/2006/main" prst="rect">
            <a:avLst/>
          </a:prstGeom>
          <a:solidFill xmlns:a="http://schemas.openxmlformats.org/drawingml/2006/main">
            <a:srgbClr val="1763B8"/>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0EBB9AB9-2C84-4713-A623-976FBE49CEC2}"/>
              </a:ext>
            </a:extLst>
          </p:cNvPr>
          <p:cNvSpPr>
            <a:spLocks xmlns:a="http://schemas.openxmlformats.org/drawingml/2006/main" noGrp="1"/>
          </p:cNvSpPr>
          <p:nvPr/>
        </p:nvSpPr>
        <p:spPr>
          <a:xfrm xmlns:a="http://schemas.openxmlformats.org/drawingml/2006/main">
            <a:off x="8267700" y="26860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53 </a:t>
            </a:r>
            <a:r>
              <a:rPr sz="1950" b="1">
                <a:solidFill>
                  <a:srgbClr val="FFFFFF"/>
                </a:solidFill>
                <a:latin typeface="Bahnschrift"/>
                <a:ea typeface="Bahnschrift"/>
                <a:cs typeface="Bahnschrift"/>
              </a:rPr>
              <a:t>张</a:t>
            </a:r>
          </a:p>
        </p:txBody>
      </p:sp>
      <p:sp>
        <p:nvSpPr>
          <p:cNvPr id="66" name="">
            <a:extLst xmlns:a="http://schemas.openxmlformats.org/drawingml/2006/main">
              <a:ext uri="{FF2B5EF4-FFF2-40B4-BE49-F238E27FC236}">
                <a16:creationId xmlns:a16="http://schemas.microsoft.com/office/drawing/2014/main" id="{017A46A9-2C48-41D6-99FE-740748F9EF47}"/>
              </a:ext>
            </a:extLst>
          </p:cNvPr>
          <p:cNvSpPr>
            <a:spLocks xmlns:a="http://schemas.openxmlformats.org/drawingml/2006/main" noGrp="1"/>
          </p:cNvSpPr>
          <p:nvPr/>
        </p:nvSpPr>
        <p:spPr>
          <a:xfrm xmlns:a="http://schemas.openxmlformats.org/drawingml/2006/main">
            <a:off x="8267700" y="30099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数据库表（</a:t>
            </a:r>
            <a:r>
              <a:rPr sz="900" b="0">
                <a:solidFill>
                  <a:srgbClr val="C6DDFF"/>
                </a:solidFill>
                <a:latin typeface="微软雅黑"/>
                <a:ea typeface="微软雅黑"/>
                <a:cs typeface="微软雅黑"/>
              </a:rPr>
              <a:t>7 </a:t>
            </a:r>
            <a:r>
              <a:rPr sz="900" b="0">
                <a:solidFill>
                  <a:srgbClr val="C6DDFF"/>
                </a:solidFill>
                <a:latin typeface="微软雅黑"/>
                <a:ea typeface="微软雅黑"/>
                <a:cs typeface="微软雅黑"/>
              </a:rPr>
              <a:t>组）</a:t>
            </a:r>
          </a:p>
        </p:txBody>
      </p:sp>
      <p:sp>
        <p:nvSpPr>
          <p:cNvPr id="67" name="">
            <a:extLst xmlns:a="http://schemas.openxmlformats.org/drawingml/2006/main">
              <a:ext uri="{FF2B5EF4-FFF2-40B4-BE49-F238E27FC236}">
                <a16:creationId xmlns:a16="http://schemas.microsoft.com/office/drawing/2014/main" id="{4811F580-D38E-4DE3-8C2B-20B22E512141}"/>
              </a:ext>
            </a:extLst>
          </p:cNvPr>
          <p:cNvSpPr>
            <a:spLocks xmlns:a="http://schemas.openxmlformats.org/drawingml/2006/main" noGrp="1"/>
          </p:cNvSpPr>
          <p:nvPr/>
        </p:nvSpPr>
        <p:spPr>
          <a:xfrm xmlns:a="http://schemas.openxmlformats.org/drawingml/2006/main">
            <a:off x="8267700" y="3276600"/>
            <a:ext cx="3486150" cy="9525"/>
          </a:xfrm>
          <a:prstGeom xmlns:a="http://schemas.openxmlformats.org/drawingml/2006/main" prst="rect">
            <a:avLst/>
          </a:prstGeom>
          <a:solidFill xmlns:a="http://schemas.openxmlformats.org/drawingml/2006/main">
            <a:srgbClr val="1763B8"/>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3212334A-C251-4FAD-AFD9-9B2C9946A069}"/>
              </a:ext>
            </a:extLst>
          </p:cNvPr>
          <p:cNvSpPr>
            <a:spLocks xmlns:a="http://schemas.openxmlformats.org/drawingml/2006/main" noGrp="1"/>
          </p:cNvSpPr>
          <p:nvPr/>
        </p:nvSpPr>
        <p:spPr>
          <a:xfrm xmlns:a="http://schemas.openxmlformats.org/drawingml/2006/main">
            <a:off x="8267700" y="34861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18 </a:t>
            </a:r>
            <a:r>
              <a:rPr sz="1950" b="1">
                <a:solidFill>
                  <a:srgbClr val="FFFFFF"/>
                </a:solidFill>
                <a:latin typeface="Bahnschrift"/>
                <a:ea typeface="Bahnschrift"/>
                <a:cs typeface="Bahnschrift"/>
              </a:rPr>
              <a:t>条</a:t>
            </a:r>
          </a:p>
        </p:txBody>
      </p:sp>
      <p:sp>
        <p:nvSpPr>
          <p:cNvPr id="69" name="">
            <a:extLst xmlns:a="http://schemas.openxmlformats.org/drawingml/2006/main">
              <a:ext uri="{FF2B5EF4-FFF2-40B4-BE49-F238E27FC236}">
                <a16:creationId xmlns:a16="http://schemas.microsoft.com/office/drawing/2014/main" id="{7BE4A65C-BF01-4F53-A0D3-4F0E70F0A33F}"/>
              </a:ext>
            </a:extLst>
          </p:cNvPr>
          <p:cNvSpPr>
            <a:spLocks xmlns:a="http://schemas.openxmlformats.org/drawingml/2006/main" noGrp="1"/>
          </p:cNvSpPr>
          <p:nvPr/>
        </p:nvSpPr>
        <p:spPr>
          <a:xfrm xmlns:a="http://schemas.openxmlformats.org/drawingml/2006/main">
            <a:off x="8267700" y="38100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启用规则（</a:t>
            </a:r>
            <a:r>
              <a:rPr sz="900" b="0">
                <a:solidFill>
                  <a:srgbClr val="C6DDFF"/>
                </a:solidFill>
                <a:latin typeface="微软雅黑"/>
                <a:ea typeface="微软雅黑"/>
                <a:cs typeface="微软雅黑"/>
              </a:rPr>
              <a:t>5 </a:t>
            </a:r>
            <a:r>
              <a:rPr sz="900" b="0">
                <a:solidFill>
                  <a:srgbClr val="C6DDFF"/>
                </a:solidFill>
                <a:latin typeface="微软雅黑"/>
                <a:ea typeface="微软雅黑"/>
                <a:cs typeface="微软雅黑"/>
              </a:rPr>
              <a:t>场景）</a:t>
            </a:r>
          </a:p>
        </p:txBody>
      </p:sp>
      <p:sp>
        <p:nvSpPr>
          <p:cNvPr id="70" name="">
            <a:extLst xmlns:a="http://schemas.openxmlformats.org/drawingml/2006/main">
              <a:ext uri="{FF2B5EF4-FFF2-40B4-BE49-F238E27FC236}">
                <a16:creationId xmlns:a16="http://schemas.microsoft.com/office/drawing/2014/main" id="{01869BB9-4DB9-4375-8125-B3EC402D1780}"/>
              </a:ext>
            </a:extLst>
          </p:cNvPr>
          <p:cNvSpPr>
            <a:spLocks xmlns:a="http://schemas.openxmlformats.org/drawingml/2006/main" noGrp="1"/>
          </p:cNvSpPr>
          <p:nvPr/>
        </p:nvSpPr>
        <p:spPr>
          <a:xfrm xmlns:a="http://schemas.openxmlformats.org/drawingml/2006/main">
            <a:off x="8267700" y="4076700"/>
            <a:ext cx="3486150" cy="9525"/>
          </a:xfrm>
          <a:prstGeom xmlns:a="http://schemas.openxmlformats.org/drawingml/2006/main" prst="rect">
            <a:avLst/>
          </a:prstGeom>
          <a:solidFill xmlns:a="http://schemas.openxmlformats.org/drawingml/2006/main">
            <a:srgbClr val="1763B8"/>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D926AE5E-FBCF-49AB-9973-04E44615DBA2}"/>
              </a:ext>
            </a:extLst>
          </p:cNvPr>
          <p:cNvSpPr>
            <a:spLocks xmlns:a="http://schemas.openxmlformats.org/drawingml/2006/main" noGrp="1"/>
          </p:cNvSpPr>
          <p:nvPr/>
        </p:nvSpPr>
        <p:spPr>
          <a:xfrm xmlns:a="http://schemas.openxmlformats.org/drawingml/2006/main">
            <a:off x="8267700" y="42862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11 </a:t>
            </a:r>
            <a:r>
              <a:rPr sz="1950" b="1">
                <a:solidFill>
                  <a:srgbClr val="FFFFFF"/>
                </a:solidFill>
                <a:latin typeface="Bahnschrift"/>
                <a:ea typeface="Bahnschrift"/>
                <a:cs typeface="Bahnschrift"/>
              </a:rPr>
              <a:t>个</a:t>
            </a:r>
          </a:p>
        </p:txBody>
      </p:sp>
      <p:sp>
        <p:nvSpPr>
          <p:cNvPr id="72" name="">
            <a:extLst xmlns:a="http://schemas.openxmlformats.org/drawingml/2006/main">
              <a:ext uri="{FF2B5EF4-FFF2-40B4-BE49-F238E27FC236}">
                <a16:creationId xmlns:a16="http://schemas.microsoft.com/office/drawing/2014/main" id="{569661CF-5019-457D-8AA8-257B3E7A1CB7}"/>
              </a:ext>
            </a:extLst>
          </p:cNvPr>
          <p:cNvSpPr>
            <a:spLocks xmlns:a="http://schemas.openxmlformats.org/drawingml/2006/main" noGrp="1"/>
          </p:cNvSpPr>
          <p:nvPr/>
        </p:nvSpPr>
        <p:spPr>
          <a:xfrm xmlns:a="http://schemas.openxmlformats.org/drawingml/2006/main">
            <a:off x="8267700" y="46101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建库脚本（</a:t>
            </a:r>
            <a:r>
              <a:rPr sz="900" b="0">
                <a:solidFill>
                  <a:srgbClr val="C6DDFF"/>
                </a:solidFill>
                <a:latin typeface="微软雅黑"/>
                <a:ea typeface="微软雅黑"/>
                <a:cs typeface="微软雅黑"/>
              </a:rPr>
              <a:t>001~011</a:t>
            </a:r>
            <a:r>
              <a:rPr sz="900" b="0">
                <a:solidFill>
                  <a:srgbClr val="C6DDFF"/>
                </a:solidFill>
                <a:latin typeface="微软雅黑"/>
                <a:ea typeface="微软雅黑"/>
                <a:cs typeface="微软雅黑"/>
              </a:rPr>
              <a:t>）</a:t>
            </a:r>
          </a:p>
        </p:txBody>
      </p:sp>
      <p:sp>
        <p:nvSpPr>
          <p:cNvPr id="73" name="">
            <a:extLst xmlns:a="http://schemas.openxmlformats.org/drawingml/2006/main">
              <a:ext uri="{FF2B5EF4-FFF2-40B4-BE49-F238E27FC236}">
                <a16:creationId xmlns:a16="http://schemas.microsoft.com/office/drawing/2014/main" id="{FF1FAE84-C0A7-4DD7-87F2-ABA36889F059}"/>
              </a:ext>
            </a:extLst>
          </p:cNvPr>
          <p:cNvSpPr>
            <a:spLocks xmlns:a="http://schemas.openxmlformats.org/drawingml/2006/main" noGrp="1"/>
          </p:cNvSpPr>
          <p:nvPr/>
        </p:nvSpPr>
        <p:spPr>
          <a:xfrm xmlns:a="http://schemas.openxmlformats.org/drawingml/2006/main">
            <a:off x="8267700" y="4876800"/>
            <a:ext cx="3486150" cy="9525"/>
          </a:xfrm>
          <a:prstGeom xmlns:a="http://schemas.openxmlformats.org/drawingml/2006/main" prst="rect">
            <a:avLst/>
          </a:prstGeom>
          <a:solidFill xmlns:a="http://schemas.openxmlformats.org/drawingml/2006/main">
            <a:srgbClr val="1763B8"/>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6789B3FC-B3DC-48E5-8447-C924AB39B64F}"/>
              </a:ext>
            </a:extLst>
          </p:cNvPr>
          <p:cNvSpPr>
            <a:spLocks xmlns:a="http://schemas.openxmlformats.org/drawingml/2006/main" noGrp="1"/>
          </p:cNvSpPr>
          <p:nvPr/>
        </p:nvSpPr>
        <p:spPr>
          <a:xfrm xmlns:a="http://schemas.openxmlformats.org/drawingml/2006/main">
            <a:off x="8267700" y="5086350"/>
            <a:ext cx="34861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4 </a:t>
            </a:r>
            <a:r>
              <a:rPr sz="1950" b="1">
                <a:solidFill>
                  <a:srgbClr val="FFFFFF"/>
                </a:solidFill>
                <a:latin typeface="Bahnschrift"/>
                <a:ea typeface="Bahnschrift"/>
                <a:cs typeface="Bahnschrift"/>
              </a:rPr>
              <a:t>类</a:t>
            </a:r>
          </a:p>
        </p:txBody>
      </p:sp>
      <p:sp>
        <p:nvSpPr>
          <p:cNvPr id="75" name="">
            <a:extLst xmlns:a="http://schemas.openxmlformats.org/drawingml/2006/main">
              <a:ext uri="{FF2B5EF4-FFF2-40B4-BE49-F238E27FC236}">
                <a16:creationId xmlns:a16="http://schemas.microsoft.com/office/drawing/2014/main" id="{F1140344-95E2-49BB-A4F2-D724A23B0681}"/>
              </a:ext>
            </a:extLst>
          </p:cNvPr>
          <p:cNvSpPr>
            <a:spLocks xmlns:a="http://schemas.openxmlformats.org/drawingml/2006/main" noGrp="1"/>
          </p:cNvSpPr>
          <p:nvPr/>
        </p:nvSpPr>
        <p:spPr>
          <a:xfrm xmlns:a="http://schemas.openxmlformats.org/drawingml/2006/main">
            <a:off x="8267700" y="5410200"/>
            <a:ext cx="3486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角色：员工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班组长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管理者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管理员</a:t>
            </a:r>
          </a:p>
        </p:txBody>
      </p:sp>
      <p:sp>
        <p:nvSpPr>
          <p:cNvPr id="76" name="">
            <a:extLst xmlns:a="http://schemas.openxmlformats.org/drawingml/2006/main">
              <a:ext uri="{FF2B5EF4-FFF2-40B4-BE49-F238E27FC236}">
                <a16:creationId xmlns:a16="http://schemas.microsoft.com/office/drawing/2014/main" id="{3D990238-E3FB-4B04-AF48-64EBCCF55941}"/>
              </a:ext>
            </a:extLst>
          </p:cNvPr>
          <p:cNvSpPr>
            <a:spLocks xmlns:a="http://schemas.openxmlformats.org/drawingml/2006/main" noGrp="1"/>
          </p:cNvSpPr>
          <p:nvPr/>
        </p:nvSpPr>
        <p:spPr>
          <a:xfrm xmlns:a="http://schemas.openxmlformats.org/drawingml/2006/main">
            <a:off x="8267700" y="5676900"/>
            <a:ext cx="3486150" cy="9525"/>
          </a:xfrm>
          <a:prstGeom xmlns:a="http://schemas.openxmlformats.org/drawingml/2006/main" prst="rect">
            <a:avLst/>
          </a:prstGeom>
          <a:solidFill xmlns:a="http://schemas.openxmlformats.org/drawingml/2006/main">
            <a:srgbClr val="1763B8"/>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9E132D22-DF4C-4851-839E-BC0BFAF74E16}"/>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4EB64E3A-455A-486B-A893-58206B52BD26}"/>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1060F6A7-1AB5-4411-9726-4DD7A21FF543}"/>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80" name="">
            <a:extLst xmlns:a="http://schemas.openxmlformats.org/drawingml/2006/main">
              <a:ext uri="{FF2B5EF4-FFF2-40B4-BE49-F238E27FC236}">
                <a16:creationId xmlns:a16="http://schemas.microsoft.com/office/drawing/2014/main" id="{AD2290A3-AD9C-4C8E-BDD8-3FCD2A2C66B3}"/>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64C7D146-5FE7-477D-AE6B-72DA171EE858}"/>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20</a:t>
            </a:r>
          </a:p>
        </p:txBody>
      </p:sp>
    </p:spTree>
    <p:extLst>
      <p:ext uri="{BB962C8B-B14F-4D97-AF65-F5344CB8AC3E}">
        <p14:creationId xmlns:p14="http://schemas.microsoft.com/office/powerpoint/2010/main" val="1010316869"/>
      </p:ext>
    </p:extLst>
  </p:cSld>
</p:sld>
</file>

<file path=ppt/slides/slide21.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e6e54f154fa412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3196D5-F4D5-4FAC-963E-8A1B4E72C0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B06BA4E5-D9A5-4F2D-BE5B-DAA1F435B76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C1687F63-02B3-4F97-B85C-A93D40CDF2EF}"/>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667E784B-6959-49A3-A709-E24B119E1F22}"/>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3F152122-2A3E-41F8-AFD1-22C5C0503A7E}"/>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461BE68A-E9FE-4CA5-870C-909C3965F72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E9BD2DD5-D843-4615-96E7-185B2A9F88D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5BBFFD9C-EE64-44A4-A8E6-7E85AF855FEC}"/>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55D37612-6304-47E8-948A-CFB470D9A5FF}"/>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94A6B05E-E507-4D70-A168-BF9050BE85D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DA40F51B-2807-4002-A083-82E9E0E3C260}"/>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1B7BDF01-7931-443D-AFE6-12C758203A92}"/>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A4BBBF32-E8BB-4A65-9C85-C3F9634F8DF7}"/>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系统界面一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员工工作台与差距建议</a:t>
            </a:r>
          </a:p>
        </p:txBody>
      </p:sp>
      <p:sp>
        <p:nvSpPr>
          <p:cNvPr id="15" name="">
            <a:extLst xmlns:a="http://schemas.openxmlformats.org/drawingml/2006/main">
              <a:ext uri="{FF2B5EF4-FFF2-40B4-BE49-F238E27FC236}">
                <a16:creationId xmlns:a16="http://schemas.microsoft.com/office/drawing/2014/main" id="{C4DF457F-1765-4579-A25C-9DDE12B5C3F1}"/>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C470BF05-E4D7-4ED7-B974-350FF726072B}"/>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03E9353D-6047-408A-982E-C00EEC7F07A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88A21DF1-388D-4980-98CA-3866AB17CB10}"/>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6685FDFB-3669-4F0E-A6D6-7B9037747529}"/>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员工登录后看到的第一屏不是课程列表，而是「我差在哪、下一步该补什么」。</a:t>
            </a:r>
          </a:p>
        </p:txBody>
      </p:sp>
      <p:sp>
        <p:nvSpPr>
          <p:cNvPr id="20" name="">
            <a:extLst xmlns:a="http://schemas.openxmlformats.org/drawingml/2006/main">
              <a:ext uri="{FF2B5EF4-FFF2-40B4-BE49-F238E27FC236}">
                <a16:creationId xmlns:a16="http://schemas.microsoft.com/office/drawing/2014/main" id="{35BA79E9-02F9-4497-B0DF-E10179BBE3C9}"/>
              </a:ext>
            </a:extLst>
          </p:cNvPr>
          <p:cNvSpPr>
            <a:spLocks xmlns:a="http://schemas.openxmlformats.org/drawingml/2006/main" noGrp="1"/>
          </p:cNvSpPr>
          <p:nvPr/>
        </p:nvSpPr>
        <p:spPr>
          <a:xfrm xmlns:a="http://schemas.openxmlformats.org/drawingml/2006/main">
            <a:off x="285750" y="1333500"/>
            <a:ext cx="666750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ab5aaa5679584926"/>
          <a:stretch xmlns:a="http://schemas.openxmlformats.org/drawingml/2006/main"/>
        </p:blipFill>
        <p:spPr>
          <a:xfrm xmlns:a="http://schemas.openxmlformats.org/drawingml/2006/main">
            <a:off x="469018" y="1390650"/>
            <a:ext cx="6300964" cy="3276600"/>
          </a:xfrm>
          <a:prstGeom xmlns:a="http://schemas.openxmlformats.org/drawingml/2006/main" prst="roundRect">
            <a:avLst>
              <a:gd name="adj" fmla="val 1744"/>
            </a:avLst>
          </a:prstGeom>
        </p:spPr>
      </p:pic>
      <p:sp>
        <p:nvSpPr>
          <p:cNvPr id="22" name="">
            <a:extLst xmlns:a="http://schemas.openxmlformats.org/drawingml/2006/main">
              <a:ext uri="{FF2B5EF4-FFF2-40B4-BE49-F238E27FC236}">
                <a16:creationId xmlns:a16="http://schemas.microsoft.com/office/drawing/2014/main" id="{0BB4AEC9-6692-43A9-A8ED-7659AF607014}"/>
              </a:ext>
            </a:extLst>
          </p:cNvPr>
          <p:cNvSpPr>
            <a:spLocks xmlns:a="http://schemas.openxmlformats.org/drawingml/2006/main" noGrp="1"/>
          </p:cNvSpPr>
          <p:nvPr/>
        </p:nvSpPr>
        <p:spPr>
          <a:xfrm xmlns:a="http://schemas.openxmlformats.org/drawingml/2006/main">
            <a:off x="285750" y="4781550"/>
            <a:ext cx="66675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7896D58E-0A7C-4631-B1CB-235C76EF8CD2}"/>
              </a:ext>
            </a:extLst>
          </p:cNvPr>
          <p:cNvSpPr>
            <a:spLocks xmlns:a="http://schemas.openxmlformats.org/drawingml/2006/main" noGrp="1"/>
          </p:cNvSpPr>
          <p:nvPr/>
        </p:nvSpPr>
        <p:spPr>
          <a:xfrm xmlns:a="http://schemas.openxmlformats.org/drawingml/2006/main">
            <a:off x="419100" y="4781550"/>
            <a:ext cx="64008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本图证明：技能雷达把「岗位要求 </a:t>
            </a:r>
            <a:r>
              <a:rPr sz="863" b="0">
                <a:solidFill>
                  <a:srgbClr val="FFD24A"/>
                </a:solidFill>
                <a:latin typeface="微软雅黑"/>
                <a:ea typeface="微软雅黑"/>
                <a:cs typeface="微软雅黑"/>
              </a:rPr>
              <a:t>L3 / </a:t>
            </a:r>
            <a:r>
              <a:rPr sz="863" b="0">
                <a:solidFill>
                  <a:srgbClr val="FFD24A"/>
                </a:solidFill>
                <a:latin typeface="微软雅黑"/>
                <a:ea typeface="微软雅黑"/>
                <a:cs typeface="微软雅黑"/>
              </a:rPr>
              <a:t>当前 </a:t>
            </a:r>
            <a:r>
              <a:rPr sz="863" b="0">
                <a:solidFill>
                  <a:srgbClr val="FFD24A"/>
                </a:solidFill>
                <a:latin typeface="微软雅黑"/>
                <a:ea typeface="微软雅黑"/>
                <a:cs typeface="微软雅黑"/>
              </a:rPr>
              <a:t>L1</a:t>
            </a:r>
            <a:r>
              <a:rPr sz="863" b="0">
                <a:solidFill>
                  <a:srgbClr val="FFD24A"/>
                </a:solidFill>
                <a:latin typeface="微软雅黑"/>
                <a:ea typeface="微软雅黑"/>
                <a:cs typeface="微软雅黑"/>
              </a:rPr>
              <a:t>」直接画在一张图上，员工一眼就能看到差距项与达标项。</a:t>
            </a:r>
          </a:p>
        </p:txBody>
      </p:sp>
      <p:sp>
        <p:nvSpPr>
          <p:cNvPr id="24" name="">
            <a:extLst xmlns:a="http://schemas.openxmlformats.org/drawingml/2006/main">
              <a:ext uri="{FF2B5EF4-FFF2-40B4-BE49-F238E27FC236}">
                <a16:creationId xmlns:a16="http://schemas.microsoft.com/office/drawing/2014/main" id="{26FB89B3-62C1-4DC7-8E0E-FAB139842513}"/>
              </a:ext>
            </a:extLst>
          </p:cNvPr>
          <p:cNvSpPr>
            <a:spLocks xmlns:a="http://schemas.openxmlformats.org/drawingml/2006/main" noGrp="1"/>
          </p:cNvSpPr>
          <p:nvPr/>
        </p:nvSpPr>
        <p:spPr>
          <a:xfrm xmlns:a="http://schemas.openxmlformats.org/drawingml/2006/main">
            <a:off x="7124700" y="1333500"/>
            <a:ext cx="478155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3c6b756a4ce48a4"/>
          <a:stretch xmlns:a="http://schemas.openxmlformats.org/drawingml/2006/main"/>
        </p:blipFill>
        <p:spPr>
          <a:xfrm xmlns:a="http://schemas.openxmlformats.org/drawingml/2006/main">
            <a:off x="7455791" y="1390650"/>
            <a:ext cx="4119367" cy="3276600"/>
          </a:xfrm>
          <a:prstGeom xmlns:a="http://schemas.openxmlformats.org/drawingml/2006/main" prst="roundRect">
            <a:avLst>
              <a:gd name="adj" fmla="val 1744"/>
            </a:avLst>
          </a:prstGeom>
        </p:spPr>
      </p:pic>
      <p:sp>
        <p:nvSpPr>
          <p:cNvPr id="26" name="">
            <a:extLst xmlns:a="http://schemas.openxmlformats.org/drawingml/2006/main">
              <a:ext uri="{FF2B5EF4-FFF2-40B4-BE49-F238E27FC236}">
                <a16:creationId xmlns:a16="http://schemas.microsoft.com/office/drawing/2014/main" id="{011F6F2D-BA96-472F-8EC7-19292CC51850}"/>
              </a:ext>
            </a:extLst>
          </p:cNvPr>
          <p:cNvSpPr>
            <a:spLocks xmlns:a="http://schemas.openxmlformats.org/drawingml/2006/main" noGrp="1"/>
          </p:cNvSpPr>
          <p:nvPr/>
        </p:nvSpPr>
        <p:spPr>
          <a:xfrm xmlns:a="http://schemas.openxmlformats.org/drawingml/2006/main">
            <a:off x="7124700" y="4781550"/>
            <a:ext cx="478155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BA50299F-96E9-4ACC-820B-ABA9456AB68F}"/>
              </a:ext>
            </a:extLst>
          </p:cNvPr>
          <p:cNvSpPr>
            <a:spLocks xmlns:a="http://schemas.openxmlformats.org/drawingml/2006/main" noGrp="1"/>
          </p:cNvSpPr>
          <p:nvPr/>
        </p:nvSpPr>
        <p:spPr>
          <a:xfrm xmlns:a="http://schemas.openxmlformats.org/drawingml/2006/main">
            <a:off x="7258050" y="4781550"/>
            <a:ext cx="45148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本图证明：差距与建议页把个人欠缺逐条列出（技能缺失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知识缺失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经验缺失），并给出对应的学习计划，而不是只给一个总分。</a:t>
            </a:r>
          </a:p>
        </p:txBody>
      </p:sp>
      <p:sp>
        <p:nvSpPr>
          <p:cNvPr id="28" name="">
            <a:extLst xmlns:a="http://schemas.openxmlformats.org/drawingml/2006/main">
              <a:ext uri="{FF2B5EF4-FFF2-40B4-BE49-F238E27FC236}">
                <a16:creationId xmlns:a16="http://schemas.microsoft.com/office/drawing/2014/main" id="{E937188F-88E6-420F-BD67-0E314715FCCF}"/>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29" name="">
            <a:extLst xmlns:a="http://schemas.openxmlformats.org/drawingml/2006/main">
              <a:ext uri="{FF2B5EF4-FFF2-40B4-BE49-F238E27FC236}">
                <a16:creationId xmlns:a16="http://schemas.microsoft.com/office/drawing/2014/main" id="{B7D252A8-959E-4382-AE46-6566D51054E5}"/>
              </a:ext>
            </a:extLst>
          </p:cNvPr>
          <p:cNvSpPr>
            <a:spLocks xmlns:a="http://schemas.openxmlformats.org/drawingml/2006/main" noGrp="1"/>
          </p:cNvSpPr>
          <p:nvPr/>
        </p:nvSpPr>
        <p:spPr>
          <a:xfrm xmlns:a="http://schemas.openxmlformats.org/drawingml/2006/main">
            <a:off x="457200" y="529590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差距来源</a:t>
            </a:r>
          </a:p>
        </p:txBody>
      </p:sp>
      <p:sp>
        <p:nvSpPr>
          <p:cNvPr id="30" name="">
            <a:extLst xmlns:a="http://schemas.openxmlformats.org/drawingml/2006/main">
              <a:ext uri="{FF2B5EF4-FFF2-40B4-BE49-F238E27FC236}">
                <a16:creationId xmlns:a16="http://schemas.microsoft.com/office/drawing/2014/main" id="{249994A8-27F6-41D7-8422-3E0604F8089B}"/>
              </a:ext>
            </a:extLst>
          </p:cNvPr>
          <p:cNvSpPr>
            <a:spLocks xmlns:a="http://schemas.openxmlformats.org/drawingml/2006/main" noGrp="1"/>
          </p:cNvSpPr>
          <p:nvPr/>
        </p:nvSpPr>
        <p:spPr>
          <a:xfrm xmlns:a="http://schemas.openxmlformats.org/drawingml/2006/main">
            <a:off x="1504950" y="529590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岗位要求、考试成绩、实操报告、工单表现、师傅评价</a:t>
            </a:r>
          </a:p>
        </p:txBody>
      </p:sp>
      <p:sp>
        <p:nvSpPr>
          <p:cNvPr id="31" name="">
            <a:extLst xmlns:a="http://schemas.openxmlformats.org/drawingml/2006/main">
              <a:ext uri="{FF2B5EF4-FFF2-40B4-BE49-F238E27FC236}">
                <a16:creationId xmlns:a16="http://schemas.microsoft.com/office/drawing/2014/main" id="{CDB16FF5-43A1-4A93-8135-D3E207893AF4}"/>
              </a:ext>
            </a:extLst>
          </p:cNvPr>
          <p:cNvSpPr>
            <a:spLocks xmlns:a="http://schemas.openxmlformats.org/drawingml/2006/main" noGrp="1"/>
          </p:cNvSpPr>
          <p:nvPr/>
        </p:nvSpPr>
        <p:spPr>
          <a:xfrm xmlns:a="http://schemas.openxmlformats.org/drawingml/2006/main">
            <a:off x="6210300" y="529590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欠缺分类</a:t>
            </a:r>
          </a:p>
        </p:txBody>
      </p:sp>
      <p:sp>
        <p:nvSpPr>
          <p:cNvPr id="32" name="">
            <a:extLst xmlns:a="http://schemas.openxmlformats.org/drawingml/2006/main">
              <a:ext uri="{FF2B5EF4-FFF2-40B4-BE49-F238E27FC236}">
                <a16:creationId xmlns:a16="http://schemas.microsoft.com/office/drawing/2014/main" id="{6EECCAFC-B75D-46E5-B8F2-02BC93B1EC30}"/>
              </a:ext>
            </a:extLst>
          </p:cNvPr>
          <p:cNvSpPr>
            <a:spLocks xmlns:a="http://schemas.openxmlformats.org/drawingml/2006/main" noGrp="1"/>
          </p:cNvSpPr>
          <p:nvPr/>
        </p:nvSpPr>
        <p:spPr>
          <a:xfrm xmlns:a="http://schemas.openxmlformats.org/drawingml/2006/main">
            <a:off x="7258050" y="529590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技能缺失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知识缺失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经验缺失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证书过期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安全短板</a:t>
            </a:r>
          </a:p>
        </p:txBody>
      </p:sp>
      <p:sp>
        <p:nvSpPr>
          <p:cNvPr id="33" name="">
            <a:extLst xmlns:a="http://schemas.openxmlformats.org/drawingml/2006/main">
              <a:ext uri="{FF2B5EF4-FFF2-40B4-BE49-F238E27FC236}">
                <a16:creationId xmlns:a16="http://schemas.microsoft.com/office/drawing/2014/main" id="{DCA0B0B6-824B-4138-9F74-FBBB6609DDFC}"/>
              </a:ext>
            </a:extLst>
          </p:cNvPr>
          <p:cNvSpPr>
            <a:spLocks xmlns:a="http://schemas.openxmlformats.org/drawingml/2006/main" noGrp="1"/>
          </p:cNvSpPr>
          <p:nvPr/>
        </p:nvSpPr>
        <p:spPr>
          <a:xfrm xmlns:a="http://schemas.openxmlformats.org/drawingml/2006/main">
            <a:off x="457200" y="581025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欠缺原因</a:t>
            </a:r>
          </a:p>
        </p:txBody>
      </p:sp>
      <p:sp>
        <p:nvSpPr>
          <p:cNvPr id="34" name="">
            <a:extLst xmlns:a="http://schemas.openxmlformats.org/drawingml/2006/main">
              <a:ext uri="{FF2B5EF4-FFF2-40B4-BE49-F238E27FC236}">
                <a16:creationId xmlns:a16="http://schemas.microsoft.com/office/drawing/2014/main" id="{7FBAAC01-4C7C-4F75-96C9-4088A57408E0}"/>
              </a:ext>
            </a:extLst>
          </p:cNvPr>
          <p:cNvSpPr>
            <a:spLocks xmlns:a="http://schemas.openxmlformats.org/drawingml/2006/main" noGrp="1"/>
          </p:cNvSpPr>
          <p:nvPr/>
        </p:nvSpPr>
        <p:spPr>
          <a:xfrm xmlns:a="http://schemas.openxmlformats.org/drawingml/2006/main">
            <a:off x="1504950" y="581025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如「继保考试 </a:t>
            </a:r>
            <a:r>
              <a:rPr sz="900" b="0">
                <a:solidFill>
                  <a:srgbClr val="EEF5FF"/>
                </a:solidFill>
                <a:latin typeface="微软雅黑"/>
                <a:ea typeface="微软雅黑"/>
                <a:cs typeface="微软雅黑"/>
              </a:rPr>
              <a:t>62 </a:t>
            </a:r>
            <a:r>
              <a:rPr sz="900" b="0">
                <a:solidFill>
                  <a:srgbClr val="EEF5FF"/>
                </a:solidFill>
                <a:latin typeface="微软雅黑"/>
                <a:ea typeface="微软雅黑"/>
                <a:cs typeface="微软雅黑"/>
              </a:rPr>
              <a:t>分」「实操报告写误读软压板」「未按 </a:t>
            </a:r>
            <a:r>
              <a:rPr sz="900" b="0">
                <a:solidFill>
                  <a:srgbClr val="EEF5FF"/>
                </a:solidFill>
                <a:latin typeface="微软雅黑"/>
                <a:ea typeface="微软雅黑"/>
                <a:cs typeface="微软雅黑"/>
              </a:rPr>
              <a:t>SOP </a:t>
            </a:r>
            <a:r>
              <a:rPr sz="900" b="0">
                <a:solidFill>
                  <a:srgbClr val="EEF5FF"/>
                </a:solidFill>
                <a:latin typeface="微软雅黑"/>
                <a:ea typeface="微软雅黑"/>
                <a:cs typeface="微软雅黑"/>
              </a:rPr>
              <a:t>准备」</a:t>
            </a:r>
          </a:p>
        </p:txBody>
      </p:sp>
      <p:sp>
        <p:nvSpPr>
          <p:cNvPr id="35" name="">
            <a:extLst xmlns:a="http://schemas.openxmlformats.org/drawingml/2006/main">
              <a:ext uri="{FF2B5EF4-FFF2-40B4-BE49-F238E27FC236}">
                <a16:creationId xmlns:a16="http://schemas.microsoft.com/office/drawing/2014/main" id="{4065602E-661E-4DA3-A47C-9506E2D9A52B}"/>
              </a:ext>
            </a:extLst>
          </p:cNvPr>
          <p:cNvSpPr>
            <a:spLocks xmlns:a="http://schemas.openxmlformats.org/drawingml/2006/main" noGrp="1"/>
          </p:cNvSpPr>
          <p:nvPr/>
        </p:nvSpPr>
        <p:spPr>
          <a:xfrm xmlns:a="http://schemas.openxmlformats.org/drawingml/2006/main">
            <a:off x="6210300" y="5810250"/>
            <a:ext cx="1047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输出</a:t>
            </a:r>
          </a:p>
        </p:txBody>
      </p:sp>
      <p:sp>
        <p:nvSpPr>
          <p:cNvPr id="36" name="">
            <a:extLst xmlns:a="http://schemas.openxmlformats.org/drawingml/2006/main">
              <a:ext uri="{FF2B5EF4-FFF2-40B4-BE49-F238E27FC236}">
                <a16:creationId xmlns:a16="http://schemas.microsoft.com/office/drawing/2014/main" id="{365D87E2-84F4-4B53-A9D6-092330418953}"/>
              </a:ext>
            </a:extLst>
          </p:cNvPr>
          <p:cNvSpPr>
            <a:spLocks xmlns:a="http://schemas.openxmlformats.org/drawingml/2006/main" noGrp="1"/>
          </p:cNvSpPr>
          <p:nvPr/>
        </p:nvSpPr>
        <p:spPr>
          <a:xfrm xmlns:a="http://schemas.openxmlformats.org/drawingml/2006/main">
            <a:off x="7258050" y="5810250"/>
            <a:ext cx="45720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学习计划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推荐课程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带教安排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模拟考（由规则引擎生成，带 </a:t>
            </a:r>
            <a:r>
              <a:rPr sz="900" b="0">
                <a:solidFill>
                  <a:srgbClr val="EEF5FF"/>
                </a:solidFill>
                <a:latin typeface="微软雅黑"/>
                <a:ea typeface="微软雅黑"/>
                <a:cs typeface="微软雅黑"/>
              </a:rPr>
              <a:t>rule_code</a:t>
            </a:r>
            <a:r>
              <a:rPr sz="900" b="0">
                <a:solidFill>
                  <a:srgbClr val="EEF5FF"/>
                </a:solidFill>
                <a:latin typeface="微软雅黑"/>
                <a:ea typeface="微软雅黑"/>
                <a:cs typeface="微软雅黑"/>
              </a:rPr>
              <a:t>）</a:t>
            </a:r>
          </a:p>
        </p:txBody>
      </p:sp>
      <p:sp>
        <p:nvSpPr>
          <p:cNvPr id="37" name="">
            <a:extLst xmlns:a="http://schemas.openxmlformats.org/drawingml/2006/main">
              <a:ext uri="{FF2B5EF4-FFF2-40B4-BE49-F238E27FC236}">
                <a16:creationId xmlns:a16="http://schemas.microsoft.com/office/drawing/2014/main" id="{093ED3AC-FA4E-4348-BFDD-EC157ADA6D9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BA5DBF0C-C539-40F3-AAF0-717806F4C93C}"/>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8DECF671-C955-4DFF-9983-ED3D5EFC18B9}"/>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0" name="">
            <a:extLst xmlns:a="http://schemas.openxmlformats.org/drawingml/2006/main">
              <a:ext uri="{FF2B5EF4-FFF2-40B4-BE49-F238E27FC236}">
                <a16:creationId xmlns:a16="http://schemas.microsoft.com/office/drawing/2014/main" id="{8FBFD62E-5BFE-4785-AE2E-9E5D482EF641}"/>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2AB6B345-9767-440B-BCA7-9CB13A5F916B}"/>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21</a:t>
            </a:r>
          </a:p>
        </p:txBody>
      </p:sp>
    </p:spTree>
    <p:extLst>
      <p:ext uri="{BB962C8B-B14F-4D97-AF65-F5344CB8AC3E}">
        <p14:creationId xmlns:p14="http://schemas.microsoft.com/office/powerpoint/2010/main" val="986421416"/>
      </p:ext>
    </p:extLst>
  </p:cSld>
</p:sld>
</file>

<file path=ppt/slides/slide22.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e7ac25456da0456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22A1675-B6D1-45E3-9E56-87BE7288BC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3F2B68E5-C77A-4B31-ADE5-10288A085F98}"/>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B2A597E9-EDB9-47F8-9DCA-17270F2AE253}"/>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315A9C7-9B09-47FA-8ADF-85CA92887C7E}"/>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2505786D-D279-4F1D-9C98-B229647724AC}"/>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6A825AED-E849-41CE-9699-99C526CE27C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EBB2F880-90B2-4E67-B001-CC37C28C8E1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7B0FD45F-0CB2-4A37-A9AD-C8EAC0DDD98F}"/>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1BD00A4D-4BD2-4992-9C17-168B9D47C1F5}"/>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A83BA1D1-4940-4D60-BF96-CA63B28B437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A37EB873-5EEF-4329-821C-24997C1F2CAA}"/>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744C99E3-5C90-45E7-81E9-EB8FB26400FA}"/>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146E4292-6791-4C31-B55F-67C54EAE237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系统界面二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组卷考试与个性化学习计划</a:t>
            </a:r>
          </a:p>
        </p:txBody>
      </p:sp>
      <p:sp>
        <p:nvSpPr>
          <p:cNvPr id="15" name="">
            <a:extLst xmlns:a="http://schemas.openxmlformats.org/drawingml/2006/main">
              <a:ext uri="{FF2B5EF4-FFF2-40B4-BE49-F238E27FC236}">
                <a16:creationId xmlns:a16="http://schemas.microsoft.com/office/drawing/2014/main" id="{E9AD9124-0321-4E4A-8B1E-CB7E69B60B82}"/>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79B307F-21FD-4632-A8DF-DE7C9F6E4000}"/>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F94C4BE4-C90E-484B-AE3A-A5B02D20E42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C63A1666-2F16-458A-A93D-7A84DDE2F00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68A58CD-57F1-4E44-B8F9-3D76E1EA9BAE}"/>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同一套能力数据，既驱动「我的考试」入口，也驱动 </a:t>
            </a:r>
            <a:r>
              <a:rPr sz="1238">
                <a:solidFill>
                  <a:srgbClr val="FFFFFF"/>
                </a:solidFill>
                <a:latin typeface="微软雅黑"/>
                <a:ea typeface="微软雅黑"/>
                <a:cs typeface="微软雅黑"/>
              </a:rPr>
              <a:t>Agent </a:t>
            </a:r>
            <a:r>
              <a:rPr sz="1238">
                <a:solidFill>
                  <a:srgbClr val="FFFFFF"/>
                </a:solidFill>
                <a:latin typeface="微软雅黑"/>
                <a:ea typeface="微软雅黑"/>
                <a:cs typeface="微软雅黑"/>
              </a:rPr>
              <a:t>生成的学习计划。</a:t>
            </a:r>
          </a:p>
        </p:txBody>
      </p:sp>
      <p:sp>
        <p:nvSpPr>
          <p:cNvPr id="20" name="">
            <a:extLst xmlns:a="http://schemas.openxmlformats.org/drawingml/2006/main">
              <a:ext uri="{FF2B5EF4-FFF2-40B4-BE49-F238E27FC236}">
                <a16:creationId xmlns:a16="http://schemas.microsoft.com/office/drawing/2014/main" id="{D1C5E6F0-9BAD-4C12-8C32-F5F669E6505B}"/>
              </a:ext>
            </a:extLst>
          </p:cNvPr>
          <p:cNvSpPr>
            <a:spLocks xmlns:a="http://schemas.openxmlformats.org/drawingml/2006/main" noGrp="1"/>
          </p:cNvSpPr>
          <p:nvPr/>
        </p:nvSpPr>
        <p:spPr>
          <a:xfrm xmlns:a="http://schemas.openxmlformats.org/drawingml/2006/main">
            <a:off x="285750" y="1333500"/>
            <a:ext cx="533400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a608b4cdc2a642f6"/>
          <a:stretch xmlns:a="http://schemas.openxmlformats.org/drawingml/2006/main"/>
        </p:blipFill>
        <p:spPr>
          <a:xfrm xmlns:a="http://schemas.openxmlformats.org/drawingml/2006/main">
            <a:off x="516610" y="1390650"/>
            <a:ext cx="4872280" cy="3276600"/>
          </a:xfrm>
          <a:prstGeom xmlns:a="http://schemas.openxmlformats.org/drawingml/2006/main" prst="roundRect">
            <a:avLst>
              <a:gd name="adj" fmla="val 1744"/>
            </a:avLst>
          </a:prstGeom>
        </p:spPr>
      </p:pic>
      <p:sp>
        <p:nvSpPr>
          <p:cNvPr id="22" name="">
            <a:extLst xmlns:a="http://schemas.openxmlformats.org/drawingml/2006/main">
              <a:ext uri="{FF2B5EF4-FFF2-40B4-BE49-F238E27FC236}">
                <a16:creationId xmlns:a16="http://schemas.microsoft.com/office/drawing/2014/main" id="{A743813C-4244-48FB-9C83-CC0AF0442949}"/>
              </a:ext>
            </a:extLst>
          </p:cNvPr>
          <p:cNvSpPr>
            <a:spLocks xmlns:a="http://schemas.openxmlformats.org/drawingml/2006/main" noGrp="1"/>
          </p:cNvSpPr>
          <p:nvPr/>
        </p:nvSpPr>
        <p:spPr>
          <a:xfrm xmlns:a="http://schemas.openxmlformats.org/drawingml/2006/main">
            <a:off x="285750" y="4781550"/>
            <a:ext cx="5334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6D61DDFA-1AB5-4515-8659-B8299EA1BBA6}"/>
              </a:ext>
            </a:extLst>
          </p:cNvPr>
          <p:cNvSpPr>
            <a:spLocks xmlns:a="http://schemas.openxmlformats.org/drawingml/2006/main" noGrp="1"/>
          </p:cNvSpPr>
          <p:nvPr/>
        </p:nvSpPr>
        <p:spPr>
          <a:xfrm xmlns:a="http://schemas.openxmlformats.org/drawingml/2006/main">
            <a:off x="419100" y="4781550"/>
            <a:ext cx="5067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本图证明：我的考试页把待考、历史成绩、错题与补考收在一个入口，考试成绩通过后自动回流技能等级。</a:t>
            </a:r>
          </a:p>
        </p:txBody>
      </p:sp>
      <p:sp>
        <p:nvSpPr>
          <p:cNvPr id="24" name="">
            <a:extLst xmlns:a="http://schemas.openxmlformats.org/drawingml/2006/main">
              <a:ext uri="{FF2B5EF4-FFF2-40B4-BE49-F238E27FC236}">
                <a16:creationId xmlns:a16="http://schemas.microsoft.com/office/drawing/2014/main" id="{96902A02-0EB5-41E8-A892-16E5E532F42D}"/>
              </a:ext>
            </a:extLst>
          </p:cNvPr>
          <p:cNvSpPr>
            <a:spLocks xmlns:a="http://schemas.openxmlformats.org/drawingml/2006/main" noGrp="1"/>
          </p:cNvSpPr>
          <p:nvPr/>
        </p:nvSpPr>
        <p:spPr>
          <a:xfrm xmlns:a="http://schemas.openxmlformats.org/drawingml/2006/main">
            <a:off x="5810250" y="1333500"/>
            <a:ext cx="609600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b3cc6dd5530466f"/>
          <a:stretch xmlns:a="http://schemas.openxmlformats.org/drawingml/2006/main"/>
        </p:blipFill>
        <p:spPr>
          <a:xfrm xmlns:a="http://schemas.openxmlformats.org/drawingml/2006/main">
            <a:off x="6037427" y="1390650"/>
            <a:ext cx="5641646" cy="3276600"/>
          </a:xfrm>
          <a:prstGeom xmlns:a="http://schemas.openxmlformats.org/drawingml/2006/main" prst="roundRect">
            <a:avLst>
              <a:gd name="adj" fmla="val 1744"/>
            </a:avLst>
          </a:prstGeom>
        </p:spPr>
      </p:pic>
      <p:sp>
        <p:nvSpPr>
          <p:cNvPr id="26" name="">
            <a:extLst xmlns:a="http://schemas.openxmlformats.org/drawingml/2006/main">
              <a:ext uri="{FF2B5EF4-FFF2-40B4-BE49-F238E27FC236}">
                <a16:creationId xmlns:a16="http://schemas.microsoft.com/office/drawing/2014/main" id="{868CDE4B-9CF1-46C3-AD96-2145339B235F}"/>
              </a:ext>
            </a:extLst>
          </p:cNvPr>
          <p:cNvSpPr>
            <a:spLocks xmlns:a="http://schemas.openxmlformats.org/drawingml/2006/main" noGrp="1"/>
          </p:cNvSpPr>
          <p:nvPr/>
        </p:nvSpPr>
        <p:spPr>
          <a:xfrm xmlns:a="http://schemas.openxmlformats.org/drawingml/2006/main">
            <a:off x="5810250" y="4781550"/>
            <a:ext cx="6096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9F6CBA67-46C6-48BB-B482-4DEED8D16446}"/>
              </a:ext>
            </a:extLst>
          </p:cNvPr>
          <p:cNvSpPr>
            <a:spLocks xmlns:a="http://schemas.openxmlformats.org/drawingml/2006/main" noGrp="1"/>
          </p:cNvSpPr>
          <p:nvPr/>
        </p:nvSpPr>
        <p:spPr>
          <a:xfrm xmlns:a="http://schemas.openxmlformats.org/drawingml/2006/main">
            <a:off x="5943600" y="4781550"/>
            <a:ext cx="5829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本图证明：个性化 </a:t>
            </a:r>
            <a:r>
              <a:rPr sz="863" b="0">
                <a:solidFill>
                  <a:srgbClr val="FFD24A"/>
                </a:solidFill>
                <a:latin typeface="微软雅黑"/>
                <a:ea typeface="微软雅黑"/>
                <a:cs typeface="微软雅黑"/>
              </a:rPr>
              <a:t>Agent </a:t>
            </a:r>
            <a:r>
              <a:rPr sz="863" b="0">
                <a:solidFill>
                  <a:srgbClr val="FFD24A"/>
                </a:solidFill>
                <a:latin typeface="微软雅黑"/>
                <a:ea typeface="微软雅黑"/>
                <a:cs typeface="微软雅黑"/>
              </a:rPr>
              <a:t>计划把「推荐课程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带教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模拟考」写成可执行条目，每条都能回溯到命中的规则与依据数据点。</a:t>
            </a:r>
          </a:p>
        </p:txBody>
      </p:sp>
      <p:sp>
        <p:nvSpPr>
          <p:cNvPr id="28" name="">
            <a:extLst xmlns:a="http://schemas.openxmlformats.org/drawingml/2006/main">
              <a:ext uri="{FF2B5EF4-FFF2-40B4-BE49-F238E27FC236}">
                <a16:creationId xmlns:a16="http://schemas.microsoft.com/office/drawing/2014/main" id="{A7B32BEB-86A5-4A58-96CD-1E55AFE2D61A}"/>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29" name="">
            <a:extLst xmlns:a="http://schemas.openxmlformats.org/drawingml/2006/main">
              <a:ext uri="{FF2B5EF4-FFF2-40B4-BE49-F238E27FC236}">
                <a16:creationId xmlns:a16="http://schemas.microsoft.com/office/drawing/2014/main" id="{0EE4D4FB-1AAB-4BDB-817B-628CC0EFEBC7}"/>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组卷考试能力（管理员配置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员工答题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成绩回流）</a:t>
            </a:r>
          </a:p>
        </p:txBody>
      </p:sp>
      <p:sp>
        <p:nvSpPr>
          <p:cNvPr id="30" name="">
            <a:extLst xmlns:a="http://schemas.openxmlformats.org/drawingml/2006/main">
              <a:ext uri="{FF2B5EF4-FFF2-40B4-BE49-F238E27FC236}">
                <a16:creationId xmlns:a16="http://schemas.microsoft.com/office/drawing/2014/main" id="{9B7BC962-B2AB-4F2E-9F60-DD32A1D9D1E3}"/>
              </a:ext>
            </a:extLst>
          </p:cNvPr>
          <p:cNvSpPr>
            <a:spLocks xmlns:a="http://schemas.openxmlformats.org/drawingml/2006/main" noGrp="1"/>
          </p:cNvSpPr>
          <p:nvPr/>
        </p:nvSpPr>
        <p:spPr>
          <a:xfrm xmlns:a="http://schemas.openxmlformats.org/drawingml/2006/main">
            <a:off x="457200" y="5581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组卷</a:t>
            </a:r>
          </a:p>
        </p:txBody>
      </p:sp>
      <p:sp>
        <p:nvSpPr>
          <p:cNvPr id="31" name="">
            <a:extLst xmlns:a="http://schemas.openxmlformats.org/drawingml/2006/main">
              <a:ext uri="{FF2B5EF4-FFF2-40B4-BE49-F238E27FC236}">
                <a16:creationId xmlns:a16="http://schemas.microsoft.com/office/drawing/2014/main" id="{0E089D2D-670E-4366-AF2B-51784CC17C95}"/>
              </a:ext>
            </a:extLst>
          </p:cNvPr>
          <p:cNvSpPr>
            <a:spLocks xmlns:a="http://schemas.openxmlformats.org/drawingml/2006/main" noGrp="1"/>
          </p:cNvSpPr>
          <p:nvPr/>
        </p:nvSpPr>
        <p:spPr>
          <a:xfrm xmlns:a="http://schemas.openxmlformats.org/drawingml/2006/main">
            <a:off x="1123950" y="5581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按岗位、技能、等级抽题；题量与技能配比由算法三动态分配</a:t>
            </a:r>
          </a:p>
        </p:txBody>
      </p:sp>
      <p:sp>
        <p:nvSpPr>
          <p:cNvPr id="32" name="">
            <a:extLst xmlns:a="http://schemas.openxmlformats.org/drawingml/2006/main">
              <a:ext uri="{FF2B5EF4-FFF2-40B4-BE49-F238E27FC236}">
                <a16:creationId xmlns:a16="http://schemas.microsoft.com/office/drawing/2014/main" id="{00200926-34BD-445D-AB4D-D9697F304C44}"/>
              </a:ext>
            </a:extLst>
          </p:cNvPr>
          <p:cNvSpPr>
            <a:spLocks xmlns:a="http://schemas.openxmlformats.org/drawingml/2006/main" noGrp="1"/>
          </p:cNvSpPr>
          <p:nvPr/>
        </p:nvSpPr>
        <p:spPr>
          <a:xfrm xmlns:a="http://schemas.openxmlformats.org/drawingml/2006/main">
            <a:off x="4305300" y="5581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开考门禁</a:t>
            </a:r>
          </a:p>
        </p:txBody>
      </p:sp>
      <p:sp>
        <p:nvSpPr>
          <p:cNvPr id="33" name="">
            <a:extLst xmlns:a="http://schemas.openxmlformats.org/drawingml/2006/main">
              <a:ext uri="{FF2B5EF4-FFF2-40B4-BE49-F238E27FC236}">
                <a16:creationId xmlns:a16="http://schemas.microsoft.com/office/drawing/2014/main" id="{5488CB78-B1B8-4352-9DC5-289D6F44C7B3}"/>
              </a:ext>
            </a:extLst>
          </p:cNvPr>
          <p:cNvSpPr>
            <a:spLocks xmlns:a="http://schemas.openxmlformats.org/drawingml/2006/main" noGrp="1"/>
          </p:cNvSpPr>
          <p:nvPr/>
        </p:nvSpPr>
        <p:spPr>
          <a:xfrm xmlns:a="http://schemas.openxmlformats.org/drawingml/2006/main">
            <a:off x="4972050" y="5581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管理员未开考时，前端按钮不可点击，接口侧直接拒绝发卷</a:t>
            </a:r>
          </a:p>
        </p:txBody>
      </p:sp>
      <p:sp>
        <p:nvSpPr>
          <p:cNvPr id="34" name="">
            <a:extLst xmlns:a="http://schemas.openxmlformats.org/drawingml/2006/main">
              <a:ext uri="{FF2B5EF4-FFF2-40B4-BE49-F238E27FC236}">
                <a16:creationId xmlns:a16="http://schemas.microsoft.com/office/drawing/2014/main" id="{C07B9A52-4951-46E8-8EC1-9093C3FEC508}"/>
              </a:ext>
            </a:extLst>
          </p:cNvPr>
          <p:cNvSpPr>
            <a:spLocks xmlns:a="http://schemas.openxmlformats.org/drawingml/2006/main" noGrp="1"/>
          </p:cNvSpPr>
          <p:nvPr/>
        </p:nvSpPr>
        <p:spPr>
          <a:xfrm xmlns:a="http://schemas.openxmlformats.org/drawingml/2006/main">
            <a:off x="8153400" y="5581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判卷</a:t>
            </a:r>
          </a:p>
        </p:txBody>
      </p:sp>
      <p:sp>
        <p:nvSpPr>
          <p:cNvPr id="35" name="">
            <a:extLst xmlns:a="http://schemas.openxmlformats.org/drawingml/2006/main">
              <a:ext uri="{FF2B5EF4-FFF2-40B4-BE49-F238E27FC236}">
                <a16:creationId xmlns:a16="http://schemas.microsoft.com/office/drawing/2014/main" id="{59E82E1F-0488-4E17-A220-4BAF77503F4F}"/>
              </a:ext>
            </a:extLst>
          </p:cNvPr>
          <p:cNvSpPr>
            <a:spLocks xmlns:a="http://schemas.openxmlformats.org/drawingml/2006/main" noGrp="1"/>
          </p:cNvSpPr>
          <p:nvPr/>
        </p:nvSpPr>
        <p:spPr>
          <a:xfrm xmlns:a="http://schemas.openxmlformats.org/drawingml/2006/main">
            <a:off x="8820150" y="5581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客观题自动判分，主观题与实操由班组长评；错题归因到知识点与技能</a:t>
            </a:r>
          </a:p>
        </p:txBody>
      </p:sp>
      <p:sp>
        <p:nvSpPr>
          <p:cNvPr id="36" name="">
            <a:extLst xmlns:a="http://schemas.openxmlformats.org/drawingml/2006/main">
              <a:ext uri="{FF2B5EF4-FFF2-40B4-BE49-F238E27FC236}">
                <a16:creationId xmlns:a16="http://schemas.microsoft.com/office/drawing/2014/main" id="{9390D182-5722-4327-8701-6FFC39E27076}"/>
              </a:ext>
            </a:extLst>
          </p:cNvPr>
          <p:cNvSpPr>
            <a:spLocks xmlns:a="http://schemas.openxmlformats.org/drawingml/2006/main" noGrp="1"/>
          </p:cNvSpPr>
          <p:nvPr/>
        </p:nvSpPr>
        <p:spPr>
          <a:xfrm xmlns:a="http://schemas.openxmlformats.org/drawingml/2006/main">
            <a:off x="457200" y="5962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防作弊</a:t>
            </a:r>
          </a:p>
        </p:txBody>
      </p:sp>
      <p:sp>
        <p:nvSpPr>
          <p:cNvPr id="37" name="">
            <a:extLst xmlns:a="http://schemas.openxmlformats.org/drawingml/2006/main">
              <a:ext uri="{FF2B5EF4-FFF2-40B4-BE49-F238E27FC236}">
                <a16:creationId xmlns:a16="http://schemas.microsoft.com/office/drawing/2014/main" id="{269BE84B-05D8-4A10-BEFC-B2F0D9FB03FC}"/>
              </a:ext>
            </a:extLst>
          </p:cNvPr>
          <p:cNvSpPr>
            <a:spLocks xmlns:a="http://schemas.openxmlformats.org/drawingml/2006/main" noGrp="1"/>
          </p:cNvSpPr>
          <p:nvPr/>
        </p:nvSpPr>
        <p:spPr>
          <a:xfrm xmlns:a="http://schemas.openxmlformats.org/drawingml/2006/main">
            <a:off x="1123950" y="5962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人脸识别、切屏检测、随机题、限时、操作日志与异常报警</a:t>
            </a:r>
          </a:p>
        </p:txBody>
      </p:sp>
      <p:sp>
        <p:nvSpPr>
          <p:cNvPr id="38" name="">
            <a:extLst xmlns:a="http://schemas.openxmlformats.org/drawingml/2006/main">
              <a:ext uri="{FF2B5EF4-FFF2-40B4-BE49-F238E27FC236}">
                <a16:creationId xmlns:a16="http://schemas.microsoft.com/office/drawing/2014/main" id="{70A6CACC-5CA9-4E36-947E-3E5A7E315D0C}"/>
              </a:ext>
            </a:extLst>
          </p:cNvPr>
          <p:cNvSpPr>
            <a:spLocks xmlns:a="http://schemas.openxmlformats.org/drawingml/2006/main" noGrp="1"/>
          </p:cNvSpPr>
          <p:nvPr/>
        </p:nvSpPr>
        <p:spPr>
          <a:xfrm xmlns:a="http://schemas.openxmlformats.org/drawingml/2006/main">
            <a:off x="4305300" y="5962650"/>
            <a:ext cx="666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回流</a:t>
            </a:r>
          </a:p>
        </p:txBody>
      </p:sp>
      <p:sp>
        <p:nvSpPr>
          <p:cNvPr id="39" name="">
            <a:extLst xmlns:a="http://schemas.openxmlformats.org/drawingml/2006/main">
              <a:ext uri="{FF2B5EF4-FFF2-40B4-BE49-F238E27FC236}">
                <a16:creationId xmlns:a16="http://schemas.microsoft.com/office/drawing/2014/main" id="{ECAFDEC1-E5C3-4A68-A99E-79FFA55C539D}"/>
              </a:ext>
            </a:extLst>
          </p:cNvPr>
          <p:cNvSpPr>
            <a:spLocks xmlns:a="http://schemas.openxmlformats.org/drawingml/2006/main" noGrp="1"/>
          </p:cNvSpPr>
          <p:nvPr/>
        </p:nvSpPr>
        <p:spPr>
          <a:xfrm xmlns:a="http://schemas.openxmlformats.org/drawingml/2006/main">
            <a:off x="4972050" y="5962650"/>
            <a:ext cx="3048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成绩通过后更新技能等级、个人欠缺、管理看板与证书</a:t>
            </a:r>
          </a:p>
        </p:txBody>
      </p:sp>
      <p:sp>
        <p:nvSpPr>
          <p:cNvPr id="40" name="">
            <a:extLst xmlns:a="http://schemas.openxmlformats.org/drawingml/2006/main">
              <a:ext uri="{FF2B5EF4-FFF2-40B4-BE49-F238E27FC236}">
                <a16:creationId xmlns:a16="http://schemas.microsoft.com/office/drawing/2014/main" id="{FB0EF646-3F60-48C4-9188-99CBDE1C798D}"/>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D9A50F28-EF30-47F2-81B4-B1981CD9DBBD}"/>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899FF69B-3A82-4560-99E3-983D5B7A4E2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3" name="">
            <a:extLst xmlns:a="http://schemas.openxmlformats.org/drawingml/2006/main">
              <a:ext uri="{FF2B5EF4-FFF2-40B4-BE49-F238E27FC236}">
                <a16:creationId xmlns:a16="http://schemas.microsoft.com/office/drawing/2014/main" id="{0BD2E6D5-4079-46E2-BCE7-EEA2DCD5038C}"/>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FDF742DD-A904-4973-A3A6-6F6740396945}"/>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22</a:t>
            </a:r>
          </a:p>
        </p:txBody>
      </p:sp>
    </p:spTree>
    <p:extLst>
      <p:ext uri="{BB962C8B-B14F-4D97-AF65-F5344CB8AC3E}">
        <p14:creationId xmlns:p14="http://schemas.microsoft.com/office/powerpoint/2010/main" val="68051461"/>
      </p:ext>
    </p:extLst>
  </p:cSld>
</p:sld>
</file>

<file path=ppt/slides/slide2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4034a2aee527441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12812E-F49C-4929-BFFC-C3CE201292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4656A00B-E153-446C-992B-618DC83E0E9F}"/>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9301957C-9617-4265-9053-EC1F4AF31DD8}"/>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2A03AA15-14E9-4F4D-B79D-43AA5F94DE0D}"/>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485876B-E046-4D49-8A24-16864E69BDC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989D5AFD-7399-4942-A9D4-5F12AA0CD248}"/>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CE9B4659-11F0-4D0F-AE81-C17861ED9715}"/>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C1B567A5-A30C-4FA5-B622-9D2FD15EEE9D}"/>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74266171-476A-4EA9-9E0F-477CD49F4A35}"/>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02D0A496-62EF-45AC-977D-7440A87EA2B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FE8187C-2111-4700-A58F-47F7D510A59D}"/>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60020B8-730C-4A35-A6D3-88A2C6106D26}"/>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408BBB17-9B2C-46F7-A3AB-B545C43D9159}"/>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系统界面三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班组长端：实操报告与归因确认</a:t>
            </a:r>
          </a:p>
        </p:txBody>
      </p:sp>
      <p:sp>
        <p:nvSpPr>
          <p:cNvPr id="15" name="">
            <a:extLst xmlns:a="http://schemas.openxmlformats.org/drawingml/2006/main">
              <a:ext uri="{FF2B5EF4-FFF2-40B4-BE49-F238E27FC236}">
                <a16:creationId xmlns:a16="http://schemas.microsoft.com/office/drawing/2014/main" id="{511162DC-307A-4174-896C-232E949160AD}"/>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A0676DE4-89EA-4CA3-B52A-70BDDACD499D}"/>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3629101B-5BB2-4225-A09D-7AA9D5B752E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A9743C1D-2912-4FE1-943E-F12D241AE5AC}"/>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8F825540-3692-42DF-A550-C1C7A2833BB9}"/>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班组长不只看到「谁交了报告」，而是看到「这份报告该判成技能原因还是人为原因」。</a:t>
            </a:r>
          </a:p>
        </p:txBody>
      </p:sp>
      <p:sp>
        <p:nvSpPr>
          <p:cNvPr id="20" name="">
            <a:extLst xmlns:a="http://schemas.openxmlformats.org/drawingml/2006/main">
              <a:ext uri="{FF2B5EF4-FFF2-40B4-BE49-F238E27FC236}">
                <a16:creationId xmlns:a16="http://schemas.microsoft.com/office/drawing/2014/main" id="{28D3BB4E-D30D-40E2-A8CA-7C24DF9487C5}"/>
              </a:ext>
            </a:extLst>
          </p:cNvPr>
          <p:cNvSpPr>
            <a:spLocks xmlns:a="http://schemas.openxmlformats.org/drawingml/2006/main" noGrp="1"/>
          </p:cNvSpPr>
          <p:nvPr/>
        </p:nvSpPr>
        <p:spPr>
          <a:xfrm xmlns:a="http://schemas.openxmlformats.org/drawingml/2006/main">
            <a:off x="285750" y="1333500"/>
            <a:ext cx="447675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f5142df654294bbf"/>
          <a:stretch xmlns:a="http://schemas.openxmlformats.org/drawingml/2006/main"/>
        </p:blipFill>
        <p:spPr>
          <a:xfrm xmlns:a="http://schemas.openxmlformats.org/drawingml/2006/main">
            <a:off x="408465" y="1390650"/>
            <a:ext cx="4231320" cy="3276600"/>
          </a:xfrm>
          <a:prstGeom xmlns:a="http://schemas.openxmlformats.org/drawingml/2006/main" prst="roundRect">
            <a:avLst>
              <a:gd name="adj" fmla="val 1744"/>
            </a:avLst>
          </a:prstGeom>
        </p:spPr>
      </p:pic>
      <p:sp>
        <p:nvSpPr>
          <p:cNvPr id="22" name="">
            <a:extLst xmlns:a="http://schemas.openxmlformats.org/drawingml/2006/main">
              <a:ext uri="{FF2B5EF4-FFF2-40B4-BE49-F238E27FC236}">
                <a16:creationId xmlns:a16="http://schemas.microsoft.com/office/drawing/2014/main" id="{8CECE390-0958-489C-8006-A6F59C01E6D2}"/>
              </a:ext>
            </a:extLst>
          </p:cNvPr>
          <p:cNvSpPr>
            <a:spLocks xmlns:a="http://schemas.openxmlformats.org/drawingml/2006/main" noGrp="1"/>
          </p:cNvSpPr>
          <p:nvPr/>
        </p:nvSpPr>
        <p:spPr>
          <a:xfrm xmlns:a="http://schemas.openxmlformats.org/drawingml/2006/main">
            <a:off x="285750" y="4781550"/>
            <a:ext cx="447675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59FE2A0A-8EB9-47AF-8E6B-6D67D3174B9D}"/>
              </a:ext>
            </a:extLst>
          </p:cNvPr>
          <p:cNvSpPr>
            <a:spLocks xmlns:a="http://schemas.openxmlformats.org/drawingml/2006/main" noGrp="1"/>
          </p:cNvSpPr>
          <p:nvPr/>
        </p:nvSpPr>
        <p:spPr>
          <a:xfrm xmlns:a="http://schemas.openxmlformats.org/drawingml/2006/main">
            <a:off x="419100" y="4781550"/>
            <a:ext cx="421005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本图证明：班组报告页汇总本班组任务量、完成率、超时率与报告状态，并可直接进入归因建议确认。</a:t>
            </a:r>
          </a:p>
        </p:txBody>
      </p:sp>
      <p:sp>
        <p:nvSpPr>
          <p:cNvPr id="24" name="">
            <a:extLst xmlns:a="http://schemas.openxmlformats.org/drawingml/2006/main">
              <a:ext uri="{FF2B5EF4-FFF2-40B4-BE49-F238E27FC236}">
                <a16:creationId xmlns:a16="http://schemas.microsoft.com/office/drawing/2014/main" id="{6D89CE4E-12CD-4FBA-A503-521A1B76C229}"/>
              </a:ext>
            </a:extLst>
          </p:cNvPr>
          <p:cNvSpPr>
            <a:spLocks xmlns:a="http://schemas.openxmlformats.org/drawingml/2006/main" noGrp="1"/>
          </p:cNvSpPr>
          <p:nvPr/>
        </p:nvSpPr>
        <p:spPr>
          <a:xfrm xmlns:a="http://schemas.openxmlformats.org/drawingml/2006/main">
            <a:off x="4953000" y="13335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418B283E-AB19-4BFA-A19F-7D8DA995B54D}"/>
              </a:ext>
            </a:extLst>
          </p:cNvPr>
          <p:cNvSpPr>
            <a:spLocks xmlns:a="http://schemas.openxmlformats.org/drawingml/2006/main" noGrp="1"/>
          </p:cNvSpPr>
          <p:nvPr/>
        </p:nvSpPr>
        <p:spPr>
          <a:xfrm xmlns:a="http://schemas.openxmlformats.org/drawingml/2006/main">
            <a:off x="4953000" y="1333500"/>
            <a:ext cx="38100" cy="83820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750EABEA-0D89-4A5E-85E0-EC2B921A94CD}"/>
              </a:ext>
            </a:extLst>
          </p:cNvPr>
          <p:cNvSpPr>
            <a:spLocks xmlns:a="http://schemas.openxmlformats.org/drawingml/2006/main" noGrp="1"/>
          </p:cNvSpPr>
          <p:nvPr/>
        </p:nvSpPr>
        <p:spPr>
          <a:xfrm xmlns:a="http://schemas.openxmlformats.org/drawingml/2006/main">
            <a:off x="5143500" y="14668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填报实操报告</a:t>
            </a:r>
          </a:p>
        </p:txBody>
      </p:sp>
      <p:sp>
        <p:nvSpPr>
          <p:cNvPr id="27" name="">
            <a:extLst xmlns:a="http://schemas.openxmlformats.org/drawingml/2006/main">
              <a:ext uri="{FF2B5EF4-FFF2-40B4-BE49-F238E27FC236}">
                <a16:creationId xmlns:a16="http://schemas.microsoft.com/office/drawing/2014/main" id="{8DCB42C9-BA0B-43C3-B1FA-0A66878AAE86}"/>
              </a:ext>
            </a:extLst>
          </p:cNvPr>
          <p:cNvSpPr>
            <a:spLocks xmlns:a="http://schemas.openxmlformats.org/drawingml/2006/main" noGrp="1"/>
          </p:cNvSpPr>
          <p:nvPr/>
        </p:nvSpPr>
        <p:spPr>
          <a:xfrm xmlns:a="http://schemas.openxmlformats.org/drawingml/2006/main">
            <a:off x="5143500" y="17335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步骤、实际工时、问题分类、照片、录波、验收结果；提交后自动触发报告分析。</a:t>
            </a:r>
          </a:p>
        </p:txBody>
      </p:sp>
      <p:sp>
        <p:nvSpPr>
          <p:cNvPr id="28" name="">
            <a:extLst xmlns:a="http://schemas.openxmlformats.org/drawingml/2006/main">
              <a:ext uri="{FF2B5EF4-FFF2-40B4-BE49-F238E27FC236}">
                <a16:creationId xmlns:a16="http://schemas.microsoft.com/office/drawing/2014/main" id="{6E56BCCC-9D40-4426-A619-37A96F76162F}"/>
              </a:ext>
            </a:extLst>
          </p:cNvPr>
          <p:cNvSpPr>
            <a:spLocks xmlns:a="http://schemas.openxmlformats.org/drawingml/2006/main" noGrp="1"/>
          </p:cNvSpPr>
          <p:nvPr/>
        </p:nvSpPr>
        <p:spPr>
          <a:xfrm xmlns:a="http://schemas.openxmlformats.org/drawingml/2006/main">
            <a:off x="4953000" y="22860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DB8F5AA3-8E95-4D8A-80AF-FAAC1DFBB414}"/>
              </a:ext>
            </a:extLst>
          </p:cNvPr>
          <p:cNvSpPr>
            <a:spLocks xmlns:a="http://schemas.openxmlformats.org/drawingml/2006/main" noGrp="1"/>
          </p:cNvSpPr>
          <p:nvPr/>
        </p:nvSpPr>
        <p:spPr>
          <a:xfrm xmlns:a="http://schemas.openxmlformats.org/drawingml/2006/main">
            <a:off x="4953000" y="2286000"/>
            <a:ext cx="38100" cy="838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6531E3EB-937F-4358-BBC5-5E9330C8B7FB}"/>
              </a:ext>
            </a:extLst>
          </p:cNvPr>
          <p:cNvSpPr>
            <a:spLocks xmlns:a="http://schemas.openxmlformats.org/drawingml/2006/main" noGrp="1"/>
          </p:cNvSpPr>
          <p:nvPr/>
        </p:nvSpPr>
        <p:spPr>
          <a:xfrm xmlns:a="http://schemas.openxmlformats.org/drawingml/2006/main">
            <a:off x="5143500" y="24193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规则归因</a:t>
            </a:r>
          </a:p>
        </p:txBody>
      </p:sp>
      <p:sp>
        <p:nvSpPr>
          <p:cNvPr id="31" name="">
            <a:extLst xmlns:a="http://schemas.openxmlformats.org/drawingml/2006/main">
              <a:ext uri="{FF2B5EF4-FFF2-40B4-BE49-F238E27FC236}">
                <a16:creationId xmlns:a16="http://schemas.microsoft.com/office/drawing/2014/main" id="{B7568654-2A45-448E-AFB9-1CAE3099FD37}"/>
              </a:ext>
            </a:extLst>
          </p:cNvPr>
          <p:cNvSpPr>
            <a:spLocks xmlns:a="http://schemas.openxmlformats.org/drawingml/2006/main" noGrp="1"/>
          </p:cNvSpPr>
          <p:nvPr/>
        </p:nvSpPr>
        <p:spPr>
          <a:xfrm xmlns:a="http://schemas.openxmlformats.org/drawingml/2006/main">
            <a:off x="5143500" y="26860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实际工时超计划 </a:t>
            </a:r>
            <a:r>
              <a:rPr sz="900" b="0">
                <a:solidFill>
                  <a:srgbClr val="EEF5FF"/>
                </a:solidFill>
                <a:latin typeface="微软雅黑"/>
                <a:ea typeface="微软雅黑"/>
                <a:cs typeface="微软雅黑"/>
              </a:rPr>
              <a:t>20% </a:t>
            </a:r>
            <a:r>
              <a:rPr sz="900" b="0">
                <a:solidFill>
                  <a:srgbClr val="EEF5FF"/>
                </a:solidFill>
                <a:latin typeface="微软雅黑"/>
                <a:ea typeface="微软雅黑"/>
                <a:cs typeface="微软雅黑"/>
              </a:rPr>
              <a:t>且技能缺失 </a:t>
            </a:r>
            <a:r>
              <a:rPr sz="900" b="0">
                <a:solidFill>
                  <a:srgbClr val="EEF5FF"/>
                </a:solidFill>
                <a:latin typeface="微软雅黑"/>
                <a:ea typeface="微软雅黑"/>
                <a:cs typeface="微软雅黑"/>
              </a:rPr>
              <a:t>→ SKILL_GAP </a:t>
            </a:r>
            <a:r>
              <a:rPr sz="900" b="0">
                <a:solidFill>
                  <a:srgbClr val="EEF5FF"/>
                </a:solidFill>
                <a:latin typeface="微软雅黑"/>
                <a:ea typeface="微软雅黑"/>
                <a:cs typeface="微软雅黑"/>
              </a:rPr>
              <a:t>类归因；未按 </a:t>
            </a:r>
            <a:r>
              <a:rPr sz="900" b="0">
                <a:solidFill>
                  <a:srgbClr val="EEF5FF"/>
                </a:solidFill>
                <a:latin typeface="微软雅黑"/>
                <a:ea typeface="微软雅黑"/>
                <a:cs typeface="微软雅黑"/>
              </a:rPr>
              <a:t>SOP </a:t>
            </a:r>
            <a:r>
              <a:rPr sz="900" b="0">
                <a:solidFill>
                  <a:srgbClr val="EEF5FF"/>
                </a:solidFill>
                <a:latin typeface="微软雅黑"/>
                <a:ea typeface="微软雅黑"/>
                <a:cs typeface="微软雅黑"/>
              </a:rPr>
              <a:t>准备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人为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流程原因。</a:t>
            </a:r>
          </a:p>
        </p:txBody>
      </p:sp>
      <p:sp>
        <p:nvSpPr>
          <p:cNvPr id="32" name="">
            <a:extLst xmlns:a="http://schemas.openxmlformats.org/drawingml/2006/main">
              <a:ext uri="{FF2B5EF4-FFF2-40B4-BE49-F238E27FC236}">
                <a16:creationId xmlns:a16="http://schemas.microsoft.com/office/drawing/2014/main" id="{ACAE63A9-1B1B-4A21-BF2E-AD72F50AFCD4}"/>
              </a:ext>
            </a:extLst>
          </p:cNvPr>
          <p:cNvSpPr>
            <a:spLocks xmlns:a="http://schemas.openxmlformats.org/drawingml/2006/main" noGrp="1"/>
          </p:cNvSpPr>
          <p:nvPr/>
        </p:nvSpPr>
        <p:spPr>
          <a:xfrm xmlns:a="http://schemas.openxmlformats.org/drawingml/2006/main">
            <a:off x="4953000" y="32385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DCE9A838-9225-4080-808B-97DCBD4C5453}"/>
              </a:ext>
            </a:extLst>
          </p:cNvPr>
          <p:cNvSpPr>
            <a:spLocks xmlns:a="http://schemas.openxmlformats.org/drawingml/2006/main" noGrp="1"/>
          </p:cNvSpPr>
          <p:nvPr/>
        </p:nvSpPr>
        <p:spPr>
          <a:xfrm xmlns:a="http://schemas.openxmlformats.org/drawingml/2006/main">
            <a:off x="4953000" y="3238500"/>
            <a:ext cx="38100" cy="83820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EC0569E7-81CE-48B3-BB0B-8A86CCECA307}"/>
              </a:ext>
            </a:extLst>
          </p:cNvPr>
          <p:cNvSpPr>
            <a:spLocks xmlns:a="http://schemas.openxmlformats.org/drawingml/2006/main" noGrp="1"/>
          </p:cNvSpPr>
          <p:nvPr/>
        </p:nvSpPr>
        <p:spPr>
          <a:xfrm xmlns:a="http://schemas.openxmlformats.org/drawingml/2006/main">
            <a:off x="5143500" y="33718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确认接口</a:t>
            </a:r>
          </a:p>
        </p:txBody>
      </p:sp>
      <p:sp>
        <p:nvSpPr>
          <p:cNvPr id="35" name="">
            <a:extLst xmlns:a="http://schemas.openxmlformats.org/drawingml/2006/main">
              <a:ext uri="{FF2B5EF4-FFF2-40B4-BE49-F238E27FC236}">
                <a16:creationId xmlns:a16="http://schemas.microsoft.com/office/drawing/2014/main" id="{AA7D62F7-97D7-4A0B-8ED9-110E74E26D6E}"/>
              </a:ext>
            </a:extLst>
          </p:cNvPr>
          <p:cNvSpPr>
            <a:spLocks xmlns:a="http://schemas.openxmlformats.org/drawingml/2006/main" noGrp="1"/>
          </p:cNvSpPr>
          <p:nvPr/>
        </p:nvSpPr>
        <p:spPr>
          <a:xfrm xmlns:a="http://schemas.openxmlformats.org/drawingml/2006/main">
            <a:off x="5143500" y="36385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POST /api/v1/tasks/reports/{reportId}/attribution/confirm</a:t>
            </a:r>
            <a:r>
              <a:rPr sz="900" b="0">
                <a:solidFill>
                  <a:srgbClr val="EEF5FF"/>
                </a:solidFill>
                <a:latin typeface="微软雅黑"/>
                <a:ea typeface="微软雅黑"/>
                <a:cs typeface="微软雅黑"/>
              </a:rPr>
              <a:t>，班组长只改建议状态，不改业务数据。</a:t>
            </a:r>
          </a:p>
        </p:txBody>
      </p:sp>
      <p:sp>
        <p:nvSpPr>
          <p:cNvPr id="36" name="">
            <a:extLst xmlns:a="http://schemas.openxmlformats.org/drawingml/2006/main">
              <a:ext uri="{FF2B5EF4-FFF2-40B4-BE49-F238E27FC236}">
                <a16:creationId xmlns:a16="http://schemas.microsoft.com/office/drawing/2014/main" id="{7EB5ADFE-FB54-46D9-BA9B-77E6899B3BB5}"/>
              </a:ext>
            </a:extLst>
          </p:cNvPr>
          <p:cNvSpPr>
            <a:spLocks xmlns:a="http://schemas.openxmlformats.org/drawingml/2006/main" noGrp="1"/>
          </p:cNvSpPr>
          <p:nvPr/>
        </p:nvSpPr>
        <p:spPr>
          <a:xfrm xmlns:a="http://schemas.openxmlformats.org/drawingml/2006/main">
            <a:off x="4953000" y="41910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34DC5CFD-90FA-4382-BEFE-157E5753E8D0}"/>
              </a:ext>
            </a:extLst>
          </p:cNvPr>
          <p:cNvSpPr>
            <a:spLocks xmlns:a="http://schemas.openxmlformats.org/drawingml/2006/main" noGrp="1"/>
          </p:cNvSpPr>
          <p:nvPr/>
        </p:nvSpPr>
        <p:spPr>
          <a:xfrm xmlns:a="http://schemas.openxmlformats.org/drawingml/2006/main">
            <a:off x="4953000" y="4191000"/>
            <a:ext cx="38100" cy="838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3524ECBE-8BDC-406D-BB4C-AF0D5E1E8F79}"/>
              </a:ext>
            </a:extLst>
          </p:cNvPr>
          <p:cNvSpPr>
            <a:spLocks xmlns:a="http://schemas.openxmlformats.org/drawingml/2006/main" noGrp="1"/>
          </p:cNvSpPr>
          <p:nvPr/>
        </p:nvSpPr>
        <p:spPr>
          <a:xfrm xmlns:a="http://schemas.openxmlformats.org/drawingml/2006/main">
            <a:off x="5143500" y="43243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任务评分</a:t>
            </a:r>
          </a:p>
        </p:txBody>
      </p:sp>
      <p:sp>
        <p:nvSpPr>
          <p:cNvPr id="39" name="">
            <a:extLst xmlns:a="http://schemas.openxmlformats.org/drawingml/2006/main">
              <a:ext uri="{FF2B5EF4-FFF2-40B4-BE49-F238E27FC236}">
                <a16:creationId xmlns:a16="http://schemas.microsoft.com/office/drawing/2014/main" id="{3387B749-5F5A-4348-9C85-4370843574FD}"/>
              </a:ext>
            </a:extLst>
          </p:cNvPr>
          <p:cNvSpPr>
            <a:spLocks xmlns:a="http://schemas.openxmlformats.org/drawingml/2006/main" noGrp="1"/>
          </p:cNvSpPr>
          <p:nvPr/>
        </p:nvSpPr>
        <p:spPr>
          <a:xfrm xmlns:a="http://schemas.openxmlformats.org/drawingml/2006/main">
            <a:off x="5143500" y="4591050"/>
            <a:ext cx="6610350" cy="4000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打回重做或确认通过，反馈自动进入员工个人欠缺与管理看板。</a:t>
            </a:r>
          </a:p>
        </p:txBody>
      </p:sp>
      <p:sp>
        <p:nvSpPr>
          <p:cNvPr id="40" name="">
            <a:extLst xmlns:a="http://schemas.openxmlformats.org/drawingml/2006/main">
              <a:ext uri="{FF2B5EF4-FFF2-40B4-BE49-F238E27FC236}">
                <a16:creationId xmlns:a16="http://schemas.microsoft.com/office/drawing/2014/main" id="{2DEEC972-112D-49DE-A331-12447A37AA8A}"/>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91DB76AD-3B50-4684-B311-F344F298748B}"/>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留痕自验：一次 </a:t>
            </a:r>
            <a:r>
              <a:rPr sz="1050" b="1">
                <a:solidFill>
                  <a:srgbClr val="FFD24A"/>
                </a:solidFill>
                <a:latin typeface="微软雅黑"/>
                <a:ea typeface="微软雅黑"/>
                <a:cs typeface="微软雅黑"/>
              </a:rPr>
              <a:t>analyze → confirm</a:t>
            </a:r>
            <a:r>
              <a:rPr sz="1050" b="1">
                <a:solidFill>
                  <a:srgbClr val="FFD24A"/>
                </a:solidFill>
                <a:latin typeface="微软雅黑"/>
                <a:ea typeface="微软雅黑"/>
                <a:cs typeface="微软雅黑"/>
              </a:rPr>
              <a:t>，三张表可以用同一个 </a:t>
            </a:r>
            <a:r>
              <a:rPr sz="1050" b="1">
                <a:solidFill>
                  <a:srgbClr val="FFD24A"/>
                </a:solidFill>
                <a:latin typeface="微软雅黑"/>
                <a:ea typeface="微软雅黑"/>
                <a:cs typeface="微软雅黑"/>
              </a:rPr>
              <a:t>run_id </a:t>
            </a:r>
            <a:r>
              <a:rPr sz="1050" b="1">
                <a:solidFill>
                  <a:srgbClr val="FFD24A"/>
                </a:solidFill>
                <a:latin typeface="微软雅黑"/>
                <a:ea typeface="微软雅黑"/>
                <a:cs typeface="微软雅黑"/>
              </a:rPr>
              <a:t>串起来</a:t>
            </a:r>
          </a:p>
        </p:txBody>
      </p:sp>
      <p:sp>
        <p:nvSpPr>
          <p:cNvPr id="42" name="">
            <a:extLst xmlns:a="http://schemas.openxmlformats.org/drawingml/2006/main">
              <a:ext uri="{FF2B5EF4-FFF2-40B4-BE49-F238E27FC236}">
                <a16:creationId xmlns:a16="http://schemas.microsoft.com/office/drawing/2014/main" id="{A0468160-1346-4ABD-BCAF-DF039D1563EA}"/>
              </a:ext>
            </a:extLst>
          </p:cNvPr>
          <p:cNvSpPr>
            <a:spLocks xmlns:a="http://schemas.openxmlformats.org/drawingml/2006/main" noGrp="1"/>
          </p:cNvSpPr>
          <p:nvPr/>
        </p:nvSpPr>
        <p:spPr>
          <a:xfrm xmlns:a="http://schemas.openxmlformats.org/drawingml/2006/main">
            <a:off x="457200" y="5581650"/>
            <a:ext cx="3676650" cy="704850"/>
          </a:xfrm>
          <a:prstGeom xmlns:a="http://schemas.openxmlformats.org/drawingml/2006/main" prst="roundRect">
            <a:avLst>
              <a:gd name="adj" fmla="val 12162"/>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3" name="">
            <a:extLst xmlns:a="http://schemas.openxmlformats.org/drawingml/2006/main">
              <a:ext uri="{FF2B5EF4-FFF2-40B4-BE49-F238E27FC236}">
                <a16:creationId xmlns:a16="http://schemas.microsoft.com/office/drawing/2014/main" id="{4DE5A6E2-BFD4-4DC1-9D8E-DEDAE29F5F48}"/>
              </a:ext>
            </a:extLst>
          </p:cNvPr>
          <p:cNvSpPr>
            <a:spLocks xmlns:a="http://schemas.openxmlformats.org/drawingml/2006/main" noGrp="1"/>
          </p:cNvSpPr>
          <p:nvPr/>
        </p:nvSpPr>
        <p:spPr>
          <a:xfrm xmlns:a="http://schemas.openxmlformats.org/drawingml/2006/main">
            <a:off x="609600" y="5676900"/>
            <a:ext cx="3390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Bahnschrift"/>
                <a:ea typeface="Bahnschrift"/>
                <a:cs typeface="Bahnschrift"/>
              </a:defRPr>
            </a:pPr>
            <a:r>
              <a:rPr sz="938" b="1">
                <a:solidFill>
                  <a:srgbClr val="4FD8FF"/>
                </a:solidFill>
                <a:latin typeface="Bahnschrift"/>
                <a:ea typeface="Bahnschrift"/>
                <a:cs typeface="Bahnschrift"/>
              </a:rPr>
              <a:t>rule_result</a:t>
            </a:r>
          </a:p>
        </p:txBody>
      </p:sp>
      <p:sp>
        <p:nvSpPr>
          <p:cNvPr id="44" name="">
            <a:extLst xmlns:a="http://schemas.openxmlformats.org/drawingml/2006/main">
              <a:ext uri="{FF2B5EF4-FFF2-40B4-BE49-F238E27FC236}">
                <a16:creationId xmlns:a16="http://schemas.microsoft.com/office/drawing/2014/main" id="{5C3536A2-D806-48C5-8CC6-E2A6187B1B00}"/>
              </a:ext>
            </a:extLst>
          </p:cNvPr>
          <p:cNvSpPr>
            <a:spLocks xmlns:a="http://schemas.openxmlformats.org/drawingml/2006/main" noGrp="1"/>
          </p:cNvSpPr>
          <p:nvPr/>
        </p:nvSpPr>
        <p:spPr>
          <a:xfrm xmlns:a="http://schemas.openxmlformats.org/drawingml/2006/main">
            <a:off x="609600" y="5924550"/>
            <a:ext cx="3390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规则执行留痕：命中了哪条规则、条件求值结果、依据事实</a:t>
            </a:r>
          </a:p>
        </p:txBody>
      </p:sp>
      <p:sp>
        <p:nvSpPr>
          <p:cNvPr id="45" name="">
            <a:extLst xmlns:a="http://schemas.openxmlformats.org/drawingml/2006/main">
              <a:ext uri="{FF2B5EF4-FFF2-40B4-BE49-F238E27FC236}">
                <a16:creationId xmlns:a16="http://schemas.microsoft.com/office/drawing/2014/main" id="{1DB7D3EA-D8BD-4149-99FB-84C1383A236D}"/>
              </a:ext>
            </a:extLst>
          </p:cNvPr>
          <p:cNvSpPr>
            <a:spLocks xmlns:a="http://schemas.openxmlformats.org/drawingml/2006/main" noGrp="1"/>
          </p:cNvSpPr>
          <p:nvPr/>
        </p:nvSpPr>
        <p:spPr>
          <a:xfrm xmlns:a="http://schemas.openxmlformats.org/drawingml/2006/main">
            <a:off x="4305300" y="5581650"/>
            <a:ext cx="3676650" cy="704850"/>
          </a:xfrm>
          <a:prstGeom xmlns:a="http://schemas.openxmlformats.org/drawingml/2006/main" prst="roundRect">
            <a:avLst>
              <a:gd name="adj" fmla="val 12162"/>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6" name="">
            <a:extLst xmlns:a="http://schemas.openxmlformats.org/drawingml/2006/main">
              <a:ext uri="{FF2B5EF4-FFF2-40B4-BE49-F238E27FC236}">
                <a16:creationId xmlns:a16="http://schemas.microsoft.com/office/drawing/2014/main" id="{DBD025ED-1ED4-45AD-A6A9-D0F0B538B380}"/>
              </a:ext>
            </a:extLst>
          </p:cNvPr>
          <p:cNvSpPr>
            <a:spLocks xmlns:a="http://schemas.openxmlformats.org/drawingml/2006/main" noGrp="1"/>
          </p:cNvSpPr>
          <p:nvPr/>
        </p:nvSpPr>
        <p:spPr>
          <a:xfrm xmlns:a="http://schemas.openxmlformats.org/drawingml/2006/main">
            <a:off x="4457700" y="5676900"/>
            <a:ext cx="3390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Bahnschrift"/>
                <a:ea typeface="Bahnschrift"/>
                <a:cs typeface="Bahnschrift"/>
              </a:defRPr>
            </a:pPr>
            <a:r>
              <a:rPr sz="938" b="1">
                <a:solidFill>
                  <a:srgbClr val="4FD8FF"/>
                </a:solidFill>
                <a:latin typeface="Bahnschrift"/>
                <a:ea typeface="Bahnschrift"/>
                <a:cs typeface="Bahnschrift"/>
              </a:rPr>
              <a:t>agent_suggestion</a:t>
            </a:r>
          </a:p>
        </p:txBody>
      </p:sp>
      <p:sp>
        <p:nvSpPr>
          <p:cNvPr id="47" name="">
            <a:extLst xmlns:a="http://schemas.openxmlformats.org/drawingml/2006/main">
              <a:ext uri="{FF2B5EF4-FFF2-40B4-BE49-F238E27FC236}">
                <a16:creationId xmlns:a16="http://schemas.microsoft.com/office/drawing/2014/main" id="{F0239647-591C-479D-8B1F-81D0EC0F3C1E}"/>
              </a:ext>
            </a:extLst>
          </p:cNvPr>
          <p:cNvSpPr>
            <a:spLocks xmlns:a="http://schemas.openxmlformats.org/drawingml/2006/main" noGrp="1"/>
          </p:cNvSpPr>
          <p:nvPr/>
        </p:nvSpPr>
        <p:spPr>
          <a:xfrm xmlns:a="http://schemas.openxmlformats.org/drawingml/2006/main">
            <a:off x="4457700" y="5924550"/>
            <a:ext cx="3390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建议留痕：</a:t>
            </a:r>
            <a:r>
              <a:rPr sz="825" b="0">
                <a:solidFill>
                  <a:srgbClr val="EEF5FF"/>
                </a:solidFill>
                <a:latin typeface="微软雅黑"/>
                <a:ea typeface="微软雅黑"/>
                <a:cs typeface="微软雅黑"/>
              </a:rPr>
              <a:t>confidence / source / need_human_confirm / status</a:t>
            </a:r>
          </a:p>
        </p:txBody>
      </p:sp>
      <p:sp>
        <p:nvSpPr>
          <p:cNvPr id="48" name="">
            <a:extLst xmlns:a="http://schemas.openxmlformats.org/drawingml/2006/main">
              <a:ext uri="{FF2B5EF4-FFF2-40B4-BE49-F238E27FC236}">
                <a16:creationId xmlns:a16="http://schemas.microsoft.com/office/drawing/2014/main" id="{34F944B3-9995-42C8-AFE3-CA7DD023005C}"/>
              </a:ext>
            </a:extLst>
          </p:cNvPr>
          <p:cNvSpPr>
            <a:spLocks xmlns:a="http://schemas.openxmlformats.org/drawingml/2006/main" noGrp="1"/>
          </p:cNvSpPr>
          <p:nvPr/>
        </p:nvSpPr>
        <p:spPr>
          <a:xfrm xmlns:a="http://schemas.openxmlformats.org/drawingml/2006/main">
            <a:off x="8153400" y="5581650"/>
            <a:ext cx="3676650" cy="704850"/>
          </a:xfrm>
          <a:prstGeom xmlns:a="http://schemas.openxmlformats.org/drawingml/2006/main" prst="roundRect">
            <a:avLst>
              <a:gd name="adj" fmla="val 12162"/>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9" name="">
            <a:extLst xmlns:a="http://schemas.openxmlformats.org/drawingml/2006/main">
              <a:ext uri="{FF2B5EF4-FFF2-40B4-BE49-F238E27FC236}">
                <a16:creationId xmlns:a16="http://schemas.microsoft.com/office/drawing/2014/main" id="{F044EC3C-B4F7-4812-9CC6-3D47901E6EF4}"/>
              </a:ext>
            </a:extLst>
          </p:cNvPr>
          <p:cNvSpPr>
            <a:spLocks xmlns:a="http://schemas.openxmlformats.org/drawingml/2006/main" noGrp="1"/>
          </p:cNvSpPr>
          <p:nvPr/>
        </p:nvSpPr>
        <p:spPr>
          <a:xfrm xmlns:a="http://schemas.openxmlformats.org/drawingml/2006/main">
            <a:off x="8305800" y="5676900"/>
            <a:ext cx="3390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Bahnschrift"/>
                <a:ea typeface="Bahnschrift"/>
                <a:cs typeface="Bahnschrift"/>
              </a:defRPr>
            </a:pPr>
            <a:r>
              <a:rPr sz="938" b="1">
                <a:solidFill>
                  <a:srgbClr val="4FD8FF"/>
                </a:solidFill>
                <a:latin typeface="Bahnschrift"/>
                <a:ea typeface="Bahnschrift"/>
                <a:cs typeface="Bahnschrift"/>
              </a:rPr>
              <a:t>decision_log</a:t>
            </a:r>
          </a:p>
        </p:txBody>
      </p:sp>
      <p:sp>
        <p:nvSpPr>
          <p:cNvPr id="50" name="">
            <a:extLst xmlns:a="http://schemas.openxmlformats.org/drawingml/2006/main">
              <a:ext uri="{FF2B5EF4-FFF2-40B4-BE49-F238E27FC236}">
                <a16:creationId xmlns:a16="http://schemas.microsoft.com/office/drawing/2014/main" id="{6134A7D0-D0EF-425E-AA96-9C95A23EFB22}"/>
              </a:ext>
            </a:extLst>
          </p:cNvPr>
          <p:cNvSpPr>
            <a:spLocks xmlns:a="http://schemas.openxmlformats.org/drawingml/2006/main" noGrp="1"/>
          </p:cNvSpPr>
          <p:nvPr/>
        </p:nvSpPr>
        <p:spPr>
          <a:xfrm xmlns:a="http://schemas.openxmlformats.org/drawingml/2006/main">
            <a:off x="8305800" y="5924550"/>
            <a:ext cx="3390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人工决定：确认人、决定、理由、时间，以及后续执行与回滚</a:t>
            </a:r>
          </a:p>
        </p:txBody>
      </p:sp>
      <p:sp>
        <p:nvSpPr>
          <p:cNvPr id="51" name="">
            <a:extLst xmlns:a="http://schemas.openxmlformats.org/drawingml/2006/main">
              <a:ext uri="{FF2B5EF4-FFF2-40B4-BE49-F238E27FC236}">
                <a16:creationId xmlns:a16="http://schemas.microsoft.com/office/drawing/2014/main" id="{2A4A93F9-F773-4EE1-8126-05BAC1F7EEDE}"/>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BA6F2A80-DE44-4C04-B3D9-2A772834A28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8A25F7B2-5A4B-4C98-96D6-DB3EC638780C}"/>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54" name="">
            <a:extLst xmlns:a="http://schemas.openxmlformats.org/drawingml/2006/main">
              <a:ext uri="{FF2B5EF4-FFF2-40B4-BE49-F238E27FC236}">
                <a16:creationId xmlns:a16="http://schemas.microsoft.com/office/drawing/2014/main" id="{0BF2C755-8A58-4F59-98A7-43EA46F2791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C9651C52-60B1-45E5-BB5E-C918DDF1C7BB}"/>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23</a:t>
            </a:r>
          </a:p>
        </p:txBody>
      </p:sp>
    </p:spTree>
    <p:extLst>
      <p:ext uri="{BB962C8B-B14F-4D97-AF65-F5344CB8AC3E}">
        <p14:creationId xmlns:p14="http://schemas.microsoft.com/office/powerpoint/2010/main" val="923607827"/>
      </p:ext>
    </p:extLst>
  </p:cSld>
</p:sld>
</file>

<file path=ppt/slides/slide2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7f14a23381604e4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E1B58B-74CC-4D1F-B8CE-59FF0D2295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2D9E9DA8-891E-412D-B45A-1A3679869D5F}"/>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7C630FC1-DAB3-4411-8822-9B4A17CD32CE}"/>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4684756-B047-4F65-AE23-0B5CAAFA2B05}"/>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02982808-AA68-43FD-8530-5DF0F1D65F76}"/>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0D1CDAE3-E462-44B1-90E6-DF2CEE912CED}"/>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499630FA-65F1-45AD-8E88-9B3418A76681}"/>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7D56A3D8-AC76-46C9-9589-8B6B0BFEFA2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E6736BF5-1D81-4209-A8F5-5EEAB0C128CB}"/>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39DD792D-796C-4124-99AD-AA15AC012637}"/>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80D727BD-D853-4A16-9728-F3D38206FB9B}"/>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015DA47-EBF9-4244-B448-5053FCE2EC35}"/>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972EBAB7-3448-45D0-BD5B-EF623FBA5F81}"/>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系统界面四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管理端：公司运行诊断与人才决策</a:t>
            </a:r>
          </a:p>
        </p:txBody>
      </p:sp>
      <p:sp>
        <p:nvSpPr>
          <p:cNvPr id="15" name="">
            <a:extLst xmlns:a="http://schemas.openxmlformats.org/drawingml/2006/main">
              <a:ext uri="{FF2B5EF4-FFF2-40B4-BE49-F238E27FC236}">
                <a16:creationId xmlns:a16="http://schemas.microsoft.com/office/drawing/2014/main" id="{65990977-32E6-4825-B7E4-2F2D04B496A7}"/>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0193EF2B-6596-4A77-83FE-47C96537EC64}"/>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2BFA2728-8C4E-45EA-9FF7-FF07B99BABE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CBC2B897-D035-482E-B238-E5CAFDDC5965}"/>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0AC09EE7-D837-466E-98F1-5A8111492C5E}"/>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管理端给出的不是「感觉缺人」，而是「缺口在哪里、补法有哪几种、各自要花多少钱」。</a:t>
            </a:r>
          </a:p>
        </p:txBody>
      </p:sp>
      <p:sp>
        <p:nvSpPr>
          <p:cNvPr id="20" name="">
            <a:extLst xmlns:a="http://schemas.openxmlformats.org/drawingml/2006/main">
              <a:ext uri="{FF2B5EF4-FFF2-40B4-BE49-F238E27FC236}">
                <a16:creationId xmlns:a16="http://schemas.microsoft.com/office/drawing/2014/main" id="{0CA26F67-0081-45D2-86FD-F631A8180E23}"/>
              </a:ext>
            </a:extLst>
          </p:cNvPr>
          <p:cNvSpPr>
            <a:spLocks xmlns:a="http://schemas.openxmlformats.org/drawingml/2006/main" noGrp="1"/>
          </p:cNvSpPr>
          <p:nvPr/>
        </p:nvSpPr>
        <p:spPr>
          <a:xfrm xmlns:a="http://schemas.openxmlformats.org/drawingml/2006/main">
            <a:off x="285750" y="1333500"/>
            <a:ext cx="5715000" cy="3105150"/>
          </a:xfrm>
          <a:prstGeom xmlns:a="http://schemas.openxmlformats.org/drawingml/2006/main" prst="roundRect">
            <a:avLst>
              <a:gd name="adj" fmla="val 2761"/>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0ceef8912f474e"/>
          <a:stretch xmlns:a="http://schemas.openxmlformats.org/drawingml/2006/main"/>
        </p:blipFill>
        <p:spPr>
          <a:xfrm xmlns:a="http://schemas.openxmlformats.org/drawingml/2006/main">
            <a:off x="569904" y="1390650"/>
            <a:ext cx="5146691" cy="2990850"/>
          </a:xfrm>
          <a:prstGeom xmlns:a="http://schemas.openxmlformats.org/drawingml/2006/main" prst="roundRect">
            <a:avLst>
              <a:gd name="adj" fmla="val 1911"/>
            </a:avLst>
          </a:prstGeom>
        </p:spPr>
      </p:pic>
      <p:sp>
        <p:nvSpPr>
          <p:cNvPr id="22" name="">
            <a:extLst xmlns:a="http://schemas.openxmlformats.org/drawingml/2006/main">
              <a:ext uri="{FF2B5EF4-FFF2-40B4-BE49-F238E27FC236}">
                <a16:creationId xmlns:a16="http://schemas.microsoft.com/office/drawing/2014/main" id="{129CCE4E-703F-46D3-ADAE-F8480533324E}"/>
              </a:ext>
            </a:extLst>
          </p:cNvPr>
          <p:cNvSpPr>
            <a:spLocks xmlns:a="http://schemas.openxmlformats.org/drawingml/2006/main" noGrp="1"/>
          </p:cNvSpPr>
          <p:nvPr/>
        </p:nvSpPr>
        <p:spPr>
          <a:xfrm xmlns:a="http://schemas.openxmlformats.org/drawingml/2006/main">
            <a:off x="285750" y="4495800"/>
            <a:ext cx="5715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D6632F73-BE56-411D-9DB5-7E0E0541D0B4}"/>
              </a:ext>
            </a:extLst>
          </p:cNvPr>
          <p:cNvSpPr>
            <a:spLocks xmlns:a="http://schemas.openxmlformats.org/drawingml/2006/main" noGrp="1"/>
          </p:cNvSpPr>
          <p:nvPr/>
        </p:nvSpPr>
        <p:spPr>
          <a:xfrm xmlns:a="http://schemas.openxmlformats.org/drawingml/2006/main">
            <a:off x="419100" y="4495800"/>
            <a:ext cx="5448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本图证明：人才驾驶舱把在岗人数、技能达标率、证书有效率、培训完成率与用人成本收在同一屏，管理者可直接下钻。</a:t>
            </a:r>
          </a:p>
        </p:txBody>
      </p:sp>
      <p:sp>
        <p:nvSpPr>
          <p:cNvPr id="24" name="">
            <a:extLst xmlns:a="http://schemas.openxmlformats.org/drawingml/2006/main">
              <a:ext uri="{FF2B5EF4-FFF2-40B4-BE49-F238E27FC236}">
                <a16:creationId xmlns:a16="http://schemas.microsoft.com/office/drawing/2014/main" id="{18D378DC-179F-4F96-9F4B-72C1DCCFC6B0}"/>
              </a:ext>
            </a:extLst>
          </p:cNvPr>
          <p:cNvSpPr>
            <a:spLocks xmlns:a="http://schemas.openxmlformats.org/drawingml/2006/main" noGrp="1"/>
          </p:cNvSpPr>
          <p:nvPr/>
        </p:nvSpPr>
        <p:spPr>
          <a:xfrm xmlns:a="http://schemas.openxmlformats.org/drawingml/2006/main">
            <a:off x="6191250" y="1333500"/>
            <a:ext cx="5715000" cy="3105150"/>
          </a:xfrm>
          <a:prstGeom xmlns:a="http://schemas.openxmlformats.org/drawingml/2006/main" prst="roundRect">
            <a:avLst>
              <a:gd name="adj" fmla="val 2761"/>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74de25e5492448e8"/>
          <a:stretch xmlns:a="http://schemas.openxmlformats.org/drawingml/2006/main"/>
        </p:blipFill>
        <p:spPr>
          <a:xfrm xmlns:a="http://schemas.openxmlformats.org/drawingml/2006/main">
            <a:off x="6469400" y="1390650"/>
            <a:ext cx="5158699" cy="2990850"/>
          </a:xfrm>
          <a:prstGeom xmlns:a="http://schemas.openxmlformats.org/drawingml/2006/main" prst="roundRect">
            <a:avLst>
              <a:gd name="adj" fmla="val 1911"/>
            </a:avLst>
          </a:prstGeom>
        </p:spPr>
      </p:pic>
      <p:sp>
        <p:nvSpPr>
          <p:cNvPr id="26" name="">
            <a:extLst xmlns:a="http://schemas.openxmlformats.org/drawingml/2006/main">
              <a:ext uri="{FF2B5EF4-FFF2-40B4-BE49-F238E27FC236}">
                <a16:creationId xmlns:a16="http://schemas.microsoft.com/office/drawing/2014/main" id="{4CB05751-BB2F-410A-8534-956691CB931E}"/>
              </a:ext>
            </a:extLst>
          </p:cNvPr>
          <p:cNvSpPr>
            <a:spLocks xmlns:a="http://schemas.openxmlformats.org/drawingml/2006/main" noGrp="1"/>
          </p:cNvSpPr>
          <p:nvPr/>
        </p:nvSpPr>
        <p:spPr>
          <a:xfrm xmlns:a="http://schemas.openxmlformats.org/drawingml/2006/main">
            <a:off x="6191250" y="4495800"/>
            <a:ext cx="5715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90A9D6F5-EC58-4E66-806A-69B86EDC1324}"/>
              </a:ext>
            </a:extLst>
          </p:cNvPr>
          <p:cNvSpPr>
            <a:spLocks xmlns:a="http://schemas.openxmlformats.org/drawingml/2006/main" noGrp="1"/>
          </p:cNvSpPr>
          <p:nvPr/>
        </p:nvSpPr>
        <p:spPr>
          <a:xfrm xmlns:a="http://schemas.openxmlformats.org/drawingml/2006/main">
            <a:off x="6324600" y="4495800"/>
            <a:ext cx="54483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本图证明：公司运行诊断把诊断项、证据、结论与建议写在同一页，每条建议都标注来源与人工确认状态。</a:t>
            </a:r>
          </a:p>
        </p:txBody>
      </p:sp>
      <p:sp>
        <p:nvSpPr>
          <p:cNvPr id="28" name="">
            <a:extLst xmlns:a="http://schemas.openxmlformats.org/drawingml/2006/main">
              <a:ext uri="{FF2B5EF4-FFF2-40B4-BE49-F238E27FC236}">
                <a16:creationId xmlns:a16="http://schemas.microsoft.com/office/drawing/2014/main" id="{8A6BF5E4-DD20-40FD-B020-5048F7AE6A50}"/>
              </a:ext>
            </a:extLst>
          </p:cNvPr>
          <p:cNvSpPr>
            <a:spLocks xmlns:a="http://schemas.openxmlformats.org/drawingml/2006/main" noGrp="1"/>
          </p:cNvSpPr>
          <p:nvPr/>
        </p:nvSpPr>
        <p:spPr>
          <a:xfrm xmlns:a="http://schemas.openxmlformats.org/drawingml/2006/main">
            <a:off x="28575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09C930BC-5C7C-4C06-BB8E-AE1562DF0ABC}"/>
              </a:ext>
            </a:extLst>
          </p:cNvPr>
          <p:cNvSpPr>
            <a:spLocks xmlns:a="http://schemas.openxmlformats.org/drawingml/2006/main" noGrp="1"/>
          </p:cNvSpPr>
          <p:nvPr/>
        </p:nvSpPr>
        <p:spPr>
          <a:xfrm xmlns:a="http://schemas.openxmlformats.org/drawingml/2006/main">
            <a:off x="285750" y="5029200"/>
            <a:ext cx="2781300" cy="381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C1F1A4A-2C30-4CF9-A219-41F59C6E8756}"/>
              </a:ext>
            </a:extLst>
          </p:cNvPr>
          <p:cNvSpPr>
            <a:spLocks xmlns:a="http://schemas.openxmlformats.org/drawingml/2006/main" noGrp="1"/>
          </p:cNvSpPr>
          <p:nvPr/>
        </p:nvSpPr>
        <p:spPr>
          <a:xfrm xmlns:a="http://schemas.openxmlformats.org/drawingml/2006/main">
            <a:off x="45720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人才驾驶舱</a:t>
            </a:r>
          </a:p>
        </p:txBody>
      </p:sp>
      <p:sp>
        <p:nvSpPr>
          <p:cNvPr id="31" name="">
            <a:extLst xmlns:a="http://schemas.openxmlformats.org/drawingml/2006/main">
              <a:ext uri="{FF2B5EF4-FFF2-40B4-BE49-F238E27FC236}">
                <a16:creationId xmlns:a16="http://schemas.microsoft.com/office/drawing/2014/main" id="{499B7815-E6EB-470D-89A4-71C47FC411A8}"/>
              </a:ext>
            </a:extLst>
          </p:cNvPr>
          <p:cNvSpPr>
            <a:spLocks xmlns:a="http://schemas.openxmlformats.org/drawingml/2006/main" noGrp="1"/>
          </p:cNvSpPr>
          <p:nvPr/>
        </p:nvSpPr>
        <p:spPr>
          <a:xfrm xmlns:a="http://schemas.openxmlformats.org/drawingml/2006/main">
            <a:off x="45720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全公司人才总览：关键指标、人才缺口、培训成本、用人成本、安全风险</a:t>
            </a:r>
          </a:p>
        </p:txBody>
      </p:sp>
      <p:sp>
        <p:nvSpPr>
          <p:cNvPr id="32" name="">
            <a:extLst xmlns:a="http://schemas.openxmlformats.org/drawingml/2006/main">
              <a:ext uri="{FF2B5EF4-FFF2-40B4-BE49-F238E27FC236}">
                <a16:creationId xmlns:a16="http://schemas.microsoft.com/office/drawing/2014/main" id="{EA6E3BA5-3C5C-4286-A713-892E665F07F1}"/>
              </a:ext>
            </a:extLst>
          </p:cNvPr>
          <p:cNvSpPr>
            <a:spLocks xmlns:a="http://schemas.openxmlformats.org/drawingml/2006/main" noGrp="1"/>
          </p:cNvSpPr>
          <p:nvPr/>
        </p:nvSpPr>
        <p:spPr>
          <a:xfrm xmlns:a="http://schemas.openxmlformats.org/drawingml/2006/main">
            <a:off x="323850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450403BE-7782-4656-8473-D7E5FA4790F8}"/>
              </a:ext>
            </a:extLst>
          </p:cNvPr>
          <p:cNvSpPr>
            <a:spLocks xmlns:a="http://schemas.openxmlformats.org/drawingml/2006/main" noGrp="1"/>
          </p:cNvSpPr>
          <p:nvPr/>
        </p:nvSpPr>
        <p:spPr>
          <a:xfrm xmlns:a="http://schemas.openxmlformats.org/drawingml/2006/main">
            <a:off x="3238500" y="5029200"/>
            <a:ext cx="2781300" cy="381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1268305D-7AAC-44C0-B089-83A2200E08F9}"/>
              </a:ext>
            </a:extLst>
          </p:cNvPr>
          <p:cNvSpPr>
            <a:spLocks xmlns:a="http://schemas.openxmlformats.org/drawingml/2006/main" noGrp="1"/>
          </p:cNvSpPr>
          <p:nvPr/>
        </p:nvSpPr>
        <p:spPr>
          <a:xfrm xmlns:a="http://schemas.openxmlformats.org/drawingml/2006/main">
            <a:off x="340995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全公司技能矩阵</a:t>
            </a:r>
          </a:p>
        </p:txBody>
      </p:sp>
      <p:sp>
        <p:nvSpPr>
          <p:cNvPr id="35" name="">
            <a:extLst xmlns:a="http://schemas.openxmlformats.org/drawingml/2006/main">
              <a:ext uri="{FF2B5EF4-FFF2-40B4-BE49-F238E27FC236}">
                <a16:creationId xmlns:a16="http://schemas.microsoft.com/office/drawing/2014/main" id="{F93ACD48-6FB4-4C11-BA64-02C5942A08F5}"/>
              </a:ext>
            </a:extLst>
          </p:cNvPr>
          <p:cNvSpPr>
            <a:spLocks xmlns:a="http://schemas.openxmlformats.org/drawingml/2006/main" noGrp="1"/>
          </p:cNvSpPr>
          <p:nvPr/>
        </p:nvSpPr>
        <p:spPr>
          <a:xfrm xmlns:a="http://schemas.openxmlformats.org/drawingml/2006/main">
            <a:off x="340995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按部门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岗位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技能等级展示分布，标出关键岗位是否有备份</a:t>
            </a:r>
          </a:p>
        </p:txBody>
      </p:sp>
      <p:sp>
        <p:nvSpPr>
          <p:cNvPr id="36" name="">
            <a:extLst xmlns:a="http://schemas.openxmlformats.org/drawingml/2006/main">
              <a:ext uri="{FF2B5EF4-FFF2-40B4-BE49-F238E27FC236}">
                <a16:creationId xmlns:a16="http://schemas.microsoft.com/office/drawing/2014/main" id="{7E9AE349-E648-49A0-8985-7B78E1BA85DA}"/>
              </a:ext>
            </a:extLst>
          </p:cNvPr>
          <p:cNvSpPr>
            <a:spLocks xmlns:a="http://schemas.openxmlformats.org/drawingml/2006/main" noGrp="1"/>
          </p:cNvSpPr>
          <p:nvPr/>
        </p:nvSpPr>
        <p:spPr>
          <a:xfrm xmlns:a="http://schemas.openxmlformats.org/drawingml/2006/main">
            <a:off x="619125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502EFD86-F68A-479B-8EA0-538E058A6E33}"/>
              </a:ext>
            </a:extLst>
          </p:cNvPr>
          <p:cNvSpPr>
            <a:spLocks xmlns:a="http://schemas.openxmlformats.org/drawingml/2006/main" noGrp="1"/>
          </p:cNvSpPr>
          <p:nvPr/>
        </p:nvSpPr>
        <p:spPr>
          <a:xfrm xmlns:a="http://schemas.openxmlformats.org/drawingml/2006/main">
            <a:off x="6191250" y="5029200"/>
            <a:ext cx="2781300" cy="381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2EA5E477-4F8B-4B20-9092-92692144C2B5}"/>
              </a:ext>
            </a:extLst>
          </p:cNvPr>
          <p:cNvSpPr>
            <a:spLocks xmlns:a="http://schemas.openxmlformats.org/drawingml/2006/main" noGrp="1"/>
          </p:cNvSpPr>
          <p:nvPr/>
        </p:nvSpPr>
        <p:spPr>
          <a:xfrm xmlns:a="http://schemas.openxmlformats.org/drawingml/2006/main">
            <a:off x="636270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成本看板</a:t>
            </a:r>
          </a:p>
        </p:txBody>
      </p:sp>
      <p:sp>
        <p:nvSpPr>
          <p:cNvPr id="39" name="">
            <a:extLst xmlns:a="http://schemas.openxmlformats.org/drawingml/2006/main">
              <a:ext uri="{FF2B5EF4-FFF2-40B4-BE49-F238E27FC236}">
                <a16:creationId xmlns:a16="http://schemas.microsoft.com/office/drawing/2014/main" id="{AFBCC28E-660F-4E97-A8B7-C21B385C547A}"/>
              </a:ext>
            </a:extLst>
          </p:cNvPr>
          <p:cNvSpPr>
            <a:spLocks xmlns:a="http://schemas.openxmlformats.org/drawingml/2006/main" noGrp="1"/>
          </p:cNvSpPr>
          <p:nvPr/>
        </p:nvSpPr>
        <p:spPr>
          <a:xfrm xmlns:a="http://schemas.openxmlformats.org/drawingml/2006/main">
            <a:off x="636270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人力、培训、招聘、外包、加班、离职成本，支持按部门与岗位筛选</a:t>
            </a:r>
          </a:p>
        </p:txBody>
      </p:sp>
      <p:sp>
        <p:nvSpPr>
          <p:cNvPr id="40" name="">
            <a:extLst xmlns:a="http://schemas.openxmlformats.org/drawingml/2006/main">
              <a:ext uri="{FF2B5EF4-FFF2-40B4-BE49-F238E27FC236}">
                <a16:creationId xmlns:a16="http://schemas.microsoft.com/office/drawing/2014/main" id="{F6A69457-3DD1-4545-A18F-3AD8B33BC0B3}"/>
              </a:ext>
            </a:extLst>
          </p:cNvPr>
          <p:cNvSpPr>
            <a:spLocks xmlns:a="http://schemas.openxmlformats.org/drawingml/2006/main" noGrp="1"/>
          </p:cNvSpPr>
          <p:nvPr/>
        </p:nvSpPr>
        <p:spPr>
          <a:xfrm xmlns:a="http://schemas.openxmlformats.org/drawingml/2006/main">
            <a:off x="914400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3BC82EFE-CD83-4128-A597-5353DB84893C}"/>
              </a:ext>
            </a:extLst>
          </p:cNvPr>
          <p:cNvSpPr>
            <a:spLocks xmlns:a="http://schemas.openxmlformats.org/drawingml/2006/main" noGrp="1"/>
          </p:cNvSpPr>
          <p:nvPr/>
        </p:nvSpPr>
        <p:spPr>
          <a:xfrm xmlns:a="http://schemas.openxmlformats.org/drawingml/2006/main">
            <a:off x="9144000" y="5029200"/>
            <a:ext cx="2781300" cy="38100"/>
          </a:xfrm>
          <a:prstGeom xmlns:a="http://schemas.openxmlformats.org/drawingml/2006/main" prst="rect">
            <a:avLst/>
          </a:prstGeom>
          <a:solidFill xmlns:a="http://schemas.openxmlformats.org/drawingml/2006/main">
            <a:srgbClr val="FF7A6B"/>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10D20B7A-C36C-4C7C-B14D-A97836C88698}"/>
              </a:ext>
            </a:extLst>
          </p:cNvPr>
          <p:cNvSpPr>
            <a:spLocks xmlns:a="http://schemas.openxmlformats.org/drawingml/2006/main" noGrp="1"/>
          </p:cNvSpPr>
          <p:nvPr/>
        </p:nvSpPr>
        <p:spPr>
          <a:xfrm xmlns:a="http://schemas.openxmlformats.org/drawingml/2006/main">
            <a:off x="9315450" y="5162550"/>
            <a:ext cx="24574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7A6B"/>
                </a:solidFill>
                <a:latin typeface="微软雅黑"/>
                <a:ea typeface="微软雅黑"/>
                <a:cs typeface="微软雅黑"/>
              </a:defRPr>
            </a:pPr>
            <a:r>
              <a:rPr sz="1013" b="1">
                <a:solidFill>
                  <a:srgbClr val="FF7A6B"/>
                </a:solidFill>
                <a:latin typeface="微软雅黑"/>
                <a:ea typeface="微软雅黑"/>
                <a:cs typeface="微软雅黑"/>
              </a:rPr>
              <a:t>风险与建议</a:t>
            </a:r>
          </a:p>
        </p:txBody>
      </p:sp>
      <p:sp>
        <p:nvSpPr>
          <p:cNvPr id="43" name="">
            <a:extLst xmlns:a="http://schemas.openxmlformats.org/drawingml/2006/main">
              <a:ext uri="{FF2B5EF4-FFF2-40B4-BE49-F238E27FC236}">
                <a16:creationId xmlns:a16="http://schemas.microsoft.com/office/drawing/2014/main" id="{BF1DCBB5-5DC3-434D-B9CB-221478264F09}"/>
              </a:ext>
            </a:extLst>
          </p:cNvPr>
          <p:cNvSpPr>
            <a:spLocks xmlns:a="http://schemas.openxmlformats.org/drawingml/2006/main" noGrp="1"/>
          </p:cNvSpPr>
          <p:nvPr/>
        </p:nvSpPr>
        <p:spPr>
          <a:xfrm xmlns:a="http://schemas.openxmlformats.org/drawingml/2006/main">
            <a:off x="9315450" y="5429250"/>
            <a:ext cx="249555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安全不合格一票否决；给出转岗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招聘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外委组合建议并附成本模拟</a:t>
            </a:r>
          </a:p>
        </p:txBody>
      </p:sp>
      <p:sp>
        <p:nvSpPr>
          <p:cNvPr id="44" name="">
            <a:extLst xmlns:a="http://schemas.openxmlformats.org/drawingml/2006/main">
              <a:ext uri="{FF2B5EF4-FFF2-40B4-BE49-F238E27FC236}">
                <a16:creationId xmlns:a16="http://schemas.microsoft.com/office/drawing/2014/main" id="{20FDCF55-9CE6-4D50-A5E1-162B89B03336}"/>
              </a:ext>
            </a:extLst>
          </p:cNvPr>
          <p:cNvSpPr>
            <a:spLocks xmlns:a="http://schemas.openxmlformats.org/drawingml/2006/main" noGrp="1"/>
          </p:cNvSpPr>
          <p:nvPr/>
        </p:nvSpPr>
        <p:spPr>
          <a:xfrm xmlns:a="http://schemas.openxmlformats.org/drawingml/2006/main">
            <a:off x="285750" y="6172200"/>
            <a:ext cx="11620500" cy="361950"/>
          </a:xfrm>
          <a:prstGeom xmlns:a="http://schemas.openxmlformats.org/drawingml/2006/main" prst="roundRect">
            <a:avLst>
              <a:gd name="adj" fmla="val 2368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5" name="">
            <a:extLst xmlns:a="http://schemas.openxmlformats.org/drawingml/2006/main">
              <a:ext uri="{FF2B5EF4-FFF2-40B4-BE49-F238E27FC236}">
                <a16:creationId xmlns:a16="http://schemas.microsoft.com/office/drawing/2014/main" id="{63D65FBF-F6BE-46F7-B22C-5C423D4CF00C}"/>
              </a:ext>
            </a:extLst>
          </p:cNvPr>
          <p:cNvSpPr>
            <a:spLocks xmlns:a="http://schemas.openxmlformats.org/drawingml/2006/main" noGrp="1"/>
          </p:cNvSpPr>
          <p:nvPr/>
        </p:nvSpPr>
        <p:spPr>
          <a:xfrm xmlns:a="http://schemas.openxmlformats.org/drawingml/2006/main">
            <a:off x="457200" y="6172200"/>
            <a:ext cx="11239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权限边界：老总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授权高管可看全公司汇总与钻取（心理与关怀数据仅返回脱敏聚合）；班组长只能看本班组业务数据；令牌制校验，越权返回 </a:t>
            </a:r>
            <a:r>
              <a:rPr sz="863" b="0">
                <a:solidFill>
                  <a:srgbClr val="EEF5FF"/>
                </a:solidFill>
                <a:latin typeface="微软雅黑"/>
                <a:ea typeface="微软雅黑"/>
                <a:cs typeface="微软雅黑"/>
              </a:rPr>
              <a:t>403 / code=40301</a:t>
            </a:r>
            <a:r>
              <a:rPr sz="863" b="0">
                <a:solidFill>
                  <a:srgbClr val="EEF5FF"/>
                </a:solidFill>
                <a:latin typeface="微软雅黑"/>
                <a:ea typeface="微软雅黑"/>
                <a:cs typeface="微软雅黑"/>
              </a:rPr>
              <a:t>。</a:t>
            </a:r>
          </a:p>
        </p:txBody>
      </p:sp>
      <p:sp>
        <p:nvSpPr>
          <p:cNvPr id="46" name="">
            <a:extLst xmlns:a="http://schemas.openxmlformats.org/drawingml/2006/main">
              <a:ext uri="{FF2B5EF4-FFF2-40B4-BE49-F238E27FC236}">
                <a16:creationId xmlns:a16="http://schemas.microsoft.com/office/drawing/2014/main" id="{DE9449C2-F9FD-445A-9F6E-F7F078A52CCC}"/>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A43FE206-039D-4EAF-AE5C-78C39CD7C581}"/>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F09DED56-8E93-46FF-8622-42E2E57132BD}"/>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9" name="">
            <a:extLst xmlns:a="http://schemas.openxmlformats.org/drawingml/2006/main">
              <a:ext uri="{FF2B5EF4-FFF2-40B4-BE49-F238E27FC236}">
                <a16:creationId xmlns:a16="http://schemas.microsoft.com/office/drawing/2014/main" id="{AC62406B-7468-4A8C-91B1-87A9639B1D4C}"/>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2F245A83-F3F4-4374-B512-784340C526F1}"/>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24</a:t>
            </a:r>
          </a:p>
        </p:txBody>
      </p:sp>
    </p:spTree>
    <p:extLst>
      <p:ext uri="{BB962C8B-B14F-4D97-AF65-F5344CB8AC3E}">
        <p14:creationId xmlns:p14="http://schemas.microsoft.com/office/powerpoint/2010/main" val="790369079"/>
      </p:ext>
    </p:extLst>
  </p:cSld>
</p:sld>
</file>

<file path=ppt/slides/slide2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a83c9ceebee431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6A3E98-34B0-4889-A108-155D12E8B0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8919ADED-8A90-4C16-9065-F3A702551F7C}"/>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373258A-480B-4704-82B4-70C10A1572C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EE6DABD9-976F-4F80-82E4-16F9C82FD93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7CF524AC-AFB7-4BB0-94C2-31FC5B78D38E}"/>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CA6656D6-B16D-40F4-9611-BCB5236D9305}"/>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361C1D11-8BCA-4ACC-BBF2-D61F2B8568AF}"/>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81E2AB56-0221-468C-9263-D3C062A8186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4ABC38AF-BD90-41F0-B6CF-B08CDE3DC46B}"/>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850C91C-322A-47AC-AAA9-24C6548E39DD}"/>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08F6234-568F-4AE5-A276-68D89D07EA75}"/>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80A005D-7425-4100-B6C9-E4434F296A4F}"/>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43D8C34B-479C-400E-87C5-49A06E43BBFB}"/>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系统界面五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管理员端：规则配置与审计溯源</a:t>
            </a:r>
          </a:p>
        </p:txBody>
      </p:sp>
      <p:sp>
        <p:nvSpPr>
          <p:cNvPr id="15" name="">
            <a:extLst xmlns:a="http://schemas.openxmlformats.org/drawingml/2006/main">
              <a:ext uri="{FF2B5EF4-FFF2-40B4-BE49-F238E27FC236}">
                <a16:creationId xmlns:a16="http://schemas.microsoft.com/office/drawing/2014/main" id="{EC52080E-6B5A-4557-A92A-B12439B18D7D}"/>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67EDDB7-6A50-4F29-8A38-791B5680A773}"/>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442978FB-5449-430E-8D1A-C8D7A9862083}"/>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A1AD4A42-E0D0-4F94-B037-137CE66F08D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8B953517-8DBD-4629-AC4C-CE2BA751FF8A}"/>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规则、阈值、模板全部配置入库</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管理员改库即生效，不需要开发改代码。</a:t>
            </a:r>
          </a:p>
        </p:txBody>
      </p:sp>
      <p:sp>
        <p:nvSpPr>
          <p:cNvPr id="20" name="">
            <a:extLst xmlns:a="http://schemas.openxmlformats.org/drawingml/2006/main">
              <a:ext uri="{FF2B5EF4-FFF2-40B4-BE49-F238E27FC236}">
                <a16:creationId xmlns:a16="http://schemas.microsoft.com/office/drawing/2014/main" id="{5D5936D9-E97B-4D47-A410-FDD13F6F7E93}"/>
              </a:ext>
            </a:extLst>
          </p:cNvPr>
          <p:cNvSpPr>
            <a:spLocks xmlns:a="http://schemas.openxmlformats.org/drawingml/2006/main" noGrp="1"/>
          </p:cNvSpPr>
          <p:nvPr/>
        </p:nvSpPr>
        <p:spPr>
          <a:xfrm xmlns:a="http://schemas.openxmlformats.org/drawingml/2006/main">
            <a:off x="285750" y="1333500"/>
            <a:ext cx="5905500" cy="3619500"/>
          </a:xfrm>
          <a:prstGeom xmlns:a="http://schemas.openxmlformats.org/drawingml/2006/main" prst="roundRect">
            <a:avLst>
              <a:gd name="adj" fmla="val 236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eec91b145f574f6d"/>
          <a:stretch xmlns:a="http://schemas.openxmlformats.org/drawingml/2006/main"/>
        </p:blipFill>
        <p:spPr>
          <a:xfrm xmlns:a="http://schemas.openxmlformats.org/drawingml/2006/main">
            <a:off x="342900" y="1627747"/>
            <a:ext cx="5791200" cy="3031006"/>
          </a:xfrm>
          <a:prstGeom xmlns:a="http://schemas.openxmlformats.org/drawingml/2006/main" prst="roundRect">
            <a:avLst>
              <a:gd name="adj" fmla="val 1630"/>
            </a:avLst>
          </a:prstGeom>
        </p:spPr>
      </p:pic>
      <p:sp>
        <p:nvSpPr>
          <p:cNvPr id="22" name="">
            <a:extLst xmlns:a="http://schemas.openxmlformats.org/drawingml/2006/main">
              <a:ext uri="{FF2B5EF4-FFF2-40B4-BE49-F238E27FC236}">
                <a16:creationId xmlns:a16="http://schemas.microsoft.com/office/drawing/2014/main" id="{D7900095-1549-41B8-B068-0CD9ACAB0772}"/>
              </a:ext>
            </a:extLst>
          </p:cNvPr>
          <p:cNvSpPr>
            <a:spLocks xmlns:a="http://schemas.openxmlformats.org/drawingml/2006/main" noGrp="1"/>
          </p:cNvSpPr>
          <p:nvPr/>
        </p:nvSpPr>
        <p:spPr>
          <a:xfrm xmlns:a="http://schemas.openxmlformats.org/drawingml/2006/main">
            <a:off x="285750" y="5010150"/>
            <a:ext cx="59055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90761C56-B7FF-4C0E-B9E8-60683B7C62B7}"/>
              </a:ext>
            </a:extLst>
          </p:cNvPr>
          <p:cNvSpPr>
            <a:spLocks xmlns:a="http://schemas.openxmlformats.org/drawingml/2006/main" noGrp="1"/>
          </p:cNvSpPr>
          <p:nvPr/>
        </p:nvSpPr>
        <p:spPr>
          <a:xfrm xmlns:a="http://schemas.openxmlformats.org/drawingml/2006/main">
            <a:off x="419100" y="5010150"/>
            <a:ext cx="5638800" cy="3810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本图证明：平台数据规模、用户与角色、岗位与部门维护都集中在管理员这一处配置。</a:t>
            </a:r>
          </a:p>
        </p:txBody>
      </p:sp>
      <p:sp>
        <p:nvSpPr>
          <p:cNvPr id="24" name="">
            <a:extLst xmlns:a="http://schemas.openxmlformats.org/drawingml/2006/main">
              <a:ext uri="{FF2B5EF4-FFF2-40B4-BE49-F238E27FC236}">
                <a16:creationId xmlns:a16="http://schemas.microsoft.com/office/drawing/2014/main" id="{C33CDE45-933C-4FB2-A8C8-4D4CC5EAF299}"/>
              </a:ext>
            </a:extLst>
          </p:cNvPr>
          <p:cNvSpPr>
            <a:spLocks xmlns:a="http://schemas.openxmlformats.org/drawingml/2006/main" noGrp="1"/>
          </p:cNvSpPr>
          <p:nvPr/>
        </p:nvSpPr>
        <p:spPr>
          <a:xfrm xmlns:a="http://schemas.openxmlformats.org/drawingml/2006/main">
            <a:off x="6381750" y="13335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9DA8BCCB-130E-4300-9F56-40720D9B2ABA}"/>
              </a:ext>
            </a:extLst>
          </p:cNvPr>
          <p:cNvSpPr>
            <a:spLocks xmlns:a="http://schemas.openxmlformats.org/drawingml/2006/main" noGrp="1"/>
          </p:cNvSpPr>
          <p:nvPr/>
        </p:nvSpPr>
        <p:spPr>
          <a:xfrm xmlns:a="http://schemas.openxmlformats.org/drawingml/2006/main">
            <a:off x="6381750" y="1333500"/>
            <a:ext cx="38100" cy="8953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62B3E523-6D38-4CED-965A-05CC2DEFB545}"/>
              </a:ext>
            </a:extLst>
          </p:cNvPr>
          <p:cNvSpPr>
            <a:spLocks xmlns:a="http://schemas.openxmlformats.org/drawingml/2006/main" noGrp="1"/>
          </p:cNvSpPr>
          <p:nvPr/>
        </p:nvSpPr>
        <p:spPr>
          <a:xfrm xmlns:a="http://schemas.openxmlformats.org/drawingml/2006/main">
            <a:off x="6572250" y="14382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4FD8FF"/>
                </a:solidFill>
                <a:latin typeface="微软雅黑"/>
                <a:ea typeface="微软雅黑"/>
                <a:cs typeface="微软雅黑"/>
              </a:defRPr>
            </a:pPr>
            <a:r>
              <a:rPr sz="1088" b="1">
                <a:solidFill>
                  <a:srgbClr val="4FD8FF"/>
                </a:solidFill>
                <a:latin typeface="微软雅黑"/>
                <a:ea typeface="微软雅黑"/>
                <a:cs typeface="微软雅黑"/>
              </a:rPr>
              <a:t>规则管理</a:t>
            </a:r>
          </a:p>
        </p:txBody>
      </p:sp>
      <p:sp>
        <p:nvSpPr>
          <p:cNvPr id="27" name="">
            <a:extLst xmlns:a="http://schemas.openxmlformats.org/drawingml/2006/main">
              <a:ext uri="{FF2B5EF4-FFF2-40B4-BE49-F238E27FC236}">
                <a16:creationId xmlns:a16="http://schemas.microsoft.com/office/drawing/2014/main" id="{689DDC3A-245C-4754-85DF-E5A9C71D9BDB}"/>
              </a:ext>
            </a:extLst>
          </p:cNvPr>
          <p:cNvSpPr>
            <a:spLocks xmlns:a="http://schemas.openxmlformats.org/drawingml/2006/main" noGrp="1"/>
          </p:cNvSpPr>
          <p:nvPr/>
        </p:nvSpPr>
        <p:spPr>
          <a:xfrm xmlns:a="http://schemas.openxmlformats.org/drawingml/2006/main">
            <a:off x="6572250" y="17049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维护 </a:t>
            </a:r>
            <a:r>
              <a:rPr sz="863" b="0">
                <a:solidFill>
                  <a:srgbClr val="EEF5FF"/>
                </a:solidFill>
                <a:latin typeface="微软雅黑"/>
                <a:ea typeface="微软雅黑"/>
                <a:cs typeface="微软雅黑"/>
              </a:rPr>
              <a:t>rule </a:t>
            </a:r>
            <a:r>
              <a:rPr sz="863" b="0">
                <a:solidFill>
                  <a:srgbClr val="EEF5FF"/>
                </a:solidFill>
                <a:latin typeface="微软雅黑"/>
                <a:ea typeface="微软雅黑"/>
                <a:cs typeface="微软雅黑"/>
              </a:rPr>
              <a:t>表：条件 </a:t>
            </a:r>
            <a:r>
              <a:rPr sz="863" b="0">
                <a:solidFill>
                  <a:srgbClr val="EEF5FF"/>
                </a:solidFill>
                <a:latin typeface="微软雅黑"/>
                <a:ea typeface="微软雅黑"/>
                <a:cs typeface="微软雅黑"/>
              </a:rPr>
              <a:t>JSON</a:t>
            </a:r>
            <a:r>
              <a:rPr sz="863" b="0">
                <a:solidFill>
                  <a:srgbClr val="EEF5FF"/>
                </a:solidFill>
                <a:latin typeface="微软雅黑"/>
                <a:ea typeface="微软雅黑"/>
                <a:cs typeface="微软雅黑"/>
              </a:rPr>
              <a:t>、动作 </a:t>
            </a:r>
            <a:r>
              <a:rPr sz="863" b="0">
                <a:solidFill>
                  <a:srgbClr val="EEF5FF"/>
                </a:solidFill>
                <a:latin typeface="微软雅黑"/>
                <a:ea typeface="微软雅黑"/>
                <a:cs typeface="微软雅黑"/>
              </a:rPr>
              <a:t>JSON</a:t>
            </a:r>
            <a:r>
              <a:rPr sz="863" b="0">
                <a:solidFill>
                  <a:srgbClr val="EEF5FF"/>
                </a:solidFill>
                <a:latin typeface="微软雅黑"/>
                <a:ea typeface="微软雅黑"/>
                <a:cs typeface="微软雅黑"/>
              </a:rPr>
              <a:t>、优先级、分组、启停与试算；前端不直连规则引擎，只有管理员可调用 </a:t>
            </a:r>
            <a:r>
              <a:rPr sz="863" b="0">
                <a:solidFill>
                  <a:srgbClr val="EEF5FF"/>
                </a:solidFill>
                <a:latin typeface="微软雅黑"/>
                <a:ea typeface="微软雅黑"/>
                <a:cs typeface="微软雅黑"/>
              </a:rPr>
              <a:t>/api/v1/rules/** </a:t>
            </a:r>
            <a:r>
              <a:rPr sz="863" b="0">
                <a:solidFill>
                  <a:srgbClr val="EEF5FF"/>
                </a:solidFill>
                <a:latin typeface="微软雅黑"/>
                <a:ea typeface="微软雅黑"/>
                <a:cs typeface="微软雅黑"/>
              </a:rPr>
              <a:t>做测试。</a:t>
            </a:r>
          </a:p>
        </p:txBody>
      </p:sp>
      <p:sp>
        <p:nvSpPr>
          <p:cNvPr id="28" name="">
            <a:extLst xmlns:a="http://schemas.openxmlformats.org/drawingml/2006/main">
              <a:ext uri="{FF2B5EF4-FFF2-40B4-BE49-F238E27FC236}">
                <a16:creationId xmlns:a16="http://schemas.microsoft.com/office/drawing/2014/main" id="{275D73F1-1D51-4964-8331-49BC8BE9910F}"/>
              </a:ext>
            </a:extLst>
          </p:cNvPr>
          <p:cNvSpPr>
            <a:spLocks xmlns:a="http://schemas.openxmlformats.org/drawingml/2006/main" noGrp="1"/>
          </p:cNvSpPr>
          <p:nvPr/>
        </p:nvSpPr>
        <p:spPr>
          <a:xfrm xmlns:a="http://schemas.openxmlformats.org/drawingml/2006/main">
            <a:off x="6381750" y="23241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00266846-5A7E-4836-91F8-0C96C1751CD0}"/>
              </a:ext>
            </a:extLst>
          </p:cNvPr>
          <p:cNvSpPr>
            <a:spLocks xmlns:a="http://schemas.openxmlformats.org/drawingml/2006/main" noGrp="1"/>
          </p:cNvSpPr>
          <p:nvPr/>
        </p:nvSpPr>
        <p:spPr>
          <a:xfrm xmlns:a="http://schemas.openxmlformats.org/drawingml/2006/main">
            <a:off x="6381750" y="2324100"/>
            <a:ext cx="38100" cy="8953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605761FD-0672-4E81-AEAE-6FF1B36A1A19}"/>
              </a:ext>
            </a:extLst>
          </p:cNvPr>
          <p:cNvSpPr>
            <a:spLocks xmlns:a="http://schemas.openxmlformats.org/drawingml/2006/main" noGrp="1"/>
          </p:cNvSpPr>
          <p:nvPr/>
        </p:nvSpPr>
        <p:spPr>
          <a:xfrm xmlns:a="http://schemas.openxmlformats.org/drawingml/2006/main">
            <a:off x="6572250" y="24288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4FD8FF"/>
                </a:solidFill>
                <a:latin typeface="微软雅黑"/>
                <a:ea typeface="微软雅黑"/>
                <a:cs typeface="微软雅黑"/>
              </a:defRPr>
            </a:pPr>
            <a:r>
              <a:rPr sz="1088" b="1">
                <a:solidFill>
                  <a:srgbClr val="4FD8FF"/>
                </a:solidFill>
                <a:latin typeface="微软雅黑"/>
                <a:ea typeface="微软雅黑"/>
                <a:cs typeface="微软雅黑"/>
              </a:rPr>
              <a:t>模板与阈值</a:t>
            </a:r>
          </a:p>
        </p:txBody>
      </p:sp>
      <p:sp>
        <p:nvSpPr>
          <p:cNvPr id="31" name="">
            <a:extLst xmlns:a="http://schemas.openxmlformats.org/drawingml/2006/main">
              <a:ext uri="{FF2B5EF4-FFF2-40B4-BE49-F238E27FC236}">
                <a16:creationId xmlns:a16="http://schemas.microsoft.com/office/drawing/2014/main" id="{2183741A-C7B2-4943-8DE8-BD600D9EE643}"/>
              </a:ext>
            </a:extLst>
          </p:cNvPr>
          <p:cNvSpPr>
            <a:spLocks xmlns:a="http://schemas.openxmlformats.org/drawingml/2006/main" noGrp="1"/>
          </p:cNvSpPr>
          <p:nvPr/>
        </p:nvSpPr>
        <p:spPr>
          <a:xfrm xmlns:a="http://schemas.openxmlformats.org/drawingml/2006/main">
            <a:off x="6572250" y="26955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气体检测的标准气体与阈值（</a:t>
            </a:r>
            <a:r>
              <a:rPr sz="863" b="0">
                <a:solidFill>
                  <a:srgbClr val="EEF5FF"/>
                </a:solidFill>
                <a:latin typeface="微软雅黑"/>
                <a:ea typeface="微软雅黑"/>
                <a:cs typeface="微软雅黑"/>
              </a:rPr>
              <a:t>SF6 1000 ppm</a:t>
            </a:r>
            <a:r>
              <a:rPr sz="863" b="0">
                <a:solidFill>
                  <a:srgbClr val="EEF5FF"/>
                </a:solidFill>
                <a:latin typeface="微软雅黑"/>
                <a:ea typeface="微软雅黑"/>
                <a:cs typeface="微软雅黑"/>
              </a:rPr>
              <a:t>、微水 </a:t>
            </a:r>
            <a:r>
              <a:rPr sz="863" b="0">
                <a:solidFill>
                  <a:srgbClr val="EEF5FF"/>
                </a:solidFill>
                <a:latin typeface="微软雅黑"/>
                <a:ea typeface="微软雅黑"/>
                <a:cs typeface="微软雅黑"/>
              </a:rPr>
              <a:t>150 μL/L</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H2S 10 ppm</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CO 30 ppm</a:t>
            </a:r>
            <a:r>
              <a:rPr sz="863" b="0">
                <a:solidFill>
                  <a:srgbClr val="EEF5FF"/>
                </a:solidFill>
                <a:latin typeface="微软雅黑"/>
                <a:ea typeface="微软雅黑"/>
                <a:cs typeface="微软雅黑"/>
              </a:rPr>
              <a:t>、可燃气 </a:t>
            </a:r>
            <a:r>
              <a:rPr sz="863" b="0">
                <a:solidFill>
                  <a:srgbClr val="EEF5FF"/>
                </a:solidFill>
                <a:latin typeface="微软雅黑"/>
                <a:ea typeface="微软雅黑"/>
                <a:cs typeface="微软雅黑"/>
              </a:rPr>
              <a:t>10 %LEL</a:t>
            </a:r>
            <a:r>
              <a:rPr sz="863" b="0">
                <a:solidFill>
                  <a:srgbClr val="EEF5FF"/>
                </a:solidFill>
                <a:latin typeface="微软雅黑"/>
                <a:ea typeface="微软雅黑"/>
                <a:cs typeface="微软雅黑"/>
              </a:rPr>
              <a:t>）由模板装载器在启动时读库装载。</a:t>
            </a:r>
          </a:p>
        </p:txBody>
      </p:sp>
      <p:sp>
        <p:nvSpPr>
          <p:cNvPr id="32" name="">
            <a:extLst xmlns:a="http://schemas.openxmlformats.org/drawingml/2006/main">
              <a:ext uri="{FF2B5EF4-FFF2-40B4-BE49-F238E27FC236}">
                <a16:creationId xmlns:a16="http://schemas.microsoft.com/office/drawing/2014/main" id="{7DB6A9A1-120F-489A-B294-CD5FEBDBB0DB}"/>
              </a:ext>
            </a:extLst>
          </p:cNvPr>
          <p:cNvSpPr>
            <a:spLocks xmlns:a="http://schemas.openxmlformats.org/drawingml/2006/main" noGrp="1"/>
          </p:cNvSpPr>
          <p:nvPr/>
        </p:nvSpPr>
        <p:spPr>
          <a:xfrm xmlns:a="http://schemas.openxmlformats.org/drawingml/2006/main">
            <a:off x="6381750" y="33147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9BF652CD-1691-48AF-8C41-0A12A43EC270}"/>
              </a:ext>
            </a:extLst>
          </p:cNvPr>
          <p:cNvSpPr>
            <a:spLocks xmlns:a="http://schemas.openxmlformats.org/drawingml/2006/main" noGrp="1"/>
          </p:cNvSpPr>
          <p:nvPr/>
        </p:nvSpPr>
        <p:spPr>
          <a:xfrm xmlns:a="http://schemas.openxmlformats.org/drawingml/2006/main">
            <a:off x="6381750" y="3314700"/>
            <a:ext cx="38100" cy="8953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93841EAC-DC53-4EA0-9DDC-1DCB4B41007D}"/>
              </a:ext>
            </a:extLst>
          </p:cNvPr>
          <p:cNvSpPr>
            <a:spLocks xmlns:a="http://schemas.openxmlformats.org/drawingml/2006/main" noGrp="1"/>
          </p:cNvSpPr>
          <p:nvPr/>
        </p:nvSpPr>
        <p:spPr>
          <a:xfrm xmlns:a="http://schemas.openxmlformats.org/drawingml/2006/main">
            <a:off x="6572250" y="34194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4FD8FF"/>
                </a:solidFill>
                <a:latin typeface="微软雅黑"/>
                <a:ea typeface="微软雅黑"/>
                <a:cs typeface="微软雅黑"/>
              </a:defRPr>
            </a:pPr>
            <a:r>
              <a:rPr sz="1088" b="1">
                <a:solidFill>
                  <a:srgbClr val="4FD8FF"/>
                </a:solidFill>
                <a:latin typeface="微软雅黑"/>
                <a:ea typeface="微软雅黑"/>
                <a:cs typeface="微软雅黑"/>
              </a:rPr>
              <a:t>审计日志</a:t>
            </a:r>
          </a:p>
        </p:txBody>
      </p:sp>
      <p:sp>
        <p:nvSpPr>
          <p:cNvPr id="35" name="">
            <a:extLst xmlns:a="http://schemas.openxmlformats.org/drawingml/2006/main">
              <a:ext uri="{FF2B5EF4-FFF2-40B4-BE49-F238E27FC236}">
                <a16:creationId xmlns:a16="http://schemas.microsoft.com/office/drawing/2014/main" id="{EDA706F4-3ADB-470B-956E-609A41F274E3}"/>
              </a:ext>
            </a:extLst>
          </p:cNvPr>
          <p:cNvSpPr>
            <a:spLocks xmlns:a="http://schemas.openxmlformats.org/drawingml/2006/main" noGrp="1"/>
          </p:cNvSpPr>
          <p:nvPr/>
        </p:nvSpPr>
        <p:spPr>
          <a:xfrm xmlns:a="http://schemas.openxmlformats.org/drawingml/2006/main">
            <a:off x="6572250" y="36861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记录登录、修改、审批、决策、执行与回滚；决策留痕可下钻到具体的人、报告与记录。</a:t>
            </a:r>
          </a:p>
        </p:txBody>
      </p:sp>
      <p:sp>
        <p:nvSpPr>
          <p:cNvPr id="36" name="">
            <a:extLst xmlns:a="http://schemas.openxmlformats.org/drawingml/2006/main">
              <a:ext uri="{FF2B5EF4-FFF2-40B4-BE49-F238E27FC236}">
                <a16:creationId xmlns:a16="http://schemas.microsoft.com/office/drawing/2014/main" id="{56FB76C1-4D3A-4330-994E-6AA8677E92B3}"/>
              </a:ext>
            </a:extLst>
          </p:cNvPr>
          <p:cNvSpPr>
            <a:spLocks xmlns:a="http://schemas.openxmlformats.org/drawingml/2006/main" noGrp="1"/>
          </p:cNvSpPr>
          <p:nvPr/>
        </p:nvSpPr>
        <p:spPr>
          <a:xfrm xmlns:a="http://schemas.openxmlformats.org/drawingml/2006/main">
            <a:off x="6381750" y="43053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8F732C61-3984-4F9A-9D37-F8EBD9BEF672}"/>
              </a:ext>
            </a:extLst>
          </p:cNvPr>
          <p:cNvSpPr>
            <a:spLocks xmlns:a="http://schemas.openxmlformats.org/drawingml/2006/main" noGrp="1"/>
          </p:cNvSpPr>
          <p:nvPr/>
        </p:nvSpPr>
        <p:spPr>
          <a:xfrm xmlns:a="http://schemas.openxmlformats.org/drawingml/2006/main">
            <a:off x="6381750" y="4305300"/>
            <a:ext cx="38100" cy="895350"/>
          </a:xfrm>
          <a:prstGeom xmlns:a="http://schemas.openxmlformats.org/drawingml/2006/main" prst="rect">
            <a:avLst/>
          </a:prstGeom>
          <a:solidFill xmlns:a="http://schemas.openxmlformats.org/drawingml/2006/main">
            <a:srgbClr val="FF7A6B"/>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E3439DF9-C797-4E61-BF1F-AE2A12CAA452}"/>
              </a:ext>
            </a:extLst>
          </p:cNvPr>
          <p:cNvSpPr>
            <a:spLocks xmlns:a="http://schemas.openxmlformats.org/drawingml/2006/main" noGrp="1"/>
          </p:cNvSpPr>
          <p:nvPr/>
        </p:nvSpPr>
        <p:spPr>
          <a:xfrm xmlns:a="http://schemas.openxmlformats.org/drawingml/2006/main">
            <a:off x="6572250" y="4410075"/>
            <a:ext cx="5143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F7A6B"/>
                </a:solidFill>
                <a:latin typeface="微软雅黑"/>
                <a:ea typeface="微软雅黑"/>
                <a:cs typeface="微软雅黑"/>
              </a:defRPr>
            </a:pPr>
            <a:r>
              <a:rPr sz="1088" b="1">
                <a:solidFill>
                  <a:srgbClr val="FF7A6B"/>
                </a:solidFill>
                <a:latin typeface="微软雅黑"/>
                <a:ea typeface="微软雅黑"/>
                <a:cs typeface="微软雅黑"/>
              </a:rPr>
              <a:t>待补能力（如实标注）</a:t>
            </a:r>
          </a:p>
        </p:txBody>
      </p:sp>
      <p:sp>
        <p:nvSpPr>
          <p:cNvPr id="39" name="">
            <a:extLst xmlns:a="http://schemas.openxmlformats.org/drawingml/2006/main">
              <a:ext uri="{FF2B5EF4-FFF2-40B4-BE49-F238E27FC236}">
                <a16:creationId xmlns:a16="http://schemas.microsoft.com/office/drawing/2014/main" id="{B84C760B-640D-4B78-8B15-766585EA3FA8}"/>
              </a:ext>
            </a:extLst>
          </p:cNvPr>
          <p:cNvSpPr>
            <a:spLocks xmlns:a="http://schemas.openxmlformats.org/drawingml/2006/main" noGrp="1"/>
          </p:cNvSpPr>
          <p:nvPr/>
        </p:nvSpPr>
        <p:spPr>
          <a:xfrm xmlns:a="http://schemas.openxmlformats.org/drawingml/2006/main">
            <a:off x="6572250" y="4676775"/>
            <a:ext cx="51816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规则的增删改与启停开关目前仍需进库操作；对外部署前需接入内网统一身份。</a:t>
            </a:r>
          </a:p>
        </p:txBody>
      </p:sp>
      <p:sp>
        <p:nvSpPr>
          <p:cNvPr id="40" name="">
            <a:extLst xmlns:a="http://schemas.openxmlformats.org/drawingml/2006/main">
              <a:ext uri="{FF2B5EF4-FFF2-40B4-BE49-F238E27FC236}">
                <a16:creationId xmlns:a16="http://schemas.microsoft.com/office/drawing/2014/main" id="{DD8AA265-BC74-4616-B6CA-C6F4AC149920}"/>
              </a:ext>
            </a:extLst>
          </p:cNvPr>
          <p:cNvSpPr>
            <a:spLocks xmlns:a="http://schemas.openxmlformats.org/drawingml/2006/main" noGrp="1"/>
          </p:cNvSpPr>
          <p:nvPr/>
        </p:nvSpPr>
        <p:spPr>
          <a:xfrm xmlns:a="http://schemas.openxmlformats.org/drawingml/2006/main">
            <a:off x="285750" y="5467350"/>
            <a:ext cx="11620500" cy="1047750"/>
          </a:xfrm>
          <a:prstGeom xmlns:a="http://schemas.openxmlformats.org/drawingml/2006/main" prst="roundRect">
            <a:avLst>
              <a:gd name="adj" fmla="val 81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063F4928-D328-4BA7-93C7-7C1D87FA319D}"/>
              </a:ext>
            </a:extLst>
          </p:cNvPr>
          <p:cNvSpPr>
            <a:spLocks xmlns:a="http://schemas.openxmlformats.org/drawingml/2006/main" noGrp="1"/>
          </p:cNvSpPr>
          <p:nvPr/>
        </p:nvSpPr>
        <p:spPr>
          <a:xfrm xmlns:a="http://schemas.openxmlformats.org/drawingml/2006/main">
            <a:off x="457200" y="556260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配置入库是既有范式，不是本页口号</a:t>
            </a:r>
          </a:p>
        </p:txBody>
      </p:sp>
      <p:sp>
        <p:nvSpPr>
          <p:cNvPr id="42" name="">
            <a:extLst xmlns:a="http://schemas.openxmlformats.org/drawingml/2006/main">
              <a:ext uri="{FF2B5EF4-FFF2-40B4-BE49-F238E27FC236}">
                <a16:creationId xmlns:a16="http://schemas.microsoft.com/office/drawing/2014/main" id="{ECABDC23-4A56-489B-A023-5EA1BDDDC7AB}"/>
              </a:ext>
            </a:extLst>
          </p:cNvPr>
          <p:cNvSpPr>
            <a:spLocks xmlns:a="http://schemas.openxmlformats.org/drawingml/2006/main" noGrp="1"/>
          </p:cNvSpPr>
          <p:nvPr/>
        </p:nvSpPr>
        <p:spPr>
          <a:xfrm xmlns:a="http://schemas.openxmlformats.org/drawingml/2006/main">
            <a:off x="457200" y="5829300"/>
            <a:ext cx="11239500" cy="628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模板与阈值类内容（</a:t>
            </a:r>
            <a:r>
              <a:rPr sz="900" b="0">
                <a:solidFill>
                  <a:srgbClr val="EEF5FF"/>
                </a:solidFill>
                <a:latin typeface="微软雅黑"/>
                <a:ea typeface="微软雅黑"/>
                <a:cs typeface="微软雅黑"/>
              </a:rPr>
              <a:t>gas_rule / report_template_*</a:t>
            </a:r>
            <a:r>
              <a:rPr sz="900" b="0">
                <a:solidFill>
                  <a:srgbClr val="EEF5FF"/>
                </a:solidFill>
                <a:latin typeface="微软雅黑"/>
                <a:ea typeface="微软雅黑"/>
                <a:cs typeface="微软雅黑"/>
              </a:rPr>
              <a:t>）由 </a:t>
            </a:r>
            <a:r>
              <a:rPr sz="900" b="0">
                <a:solidFill>
                  <a:srgbClr val="EEF5FF"/>
                </a:solidFill>
                <a:latin typeface="微软雅黑"/>
                <a:ea typeface="微软雅黑"/>
                <a:cs typeface="微软雅黑"/>
              </a:rPr>
              <a:t>ReportTemplateLoader </a:t>
            </a:r>
            <a:r>
              <a:rPr sz="900" b="0">
                <a:solidFill>
                  <a:srgbClr val="EEF5FF"/>
                </a:solidFill>
                <a:latin typeface="微软雅黑"/>
                <a:ea typeface="微软雅黑"/>
                <a:cs typeface="微软雅黑"/>
              </a:rPr>
              <a:t>在启动时装载进 </a:t>
            </a:r>
            <a:r>
              <a:rPr sz="900" b="0">
                <a:solidFill>
                  <a:srgbClr val="EEF5FF"/>
                </a:solidFill>
                <a:latin typeface="微软雅黑"/>
                <a:ea typeface="微软雅黑"/>
                <a:cs typeface="微软雅黑"/>
              </a:rPr>
              <a:t>ReportTemplate</a:t>
            </a:r>
            <a:r>
              <a:rPr sz="900" b="0">
                <a:solidFill>
                  <a:srgbClr val="EEF5FF"/>
                </a:solidFill>
                <a:latin typeface="微软雅黑"/>
                <a:ea typeface="微软雅黑"/>
                <a:cs typeface="微软雅黑"/>
              </a:rPr>
              <a:t>，管理员改库即改模板与阈值；规则引擎沿用同一条路子</a:t>
            </a:r>
            <a:r>
              <a:rPr sz="900" b="0">
                <a:solidFill>
                  <a:srgbClr val="EEF5FF"/>
                </a:solidFill>
                <a:latin typeface="微软雅黑"/>
                <a:ea typeface="微软雅黑"/>
                <a:cs typeface="微软雅黑"/>
              </a:rPr>
              <a:t>——</a:t>
            </a:r>
            <a:r>
              <a:rPr sz="900" b="0">
                <a:solidFill>
                  <a:srgbClr val="EEF5FF"/>
                </a:solidFill>
                <a:latin typeface="微软雅黑"/>
                <a:ea typeface="微软雅黑"/>
                <a:cs typeface="微软雅黑"/>
              </a:rPr>
              <a:t>判断逻辑进库、代码不硬编码，这也是「改库即改规则」能够成立的原因。</a:t>
            </a:r>
          </a:p>
        </p:txBody>
      </p:sp>
      <p:sp>
        <p:nvSpPr>
          <p:cNvPr id="43" name="">
            <a:extLst xmlns:a="http://schemas.openxmlformats.org/drawingml/2006/main">
              <a:ext uri="{FF2B5EF4-FFF2-40B4-BE49-F238E27FC236}">
                <a16:creationId xmlns:a16="http://schemas.microsoft.com/office/drawing/2014/main" id="{5CE3ED88-5A5A-4465-9F3F-7A494B6D0C05}"/>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3ED514DA-ABAA-4FD1-901D-66F01276235E}"/>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EADE9EEB-AA10-4F95-AD0F-C954A0C0D52A}"/>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6" name="">
            <a:extLst xmlns:a="http://schemas.openxmlformats.org/drawingml/2006/main">
              <a:ext uri="{FF2B5EF4-FFF2-40B4-BE49-F238E27FC236}">
                <a16:creationId xmlns:a16="http://schemas.microsoft.com/office/drawing/2014/main" id="{B11E0208-4124-4A6E-BD5B-D999720FB142}"/>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08AE58B3-45C1-4590-A22C-7D147A39FC1F}"/>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25</a:t>
            </a:r>
          </a:p>
        </p:txBody>
      </p:sp>
    </p:spTree>
    <p:extLst>
      <p:ext uri="{BB962C8B-B14F-4D97-AF65-F5344CB8AC3E}">
        <p14:creationId xmlns:p14="http://schemas.microsoft.com/office/powerpoint/2010/main" val="508188940"/>
      </p:ext>
    </p:extLst>
  </p:cSld>
</p:sld>
</file>

<file path=ppt/slides/slide2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e5892e151c4e4f3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B87CDDE-DED2-4F4B-A2E5-0D7A43AB18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2FBE302A-F63A-435F-BCD2-976C9C7021C4}"/>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FC62D4C8-7C26-4FB3-8F88-9A297BB7E69A}"/>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553FB76-DB69-4F6D-84B3-36624FB3E19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AB5F9E8F-7A80-4B7B-AF92-32C9393E9318}"/>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2662E468-7B3D-4EB9-8503-BFA63AED7303}"/>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30B79B43-7F62-4263-B52B-096DF302EB6A}"/>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C2A5F0BA-A14D-4C46-B49E-899CBF6A8681}"/>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2294137F-CD89-470D-A4AB-59FFD351AE3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9250310D-79CB-4AC2-93E3-E211318933BF}"/>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BA51C1AB-4049-4A2A-B837-4729D4CDE122}"/>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322CF420-3408-484A-AE1A-3E681719E093}"/>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05457E99-2144-4FDD-BF0A-7B2BCCE960D3}"/>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四类角色与数据流闭环</a:t>
            </a:r>
          </a:p>
        </p:txBody>
      </p:sp>
      <p:sp>
        <p:nvSpPr>
          <p:cNvPr id="15" name="">
            <a:extLst xmlns:a="http://schemas.openxmlformats.org/drawingml/2006/main">
              <a:ext uri="{FF2B5EF4-FFF2-40B4-BE49-F238E27FC236}">
                <a16:creationId xmlns:a16="http://schemas.microsoft.com/office/drawing/2014/main" id="{29218B04-6138-4261-965C-448DE7ADB1A8}"/>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EF05145-FAAF-4617-898D-2C72FF3096CE}"/>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83139493-D3C6-43DF-8A06-097C3605D78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5C3F97A8-DBA6-4138-81B1-537BB84EBA52}"/>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C432659E-9571-41FE-9CA8-0131CDD833A5}"/>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四端共用一套数据底座，从个人能力提升、班组执行到管理决策，全程可确认、可追溯。</a:t>
            </a:r>
          </a:p>
        </p:txBody>
      </p:sp>
      <p:sp>
        <p:nvSpPr>
          <p:cNvPr id="20" name="">
            <a:extLst xmlns:a="http://schemas.openxmlformats.org/drawingml/2006/main">
              <a:ext uri="{FF2B5EF4-FFF2-40B4-BE49-F238E27FC236}">
                <a16:creationId xmlns:a16="http://schemas.microsoft.com/office/drawing/2014/main" id="{CC46685B-DED3-4030-AAB3-E8F50FF439F2}"/>
              </a:ext>
            </a:extLst>
          </p:cNvPr>
          <p:cNvSpPr>
            <a:spLocks xmlns:a="http://schemas.openxmlformats.org/drawingml/2006/main" noGrp="1"/>
          </p:cNvSpPr>
          <p:nvPr/>
        </p:nvSpPr>
        <p:spPr>
          <a:xfrm xmlns:a="http://schemas.openxmlformats.org/drawingml/2006/main">
            <a:off x="28575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C58541A6-8100-4FD4-BE0B-56AE3AD68290}"/>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30FD2111-F937-472B-A8FD-1F1349DD9B57}"/>
              </a:ext>
            </a:extLst>
          </p:cNvPr>
          <p:cNvSpPr>
            <a:spLocks xmlns:a="http://schemas.openxmlformats.org/drawingml/2006/main" noGrp="1"/>
          </p:cNvSpPr>
          <p:nvPr/>
        </p:nvSpPr>
        <p:spPr>
          <a:xfrm xmlns:a="http://schemas.openxmlformats.org/drawingml/2006/main">
            <a:off x="47625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4FD8FF"/>
                </a:solidFill>
                <a:latin typeface="微软雅黑"/>
                <a:ea typeface="微软雅黑"/>
                <a:cs typeface="微软雅黑"/>
              </a:defRPr>
            </a:pPr>
            <a:r>
              <a:rPr sz="1500" b="1">
                <a:solidFill>
                  <a:srgbClr val="4FD8FF"/>
                </a:solidFill>
                <a:latin typeface="微软雅黑"/>
                <a:ea typeface="微软雅黑"/>
                <a:cs typeface="微软雅黑"/>
              </a:rPr>
              <a:t>员工端</a:t>
            </a:r>
          </a:p>
        </p:txBody>
      </p:sp>
      <p:sp>
        <p:nvSpPr>
          <p:cNvPr id="23" name="">
            <a:extLst xmlns:a="http://schemas.openxmlformats.org/drawingml/2006/main">
              <a:ext uri="{FF2B5EF4-FFF2-40B4-BE49-F238E27FC236}">
                <a16:creationId xmlns:a16="http://schemas.microsoft.com/office/drawing/2014/main" id="{2B9D1DBA-E937-4044-BBBD-690E91044070}"/>
              </a:ext>
            </a:extLst>
          </p:cNvPr>
          <p:cNvSpPr>
            <a:spLocks xmlns:a="http://schemas.openxmlformats.org/drawingml/2006/main" noGrp="1"/>
          </p:cNvSpPr>
          <p:nvPr/>
        </p:nvSpPr>
        <p:spPr>
          <a:xfrm xmlns:a="http://schemas.openxmlformats.org/drawingml/2006/main">
            <a:off x="47625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张伟</a:t>
            </a:r>
          </a:p>
        </p:txBody>
      </p:sp>
      <p:sp>
        <p:nvSpPr>
          <p:cNvPr id="24" name="">
            <a:extLst xmlns:a="http://schemas.openxmlformats.org/drawingml/2006/main">
              <a:ext uri="{FF2B5EF4-FFF2-40B4-BE49-F238E27FC236}">
                <a16:creationId xmlns:a16="http://schemas.microsoft.com/office/drawing/2014/main" id="{17DC3E15-62A5-4C41-8F62-B10C5267B44B}"/>
              </a:ext>
            </a:extLst>
          </p:cNvPr>
          <p:cNvSpPr>
            <a:spLocks xmlns:a="http://schemas.openxmlformats.org/drawingml/2006/main" noGrp="1"/>
          </p:cNvSpPr>
          <p:nvPr/>
        </p:nvSpPr>
        <p:spPr>
          <a:xfrm xmlns:a="http://schemas.openxmlformats.org/drawingml/2006/main">
            <a:off x="476250" y="2114550"/>
            <a:ext cx="419100" cy="190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4651E5B0-57E0-4EE9-9AC5-5A571F989216}"/>
              </a:ext>
            </a:extLst>
          </p:cNvPr>
          <p:cNvSpPr>
            <a:spLocks xmlns:a="http://schemas.openxmlformats.org/drawingml/2006/main" noGrp="1"/>
          </p:cNvSpPr>
          <p:nvPr/>
        </p:nvSpPr>
        <p:spPr>
          <a:xfrm xmlns:a="http://schemas.openxmlformats.org/drawingml/2006/main">
            <a:off x="47625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查看个人能力画像与学习建议</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完成练习与考试</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查看错题原因与能力短板</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提交实操报告</a:t>
            </a:r>
          </a:p>
        </p:txBody>
      </p:sp>
      <p:sp>
        <p:nvSpPr>
          <p:cNvPr id="26" name="">
            <a:extLst xmlns:a="http://schemas.openxmlformats.org/drawingml/2006/main">
              <a:ext uri="{FF2B5EF4-FFF2-40B4-BE49-F238E27FC236}">
                <a16:creationId xmlns:a16="http://schemas.microsoft.com/office/drawing/2014/main" id="{3E987CEC-4E29-4D88-A78B-AB161DC253B8}"/>
              </a:ext>
            </a:extLst>
          </p:cNvPr>
          <p:cNvSpPr>
            <a:spLocks xmlns:a="http://schemas.openxmlformats.org/drawingml/2006/main" noGrp="1"/>
          </p:cNvSpPr>
          <p:nvPr/>
        </p:nvSpPr>
        <p:spPr>
          <a:xfrm xmlns:a="http://schemas.openxmlformats.org/drawingml/2006/main">
            <a:off x="323850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6C3B2BE0-DA5B-4EE0-98A0-108B2C830FF0}"/>
              </a:ext>
            </a:extLst>
          </p:cNvPr>
          <p:cNvSpPr>
            <a:spLocks xmlns:a="http://schemas.openxmlformats.org/drawingml/2006/main" noGrp="1"/>
          </p:cNvSpPr>
          <p:nvPr/>
        </p:nvSpPr>
        <p:spPr>
          <a:xfrm xmlns:a="http://schemas.openxmlformats.org/drawingml/2006/main">
            <a:off x="3238500" y="1333500"/>
            <a:ext cx="2781300" cy="47625"/>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D5C093C2-0CCD-4EB6-A7C8-2417BDA754D2}"/>
              </a:ext>
            </a:extLst>
          </p:cNvPr>
          <p:cNvSpPr>
            <a:spLocks xmlns:a="http://schemas.openxmlformats.org/drawingml/2006/main" noGrp="1"/>
          </p:cNvSpPr>
          <p:nvPr/>
        </p:nvSpPr>
        <p:spPr>
          <a:xfrm xmlns:a="http://schemas.openxmlformats.org/drawingml/2006/main">
            <a:off x="342900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2E86E0"/>
                </a:solidFill>
                <a:latin typeface="微软雅黑"/>
                <a:ea typeface="微软雅黑"/>
                <a:cs typeface="微软雅黑"/>
              </a:defRPr>
            </a:pPr>
            <a:r>
              <a:rPr sz="1500" b="1">
                <a:solidFill>
                  <a:srgbClr val="2E86E0"/>
                </a:solidFill>
                <a:latin typeface="微软雅黑"/>
                <a:ea typeface="微软雅黑"/>
                <a:cs typeface="微软雅黑"/>
              </a:rPr>
              <a:t>班组长端</a:t>
            </a:r>
          </a:p>
        </p:txBody>
      </p:sp>
      <p:sp>
        <p:nvSpPr>
          <p:cNvPr id="29" name="">
            <a:extLst xmlns:a="http://schemas.openxmlformats.org/drawingml/2006/main">
              <a:ext uri="{FF2B5EF4-FFF2-40B4-BE49-F238E27FC236}">
                <a16:creationId xmlns:a16="http://schemas.microsoft.com/office/drawing/2014/main" id="{825B1F05-4832-40BE-AC75-841C184ABA36}"/>
              </a:ext>
            </a:extLst>
          </p:cNvPr>
          <p:cNvSpPr>
            <a:spLocks xmlns:a="http://schemas.openxmlformats.org/drawingml/2006/main" noGrp="1"/>
          </p:cNvSpPr>
          <p:nvPr/>
        </p:nvSpPr>
        <p:spPr>
          <a:xfrm xmlns:a="http://schemas.openxmlformats.org/drawingml/2006/main">
            <a:off x="342900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李民（部长）</a:t>
            </a:r>
          </a:p>
        </p:txBody>
      </p:sp>
      <p:sp>
        <p:nvSpPr>
          <p:cNvPr id="30" name="">
            <a:extLst xmlns:a="http://schemas.openxmlformats.org/drawingml/2006/main">
              <a:ext uri="{FF2B5EF4-FFF2-40B4-BE49-F238E27FC236}">
                <a16:creationId xmlns:a16="http://schemas.microsoft.com/office/drawing/2014/main" id="{8D274ED9-B183-4057-A2C6-3A18A1C36CF1}"/>
              </a:ext>
            </a:extLst>
          </p:cNvPr>
          <p:cNvSpPr>
            <a:spLocks xmlns:a="http://schemas.openxmlformats.org/drawingml/2006/main" noGrp="1"/>
          </p:cNvSpPr>
          <p:nvPr/>
        </p:nvSpPr>
        <p:spPr>
          <a:xfrm xmlns:a="http://schemas.openxmlformats.org/drawingml/2006/main">
            <a:off x="3429000" y="2114550"/>
            <a:ext cx="419100" cy="1905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ED67DC49-10AB-46A9-94C1-F9040EF119C6}"/>
              </a:ext>
            </a:extLst>
          </p:cNvPr>
          <p:cNvSpPr>
            <a:spLocks xmlns:a="http://schemas.openxmlformats.org/drawingml/2006/main" noGrp="1"/>
          </p:cNvSpPr>
          <p:nvPr/>
        </p:nvSpPr>
        <p:spPr>
          <a:xfrm xmlns:a="http://schemas.openxmlformats.org/drawingml/2006/main">
            <a:off x="342900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填报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审核实操检测报告</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查看异常归因建议并确认</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查看本班组能力结构与报告台账</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发布任务与评分</a:t>
            </a:r>
          </a:p>
        </p:txBody>
      </p:sp>
      <p:sp>
        <p:nvSpPr>
          <p:cNvPr id="32" name="">
            <a:extLst xmlns:a="http://schemas.openxmlformats.org/drawingml/2006/main">
              <a:ext uri="{FF2B5EF4-FFF2-40B4-BE49-F238E27FC236}">
                <a16:creationId xmlns:a16="http://schemas.microsoft.com/office/drawing/2014/main" id="{C0598105-A6F0-4698-8E30-5A8B8924AFB0}"/>
              </a:ext>
            </a:extLst>
          </p:cNvPr>
          <p:cNvSpPr>
            <a:spLocks xmlns:a="http://schemas.openxmlformats.org/drawingml/2006/main" noGrp="1"/>
          </p:cNvSpPr>
          <p:nvPr/>
        </p:nvSpPr>
        <p:spPr>
          <a:xfrm xmlns:a="http://schemas.openxmlformats.org/drawingml/2006/main">
            <a:off x="619125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DA5C56F9-199D-4888-AF71-9F480AEBDD35}"/>
              </a:ext>
            </a:extLst>
          </p:cNvPr>
          <p:cNvSpPr>
            <a:spLocks xmlns:a="http://schemas.openxmlformats.org/drawingml/2006/main" noGrp="1"/>
          </p:cNvSpPr>
          <p:nvPr/>
        </p:nvSpPr>
        <p:spPr>
          <a:xfrm xmlns:a="http://schemas.openxmlformats.org/drawingml/2006/main">
            <a:off x="6191250" y="1333500"/>
            <a:ext cx="2781300" cy="4762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D04F7227-B362-41C6-A65B-7F75D58CC5DB}"/>
              </a:ext>
            </a:extLst>
          </p:cNvPr>
          <p:cNvSpPr>
            <a:spLocks xmlns:a="http://schemas.openxmlformats.org/drawingml/2006/main" noGrp="1"/>
          </p:cNvSpPr>
          <p:nvPr/>
        </p:nvSpPr>
        <p:spPr>
          <a:xfrm xmlns:a="http://schemas.openxmlformats.org/drawingml/2006/main">
            <a:off x="638175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D24A"/>
                </a:solidFill>
                <a:latin typeface="微软雅黑"/>
                <a:ea typeface="微软雅黑"/>
                <a:cs typeface="微软雅黑"/>
              </a:defRPr>
            </a:pPr>
            <a:r>
              <a:rPr sz="1500" b="1">
                <a:solidFill>
                  <a:srgbClr val="FFD24A"/>
                </a:solidFill>
                <a:latin typeface="微软雅黑"/>
                <a:ea typeface="微软雅黑"/>
                <a:cs typeface="微软雅黑"/>
              </a:rPr>
              <a:t>管理端</a:t>
            </a:r>
          </a:p>
        </p:txBody>
      </p:sp>
      <p:sp>
        <p:nvSpPr>
          <p:cNvPr id="35" name="">
            <a:extLst xmlns:a="http://schemas.openxmlformats.org/drawingml/2006/main">
              <a:ext uri="{FF2B5EF4-FFF2-40B4-BE49-F238E27FC236}">
                <a16:creationId xmlns:a16="http://schemas.microsoft.com/office/drawing/2014/main" id="{12A1675F-D87D-43E5-95BE-37F2289D9D12}"/>
              </a:ext>
            </a:extLst>
          </p:cNvPr>
          <p:cNvSpPr>
            <a:spLocks xmlns:a="http://schemas.openxmlformats.org/drawingml/2006/main" noGrp="1"/>
          </p:cNvSpPr>
          <p:nvPr/>
        </p:nvSpPr>
        <p:spPr>
          <a:xfrm xmlns:a="http://schemas.openxmlformats.org/drawingml/2006/main">
            <a:off x="638175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王总</a:t>
            </a:r>
          </a:p>
        </p:txBody>
      </p:sp>
      <p:sp>
        <p:nvSpPr>
          <p:cNvPr id="36" name="">
            <a:extLst xmlns:a="http://schemas.openxmlformats.org/drawingml/2006/main">
              <a:ext uri="{FF2B5EF4-FFF2-40B4-BE49-F238E27FC236}">
                <a16:creationId xmlns:a16="http://schemas.microsoft.com/office/drawing/2014/main" id="{BE5A6A1F-A0FF-45A5-B4AC-D2E8C8ED8CBD}"/>
              </a:ext>
            </a:extLst>
          </p:cNvPr>
          <p:cNvSpPr>
            <a:spLocks xmlns:a="http://schemas.openxmlformats.org/drawingml/2006/main" noGrp="1"/>
          </p:cNvSpPr>
          <p:nvPr/>
        </p:nvSpPr>
        <p:spPr>
          <a:xfrm xmlns:a="http://schemas.openxmlformats.org/drawingml/2006/main">
            <a:off x="6381750" y="2114550"/>
            <a:ext cx="4191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F1CEC4E9-C18C-460D-8FCB-DB205F166263}"/>
              </a:ext>
            </a:extLst>
          </p:cNvPr>
          <p:cNvSpPr>
            <a:spLocks xmlns:a="http://schemas.openxmlformats.org/drawingml/2006/main" noGrp="1"/>
          </p:cNvSpPr>
          <p:nvPr/>
        </p:nvSpPr>
        <p:spPr>
          <a:xfrm xmlns:a="http://schemas.openxmlformats.org/drawingml/2006/main">
            <a:off x="638175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查看公司能力、成本、风险</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查看关键岗位备份情况</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查看建议来源与确认状态</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招聘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转岗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外委建议</a:t>
            </a:r>
          </a:p>
        </p:txBody>
      </p:sp>
      <p:sp>
        <p:nvSpPr>
          <p:cNvPr id="38" name="">
            <a:extLst xmlns:a="http://schemas.openxmlformats.org/drawingml/2006/main">
              <a:ext uri="{FF2B5EF4-FFF2-40B4-BE49-F238E27FC236}">
                <a16:creationId xmlns:a16="http://schemas.microsoft.com/office/drawing/2014/main" id="{A4BB164B-F0D7-4736-8BCB-2FC5EF3CDB11}"/>
              </a:ext>
            </a:extLst>
          </p:cNvPr>
          <p:cNvSpPr>
            <a:spLocks xmlns:a="http://schemas.openxmlformats.org/drawingml/2006/main" noGrp="1"/>
          </p:cNvSpPr>
          <p:nvPr/>
        </p:nvSpPr>
        <p:spPr>
          <a:xfrm xmlns:a="http://schemas.openxmlformats.org/drawingml/2006/main">
            <a:off x="914400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9" name="">
            <a:extLst xmlns:a="http://schemas.openxmlformats.org/drawingml/2006/main">
              <a:ext uri="{FF2B5EF4-FFF2-40B4-BE49-F238E27FC236}">
                <a16:creationId xmlns:a16="http://schemas.microsoft.com/office/drawing/2014/main" id="{70FD903A-DF22-4E1A-BED3-58A3024A183C}"/>
              </a:ext>
            </a:extLst>
          </p:cNvPr>
          <p:cNvSpPr>
            <a:spLocks xmlns:a="http://schemas.openxmlformats.org/drawingml/2006/main" noGrp="1"/>
          </p:cNvSpPr>
          <p:nvPr/>
        </p:nvSpPr>
        <p:spPr>
          <a:xfrm xmlns:a="http://schemas.openxmlformats.org/drawingml/2006/main">
            <a:off x="9144000" y="1333500"/>
            <a:ext cx="2781300" cy="47625"/>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D4023C66-000A-468D-B077-934F2D1FA2CA}"/>
              </a:ext>
            </a:extLst>
          </p:cNvPr>
          <p:cNvSpPr>
            <a:spLocks xmlns:a="http://schemas.openxmlformats.org/drawingml/2006/main" noGrp="1"/>
          </p:cNvSpPr>
          <p:nvPr/>
        </p:nvSpPr>
        <p:spPr>
          <a:xfrm xmlns:a="http://schemas.openxmlformats.org/drawingml/2006/main">
            <a:off x="9334500" y="1504950"/>
            <a:ext cx="23812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B7A6FF"/>
                </a:solidFill>
                <a:latin typeface="微软雅黑"/>
                <a:ea typeface="微软雅黑"/>
                <a:cs typeface="微软雅黑"/>
              </a:defRPr>
            </a:pPr>
            <a:r>
              <a:rPr sz="1500" b="1">
                <a:solidFill>
                  <a:srgbClr val="B7A6FF"/>
                </a:solidFill>
                <a:latin typeface="微软雅黑"/>
                <a:ea typeface="微软雅黑"/>
                <a:cs typeface="微软雅黑"/>
              </a:rPr>
              <a:t>管理员端</a:t>
            </a:r>
          </a:p>
        </p:txBody>
      </p:sp>
      <p:sp>
        <p:nvSpPr>
          <p:cNvPr id="41" name="">
            <a:extLst xmlns:a="http://schemas.openxmlformats.org/drawingml/2006/main">
              <a:ext uri="{FF2B5EF4-FFF2-40B4-BE49-F238E27FC236}">
                <a16:creationId xmlns:a16="http://schemas.microsoft.com/office/drawing/2014/main" id="{7BF5D272-5FE7-4CAD-8315-E687F8E2817A}"/>
              </a:ext>
            </a:extLst>
          </p:cNvPr>
          <p:cNvSpPr>
            <a:spLocks xmlns:a="http://schemas.openxmlformats.org/drawingml/2006/main" noGrp="1"/>
          </p:cNvSpPr>
          <p:nvPr/>
        </p:nvSpPr>
        <p:spPr>
          <a:xfrm xmlns:a="http://schemas.openxmlformats.org/drawingml/2006/main">
            <a:off x="9334500" y="1828800"/>
            <a:ext cx="2381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admin</a:t>
            </a:r>
          </a:p>
        </p:txBody>
      </p:sp>
      <p:sp>
        <p:nvSpPr>
          <p:cNvPr id="42" name="">
            <a:extLst xmlns:a="http://schemas.openxmlformats.org/drawingml/2006/main">
              <a:ext uri="{FF2B5EF4-FFF2-40B4-BE49-F238E27FC236}">
                <a16:creationId xmlns:a16="http://schemas.microsoft.com/office/drawing/2014/main" id="{988468F1-DD41-45D7-B3F4-211859EA57E2}"/>
              </a:ext>
            </a:extLst>
          </p:cNvPr>
          <p:cNvSpPr>
            <a:spLocks xmlns:a="http://schemas.openxmlformats.org/drawingml/2006/main" noGrp="1"/>
          </p:cNvSpPr>
          <p:nvPr/>
        </p:nvSpPr>
        <p:spPr>
          <a:xfrm xmlns:a="http://schemas.openxmlformats.org/drawingml/2006/main">
            <a:off x="9334500" y="2114550"/>
            <a:ext cx="419100" cy="19050"/>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AB892284-A260-4B09-BE8C-DE84C14D8690}"/>
              </a:ext>
            </a:extLst>
          </p:cNvPr>
          <p:cNvSpPr>
            <a:spLocks xmlns:a="http://schemas.openxmlformats.org/drawingml/2006/main" noGrp="1"/>
          </p:cNvSpPr>
          <p:nvPr/>
        </p:nvSpPr>
        <p:spPr>
          <a:xfrm xmlns:a="http://schemas.openxmlformats.org/drawingml/2006/main">
            <a:off x="9334500" y="2266950"/>
            <a:ext cx="2419350" cy="1809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配置岗位、技能、课程与考试</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审核课程与题库</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维护规则并查看执行留痕</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平台数据与审计</a:t>
            </a:r>
          </a:p>
        </p:txBody>
      </p:sp>
      <p:sp>
        <p:nvSpPr>
          <p:cNvPr id="44" name="">
            <a:extLst xmlns:a="http://schemas.openxmlformats.org/drawingml/2006/main">
              <a:ext uri="{FF2B5EF4-FFF2-40B4-BE49-F238E27FC236}">
                <a16:creationId xmlns:a16="http://schemas.microsoft.com/office/drawing/2014/main" id="{6C703E71-C973-4F09-8B06-9A758F425FA9}"/>
              </a:ext>
            </a:extLst>
          </p:cNvPr>
          <p:cNvSpPr>
            <a:spLocks xmlns:a="http://schemas.openxmlformats.org/drawingml/2006/main" noGrp="1"/>
          </p:cNvSpPr>
          <p:nvPr/>
        </p:nvSpPr>
        <p:spPr>
          <a:xfrm xmlns:a="http://schemas.openxmlformats.org/drawingml/2006/main">
            <a:off x="285750" y="4343400"/>
            <a:ext cx="11620500" cy="2057400"/>
          </a:xfrm>
          <a:prstGeom xmlns:a="http://schemas.openxmlformats.org/drawingml/2006/main" prst="roundRect">
            <a:avLst>
              <a:gd name="adj" fmla="val 416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5" name="">
            <a:extLst xmlns:a="http://schemas.openxmlformats.org/drawingml/2006/main">
              <a:ext uri="{FF2B5EF4-FFF2-40B4-BE49-F238E27FC236}">
                <a16:creationId xmlns:a16="http://schemas.microsoft.com/office/drawing/2014/main" id="{84D96403-9993-46C6-AF7D-6AF46FF36F40}"/>
              </a:ext>
            </a:extLst>
          </p:cNvPr>
          <p:cNvSpPr>
            <a:spLocks xmlns:a="http://schemas.openxmlformats.org/drawingml/2006/main" noGrp="1"/>
          </p:cNvSpPr>
          <p:nvPr/>
        </p:nvSpPr>
        <p:spPr>
          <a:xfrm xmlns:a="http://schemas.openxmlformats.org/drawingml/2006/main">
            <a:off x="457200" y="4457700"/>
            <a:ext cx="11239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数据流：一次实操归因如何穿过四类角色</a:t>
            </a:r>
          </a:p>
        </p:txBody>
      </p:sp>
      <p:sp>
        <p:nvSpPr>
          <p:cNvPr id="46" name="">
            <a:extLst xmlns:a="http://schemas.openxmlformats.org/drawingml/2006/main">
              <a:ext uri="{FF2B5EF4-FFF2-40B4-BE49-F238E27FC236}">
                <a16:creationId xmlns:a16="http://schemas.microsoft.com/office/drawing/2014/main" id="{8DA046E2-6B3E-46AB-97D2-0874B935C8A0}"/>
              </a:ext>
            </a:extLst>
          </p:cNvPr>
          <p:cNvSpPr>
            <a:spLocks xmlns:a="http://schemas.openxmlformats.org/drawingml/2006/main" noGrp="1"/>
          </p:cNvSpPr>
          <p:nvPr/>
        </p:nvSpPr>
        <p:spPr>
          <a:xfrm xmlns:a="http://schemas.openxmlformats.org/drawingml/2006/main">
            <a:off x="457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7" name="">
            <a:extLst xmlns:a="http://schemas.openxmlformats.org/drawingml/2006/main">
              <a:ext uri="{FF2B5EF4-FFF2-40B4-BE49-F238E27FC236}">
                <a16:creationId xmlns:a16="http://schemas.microsoft.com/office/drawing/2014/main" id="{13BC47DD-3F93-489F-8ECE-7CF7D4ACA34C}"/>
              </a:ext>
            </a:extLst>
          </p:cNvPr>
          <p:cNvSpPr>
            <a:spLocks xmlns:a="http://schemas.openxmlformats.org/drawingml/2006/main" noGrp="1"/>
          </p:cNvSpPr>
          <p:nvPr/>
        </p:nvSpPr>
        <p:spPr>
          <a:xfrm xmlns:a="http://schemas.openxmlformats.org/drawingml/2006/main">
            <a:off x="590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① </a:t>
            </a:r>
            <a:r>
              <a:rPr sz="938" b="1">
                <a:solidFill>
                  <a:srgbClr val="4FD8FF"/>
                </a:solidFill>
                <a:latin typeface="微软雅黑"/>
                <a:ea typeface="微软雅黑"/>
                <a:cs typeface="微软雅黑"/>
              </a:rPr>
              <a:t>员工提交报告</a:t>
            </a:r>
          </a:p>
        </p:txBody>
      </p:sp>
      <p:sp>
        <p:nvSpPr>
          <p:cNvPr id="48" name="">
            <a:extLst xmlns:a="http://schemas.openxmlformats.org/drawingml/2006/main">
              <a:ext uri="{FF2B5EF4-FFF2-40B4-BE49-F238E27FC236}">
                <a16:creationId xmlns:a16="http://schemas.microsoft.com/office/drawing/2014/main" id="{5E5FA157-E5B8-45B5-8616-96C1980AC2C0}"/>
              </a:ext>
            </a:extLst>
          </p:cNvPr>
          <p:cNvSpPr>
            <a:spLocks xmlns:a="http://schemas.openxmlformats.org/drawingml/2006/main" noGrp="1"/>
          </p:cNvSpPr>
          <p:nvPr/>
        </p:nvSpPr>
        <p:spPr>
          <a:xfrm xmlns:a="http://schemas.openxmlformats.org/drawingml/2006/main">
            <a:off x="590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员工端提交实操报告（步骤、工时、问题、照片、录波）</a:t>
            </a:r>
          </a:p>
        </p:txBody>
      </p:sp>
      <p:sp>
        <p:nvSpPr>
          <p:cNvPr id="49" name="">
            <a:extLst xmlns:a="http://schemas.openxmlformats.org/drawingml/2006/main">
              <a:ext uri="{FF2B5EF4-FFF2-40B4-BE49-F238E27FC236}">
                <a16:creationId xmlns:a16="http://schemas.microsoft.com/office/drawing/2014/main" id="{8CC3CC30-A785-41E7-803A-BA2739C7EF4F}"/>
              </a:ext>
            </a:extLst>
          </p:cNvPr>
          <p:cNvSpPr>
            <a:spLocks xmlns:a="http://schemas.openxmlformats.org/drawingml/2006/main" noGrp="1"/>
          </p:cNvSpPr>
          <p:nvPr/>
        </p:nvSpPr>
        <p:spPr>
          <a:xfrm xmlns:a="http://schemas.openxmlformats.org/drawingml/2006/main">
            <a:off x="2609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50" name="">
            <a:extLst xmlns:a="http://schemas.openxmlformats.org/drawingml/2006/main">
              <a:ext uri="{FF2B5EF4-FFF2-40B4-BE49-F238E27FC236}">
                <a16:creationId xmlns:a16="http://schemas.microsoft.com/office/drawing/2014/main" id="{24C03EA1-D8BC-4C23-8053-B4884483F27E}"/>
              </a:ext>
            </a:extLst>
          </p:cNvPr>
          <p:cNvSpPr>
            <a:spLocks xmlns:a="http://schemas.openxmlformats.org/drawingml/2006/main" noGrp="1"/>
          </p:cNvSpPr>
          <p:nvPr/>
        </p:nvSpPr>
        <p:spPr>
          <a:xfrm xmlns:a="http://schemas.openxmlformats.org/drawingml/2006/main">
            <a:off x="2743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1" name="">
            <a:extLst xmlns:a="http://schemas.openxmlformats.org/drawingml/2006/main">
              <a:ext uri="{FF2B5EF4-FFF2-40B4-BE49-F238E27FC236}">
                <a16:creationId xmlns:a16="http://schemas.microsoft.com/office/drawing/2014/main" id="{7F044055-4C99-4729-AF95-DF80BE6A5EA0}"/>
              </a:ext>
            </a:extLst>
          </p:cNvPr>
          <p:cNvSpPr>
            <a:spLocks xmlns:a="http://schemas.openxmlformats.org/drawingml/2006/main" noGrp="1"/>
          </p:cNvSpPr>
          <p:nvPr/>
        </p:nvSpPr>
        <p:spPr>
          <a:xfrm xmlns:a="http://schemas.openxmlformats.org/drawingml/2006/main">
            <a:off x="2876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② </a:t>
            </a:r>
            <a:r>
              <a:rPr sz="938" b="1">
                <a:solidFill>
                  <a:srgbClr val="4FD8FF"/>
                </a:solidFill>
                <a:latin typeface="微软雅黑"/>
                <a:ea typeface="微软雅黑"/>
                <a:cs typeface="微软雅黑"/>
              </a:rPr>
              <a:t>规则执行</a:t>
            </a:r>
          </a:p>
        </p:txBody>
      </p:sp>
      <p:sp>
        <p:nvSpPr>
          <p:cNvPr id="52" name="">
            <a:extLst xmlns:a="http://schemas.openxmlformats.org/drawingml/2006/main">
              <a:ext uri="{FF2B5EF4-FFF2-40B4-BE49-F238E27FC236}">
                <a16:creationId xmlns:a16="http://schemas.microsoft.com/office/drawing/2014/main" id="{B70E2724-5870-4BCD-A6A5-9E83A4A7F73F}"/>
              </a:ext>
            </a:extLst>
          </p:cNvPr>
          <p:cNvSpPr>
            <a:spLocks xmlns:a="http://schemas.openxmlformats.org/drawingml/2006/main" noGrp="1"/>
          </p:cNvSpPr>
          <p:nvPr/>
        </p:nvSpPr>
        <p:spPr>
          <a:xfrm xmlns:a="http://schemas.openxmlformats.org/drawingml/2006/main">
            <a:off x="2876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规则引擎按 </a:t>
            </a:r>
            <a:r>
              <a:rPr sz="825" b="0">
                <a:solidFill>
                  <a:srgbClr val="EEF5FF"/>
                </a:solidFill>
                <a:latin typeface="微软雅黑"/>
                <a:ea typeface="微软雅黑"/>
                <a:cs typeface="微软雅黑"/>
              </a:rPr>
              <a:t>REPORT_GAS / REPORT_ANALYSIS </a:t>
            </a:r>
            <a:r>
              <a:rPr sz="825" b="0">
                <a:solidFill>
                  <a:srgbClr val="EEF5FF"/>
                </a:solidFill>
                <a:latin typeface="微软雅黑"/>
                <a:ea typeface="微软雅黑"/>
                <a:cs typeface="微软雅黑"/>
              </a:rPr>
              <a:t>场景匹配，写 </a:t>
            </a:r>
            <a:r>
              <a:rPr sz="825" b="0">
                <a:solidFill>
                  <a:srgbClr val="EEF5FF"/>
                </a:solidFill>
                <a:latin typeface="微软雅黑"/>
                <a:ea typeface="微软雅黑"/>
                <a:cs typeface="微软雅黑"/>
              </a:rPr>
              <a:t>rule_result</a:t>
            </a:r>
          </a:p>
        </p:txBody>
      </p:sp>
      <p:sp>
        <p:nvSpPr>
          <p:cNvPr id="53" name="">
            <a:extLst xmlns:a="http://schemas.openxmlformats.org/drawingml/2006/main">
              <a:ext uri="{FF2B5EF4-FFF2-40B4-BE49-F238E27FC236}">
                <a16:creationId xmlns:a16="http://schemas.microsoft.com/office/drawing/2014/main" id="{96DF84A4-4AC5-45B8-8081-CE3F6A736BD4}"/>
              </a:ext>
            </a:extLst>
          </p:cNvPr>
          <p:cNvSpPr>
            <a:spLocks xmlns:a="http://schemas.openxmlformats.org/drawingml/2006/main" noGrp="1"/>
          </p:cNvSpPr>
          <p:nvPr/>
        </p:nvSpPr>
        <p:spPr>
          <a:xfrm xmlns:a="http://schemas.openxmlformats.org/drawingml/2006/main">
            <a:off x="4895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54" name="">
            <a:extLst xmlns:a="http://schemas.openxmlformats.org/drawingml/2006/main">
              <a:ext uri="{FF2B5EF4-FFF2-40B4-BE49-F238E27FC236}">
                <a16:creationId xmlns:a16="http://schemas.microsoft.com/office/drawing/2014/main" id="{699F8C62-F7D0-4040-887C-17B5D38A2B2A}"/>
              </a:ext>
            </a:extLst>
          </p:cNvPr>
          <p:cNvSpPr>
            <a:spLocks xmlns:a="http://schemas.openxmlformats.org/drawingml/2006/main" noGrp="1"/>
          </p:cNvSpPr>
          <p:nvPr/>
        </p:nvSpPr>
        <p:spPr>
          <a:xfrm xmlns:a="http://schemas.openxmlformats.org/drawingml/2006/main">
            <a:off x="5029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5" name="">
            <a:extLst xmlns:a="http://schemas.openxmlformats.org/drawingml/2006/main">
              <a:ext uri="{FF2B5EF4-FFF2-40B4-BE49-F238E27FC236}">
                <a16:creationId xmlns:a16="http://schemas.microsoft.com/office/drawing/2014/main" id="{F3129F13-8A97-4A6C-9314-2017021A198A}"/>
              </a:ext>
            </a:extLst>
          </p:cNvPr>
          <p:cNvSpPr>
            <a:spLocks xmlns:a="http://schemas.openxmlformats.org/drawingml/2006/main" noGrp="1"/>
          </p:cNvSpPr>
          <p:nvPr/>
        </p:nvSpPr>
        <p:spPr>
          <a:xfrm xmlns:a="http://schemas.openxmlformats.org/drawingml/2006/main">
            <a:off x="5162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③ </a:t>
            </a:r>
            <a:r>
              <a:rPr sz="938" b="1">
                <a:solidFill>
                  <a:srgbClr val="4FD8FF"/>
                </a:solidFill>
                <a:latin typeface="微软雅黑"/>
                <a:ea typeface="微软雅黑"/>
                <a:cs typeface="微软雅黑"/>
              </a:rPr>
              <a:t>建议生成</a:t>
            </a:r>
          </a:p>
        </p:txBody>
      </p:sp>
      <p:sp>
        <p:nvSpPr>
          <p:cNvPr id="56" name="">
            <a:extLst xmlns:a="http://schemas.openxmlformats.org/drawingml/2006/main">
              <a:ext uri="{FF2B5EF4-FFF2-40B4-BE49-F238E27FC236}">
                <a16:creationId xmlns:a16="http://schemas.microsoft.com/office/drawing/2014/main" id="{D081077A-8C12-42AC-A63E-1D8E22D28D02}"/>
              </a:ext>
            </a:extLst>
          </p:cNvPr>
          <p:cNvSpPr>
            <a:spLocks xmlns:a="http://schemas.openxmlformats.org/drawingml/2006/main" noGrp="1"/>
          </p:cNvSpPr>
          <p:nvPr/>
        </p:nvSpPr>
        <p:spPr>
          <a:xfrm xmlns:a="http://schemas.openxmlformats.org/drawingml/2006/main">
            <a:off x="5162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结论写入 </a:t>
            </a:r>
            <a:r>
              <a:rPr sz="825" b="0">
                <a:solidFill>
                  <a:srgbClr val="EEF5FF"/>
                </a:solidFill>
                <a:latin typeface="微软雅黑"/>
                <a:ea typeface="微软雅黑"/>
                <a:cs typeface="微软雅黑"/>
              </a:rPr>
              <a:t>agent_suggestion</a:t>
            </a:r>
            <a:r>
              <a:rPr sz="825" b="0">
                <a:solidFill>
                  <a:srgbClr val="EEF5FF"/>
                </a:solidFill>
                <a:latin typeface="微软雅黑"/>
                <a:ea typeface="微软雅黑"/>
                <a:cs typeface="微软雅黑"/>
              </a:rPr>
              <a:t>，带 </a:t>
            </a:r>
            <a:r>
              <a:rPr sz="825" b="0">
                <a:solidFill>
                  <a:srgbClr val="EEF5FF"/>
                </a:solidFill>
                <a:latin typeface="微软雅黑"/>
                <a:ea typeface="微软雅黑"/>
                <a:cs typeface="微软雅黑"/>
              </a:rPr>
              <a:t>confidence</a:t>
            </a:r>
            <a:r>
              <a:rPr sz="825" b="0">
                <a:solidFill>
                  <a:srgbClr val="EEF5FF"/>
                </a:solidFill>
                <a:latin typeface="微软雅黑"/>
                <a:ea typeface="微软雅黑"/>
                <a:cs typeface="微软雅黑"/>
              </a:rPr>
              <a:t>、</a:t>
            </a:r>
            <a:r>
              <a:rPr sz="825" b="0">
                <a:solidFill>
                  <a:srgbClr val="EEF5FF"/>
                </a:solidFill>
                <a:latin typeface="微软雅黑"/>
                <a:ea typeface="微软雅黑"/>
                <a:cs typeface="微软雅黑"/>
              </a:rPr>
              <a:t>source=rule</a:t>
            </a:r>
            <a:r>
              <a:rPr sz="825" b="0">
                <a:solidFill>
                  <a:srgbClr val="EEF5FF"/>
                </a:solidFill>
                <a:latin typeface="微软雅黑"/>
                <a:ea typeface="微软雅黑"/>
                <a:cs typeface="微软雅黑"/>
              </a:rPr>
              <a:t>、</a:t>
            </a:r>
            <a:r>
              <a:rPr sz="825" b="0">
                <a:solidFill>
                  <a:srgbClr val="EEF5FF"/>
                </a:solidFill>
                <a:latin typeface="微软雅黑"/>
                <a:ea typeface="微软雅黑"/>
                <a:cs typeface="微软雅黑"/>
              </a:rPr>
              <a:t>need_human_confirm</a:t>
            </a:r>
          </a:p>
        </p:txBody>
      </p:sp>
      <p:sp>
        <p:nvSpPr>
          <p:cNvPr id="57" name="">
            <a:extLst xmlns:a="http://schemas.openxmlformats.org/drawingml/2006/main">
              <a:ext uri="{FF2B5EF4-FFF2-40B4-BE49-F238E27FC236}">
                <a16:creationId xmlns:a16="http://schemas.microsoft.com/office/drawing/2014/main" id="{6B5DB43C-A879-4EE5-889E-1E12A724FBA4}"/>
              </a:ext>
            </a:extLst>
          </p:cNvPr>
          <p:cNvSpPr>
            <a:spLocks xmlns:a="http://schemas.openxmlformats.org/drawingml/2006/main" noGrp="1"/>
          </p:cNvSpPr>
          <p:nvPr/>
        </p:nvSpPr>
        <p:spPr>
          <a:xfrm xmlns:a="http://schemas.openxmlformats.org/drawingml/2006/main">
            <a:off x="7181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58" name="">
            <a:extLst xmlns:a="http://schemas.openxmlformats.org/drawingml/2006/main">
              <a:ext uri="{FF2B5EF4-FFF2-40B4-BE49-F238E27FC236}">
                <a16:creationId xmlns:a16="http://schemas.microsoft.com/office/drawing/2014/main" id="{B8D2380B-2CE2-46B5-8A32-D38BC44BFA79}"/>
              </a:ext>
            </a:extLst>
          </p:cNvPr>
          <p:cNvSpPr>
            <a:spLocks xmlns:a="http://schemas.openxmlformats.org/drawingml/2006/main" noGrp="1"/>
          </p:cNvSpPr>
          <p:nvPr/>
        </p:nvSpPr>
        <p:spPr>
          <a:xfrm xmlns:a="http://schemas.openxmlformats.org/drawingml/2006/main">
            <a:off x="7315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9" name="">
            <a:extLst xmlns:a="http://schemas.openxmlformats.org/drawingml/2006/main">
              <a:ext uri="{FF2B5EF4-FFF2-40B4-BE49-F238E27FC236}">
                <a16:creationId xmlns:a16="http://schemas.microsoft.com/office/drawing/2014/main" id="{A4382C48-779E-45CA-B4DB-11D5A1A93D0D}"/>
              </a:ext>
            </a:extLst>
          </p:cNvPr>
          <p:cNvSpPr>
            <a:spLocks xmlns:a="http://schemas.openxmlformats.org/drawingml/2006/main" noGrp="1"/>
          </p:cNvSpPr>
          <p:nvPr/>
        </p:nvSpPr>
        <p:spPr>
          <a:xfrm xmlns:a="http://schemas.openxmlformats.org/drawingml/2006/main">
            <a:off x="7448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④ </a:t>
            </a:r>
            <a:r>
              <a:rPr sz="938" b="1">
                <a:solidFill>
                  <a:srgbClr val="4FD8FF"/>
                </a:solidFill>
                <a:latin typeface="微软雅黑"/>
                <a:ea typeface="微软雅黑"/>
                <a:cs typeface="微软雅黑"/>
              </a:rPr>
              <a:t>班组长确认</a:t>
            </a:r>
          </a:p>
        </p:txBody>
      </p:sp>
      <p:sp>
        <p:nvSpPr>
          <p:cNvPr id="60" name="">
            <a:extLst xmlns:a="http://schemas.openxmlformats.org/drawingml/2006/main">
              <a:ext uri="{FF2B5EF4-FFF2-40B4-BE49-F238E27FC236}">
                <a16:creationId xmlns:a16="http://schemas.microsoft.com/office/drawing/2014/main" id="{F1160F47-D9C0-4D26-89E1-7C9683FA7D9B}"/>
              </a:ext>
            </a:extLst>
          </p:cNvPr>
          <p:cNvSpPr>
            <a:spLocks xmlns:a="http://schemas.openxmlformats.org/drawingml/2006/main" noGrp="1"/>
          </p:cNvSpPr>
          <p:nvPr/>
        </p:nvSpPr>
        <p:spPr>
          <a:xfrm xmlns:a="http://schemas.openxmlformats.org/drawingml/2006/main">
            <a:off x="7448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班组长在确认接口采纳 </a:t>
            </a:r>
            <a:r>
              <a:rPr sz="825" b="0">
                <a:solidFill>
                  <a:srgbClr val="EEF5FF"/>
                </a:solidFill>
                <a:latin typeface="微软雅黑"/>
                <a:ea typeface="微软雅黑"/>
                <a:cs typeface="微软雅黑"/>
              </a:rPr>
              <a:t>/ </a:t>
            </a:r>
            <a:r>
              <a:rPr sz="825" b="0">
                <a:solidFill>
                  <a:srgbClr val="EEF5FF"/>
                </a:solidFill>
                <a:latin typeface="微软雅黑"/>
                <a:ea typeface="微软雅黑"/>
                <a:cs typeface="微软雅黑"/>
              </a:rPr>
              <a:t>驳回 </a:t>
            </a:r>
            <a:r>
              <a:rPr sz="825" b="0">
                <a:solidFill>
                  <a:srgbClr val="EEF5FF"/>
                </a:solidFill>
                <a:latin typeface="微软雅黑"/>
                <a:ea typeface="微软雅黑"/>
                <a:cs typeface="微软雅黑"/>
              </a:rPr>
              <a:t>/ </a:t>
            </a:r>
            <a:r>
              <a:rPr sz="825" b="0">
                <a:solidFill>
                  <a:srgbClr val="EEF5FF"/>
                </a:solidFill>
                <a:latin typeface="微软雅黑"/>
                <a:ea typeface="微软雅黑"/>
                <a:cs typeface="微软雅黑"/>
              </a:rPr>
              <a:t>修改，写 </a:t>
            </a:r>
            <a:r>
              <a:rPr sz="825" b="0">
                <a:solidFill>
                  <a:srgbClr val="EEF5FF"/>
                </a:solidFill>
                <a:latin typeface="微软雅黑"/>
                <a:ea typeface="微软雅黑"/>
                <a:cs typeface="微软雅黑"/>
              </a:rPr>
              <a:t>decision_log</a:t>
            </a:r>
            <a:r>
              <a:rPr sz="825" b="0">
                <a:solidFill>
                  <a:srgbClr val="EEF5FF"/>
                </a:solidFill>
                <a:latin typeface="微软雅黑"/>
                <a:ea typeface="微软雅黑"/>
                <a:cs typeface="微软雅黑"/>
              </a:rPr>
              <a:t>，只改建议状态</a:t>
            </a:r>
          </a:p>
        </p:txBody>
      </p:sp>
      <p:sp>
        <p:nvSpPr>
          <p:cNvPr id="61" name="">
            <a:extLst xmlns:a="http://schemas.openxmlformats.org/drawingml/2006/main">
              <a:ext uri="{FF2B5EF4-FFF2-40B4-BE49-F238E27FC236}">
                <a16:creationId xmlns:a16="http://schemas.microsoft.com/office/drawing/2014/main" id="{09424776-BF82-40C1-8AFE-518AEDEFDB54}"/>
              </a:ext>
            </a:extLst>
          </p:cNvPr>
          <p:cNvSpPr>
            <a:spLocks xmlns:a="http://schemas.openxmlformats.org/drawingml/2006/main" noGrp="1"/>
          </p:cNvSpPr>
          <p:nvPr/>
        </p:nvSpPr>
        <p:spPr>
          <a:xfrm xmlns:a="http://schemas.openxmlformats.org/drawingml/2006/main">
            <a:off x="9467850" y="5467350"/>
            <a:ext cx="1333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62" name="">
            <a:extLst xmlns:a="http://schemas.openxmlformats.org/drawingml/2006/main">
              <a:ext uri="{FF2B5EF4-FFF2-40B4-BE49-F238E27FC236}">
                <a16:creationId xmlns:a16="http://schemas.microsoft.com/office/drawing/2014/main" id="{09DC67DF-AB12-4D89-9E24-454FE6370C5C}"/>
              </a:ext>
            </a:extLst>
          </p:cNvPr>
          <p:cNvSpPr>
            <a:spLocks xmlns:a="http://schemas.openxmlformats.org/drawingml/2006/main" noGrp="1"/>
          </p:cNvSpPr>
          <p:nvPr/>
        </p:nvSpPr>
        <p:spPr>
          <a:xfrm xmlns:a="http://schemas.openxmlformats.org/drawingml/2006/main">
            <a:off x="9601200" y="4819650"/>
            <a:ext cx="2133600" cy="1428750"/>
          </a:xfrm>
          <a:prstGeom xmlns:a="http://schemas.openxmlformats.org/drawingml/2006/main" prst="roundRect">
            <a:avLst>
              <a:gd name="adj" fmla="val 6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FFD24A"/>
            </a:solidFill>
            <a:prstDash val="solid"/>
          </a:ln>
        </p:spPr>
      </p:sp>
      <p:sp>
        <p:nvSpPr>
          <p:cNvPr id="63" name="">
            <a:extLst xmlns:a="http://schemas.openxmlformats.org/drawingml/2006/main">
              <a:ext uri="{FF2B5EF4-FFF2-40B4-BE49-F238E27FC236}">
                <a16:creationId xmlns:a16="http://schemas.microsoft.com/office/drawing/2014/main" id="{B96D1384-389E-4CC5-9A30-C53A495A9F9E}"/>
              </a:ext>
            </a:extLst>
          </p:cNvPr>
          <p:cNvSpPr>
            <a:spLocks xmlns:a="http://schemas.openxmlformats.org/drawingml/2006/main" noGrp="1"/>
          </p:cNvSpPr>
          <p:nvPr/>
        </p:nvSpPr>
        <p:spPr>
          <a:xfrm xmlns:a="http://schemas.openxmlformats.org/drawingml/2006/main">
            <a:off x="9734550" y="4933950"/>
            <a:ext cx="18669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⑤ </a:t>
            </a:r>
            <a:r>
              <a:rPr sz="938" b="1">
                <a:solidFill>
                  <a:srgbClr val="FFD24A"/>
                </a:solidFill>
                <a:latin typeface="微软雅黑"/>
                <a:ea typeface="微软雅黑"/>
                <a:cs typeface="微软雅黑"/>
              </a:rPr>
              <a:t>回流各端</a:t>
            </a:r>
          </a:p>
        </p:txBody>
      </p:sp>
      <p:sp>
        <p:nvSpPr>
          <p:cNvPr id="64" name="">
            <a:extLst xmlns:a="http://schemas.openxmlformats.org/drawingml/2006/main">
              <a:ext uri="{FF2B5EF4-FFF2-40B4-BE49-F238E27FC236}">
                <a16:creationId xmlns:a16="http://schemas.microsoft.com/office/drawing/2014/main" id="{7606E358-BE13-40FA-8F98-903D44E91C8C}"/>
              </a:ext>
            </a:extLst>
          </p:cNvPr>
          <p:cNvSpPr>
            <a:spLocks xmlns:a="http://schemas.openxmlformats.org/drawingml/2006/main" noGrp="1"/>
          </p:cNvSpPr>
          <p:nvPr/>
        </p:nvSpPr>
        <p:spPr>
          <a:xfrm xmlns:a="http://schemas.openxmlformats.org/drawingml/2006/main">
            <a:off x="9734550" y="5219700"/>
            <a:ext cx="188595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员工看到欠缺与学习计划；管理端看到缺口与风险；管理员可审计全链路</a:t>
            </a:r>
          </a:p>
        </p:txBody>
      </p:sp>
      <p:sp>
        <p:nvSpPr>
          <p:cNvPr id="65" name="">
            <a:extLst xmlns:a="http://schemas.openxmlformats.org/drawingml/2006/main">
              <a:ext uri="{FF2B5EF4-FFF2-40B4-BE49-F238E27FC236}">
                <a16:creationId xmlns:a16="http://schemas.microsoft.com/office/drawing/2014/main" id="{7B7D41A6-6EEC-4986-8D93-1ABB9A59B9F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61680704-919F-41EE-A769-1B18BB0716F8}"/>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FF80CB2A-0D87-4BC9-8019-92E648D703AA}"/>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8" name="">
            <a:extLst xmlns:a="http://schemas.openxmlformats.org/drawingml/2006/main">
              <a:ext uri="{FF2B5EF4-FFF2-40B4-BE49-F238E27FC236}">
                <a16:creationId xmlns:a16="http://schemas.microsoft.com/office/drawing/2014/main" id="{FE802760-02CD-4360-A2F9-FA29ECF9352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303F947D-F383-4CBF-8DE7-FAA805AA258C}"/>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26</a:t>
            </a:r>
          </a:p>
        </p:txBody>
      </p:sp>
    </p:spTree>
    <p:extLst>
      <p:ext uri="{BB962C8B-B14F-4D97-AF65-F5344CB8AC3E}">
        <p14:creationId xmlns:p14="http://schemas.microsoft.com/office/powerpoint/2010/main" val="684306738"/>
      </p:ext>
    </p:extLst>
  </p:cSld>
</p:sld>
</file>

<file path=ppt/slides/slide2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dbbd931bc2d742d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1F6AAC-B8C7-4041-A23F-800B21D258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458AF21D-CD53-4108-BB6B-6B8F2439E0F9}"/>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56398844-F556-43AC-9257-F3CDC7F76A2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94A6E4B3-6437-40DA-A439-27F3EA5B8771}"/>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BBA3A998-D3B9-4889-9B96-4F9FD7562B3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1381F7E2-FA71-487A-9D6D-3D14D502D16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38F57234-98F3-4282-8533-91169AD9BAA2}"/>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14523626-E48E-4350-87F7-B664DDA0D98E}"/>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B7A6FF">
                  <a:alpha val="20000"/>
                </a:srgbClr>
              </a:gs>
              <a:gs pos="45000">
                <a:srgbClr val="B7A6FF">
                  <a:alpha val="8000"/>
                </a:srgbClr>
              </a:gs>
              <a:gs pos="100000">
                <a:srgbClr val="B7A6FF">
                  <a:alpha val="0"/>
                </a:srgbClr>
              </a:gs>
            </a:gsLst>
            <a:path path="shape"/>
          </a:gra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1232E218-79BE-4C88-BA14-023AB56EDAB4}"/>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15BA2278-9BD7-4B9C-9A3B-8722805626DA}"/>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B7A6FF"/>
              </a:gs>
              <a:gs pos="100000">
                <a:srgbClr val="B7A6FF">
                  <a:alpha val="0"/>
                </a:srgbClr>
              </a:gs>
            </a:gsLst>
            <a:lin ang="5400000"/>
          </a:gra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0E1D6712-14C4-4F74-8429-278CFB0044B6}"/>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B7A6FF">
              <a:alpha val="70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5597C011-80BF-4FC7-99A6-2E2280A7B009}"/>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70D0D0B7-22E6-4084-8926-486F8AA864E8}"/>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BC0C8B42-5F11-4B8F-8DBB-9A1F35F034AC}"/>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0D201416-6164-4372-A03C-B7D235FA149C}"/>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B7A6FF">
                <a:alpha val="45000"/>
              </a:srgbClr>
            </a:solidFill>
            <a:prstDash val="solid"/>
          </a:ln>
        </p:spPr>
      </p:sp>
      <p:sp>
        <p:nvSpPr>
          <p:cNvPr id="17" name="">
            <a:extLst xmlns:a="http://schemas.openxmlformats.org/drawingml/2006/main">
              <a:ext uri="{FF2B5EF4-FFF2-40B4-BE49-F238E27FC236}">
                <a16:creationId xmlns:a16="http://schemas.microsoft.com/office/drawing/2014/main" id="{F1D33FFC-0543-4D72-9C94-380892C9CE8B}"/>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B7A6FF">
                <a:alpha val="28000"/>
              </a:srgbClr>
            </a:solidFill>
            <a:prstDash val="solid"/>
          </a:ln>
        </p:spPr>
      </p:sp>
      <p:sp>
        <p:nvSpPr>
          <p:cNvPr id="18" name="">
            <a:extLst xmlns:a="http://schemas.openxmlformats.org/drawingml/2006/main">
              <a:ext uri="{FF2B5EF4-FFF2-40B4-BE49-F238E27FC236}">
                <a16:creationId xmlns:a16="http://schemas.microsoft.com/office/drawing/2014/main" id="{6FB20CC2-B834-4B18-AEF1-92B39FB0050B}"/>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0E18ECDF-E6A1-462E-BE9D-531593504ABE}"/>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B5D2D4DB-ACD2-4102-A43A-B0D9115D3044}"/>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FAAE56BD-1AB6-40EB-A6E3-501866FCA830}"/>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6AC5BBCF-2962-4213-92E7-1BBDEE260605}"/>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22D81CCC-4BD2-4F2C-A681-CA8FBA450A58}"/>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C3801D27-868F-4670-8807-D52A7B02924C}"/>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E79DBD7C-1E36-4CBC-9230-3A4E5B8C41F8}"/>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7BE9F262-3651-4462-BEA9-5BE689C1E0F6}"/>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95B99136-62A5-4548-9980-A4D3A77D6330}"/>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BE7F7D0A-97A8-4138-93C9-801AEC8A4789}"/>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23297724-037F-456A-99C2-513055F6DE00}"/>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34D64555-C5BD-4B6D-A025-981EB9EB2056}"/>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A568FD09-5348-46F9-A5DF-57DF10A1FA50}"/>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2D7A363D-C6F1-4C07-BA61-7BC9DC20DEF9}"/>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89CBC3F8-AA5D-4AF8-A5D1-17BC5FE0E672}"/>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8165797E-4F23-4256-806C-E6B86387594C}"/>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F6AEC651-243E-41FF-97B5-7F15D9762A29}"/>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AD7E546F-9070-4826-A0A3-9DC4D39BD56F}"/>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98C9EA87-D97B-40E4-9131-FD5454225405}"/>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FCED620A-B092-475E-83BF-34DD24361440}"/>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A36A67A5-E9AD-4C67-8B9E-2F9EAF337C0A}"/>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EAA3D055-0A72-4E0C-8AFB-EF726475245A}"/>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B7A6FF">
                      <a:alpha val="75000"/>
                    </a:srgbClr>
                  </a:solidFill>
                  <a:prstDash val="solid"/>
                </a:ln>
                <a:solidFill>
                  <a:srgbClr val="0B3E82"/>
                </a:solidFill>
                <a:latin typeface="Bahnschrift SemiBold"/>
                <a:ea typeface="Bahnschrift SemiBold"/>
                <a:cs typeface="Bahnschrift SemiBold"/>
              </a:defRPr>
            </a:pPr>
            <a:r>
              <a:rPr sz="9900" b="1">
                <a:ln w="14288">
                  <a:solidFill>
                    <a:srgbClr val="B7A6FF">
                      <a:alpha val="75000"/>
                    </a:srgbClr>
                  </a:solidFill>
                  <a:prstDash val="solid"/>
                </a:ln>
                <a:solidFill>
                  <a:srgbClr val="0B3E82"/>
                </a:solidFill>
                <a:latin typeface="Bahnschrift SemiBold"/>
                <a:ea typeface="Bahnschrift SemiBold"/>
                <a:cs typeface="Bahnschrift SemiBold"/>
              </a:rPr>
              <a:t>05</a:t>
            </a:r>
          </a:p>
        </p:txBody>
      </p:sp>
      <p:sp>
        <p:nvSpPr>
          <p:cNvPr id="41" name="">
            <a:extLst xmlns:a="http://schemas.openxmlformats.org/drawingml/2006/main">
              <a:ext uri="{FF2B5EF4-FFF2-40B4-BE49-F238E27FC236}">
                <a16:creationId xmlns:a16="http://schemas.microsoft.com/office/drawing/2014/main" id="{484941D2-0B5E-42E4-B123-128FD16E1228}"/>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B7A6FF"/>
              </a:gs>
              <a:gs pos="100000">
                <a:srgbClr val="B7A6FF">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49B483B4-5A2D-4CE2-893B-FD152031D50A}"/>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B7A6FF">
                <a:alpha val="24000"/>
              </a:srgbClr>
            </a:fgClr>
            <a:bgClr>
              <a:srgbClr val="0B3E82"/>
            </a:bgClr>
          </a:patt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7618F9A7-3744-4C4E-B2F5-D5201056264A}"/>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9E3D3765-7FB6-4F87-BE2E-6F11F7021EA9}"/>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91930DB3-8171-4B56-8110-180B8C739C02}"/>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C707EEA7-3019-48B8-BE28-D0B0E3233F48}"/>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A6A5A04F-F2C9-41D6-AE6F-A78E54D55A5A}"/>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121BD435-95CE-4EA9-8005-864F3AB10C0B}"/>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53A78E69-9298-4F04-A417-EF4A4FF41C49}"/>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68F265CE-989A-4A5D-8957-7B3F278DBFFD}"/>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D25B1BE9-8970-4000-A3AA-B309CECC1165}"/>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A848811E-C28D-4C73-8E2B-A458281030E1}"/>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5123BF87-BB25-4DE8-9735-C7FFED70D87C}"/>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5B3294EA-91C9-46BF-A7F4-642F5F387510}"/>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CAF332E0-2D94-4EDE-93CB-A3F151EFBA66}"/>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480D3F83-16EB-4F41-9A79-6A90792249FE}"/>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91DF3CBF-22CF-40C6-BD49-B361F03EC6E7}"/>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B9E28C78-C6D0-4638-8ABD-7DF775753E04}"/>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16EF8014-FCB3-4758-A5B1-64B50128402F}"/>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3F55CBA2-505E-4765-B1CA-9D6F292387CC}"/>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3C037044-55FB-4F7D-BF04-1BA705F9E5BE}"/>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DFFA90C3-5308-4F10-8E20-7DF226377E81}"/>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D81E7EB8-23E1-4455-8FF6-1CFC87EBF73E}"/>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5347FF50-A9C8-4E3B-A0A5-9BA934FA68A1}"/>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9A7202A9-5439-4E5D-AB54-0C8130E7E5FE}"/>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F86FF5BB-5F69-4994-A4CC-4A2C0381BB9A}"/>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AD3DF834-CEF6-4DAE-9AC2-A14AC9DEA189}"/>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3D970E84-4BC6-4F48-9555-ACA98162963C}"/>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040EB24F-2CC8-458F-B2D8-8CCA1AD15ED8}"/>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B1D7711D-03FE-40E0-BC14-F13BEDB4F2EB}"/>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B7A6FF">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1F18B6EA-BF7A-497F-A9B7-2C82A169AB60}"/>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B7A6FF">
              <a:alpha val="28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9728C7B8-CA35-40C4-B1AC-C52A8C878941}"/>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B7A6FF">
              <a:alpha val="14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58AC8DE1-C9FD-4820-9A0C-DF99B2FA26BC}"/>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1510EB7C-C062-49B9-AF87-5322C2125FD1}"/>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B75A8A73-B979-45B5-889D-699BF1F1C291}"/>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EE48DD58-41E2-43F2-8BE4-235510BAEC88}"/>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953D2B26-C6D3-45F9-96B2-71B9201A6235}"/>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8064FFF1-E9CC-41C0-9E9F-4DF1ED5A1929}"/>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424C15CD-416C-45C5-B8D3-DFD4F9FA4AD2}"/>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0" name="">
            <a:extLst xmlns:a="http://schemas.openxmlformats.org/drawingml/2006/main">
              <a:ext uri="{FF2B5EF4-FFF2-40B4-BE49-F238E27FC236}">
                <a16:creationId xmlns:a16="http://schemas.microsoft.com/office/drawing/2014/main" id="{C831BC5E-7E24-48CE-84AF-F6A280470DD7}"/>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856BAA8A-5032-4894-BEE5-147775BBBB40}"/>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2" name="">
            <a:extLst xmlns:a="http://schemas.openxmlformats.org/drawingml/2006/main">
              <a:ext uri="{FF2B5EF4-FFF2-40B4-BE49-F238E27FC236}">
                <a16:creationId xmlns:a16="http://schemas.microsoft.com/office/drawing/2014/main" id="{DBB5D270-00A0-435C-9CDB-5D2119382767}"/>
              </a:ext>
            </a:extLst>
          </p:cNvPr>
          <p:cNvSpPr>
            <a:spLocks xmlns:a="http://schemas.openxmlformats.org/drawingml/2006/main" noGrp="1"/>
          </p:cNvSpPr>
          <p:nvPr/>
        </p:nvSpPr>
        <p:spPr>
          <a:xfrm xmlns:a="http://schemas.openxmlformats.org/drawingml/2006/main">
            <a:off x="9982200" y="4895850"/>
            <a:ext cx="571500" cy="571500"/>
          </a:xfrm>
          <a:prstGeom xmlns:a="http://schemas.openxmlformats.org/drawingml/2006/main" prst="ellipse">
            <a:avLst/>
          </a:prstGeom>
          <a:gradFill xmlns:a="http://schemas.openxmlformats.org/drawingml/2006/main">
            <a:gsLst>
              <a:gs pos="0">
                <a:srgbClr val="B7A6FF">
                  <a:alpha val="30000"/>
                </a:srgbClr>
              </a:gs>
              <a:gs pos="45000">
                <a:srgbClr val="B7A6FF">
                  <a:alpha val="12000"/>
                </a:srgbClr>
              </a:gs>
              <a:gs pos="100000">
                <a:srgbClr val="B7A6FF">
                  <a:alpha val="0"/>
                </a:srgbClr>
              </a:gs>
            </a:gsLst>
            <a:path path="shape"/>
          </a:gra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1A2B9758-A5AE-4B2B-8791-66CEA9D1AC19}"/>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B7A6FF"/>
          </a:solidFill>
          <a:ln xmlns:a="http://schemas.openxmlformats.org/drawingml/2006/main" w="0">
            <a:solidFill>
              <a:srgbClr val="000000"/>
            </a:solidFill>
            <a:prstDash val="solid"/>
          </a:ln>
        </p:spPr>
      </p:sp>
      <p:sp>
        <p:nvSpPr>
          <p:cNvPr id="84" name="">
            <a:extLst xmlns:a="http://schemas.openxmlformats.org/drawingml/2006/main">
              <a:ext uri="{FF2B5EF4-FFF2-40B4-BE49-F238E27FC236}">
                <a16:creationId xmlns:a16="http://schemas.microsoft.com/office/drawing/2014/main" id="{1B8F533B-3EF8-4401-B187-3EEEFDFEAE95}"/>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0E5AD8B8-0108-47CD-8D90-652DCDF81E2E}"/>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C642F9FF-B642-40B5-A72A-34F8260ABD39}"/>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56C828C5-1E4F-4F43-B4E3-335E4F233A70}"/>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1801793B-0518-47DF-8D98-2EF50812BC9E}"/>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9A8D02ED-A91A-4983-BA33-730ED4712875}"/>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05</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F15C47F8-950A-4154-B7E6-3AD0DA53EBF7}"/>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B7A6FF"/>
              </a:gs>
              <a:gs pos="100000">
                <a:srgbClr val="B7A6FF">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552AD388-AA6A-47C1-9E1D-F290C4AEA062}"/>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测试验证</a:t>
            </a:r>
          </a:p>
        </p:txBody>
      </p:sp>
      <p:sp>
        <p:nvSpPr>
          <p:cNvPr id="92" name="">
            <a:extLst xmlns:a="http://schemas.openxmlformats.org/drawingml/2006/main">
              <a:ext uri="{FF2B5EF4-FFF2-40B4-BE49-F238E27FC236}">
                <a16:creationId xmlns:a16="http://schemas.microsoft.com/office/drawing/2014/main" id="{284B1BAC-484C-493E-BE5E-1FF570088DFB}"/>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B7A6FF"/>
                </a:solidFill>
                <a:latin typeface="Bahnschrift"/>
                <a:ea typeface="Bahnschrift"/>
                <a:cs typeface="Bahnschrift"/>
              </a:defRPr>
            </a:pPr>
            <a:r>
              <a:rPr sz="1013" b="0" spc="3">
                <a:solidFill>
                  <a:srgbClr val="B7A6FF"/>
                </a:solidFill>
                <a:latin typeface="Bahnschrift"/>
                <a:ea typeface="Bahnschrift"/>
                <a:cs typeface="Bahnschrift"/>
              </a:rPr>
              <a:t>VALIDATION · TESTING &amp; COMPARISON</a:t>
            </a:r>
          </a:p>
        </p:txBody>
      </p:sp>
      <p:sp>
        <p:nvSpPr>
          <p:cNvPr id="93" name="">
            <a:extLst xmlns:a="http://schemas.openxmlformats.org/drawingml/2006/main">
              <a:ext uri="{FF2B5EF4-FFF2-40B4-BE49-F238E27FC236}">
                <a16:creationId xmlns:a16="http://schemas.microsoft.com/office/drawing/2014/main" id="{7972D306-CCA5-4E3B-9716-93BB770BE101}"/>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E8A3BD81-C547-46AD-8B2B-D6EE1989EAA4}"/>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五层测试：建库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构建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引擎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鉴权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业务，全部有可复现的验收动作</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纵向对比：引入系统前后的结论一致性、组卷题量与举证成本</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横向对比：传统 </a:t>
            </a:r>
            <a:r>
              <a:rPr sz="1163">
                <a:solidFill>
                  <a:srgbClr val="C6DDFF"/>
                </a:solidFill>
                <a:latin typeface="微软雅黑"/>
                <a:ea typeface="微软雅黑"/>
                <a:cs typeface="微软雅黑"/>
              </a:rPr>
              <a:t>LMS / </a:t>
            </a:r>
            <a:r>
              <a:rPr sz="1163">
                <a:solidFill>
                  <a:srgbClr val="C6DDFF"/>
                </a:solidFill>
                <a:latin typeface="微软雅黑"/>
                <a:ea typeface="微软雅黑"/>
                <a:cs typeface="微软雅黑"/>
              </a:rPr>
              <a:t>通用大模型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工业智训的能力矩阵</a:t>
            </a:r>
          </a:p>
        </p:txBody>
      </p:sp>
      <p:sp>
        <p:nvSpPr>
          <p:cNvPr id="95" name="">
            <a:extLst xmlns:a="http://schemas.openxmlformats.org/drawingml/2006/main">
              <a:ext uri="{FF2B5EF4-FFF2-40B4-BE49-F238E27FC236}">
                <a16:creationId xmlns:a16="http://schemas.microsoft.com/office/drawing/2014/main" id="{67535C33-27DA-40FB-B61C-EAEF72444B11}"/>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B7A6FF">
                <a:alpha val="50000"/>
              </a:srgbClr>
            </a:solidFill>
            <a:prstDash val="solid"/>
          </a:ln>
        </p:spPr>
      </p:sp>
      <p:sp>
        <p:nvSpPr>
          <p:cNvPr id="96" name="">
            <a:extLst xmlns:a="http://schemas.openxmlformats.org/drawingml/2006/main">
              <a:ext uri="{FF2B5EF4-FFF2-40B4-BE49-F238E27FC236}">
                <a16:creationId xmlns:a16="http://schemas.microsoft.com/office/drawing/2014/main" id="{F258E2F1-C681-4927-B938-7BFF23554CF7}"/>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9C9ED99F-8F18-4AAC-BD45-467E68EBE4B3}"/>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8" name="">
            <a:extLst xmlns:a="http://schemas.openxmlformats.org/drawingml/2006/main">
              <a:ext uri="{FF2B5EF4-FFF2-40B4-BE49-F238E27FC236}">
                <a16:creationId xmlns:a16="http://schemas.microsoft.com/office/drawing/2014/main" id="{B1D2C104-12C8-47E8-9953-64FA0676E48C}"/>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层测试全部通过</a:t>
            </a:r>
          </a:p>
        </p:txBody>
      </p:sp>
      <p:sp>
        <p:nvSpPr>
          <p:cNvPr id="99" name="">
            <a:extLst xmlns:a="http://schemas.openxmlformats.org/drawingml/2006/main">
              <a:ext uri="{FF2B5EF4-FFF2-40B4-BE49-F238E27FC236}">
                <a16:creationId xmlns:a16="http://schemas.microsoft.com/office/drawing/2014/main" id="{AC9AD703-FAF0-42FD-89F6-AAA027168056}"/>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B7A6FF">
                <a:alpha val="50000"/>
              </a:srgbClr>
            </a:solidFill>
            <a:prstDash val="solid"/>
          </a:ln>
        </p:spPr>
      </p:sp>
      <p:sp>
        <p:nvSpPr>
          <p:cNvPr id="100" name="">
            <a:extLst xmlns:a="http://schemas.openxmlformats.org/drawingml/2006/main">
              <a:ext uri="{FF2B5EF4-FFF2-40B4-BE49-F238E27FC236}">
                <a16:creationId xmlns:a16="http://schemas.microsoft.com/office/drawing/2014/main" id="{6CAFC929-F419-49C9-B6A7-A7E661B311DC}"/>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639B53BF-F5BF-4F45-9E69-18DA54734015}"/>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200</a:t>
            </a:r>
          </a:p>
        </p:txBody>
      </p:sp>
      <p:sp>
        <p:nvSpPr>
          <p:cNvPr id="102" name="">
            <a:extLst xmlns:a="http://schemas.openxmlformats.org/drawingml/2006/main">
              <a:ext uri="{FF2B5EF4-FFF2-40B4-BE49-F238E27FC236}">
                <a16:creationId xmlns:a16="http://schemas.microsoft.com/office/drawing/2014/main" id="{43200EEB-DE25-4AEB-A49C-BE05FF6EBBED}"/>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次重复执行完全一致</a:t>
            </a:r>
          </a:p>
        </p:txBody>
      </p:sp>
      <p:sp>
        <p:nvSpPr>
          <p:cNvPr id="103" name="">
            <a:extLst xmlns:a="http://schemas.openxmlformats.org/drawingml/2006/main">
              <a:ext uri="{FF2B5EF4-FFF2-40B4-BE49-F238E27FC236}">
                <a16:creationId xmlns:a16="http://schemas.microsoft.com/office/drawing/2014/main" id="{B74A9E99-BF92-4D89-AAAE-76FB93C6F214}"/>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B7A6FF">
                <a:alpha val="50000"/>
              </a:srgbClr>
            </a:solidFill>
            <a:prstDash val="solid"/>
          </a:ln>
        </p:spPr>
      </p:sp>
      <p:sp>
        <p:nvSpPr>
          <p:cNvPr id="104" name="">
            <a:extLst xmlns:a="http://schemas.openxmlformats.org/drawingml/2006/main">
              <a:ext uri="{FF2B5EF4-FFF2-40B4-BE49-F238E27FC236}">
                <a16:creationId xmlns:a16="http://schemas.microsoft.com/office/drawing/2014/main" id="{CB6F7BBE-7E05-4B4A-830A-DDD036725F70}"/>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0CC1BF13-E6D6-41E9-BAB2-9630D2057663}"/>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403</a:t>
            </a:r>
          </a:p>
        </p:txBody>
      </p:sp>
      <p:sp>
        <p:nvSpPr>
          <p:cNvPr id="106" name="">
            <a:extLst xmlns:a="http://schemas.openxmlformats.org/drawingml/2006/main">
              <a:ext uri="{FF2B5EF4-FFF2-40B4-BE49-F238E27FC236}">
                <a16:creationId xmlns:a16="http://schemas.microsoft.com/office/drawing/2014/main" id="{FCB8E2ED-19E9-43E3-BECE-3CDAF0BD5E53}"/>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非管理员调用被拒</a:t>
            </a:r>
          </a:p>
        </p:txBody>
      </p:sp>
      <p:sp>
        <p:nvSpPr>
          <p:cNvPr id="107" name="">
            <a:extLst xmlns:a="http://schemas.openxmlformats.org/drawingml/2006/main">
              <a:ext uri="{FF2B5EF4-FFF2-40B4-BE49-F238E27FC236}">
                <a16:creationId xmlns:a16="http://schemas.microsoft.com/office/drawing/2014/main" id="{88E0FE33-622B-46EB-97AF-FA84155312DE}"/>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B7A6FF"/>
              </a:gs>
              <a:gs pos="100000">
                <a:srgbClr val="B7A6FF">
                  <a:alpha val="0"/>
                </a:srgbClr>
              </a:gs>
            </a:gsLst>
            <a:lin ang="0"/>
          </a:gra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7EF1DBD7-090F-4A3E-881E-072399629BD5}"/>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B7A6FF">
              <a:alpha val="60000"/>
            </a:srgbClr>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4E10AF16-96F8-4D75-864A-9D3B03163F13}"/>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B7A6FF">
              <a:alpha val="60000"/>
            </a:srgbClr>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CFC7124E-DF80-4BB3-A43D-627A0487FEAE}"/>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B7A6FF">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349279437"/>
      </p:ext>
    </p:extLst>
  </p:cSld>
</p:sld>
</file>

<file path=ppt/slides/slide2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1b277e4ab073498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76D787-6993-49D4-BE7D-6A9684DEC3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0F89DD15-778D-441F-A2D9-3C34C7DF6501}"/>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2309E330-9032-41C6-B210-84D35353E53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05FD722E-3BA0-4025-9F58-EC4CDBC46DB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B2DE88E4-B978-4A1C-9CEB-E0F03951D7E6}"/>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6AFC142D-0686-4141-97C7-2754D725D28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2B63B3C5-32D0-48AB-8C70-C3B273AD87C5}"/>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76303D44-4AFF-4035-809E-B3894B47AEA4}"/>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63D71889-3773-4BE8-A81A-68BB1721A7E5}"/>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19A46273-AC89-4AA7-BF3E-0253AF03140F}"/>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DD7A64A6-94DF-4437-8BB9-F98581ADB131}"/>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7C0C39D-F7FE-4D09-9F0B-34776ACC5293}"/>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7E7025E2-5347-4C03-86BB-C98CEFCEAD1F}"/>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五层测试与验收结果</a:t>
            </a:r>
          </a:p>
        </p:txBody>
      </p:sp>
      <p:sp>
        <p:nvSpPr>
          <p:cNvPr id="15" name="">
            <a:extLst xmlns:a="http://schemas.openxmlformats.org/drawingml/2006/main">
              <a:ext uri="{FF2B5EF4-FFF2-40B4-BE49-F238E27FC236}">
                <a16:creationId xmlns:a16="http://schemas.microsoft.com/office/drawing/2014/main" id="{9DD5F60E-8924-46B5-B255-C8E2D811F172}"/>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FD3FEEB-A622-4FA5-8A87-58D6FADD7F4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8A9AD7E9-FD40-4C82-8D5C-53DE397A623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9356538C-D730-4648-994C-95E150C53A8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6B51804-C186-43EA-A353-D2E5438A9D28}"/>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测试不是「跑通截图」，而是每一层都有明确的通过判据与可复现的验收动作。</a:t>
            </a:r>
          </a:p>
        </p:txBody>
      </p:sp>
      <p:sp>
        <p:nvSpPr>
          <p:cNvPr id="20" name="">
            <a:extLst xmlns:a="http://schemas.openxmlformats.org/drawingml/2006/main">
              <a:ext uri="{FF2B5EF4-FFF2-40B4-BE49-F238E27FC236}">
                <a16:creationId xmlns:a16="http://schemas.microsoft.com/office/drawing/2014/main" id="{F018A019-42BA-457A-8C6D-7F4F7667DECA}"/>
              </a:ext>
            </a:extLst>
          </p:cNvPr>
          <p:cNvSpPr>
            <a:spLocks xmlns:a="http://schemas.openxmlformats.org/drawingml/2006/main" noGrp="1"/>
          </p:cNvSpPr>
          <p:nvPr/>
        </p:nvSpPr>
        <p:spPr>
          <a:xfrm xmlns:a="http://schemas.openxmlformats.org/drawingml/2006/main">
            <a:off x="285750" y="1333500"/>
            <a:ext cx="11620500" cy="895350"/>
          </a:xfrm>
          <a:prstGeom xmlns:a="http://schemas.openxmlformats.org/drawingml/2006/main" prst="roundRect">
            <a:avLst>
              <a:gd name="adj" fmla="val 9574"/>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B418CACF-57B7-4BDB-9B48-A447B630641A}"/>
              </a:ext>
            </a:extLst>
          </p:cNvPr>
          <p:cNvSpPr>
            <a:spLocks xmlns:a="http://schemas.openxmlformats.org/drawingml/2006/main" noGrp="1"/>
          </p:cNvSpPr>
          <p:nvPr/>
        </p:nvSpPr>
        <p:spPr>
          <a:xfrm xmlns:a="http://schemas.openxmlformats.org/drawingml/2006/main">
            <a:off x="285750" y="1333500"/>
            <a:ext cx="47625" cy="8953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DB909AFA-24B4-42FE-8D27-F1DD54430BDC}"/>
              </a:ext>
            </a:extLst>
          </p:cNvPr>
          <p:cNvSpPr>
            <a:spLocks xmlns:a="http://schemas.openxmlformats.org/drawingml/2006/main" noGrp="1"/>
          </p:cNvSpPr>
          <p:nvPr/>
        </p:nvSpPr>
        <p:spPr>
          <a:xfrm xmlns:a="http://schemas.openxmlformats.org/drawingml/2006/main">
            <a:off x="476250" y="161925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第一层 </a:t>
            </a:r>
            <a:r>
              <a:rPr sz="1125" b="1">
                <a:solidFill>
                  <a:srgbClr val="4FD8FF"/>
                </a:solidFill>
                <a:latin typeface="微软雅黑"/>
                <a:ea typeface="微软雅黑"/>
                <a:cs typeface="微软雅黑"/>
              </a:rPr>
              <a:t>· </a:t>
            </a:r>
            <a:r>
              <a:rPr sz="1125" b="1">
                <a:solidFill>
                  <a:srgbClr val="4FD8FF"/>
                </a:solidFill>
                <a:latin typeface="微软雅黑"/>
                <a:ea typeface="微软雅黑"/>
                <a:cs typeface="微软雅黑"/>
              </a:rPr>
              <a:t>建库</a:t>
            </a:r>
          </a:p>
        </p:txBody>
      </p:sp>
      <p:sp>
        <p:nvSpPr>
          <p:cNvPr id="23" name="">
            <a:extLst xmlns:a="http://schemas.openxmlformats.org/drawingml/2006/main">
              <a:ext uri="{FF2B5EF4-FFF2-40B4-BE49-F238E27FC236}">
                <a16:creationId xmlns:a16="http://schemas.microsoft.com/office/drawing/2014/main" id="{7E2F9F08-DB83-4F6F-A2B0-08738939749A}"/>
              </a:ext>
            </a:extLst>
          </p:cNvPr>
          <p:cNvSpPr>
            <a:spLocks xmlns:a="http://schemas.openxmlformats.org/drawingml/2006/main" noGrp="1"/>
          </p:cNvSpPr>
          <p:nvPr/>
        </p:nvSpPr>
        <p:spPr>
          <a:xfrm xmlns:a="http://schemas.openxmlformats.org/drawingml/2006/main">
            <a:off x="2038350" y="14859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11 </a:t>
            </a:r>
            <a:r>
              <a:rPr sz="938" b="0">
                <a:solidFill>
                  <a:srgbClr val="EEF5FF"/>
                </a:solidFill>
                <a:latin typeface="微软雅黑"/>
                <a:ea typeface="微软雅黑"/>
                <a:cs typeface="微软雅黑"/>
              </a:rPr>
              <a:t>个脚本按序对空库一次到位，</a:t>
            </a:r>
            <a:r>
              <a:rPr sz="938" b="0">
                <a:solidFill>
                  <a:srgbClr val="EEF5FF"/>
                </a:solidFill>
                <a:latin typeface="微软雅黑"/>
                <a:ea typeface="微软雅黑"/>
                <a:cs typeface="微软雅黑"/>
              </a:rPr>
              <a:t>docker logs </a:t>
            </a:r>
            <a:r>
              <a:rPr sz="938" b="0">
                <a:solidFill>
                  <a:srgbClr val="EEF5FF"/>
                </a:solidFill>
                <a:latin typeface="微软雅黑"/>
                <a:ea typeface="微软雅黑"/>
                <a:cs typeface="微软雅黑"/>
              </a:rPr>
              <a:t>无 </a:t>
            </a:r>
            <a:r>
              <a:rPr sz="938" b="0">
                <a:solidFill>
                  <a:srgbClr val="EEF5FF"/>
                </a:solidFill>
                <a:latin typeface="微软雅黑"/>
                <a:ea typeface="微软雅黑"/>
                <a:cs typeface="微软雅黑"/>
              </a:rPr>
              <a:t>ERROR</a:t>
            </a:r>
          </a:p>
        </p:txBody>
      </p:sp>
      <p:sp>
        <p:nvSpPr>
          <p:cNvPr id="24" name="">
            <a:extLst xmlns:a="http://schemas.openxmlformats.org/drawingml/2006/main">
              <a:ext uri="{FF2B5EF4-FFF2-40B4-BE49-F238E27FC236}">
                <a16:creationId xmlns:a16="http://schemas.microsoft.com/office/drawing/2014/main" id="{02780C18-3813-45AA-8166-5E25B6C0C3CE}"/>
              </a:ext>
            </a:extLst>
          </p:cNvPr>
          <p:cNvSpPr>
            <a:spLocks xmlns:a="http://schemas.openxmlformats.org/drawingml/2006/main" noGrp="1"/>
          </p:cNvSpPr>
          <p:nvPr/>
        </p:nvSpPr>
        <p:spPr>
          <a:xfrm xmlns:a="http://schemas.openxmlformats.org/drawingml/2006/main">
            <a:off x="2038350" y="17716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表数与脚本定义一致</a:t>
            </a:r>
          </a:p>
        </p:txBody>
      </p:sp>
      <p:sp>
        <p:nvSpPr>
          <p:cNvPr id="25" name="">
            <a:extLst xmlns:a="http://schemas.openxmlformats.org/drawingml/2006/main">
              <a:ext uri="{FF2B5EF4-FFF2-40B4-BE49-F238E27FC236}">
                <a16:creationId xmlns:a16="http://schemas.microsoft.com/office/drawing/2014/main" id="{3E29F3AB-BB03-4BEF-AC6E-0F465789C06C}"/>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6" name="">
            <a:extLst xmlns:a="http://schemas.openxmlformats.org/drawingml/2006/main">
              <a:ext uri="{FF2B5EF4-FFF2-40B4-BE49-F238E27FC236}">
                <a16:creationId xmlns:a16="http://schemas.microsoft.com/office/drawing/2014/main" id="{2E7133A6-4810-4F4F-B119-C22312A5EA0B}"/>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27" name="">
            <a:extLst xmlns:a="http://schemas.openxmlformats.org/drawingml/2006/main">
              <a:ext uri="{FF2B5EF4-FFF2-40B4-BE49-F238E27FC236}">
                <a16:creationId xmlns:a16="http://schemas.microsoft.com/office/drawing/2014/main" id="{39E187E8-64A2-4F12-81DA-B34491F2F533}"/>
              </a:ext>
            </a:extLst>
          </p:cNvPr>
          <p:cNvSpPr>
            <a:spLocks xmlns:a="http://schemas.openxmlformats.org/drawingml/2006/main" noGrp="1"/>
          </p:cNvSpPr>
          <p:nvPr/>
        </p:nvSpPr>
        <p:spPr>
          <a:xfrm xmlns:a="http://schemas.openxmlformats.org/drawingml/2006/main">
            <a:off x="285750" y="2343150"/>
            <a:ext cx="11620500" cy="895350"/>
          </a:xfrm>
          <a:prstGeom xmlns:a="http://schemas.openxmlformats.org/drawingml/2006/main" prst="roundRect">
            <a:avLst>
              <a:gd name="adj" fmla="val 9574"/>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1E715140-F72D-4DC7-86AB-67AA60B59CF4}"/>
              </a:ext>
            </a:extLst>
          </p:cNvPr>
          <p:cNvSpPr>
            <a:spLocks xmlns:a="http://schemas.openxmlformats.org/drawingml/2006/main" noGrp="1"/>
          </p:cNvSpPr>
          <p:nvPr/>
        </p:nvSpPr>
        <p:spPr>
          <a:xfrm xmlns:a="http://schemas.openxmlformats.org/drawingml/2006/main">
            <a:off x="285750" y="2343150"/>
            <a:ext cx="47625" cy="89535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D83E8FF0-E013-48AA-9BB4-2D2AB12CFE5D}"/>
              </a:ext>
            </a:extLst>
          </p:cNvPr>
          <p:cNvSpPr>
            <a:spLocks xmlns:a="http://schemas.openxmlformats.org/drawingml/2006/main" noGrp="1"/>
          </p:cNvSpPr>
          <p:nvPr/>
        </p:nvSpPr>
        <p:spPr>
          <a:xfrm xmlns:a="http://schemas.openxmlformats.org/drawingml/2006/main">
            <a:off x="476250" y="262890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0"/>
                </a:solidFill>
                <a:latin typeface="微软雅黑"/>
                <a:ea typeface="微软雅黑"/>
                <a:cs typeface="微软雅黑"/>
              </a:defRPr>
            </a:pPr>
            <a:r>
              <a:rPr sz="1125" b="1">
                <a:solidFill>
                  <a:srgbClr val="2E86E0"/>
                </a:solidFill>
                <a:latin typeface="微软雅黑"/>
                <a:ea typeface="微软雅黑"/>
                <a:cs typeface="微软雅黑"/>
              </a:rPr>
              <a:t>第二层 </a:t>
            </a:r>
            <a:r>
              <a:rPr sz="1125" b="1">
                <a:solidFill>
                  <a:srgbClr val="2E86E0"/>
                </a:solidFill>
                <a:latin typeface="微软雅黑"/>
                <a:ea typeface="微软雅黑"/>
                <a:cs typeface="微软雅黑"/>
              </a:rPr>
              <a:t>· </a:t>
            </a:r>
            <a:r>
              <a:rPr sz="1125" b="1">
                <a:solidFill>
                  <a:srgbClr val="2E86E0"/>
                </a:solidFill>
                <a:latin typeface="微软雅黑"/>
                <a:ea typeface="微软雅黑"/>
                <a:cs typeface="微软雅黑"/>
              </a:rPr>
              <a:t>构建</a:t>
            </a:r>
          </a:p>
        </p:txBody>
      </p:sp>
      <p:sp>
        <p:nvSpPr>
          <p:cNvPr id="30" name="">
            <a:extLst xmlns:a="http://schemas.openxmlformats.org/drawingml/2006/main">
              <a:ext uri="{FF2B5EF4-FFF2-40B4-BE49-F238E27FC236}">
                <a16:creationId xmlns:a16="http://schemas.microsoft.com/office/drawing/2014/main" id="{5531D7D3-E7E4-4AA9-97E6-6128C9E87B77}"/>
              </a:ext>
            </a:extLst>
          </p:cNvPr>
          <p:cNvSpPr>
            <a:spLocks xmlns:a="http://schemas.openxmlformats.org/drawingml/2006/main" noGrp="1"/>
          </p:cNvSpPr>
          <p:nvPr/>
        </p:nvSpPr>
        <p:spPr>
          <a:xfrm xmlns:a="http://schemas.openxmlformats.org/drawingml/2006/main">
            <a:off x="2038350" y="24955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后端 </a:t>
            </a:r>
            <a:r>
              <a:rPr sz="938" b="0">
                <a:solidFill>
                  <a:srgbClr val="EEF5FF"/>
                </a:solidFill>
                <a:latin typeface="微软雅黑"/>
                <a:ea typeface="微软雅黑"/>
                <a:cs typeface="微软雅黑"/>
              </a:rPr>
              <a:t>mvn -DskipTests package </a:t>
            </a:r>
            <a:r>
              <a:rPr sz="938" b="0">
                <a:solidFill>
                  <a:srgbClr val="EEF5FF"/>
                </a:solidFill>
                <a:latin typeface="微软雅黑"/>
                <a:ea typeface="微软雅黑"/>
                <a:cs typeface="微软雅黑"/>
              </a:rPr>
              <a:t>通过；</a:t>
            </a:r>
            <a:r>
              <a:rPr sz="938" b="0">
                <a:solidFill>
                  <a:srgbClr val="EEF5FF"/>
                </a:solidFill>
                <a:latin typeface="微软雅黑"/>
                <a:ea typeface="微软雅黑"/>
                <a:cs typeface="微软雅黑"/>
              </a:rPr>
              <a:t>Swagger </a:t>
            </a:r>
            <a:r>
              <a:rPr sz="938" b="0">
                <a:solidFill>
                  <a:srgbClr val="EEF5FF"/>
                </a:solidFill>
                <a:latin typeface="微软雅黑"/>
                <a:ea typeface="微软雅黑"/>
                <a:cs typeface="微软雅黑"/>
              </a:rPr>
              <a:t>可打开</a:t>
            </a:r>
          </a:p>
        </p:txBody>
      </p:sp>
      <p:sp>
        <p:nvSpPr>
          <p:cNvPr id="31" name="">
            <a:extLst xmlns:a="http://schemas.openxmlformats.org/drawingml/2006/main">
              <a:ext uri="{FF2B5EF4-FFF2-40B4-BE49-F238E27FC236}">
                <a16:creationId xmlns:a16="http://schemas.microsoft.com/office/drawing/2014/main" id="{60F666B0-A0FF-4B50-B1CF-0C09BC69A4D6}"/>
              </a:ext>
            </a:extLst>
          </p:cNvPr>
          <p:cNvSpPr>
            <a:spLocks xmlns:a="http://schemas.openxmlformats.org/drawingml/2006/main" noGrp="1"/>
          </p:cNvSpPr>
          <p:nvPr/>
        </p:nvSpPr>
        <p:spPr>
          <a:xfrm xmlns:a="http://schemas.openxmlformats.org/drawingml/2006/main">
            <a:off x="2038350" y="27813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在线接口 </a:t>
            </a:r>
            <a:r>
              <a:rPr sz="863" b="0">
                <a:solidFill>
                  <a:srgbClr val="C6DDFF"/>
                </a:solidFill>
                <a:latin typeface="微软雅黑"/>
                <a:ea typeface="微软雅黑"/>
                <a:cs typeface="微软雅黑"/>
              </a:rPr>
              <a:t>75 </a:t>
            </a:r>
            <a:r>
              <a:rPr sz="863" b="0">
                <a:solidFill>
                  <a:srgbClr val="C6DDFF"/>
                </a:solidFill>
                <a:latin typeface="微软雅黑"/>
                <a:ea typeface="微软雅黑"/>
                <a:cs typeface="微软雅黑"/>
              </a:rPr>
              <a:t>个可见</a:t>
            </a:r>
          </a:p>
        </p:txBody>
      </p:sp>
      <p:sp>
        <p:nvSpPr>
          <p:cNvPr id="32" name="">
            <a:extLst xmlns:a="http://schemas.openxmlformats.org/drawingml/2006/main">
              <a:ext uri="{FF2B5EF4-FFF2-40B4-BE49-F238E27FC236}">
                <a16:creationId xmlns:a16="http://schemas.microsoft.com/office/drawing/2014/main" id="{697540B6-3CB6-45E7-9AC1-D384ECBA38C2}"/>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3" name="">
            <a:extLst xmlns:a="http://schemas.openxmlformats.org/drawingml/2006/main">
              <a:ext uri="{FF2B5EF4-FFF2-40B4-BE49-F238E27FC236}">
                <a16:creationId xmlns:a16="http://schemas.microsoft.com/office/drawing/2014/main" id="{F2616AEE-0C5F-48E1-ADA0-32E5409630FC}"/>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34" name="">
            <a:extLst xmlns:a="http://schemas.openxmlformats.org/drawingml/2006/main">
              <a:ext uri="{FF2B5EF4-FFF2-40B4-BE49-F238E27FC236}">
                <a16:creationId xmlns:a16="http://schemas.microsoft.com/office/drawing/2014/main" id="{8EAA6ED1-8AFB-46E4-835B-43D665233F7A}"/>
              </a:ext>
            </a:extLst>
          </p:cNvPr>
          <p:cNvSpPr>
            <a:spLocks xmlns:a="http://schemas.openxmlformats.org/drawingml/2006/main" noGrp="1"/>
          </p:cNvSpPr>
          <p:nvPr/>
        </p:nvSpPr>
        <p:spPr>
          <a:xfrm xmlns:a="http://schemas.openxmlformats.org/drawingml/2006/main">
            <a:off x="285750" y="3352800"/>
            <a:ext cx="11620500" cy="895350"/>
          </a:xfrm>
          <a:prstGeom xmlns:a="http://schemas.openxmlformats.org/drawingml/2006/main" prst="roundRect">
            <a:avLst>
              <a:gd name="adj" fmla="val 9574"/>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D8210546-9CFE-4DAC-BF0B-9CBC5C73C041}"/>
              </a:ext>
            </a:extLst>
          </p:cNvPr>
          <p:cNvSpPr>
            <a:spLocks xmlns:a="http://schemas.openxmlformats.org/drawingml/2006/main" noGrp="1"/>
          </p:cNvSpPr>
          <p:nvPr/>
        </p:nvSpPr>
        <p:spPr>
          <a:xfrm xmlns:a="http://schemas.openxmlformats.org/drawingml/2006/main">
            <a:off x="285750" y="3352800"/>
            <a:ext cx="47625" cy="8953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63CFFE0E-273D-4121-BE6D-A100EF869EE7}"/>
              </a:ext>
            </a:extLst>
          </p:cNvPr>
          <p:cNvSpPr>
            <a:spLocks xmlns:a="http://schemas.openxmlformats.org/drawingml/2006/main" noGrp="1"/>
          </p:cNvSpPr>
          <p:nvPr/>
        </p:nvSpPr>
        <p:spPr>
          <a:xfrm xmlns:a="http://schemas.openxmlformats.org/drawingml/2006/main">
            <a:off x="476250" y="363855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第三层 </a:t>
            </a:r>
            <a:r>
              <a:rPr sz="1125" b="1">
                <a:solidFill>
                  <a:srgbClr val="FFD24A"/>
                </a:solidFill>
                <a:latin typeface="微软雅黑"/>
                <a:ea typeface="微软雅黑"/>
                <a:cs typeface="微软雅黑"/>
              </a:rPr>
              <a:t>· </a:t>
            </a:r>
            <a:r>
              <a:rPr sz="1125" b="1">
                <a:solidFill>
                  <a:srgbClr val="FFD24A"/>
                </a:solidFill>
                <a:latin typeface="微软雅黑"/>
                <a:ea typeface="微软雅黑"/>
                <a:cs typeface="微软雅黑"/>
              </a:rPr>
              <a:t>引擎</a:t>
            </a:r>
          </a:p>
        </p:txBody>
      </p:sp>
      <p:sp>
        <p:nvSpPr>
          <p:cNvPr id="37" name="">
            <a:extLst xmlns:a="http://schemas.openxmlformats.org/drawingml/2006/main">
              <a:ext uri="{FF2B5EF4-FFF2-40B4-BE49-F238E27FC236}">
                <a16:creationId xmlns:a16="http://schemas.microsoft.com/office/drawing/2014/main" id="{541FE75A-27ED-4D39-BF9D-74249295352B}"/>
              </a:ext>
            </a:extLst>
          </p:cNvPr>
          <p:cNvSpPr>
            <a:spLocks xmlns:a="http://schemas.openxmlformats.org/drawingml/2006/main" noGrp="1"/>
          </p:cNvSpPr>
          <p:nvPr/>
        </p:nvSpPr>
        <p:spPr>
          <a:xfrm xmlns:a="http://schemas.openxmlformats.org/drawingml/2006/main">
            <a:off x="2038350" y="35052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11 </a:t>
            </a:r>
            <a:r>
              <a:rPr sz="938" b="0">
                <a:solidFill>
                  <a:srgbClr val="EEF5FF"/>
                </a:solidFill>
                <a:latin typeface="微软雅黑"/>
                <a:ea typeface="微软雅黑"/>
                <a:cs typeface="微软雅黑"/>
              </a:rPr>
              <a:t>项规则场景测试全部通过</a:t>
            </a:r>
          </a:p>
        </p:txBody>
      </p:sp>
      <p:sp>
        <p:nvSpPr>
          <p:cNvPr id="38" name="">
            <a:extLst xmlns:a="http://schemas.openxmlformats.org/drawingml/2006/main">
              <a:ext uri="{FF2B5EF4-FFF2-40B4-BE49-F238E27FC236}">
                <a16:creationId xmlns:a16="http://schemas.microsoft.com/office/drawing/2014/main" id="{80C98964-BCAD-4FA7-AD11-9CC5E75619AA}"/>
              </a:ext>
            </a:extLst>
          </p:cNvPr>
          <p:cNvSpPr>
            <a:spLocks xmlns:a="http://schemas.openxmlformats.org/drawingml/2006/main" noGrp="1"/>
          </p:cNvSpPr>
          <p:nvPr/>
        </p:nvSpPr>
        <p:spPr>
          <a:xfrm xmlns:a="http://schemas.openxmlformats.org/drawingml/2006/main">
            <a:off x="2038350" y="37909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覆盖启停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优先级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分组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引用事实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兜底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脏数据</a:t>
            </a:r>
          </a:p>
        </p:txBody>
      </p:sp>
      <p:sp>
        <p:nvSpPr>
          <p:cNvPr id="39" name="">
            <a:extLst xmlns:a="http://schemas.openxmlformats.org/drawingml/2006/main">
              <a:ext uri="{FF2B5EF4-FFF2-40B4-BE49-F238E27FC236}">
                <a16:creationId xmlns:a16="http://schemas.microsoft.com/office/drawing/2014/main" id="{1918BB1E-34B6-48D7-A9D1-73495502EA71}"/>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0" name="">
            <a:extLst xmlns:a="http://schemas.openxmlformats.org/drawingml/2006/main">
              <a:ext uri="{FF2B5EF4-FFF2-40B4-BE49-F238E27FC236}">
                <a16:creationId xmlns:a16="http://schemas.microsoft.com/office/drawing/2014/main" id="{AC4B32BB-6BCC-47CF-81ED-0F91C8AD9E4B}"/>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41" name="">
            <a:extLst xmlns:a="http://schemas.openxmlformats.org/drawingml/2006/main">
              <a:ext uri="{FF2B5EF4-FFF2-40B4-BE49-F238E27FC236}">
                <a16:creationId xmlns:a16="http://schemas.microsoft.com/office/drawing/2014/main" id="{A3D11843-D502-471E-8C74-982046057BF8}"/>
              </a:ext>
            </a:extLst>
          </p:cNvPr>
          <p:cNvSpPr>
            <a:spLocks xmlns:a="http://schemas.openxmlformats.org/drawingml/2006/main" noGrp="1"/>
          </p:cNvSpPr>
          <p:nvPr/>
        </p:nvSpPr>
        <p:spPr>
          <a:xfrm xmlns:a="http://schemas.openxmlformats.org/drawingml/2006/main">
            <a:off x="285750" y="4362450"/>
            <a:ext cx="11620500" cy="895350"/>
          </a:xfrm>
          <a:prstGeom xmlns:a="http://schemas.openxmlformats.org/drawingml/2006/main" prst="roundRect">
            <a:avLst>
              <a:gd name="adj" fmla="val 9574"/>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42" name="">
            <a:extLst xmlns:a="http://schemas.openxmlformats.org/drawingml/2006/main">
              <a:ext uri="{FF2B5EF4-FFF2-40B4-BE49-F238E27FC236}">
                <a16:creationId xmlns:a16="http://schemas.microsoft.com/office/drawing/2014/main" id="{E4A16337-8601-4A6E-929F-059A69B379A2}"/>
              </a:ext>
            </a:extLst>
          </p:cNvPr>
          <p:cNvSpPr>
            <a:spLocks xmlns:a="http://schemas.openxmlformats.org/drawingml/2006/main" noGrp="1"/>
          </p:cNvSpPr>
          <p:nvPr/>
        </p:nvSpPr>
        <p:spPr>
          <a:xfrm xmlns:a="http://schemas.openxmlformats.org/drawingml/2006/main">
            <a:off x="285750" y="4362450"/>
            <a:ext cx="47625" cy="895350"/>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D222D0D3-19AC-4026-B2C8-2C6D6EF1DD9B}"/>
              </a:ext>
            </a:extLst>
          </p:cNvPr>
          <p:cNvSpPr>
            <a:spLocks xmlns:a="http://schemas.openxmlformats.org/drawingml/2006/main" noGrp="1"/>
          </p:cNvSpPr>
          <p:nvPr/>
        </p:nvSpPr>
        <p:spPr>
          <a:xfrm xmlns:a="http://schemas.openxmlformats.org/drawingml/2006/main">
            <a:off x="476250" y="464820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B7A6FF"/>
                </a:solidFill>
                <a:latin typeface="微软雅黑"/>
                <a:ea typeface="微软雅黑"/>
                <a:cs typeface="微软雅黑"/>
              </a:defRPr>
            </a:pPr>
            <a:r>
              <a:rPr sz="1125" b="1">
                <a:solidFill>
                  <a:srgbClr val="B7A6FF"/>
                </a:solidFill>
                <a:latin typeface="微软雅黑"/>
                <a:ea typeface="微软雅黑"/>
                <a:cs typeface="微软雅黑"/>
              </a:rPr>
              <a:t>第四层 </a:t>
            </a:r>
            <a:r>
              <a:rPr sz="1125" b="1">
                <a:solidFill>
                  <a:srgbClr val="B7A6FF"/>
                </a:solidFill>
                <a:latin typeface="微软雅黑"/>
                <a:ea typeface="微软雅黑"/>
                <a:cs typeface="微软雅黑"/>
              </a:rPr>
              <a:t>· </a:t>
            </a:r>
            <a:r>
              <a:rPr sz="1125" b="1">
                <a:solidFill>
                  <a:srgbClr val="B7A6FF"/>
                </a:solidFill>
                <a:latin typeface="微软雅黑"/>
                <a:ea typeface="微软雅黑"/>
                <a:cs typeface="微软雅黑"/>
              </a:rPr>
              <a:t>鉴权</a:t>
            </a:r>
          </a:p>
        </p:txBody>
      </p:sp>
      <p:sp>
        <p:nvSpPr>
          <p:cNvPr id="44" name="">
            <a:extLst xmlns:a="http://schemas.openxmlformats.org/drawingml/2006/main">
              <a:ext uri="{FF2B5EF4-FFF2-40B4-BE49-F238E27FC236}">
                <a16:creationId xmlns:a16="http://schemas.microsoft.com/office/drawing/2014/main" id="{DEAADABF-A88A-412D-8A2E-36095BED8171}"/>
              </a:ext>
            </a:extLst>
          </p:cNvPr>
          <p:cNvSpPr>
            <a:spLocks xmlns:a="http://schemas.openxmlformats.org/drawingml/2006/main" noGrp="1"/>
          </p:cNvSpPr>
          <p:nvPr/>
        </p:nvSpPr>
        <p:spPr>
          <a:xfrm xmlns:a="http://schemas.openxmlformats.org/drawingml/2006/main">
            <a:off x="2038350" y="45148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非管理员调用 </a:t>
            </a:r>
            <a:r>
              <a:rPr sz="938" b="0">
                <a:solidFill>
                  <a:srgbClr val="EEF5FF"/>
                </a:solidFill>
                <a:latin typeface="微软雅黑"/>
                <a:ea typeface="微软雅黑"/>
                <a:cs typeface="微软雅黑"/>
              </a:rPr>
              <a:t>/api/v1/rules/** </a:t>
            </a:r>
            <a:r>
              <a:rPr sz="938" b="0">
                <a:solidFill>
                  <a:srgbClr val="EEF5FF"/>
                </a:solidFill>
                <a:latin typeface="微软雅黑"/>
                <a:ea typeface="微软雅黑"/>
                <a:cs typeface="微软雅黑"/>
              </a:rPr>
              <a:t>必须被拒</a:t>
            </a:r>
          </a:p>
        </p:txBody>
      </p:sp>
      <p:sp>
        <p:nvSpPr>
          <p:cNvPr id="45" name="">
            <a:extLst xmlns:a="http://schemas.openxmlformats.org/drawingml/2006/main">
              <a:ext uri="{FF2B5EF4-FFF2-40B4-BE49-F238E27FC236}">
                <a16:creationId xmlns:a16="http://schemas.microsoft.com/office/drawing/2014/main" id="{59E1209A-3AE8-476C-A5E1-F3BAC408734E}"/>
              </a:ext>
            </a:extLst>
          </p:cNvPr>
          <p:cNvSpPr>
            <a:spLocks xmlns:a="http://schemas.openxmlformats.org/drawingml/2006/main" noGrp="1"/>
          </p:cNvSpPr>
          <p:nvPr/>
        </p:nvSpPr>
        <p:spPr>
          <a:xfrm xmlns:a="http://schemas.openxmlformats.org/drawingml/2006/main">
            <a:off x="2038350" y="48006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返回 </a:t>
            </a:r>
            <a:r>
              <a:rPr sz="863" b="0">
                <a:solidFill>
                  <a:srgbClr val="C6DDFF"/>
                </a:solidFill>
                <a:latin typeface="微软雅黑"/>
                <a:ea typeface="微软雅黑"/>
                <a:cs typeface="微软雅黑"/>
              </a:rPr>
              <a:t>403 / code=40301</a:t>
            </a:r>
            <a:r>
              <a:rPr sz="863" b="0">
                <a:solidFill>
                  <a:srgbClr val="C6DDFF"/>
                </a:solidFill>
                <a:latin typeface="微软雅黑"/>
                <a:ea typeface="微软雅黑"/>
                <a:cs typeface="微软雅黑"/>
              </a:rPr>
              <a:t>；伪造 </a:t>
            </a:r>
            <a:r>
              <a:rPr sz="863" b="0">
                <a:solidFill>
                  <a:srgbClr val="C6DDFF"/>
                </a:solidFill>
                <a:latin typeface="微软雅黑"/>
                <a:ea typeface="微软雅黑"/>
                <a:cs typeface="微软雅黑"/>
              </a:rPr>
              <a:t>X-User </a:t>
            </a:r>
            <a:r>
              <a:rPr sz="863" b="0">
                <a:solidFill>
                  <a:srgbClr val="C6DDFF"/>
                </a:solidFill>
                <a:latin typeface="微软雅黑"/>
                <a:ea typeface="微软雅黑"/>
                <a:cs typeface="微软雅黑"/>
              </a:rPr>
              <a:t>请求头失效</a:t>
            </a:r>
          </a:p>
        </p:txBody>
      </p:sp>
      <p:sp>
        <p:nvSpPr>
          <p:cNvPr id="46" name="">
            <a:extLst xmlns:a="http://schemas.openxmlformats.org/drawingml/2006/main">
              <a:ext uri="{FF2B5EF4-FFF2-40B4-BE49-F238E27FC236}">
                <a16:creationId xmlns:a16="http://schemas.microsoft.com/office/drawing/2014/main" id="{0A3E3F20-6088-4434-B916-75FD9D058C9A}"/>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7" name="">
            <a:extLst xmlns:a="http://schemas.openxmlformats.org/drawingml/2006/main">
              <a:ext uri="{FF2B5EF4-FFF2-40B4-BE49-F238E27FC236}">
                <a16:creationId xmlns:a16="http://schemas.microsoft.com/office/drawing/2014/main" id="{A470CE29-3489-4F0F-AF41-91C1A06DE04E}"/>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48" name="">
            <a:extLst xmlns:a="http://schemas.openxmlformats.org/drawingml/2006/main">
              <a:ext uri="{FF2B5EF4-FFF2-40B4-BE49-F238E27FC236}">
                <a16:creationId xmlns:a16="http://schemas.microsoft.com/office/drawing/2014/main" id="{34D938B3-34F7-4994-AB95-E939942C5BDC}"/>
              </a:ext>
            </a:extLst>
          </p:cNvPr>
          <p:cNvSpPr>
            <a:spLocks xmlns:a="http://schemas.openxmlformats.org/drawingml/2006/main" noGrp="1"/>
          </p:cNvSpPr>
          <p:nvPr/>
        </p:nvSpPr>
        <p:spPr>
          <a:xfrm xmlns:a="http://schemas.openxmlformats.org/drawingml/2006/main">
            <a:off x="285750" y="5372100"/>
            <a:ext cx="11620500" cy="895350"/>
          </a:xfrm>
          <a:prstGeom xmlns:a="http://schemas.openxmlformats.org/drawingml/2006/main" prst="roundRect">
            <a:avLst>
              <a:gd name="adj" fmla="val 9574"/>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9" name="">
            <a:extLst xmlns:a="http://schemas.openxmlformats.org/drawingml/2006/main">
              <a:ext uri="{FF2B5EF4-FFF2-40B4-BE49-F238E27FC236}">
                <a16:creationId xmlns:a16="http://schemas.microsoft.com/office/drawing/2014/main" id="{936CC461-FA24-4818-9159-A12F0723D7B7}"/>
              </a:ext>
            </a:extLst>
          </p:cNvPr>
          <p:cNvSpPr>
            <a:spLocks xmlns:a="http://schemas.openxmlformats.org/drawingml/2006/main" noGrp="1"/>
          </p:cNvSpPr>
          <p:nvPr/>
        </p:nvSpPr>
        <p:spPr>
          <a:xfrm xmlns:a="http://schemas.openxmlformats.org/drawingml/2006/main">
            <a:off x="285750" y="5372100"/>
            <a:ext cx="47625" cy="895350"/>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C4F35CEB-9A04-46F3-9AF8-E7884206B315}"/>
              </a:ext>
            </a:extLst>
          </p:cNvPr>
          <p:cNvSpPr>
            <a:spLocks xmlns:a="http://schemas.openxmlformats.org/drawingml/2006/main" noGrp="1"/>
          </p:cNvSpPr>
          <p:nvPr/>
        </p:nvSpPr>
        <p:spPr>
          <a:xfrm xmlns:a="http://schemas.openxmlformats.org/drawingml/2006/main">
            <a:off x="476250" y="5657850"/>
            <a:ext cx="142875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5FE3A1"/>
                </a:solidFill>
                <a:latin typeface="微软雅黑"/>
                <a:ea typeface="微软雅黑"/>
                <a:cs typeface="微软雅黑"/>
              </a:defRPr>
            </a:pPr>
            <a:r>
              <a:rPr sz="1125" b="1">
                <a:solidFill>
                  <a:srgbClr val="5FE3A1"/>
                </a:solidFill>
                <a:latin typeface="微软雅黑"/>
                <a:ea typeface="微软雅黑"/>
                <a:cs typeface="微软雅黑"/>
              </a:rPr>
              <a:t>第五层 </a:t>
            </a:r>
            <a:r>
              <a:rPr sz="1125" b="1">
                <a:solidFill>
                  <a:srgbClr val="5FE3A1"/>
                </a:solidFill>
                <a:latin typeface="微软雅黑"/>
                <a:ea typeface="微软雅黑"/>
                <a:cs typeface="微软雅黑"/>
              </a:rPr>
              <a:t>· </a:t>
            </a:r>
            <a:r>
              <a:rPr sz="1125" b="1">
                <a:solidFill>
                  <a:srgbClr val="5FE3A1"/>
                </a:solidFill>
                <a:latin typeface="微软雅黑"/>
                <a:ea typeface="微软雅黑"/>
                <a:cs typeface="微软雅黑"/>
              </a:rPr>
              <a:t>业务</a:t>
            </a:r>
          </a:p>
        </p:txBody>
      </p:sp>
      <p:sp>
        <p:nvSpPr>
          <p:cNvPr id="51" name="">
            <a:extLst xmlns:a="http://schemas.openxmlformats.org/drawingml/2006/main">
              <a:ext uri="{FF2B5EF4-FFF2-40B4-BE49-F238E27FC236}">
                <a16:creationId xmlns:a16="http://schemas.microsoft.com/office/drawing/2014/main" id="{8DE5E76D-776F-4A1E-A4B0-D80EDA81F404}"/>
              </a:ext>
            </a:extLst>
          </p:cNvPr>
          <p:cNvSpPr>
            <a:spLocks xmlns:a="http://schemas.openxmlformats.org/drawingml/2006/main" noGrp="1"/>
          </p:cNvSpPr>
          <p:nvPr/>
        </p:nvSpPr>
        <p:spPr>
          <a:xfrm xmlns:a="http://schemas.openxmlformats.org/drawingml/2006/main">
            <a:off x="2038350" y="552450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端到端 </a:t>
            </a:r>
            <a:r>
              <a:rPr sz="938" b="0">
                <a:solidFill>
                  <a:srgbClr val="EEF5FF"/>
                </a:solidFill>
                <a:latin typeface="微软雅黑"/>
                <a:ea typeface="微软雅黑"/>
                <a:cs typeface="微软雅黑"/>
              </a:rPr>
              <a:t>analyze → confirm → </a:t>
            </a:r>
            <a:r>
              <a:rPr sz="938" b="0">
                <a:solidFill>
                  <a:srgbClr val="EEF5FF"/>
                </a:solidFill>
                <a:latin typeface="微软雅黑"/>
                <a:ea typeface="微软雅黑"/>
                <a:cs typeface="微软雅黑"/>
              </a:rPr>
              <a:t>留痕</a:t>
            </a:r>
          </a:p>
        </p:txBody>
      </p:sp>
      <p:sp>
        <p:nvSpPr>
          <p:cNvPr id="52" name="">
            <a:extLst xmlns:a="http://schemas.openxmlformats.org/drawingml/2006/main">
              <a:ext uri="{FF2B5EF4-FFF2-40B4-BE49-F238E27FC236}">
                <a16:creationId xmlns:a16="http://schemas.microsoft.com/office/drawing/2014/main" id="{B25B5B44-E1BA-4724-80D7-644439151188}"/>
              </a:ext>
            </a:extLst>
          </p:cNvPr>
          <p:cNvSpPr>
            <a:spLocks xmlns:a="http://schemas.openxmlformats.org/drawingml/2006/main" noGrp="1"/>
          </p:cNvSpPr>
          <p:nvPr/>
        </p:nvSpPr>
        <p:spPr>
          <a:xfrm xmlns:a="http://schemas.openxmlformats.org/drawingml/2006/main">
            <a:off x="2038350" y="5810250"/>
            <a:ext cx="4762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三表同号（</a:t>
            </a:r>
            <a:r>
              <a:rPr sz="863" b="0">
                <a:solidFill>
                  <a:srgbClr val="C6DDFF"/>
                </a:solidFill>
                <a:latin typeface="微软雅黑"/>
                <a:ea typeface="微软雅黑"/>
                <a:cs typeface="微软雅黑"/>
              </a:rPr>
              <a:t>run_id</a:t>
            </a:r>
            <a:r>
              <a:rPr sz="863" b="0">
                <a:solidFill>
                  <a:srgbClr val="C6DDFF"/>
                </a:solidFill>
                <a:latin typeface="微软雅黑"/>
                <a:ea typeface="微软雅黑"/>
                <a:cs typeface="微软雅黑"/>
              </a:rPr>
              <a:t>），业务数据变更为零</a:t>
            </a:r>
          </a:p>
        </p:txBody>
      </p:sp>
      <p:sp>
        <p:nvSpPr>
          <p:cNvPr id="53" name="">
            <a:extLst xmlns:a="http://schemas.openxmlformats.org/drawingml/2006/main">
              <a:ext uri="{FF2B5EF4-FFF2-40B4-BE49-F238E27FC236}">
                <a16:creationId xmlns:a16="http://schemas.microsoft.com/office/drawing/2014/main" id="{E0B943B1-FBC8-45A7-813E-9318E0263B5D}"/>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4" name="">
            <a:extLst xmlns:a="http://schemas.openxmlformats.org/drawingml/2006/main">
              <a:ext uri="{FF2B5EF4-FFF2-40B4-BE49-F238E27FC236}">
                <a16:creationId xmlns:a16="http://schemas.microsoft.com/office/drawing/2014/main" id="{A9BBC275-C00A-4380-977F-86106BBF9FE4}"/>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55" name="">
            <a:extLst xmlns:a="http://schemas.openxmlformats.org/drawingml/2006/main">
              <a:ext uri="{FF2B5EF4-FFF2-40B4-BE49-F238E27FC236}">
                <a16:creationId xmlns:a16="http://schemas.microsoft.com/office/drawing/2014/main" id="{0F8B032A-71E8-4848-9558-3EC83C4F53E6}"/>
              </a:ext>
            </a:extLst>
          </p:cNvPr>
          <p:cNvSpPr>
            <a:spLocks xmlns:a="http://schemas.openxmlformats.org/drawingml/2006/main" noGrp="1"/>
          </p:cNvSpPr>
          <p:nvPr/>
        </p:nvSpPr>
        <p:spPr>
          <a:xfrm xmlns:a="http://schemas.openxmlformats.org/drawingml/2006/main">
            <a:off x="8667750" y="1333500"/>
            <a:ext cx="3238500" cy="4267200"/>
          </a:xfrm>
          <a:prstGeom xmlns:a="http://schemas.openxmlformats.org/drawingml/2006/main" prst="roundRect">
            <a:avLst>
              <a:gd name="adj" fmla="val 264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56" name="">
            <a:extLst xmlns:a="http://schemas.openxmlformats.org/drawingml/2006/main">
              <a:ext uri="{FF2B5EF4-FFF2-40B4-BE49-F238E27FC236}">
                <a16:creationId xmlns:a16="http://schemas.microsoft.com/office/drawing/2014/main" id="{31D2C8FC-5219-4922-87B2-4173D2FD5E46}"/>
              </a:ext>
            </a:extLst>
          </p:cNvPr>
          <p:cNvSpPr>
            <a:spLocks xmlns:a="http://schemas.openxmlformats.org/drawingml/2006/main" noGrp="1"/>
          </p:cNvSpPr>
          <p:nvPr/>
        </p:nvSpPr>
        <p:spPr>
          <a:xfrm xmlns:a="http://schemas.openxmlformats.org/drawingml/2006/main">
            <a:off x="8858250" y="1485900"/>
            <a:ext cx="2857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规则引擎专项自验（</a:t>
            </a:r>
            <a:r>
              <a:rPr sz="1088" b="1">
                <a:solidFill>
                  <a:srgbClr val="FFD24A"/>
                </a:solidFill>
                <a:latin typeface="微软雅黑"/>
                <a:ea typeface="微软雅黑"/>
                <a:cs typeface="微软雅黑"/>
              </a:rPr>
              <a:t>7 </a:t>
            </a:r>
            <a:r>
              <a:rPr sz="1088" b="1">
                <a:solidFill>
                  <a:srgbClr val="FFD24A"/>
                </a:solidFill>
                <a:latin typeface="微软雅黑"/>
                <a:ea typeface="微软雅黑"/>
                <a:cs typeface="微软雅黑"/>
              </a:rPr>
              <a:t>项）</a:t>
            </a:r>
          </a:p>
        </p:txBody>
      </p:sp>
      <p:sp>
        <p:nvSpPr>
          <p:cNvPr id="57" name="">
            <a:extLst xmlns:a="http://schemas.openxmlformats.org/drawingml/2006/main">
              <a:ext uri="{FF2B5EF4-FFF2-40B4-BE49-F238E27FC236}">
                <a16:creationId xmlns:a16="http://schemas.microsoft.com/office/drawing/2014/main" id="{53A32E6D-5ECC-4394-B83E-66846D32AF97}"/>
              </a:ext>
            </a:extLst>
          </p:cNvPr>
          <p:cNvSpPr>
            <a:spLocks xmlns:a="http://schemas.openxmlformats.org/drawingml/2006/main" noGrp="1"/>
          </p:cNvSpPr>
          <p:nvPr/>
        </p:nvSpPr>
        <p:spPr>
          <a:xfrm xmlns:a="http://schemas.openxmlformats.org/drawingml/2006/main">
            <a:off x="8858250" y="1943100"/>
            <a:ext cx="152400" cy="152400"/>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1CA63EAE-5A13-4D25-974C-A211ED5EB693}"/>
              </a:ext>
            </a:extLst>
          </p:cNvPr>
          <p:cNvSpPr>
            <a:spLocks xmlns:a="http://schemas.openxmlformats.org/drawingml/2006/main" noGrp="1"/>
          </p:cNvSpPr>
          <p:nvPr/>
        </p:nvSpPr>
        <p:spPr>
          <a:xfrm xmlns:a="http://schemas.openxmlformats.org/drawingml/2006/main">
            <a:off x="9086850" y="18288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启用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停用（</a:t>
            </a:r>
            <a:r>
              <a:rPr sz="863" b="0">
                <a:solidFill>
                  <a:srgbClr val="EEF5FF"/>
                </a:solidFill>
                <a:latin typeface="微软雅黑"/>
                <a:ea typeface="微软雅黑"/>
                <a:cs typeface="微软雅黑"/>
              </a:rPr>
              <a:t>enabled</a:t>
            </a:r>
            <a:r>
              <a:rPr sz="863" b="0">
                <a:solidFill>
                  <a:srgbClr val="EEF5FF"/>
                </a:solidFill>
                <a:latin typeface="微软雅黑"/>
                <a:ea typeface="微软雅黑"/>
                <a:cs typeface="微软雅黑"/>
              </a:rPr>
              <a:t>）</a:t>
            </a:r>
          </a:p>
        </p:txBody>
      </p:sp>
      <p:sp>
        <p:nvSpPr>
          <p:cNvPr id="59" name="">
            <a:extLst xmlns:a="http://schemas.openxmlformats.org/drawingml/2006/main">
              <a:ext uri="{FF2B5EF4-FFF2-40B4-BE49-F238E27FC236}">
                <a16:creationId xmlns:a16="http://schemas.microsoft.com/office/drawing/2014/main" id="{5C790EBF-0DEE-4C09-B22E-AD70A8519F03}"/>
              </a:ext>
            </a:extLst>
          </p:cNvPr>
          <p:cNvSpPr>
            <a:spLocks xmlns:a="http://schemas.openxmlformats.org/drawingml/2006/main" noGrp="1"/>
          </p:cNvSpPr>
          <p:nvPr/>
        </p:nvSpPr>
        <p:spPr>
          <a:xfrm xmlns:a="http://schemas.openxmlformats.org/drawingml/2006/main">
            <a:off x="8858250" y="2438400"/>
            <a:ext cx="152400" cy="152400"/>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E647EF87-6194-46CA-81E4-DBE3EC61E3B5}"/>
              </a:ext>
            </a:extLst>
          </p:cNvPr>
          <p:cNvSpPr>
            <a:spLocks xmlns:a="http://schemas.openxmlformats.org/drawingml/2006/main" noGrp="1"/>
          </p:cNvSpPr>
          <p:nvPr/>
        </p:nvSpPr>
        <p:spPr>
          <a:xfrm xmlns:a="http://schemas.openxmlformats.org/drawingml/2006/main">
            <a:off x="9086850" y="23241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优先级覆盖（同场景 </a:t>
            </a:r>
            <a:r>
              <a:rPr sz="863" b="0">
                <a:solidFill>
                  <a:srgbClr val="EEF5FF"/>
                </a:solidFill>
                <a:latin typeface="微软雅黑"/>
                <a:ea typeface="微软雅黑"/>
                <a:cs typeface="微软雅黑"/>
              </a:rPr>
              <a:t>priority </a:t>
            </a:r>
            <a:r>
              <a:rPr sz="863" b="0">
                <a:solidFill>
                  <a:srgbClr val="EEF5FF"/>
                </a:solidFill>
                <a:latin typeface="微软雅黑"/>
                <a:ea typeface="微软雅黑"/>
                <a:cs typeface="微软雅黑"/>
              </a:rPr>
              <a:t>冲突）</a:t>
            </a:r>
          </a:p>
        </p:txBody>
      </p:sp>
      <p:sp>
        <p:nvSpPr>
          <p:cNvPr id="61" name="">
            <a:extLst xmlns:a="http://schemas.openxmlformats.org/drawingml/2006/main">
              <a:ext uri="{FF2B5EF4-FFF2-40B4-BE49-F238E27FC236}">
                <a16:creationId xmlns:a16="http://schemas.microsoft.com/office/drawing/2014/main" id="{027DC63E-6077-471B-9747-F08405C200CC}"/>
              </a:ext>
            </a:extLst>
          </p:cNvPr>
          <p:cNvSpPr>
            <a:spLocks xmlns:a="http://schemas.openxmlformats.org/drawingml/2006/main" noGrp="1"/>
          </p:cNvSpPr>
          <p:nvPr/>
        </p:nvSpPr>
        <p:spPr>
          <a:xfrm xmlns:a="http://schemas.openxmlformats.org/drawingml/2006/main">
            <a:off x="8858250" y="2933700"/>
            <a:ext cx="152400" cy="152400"/>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C20A5ADC-4B61-48BB-8315-D317BE4DCBCF}"/>
              </a:ext>
            </a:extLst>
          </p:cNvPr>
          <p:cNvSpPr>
            <a:spLocks xmlns:a="http://schemas.openxmlformats.org/drawingml/2006/main" noGrp="1"/>
          </p:cNvSpPr>
          <p:nvPr/>
        </p:nvSpPr>
        <p:spPr>
          <a:xfrm xmlns:a="http://schemas.openxmlformats.org/drawingml/2006/main">
            <a:off x="9086850" y="28194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分组（</a:t>
            </a:r>
            <a:r>
              <a:rPr sz="863" b="0">
                <a:solidFill>
                  <a:srgbClr val="EEF5FF"/>
                </a:solidFill>
                <a:latin typeface="微软雅黑"/>
                <a:ea typeface="微软雅黑"/>
                <a:cs typeface="微软雅黑"/>
              </a:rPr>
              <a:t>rule_group + stop_on_match / max_hits</a:t>
            </a:r>
            <a:r>
              <a:rPr sz="863" b="0">
                <a:solidFill>
                  <a:srgbClr val="EEF5FF"/>
                </a:solidFill>
                <a:latin typeface="微软雅黑"/>
                <a:ea typeface="微软雅黑"/>
                <a:cs typeface="微软雅黑"/>
              </a:rPr>
              <a:t>）</a:t>
            </a:r>
          </a:p>
        </p:txBody>
      </p:sp>
      <p:sp>
        <p:nvSpPr>
          <p:cNvPr id="63" name="">
            <a:extLst xmlns:a="http://schemas.openxmlformats.org/drawingml/2006/main">
              <a:ext uri="{FF2B5EF4-FFF2-40B4-BE49-F238E27FC236}">
                <a16:creationId xmlns:a16="http://schemas.microsoft.com/office/drawing/2014/main" id="{D7681196-F6B6-4E75-BA61-A540995C159A}"/>
              </a:ext>
            </a:extLst>
          </p:cNvPr>
          <p:cNvSpPr>
            <a:spLocks xmlns:a="http://schemas.openxmlformats.org/drawingml/2006/main" noGrp="1"/>
          </p:cNvSpPr>
          <p:nvPr/>
        </p:nvSpPr>
        <p:spPr>
          <a:xfrm xmlns:a="http://schemas.openxmlformats.org/drawingml/2006/main">
            <a:off x="8858250" y="3429000"/>
            <a:ext cx="152400" cy="152400"/>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E3ADB8AF-8C7B-4888-9130-78047F0D0C2D}"/>
              </a:ext>
            </a:extLst>
          </p:cNvPr>
          <p:cNvSpPr>
            <a:spLocks xmlns:a="http://schemas.openxmlformats.org/drawingml/2006/main" noGrp="1"/>
          </p:cNvSpPr>
          <p:nvPr/>
        </p:nvSpPr>
        <p:spPr>
          <a:xfrm xmlns:a="http://schemas.openxmlformats.org/drawingml/2006/main">
            <a:off x="9086850" y="33147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*_from </a:t>
            </a:r>
            <a:r>
              <a:rPr sz="863" b="0">
                <a:solidFill>
                  <a:srgbClr val="EEF5FF"/>
                </a:solidFill>
                <a:latin typeface="微软雅黑"/>
                <a:ea typeface="微软雅黑"/>
                <a:cs typeface="微软雅黑"/>
              </a:rPr>
              <a:t>引用事实</a:t>
            </a:r>
          </a:p>
        </p:txBody>
      </p:sp>
      <p:sp>
        <p:nvSpPr>
          <p:cNvPr id="65" name="">
            <a:extLst xmlns:a="http://schemas.openxmlformats.org/drawingml/2006/main">
              <a:ext uri="{FF2B5EF4-FFF2-40B4-BE49-F238E27FC236}">
                <a16:creationId xmlns:a16="http://schemas.microsoft.com/office/drawing/2014/main" id="{2929F88D-C0C3-415D-A0E4-85EF0C319698}"/>
              </a:ext>
            </a:extLst>
          </p:cNvPr>
          <p:cNvSpPr>
            <a:spLocks xmlns:a="http://schemas.openxmlformats.org/drawingml/2006/main" noGrp="1"/>
          </p:cNvSpPr>
          <p:nvPr/>
        </p:nvSpPr>
        <p:spPr>
          <a:xfrm xmlns:a="http://schemas.openxmlformats.org/drawingml/2006/main">
            <a:off x="8858250" y="3924300"/>
            <a:ext cx="152400" cy="152400"/>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8A281FB5-12C6-43D0-801D-1F804B5B2A8F}"/>
              </a:ext>
            </a:extLst>
          </p:cNvPr>
          <p:cNvSpPr>
            <a:spLocks xmlns:a="http://schemas.openxmlformats.org/drawingml/2006/main" noGrp="1"/>
          </p:cNvSpPr>
          <p:nvPr/>
        </p:nvSpPr>
        <p:spPr>
          <a:xfrm xmlns:a="http://schemas.openxmlformats.org/drawingml/2006/main">
            <a:off x="9086850" y="38100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无匹配规则时的兜底输出</a:t>
            </a:r>
          </a:p>
        </p:txBody>
      </p:sp>
      <p:sp>
        <p:nvSpPr>
          <p:cNvPr id="67" name="">
            <a:extLst xmlns:a="http://schemas.openxmlformats.org/drawingml/2006/main">
              <a:ext uri="{FF2B5EF4-FFF2-40B4-BE49-F238E27FC236}">
                <a16:creationId xmlns:a16="http://schemas.microsoft.com/office/drawing/2014/main" id="{4D937D9F-123E-483F-BA2B-AF8BC405347C}"/>
              </a:ext>
            </a:extLst>
          </p:cNvPr>
          <p:cNvSpPr>
            <a:spLocks xmlns:a="http://schemas.openxmlformats.org/drawingml/2006/main" noGrp="1"/>
          </p:cNvSpPr>
          <p:nvPr/>
        </p:nvSpPr>
        <p:spPr>
          <a:xfrm xmlns:a="http://schemas.openxmlformats.org/drawingml/2006/main">
            <a:off x="8858250" y="4419600"/>
            <a:ext cx="152400" cy="152400"/>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C7E999F1-F92A-4561-8495-41E3E4A9A30A}"/>
              </a:ext>
            </a:extLst>
          </p:cNvPr>
          <p:cNvSpPr>
            <a:spLocks xmlns:a="http://schemas.openxmlformats.org/drawingml/2006/main" noGrp="1"/>
          </p:cNvSpPr>
          <p:nvPr/>
        </p:nvSpPr>
        <p:spPr>
          <a:xfrm xmlns:a="http://schemas.openxmlformats.org/drawingml/2006/main">
            <a:off x="9086850" y="43053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condition_json </a:t>
            </a:r>
            <a:r>
              <a:rPr sz="863" b="0">
                <a:solidFill>
                  <a:srgbClr val="EEF5FF"/>
                </a:solidFill>
                <a:latin typeface="微软雅黑"/>
                <a:ea typeface="微软雅黑"/>
                <a:cs typeface="微软雅黑"/>
              </a:rPr>
              <a:t>字段缺失或类型不对</a:t>
            </a:r>
          </a:p>
        </p:txBody>
      </p:sp>
      <p:sp>
        <p:nvSpPr>
          <p:cNvPr id="69" name="">
            <a:extLst xmlns:a="http://schemas.openxmlformats.org/drawingml/2006/main">
              <a:ext uri="{FF2B5EF4-FFF2-40B4-BE49-F238E27FC236}">
                <a16:creationId xmlns:a16="http://schemas.microsoft.com/office/drawing/2014/main" id="{2CBC032D-3C7E-456A-B6B5-EBC13934630C}"/>
              </a:ext>
            </a:extLst>
          </p:cNvPr>
          <p:cNvSpPr>
            <a:spLocks xmlns:a="http://schemas.openxmlformats.org/drawingml/2006/main" noGrp="1"/>
          </p:cNvSpPr>
          <p:nvPr/>
        </p:nvSpPr>
        <p:spPr>
          <a:xfrm xmlns:a="http://schemas.openxmlformats.org/drawingml/2006/main">
            <a:off x="8858250" y="4914900"/>
            <a:ext cx="152400" cy="152400"/>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D405040E-38C0-41F4-863E-A07BE07967ED}"/>
              </a:ext>
            </a:extLst>
          </p:cNvPr>
          <p:cNvSpPr>
            <a:spLocks xmlns:a="http://schemas.openxmlformats.org/drawingml/2006/main" noGrp="1"/>
          </p:cNvSpPr>
          <p:nvPr/>
        </p:nvSpPr>
        <p:spPr>
          <a:xfrm xmlns:a="http://schemas.openxmlformats.org/drawingml/2006/main">
            <a:off x="9086850" y="4800600"/>
            <a:ext cx="26670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结果是否带命中 </a:t>
            </a:r>
            <a:r>
              <a:rPr sz="863" b="0">
                <a:solidFill>
                  <a:srgbClr val="EEF5FF"/>
                </a:solidFill>
                <a:latin typeface="微软雅黑"/>
                <a:ea typeface="微软雅黑"/>
                <a:cs typeface="微软雅黑"/>
              </a:rPr>
              <a:t>rule_code </a:t>
            </a:r>
            <a:r>
              <a:rPr sz="863" b="0">
                <a:solidFill>
                  <a:srgbClr val="EEF5FF"/>
                </a:solidFill>
                <a:latin typeface="微软雅黑"/>
                <a:ea typeface="微软雅黑"/>
                <a:cs typeface="微软雅黑"/>
              </a:rPr>
              <a:t>与依据</a:t>
            </a:r>
          </a:p>
        </p:txBody>
      </p:sp>
      <p:sp>
        <p:nvSpPr>
          <p:cNvPr id="71" name="">
            <a:extLst xmlns:a="http://schemas.openxmlformats.org/drawingml/2006/main">
              <a:ext uri="{FF2B5EF4-FFF2-40B4-BE49-F238E27FC236}">
                <a16:creationId xmlns:a16="http://schemas.microsoft.com/office/drawing/2014/main" id="{3ED0664C-C769-436B-822F-10016C486450}"/>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565F1B3F-ABE0-4FD0-86DA-3433DAC1A0AB}"/>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3ABFC3B6-AC3E-4A93-9D75-523283F1E037}"/>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4" name="">
            <a:extLst xmlns:a="http://schemas.openxmlformats.org/drawingml/2006/main">
              <a:ext uri="{FF2B5EF4-FFF2-40B4-BE49-F238E27FC236}">
                <a16:creationId xmlns:a16="http://schemas.microsoft.com/office/drawing/2014/main" id="{882FE332-EF53-4CF4-B54E-5CD99125EEE0}"/>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8D4FA656-6DDC-4F43-AE6C-CA12816520F3}"/>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28</a:t>
            </a:r>
          </a:p>
        </p:txBody>
      </p:sp>
    </p:spTree>
    <p:extLst>
      <p:ext uri="{BB962C8B-B14F-4D97-AF65-F5344CB8AC3E}">
        <p14:creationId xmlns:p14="http://schemas.microsoft.com/office/powerpoint/2010/main" val="1131616375"/>
      </p:ext>
    </p:extLst>
  </p:cSld>
</p:sld>
</file>

<file path=ppt/slides/slide2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8e96f0f5bcc404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8D83D6-2015-405A-A8BF-BCB260490E6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0850B581-1D9B-4FDE-9B6A-149BF7645A2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8F17A162-7192-4E86-8443-8743FAE7C36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68575F16-520B-46F3-8EDA-0A0297C8FDCD}"/>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F56804EB-BA95-4599-ACD6-982D0C700A4E}"/>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74967BBF-6A1F-4D7A-8DC5-8C225A7F699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19F64277-E872-437E-B44B-3CB9BFC8C14E}"/>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4B5BCDCE-A713-4E16-B1D5-E71A648B5E0C}"/>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42A24E2D-32D7-4DBD-BF84-A903FE1C116E}"/>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CB936360-C633-4735-AFE6-C5CF5FC25AAE}"/>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86B99DB0-5EF1-4C49-AB9A-E73B707B32B1}"/>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E7F5B163-4AEB-4102-AF3B-56CEE95D6860}"/>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8DEE7ED5-05D8-4DE9-9069-21AF665768C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纵向对比：引入系统前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后</a:t>
            </a:r>
          </a:p>
        </p:txBody>
      </p:sp>
      <p:sp>
        <p:nvSpPr>
          <p:cNvPr id="15" name="">
            <a:extLst xmlns:a="http://schemas.openxmlformats.org/drawingml/2006/main">
              <a:ext uri="{FF2B5EF4-FFF2-40B4-BE49-F238E27FC236}">
                <a16:creationId xmlns:a16="http://schemas.microsoft.com/office/drawing/2014/main" id="{2EE099C5-F82F-4F92-9474-34C3498F0B46}"/>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0549249D-5260-47F9-BCFA-657FC251B90F}"/>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69AC6F4E-1FD3-4725-A859-5C109488124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EC43CCD8-7A48-42B7-89E9-9E70990AA693}"/>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5CC0C3AE-40E5-4958-A246-FFE39EFC38E9}"/>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凡是能实测的都给了实测值；凡是测算的都标注了口径</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不把测算值写成试点值。</a:t>
            </a:r>
          </a:p>
        </p:txBody>
      </p:sp>
      <p:graphicFrame>
        <p:nvGraphicFramePr>
          <p:cNvPr id="47" name=""/>
          <p:cNvGraphicFramePr/>
          <p:nvPr/>
        </p:nvGraphicFramePr>
        <p:xfrm>
          <a:off xmlns:a="http://schemas.openxmlformats.org/drawingml/2006/main" x="285750" y="1333500"/>
          <a:ext xmlns:a="http://schemas.openxmlformats.org/drawingml/2006/main" cx="11620500" cy="4076700"/>
        </p:xfrm>
        <a:graphic xmlns:a="http://schemas.openxmlformats.org/drawingml/2006/main">
          <a:graphicData uri="http://schemas.openxmlformats.org/drawingml/2006/table">
            <a:tbl>
              <a:tblPr/>
              <a:tblGrid>
                <a:gridCol w="2556510"/>
                <a:gridCol w="2905125"/>
                <a:gridCol w="3950970"/>
                <a:gridCol w="2207895"/>
              </a:tblGrid>
              <a:tr h="361950">
                <a:tc>
                  <a:txBody>
                    <a:bodyPr/>
                    <a:lstStyle/>
                    <a:p>
                      <a:r>
                        <a:rPr sz="1013" b="1">
                          <a:solidFill>
                            <a:srgbClr val="FFFFFF"/>
                          </a:solidFill>
                          <a:latin typeface="微软雅黑"/>
                          <a:ea typeface="微软雅黑"/>
                          <a:cs typeface="微软雅黑"/>
                        </a:rPr>
                        <a:t>对比指标</a:t>
                      </a:r>
                    </a:p>
                  </a:txBody>
                  <a:tcPr marL="91440" marR="91440" marT="45720" marB="45720">
                    <a:solidFill>
                      <a:srgbClr val="1A6AC0"/>
                    </a:solidFill>
                  </a:tcPr>
                </a:tc>
                <a:tc>
                  <a:txBody>
                    <a:bodyPr/>
                    <a:lstStyle/>
                    <a:p>
                      <a:r>
                        <a:rPr sz="1013" b="1">
                          <a:solidFill>
                            <a:srgbClr val="FFFFFF"/>
                          </a:solidFill>
                          <a:latin typeface="微软雅黑"/>
                          <a:ea typeface="微软雅黑"/>
                          <a:cs typeface="微软雅黑"/>
                        </a:rPr>
                        <a:t>引入前（现状）</a:t>
                      </a:r>
                    </a:p>
                  </a:txBody>
                  <a:tcPr marL="91440" marR="91440" marT="45720" marB="45720">
                    <a:solidFill>
                      <a:srgbClr val="1A6AC0"/>
                    </a:solidFill>
                  </a:tcPr>
                </a:tc>
                <a:tc>
                  <a:txBody>
                    <a:bodyPr/>
                    <a:lstStyle/>
                    <a:p>
                      <a:r>
                        <a:rPr sz="1013" b="1">
                          <a:solidFill>
                            <a:srgbClr val="FFFFFF"/>
                          </a:solidFill>
                          <a:latin typeface="微软雅黑"/>
                          <a:ea typeface="微软雅黑"/>
                          <a:cs typeface="微软雅黑"/>
                        </a:rPr>
                        <a:t>引入后（实测 / 测算）</a:t>
                      </a:r>
                    </a:p>
                  </a:txBody>
                  <a:tcPr marL="91440" marR="91440" marT="45720" marB="45720">
                    <a:solidFill>
                      <a:srgbClr val="1A6AC0"/>
                    </a:solidFill>
                  </a:tcPr>
                </a:tc>
                <a:tc>
                  <a:txBody>
                    <a:bodyPr/>
                    <a:lstStyle/>
                    <a:p>
                      <a:r>
                        <a:rPr sz="1013" b="1">
                          <a:solidFill>
                            <a:srgbClr val="FFFFFF"/>
                          </a:solidFill>
                          <a:latin typeface="微软雅黑"/>
                          <a:ea typeface="微软雅黑"/>
                          <a:cs typeface="微软雅黑"/>
                        </a:rPr>
                        <a:t>数据口径</a:t>
                      </a:r>
                    </a:p>
                  </a:txBody>
                  <a:tcPr marL="91440" marR="91440" marT="45720" marB="45720">
                    <a:solidFill>
                      <a:srgbClr val="1A6AC0"/>
                    </a:solidFill>
                  </a:tcPr>
                </a:tc>
              </a:tr>
              <a:tr h="514350">
                <a:tc>
                  <a:txBody>
                    <a:bodyPr/>
                    <a:lstStyle/>
                    <a:p>
                      <a:r>
                        <a:rPr>
                          <a:solidFill>
                            <a:srgbClr val="4FD8FF"/>
                          </a:solidFill>
                          <a:latin typeface="微软雅黑"/>
                          <a:ea typeface="微软雅黑"/>
                          <a:cs typeface="微软雅黑"/>
                        </a:rPr>
                        <a:t>同一报告结论一致性</a:t>
                      </a:r>
                    </a:p>
                  </a:txBody>
                  <a:tcPr marL="91440" marR="91440" marT="45720" marB="45720">
                    <a:solidFill>
                      <a:srgbClr val="0E4A96"/>
                    </a:solidFill>
                  </a:tcPr>
                </a:tc>
                <a:tc>
                  <a:txBody>
                    <a:bodyPr/>
                    <a:lstStyle/>
                    <a:p>
                      <a:r>
                        <a:rPr>
                          <a:solidFill>
                            <a:srgbClr val="C6DDFF"/>
                          </a:solidFill>
                          <a:latin typeface="微软雅黑"/>
                          <a:ea typeface="微软雅黑"/>
                          <a:cs typeface="微软雅黑"/>
                        </a:rPr>
                        <a:t>不同人判读得出不同结论</a:t>
                      </a:r>
                    </a:p>
                  </a:txBody>
                  <a:tcPr marL="91440" marR="91440" marT="45720" marB="45720">
                    <a:solidFill>
                      <a:srgbClr val="0B3D80"/>
                    </a:solidFill>
                  </a:tcPr>
                </a:tc>
                <a:tc>
                  <a:txBody>
                    <a:bodyPr/>
                    <a:lstStyle/>
                    <a:p>
                      <a:r>
                        <a:rPr b="1">
                          <a:solidFill>
                            <a:srgbClr val="FFFFFF"/>
                          </a:solidFill>
                          <a:latin typeface="微软雅黑"/>
                          <a:ea typeface="微软雅黑"/>
                          <a:cs typeface="微软雅黑"/>
                        </a:rPr>
                        <a:t>同输入连续执行 200 次，rule_refs 100% 一致</a:t>
                      </a:r>
                    </a:p>
                  </a:txBody>
                  <a:tcPr marL="91440" marR="91440" marT="45720" marB="45720">
                    <a:solidFill>
                      <a:srgbClr val="0C4489"/>
                    </a:solidFill>
                  </a:tcPr>
                </a:tc>
                <a:tc>
                  <a:txBody>
                    <a:bodyPr/>
                    <a:lstStyle/>
                    <a:p>
                      <a:r>
                        <a:rPr>
                          <a:solidFill>
                            <a:srgbClr val="FFD24A"/>
                          </a:solidFill>
                          <a:latin typeface="微软雅黑"/>
                          <a:ea typeface="微软雅黑"/>
                          <a:cs typeface="微软雅黑"/>
                        </a:rPr>
                        <a:t>实测 · 引擎自验</a:t>
                      </a:r>
                    </a:p>
                  </a:txBody>
                  <a:tcPr marL="91440" marR="91440" marT="45720" marB="45720">
                    <a:solidFill>
                      <a:srgbClr val="0B3D80"/>
                    </a:solidFill>
                  </a:tcPr>
                </a:tc>
              </a:tr>
              <a:tr h="514350">
                <a:tc>
                  <a:txBody>
                    <a:bodyPr/>
                    <a:lstStyle/>
                    <a:p>
                      <a:r>
                        <a:rPr>
                          <a:solidFill>
                            <a:srgbClr val="4FD8FF"/>
                          </a:solidFill>
                          <a:latin typeface="微软雅黑"/>
                          <a:ea typeface="微软雅黑"/>
                          <a:cs typeface="微软雅黑"/>
                        </a:rPr>
                        <a:t>归因依据可追溯</a:t>
                      </a:r>
                    </a:p>
                  </a:txBody>
                  <a:tcPr marL="91440" marR="91440" marT="45720" marB="45720">
                    <a:solidFill>
                      <a:srgbClr val="0E4A96"/>
                    </a:solidFill>
                  </a:tcPr>
                </a:tc>
                <a:tc>
                  <a:txBody>
                    <a:bodyPr/>
                    <a:lstStyle/>
                    <a:p>
                      <a:r>
                        <a:rPr>
                          <a:solidFill>
                            <a:srgbClr val="C6DDFF"/>
                          </a:solidFill>
                          <a:latin typeface="微软雅黑"/>
                          <a:ea typeface="微软雅黑"/>
                          <a:cs typeface="微软雅黑"/>
                        </a:rPr>
                        <a:t>纸质报告，无法回表核对</a:t>
                      </a:r>
                    </a:p>
                  </a:txBody>
                  <a:tcPr marL="91440" marR="91440" marT="45720" marB="45720">
                    <a:solidFill>
                      <a:srgbClr val="0B3D80"/>
                    </a:solidFill>
                  </a:tcPr>
                </a:tc>
                <a:tc>
                  <a:txBody>
                    <a:bodyPr/>
                    <a:lstStyle/>
                    <a:p>
                      <a:r>
                        <a:rPr b="1">
                          <a:solidFill>
                            <a:srgbClr val="FFFFFF"/>
                          </a:solidFill>
                          <a:latin typeface="微软雅黑"/>
                          <a:ea typeface="微软雅黑"/>
                          <a:cs typeface="微软雅黑"/>
                        </a:rPr>
                        <a:t>每条结论带 rule_code、命中条件与依据事实</a:t>
                      </a:r>
                    </a:p>
                  </a:txBody>
                  <a:tcPr marL="91440" marR="91440" marT="45720" marB="45720">
                    <a:solidFill>
                      <a:srgbClr val="0C4489"/>
                    </a:solidFill>
                  </a:tcPr>
                </a:tc>
                <a:tc>
                  <a:txBody>
                    <a:bodyPr/>
                    <a:lstStyle/>
                    <a:p>
                      <a:r>
                        <a:rPr>
                          <a:solidFill>
                            <a:srgbClr val="FFD24A"/>
                          </a:solidFill>
                          <a:latin typeface="微软雅黑"/>
                          <a:ea typeface="微软雅黑"/>
                          <a:cs typeface="微软雅黑"/>
                        </a:rPr>
                        <a:t>实测 · 归因输出</a:t>
                      </a:r>
                    </a:p>
                  </a:txBody>
                  <a:tcPr marL="91440" marR="91440" marT="45720" marB="45720">
                    <a:solidFill>
                      <a:srgbClr val="0B3D80"/>
                    </a:solidFill>
                  </a:tcPr>
                </a:tc>
              </a:tr>
              <a:tr h="514350">
                <a:tc>
                  <a:txBody>
                    <a:bodyPr/>
                    <a:lstStyle/>
                    <a:p>
                      <a:r>
                        <a:rPr>
                          <a:solidFill>
                            <a:srgbClr val="4FD8FF"/>
                          </a:solidFill>
                          <a:latin typeface="微软雅黑"/>
                          <a:ea typeface="微软雅黑"/>
                          <a:cs typeface="微软雅黑"/>
                        </a:rPr>
                        <a:t>规则回归覆盖</a:t>
                      </a:r>
                    </a:p>
                  </a:txBody>
                  <a:tcPr marL="91440" marR="91440" marT="45720" marB="45720">
                    <a:solidFill>
                      <a:srgbClr val="0E4A96"/>
                    </a:solidFill>
                  </a:tcPr>
                </a:tc>
                <a:tc>
                  <a:txBody>
                    <a:bodyPr/>
                    <a:lstStyle/>
                    <a:p>
                      <a:r>
                        <a:rPr>
                          <a:solidFill>
                            <a:srgbClr val="C6DDFF"/>
                          </a:solidFill>
                          <a:latin typeface="微软雅黑"/>
                          <a:ea typeface="微软雅黑"/>
                          <a:cs typeface="微软雅黑"/>
                        </a:rPr>
                        <a:t>无回归用例</a:t>
                      </a:r>
                    </a:p>
                  </a:txBody>
                  <a:tcPr marL="91440" marR="91440" marT="45720" marB="45720">
                    <a:solidFill>
                      <a:srgbClr val="0B3D80"/>
                    </a:solidFill>
                  </a:tcPr>
                </a:tc>
                <a:tc>
                  <a:txBody>
                    <a:bodyPr/>
                    <a:lstStyle/>
                    <a:p>
                      <a:r>
                        <a:rPr b="1">
                          <a:solidFill>
                            <a:srgbClr val="FFFFFF"/>
                          </a:solidFill>
                          <a:latin typeface="微软雅黑"/>
                          <a:ea typeface="微软雅黑"/>
                          <a:cs typeface="微软雅黑"/>
                        </a:rPr>
                        <a:t>11 项规则测试场景全部通过</a:t>
                      </a:r>
                    </a:p>
                  </a:txBody>
                  <a:tcPr marL="91440" marR="91440" marT="45720" marB="45720">
                    <a:solidFill>
                      <a:srgbClr val="0C4489"/>
                    </a:solidFill>
                  </a:tcPr>
                </a:tc>
                <a:tc>
                  <a:txBody>
                    <a:bodyPr/>
                    <a:lstStyle/>
                    <a:p>
                      <a:r>
                        <a:rPr>
                          <a:solidFill>
                            <a:srgbClr val="FFD24A"/>
                          </a:solidFill>
                          <a:latin typeface="微软雅黑"/>
                          <a:ea typeface="微软雅黑"/>
                          <a:cs typeface="微软雅黑"/>
                        </a:rPr>
                        <a:t>实测 · 引擎测试</a:t>
                      </a:r>
                    </a:p>
                  </a:txBody>
                  <a:tcPr marL="91440" marR="91440" marT="45720" marB="45720">
                    <a:solidFill>
                      <a:srgbClr val="0B3D80"/>
                    </a:solidFill>
                  </a:tcPr>
                </a:tc>
              </a:tr>
              <a:tr h="514350">
                <a:tc>
                  <a:txBody>
                    <a:bodyPr/>
                    <a:lstStyle/>
                    <a:p>
                      <a:r>
                        <a:rPr>
                          <a:solidFill>
                            <a:srgbClr val="4FD8FF"/>
                          </a:solidFill>
                          <a:latin typeface="微软雅黑"/>
                          <a:ea typeface="微软雅黑"/>
                          <a:cs typeface="微软雅黑"/>
                        </a:rPr>
                        <a:t>组卷针对性</a:t>
                      </a:r>
                    </a:p>
                  </a:txBody>
                  <a:tcPr marL="91440" marR="91440" marT="45720" marB="45720">
                    <a:solidFill>
                      <a:srgbClr val="0E4A96"/>
                    </a:solidFill>
                  </a:tcPr>
                </a:tc>
                <a:tc>
                  <a:txBody>
                    <a:bodyPr/>
                    <a:lstStyle/>
                    <a:p>
                      <a:r>
                        <a:rPr>
                          <a:solidFill>
                            <a:srgbClr val="C6DDFF"/>
                          </a:solidFill>
                          <a:latin typeface="微软雅黑"/>
                          <a:ea typeface="微软雅黑"/>
                          <a:cs typeface="微软雅黑"/>
                        </a:rPr>
                        <a:t>全员同一套固定试卷</a:t>
                      </a:r>
                    </a:p>
                  </a:txBody>
                  <a:tcPr marL="91440" marR="91440" marT="45720" marB="45720">
                    <a:solidFill>
                      <a:srgbClr val="0B3D80"/>
                    </a:solidFill>
                  </a:tcPr>
                </a:tc>
                <a:tc>
                  <a:txBody>
                    <a:bodyPr/>
                    <a:lstStyle/>
                    <a:p>
                      <a:r>
                        <a:rPr b="1">
                          <a:solidFill>
                            <a:srgbClr val="FFFFFF"/>
                          </a:solidFill>
                          <a:latin typeface="微软雅黑"/>
                          <a:ea typeface="微软雅黑"/>
                          <a:cs typeface="微软雅黑"/>
                        </a:rPr>
                        <a:t>按 effort = 缺口权重 × max(0.2, 1.6 − 正确率) 分配题量</a:t>
                      </a:r>
                    </a:p>
                  </a:txBody>
                  <a:tcPr marL="91440" marR="91440" marT="45720" marB="45720">
                    <a:solidFill>
                      <a:srgbClr val="0C4489"/>
                    </a:solidFill>
                  </a:tcPr>
                </a:tc>
                <a:tc>
                  <a:txBody>
                    <a:bodyPr/>
                    <a:lstStyle/>
                    <a:p>
                      <a:r>
                        <a:rPr>
                          <a:solidFill>
                            <a:srgbClr val="FFD24A"/>
                          </a:solidFill>
                          <a:latin typeface="微软雅黑"/>
                          <a:ea typeface="微软雅黑"/>
                          <a:cs typeface="微软雅黑"/>
                        </a:rPr>
                        <a:t>算法口径 · 演示数据</a:t>
                      </a:r>
                    </a:p>
                  </a:txBody>
                  <a:tcPr marL="91440" marR="91440" marT="45720" marB="45720">
                    <a:solidFill>
                      <a:srgbClr val="0B3D80"/>
                    </a:solidFill>
                  </a:tcPr>
                </a:tc>
              </a:tr>
              <a:tr h="514350">
                <a:tc>
                  <a:txBody>
                    <a:bodyPr/>
                    <a:lstStyle/>
                    <a:p>
                      <a:r>
                        <a:rPr>
                          <a:solidFill>
                            <a:srgbClr val="4FD8FF"/>
                          </a:solidFill>
                          <a:latin typeface="微软雅黑"/>
                          <a:ea typeface="微软雅黑"/>
                          <a:cs typeface="微软雅黑"/>
                        </a:rPr>
                        <a:t>越权与伪造身份</a:t>
                      </a:r>
                    </a:p>
                  </a:txBody>
                  <a:tcPr marL="91440" marR="91440" marT="45720" marB="45720">
                    <a:solidFill>
                      <a:srgbClr val="0E4A96"/>
                    </a:solidFill>
                  </a:tcPr>
                </a:tc>
                <a:tc>
                  <a:txBody>
                    <a:bodyPr/>
                    <a:lstStyle/>
                    <a:p>
                      <a:r>
                        <a:rPr>
                          <a:solidFill>
                            <a:srgbClr val="C6DDFF"/>
                          </a:solidFill>
                          <a:latin typeface="微软雅黑"/>
                          <a:ea typeface="微软雅黑"/>
                          <a:cs typeface="微软雅黑"/>
                        </a:rPr>
                        <a:t>请求头可伪造身份</a:t>
                      </a:r>
                    </a:p>
                  </a:txBody>
                  <a:tcPr marL="91440" marR="91440" marT="45720" marB="45720">
                    <a:solidFill>
                      <a:srgbClr val="0B3D80"/>
                    </a:solidFill>
                  </a:tcPr>
                </a:tc>
                <a:tc>
                  <a:txBody>
                    <a:bodyPr/>
                    <a:lstStyle/>
                    <a:p>
                      <a:r>
                        <a:rPr b="1">
                          <a:solidFill>
                            <a:srgbClr val="FFFFFF"/>
                          </a:solidFill>
                          <a:latin typeface="微软雅黑"/>
                          <a:ea typeface="微软雅黑"/>
                          <a:cs typeface="微软雅黑"/>
                        </a:rPr>
                        <a:t>令牌制校验；越权返回 403 / code=40301</a:t>
                      </a:r>
                    </a:p>
                  </a:txBody>
                  <a:tcPr marL="91440" marR="91440" marT="45720" marB="45720">
                    <a:solidFill>
                      <a:srgbClr val="0C4489"/>
                    </a:solidFill>
                  </a:tcPr>
                </a:tc>
                <a:tc>
                  <a:txBody>
                    <a:bodyPr/>
                    <a:lstStyle/>
                    <a:p>
                      <a:r>
                        <a:rPr>
                          <a:solidFill>
                            <a:srgbClr val="FFD24A"/>
                          </a:solidFill>
                          <a:latin typeface="微软雅黑"/>
                          <a:ea typeface="微软雅黑"/>
                          <a:cs typeface="微软雅黑"/>
                        </a:rPr>
                        <a:t>实测 · 鉴权自验</a:t>
                      </a:r>
                    </a:p>
                  </a:txBody>
                  <a:tcPr marL="91440" marR="91440" marT="45720" marB="45720">
                    <a:solidFill>
                      <a:srgbClr val="0B3D80"/>
                    </a:solidFill>
                  </a:tcPr>
                </a:tc>
              </a:tr>
              <a:tr h="514350">
                <a:tc>
                  <a:txBody>
                    <a:bodyPr/>
                    <a:lstStyle/>
                    <a:p>
                      <a:r>
                        <a:rPr>
                          <a:solidFill>
                            <a:srgbClr val="4FD8FF"/>
                          </a:solidFill>
                          <a:latin typeface="微软雅黑"/>
                          <a:ea typeface="微软雅黑"/>
                          <a:cs typeface="微软雅黑"/>
                        </a:rPr>
                        <a:t>合规举证</a:t>
                      </a:r>
                    </a:p>
                  </a:txBody>
                  <a:tcPr marL="91440" marR="91440" marT="45720" marB="45720">
                    <a:solidFill>
                      <a:srgbClr val="0E4A96"/>
                    </a:solidFill>
                  </a:tcPr>
                </a:tc>
                <a:tc>
                  <a:txBody>
                    <a:bodyPr/>
                    <a:lstStyle/>
                    <a:p>
                      <a:r>
                        <a:rPr>
                          <a:solidFill>
                            <a:srgbClr val="C6DDFF"/>
                          </a:solidFill>
                          <a:latin typeface="微软雅黑"/>
                          <a:ea typeface="微软雅黑"/>
                          <a:cs typeface="微软雅黑"/>
                        </a:rPr>
                        <a:t>迎检临时补材料</a:t>
                      </a:r>
                    </a:p>
                  </a:txBody>
                  <a:tcPr marL="91440" marR="91440" marT="45720" marB="45720">
                    <a:solidFill>
                      <a:srgbClr val="0B3D80"/>
                    </a:solidFill>
                  </a:tcPr>
                </a:tc>
                <a:tc>
                  <a:txBody>
                    <a:bodyPr/>
                    <a:lstStyle/>
                    <a:p>
                      <a:r>
                        <a:rPr b="1">
                          <a:solidFill>
                            <a:srgbClr val="FFFFFF"/>
                          </a:solidFill>
                          <a:latin typeface="微软雅黑"/>
                          <a:ea typeface="微软雅黑"/>
                          <a:cs typeface="微软雅黑"/>
                        </a:rPr>
                        <a:t>台账与留痕可一键导出，三表同号可下钻</a:t>
                      </a:r>
                    </a:p>
                  </a:txBody>
                  <a:tcPr marL="91440" marR="91440" marT="45720" marB="45720">
                    <a:solidFill>
                      <a:srgbClr val="0C4489"/>
                    </a:solidFill>
                  </a:tcPr>
                </a:tc>
                <a:tc>
                  <a:txBody>
                    <a:bodyPr/>
                    <a:lstStyle/>
                    <a:p>
                      <a:r>
                        <a:rPr>
                          <a:solidFill>
                            <a:srgbClr val="FFD24A"/>
                          </a:solidFill>
                          <a:latin typeface="微软雅黑"/>
                          <a:ea typeface="微软雅黑"/>
                          <a:cs typeface="微软雅黑"/>
                        </a:rPr>
                        <a:t>实测 · 功能验收</a:t>
                      </a:r>
                    </a:p>
                  </a:txBody>
                  <a:tcPr marL="91440" marR="91440" marT="45720" marB="45720">
                    <a:solidFill>
                      <a:srgbClr val="0B3D80"/>
                    </a:solidFill>
                  </a:tcPr>
                </a:tc>
              </a:tr>
              <a:tr h="514350">
                <a:tc>
                  <a:txBody>
                    <a:bodyPr/>
                    <a:lstStyle/>
                    <a:p>
                      <a:r>
                        <a:rPr>
                          <a:solidFill>
                            <a:srgbClr val="4FD8FF"/>
                          </a:solidFill>
                          <a:latin typeface="微软雅黑"/>
                          <a:ea typeface="微软雅黑"/>
                          <a:cs typeface="微软雅黑"/>
                        </a:rPr>
                        <a:t>业务数据安全</a:t>
                      </a:r>
                    </a:p>
                  </a:txBody>
                  <a:tcPr marL="91440" marR="91440" marT="45720" marB="45720">
                    <a:solidFill>
                      <a:srgbClr val="0E4A96"/>
                    </a:solidFill>
                  </a:tcPr>
                </a:tc>
                <a:tc>
                  <a:txBody>
                    <a:bodyPr/>
                    <a:lstStyle/>
                    <a:p>
                      <a:r>
                        <a:rPr>
                          <a:solidFill>
                            <a:srgbClr val="C6DDFF"/>
                          </a:solidFill>
                          <a:latin typeface="微软雅黑"/>
                          <a:ea typeface="微软雅黑"/>
                          <a:cs typeface="微软雅黑"/>
                        </a:rPr>
                        <a:t>建议与执行混在一起</a:t>
                      </a:r>
                    </a:p>
                  </a:txBody>
                  <a:tcPr marL="91440" marR="91440" marT="45720" marB="45720">
                    <a:solidFill>
                      <a:srgbClr val="0B3D80"/>
                    </a:solidFill>
                  </a:tcPr>
                </a:tc>
                <a:tc>
                  <a:txBody>
                    <a:bodyPr/>
                    <a:lstStyle/>
                    <a:p>
                      <a:r>
                        <a:rPr b="1">
                          <a:solidFill>
                            <a:srgbClr val="FFFFFF"/>
                          </a:solidFill>
                          <a:latin typeface="微软雅黑"/>
                          <a:ea typeface="微软雅黑"/>
                          <a:cs typeface="微软雅黑"/>
                        </a:rPr>
                        <a:t>确认接口只改建议状态，业务数据变更为零</a:t>
                      </a:r>
                    </a:p>
                  </a:txBody>
                  <a:tcPr marL="91440" marR="91440" marT="45720" marB="45720">
                    <a:solidFill>
                      <a:srgbClr val="0C4489"/>
                    </a:solidFill>
                  </a:tcPr>
                </a:tc>
                <a:tc>
                  <a:txBody>
                    <a:bodyPr/>
                    <a:lstStyle/>
                    <a:p>
                      <a:r>
                        <a:rPr>
                          <a:solidFill>
                            <a:srgbClr val="FFD24A"/>
                          </a:solidFill>
                          <a:latin typeface="微软雅黑"/>
                          <a:ea typeface="微软雅黑"/>
                          <a:cs typeface="微软雅黑"/>
                        </a:rPr>
                        <a:t>实测 · 端到端验收</a:t>
                      </a:r>
                    </a:p>
                  </a:txBody>
                  <a:tcPr marL="91440" marR="91440" marT="45720" marB="45720">
                    <a:solidFill>
                      <a:srgbClr val="0B3D80"/>
                    </a:solidFill>
                  </a:tcPr>
                </a:tc>
              </a:tr>
            </a:tbl>
          </a:graphicData>
        </a:graphic>
      </p:graphicFrame>
      <p:sp>
        <p:nvSpPr>
          <p:cNvPr id="21" name="">
            <a:extLst xmlns:a="http://schemas.openxmlformats.org/drawingml/2006/main">
              <a:ext uri="{FF2B5EF4-FFF2-40B4-BE49-F238E27FC236}">
                <a16:creationId xmlns:a16="http://schemas.microsoft.com/office/drawing/2014/main" id="{9C3525E9-8C94-47BB-B381-21ABD19FED21}"/>
              </a:ext>
            </a:extLst>
          </p:cNvPr>
          <p:cNvSpPr>
            <a:spLocks xmlns:a="http://schemas.openxmlformats.org/drawingml/2006/main" noGrp="1"/>
          </p:cNvSpPr>
          <p:nvPr/>
        </p:nvSpPr>
        <p:spPr>
          <a:xfrm xmlns:a="http://schemas.openxmlformats.org/drawingml/2006/main">
            <a:off x="285750" y="6172200"/>
            <a:ext cx="28575" cy="190500"/>
          </a:xfrm>
          <a:prstGeom xmlns:a="http://schemas.openxmlformats.org/drawingml/2006/main" prst="rect">
            <a:avLst/>
          </a:prstGeom>
          <a:solidFill xmlns:a="http://schemas.openxmlformats.org/drawingml/2006/main">
            <a:srgbClr val="FF7A6B"/>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FBEBD9B1-D7F2-41C2-8A44-BD77AC2B0D78}"/>
              </a:ext>
            </a:extLst>
          </p:cNvPr>
          <p:cNvSpPr>
            <a:spLocks xmlns:a="http://schemas.openxmlformats.org/drawingml/2006/main" noGrp="1"/>
          </p:cNvSpPr>
          <p:nvPr/>
        </p:nvSpPr>
        <p:spPr>
          <a:xfrm xmlns:a="http://schemas.openxmlformats.org/drawingml/2006/main">
            <a:off x="400050" y="6134100"/>
            <a:ext cx="1143000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25">
                <a:solidFill>
                  <a:srgbClr val="EEF5FF"/>
                </a:solidFill>
                <a:latin typeface="微软雅黑"/>
                <a:ea typeface="微软雅黑"/>
                <a:cs typeface="微软雅黑"/>
              </a:defRPr>
            </a:pPr>
            <a:r>
              <a:rPr sz="825" b="1">
                <a:solidFill>
                  <a:srgbClr val="EEF5FF"/>
                </a:solidFill>
                <a:latin typeface="微软雅黑"/>
                <a:ea typeface="微软雅黑"/>
                <a:cs typeface="微软雅黑"/>
              </a:rPr>
              <a:t>口径声明　</a:t>
            </a:r>
            <a:r>
              <a:rPr sz="825">
                <a:solidFill>
                  <a:srgbClr val="EEF5FF"/>
                </a:solidFill>
                <a:latin typeface="微软雅黑"/>
                <a:ea typeface="微软雅黑"/>
                <a:cs typeface="微软雅黑"/>
              </a:rPr>
              <a:t>本项目暂无可用试用单位、试用周期与用户反馈，故不虚构「已试点」；表中「实测」项均可当场复现，「算法口径」项为演示数据集下的算法输出，企业实测值暂不列入正式成果。</a:t>
            </a:r>
          </a:p>
        </p:txBody>
      </p:sp>
      <p:sp>
        <p:nvSpPr>
          <p:cNvPr id="23" name="">
            <a:extLst xmlns:a="http://schemas.openxmlformats.org/drawingml/2006/main">
              <a:ext uri="{FF2B5EF4-FFF2-40B4-BE49-F238E27FC236}">
                <a16:creationId xmlns:a16="http://schemas.microsoft.com/office/drawing/2014/main" id="{8805B23B-307E-45EF-8FE5-132AB2E9203F}"/>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165CA86A-2C61-4BDD-891B-4FCCFBF7DA8B}"/>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0ADF0AF0-4B7E-49F7-A23F-DE7F9F5A8841}"/>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6" name="">
            <a:extLst xmlns:a="http://schemas.openxmlformats.org/drawingml/2006/main">
              <a:ext uri="{FF2B5EF4-FFF2-40B4-BE49-F238E27FC236}">
                <a16:creationId xmlns:a16="http://schemas.microsoft.com/office/drawing/2014/main" id="{084D93EA-AF1E-4D12-95EF-395782D88E6C}"/>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FEE98DB5-CCCE-4736-BD7B-C4A4DFA67A32}"/>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29</a:t>
            </a:r>
          </a:p>
        </p:txBody>
      </p:sp>
    </p:spTree>
    <p:extLst>
      <p:ext uri="{BB962C8B-B14F-4D97-AF65-F5344CB8AC3E}">
        <p14:creationId xmlns:p14="http://schemas.microsoft.com/office/powerpoint/2010/main" val="482566943"/>
      </p:ext>
    </p:extLst>
  </p:cSld>
</p:sld>
</file>

<file path=ppt/slides/slide30.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4397f872ad042a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91136D-3FC8-43A6-AAFE-3E00F5D864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F8D4EF96-4F41-4B73-A559-E4B51A45D435}"/>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3FEFBDA8-684C-41C1-856F-FA0B61E6B1FB}"/>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A03F2550-B2C6-4B07-8018-3EC3155AA56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464782F-C0DA-4D30-BC17-E7B66F99C25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8E095A8A-4243-4E1F-89AD-F9212DFC7F03}"/>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222CEC90-DECC-491F-B30E-8046D262F3E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F08584B7-ACDD-4AF7-A8F0-EE28300CDFC7}"/>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5A409A58-4BF5-403E-BF4E-479C1F567A5E}"/>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52DD603-8B65-4F4A-AAD5-0853DBCD5FE7}"/>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B064C238-D008-4B30-A361-155829DC7833}"/>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13CFDEFB-1068-4442-88AD-66A0CCD330BD}"/>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6E426E03-2E3E-4DDB-8AB8-F7A26C14F808}"/>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横向对比：三种方案的能力矩阵</a:t>
            </a:r>
          </a:p>
        </p:txBody>
      </p:sp>
      <p:sp>
        <p:nvSpPr>
          <p:cNvPr id="15" name="">
            <a:extLst xmlns:a="http://schemas.openxmlformats.org/drawingml/2006/main">
              <a:ext uri="{FF2B5EF4-FFF2-40B4-BE49-F238E27FC236}">
                <a16:creationId xmlns:a16="http://schemas.microsoft.com/office/drawing/2014/main" id="{7B5179B8-0BEF-4666-8F71-04ED7E40B3E4}"/>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44BB4CD2-DAB5-485A-8534-01B4A10189D7}"/>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679D658E-6AB2-4C1E-833B-AFFB5ADED3E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9BA33121-2A01-430D-B115-F2D3A409A971}"/>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FDFD62A8-FF85-49C4-A322-B4D0C7024620}"/>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差异化不在「用不用 </a:t>
            </a:r>
            <a:r>
              <a:rPr sz="1238">
                <a:solidFill>
                  <a:srgbClr val="FFFFFF"/>
                </a:solidFill>
                <a:latin typeface="微软雅黑"/>
                <a:ea typeface="微软雅黑"/>
                <a:cs typeface="微软雅黑"/>
              </a:rPr>
              <a:t>AI</a:t>
            </a:r>
            <a:r>
              <a:rPr sz="1238">
                <a:solidFill>
                  <a:srgbClr val="FFFFFF"/>
                </a:solidFill>
                <a:latin typeface="微软雅黑"/>
                <a:ea typeface="微软雅黑"/>
                <a:cs typeface="微软雅黑"/>
              </a:rPr>
              <a:t>」，而在「结论能不能被复算、被追责、被替换」。</a:t>
            </a:r>
          </a:p>
        </p:txBody>
      </p:sp>
      <p:graphicFrame>
        <p:nvGraphicFramePr>
          <p:cNvPr id="45"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395979"/>
                <a:gridCol w="2755376"/>
                <a:gridCol w="2755376"/>
                <a:gridCol w="3713768"/>
              </a:tblGrid>
              <a:tr h="381000">
                <a:tc>
                  <a:txBody>
                    <a:bodyPr/>
                    <a:lstStyle/>
                    <a:p>
                      <a:r>
                        <a:rPr sz="1050" b="1">
                          <a:solidFill>
                            <a:srgbClr val="FFFFFF"/>
                          </a:solidFill>
                          <a:latin typeface="微软雅黑"/>
                          <a:ea typeface="微软雅黑"/>
                          <a:cs typeface="微软雅黑"/>
                        </a:rPr>
                        <a:t>能力维度</a:t>
                      </a:r>
                    </a:p>
                  </a:txBody>
                  <a:tcPr marL="91440" marR="91440" marT="45720" marB="45720">
                    <a:solidFill>
                      <a:srgbClr val="1A6AC0"/>
                    </a:solidFill>
                  </a:tcPr>
                </a:tc>
                <a:tc>
                  <a:txBody>
                    <a:bodyPr/>
                    <a:lstStyle/>
                    <a:p>
                      <a:r>
                        <a:rPr sz="1050" b="1">
                          <a:solidFill>
                            <a:srgbClr val="FFFFFF"/>
                          </a:solidFill>
                          <a:latin typeface="微软雅黑"/>
                          <a:ea typeface="微软雅黑"/>
                          <a:cs typeface="微软雅黑"/>
                        </a:rPr>
                        <a:t>传统 LMS</a:t>
                      </a:r>
                    </a:p>
                  </a:txBody>
                  <a:tcPr marL="91440" marR="91440" marT="45720" marB="45720">
                    <a:solidFill>
                      <a:srgbClr val="1A6AC0"/>
                    </a:solidFill>
                  </a:tcPr>
                </a:tc>
                <a:tc>
                  <a:txBody>
                    <a:bodyPr/>
                    <a:lstStyle/>
                    <a:p>
                      <a:r>
                        <a:rPr sz="1050" b="1">
                          <a:solidFill>
                            <a:srgbClr val="FFFFFF"/>
                          </a:solidFill>
                          <a:latin typeface="微软雅黑"/>
                          <a:ea typeface="微软雅黑"/>
                          <a:cs typeface="微软雅黑"/>
                        </a:rPr>
                        <a:t>通用大模型工具</a:t>
                      </a:r>
                    </a:p>
                  </a:txBody>
                  <a:tcPr marL="91440" marR="91440" marT="45720" marB="45720">
                    <a:solidFill>
                      <a:srgbClr val="1A6AC0"/>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solidFill>
                      <a:srgbClr val="1A6AC0"/>
                    </a:solidFill>
                  </a:tcPr>
                </a:tc>
              </a:tr>
              <a:tr h="533400">
                <a:tc>
                  <a:txBody>
                    <a:bodyPr/>
                    <a:lstStyle/>
                    <a:p>
                      <a:r>
                        <a:rPr sz="938" b="1">
                          <a:solidFill>
                            <a:srgbClr val="4FD8FF"/>
                          </a:solidFill>
                          <a:latin typeface="微软雅黑"/>
                          <a:ea typeface="微软雅黑"/>
                          <a:cs typeface="微软雅黑"/>
                        </a:rPr>
                        <a:t>数据结构</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只有总分与进度</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只有自然语言</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53 张表，能力项与结论结构化落库</a:t>
                      </a:r>
                    </a:p>
                  </a:txBody>
                  <a:tcPr marL="91440" marR="91440" marT="45720" marB="45720">
                    <a:solidFill>
                      <a:srgbClr val="0C4489"/>
                    </a:solidFill>
                  </a:tcPr>
                </a:tc>
              </a:tr>
              <a:tr h="533400">
                <a:tc>
                  <a:txBody>
                    <a:bodyPr/>
                    <a:lstStyle/>
                    <a:p>
                      <a:r>
                        <a:rPr sz="938" b="1">
                          <a:solidFill>
                            <a:srgbClr val="4FD8FF"/>
                          </a:solidFill>
                          <a:latin typeface="微软雅黑"/>
                          <a:ea typeface="微软雅黑"/>
                          <a:cs typeface="微软雅黑"/>
                        </a:rPr>
                        <a:t>决策方式</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人工判读</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模型直接生成</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规则引擎确定性匹配</a:t>
                      </a:r>
                    </a:p>
                  </a:txBody>
                  <a:tcPr marL="91440" marR="91440" marT="45720" marB="45720">
                    <a:solidFill>
                      <a:srgbClr val="0C4489"/>
                    </a:solidFill>
                  </a:tcPr>
                </a:tc>
              </a:tr>
              <a:tr h="533400">
                <a:tc>
                  <a:txBody>
                    <a:bodyPr/>
                    <a:lstStyle/>
                    <a:p>
                      <a:r>
                        <a:rPr sz="938" b="1">
                          <a:solidFill>
                            <a:srgbClr val="4FD8FF"/>
                          </a:solidFill>
                          <a:latin typeface="微软雅黑"/>
                          <a:ea typeface="微软雅黑"/>
                          <a:cs typeface="微软雅黑"/>
                        </a:rPr>
                        <a:t>结论一致性</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因人而异</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有随机性</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200 次重复执行 100% 一致</a:t>
                      </a:r>
                    </a:p>
                  </a:txBody>
                  <a:tcPr marL="91440" marR="91440" marT="45720" marB="45720">
                    <a:solidFill>
                      <a:srgbClr val="0C4489"/>
                    </a:solidFill>
                  </a:tcPr>
                </a:tc>
              </a:tr>
              <a:tr h="533400">
                <a:tc>
                  <a:txBody>
                    <a:bodyPr/>
                    <a:lstStyle/>
                    <a:p>
                      <a:r>
                        <a:rPr sz="938" b="1">
                          <a:solidFill>
                            <a:srgbClr val="4FD8FF"/>
                          </a:solidFill>
                          <a:latin typeface="微软雅黑"/>
                          <a:ea typeface="微软雅黑"/>
                          <a:cs typeface="微软雅黑"/>
                        </a:rPr>
                        <a:t>可解释</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无法说明依据</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依据不可核验</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rule_code + 依据事实 + 置信度</a:t>
                      </a:r>
                    </a:p>
                  </a:txBody>
                  <a:tcPr marL="91440" marR="91440" marT="45720" marB="45720">
                    <a:solidFill>
                      <a:srgbClr val="0C4489"/>
                    </a:solidFill>
                  </a:tcPr>
                </a:tc>
              </a:tr>
              <a:tr h="533400">
                <a:tc>
                  <a:txBody>
                    <a:bodyPr/>
                    <a:lstStyle/>
                    <a:p>
                      <a:r>
                        <a:rPr sz="938" b="1">
                          <a:solidFill>
                            <a:srgbClr val="4FD8FF"/>
                          </a:solidFill>
                          <a:latin typeface="微软雅黑"/>
                          <a:ea typeface="微软雅黑"/>
                          <a:cs typeface="微软雅黑"/>
                        </a:rPr>
                        <a:t>可离线</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可离线但无智能</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断网即失效</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AI_ENABLED=false 时全链路可用</a:t>
                      </a:r>
                    </a:p>
                  </a:txBody>
                  <a:tcPr marL="91440" marR="91440" marT="45720" marB="45720">
                    <a:solidFill>
                      <a:srgbClr val="0C4489"/>
                    </a:solidFill>
                  </a:tcPr>
                </a:tc>
              </a:tr>
              <a:tr h="533400">
                <a:tc>
                  <a:txBody>
                    <a:bodyPr/>
                    <a:lstStyle/>
                    <a:p>
                      <a:r>
                        <a:rPr sz="938" b="1">
                          <a:solidFill>
                            <a:srgbClr val="4FD8FF"/>
                          </a:solidFill>
                          <a:latin typeface="微软雅黑"/>
                          <a:ea typeface="微软雅黑"/>
                          <a:cs typeface="微软雅黑"/>
                        </a:rPr>
                        <a:t>可审计</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纸质台账</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无留痕</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建议 / 确认 / 执行 / 回滚全程留痕</a:t>
                      </a:r>
                    </a:p>
                  </a:txBody>
                  <a:tcPr marL="91440" marR="91440" marT="45720" marB="45720">
                    <a:solidFill>
                      <a:srgbClr val="0C4489"/>
                    </a:solidFill>
                  </a:tcPr>
                </a:tc>
              </a:tr>
              <a:tr h="533400">
                <a:tc>
                  <a:txBody>
                    <a:bodyPr/>
                    <a:lstStyle/>
                    <a:p>
                      <a:r>
                        <a:rPr sz="938" b="1">
                          <a:solidFill>
                            <a:srgbClr val="4FD8FF"/>
                          </a:solidFill>
                          <a:latin typeface="微软雅黑"/>
                          <a:ea typeface="微软雅黑"/>
                          <a:cs typeface="微软雅黑"/>
                        </a:rPr>
                        <a:t>人工确认</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无</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无</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need_human_confirm，写入 decision_log</a:t>
                      </a:r>
                    </a:p>
                  </a:txBody>
                  <a:tcPr marL="91440" marR="91440" marT="45720" marB="45720">
                    <a:solidFill>
                      <a:srgbClr val="0C4489"/>
                    </a:solidFill>
                  </a:tcPr>
                </a:tc>
              </a:tr>
              <a:tr h="533400">
                <a:tc>
                  <a:txBody>
                    <a:bodyPr/>
                    <a:lstStyle/>
                    <a:p>
                      <a:r>
                        <a:rPr sz="938" b="1">
                          <a:solidFill>
                            <a:srgbClr val="4FD8FF"/>
                          </a:solidFill>
                          <a:latin typeface="微软雅黑"/>
                          <a:ea typeface="微软雅黑"/>
                          <a:cs typeface="微软雅黑"/>
                        </a:rPr>
                        <a:t>岗位适配</a:t>
                      </a:r>
                    </a:p>
                  </a:txBody>
                  <a:tcPr marL="91440" marR="91440" marT="45720" marB="45720">
                    <a:solidFill>
                      <a:srgbClr val="0E4A96"/>
                    </a:solidFill>
                  </a:tcPr>
                </a:tc>
                <a:tc>
                  <a:txBody>
                    <a:bodyPr/>
                    <a:lstStyle/>
                    <a:p>
                      <a:r>
                        <a:rPr sz="900">
                          <a:solidFill>
                            <a:srgbClr val="C6DDFF"/>
                          </a:solidFill>
                          <a:latin typeface="微软雅黑"/>
                          <a:ea typeface="微软雅黑"/>
                          <a:cs typeface="微软雅黑"/>
                        </a:rPr>
                        <a:t>通用课程</a:t>
                      </a:r>
                    </a:p>
                  </a:txBody>
                  <a:tcPr marL="91440" marR="91440" marT="45720" marB="45720">
                    <a:solidFill>
                      <a:srgbClr val="0B3D80"/>
                    </a:solidFill>
                  </a:tcPr>
                </a:tc>
                <a:tc>
                  <a:txBody>
                    <a:bodyPr/>
                    <a:lstStyle/>
                    <a:p>
                      <a:r>
                        <a:rPr sz="900">
                          <a:solidFill>
                            <a:srgbClr val="C6DDFF"/>
                          </a:solidFill>
                          <a:latin typeface="微软雅黑"/>
                          <a:ea typeface="微软雅黑"/>
                          <a:cs typeface="微软雅黑"/>
                        </a:rPr>
                        <a:t>与岗位脱节</a:t>
                      </a:r>
                    </a:p>
                  </a:txBody>
                  <a:tcPr marL="91440" marR="91440" marT="45720" marB="45720">
                    <a:solidFill>
                      <a:srgbClr val="0B3D80"/>
                    </a:solidFill>
                  </a:tcPr>
                </a:tc>
                <a:tc>
                  <a:txBody>
                    <a:bodyPr/>
                    <a:lstStyle/>
                    <a:p>
                      <a:r>
                        <a:rPr sz="900" b="1">
                          <a:solidFill>
                            <a:srgbClr val="FFFFFF"/>
                          </a:solidFill>
                          <a:latin typeface="微软雅黑"/>
                          <a:ea typeface="微软雅黑"/>
                          <a:cs typeface="微软雅黑"/>
                        </a:rPr>
                        <a:t>岗位—技能—课程—考试—实操打通</a:t>
                      </a:r>
                    </a:p>
                  </a:txBody>
                  <a:tcPr marL="91440" marR="91440" marT="45720" marB="45720">
                    <a:solidFill>
                      <a:srgbClr val="0C4489"/>
                    </a:solidFill>
                  </a:tcPr>
                </a:tc>
              </a:tr>
            </a:tbl>
          </a:graphicData>
        </a:graphic>
      </p:graphicFrame>
      <p:sp>
        <p:nvSpPr>
          <p:cNvPr id="21" name="">
            <a:extLst xmlns:a="http://schemas.openxmlformats.org/drawingml/2006/main">
              <a:ext uri="{FF2B5EF4-FFF2-40B4-BE49-F238E27FC236}">
                <a16:creationId xmlns:a16="http://schemas.microsoft.com/office/drawing/2014/main" id="{E1151198-D0AE-45CC-9275-E63F7C5AE27C}"/>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9B00CDC9-8B1F-4621-B86E-791448232C49}"/>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10BB6194-EC05-4C23-99AC-2C3BBC331EB2}"/>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4" name="">
            <a:extLst xmlns:a="http://schemas.openxmlformats.org/drawingml/2006/main">
              <a:ext uri="{FF2B5EF4-FFF2-40B4-BE49-F238E27FC236}">
                <a16:creationId xmlns:a16="http://schemas.microsoft.com/office/drawing/2014/main" id="{C33C589F-4E96-45CF-B930-FF89C188606A}"/>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1334F5DC-8B3B-4F9D-A62E-548727E124DA}"/>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30</a:t>
            </a:r>
          </a:p>
        </p:txBody>
      </p:sp>
    </p:spTree>
    <p:extLst>
      <p:ext uri="{BB962C8B-B14F-4D97-AF65-F5344CB8AC3E}">
        <p14:creationId xmlns:p14="http://schemas.microsoft.com/office/powerpoint/2010/main" val="782430945"/>
      </p:ext>
    </p:extLst>
  </p:cSld>
</p:sld>
</file>

<file path=ppt/slides/slide31.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fb947a03ede84f2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FF47D52-0019-4E29-9018-43A4D1934E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38A4B4A1-7D28-45F8-BE35-B8BBB4149D71}"/>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8B23EAEF-9BDF-4B3C-892C-34CA3DD387BC}"/>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B7EE371A-60D6-4D83-934C-E1675FD59A88}"/>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8E88A5D7-1238-4635-AD4C-7E3D77DB93C7}"/>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9C71DFEF-B38C-416A-89CA-9A29B8B69786}"/>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B90B879E-38B2-4F8F-80F4-E191029EB183}"/>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424B36B7-52B8-487F-824E-75F0AD4B31A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ED8DA7DD-9FE6-49F6-BEFC-44FF1D939C92}"/>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08611A5-BDDB-48D5-BA66-EDD6F1486912}"/>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1CAA2A6E-75F4-4531-9930-01F1F7D3238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83F2870C-261B-4939-B05D-1FE4C04512D2}"/>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8F59806C-CEAC-4686-A7C3-EDAF440CDA67}"/>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合规与伦理：</a:t>
            </a:r>
            <a:r>
              <a:rPr sz="1800" b="1" spc="1">
                <a:solidFill>
                  <a:srgbClr val="FFFFFF"/>
                </a:solidFill>
                <a:latin typeface="微软雅黑"/>
                <a:ea typeface="微软雅黑"/>
                <a:cs typeface="微软雅黑"/>
              </a:rPr>
              <a:t>AI </a:t>
            </a:r>
            <a:r>
              <a:rPr sz="1800" b="1" spc="1">
                <a:solidFill>
                  <a:srgbClr val="FFFFFF"/>
                </a:solidFill>
                <a:latin typeface="微软雅黑"/>
                <a:ea typeface="微软雅黑"/>
                <a:cs typeface="微软雅黑"/>
              </a:rPr>
              <a:t>的能力边界写死在系统里</a:t>
            </a:r>
          </a:p>
        </p:txBody>
      </p:sp>
      <p:sp>
        <p:nvSpPr>
          <p:cNvPr id="15" name="">
            <a:extLst xmlns:a="http://schemas.openxmlformats.org/drawingml/2006/main">
              <a:ext uri="{FF2B5EF4-FFF2-40B4-BE49-F238E27FC236}">
                <a16:creationId xmlns:a16="http://schemas.microsoft.com/office/drawing/2014/main" id="{D856AFAC-B31B-47BF-95BA-11CD41678874}"/>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B59BE5E8-91FC-45CE-B169-6DAE29DB50E7}"/>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FEFB26D1-3663-43C8-9F7C-A0AEA7E8C124}"/>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59BBAE34-3714-4858-B68F-F490469B5172}"/>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6CB9432B-2900-404C-A4F3-BF8D25BC562A}"/>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AI </a:t>
            </a:r>
            <a:r>
              <a:rPr sz="1238">
                <a:solidFill>
                  <a:srgbClr val="FFFFFF"/>
                </a:solidFill>
                <a:latin typeface="微软雅黑"/>
                <a:ea typeface="微软雅黑"/>
                <a:cs typeface="微软雅黑"/>
              </a:rPr>
              <a:t>只建议、不执行；数据不出内网；心理与关怀数据默认只有本人可见。</a:t>
            </a:r>
          </a:p>
        </p:txBody>
      </p:sp>
      <p:sp>
        <p:nvSpPr>
          <p:cNvPr id="20" name="">
            <a:extLst xmlns:a="http://schemas.openxmlformats.org/drawingml/2006/main">
              <a:ext uri="{FF2B5EF4-FFF2-40B4-BE49-F238E27FC236}">
                <a16:creationId xmlns:a16="http://schemas.microsoft.com/office/drawing/2014/main" id="{4EECA661-646E-41B8-A164-BD55E0F35CD1}"/>
              </a:ext>
            </a:extLst>
          </p:cNvPr>
          <p:cNvSpPr>
            <a:spLocks xmlns:a="http://schemas.openxmlformats.org/drawingml/2006/main" noGrp="1"/>
          </p:cNvSpPr>
          <p:nvPr/>
        </p:nvSpPr>
        <p:spPr>
          <a:xfrm xmlns:a="http://schemas.openxmlformats.org/drawingml/2006/main">
            <a:off x="285750" y="1333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E2281D5D-24CE-4F51-A2BE-E0A6FAF557D8}"/>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DB0FB052-ADBD-4114-8955-62D889278D95}"/>
              </a:ext>
            </a:extLst>
          </p:cNvPr>
          <p:cNvSpPr>
            <a:spLocks xmlns:a="http://schemas.openxmlformats.org/drawingml/2006/main" noGrp="1"/>
          </p:cNvSpPr>
          <p:nvPr/>
        </p:nvSpPr>
        <p:spPr>
          <a:xfrm xmlns:a="http://schemas.openxmlformats.org/drawingml/2006/main">
            <a:off x="514350" y="1485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4FD8FF"/>
                </a:solidFill>
                <a:latin typeface="微软雅黑"/>
                <a:ea typeface="微软雅黑"/>
                <a:cs typeface="微软雅黑"/>
              </a:defRPr>
            </a:pPr>
            <a:r>
              <a:rPr sz="1500" b="1">
                <a:solidFill>
                  <a:srgbClr val="4FD8FF"/>
                </a:solidFill>
                <a:latin typeface="微软雅黑"/>
                <a:ea typeface="微软雅黑"/>
                <a:cs typeface="微软雅黑"/>
              </a:rPr>
              <a:t>数据边界</a:t>
            </a:r>
          </a:p>
        </p:txBody>
      </p:sp>
      <p:sp>
        <p:nvSpPr>
          <p:cNvPr id="23" name="">
            <a:extLst xmlns:a="http://schemas.openxmlformats.org/drawingml/2006/main">
              <a:ext uri="{FF2B5EF4-FFF2-40B4-BE49-F238E27FC236}">
                <a16:creationId xmlns:a16="http://schemas.microsoft.com/office/drawing/2014/main" id="{E2BAEBCD-37A6-49BB-A5CA-5DB2744B0683}"/>
              </a:ext>
            </a:extLst>
          </p:cNvPr>
          <p:cNvSpPr>
            <a:spLocks xmlns:a="http://schemas.openxmlformats.org/drawingml/2006/main" noGrp="1"/>
          </p:cNvSpPr>
          <p:nvPr/>
        </p:nvSpPr>
        <p:spPr>
          <a:xfrm xmlns:a="http://schemas.openxmlformats.org/drawingml/2006/main">
            <a:off x="514350" y="1866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心理与关怀数据默认仅本人可见，授权心理专员可查看</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管理端只返回脱敏聚合，不能用于裁员或绩效处罚</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数据不离开企业内网；外部模型必须可以整体关闭</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越权访问返回 </a:t>
            </a:r>
            <a:r>
              <a:rPr sz="938">
                <a:solidFill>
                  <a:srgbClr val="EEF5FF"/>
                </a:solidFill>
                <a:latin typeface="微软雅黑"/>
                <a:ea typeface="微软雅黑"/>
                <a:cs typeface="微软雅黑"/>
              </a:rPr>
              <a:t>403 / code=40301</a:t>
            </a:r>
            <a:r>
              <a:rPr sz="938">
                <a:solidFill>
                  <a:srgbClr val="EEF5FF"/>
                </a:solidFill>
                <a:latin typeface="微软雅黑"/>
                <a:ea typeface="微软雅黑"/>
                <a:cs typeface="微软雅黑"/>
              </a:rPr>
              <a:t>，并被审计记录</a:t>
            </a:r>
          </a:p>
        </p:txBody>
      </p:sp>
      <p:sp>
        <p:nvSpPr>
          <p:cNvPr id="24" name="">
            <a:extLst xmlns:a="http://schemas.openxmlformats.org/drawingml/2006/main">
              <a:ext uri="{FF2B5EF4-FFF2-40B4-BE49-F238E27FC236}">
                <a16:creationId xmlns:a16="http://schemas.microsoft.com/office/drawing/2014/main" id="{4317AF64-A505-4523-9D98-27658AA7A5B0}"/>
              </a:ext>
            </a:extLst>
          </p:cNvPr>
          <p:cNvSpPr>
            <a:spLocks xmlns:a="http://schemas.openxmlformats.org/drawingml/2006/main" noGrp="1"/>
          </p:cNvSpPr>
          <p:nvPr/>
        </p:nvSpPr>
        <p:spPr>
          <a:xfrm xmlns:a="http://schemas.openxmlformats.org/drawingml/2006/main">
            <a:off x="6210300" y="1333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6BD3F488-24C8-4B1C-9BCA-C442BEACB9FE}"/>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352DBDD2-3DF4-43B9-8C14-6A26A453D4C0}"/>
              </a:ext>
            </a:extLst>
          </p:cNvPr>
          <p:cNvSpPr>
            <a:spLocks xmlns:a="http://schemas.openxmlformats.org/drawingml/2006/main" noGrp="1"/>
          </p:cNvSpPr>
          <p:nvPr/>
        </p:nvSpPr>
        <p:spPr>
          <a:xfrm xmlns:a="http://schemas.openxmlformats.org/drawingml/2006/main">
            <a:off x="6438900" y="1485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D24A"/>
                </a:solidFill>
                <a:latin typeface="微软雅黑"/>
                <a:ea typeface="微软雅黑"/>
                <a:cs typeface="微软雅黑"/>
              </a:defRPr>
            </a:pPr>
            <a:r>
              <a:rPr sz="1500" b="1">
                <a:solidFill>
                  <a:srgbClr val="FFD24A"/>
                </a:solidFill>
                <a:latin typeface="微软雅黑"/>
                <a:ea typeface="微软雅黑"/>
                <a:cs typeface="微软雅黑"/>
              </a:rPr>
              <a:t>AI </a:t>
            </a:r>
            <a:r>
              <a:rPr sz="1500" b="1">
                <a:solidFill>
                  <a:srgbClr val="FFD24A"/>
                </a:solidFill>
                <a:latin typeface="微软雅黑"/>
                <a:ea typeface="微软雅黑"/>
                <a:cs typeface="微软雅黑"/>
              </a:rPr>
              <a:t>边界</a:t>
            </a:r>
          </a:p>
        </p:txBody>
      </p:sp>
      <p:sp>
        <p:nvSpPr>
          <p:cNvPr id="27" name="">
            <a:extLst xmlns:a="http://schemas.openxmlformats.org/drawingml/2006/main">
              <a:ext uri="{FF2B5EF4-FFF2-40B4-BE49-F238E27FC236}">
                <a16:creationId xmlns:a16="http://schemas.microsoft.com/office/drawing/2014/main" id="{E78F51B0-6605-435A-AFC1-E26E133D4D9A}"/>
              </a:ext>
            </a:extLst>
          </p:cNvPr>
          <p:cNvSpPr>
            <a:spLocks xmlns:a="http://schemas.openxmlformats.org/drawingml/2006/main" noGrp="1"/>
          </p:cNvSpPr>
          <p:nvPr/>
        </p:nvSpPr>
        <p:spPr>
          <a:xfrm xmlns:a="http://schemas.openxmlformats.org/drawingml/2006/main">
            <a:off x="6438900" y="1866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AI </a:t>
            </a:r>
            <a:r>
              <a:rPr sz="938">
                <a:solidFill>
                  <a:srgbClr val="EEF5FF"/>
                </a:solidFill>
                <a:latin typeface="微软雅黑"/>
                <a:ea typeface="微软雅黑"/>
                <a:cs typeface="微软雅黑"/>
              </a:rPr>
              <a:t>只提供建议，不直接执行裁员、降职、调岗或绩效处罚</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可提出转岗、培训、外包等建议，但最终由人工确认</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确认记录用户、决定、理由与时间，可回滚</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need_human_confirm=true </a:t>
            </a:r>
            <a:r>
              <a:rPr sz="938">
                <a:solidFill>
                  <a:srgbClr val="EEF5FF"/>
                </a:solidFill>
                <a:latin typeface="微软雅黑"/>
                <a:ea typeface="微软雅黑"/>
                <a:cs typeface="微软雅黑"/>
              </a:rPr>
              <a:t>的结论在确认前不改业务数据</a:t>
            </a:r>
          </a:p>
        </p:txBody>
      </p:sp>
      <p:sp>
        <p:nvSpPr>
          <p:cNvPr id="28" name="">
            <a:extLst xmlns:a="http://schemas.openxmlformats.org/drawingml/2006/main">
              <a:ext uri="{FF2B5EF4-FFF2-40B4-BE49-F238E27FC236}">
                <a16:creationId xmlns:a16="http://schemas.microsoft.com/office/drawing/2014/main" id="{1747B1BD-6834-4C97-A303-D6FA619A883D}"/>
              </a:ext>
            </a:extLst>
          </p:cNvPr>
          <p:cNvSpPr>
            <a:spLocks xmlns:a="http://schemas.openxmlformats.org/drawingml/2006/main" noGrp="1"/>
          </p:cNvSpPr>
          <p:nvPr/>
        </p:nvSpPr>
        <p:spPr>
          <a:xfrm xmlns:a="http://schemas.openxmlformats.org/drawingml/2006/main">
            <a:off x="285750" y="3238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6BE6428D-BF2B-4738-91B0-9981B3195E8A}"/>
              </a:ext>
            </a:extLst>
          </p:cNvPr>
          <p:cNvSpPr>
            <a:spLocks xmlns:a="http://schemas.openxmlformats.org/drawingml/2006/main" noGrp="1"/>
          </p:cNvSpPr>
          <p:nvPr/>
        </p:nvSpPr>
        <p:spPr>
          <a:xfrm xmlns:a="http://schemas.openxmlformats.org/drawingml/2006/main">
            <a:off x="285750" y="3238500"/>
            <a:ext cx="5695950" cy="47625"/>
          </a:xfrm>
          <a:prstGeom xmlns:a="http://schemas.openxmlformats.org/drawingml/2006/main" prst="rect">
            <a:avLst/>
          </a:prstGeom>
          <a:solidFill xmlns:a="http://schemas.openxmlformats.org/drawingml/2006/main">
            <a:srgbClr val="FF7A6B"/>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0AFCB9EC-C4F0-4FE2-8EF0-B24FB7273E5E}"/>
              </a:ext>
            </a:extLst>
          </p:cNvPr>
          <p:cNvSpPr>
            <a:spLocks xmlns:a="http://schemas.openxmlformats.org/drawingml/2006/main" noGrp="1"/>
          </p:cNvSpPr>
          <p:nvPr/>
        </p:nvSpPr>
        <p:spPr>
          <a:xfrm xmlns:a="http://schemas.openxmlformats.org/drawingml/2006/main">
            <a:off x="514350" y="3390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7A6B"/>
                </a:solidFill>
                <a:latin typeface="微软雅黑"/>
                <a:ea typeface="微软雅黑"/>
                <a:cs typeface="微软雅黑"/>
              </a:defRPr>
            </a:pPr>
            <a:r>
              <a:rPr sz="1500" b="1">
                <a:solidFill>
                  <a:srgbClr val="FF7A6B"/>
                </a:solidFill>
                <a:latin typeface="微软雅黑"/>
                <a:ea typeface="微软雅黑"/>
                <a:cs typeface="微软雅黑"/>
              </a:rPr>
              <a:t>安全一票否决</a:t>
            </a:r>
          </a:p>
        </p:txBody>
      </p:sp>
      <p:sp>
        <p:nvSpPr>
          <p:cNvPr id="31" name="">
            <a:extLst xmlns:a="http://schemas.openxmlformats.org/drawingml/2006/main">
              <a:ext uri="{FF2B5EF4-FFF2-40B4-BE49-F238E27FC236}">
                <a16:creationId xmlns:a16="http://schemas.microsoft.com/office/drawing/2014/main" id="{C6F7064D-78C4-419B-8368-E658249631A7}"/>
              </a:ext>
            </a:extLst>
          </p:cNvPr>
          <p:cNvSpPr>
            <a:spLocks xmlns:a="http://schemas.openxmlformats.org/drawingml/2006/main" noGrp="1"/>
          </p:cNvSpPr>
          <p:nvPr/>
        </p:nvSpPr>
        <p:spPr>
          <a:xfrm xmlns:a="http://schemas.openxmlformats.org/drawingml/2006/main">
            <a:off x="514350" y="3771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安全记录、违章、事故在人才决策中拥有最高优先级</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安全不合格触发一票否决：晋升、评优、关键岗位任命</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该优先级写在规则里，不由模型临场判断</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规则与模型冲突时，以安全规则的结论为准</a:t>
            </a:r>
          </a:p>
        </p:txBody>
      </p:sp>
      <p:sp>
        <p:nvSpPr>
          <p:cNvPr id="32" name="">
            <a:extLst xmlns:a="http://schemas.openxmlformats.org/drawingml/2006/main">
              <a:ext uri="{FF2B5EF4-FFF2-40B4-BE49-F238E27FC236}">
                <a16:creationId xmlns:a16="http://schemas.microsoft.com/office/drawing/2014/main" id="{F203CE7E-A352-4108-8ABA-CA15DB14EE4E}"/>
              </a:ext>
            </a:extLst>
          </p:cNvPr>
          <p:cNvSpPr>
            <a:spLocks xmlns:a="http://schemas.openxmlformats.org/drawingml/2006/main" noGrp="1"/>
          </p:cNvSpPr>
          <p:nvPr/>
        </p:nvSpPr>
        <p:spPr>
          <a:xfrm xmlns:a="http://schemas.openxmlformats.org/drawingml/2006/main">
            <a:off x="6210300" y="3238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BD283782-16FC-40DA-A714-6D3705431D89}"/>
              </a:ext>
            </a:extLst>
          </p:cNvPr>
          <p:cNvSpPr>
            <a:spLocks xmlns:a="http://schemas.openxmlformats.org/drawingml/2006/main" noGrp="1"/>
          </p:cNvSpPr>
          <p:nvPr/>
        </p:nvSpPr>
        <p:spPr>
          <a:xfrm xmlns:a="http://schemas.openxmlformats.org/drawingml/2006/main">
            <a:off x="6210300" y="3238500"/>
            <a:ext cx="5695950" cy="47625"/>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A89A83EF-7274-45F9-83D4-E719DC267359}"/>
              </a:ext>
            </a:extLst>
          </p:cNvPr>
          <p:cNvSpPr>
            <a:spLocks xmlns:a="http://schemas.openxmlformats.org/drawingml/2006/main" noGrp="1"/>
          </p:cNvSpPr>
          <p:nvPr/>
        </p:nvSpPr>
        <p:spPr>
          <a:xfrm xmlns:a="http://schemas.openxmlformats.org/drawingml/2006/main">
            <a:off x="6438900" y="3390900"/>
            <a:ext cx="5238750" cy="3048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5FE3A1"/>
                </a:solidFill>
                <a:latin typeface="微软雅黑"/>
                <a:ea typeface="微软雅黑"/>
                <a:cs typeface="微软雅黑"/>
              </a:defRPr>
            </a:pPr>
            <a:r>
              <a:rPr sz="1500" b="1">
                <a:solidFill>
                  <a:srgbClr val="5FE3A1"/>
                </a:solidFill>
                <a:latin typeface="微软雅黑"/>
                <a:ea typeface="微软雅黑"/>
                <a:cs typeface="微软雅黑"/>
              </a:rPr>
              <a:t>可替换性</a:t>
            </a:r>
          </a:p>
        </p:txBody>
      </p:sp>
      <p:sp>
        <p:nvSpPr>
          <p:cNvPr id="35" name="">
            <a:extLst xmlns:a="http://schemas.openxmlformats.org/drawingml/2006/main">
              <a:ext uri="{FF2B5EF4-FFF2-40B4-BE49-F238E27FC236}">
                <a16:creationId xmlns:a16="http://schemas.microsoft.com/office/drawing/2014/main" id="{29F89D30-C810-4D1A-8DB4-336AA65D8DD4}"/>
              </a:ext>
            </a:extLst>
          </p:cNvPr>
          <p:cNvSpPr>
            <a:spLocks xmlns:a="http://schemas.openxmlformats.org/drawingml/2006/main" noGrp="1"/>
          </p:cNvSpPr>
          <p:nvPr/>
        </p:nvSpPr>
        <p:spPr>
          <a:xfrm xmlns:a="http://schemas.openxmlformats.org/drawingml/2006/main">
            <a:off x="6438900" y="3771900"/>
            <a:ext cx="5295900" cy="1123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source=rule </a:t>
            </a:r>
            <a:r>
              <a:rPr sz="938">
                <a:solidFill>
                  <a:srgbClr val="EEF5FF"/>
                </a:solidFill>
                <a:latin typeface="微软雅黑"/>
                <a:ea typeface="微软雅黑"/>
                <a:cs typeface="微软雅黑"/>
              </a:rPr>
              <a:t>现在，</a:t>
            </a:r>
            <a:r>
              <a:rPr sz="938">
                <a:solidFill>
                  <a:srgbClr val="EEF5FF"/>
                </a:solidFill>
                <a:latin typeface="微软雅黑"/>
                <a:ea typeface="微软雅黑"/>
                <a:cs typeface="微软雅黑"/>
              </a:rPr>
              <a:t>source=model </a:t>
            </a:r>
            <a:r>
              <a:rPr sz="938">
                <a:solidFill>
                  <a:srgbClr val="EEF5FF"/>
                </a:solidFill>
                <a:latin typeface="微软雅黑"/>
                <a:ea typeface="微软雅黑"/>
                <a:cs typeface="微软雅黑"/>
              </a:rPr>
              <a:t>将来，接口与前端不动</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AI </a:t>
            </a:r>
            <a:r>
              <a:rPr sz="938">
                <a:solidFill>
                  <a:srgbClr val="EEF5FF"/>
                </a:solidFill>
                <a:latin typeface="微软雅黑"/>
                <a:ea typeface="微软雅黑"/>
                <a:cs typeface="微软雅黑"/>
              </a:rPr>
              <a:t>失败自动回退规则并写 </a:t>
            </a:r>
            <a:r>
              <a:rPr sz="938">
                <a:solidFill>
                  <a:srgbClr val="EEF5FF"/>
                </a:solidFill>
                <a:latin typeface="微软雅黑"/>
                <a:ea typeface="微软雅黑"/>
                <a:cs typeface="微软雅黑"/>
              </a:rPr>
              <a:t>fallback_note</a:t>
            </a:r>
            <a:r>
              <a:rPr sz="938">
                <a:solidFill>
                  <a:srgbClr val="EEF5FF"/>
                </a:solidFill>
                <a:latin typeface="微软雅黑"/>
                <a:ea typeface="微软雅黑"/>
                <a:cs typeface="微软雅黑"/>
              </a:rPr>
              <a:t>（既有模式）</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规则路径不依赖 </a:t>
            </a:r>
            <a:r>
              <a:rPr sz="938">
                <a:solidFill>
                  <a:srgbClr val="EEF5FF"/>
                </a:solidFill>
                <a:latin typeface="微软雅黑"/>
                <a:ea typeface="微软雅黑"/>
                <a:cs typeface="微软雅黑"/>
              </a:rPr>
              <a:t>AI</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AI_ENABLED </a:t>
            </a:r>
            <a:r>
              <a:rPr sz="938">
                <a:solidFill>
                  <a:srgbClr val="EEF5FF"/>
                </a:solidFill>
                <a:latin typeface="微软雅黑"/>
                <a:ea typeface="微软雅黑"/>
                <a:cs typeface="微软雅黑"/>
              </a:rPr>
              <a:t>默认 </a:t>
            </a:r>
            <a:r>
              <a:rPr sz="938">
                <a:solidFill>
                  <a:srgbClr val="EEF5FF"/>
                </a:solidFill>
                <a:latin typeface="微软雅黑"/>
                <a:ea typeface="微软雅黑"/>
                <a:cs typeface="微软雅黑"/>
              </a:rPr>
              <a:t>false</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换模型只换 </a:t>
            </a:r>
            <a:r>
              <a:rPr sz="938">
                <a:solidFill>
                  <a:srgbClr val="EEF5FF"/>
                </a:solidFill>
                <a:latin typeface="微软雅黑"/>
                <a:ea typeface="微软雅黑"/>
                <a:cs typeface="微软雅黑"/>
              </a:rPr>
              <a:t>Service </a:t>
            </a:r>
            <a:r>
              <a:rPr sz="938">
                <a:solidFill>
                  <a:srgbClr val="EEF5FF"/>
                </a:solidFill>
                <a:latin typeface="微软雅黑"/>
                <a:ea typeface="微软雅黑"/>
                <a:cs typeface="微软雅黑"/>
              </a:rPr>
              <a:t>实现，业务结论口径不变</a:t>
            </a:r>
          </a:p>
        </p:txBody>
      </p:sp>
      <p:sp>
        <p:nvSpPr>
          <p:cNvPr id="36" name="">
            <a:extLst xmlns:a="http://schemas.openxmlformats.org/drawingml/2006/main">
              <a:ext uri="{FF2B5EF4-FFF2-40B4-BE49-F238E27FC236}">
                <a16:creationId xmlns:a16="http://schemas.microsoft.com/office/drawing/2014/main" id="{9ACA532D-ACEC-4B3A-A492-1A7FB8A73BDA}"/>
              </a:ext>
            </a:extLst>
          </p:cNvPr>
          <p:cNvSpPr>
            <a:spLocks xmlns:a="http://schemas.openxmlformats.org/drawingml/2006/main" noGrp="1"/>
          </p:cNvSpPr>
          <p:nvPr/>
        </p:nvSpPr>
        <p:spPr>
          <a:xfrm xmlns:a="http://schemas.openxmlformats.org/drawingml/2006/main">
            <a:off x="285750" y="5257800"/>
            <a:ext cx="11620500" cy="1219200"/>
          </a:xfrm>
          <a:prstGeom xmlns:a="http://schemas.openxmlformats.org/drawingml/2006/main" prst="roundRect">
            <a:avLst>
              <a:gd name="adj" fmla="val 703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37" name="">
            <a:extLst xmlns:a="http://schemas.openxmlformats.org/drawingml/2006/main">
              <a:ext uri="{FF2B5EF4-FFF2-40B4-BE49-F238E27FC236}">
                <a16:creationId xmlns:a16="http://schemas.microsoft.com/office/drawing/2014/main" id="{0055D691-998F-40A4-91B8-9A39D82E200F}"/>
              </a:ext>
            </a:extLst>
          </p:cNvPr>
          <p:cNvSpPr>
            <a:spLocks xmlns:a="http://schemas.openxmlformats.org/drawingml/2006/main" noGrp="1"/>
          </p:cNvSpPr>
          <p:nvPr/>
        </p:nvSpPr>
        <p:spPr>
          <a:xfrm xmlns:a="http://schemas.openxmlformats.org/drawingml/2006/main">
            <a:off x="457200" y="5353050"/>
            <a:ext cx="11239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写死在系统里的三条硬约束（不依赖模型、不依赖人工临场判断）</a:t>
            </a:r>
          </a:p>
        </p:txBody>
      </p:sp>
      <p:sp>
        <p:nvSpPr>
          <p:cNvPr id="38" name="">
            <a:extLst xmlns:a="http://schemas.openxmlformats.org/drawingml/2006/main">
              <a:ext uri="{FF2B5EF4-FFF2-40B4-BE49-F238E27FC236}">
                <a16:creationId xmlns:a16="http://schemas.microsoft.com/office/drawing/2014/main" id="{6F54F760-FF73-44AB-884E-8E7B77DA83C8}"/>
              </a:ext>
            </a:extLst>
          </p:cNvPr>
          <p:cNvSpPr>
            <a:spLocks xmlns:a="http://schemas.openxmlformats.org/drawingml/2006/main" noGrp="1"/>
          </p:cNvSpPr>
          <p:nvPr/>
        </p:nvSpPr>
        <p:spPr>
          <a:xfrm xmlns:a="http://schemas.openxmlformats.org/drawingml/2006/main">
            <a:off x="457200" y="5619750"/>
            <a:ext cx="36576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安全 </a:t>
            </a:r>
            <a:r>
              <a:rPr sz="938" b="1">
                <a:solidFill>
                  <a:srgbClr val="4FD8FF"/>
                </a:solidFill>
                <a:latin typeface="微软雅黑"/>
                <a:ea typeface="微软雅黑"/>
                <a:cs typeface="微软雅黑"/>
              </a:rPr>
              <a:t>&gt; </a:t>
            </a:r>
            <a:r>
              <a:rPr sz="938" b="1">
                <a:solidFill>
                  <a:srgbClr val="4FD8FF"/>
                </a:solidFill>
                <a:latin typeface="微软雅黑"/>
                <a:ea typeface="微软雅黑"/>
                <a:cs typeface="微软雅黑"/>
              </a:rPr>
              <a:t>一切</a:t>
            </a:r>
          </a:p>
        </p:txBody>
      </p:sp>
      <p:sp>
        <p:nvSpPr>
          <p:cNvPr id="39" name="">
            <a:extLst xmlns:a="http://schemas.openxmlformats.org/drawingml/2006/main">
              <a:ext uri="{FF2B5EF4-FFF2-40B4-BE49-F238E27FC236}">
                <a16:creationId xmlns:a16="http://schemas.microsoft.com/office/drawing/2014/main" id="{C7A290E5-21C9-4073-8B90-ACB0D1947633}"/>
              </a:ext>
            </a:extLst>
          </p:cNvPr>
          <p:cNvSpPr>
            <a:spLocks xmlns:a="http://schemas.openxmlformats.org/drawingml/2006/main" noGrp="1"/>
          </p:cNvSpPr>
          <p:nvPr/>
        </p:nvSpPr>
        <p:spPr>
          <a:xfrm xmlns:a="http://schemas.openxmlformats.org/drawingml/2006/main">
            <a:off x="457200" y="5829300"/>
            <a:ext cx="3695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安全不合格触发一票否决，该优先级写在规则里</a:t>
            </a:r>
          </a:p>
        </p:txBody>
      </p:sp>
      <p:sp>
        <p:nvSpPr>
          <p:cNvPr id="40" name="">
            <a:extLst xmlns:a="http://schemas.openxmlformats.org/drawingml/2006/main">
              <a:ext uri="{FF2B5EF4-FFF2-40B4-BE49-F238E27FC236}">
                <a16:creationId xmlns:a16="http://schemas.microsoft.com/office/drawing/2014/main" id="{602FB50B-260F-4C5E-8973-A85AC8694D56}"/>
              </a:ext>
            </a:extLst>
          </p:cNvPr>
          <p:cNvSpPr>
            <a:spLocks xmlns:a="http://schemas.openxmlformats.org/drawingml/2006/main" noGrp="1"/>
          </p:cNvSpPr>
          <p:nvPr/>
        </p:nvSpPr>
        <p:spPr>
          <a:xfrm xmlns:a="http://schemas.openxmlformats.org/drawingml/2006/main">
            <a:off x="4267200" y="5619750"/>
            <a:ext cx="36576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数据不出内网</a:t>
            </a:r>
          </a:p>
        </p:txBody>
      </p:sp>
      <p:sp>
        <p:nvSpPr>
          <p:cNvPr id="41" name="">
            <a:extLst xmlns:a="http://schemas.openxmlformats.org/drawingml/2006/main">
              <a:ext uri="{FF2B5EF4-FFF2-40B4-BE49-F238E27FC236}">
                <a16:creationId xmlns:a16="http://schemas.microsoft.com/office/drawing/2014/main" id="{07AAE9C0-091A-4D61-8E78-7F9B3CB5EE99}"/>
              </a:ext>
            </a:extLst>
          </p:cNvPr>
          <p:cNvSpPr>
            <a:spLocks xmlns:a="http://schemas.openxmlformats.org/drawingml/2006/main" noGrp="1"/>
          </p:cNvSpPr>
          <p:nvPr/>
        </p:nvSpPr>
        <p:spPr>
          <a:xfrm xmlns:a="http://schemas.openxmlformats.org/drawingml/2006/main">
            <a:off x="4267200" y="5829300"/>
            <a:ext cx="3695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外部模型可整体关闭；</a:t>
            </a:r>
            <a:r>
              <a:rPr sz="863" b="0">
                <a:solidFill>
                  <a:srgbClr val="EEF5FF"/>
                </a:solidFill>
                <a:latin typeface="微软雅黑"/>
                <a:ea typeface="微软雅黑"/>
                <a:cs typeface="微软雅黑"/>
              </a:rPr>
              <a:t>AI_ENABLED </a:t>
            </a:r>
            <a:r>
              <a:rPr sz="863" b="0">
                <a:solidFill>
                  <a:srgbClr val="EEF5FF"/>
                </a:solidFill>
                <a:latin typeface="微软雅黑"/>
                <a:ea typeface="微软雅黑"/>
                <a:cs typeface="微软雅黑"/>
              </a:rPr>
              <a:t>默认 </a:t>
            </a:r>
            <a:r>
              <a:rPr sz="863" b="0">
                <a:solidFill>
                  <a:srgbClr val="EEF5FF"/>
                </a:solidFill>
                <a:latin typeface="微软雅黑"/>
                <a:ea typeface="微软雅黑"/>
                <a:cs typeface="微软雅黑"/>
              </a:rPr>
              <a:t>false</a:t>
            </a:r>
          </a:p>
        </p:txBody>
      </p:sp>
      <p:sp>
        <p:nvSpPr>
          <p:cNvPr id="42" name="">
            <a:extLst xmlns:a="http://schemas.openxmlformats.org/drawingml/2006/main">
              <a:ext uri="{FF2B5EF4-FFF2-40B4-BE49-F238E27FC236}">
                <a16:creationId xmlns:a16="http://schemas.microsoft.com/office/drawing/2014/main" id="{021937DE-F733-4E5F-9246-54A279080700}"/>
              </a:ext>
            </a:extLst>
          </p:cNvPr>
          <p:cNvSpPr>
            <a:spLocks xmlns:a="http://schemas.openxmlformats.org/drawingml/2006/main" noGrp="1"/>
          </p:cNvSpPr>
          <p:nvPr/>
        </p:nvSpPr>
        <p:spPr>
          <a:xfrm xmlns:a="http://schemas.openxmlformats.org/drawingml/2006/main">
            <a:off x="8077200" y="5619750"/>
            <a:ext cx="36576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结论必须可追溯</a:t>
            </a:r>
          </a:p>
        </p:txBody>
      </p:sp>
      <p:sp>
        <p:nvSpPr>
          <p:cNvPr id="43" name="">
            <a:extLst xmlns:a="http://schemas.openxmlformats.org/drawingml/2006/main">
              <a:ext uri="{FF2B5EF4-FFF2-40B4-BE49-F238E27FC236}">
                <a16:creationId xmlns:a16="http://schemas.microsoft.com/office/drawing/2014/main" id="{CC3AE011-89D5-4B88-A983-F7DA1B7C0E82}"/>
              </a:ext>
            </a:extLst>
          </p:cNvPr>
          <p:cNvSpPr>
            <a:spLocks xmlns:a="http://schemas.openxmlformats.org/drawingml/2006/main" noGrp="1"/>
          </p:cNvSpPr>
          <p:nvPr/>
        </p:nvSpPr>
        <p:spPr>
          <a:xfrm xmlns:a="http://schemas.openxmlformats.org/drawingml/2006/main">
            <a:off x="8077200" y="5829300"/>
            <a:ext cx="3695700" cy="4191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每条建议带 </a:t>
            </a:r>
            <a:r>
              <a:rPr sz="863" b="0">
                <a:solidFill>
                  <a:srgbClr val="EEF5FF"/>
                </a:solidFill>
                <a:latin typeface="微软雅黑"/>
                <a:ea typeface="微软雅黑"/>
                <a:cs typeface="微软雅黑"/>
              </a:rPr>
              <a:t>rule_code </a:t>
            </a:r>
            <a:r>
              <a:rPr sz="863" b="0">
                <a:solidFill>
                  <a:srgbClr val="EEF5FF"/>
                </a:solidFill>
                <a:latin typeface="微软雅黑"/>
                <a:ea typeface="微软雅黑"/>
                <a:cs typeface="微软雅黑"/>
              </a:rPr>
              <a:t>与依据事实，可复算、可回放</a:t>
            </a:r>
          </a:p>
        </p:txBody>
      </p:sp>
      <p:sp>
        <p:nvSpPr>
          <p:cNvPr id="44" name="">
            <a:extLst xmlns:a="http://schemas.openxmlformats.org/drawingml/2006/main">
              <a:ext uri="{FF2B5EF4-FFF2-40B4-BE49-F238E27FC236}">
                <a16:creationId xmlns:a16="http://schemas.microsoft.com/office/drawing/2014/main" id="{C49B5D3F-0C45-4A2A-BC78-4CA9D735965C}"/>
              </a:ext>
            </a:extLst>
          </p:cNvPr>
          <p:cNvSpPr>
            <a:spLocks xmlns:a="http://schemas.openxmlformats.org/drawingml/2006/main" noGrp="1"/>
          </p:cNvSpPr>
          <p:nvPr/>
        </p:nvSpPr>
        <p:spPr>
          <a:xfrm xmlns:a="http://schemas.openxmlformats.org/drawingml/2006/main">
            <a:off x="457200" y="6267450"/>
            <a:ext cx="112395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如实标注：当前仍为 </a:t>
            </a:r>
            <a:r>
              <a:rPr sz="825" b="0">
                <a:solidFill>
                  <a:srgbClr val="9DBEE8"/>
                </a:solidFill>
                <a:latin typeface="微软雅黑"/>
                <a:ea typeface="微软雅黑"/>
                <a:cs typeface="微软雅黑"/>
              </a:rPr>
              <a:t>MVP——</a:t>
            </a:r>
            <a:r>
              <a:rPr sz="825" b="0">
                <a:solidFill>
                  <a:srgbClr val="9DBEE8"/>
                </a:solidFill>
                <a:latin typeface="微软雅黑"/>
                <a:ea typeface="微软雅黑"/>
                <a:cs typeface="微软雅黑"/>
              </a:rPr>
              <a:t>账号暂无密码校验与刷新令牌，规则增删改与启停开关尚未提供接口，对外部署前必须接入内网统一身份；以上限制已写入技术报告，不做隐藏。</a:t>
            </a:r>
          </a:p>
        </p:txBody>
      </p:sp>
      <p:sp>
        <p:nvSpPr>
          <p:cNvPr id="45" name="">
            <a:extLst xmlns:a="http://schemas.openxmlformats.org/drawingml/2006/main">
              <a:ext uri="{FF2B5EF4-FFF2-40B4-BE49-F238E27FC236}">
                <a16:creationId xmlns:a16="http://schemas.microsoft.com/office/drawing/2014/main" id="{1453E19D-D7D2-4575-B9BF-196A7038702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0FAB31B8-F63C-4FA3-AB44-427DBBCCDAF9}"/>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927E1694-26DD-4CC7-A054-94A75C69BA34}"/>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8" name="">
            <a:extLst xmlns:a="http://schemas.openxmlformats.org/drawingml/2006/main">
              <a:ext uri="{FF2B5EF4-FFF2-40B4-BE49-F238E27FC236}">
                <a16:creationId xmlns:a16="http://schemas.microsoft.com/office/drawing/2014/main" id="{923E04E7-CED0-4384-B567-F9C194565783}"/>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E9766D20-A6DC-41BD-BDDF-9EA9DF304E16}"/>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31</a:t>
            </a:r>
          </a:p>
        </p:txBody>
      </p:sp>
    </p:spTree>
    <p:extLst>
      <p:ext uri="{BB962C8B-B14F-4D97-AF65-F5344CB8AC3E}">
        <p14:creationId xmlns:p14="http://schemas.microsoft.com/office/powerpoint/2010/main" val="382709065"/>
      </p:ext>
    </p:extLst>
  </p:cSld>
</p:sld>
</file>

<file path=ppt/slides/slide32.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71869065b1a9468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38C04E-D07C-4979-BECF-BF6F630576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7C36E6B8-924E-47FE-887F-D68FC13A47CA}"/>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98C4F0CA-6A69-4A2D-BE39-3FDB77F4473C}"/>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2124A344-CBE6-4C58-93DE-D2DAE1363ABD}"/>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AE06B08-316C-4FC1-8B42-BBA67A791BBC}"/>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D4285551-DA73-493E-BC15-B682AD46E5CD}"/>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7DA55804-AD47-45C4-BC83-5447CA585E4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27850FA5-4CF6-495C-BD55-D7E3890A32E9}"/>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5FE3A1">
                  <a:alpha val="20000"/>
                </a:srgbClr>
              </a:gs>
              <a:gs pos="45000">
                <a:srgbClr val="5FE3A1">
                  <a:alpha val="8000"/>
                </a:srgbClr>
              </a:gs>
              <a:gs pos="100000">
                <a:srgbClr val="5FE3A1">
                  <a:alpha val="0"/>
                </a:srgbClr>
              </a:gs>
            </a:gsLst>
            <a:path path="shape"/>
          </a:gra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E9D5713D-784D-4D0D-82B6-D8F398A0F2FE}"/>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9783CC5F-6ECF-4EE3-A210-01D0B369F98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5FE3A1"/>
              </a:gs>
              <a:gs pos="100000">
                <a:srgbClr val="5FE3A1">
                  <a:alpha val="0"/>
                </a:srgbClr>
              </a:gs>
            </a:gsLst>
            <a:lin ang="5400000"/>
          </a:gra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B14E26D7-851B-4253-94D0-544FC054B4ED}"/>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5FE3A1">
              <a:alpha val="70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2326A476-E21B-4DEE-BB2C-AF93EED902D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F786D43D-62EE-486D-8A5A-4C60714A97F7}"/>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22942DFD-9F9C-4D96-AE60-3037C0D5930E}"/>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23413B95-12DB-4BBA-BB9D-A789EC7599EA}"/>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5FE3A1">
                <a:alpha val="45000"/>
              </a:srgbClr>
            </a:solidFill>
            <a:prstDash val="solid"/>
          </a:ln>
        </p:spPr>
      </p:sp>
      <p:sp>
        <p:nvSpPr>
          <p:cNvPr id="17" name="">
            <a:extLst xmlns:a="http://schemas.openxmlformats.org/drawingml/2006/main">
              <a:ext uri="{FF2B5EF4-FFF2-40B4-BE49-F238E27FC236}">
                <a16:creationId xmlns:a16="http://schemas.microsoft.com/office/drawing/2014/main" id="{17BC3336-32B6-4D86-831F-0B6F94439D90}"/>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5FE3A1">
                <a:alpha val="28000"/>
              </a:srgbClr>
            </a:solidFill>
            <a:prstDash val="solid"/>
          </a:ln>
        </p:spPr>
      </p:sp>
      <p:sp>
        <p:nvSpPr>
          <p:cNvPr id="18" name="">
            <a:extLst xmlns:a="http://schemas.openxmlformats.org/drawingml/2006/main">
              <a:ext uri="{FF2B5EF4-FFF2-40B4-BE49-F238E27FC236}">
                <a16:creationId xmlns:a16="http://schemas.microsoft.com/office/drawing/2014/main" id="{CF3998EF-70BB-4C5A-8063-FFBC8F15FBFF}"/>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83E1D80C-1590-45C4-8DB4-C4A53BBE4EC3}"/>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9BADCFCF-EFA1-4AA4-B331-239B95528EAE}"/>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E9229B6A-A39A-4045-8580-F15FF9501964}"/>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BA49A44C-D8DB-4F05-916B-B3242A5F4307}"/>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B6BEBBDB-14C4-4BE7-B92A-845BFA3C4555}"/>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3AD023D8-5312-4164-A352-8277B68EE63D}"/>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04FCD392-1106-4680-8873-50857C96F2CE}"/>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BAAE1CCC-445E-4C44-BD2A-7C524C1C57F8}"/>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826D3A64-823F-4238-ADD6-C1A8C1B66D95}"/>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EA901A98-DC8D-4C45-AD9D-5725072A77B2}"/>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57084D66-2448-482F-AFE5-A0FA5493C380}"/>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E451524D-B28E-458B-9E33-55512F8CB611}"/>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679E9F25-B3DC-478D-B2FC-9E328A995F89}"/>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CF89DD74-2267-4262-89F9-6A93B741DC7B}"/>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EC12CB37-E5E3-4ADE-943E-F3ED0E6BADF3}"/>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EB3609A9-3B39-4F6B-A8AB-04E6AB3CB80D}"/>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8A701C9C-4833-441E-AEC1-A1240A00123B}"/>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83812423-DCA3-4556-9CA6-8F0B110C2287}"/>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39618891-2B34-4AB7-8AF4-A370361C624C}"/>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2EDA8E0F-CE3C-4868-84C5-D8CBFE14076A}"/>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029C1E55-FBB6-4FCC-B06D-5ED10AC296E6}"/>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8DA8F63F-6A5E-468C-867E-3164830A0329}"/>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oAutofit/>
          </a:bodyPr>
          <a:lstStyle xmlns:a="http://schemas.openxmlformats.org/drawingml/2006/main"/>
          <a:p xmlns:a="http://schemas.openxmlformats.org/drawingml/2006/main">
            <a:pPr algn="r">
              <a:defRPr sz="9900" b="1">
                <a:ln w="14288">
                  <a:solidFill>
                    <a:srgbClr val="5FE3A1">
                      <a:alpha val="75000"/>
                    </a:srgbClr>
                  </a:solidFill>
                  <a:prstDash val="solid"/>
                </a:ln>
                <a:solidFill>
                  <a:srgbClr val="0B3E82"/>
                </a:solidFill>
                <a:latin typeface="Bahnschrift SemiBold"/>
                <a:ea typeface="Bahnschrift SemiBold"/>
                <a:cs typeface="Bahnschrift SemiBold"/>
              </a:defRPr>
            </a:pPr>
            <a:r>
              <a:rPr sz="9900" b="1">
                <a:ln w="14288">
                  <a:solidFill>
                    <a:srgbClr val="5FE3A1">
                      <a:alpha val="75000"/>
                    </a:srgbClr>
                  </a:solidFill>
                  <a:prstDash val="solid"/>
                </a:ln>
                <a:solidFill>
                  <a:srgbClr val="0B3E82"/>
                </a:solidFill>
                <a:latin typeface="Bahnschrift SemiBold"/>
                <a:ea typeface="Bahnschrift SemiBold"/>
                <a:cs typeface="Bahnschrift SemiBold"/>
              </a:rPr>
              <a:t>06</a:t>
            </a:r>
          </a:p>
        </p:txBody>
      </p:sp>
      <p:sp>
        <p:nvSpPr>
          <p:cNvPr id="41" name="">
            <a:extLst xmlns:a="http://schemas.openxmlformats.org/drawingml/2006/main">
              <a:ext uri="{FF2B5EF4-FFF2-40B4-BE49-F238E27FC236}">
                <a16:creationId xmlns:a16="http://schemas.microsoft.com/office/drawing/2014/main" id="{7B2D83BD-0548-4D5C-B8A0-C17F92A882D8}"/>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5FE3A1"/>
              </a:gs>
              <a:gs pos="100000">
                <a:srgbClr val="5FE3A1">
                  <a:alpha val="0"/>
                </a:srgbClr>
              </a:gs>
            </a:gsLst>
            <a:lin ang="0"/>
          </a:gra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AF2789C3-DB01-4692-9F85-B5DCCD4C3A09}"/>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5FE3A1">
                <a:alpha val="24000"/>
              </a:srgbClr>
            </a:fgClr>
            <a:bgClr>
              <a:srgbClr val="0B3E82"/>
            </a:bgClr>
          </a:patt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D1834C2D-06AA-4A43-A927-795A8CF175CC}"/>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8DBE6838-A48E-4806-B655-C7BE1D65D166}"/>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1E3A0F0E-27D5-4174-BE6E-8554DD2E9324}"/>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1B229DC6-9620-4EBB-B5B6-F003F87DE5C3}"/>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D610D668-4D4E-48CB-BFFD-696E573F9D6A}"/>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48" name="">
            <a:extLst xmlns:a="http://schemas.openxmlformats.org/drawingml/2006/main">
              <a:ext uri="{FF2B5EF4-FFF2-40B4-BE49-F238E27FC236}">
                <a16:creationId xmlns:a16="http://schemas.microsoft.com/office/drawing/2014/main" id="{30EB0FBD-C2CB-44F9-A941-3B24D9ACFF30}"/>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EA7EFAEB-C71A-4AC6-AA1F-D34FEC0A3CDD}"/>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0" name="">
            <a:extLst xmlns:a="http://schemas.openxmlformats.org/drawingml/2006/main">
              <a:ext uri="{FF2B5EF4-FFF2-40B4-BE49-F238E27FC236}">
                <a16:creationId xmlns:a16="http://schemas.microsoft.com/office/drawing/2014/main" id="{375067A7-4DB7-4A84-9277-BC2A36FBAD06}"/>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6FED422F-695A-4532-B1FC-F0C34EC86DC3}"/>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FA1F5D31-9755-41B9-AA9C-BF035DC459F4}"/>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338329B2-3372-47B2-93D1-527AE0ECDABC}"/>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A4B6650A-E611-4482-BA8B-B995C4894EA7}"/>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A515A033-B46C-4BCB-80A1-15C4EA45DBFF}"/>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5A3AF91D-7CAB-4798-828B-28097D9C38AA}"/>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E51724DE-6A0D-4DA2-A639-0790EE41CCE9}"/>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948D047C-B614-4367-A6DE-753215938705}"/>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0EAB5C2A-5576-4554-906D-81EFF962DDC8}"/>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976388AC-6282-4439-815B-76EDAA5A8A8A}"/>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1BDF78D3-54D3-429F-BEE8-B9275F35D1F3}"/>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2" name="">
            <a:extLst xmlns:a="http://schemas.openxmlformats.org/drawingml/2006/main">
              <a:ext uri="{FF2B5EF4-FFF2-40B4-BE49-F238E27FC236}">
                <a16:creationId xmlns:a16="http://schemas.microsoft.com/office/drawing/2014/main" id="{A33C33CB-20A2-4D18-83E5-28AAA1C150DB}"/>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3" name="">
            <a:extLst xmlns:a="http://schemas.openxmlformats.org/drawingml/2006/main">
              <a:ext uri="{FF2B5EF4-FFF2-40B4-BE49-F238E27FC236}">
                <a16:creationId xmlns:a16="http://schemas.microsoft.com/office/drawing/2014/main" id="{9F9A8AF9-E64A-4943-8518-A715CEB307C0}"/>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0783ED04-7109-41BB-97AD-9DE9332A8BEB}"/>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03C16436-C4BA-47D4-B250-5FAAE3AF3B1C}"/>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25D06E4A-81B5-45A9-9012-ADA10CCB2442}"/>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CDB518C8-EFAE-4354-B39E-7ABB2D62F162}"/>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AA6F99D4-804C-4515-BBCB-71F0CE19CF16}"/>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E6CC491E-5213-4CC6-8D20-6AD9EA60AFE2}"/>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F194A848-F879-4161-9E78-2DD2A405A340}"/>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5FE3A1">
              <a:alpha val="50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CFBD5D12-43DC-4E91-903A-E4B5CF0BCAD8}"/>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5FE3A1">
              <a:alpha val="28000"/>
            </a:srgbClr>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7704F9FE-CECC-4855-A1ED-F7457829EA7C}"/>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5FE3A1">
              <a:alpha val="14000"/>
            </a:srgbClr>
          </a:solidFill>
          <a:ln xmlns:a="http://schemas.openxmlformats.org/drawingml/2006/main" w="0">
            <a:solidFill>
              <a:srgbClr val="000000"/>
            </a:solidFill>
            <a:prstDash val="solid"/>
          </a:ln>
        </p:spPr>
      </p:sp>
      <p:sp>
        <p:nvSpPr>
          <p:cNvPr id="73" name="">
            <a:extLst xmlns:a="http://schemas.openxmlformats.org/drawingml/2006/main">
              <a:ext uri="{FF2B5EF4-FFF2-40B4-BE49-F238E27FC236}">
                <a16:creationId xmlns:a16="http://schemas.microsoft.com/office/drawing/2014/main" id="{CBB83B1D-12A6-47F0-BDA1-57AE34951026}"/>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A0AAC00F-AECB-4933-BF58-5ECCE11ACCD9}"/>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415B66BB-9DE0-4FD1-88A5-F5D2C32FEB7C}"/>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EC91393B-666D-4DC2-9B2F-690368859725}"/>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E55D2490-D5E4-4725-8129-1B06392C82E0}"/>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22415A4B-6908-494B-B066-E84A71CD173C}"/>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F939AB42-BAA7-4A52-93C0-0DA850A93039}"/>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0" name="">
            <a:extLst xmlns:a="http://schemas.openxmlformats.org/drawingml/2006/main">
              <a:ext uri="{FF2B5EF4-FFF2-40B4-BE49-F238E27FC236}">
                <a16:creationId xmlns:a16="http://schemas.microsoft.com/office/drawing/2014/main" id="{FB3091F5-2D61-468C-8B67-B10EE282DFBC}"/>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247B23D6-A790-4904-B25B-29D8BCF7AE7E}"/>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2" name="">
            <a:extLst xmlns:a="http://schemas.openxmlformats.org/drawingml/2006/main">
              <a:ext uri="{FF2B5EF4-FFF2-40B4-BE49-F238E27FC236}">
                <a16:creationId xmlns:a16="http://schemas.microsoft.com/office/drawing/2014/main" id="{29E7F228-2A9E-409A-A4A7-7B63123BFD79}"/>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w="0">
            <a:solidFill>
              <a:srgbClr val="000000"/>
            </a:solidFill>
            <a:prstDash val="solid"/>
          </a:ln>
        </p:spPr>
      </p:sp>
      <p:sp>
        <p:nvSpPr>
          <p:cNvPr id="83" name="">
            <a:extLst xmlns:a="http://schemas.openxmlformats.org/drawingml/2006/main">
              <a:ext uri="{FF2B5EF4-FFF2-40B4-BE49-F238E27FC236}">
                <a16:creationId xmlns:a16="http://schemas.microsoft.com/office/drawing/2014/main" id="{6BBBB7DA-18DF-4D87-8EA6-72E304874FFD}"/>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4" name="">
            <a:extLst xmlns:a="http://schemas.openxmlformats.org/drawingml/2006/main">
              <a:ext uri="{FF2B5EF4-FFF2-40B4-BE49-F238E27FC236}">
                <a16:creationId xmlns:a16="http://schemas.microsoft.com/office/drawing/2014/main" id="{94E87772-3B37-4658-B2D4-4D752CB4D4A3}"/>
              </a:ext>
            </a:extLst>
          </p:cNvPr>
          <p:cNvSpPr>
            <a:spLocks xmlns:a="http://schemas.openxmlformats.org/drawingml/2006/main" noGrp="1"/>
          </p:cNvSpPr>
          <p:nvPr/>
        </p:nvSpPr>
        <p:spPr>
          <a:xfrm xmlns:a="http://schemas.openxmlformats.org/drawingml/2006/main">
            <a:off x="10639425" y="4895850"/>
            <a:ext cx="571500" cy="571500"/>
          </a:xfrm>
          <a:prstGeom xmlns:a="http://schemas.openxmlformats.org/drawingml/2006/main" prst="ellipse">
            <a:avLst/>
          </a:prstGeom>
          <a:gradFill xmlns:a="http://schemas.openxmlformats.org/drawingml/2006/main">
            <a:gsLst>
              <a:gs pos="0">
                <a:srgbClr val="5FE3A1">
                  <a:alpha val="30000"/>
                </a:srgbClr>
              </a:gs>
              <a:gs pos="45000">
                <a:srgbClr val="5FE3A1">
                  <a:alpha val="12000"/>
                </a:srgbClr>
              </a:gs>
              <a:gs pos="100000">
                <a:srgbClr val="5FE3A1">
                  <a:alpha val="0"/>
                </a:srgbClr>
              </a:gs>
            </a:gsLst>
            <a:path path="shape"/>
          </a:gra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FA0503E5-EF20-4640-801D-702012EDC322}"/>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5FE3A1"/>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19A5E810-BA97-449E-92EF-FD0F4556D4A2}"/>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E2B336CF-137C-48D1-9D3C-88EE8B907366}"/>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58D8588B-0F45-4B2C-B49B-E7ADCF5775EE}"/>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E031739C-4A7F-46EE-98BF-DDC9983DF33F}"/>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06</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33237AD4-FF67-4A55-90E4-46487C8902CB}"/>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5FE3A1"/>
              </a:gs>
              <a:gs pos="100000">
                <a:srgbClr val="5FE3A1">
                  <a:alpha val="0"/>
                </a:srgbClr>
              </a:gs>
            </a:gsLst>
            <a:lin ang="0"/>
          </a:gra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E2D2A02B-32EA-4BEA-B532-4E6F549C1F46}"/>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成果与价值</a:t>
            </a:r>
          </a:p>
        </p:txBody>
      </p:sp>
      <p:sp>
        <p:nvSpPr>
          <p:cNvPr id="92" name="">
            <a:extLst xmlns:a="http://schemas.openxmlformats.org/drawingml/2006/main">
              <a:ext uri="{FF2B5EF4-FFF2-40B4-BE49-F238E27FC236}">
                <a16:creationId xmlns:a16="http://schemas.microsoft.com/office/drawing/2014/main" id="{250A1440-39F4-4680-9925-17799448431F}"/>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5FE3A1"/>
                </a:solidFill>
                <a:latin typeface="Bahnschrift"/>
                <a:ea typeface="Bahnschrift"/>
                <a:cs typeface="Bahnschrift"/>
              </a:defRPr>
            </a:pPr>
            <a:r>
              <a:rPr sz="1013" b="0" spc="3">
                <a:solidFill>
                  <a:srgbClr val="5FE3A1"/>
                </a:solidFill>
                <a:latin typeface="Bahnschrift"/>
                <a:ea typeface="Bahnschrift"/>
                <a:cs typeface="Bahnschrift"/>
              </a:rPr>
              <a:t>OUTCOMES · VALUE &amp; ROADMAP</a:t>
            </a:r>
          </a:p>
        </p:txBody>
      </p:sp>
      <p:sp>
        <p:nvSpPr>
          <p:cNvPr id="93" name="">
            <a:extLst xmlns:a="http://schemas.openxmlformats.org/drawingml/2006/main">
              <a:ext uri="{FF2B5EF4-FFF2-40B4-BE49-F238E27FC236}">
                <a16:creationId xmlns:a16="http://schemas.microsoft.com/office/drawing/2014/main" id="{04C31162-45D4-403E-B4AC-E33A8DD73043}"/>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w="0">
            <a:solidFill>
              <a:srgbClr val="000000"/>
            </a:solidFill>
            <a:prstDash val="solid"/>
          </a:ln>
        </p:spPr>
      </p:sp>
      <p:sp>
        <p:nvSpPr>
          <p:cNvPr id="94" name="">
            <a:extLst xmlns:a="http://schemas.openxmlformats.org/drawingml/2006/main">
              <a:ext uri="{FF2B5EF4-FFF2-40B4-BE49-F238E27FC236}">
                <a16:creationId xmlns:a16="http://schemas.microsoft.com/office/drawing/2014/main" id="{FA4C3CF1-3EC9-4E29-AD5D-046D19CD96FE}"/>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已有基础与成果沉淀：清单化罗列，能核对的都给出出处</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应用场景与目标客户：县级供电公司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变电运维班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电力高职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新能源电站</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市场价值测算：按成本口径算账，并如实标注测算与实测的边界</a:t>
            </a:r>
          </a:p>
        </p:txBody>
      </p:sp>
      <p:sp>
        <p:nvSpPr>
          <p:cNvPr id="95" name="">
            <a:extLst xmlns:a="http://schemas.openxmlformats.org/drawingml/2006/main">
              <a:ext uri="{FF2B5EF4-FFF2-40B4-BE49-F238E27FC236}">
                <a16:creationId xmlns:a16="http://schemas.microsoft.com/office/drawing/2014/main" id="{2D1A6847-626B-41E9-9A31-AB1F4E5E3407}"/>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alpha val="50000"/>
              </a:srgbClr>
            </a:solidFill>
            <a:prstDash val="solid"/>
          </a:ln>
        </p:spPr>
      </p:sp>
      <p:sp>
        <p:nvSpPr>
          <p:cNvPr id="96" name="">
            <a:extLst xmlns:a="http://schemas.openxmlformats.org/drawingml/2006/main">
              <a:ext uri="{FF2B5EF4-FFF2-40B4-BE49-F238E27FC236}">
                <a16:creationId xmlns:a16="http://schemas.microsoft.com/office/drawing/2014/main" id="{3829EC72-079C-43A0-961C-2457ADCDB348}"/>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97" name="">
            <a:extLst xmlns:a="http://schemas.openxmlformats.org/drawingml/2006/main">
              <a:ext uri="{FF2B5EF4-FFF2-40B4-BE49-F238E27FC236}">
                <a16:creationId xmlns:a16="http://schemas.microsoft.com/office/drawing/2014/main" id="{0C10934E-748D-45FC-83B2-66924C5B1ABA}"/>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8" name="">
            <a:extLst xmlns:a="http://schemas.openxmlformats.org/drawingml/2006/main">
              <a:ext uri="{FF2B5EF4-FFF2-40B4-BE49-F238E27FC236}">
                <a16:creationId xmlns:a16="http://schemas.microsoft.com/office/drawing/2014/main" id="{D58CC6E3-B680-45BB-9DA7-17C9C22BFDC5}"/>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类已有研发基础</a:t>
            </a:r>
          </a:p>
        </p:txBody>
      </p:sp>
      <p:sp>
        <p:nvSpPr>
          <p:cNvPr id="99" name="">
            <a:extLst xmlns:a="http://schemas.openxmlformats.org/drawingml/2006/main">
              <a:ext uri="{FF2B5EF4-FFF2-40B4-BE49-F238E27FC236}">
                <a16:creationId xmlns:a16="http://schemas.microsoft.com/office/drawing/2014/main" id="{24BBC764-35AD-43DB-9843-F36AECDB5FA5}"/>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alpha val="50000"/>
              </a:srgbClr>
            </a:solidFill>
            <a:prstDash val="solid"/>
          </a:ln>
        </p:spPr>
      </p:sp>
      <p:sp>
        <p:nvSpPr>
          <p:cNvPr id="100" name="">
            <a:extLst xmlns:a="http://schemas.openxmlformats.org/drawingml/2006/main">
              <a:ext uri="{FF2B5EF4-FFF2-40B4-BE49-F238E27FC236}">
                <a16:creationId xmlns:a16="http://schemas.microsoft.com/office/drawing/2014/main" id="{A5715410-742D-41C8-97CB-FC87444518B1}"/>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01" name="">
            <a:extLst xmlns:a="http://schemas.openxmlformats.org/drawingml/2006/main">
              <a:ext uri="{FF2B5EF4-FFF2-40B4-BE49-F238E27FC236}">
                <a16:creationId xmlns:a16="http://schemas.microsoft.com/office/drawing/2014/main" id="{B6889099-2052-4CDA-A8E7-C7BF8C48EEF2}"/>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102" name="">
            <a:extLst xmlns:a="http://schemas.openxmlformats.org/drawingml/2006/main">
              <a:ext uri="{FF2B5EF4-FFF2-40B4-BE49-F238E27FC236}">
                <a16:creationId xmlns:a16="http://schemas.microsoft.com/office/drawing/2014/main" id="{4619AB07-C3F0-4A38-B41A-5EF934ADE57A}"/>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类目标客户</a:t>
            </a:r>
          </a:p>
        </p:txBody>
      </p:sp>
      <p:sp>
        <p:nvSpPr>
          <p:cNvPr id="103" name="">
            <a:extLst xmlns:a="http://schemas.openxmlformats.org/drawingml/2006/main">
              <a:ext uri="{FF2B5EF4-FFF2-40B4-BE49-F238E27FC236}">
                <a16:creationId xmlns:a16="http://schemas.microsoft.com/office/drawing/2014/main" id="{1D75942B-2452-4042-AF55-CCCF00404613}"/>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alpha val="50000"/>
              </a:srgbClr>
            </a:solidFill>
            <a:prstDash val="solid"/>
          </a:ln>
        </p:spPr>
      </p:sp>
      <p:sp>
        <p:nvSpPr>
          <p:cNvPr id="104" name="">
            <a:extLst xmlns:a="http://schemas.openxmlformats.org/drawingml/2006/main">
              <a:ext uri="{FF2B5EF4-FFF2-40B4-BE49-F238E27FC236}">
                <a16:creationId xmlns:a16="http://schemas.microsoft.com/office/drawing/2014/main" id="{BA92D600-2249-422E-AF21-086F2553C1E4}"/>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105" name="">
            <a:extLst xmlns:a="http://schemas.openxmlformats.org/drawingml/2006/main">
              <a:ext uri="{FF2B5EF4-FFF2-40B4-BE49-F238E27FC236}">
                <a16:creationId xmlns:a16="http://schemas.microsoft.com/office/drawing/2014/main" id="{02B1AB73-497D-494F-A473-5110B8D42867}"/>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6" name="">
            <a:extLst xmlns:a="http://schemas.openxmlformats.org/drawingml/2006/main">
              <a:ext uri="{FF2B5EF4-FFF2-40B4-BE49-F238E27FC236}">
                <a16:creationId xmlns:a16="http://schemas.microsoft.com/office/drawing/2014/main" id="{AD03BC52-9EC1-491A-84A0-27C5309AAA0F}"/>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阶段演进路径</a:t>
            </a:r>
          </a:p>
        </p:txBody>
      </p:sp>
      <p:sp>
        <p:nvSpPr>
          <p:cNvPr id="107" name="">
            <a:extLst xmlns:a="http://schemas.openxmlformats.org/drawingml/2006/main">
              <a:ext uri="{FF2B5EF4-FFF2-40B4-BE49-F238E27FC236}">
                <a16:creationId xmlns:a16="http://schemas.microsoft.com/office/drawing/2014/main" id="{11C588D7-16A3-4481-8410-392EB84DE2BF}"/>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5FE3A1"/>
              </a:gs>
              <a:gs pos="100000">
                <a:srgbClr val="5FE3A1">
                  <a:alpha val="0"/>
                </a:srgbClr>
              </a:gs>
            </a:gsLst>
            <a:lin ang="0"/>
          </a:gradFill>
          <a:ln xmlns:a="http://schemas.openxmlformats.org/drawingml/2006/main" w="0">
            <a:solidFill>
              <a:srgbClr val="000000"/>
            </a:solidFill>
            <a:prstDash val="solid"/>
          </a:ln>
        </p:spPr>
      </p:sp>
      <p:sp>
        <p:nvSpPr>
          <p:cNvPr id="108" name="">
            <a:extLst xmlns:a="http://schemas.openxmlformats.org/drawingml/2006/main">
              <a:ext uri="{FF2B5EF4-FFF2-40B4-BE49-F238E27FC236}">
                <a16:creationId xmlns:a16="http://schemas.microsoft.com/office/drawing/2014/main" id="{22B86FC8-98DF-439D-B565-5E3B49FBD9FE}"/>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5FE3A1">
              <a:alpha val="60000"/>
            </a:srgbClr>
          </a:solidFill>
          <a:ln xmlns:a="http://schemas.openxmlformats.org/drawingml/2006/main" w="0">
            <a:solidFill>
              <a:srgbClr val="000000"/>
            </a:solidFill>
            <a:prstDash val="solid"/>
          </a:ln>
        </p:spPr>
      </p:sp>
      <p:sp>
        <p:nvSpPr>
          <p:cNvPr id="109" name="">
            <a:extLst xmlns:a="http://schemas.openxmlformats.org/drawingml/2006/main">
              <a:ext uri="{FF2B5EF4-FFF2-40B4-BE49-F238E27FC236}">
                <a16:creationId xmlns:a16="http://schemas.microsoft.com/office/drawing/2014/main" id="{010CE585-38CB-4B4C-89C5-FE23715150AF}"/>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5FE3A1">
              <a:alpha val="60000"/>
            </a:srgbClr>
          </a:solidFill>
          <a:ln xmlns:a="http://schemas.openxmlformats.org/drawingml/2006/main" w="0">
            <a:solidFill>
              <a:srgbClr val="000000"/>
            </a:solidFill>
            <a:prstDash val="solid"/>
          </a:ln>
        </p:spPr>
      </p:sp>
      <p:sp>
        <p:nvSpPr>
          <p:cNvPr id="110" name="">
            <a:extLst xmlns:a="http://schemas.openxmlformats.org/drawingml/2006/main">
              <a:ext uri="{FF2B5EF4-FFF2-40B4-BE49-F238E27FC236}">
                <a16:creationId xmlns:a16="http://schemas.microsoft.com/office/drawing/2014/main" id="{4A9349CC-ACB8-49C3-A3F9-A1C8071AC6E2}"/>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5FE3A1">
              <a:alpha val="60000"/>
            </a:srgbClr>
          </a:solidFill>
          <a:ln xmlns:a="http://schemas.openxmlformats.org/drawingml/2006/main" w="0">
            <a:solidFill>
              <a:srgbClr val="000000"/>
            </a:solidFill>
            <a:prstDash val="solid"/>
          </a:ln>
        </p:spPr>
      </p:sp>
    </p:spTree>
    <p:extLst>
      <p:ext uri="{BB962C8B-B14F-4D97-AF65-F5344CB8AC3E}">
        <p14:creationId xmlns:p14="http://schemas.microsoft.com/office/powerpoint/2010/main" val="1089131504"/>
      </p:ext>
    </p:extLst>
  </p:cSld>
</p:sld>
</file>

<file path=ppt/slides/slide3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e29d57efb13a428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67DA50-3F12-48EC-93D8-A3124F4A27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38B9B047-3C96-4FE0-A54F-A5C19FB5F978}"/>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AF5185D0-83B6-4C53-AB22-603AEDB70744}"/>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2EB89F35-199F-423C-8DEE-A524CCDB821E}"/>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772FEA56-CDD7-4F62-9FF2-28777A2F9C4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396778B0-1BD9-49BA-8794-67B85C71A920}"/>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DE7BCC74-9B4F-47F7-A2A7-1D589138A8A8}"/>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956245D0-0D92-44AB-8A6E-B7E4BA3F4AC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41DE59CE-23A7-4788-A8B3-32B0F042FBFB}"/>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6F21F310-C39E-4462-8716-1345B1A59E7D}"/>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CEEAAA9D-D167-4DE0-BAAF-687EAEFB17B9}"/>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641CF676-CE02-4C22-9FA0-999A889AFBF6}"/>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8D826E96-B9E4-4CC8-9848-A6E940985DC6}"/>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已有基础与成果沉淀</a:t>
            </a:r>
          </a:p>
        </p:txBody>
      </p:sp>
      <p:sp>
        <p:nvSpPr>
          <p:cNvPr id="15" name="">
            <a:extLst xmlns:a="http://schemas.openxmlformats.org/drawingml/2006/main">
              <a:ext uri="{FF2B5EF4-FFF2-40B4-BE49-F238E27FC236}">
                <a16:creationId xmlns:a16="http://schemas.microsoft.com/office/drawing/2014/main" id="{88D6B650-A16C-44F7-A005-F78BACB249D1}"/>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C1B233E2-03C5-4488-BE9E-5D6EED35C510}"/>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37A54846-4F59-430D-B36C-BADE079B2E5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ECDBEE35-3499-4189-BC24-5EF4708E92B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E4D9A33E-B64E-412D-A7DA-249A89777FF7}"/>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本项目不是从零脑补：可运行系统、验收记录与全套文档均已就位；外部成果按实填写，不虚构。</a:t>
            </a:r>
          </a:p>
        </p:txBody>
      </p:sp>
      <p:sp>
        <p:nvSpPr>
          <p:cNvPr id="20" name="">
            <a:extLst xmlns:a="http://schemas.openxmlformats.org/drawingml/2006/main">
              <a:ext uri="{FF2B5EF4-FFF2-40B4-BE49-F238E27FC236}">
                <a16:creationId xmlns:a16="http://schemas.microsoft.com/office/drawing/2014/main" id="{01E65782-AF88-4545-87F0-BBAD0563F3BB}"/>
              </a:ext>
            </a:extLst>
          </p:cNvPr>
          <p:cNvSpPr>
            <a:spLocks xmlns:a="http://schemas.openxmlformats.org/drawingml/2006/main" noGrp="1"/>
          </p:cNvSpPr>
          <p:nvPr/>
        </p:nvSpPr>
        <p:spPr>
          <a:xfrm xmlns:a="http://schemas.openxmlformats.org/drawingml/2006/main">
            <a:off x="2857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5FE3A1"/>
                </a:solidFill>
                <a:latin typeface="微软雅黑"/>
                <a:ea typeface="微软雅黑"/>
                <a:cs typeface="微软雅黑"/>
              </a:defRPr>
            </a:pPr>
            <a:r>
              <a:rPr sz="1088" b="1">
                <a:solidFill>
                  <a:srgbClr val="5FE3A1"/>
                </a:solidFill>
                <a:latin typeface="微软雅黑"/>
                <a:ea typeface="微软雅黑"/>
                <a:cs typeface="微软雅黑"/>
              </a:rPr>
              <a:t>一、已具备的研发与落地基础（可现场核验）</a:t>
            </a:r>
          </a:p>
        </p:txBody>
      </p:sp>
      <p:sp>
        <p:nvSpPr>
          <p:cNvPr id="21" name="">
            <a:extLst xmlns:a="http://schemas.openxmlformats.org/drawingml/2006/main">
              <a:ext uri="{FF2B5EF4-FFF2-40B4-BE49-F238E27FC236}">
                <a16:creationId xmlns:a16="http://schemas.microsoft.com/office/drawing/2014/main" id="{F6B550D7-5EC0-4574-BBCB-E9CCCE1D6E5D}"/>
              </a:ext>
            </a:extLst>
          </p:cNvPr>
          <p:cNvSpPr>
            <a:spLocks xmlns:a="http://schemas.openxmlformats.org/drawingml/2006/main" noGrp="1"/>
          </p:cNvSpPr>
          <p:nvPr/>
        </p:nvSpPr>
        <p:spPr>
          <a:xfrm xmlns:a="http://schemas.openxmlformats.org/drawingml/2006/main">
            <a:off x="285750" y="1638300"/>
            <a:ext cx="57531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2" name="">
            <a:extLst xmlns:a="http://schemas.openxmlformats.org/drawingml/2006/main">
              <a:ext uri="{FF2B5EF4-FFF2-40B4-BE49-F238E27FC236}">
                <a16:creationId xmlns:a16="http://schemas.microsoft.com/office/drawing/2014/main" id="{9083B45E-930E-4908-87B1-C9B8974E2D3C}"/>
              </a:ext>
            </a:extLst>
          </p:cNvPr>
          <p:cNvSpPr>
            <a:spLocks xmlns:a="http://schemas.openxmlformats.org/drawingml/2006/main" noGrp="1"/>
          </p:cNvSpPr>
          <p:nvPr/>
        </p:nvSpPr>
        <p:spPr>
          <a:xfrm xmlns:a="http://schemas.openxmlformats.org/drawingml/2006/main">
            <a:off x="419100" y="173355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可运行系统</a:t>
            </a:r>
          </a:p>
        </p:txBody>
      </p:sp>
      <p:sp>
        <p:nvSpPr>
          <p:cNvPr id="23" name="">
            <a:extLst xmlns:a="http://schemas.openxmlformats.org/drawingml/2006/main">
              <a:ext uri="{FF2B5EF4-FFF2-40B4-BE49-F238E27FC236}">
                <a16:creationId xmlns:a16="http://schemas.microsoft.com/office/drawing/2014/main" id="{4D2C31A6-1C2D-4F2A-98A8-07081F800FEF}"/>
              </a:ext>
            </a:extLst>
          </p:cNvPr>
          <p:cNvSpPr>
            <a:spLocks xmlns:a="http://schemas.openxmlformats.org/drawingml/2006/main" noGrp="1"/>
          </p:cNvSpPr>
          <p:nvPr/>
        </p:nvSpPr>
        <p:spPr>
          <a:xfrm xmlns:a="http://schemas.openxmlformats.org/drawingml/2006/main">
            <a:off x="1638300" y="173355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1 </a:t>
            </a:r>
            <a:r>
              <a:rPr sz="863" b="0">
                <a:solidFill>
                  <a:srgbClr val="EEF5FF"/>
                </a:solidFill>
                <a:latin typeface="微软雅黑"/>
                <a:ea typeface="微软雅黑"/>
                <a:cs typeface="微软雅黑"/>
              </a:rPr>
              <a:t>套：</a:t>
            </a:r>
            <a:r>
              <a:rPr sz="863" b="0">
                <a:solidFill>
                  <a:srgbClr val="EEF5FF"/>
                </a:solidFill>
                <a:latin typeface="微软雅黑"/>
                <a:ea typeface="微软雅黑"/>
                <a:cs typeface="微软雅黑"/>
              </a:rPr>
              <a:t>Vue 3 </a:t>
            </a:r>
            <a:r>
              <a:rPr sz="863" b="0">
                <a:solidFill>
                  <a:srgbClr val="EEF5FF"/>
                </a:solidFill>
                <a:latin typeface="微软雅黑"/>
                <a:ea typeface="微软雅黑"/>
                <a:cs typeface="微软雅黑"/>
              </a:rPr>
              <a:t>前端 </a:t>
            </a:r>
            <a:r>
              <a:rPr sz="863" b="0">
                <a:solidFill>
                  <a:srgbClr val="EEF5FF"/>
                </a:solidFill>
                <a:latin typeface="微软雅黑"/>
                <a:ea typeface="微软雅黑"/>
                <a:cs typeface="微软雅黑"/>
              </a:rPr>
              <a:t>+ Spring Boot </a:t>
            </a:r>
            <a:r>
              <a:rPr sz="863" b="0">
                <a:solidFill>
                  <a:srgbClr val="EEF5FF"/>
                </a:solidFill>
                <a:latin typeface="微软雅黑"/>
                <a:ea typeface="微软雅黑"/>
                <a:cs typeface="微软雅黑"/>
              </a:rPr>
              <a:t>后端 </a:t>
            </a:r>
            <a:r>
              <a:rPr sz="863" b="0">
                <a:solidFill>
                  <a:srgbClr val="EEF5FF"/>
                </a:solidFill>
                <a:latin typeface="微软雅黑"/>
                <a:ea typeface="微软雅黑"/>
                <a:cs typeface="微软雅黑"/>
              </a:rPr>
              <a:t>+ MySQL 8</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Docker Compose </a:t>
            </a:r>
            <a:r>
              <a:rPr sz="863" b="0">
                <a:solidFill>
                  <a:srgbClr val="EEF5FF"/>
                </a:solidFill>
                <a:latin typeface="微软雅黑"/>
                <a:ea typeface="微软雅黑"/>
                <a:cs typeface="微软雅黑"/>
              </a:rPr>
              <a:t>一键部署</a:t>
            </a:r>
          </a:p>
        </p:txBody>
      </p:sp>
      <p:sp>
        <p:nvSpPr>
          <p:cNvPr id="24" name="">
            <a:extLst xmlns:a="http://schemas.openxmlformats.org/drawingml/2006/main">
              <a:ext uri="{FF2B5EF4-FFF2-40B4-BE49-F238E27FC236}">
                <a16:creationId xmlns:a16="http://schemas.microsoft.com/office/drawing/2014/main" id="{86E4E2FF-1BC9-4E9F-AF1F-E170B0E2D68B}"/>
              </a:ext>
            </a:extLst>
          </p:cNvPr>
          <p:cNvSpPr>
            <a:spLocks xmlns:a="http://schemas.openxmlformats.org/drawingml/2006/main" noGrp="1"/>
          </p:cNvSpPr>
          <p:nvPr/>
        </p:nvSpPr>
        <p:spPr>
          <a:xfrm xmlns:a="http://schemas.openxmlformats.org/drawingml/2006/main">
            <a:off x="285750" y="2114550"/>
            <a:ext cx="57531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E7D9753B-28F5-4AD7-AE94-F8389899A29D}"/>
              </a:ext>
            </a:extLst>
          </p:cNvPr>
          <p:cNvSpPr>
            <a:spLocks xmlns:a="http://schemas.openxmlformats.org/drawingml/2006/main" noGrp="1"/>
          </p:cNvSpPr>
          <p:nvPr/>
        </p:nvSpPr>
        <p:spPr>
          <a:xfrm xmlns:a="http://schemas.openxmlformats.org/drawingml/2006/main">
            <a:off x="419100" y="220980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数据库与脚本</a:t>
            </a:r>
          </a:p>
        </p:txBody>
      </p:sp>
      <p:sp>
        <p:nvSpPr>
          <p:cNvPr id="26" name="">
            <a:extLst xmlns:a="http://schemas.openxmlformats.org/drawingml/2006/main">
              <a:ext uri="{FF2B5EF4-FFF2-40B4-BE49-F238E27FC236}">
                <a16:creationId xmlns:a16="http://schemas.microsoft.com/office/drawing/2014/main" id="{82E36EC8-02A2-46EF-9D09-8A2EF01BA835}"/>
              </a:ext>
            </a:extLst>
          </p:cNvPr>
          <p:cNvSpPr>
            <a:spLocks xmlns:a="http://schemas.openxmlformats.org/drawingml/2006/main" noGrp="1"/>
          </p:cNvSpPr>
          <p:nvPr/>
        </p:nvSpPr>
        <p:spPr>
          <a:xfrm xmlns:a="http://schemas.openxmlformats.org/drawingml/2006/main">
            <a:off x="1638300" y="220980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11 </a:t>
            </a:r>
            <a:r>
              <a:rPr sz="863" b="0">
                <a:solidFill>
                  <a:srgbClr val="EEF5FF"/>
                </a:solidFill>
                <a:latin typeface="微软雅黑"/>
                <a:ea typeface="微软雅黑"/>
                <a:cs typeface="微软雅黑"/>
              </a:rPr>
              <a:t>个建库脚本（</a:t>
            </a:r>
            <a:r>
              <a:rPr sz="863" b="0">
                <a:solidFill>
                  <a:srgbClr val="EEF5FF"/>
                </a:solidFill>
                <a:latin typeface="微软雅黑"/>
                <a:ea typeface="微软雅黑"/>
                <a:cs typeface="微软雅黑"/>
              </a:rPr>
              <a:t>001~011</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53 </a:t>
            </a:r>
            <a:r>
              <a:rPr sz="863" b="0">
                <a:solidFill>
                  <a:srgbClr val="EEF5FF"/>
                </a:solidFill>
                <a:latin typeface="微软雅黑"/>
                <a:ea typeface="微软雅黑"/>
                <a:cs typeface="微软雅黑"/>
              </a:rPr>
              <a:t>张表，可重复执行、幂等</a:t>
            </a:r>
          </a:p>
        </p:txBody>
      </p:sp>
      <p:sp>
        <p:nvSpPr>
          <p:cNvPr id="27" name="">
            <a:extLst xmlns:a="http://schemas.openxmlformats.org/drawingml/2006/main">
              <a:ext uri="{FF2B5EF4-FFF2-40B4-BE49-F238E27FC236}">
                <a16:creationId xmlns:a16="http://schemas.microsoft.com/office/drawing/2014/main" id="{C7FB50B6-E7D8-4E5F-9265-0302BE2BA690}"/>
              </a:ext>
            </a:extLst>
          </p:cNvPr>
          <p:cNvSpPr>
            <a:spLocks xmlns:a="http://schemas.openxmlformats.org/drawingml/2006/main" noGrp="1"/>
          </p:cNvSpPr>
          <p:nvPr/>
        </p:nvSpPr>
        <p:spPr>
          <a:xfrm xmlns:a="http://schemas.openxmlformats.org/drawingml/2006/main">
            <a:off x="285750" y="2590800"/>
            <a:ext cx="57531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FA15660E-1FF8-4015-824C-8E90672D379A}"/>
              </a:ext>
            </a:extLst>
          </p:cNvPr>
          <p:cNvSpPr>
            <a:spLocks xmlns:a="http://schemas.openxmlformats.org/drawingml/2006/main" noGrp="1"/>
          </p:cNvSpPr>
          <p:nvPr/>
        </p:nvSpPr>
        <p:spPr>
          <a:xfrm xmlns:a="http://schemas.openxmlformats.org/drawingml/2006/main">
            <a:off x="419100" y="268605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规则资产</a:t>
            </a:r>
          </a:p>
        </p:txBody>
      </p:sp>
      <p:sp>
        <p:nvSpPr>
          <p:cNvPr id="29" name="">
            <a:extLst xmlns:a="http://schemas.openxmlformats.org/drawingml/2006/main">
              <a:ext uri="{FF2B5EF4-FFF2-40B4-BE49-F238E27FC236}">
                <a16:creationId xmlns:a16="http://schemas.microsoft.com/office/drawing/2014/main" id="{F98E5CDA-0F41-4E9A-AE80-D46A649E9B5E}"/>
              </a:ext>
            </a:extLst>
          </p:cNvPr>
          <p:cNvSpPr>
            <a:spLocks xmlns:a="http://schemas.openxmlformats.org/drawingml/2006/main" noGrp="1"/>
          </p:cNvSpPr>
          <p:nvPr/>
        </p:nvSpPr>
        <p:spPr>
          <a:xfrm xmlns:a="http://schemas.openxmlformats.org/drawingml/2006/main">
            <a:off x="1638300" y="268605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18 </a:t>
            </a:r>
            <a:r>
              <a:rPr sz="863" b="0">
                <a:solidFill>
                  <a:srgbClr val="EEF5FF"/>
                </a:solidFill>
                <a:latin typeface="微软雅黑"/>
                <a:ea typeface="微软雅黑"/>
                <a:cs typeface="微软雅黑"/>
              </a:rPr>
              <a:t>条启用规则，覆盖 </a:t>
            </a:r>
            <a:r>
              <a:rPr sz="863" b="0">
                <a:solidFill>
                  <a:srgbClr val="EEF5FF"/>
                </a:solidFill>
                <a:latin typeface="微软雅黑"/>
                <a:ea typeface="微软雅黑"/>
                <a:cs typeface="微软雅黑"/>
              </a:rPr>
              <a:t>5 </a:t>
            </a:r>
            <a:r>
              <a:rPr sz="863" b="0">
                <a:solidFill>
                  <a:srgbClr val="EEF5FF"/>
                </a:solidFill>
                <a:latin typeface="微软雅黑"/>
                <a:ea typeface="微软雅黑"/>
                <a:cs typeface="微软雅黑"/>
              </a:rPr>
              <a:t>个场景、</a:t>
            </a:r>
            <a:r>
              <a:rPr sz="863" b="0">
                <a:solidFill>
                  <a:srgbClr val="EEF5FF"/>
                </a:solidFill>
                <a:latin typeface="微软雅黑"/>
                <a:ea typeface="微软雅黑"/>
                <a:cs typeface="微软雅黑"/>
              </a:rPr>
              <a:t>3 </a:t>
            </a:r>
            <a:r>
              <a:rPr sz="863" b="0">
                <a:solidFill>
                  <a:srgbClr val="EEF5FF"/>
                </a:solidFill>
                <a:latin typeface="微软雅黑"/>
                <a:ea typeface="微软雅黑"/>
                <a:cs typeface="微软雅黑"/>
              </a:rPr>
              <a:t>个匹配分组，含 </a:t>
            </a:r>
            <a:r>
              <a:rPr sz="863" b="0">
                <a:solidFill>
                  <a:srgbClr val="EEF5FF"/>
                </a:solidFill>
                <a:latin typeface="微软雅黑"/>
                <a:ea typeface="微软雅黑"/>
                <a:cs typeface="微软雅黑"/>
              </a:rPr>
              <a:t>7 </a:t>
            </a:r>
            <a:r>
              <a:rPr sz="863" b="0">
                <a:solidFill>
                  <a:srgbClr val="EEF5FF"/>
                </a:solidFill>
                <a:latin typeface="微软雅黑"/>
                <a:ea typeface="微软雅黑"/>
                <a:cs typeface="微软雅黑"/>
              </a:rPr>
              <a:t>条气体关键词规则</a:t>
            </a:r>
          </a:p>
        </p:txBody>
      </p:sp>
      <p:sp>
        <p:nvSpPr>
          <p:cNvPr id="30" name="">
            <a:extLst xmlns:a="http://schemas.openxmlformats.org/drawingml/2006/main">
              <a:ext uri="{FF2B5EF4-FFF2-40B4-BE49-F238E27FC236}">
                <a16:creationId xmlns:a16="http://schemas.microsoft.com/office/drawing/2014/main" id="{C9D0F7F3-C95C-477F-A540-E835B08F106A}"/>
              </a:ext>
            </a:extLst>
          </p:cNvPr>
          <p:cNvSpPr>
            <a:spLocks xmlns:a="http://schemas.openxmlformats.org/drawingml/2006/main" noGrp="1"/>
          </p:cNvSpPr>
          <p:nvPr/>
        </p:nvSpPr>
        <p:spPr>
          <a:xfrm xmlns:a="http://schemas.openxmlformats.org/drawingml/2006/main">
            <a:off x="285750" y="3067050"/>
            <a:ext cx="57531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3E389F43-E923-46C9-86EB-ACFA3BE26FD4}"/>
              </a:ext>
            </a:extLst>
          </p:cNvPr>
          <p:cNvSpPr>
            <a:spLocks xmlns:a="http://schemas.openxmlformats.org/drawingml/2006/main" noGrp="1"/>
          </p:cNvSpPr>
          <p:nvPr/>
        </p:nvSpPr>
        <p:spPr>
          <a:xfrm xmlns:a="http://schemas.openxmlformats.org/drawingml/2006/main">
            <a:off x="419100" y="316230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验收记录</a:t>
            </a:r>
          </a:p>
        </p:txBody>
      </p:sp>
      <p:sp>
        <p:nvSpPr>
          <p:cNvPr id="32" name="">
            <a:extLst xmlns:a="http://schemas.openxmlformats.org/drawingml/2006/main">
              <a:ext uri="{FF2B5EF4-FFF2-40B4-BE49-F238E27FC236}">
                <a16:creationId xmlns:a16="http://schemas.microsoft.com/office/drawing/2014/main" id="{C5BF6074-6C0F-4A58-B70C-D865E5FD493F}"/>
              </a:ext>
            </a:extLst>
          </p:cNvPr>
          <p:cNvSpPr>
            <a:spLocks xmlns:a="http://schemas.openxmlformats.org/drawingml/2006/main" noGrp="1"/>
          </p:cNvSpPr>
          <p:nvPr/>
        </p:nvSpPr>
        <p:spPr>
          <a:xfrm xmlns:a="http://schemas.openxmlformats.org/drawingml/2006/main">
            <a:off x="1638300" y="316230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五层测试验收记录、规则回归结果、数据库留痕链、越权拦截记录</a:t>
            </a:r>
          </a:p>
        </p:txBody>
      </p:sp>
      <p:sp>
        <p:nvSpPr>
          <p:cNvPr id="33" name="">
            <a:extLst xmlns:a="http://schemas.openxmlformats.org/drawingml/2006/main">
              <a:ext uri="{FF2B5EF4-FFF2-40B4-BE49-F238E27FC236}">
                <a16:creationId xmlns:a16="http://schemas.microsoft.com/office/drawing/2014/main" id="{2D65248C-38C8-4916-894C-E2B9336CC4E6}"/>
              </a:ext>
            </a:extLst>
          </p:cNvPr>
          <p:cNvSpPr>
            <a:spLocks xmlns:a="http://schemas.openxmlformats.org/drawingml/2006/main" noGrp="1"/>
          </p:cNvSpPr>
          <p:nvPr/>
        </p:nvSpPr>
        <p:spPr>
          <a:xfrm xmlns:a="http://schemas.openxmlformats.org/drawingml/2006/main">
            <a:off x="285750" y="3543300"/>
            <a:ext cx="57531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4" name="">
            <a:extLst xmlns:a="http://schemas.openxmlformats.org/drawingml/2006/main">
              <a:ext uri="{FF2B5EF4-FFF2-40B4-BE49-F238E27FC236}">
                <a16:creationId xmlns:a16="http://schemas.microsoft.com/office/drawing/2014/main" id="{BBC21D69-3755-4398-966C-29F19E0B5792}"/>
              </a:ext>
            </a:extLst>
          </p:cNvPr>
          <p:cNvSpPr>
            <a:spLocks xmlns:a="http://schemas.openxmlformats.org/drawingml/2006/main" noGrp="1"/>
          </p:cNvSpPr>
          <p:nvPr/>
        </p:nvSpPr>
        <p:spPr>
          <a:xfrm xmlns:a="http://schemas.openxmlformats.org/drawingml/2006/main">
            <a:off x="419100" y="363855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系统截图</a:t>
            </a:r>
          </a:p>
        </p:txBody>
      </p:sp>
      <p:sp>
        <p:nvSpPr>
          <p:cNvPr id="35" name="">
            <a:extLst xmlns:a="http://schemas.openxmlformats.org/drawingml/2006/main">
              <a:ext uri="{FF2B5EF4-FFF2-40B4-BE49-F238E27FC236}">
                <a16:creationId xmlns:a16="http://schemas.microsoft.com/office/drawing/2014/main" id="{76520B02-5219-4CC8-A800-5A26C111F211}"/>
              </a:ext>
            </a:extLst>
          </p:cNvPr>
          <p:cNvSpPr>
            <a:spLocks xmlns:a="http://schemas.openxmlformats.org/drawingml/2006/main" noGrp="1"/>
          </p:cNvSpPr>
          <p:nvPr/>
        </p:nvSpPr>
        <p:spPr>
          <a:xfrm xmlns:a="http://schemas.openxmlformats.org/drawingml/2006/main">
            <a:off x="1638300" y="363855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班组长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管理者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管理员四端核心页面截图（本 </a:t>
            </a:r>
            <a:r>
              <a:rPr sz="863" b="0">
                <a:solidFill>
                  <a:srgbClr val="EEF5FF"/>
                </a:solidFill>
                <a:latin typeface="微软雅黑"/>
                <a:ea typeface="微软雅黑"/>
                <a:cs typeface="微软雅黑"/>
              </a:rPr>
              <a:t>PPT </a:t>
            </a:r>
            <a:r>
              <a:rPr sz="863" b="0">
                <a:solidFill>
                  <a:srgbClr val="EEF5FF"/>
                </a:solidFill>
                <a:latin typeface="微软雅黑"/>
                <a:ea typeface="微软雅黑"/>
                <a:cs typeface="微软雅黑"/>
              </a:rPr>
              <a:t>第 </a:t>
            </a:r>
            <a:r>
              <a:rPr sz="863" b="0">
                <a:solidFill>
                  <a:srgbClr val="EEF5FF"/>
                </a:solidFill>
                <a:latin typeface="微软雅黑"/>
                <a:ea typeface="微软雅黑"/>
                <a:cs typeface="微软雅黑"/>
              </a:rPr>
              <a:t>21~25 </a:t>
            </a:r>
            <a:r>
              <a:rPr sz="863" b="0">
                <a:solidFill>
                  <a:srgbClr val="EEF5FF"/>
                </a:solidFill>
                <a:latin typeface="微软雅黑"/>
                <a:ea typeface="微软雅黑"/>
                <a:cs typeface="微软雅黑"/>
              </a:rPr>
              <a:t>页）</a:t>
            </a:r>
          </a:p>
        </p:txBody>
      </p:sp>
      <p:sp>
        <p:nvSpPr>
          <p:cNvPr id="36" name="">
            <a:extLst xmlns:a="http://schemas.openxmlformats.org/drawingml/2006/main">
              <a:ext uri="{FF2B5EF4-FFF2-40B4-BE49-F238E27FC236}">
                <a16:creationId xmlns:a16="http://schemas.microsoft.com/office/drawing/2014/main" id="{82F5C718-A2FD-4AF5-885A-5190016C4A50}"/>
              </a:ext>
            </a:extLst>
          </p:cNvPr>
          <p:cNvSpPr>
            <a:spLocks xmlns:a="http://schemas.openxmlformats.org/drawingml/2006/main" noGrp="1"/>
          </p:cNvSpPr>
          <p:nvPr/>
        </p:nvSpPr>
        <p:spPr>
          <a:xfrm xmlns:a="http://schemas.openxmlformats.org/drawingml/2006/main">
            <a:off x="285750" y="4019550"/>
            <a:ext cx="57531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79046A12-776A-461A-9C26-B1C0A5E4622D}"/>
              </a:ext>
            </a:extLst>
          </p:cNvPr>
          <p:cNvSpPr>
            <a:spLocks xmlns:a="http://schemas.openxmlformats.org/drawingml/2006/main" noGrp="1"/>
          </p:cNvSpPr>
          <p:nvPr/>
        </p:nvSpPr>
        <p:spPr>
          <a:xfrm xmlns:a="http://schemas.openxmlformats.org/drawingml/2006/main">
            <a:off x="419100" y="4114800"/>
            <a:ext cx="1143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交付文档</a:t>
            </a:r>
          </a:p>
        </p:txBody>
      </p:sp>
      <p:sp>
        <p:nvSpPr>
          <p:cNvPr id="38" name="">
            <a:extLst xmlns:a="http://schemas.openxmlformats.org/drawingml/2006/main">
              <a:ext uri="{FF2B5EF4-FFF2-40B4-BE49-F238E27FC236}">
                <a16:creationId xmlns:a16="http://schemas.microsoft.com/office/drawing/2014/main" id="{1692C2B5-BCE2-4F8D-8E68-F4C4CCC1A5A7}"/>
              </a:ext>
            </a:extLst>
          </p:cNvPr>
          <p:cNvSpPr>
            <a:spLocks xmlns:a="http://schemas.openxmlformats.org/drawingml/2006/main" noGrp="1"/>
          </p:cNvSpPr>
          <p:nvPr/>
        </p:nvSpPr>
        <p:spPr>
          <a:xfrm xmlns:a="http://schemas.openxmlformats.org/drawingml/2006/main">
            <a:off x="1638300" y="4114800"/>
            <a:ext cx="42862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技术方案、技术报告、四人身份使用报告书、功能演示视频脚本、项目介绍</a:t>
            </a:r>
          </a:p>
        </p:txBody>
      </p:sp>
      <p:sp>
        <p:nvSpPr>
          <p:cNvPr id="39" name="">
            <a:extLst xmlns:a="http://schemas.openxmlformats.org/drawingml/2006/main">
              <a:ext uri="{FF2B5EF4-FFF2-40B4-BE49-F238E27FC236}">
                <a16:creationId xmlns:a16="http://schemas.microsoft.com/office/drawing/2014/main" id="{79E05481-56D5-49EB-A84B-2C3847C91EBB}"/>
              </a:ext>
            </a:extLst>
          </p:cNvPr>
          <p:cNvSpPr>
            <a:spLocks xmlns:a="http://schemas.openxmlformats.org/drawingml/2006/main" noGrp="1"/>
          </p:cNvSpPr>
          <p:nvPr/>
        </p:nvSpPr>
        <p:spPr>
          <a:xfrm xmlns:a="http://schemas.openxmlformats.org/drawingml/2006/main">
            <a:off x="285750" y="4572000"/>
            <a:ext cx="575310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0" name="">
            <a:extLst xmlns:a="http://schemas.openxmlformats.org/drawingml/2006/main">
              <a:ext uri="{FF2B5EF4-FFF2-40B4-BE49-F238E27FC236}">
                <a16:creationId xmlns:a16="http://schemas.microsoft.com/office/drawing/2014/main" id="{77505944-0A2B-4CA7-94F7-51BCE0D8CBB7}"/>
              </a:ext>
            </a:extLst>
          </p:cNvPr>
          <p:cNvSpPr>
            <a:spLocks xmlns:a="http://schemas.openxmlformats.org/drawingml/2006/main" noGrp="1"/>
          </p:cNvSpPr>
          <p:nvPr/>
        </p:nvSpPr>
        <p:spPr>
          <a:xfrm xmlns:a="http://schemas.openxmlformats.org/drawingml/2006/main">
            <a:off x="476250" y="4686300"/>
            <a:ext cx="53911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团队分工与协作机制（已在实施）</a:t>
            </a:r>
          </a:p>
        </p:txBody>
      </p:sp>
      <p:sp>
        <p:nvSpPr>
          <p:cNvPr id="41" name="">
            <a:extLst xmlns:a="http://schemas.openxmlformats.org/drawingml/2006/main">
              <a:ext uri="{FF2B5EF4-FFF2-40B4-BE49-F238E27FC236}">
                <a16:creationId xmlns:a16="http://schemas.microsoft.com/office/drawing/2014/main" id="{5ADAD707-29D1-41DC-87FF-2AD1F3D3E7E8}"/>
              </a:ext>
            </a:extLst>
          </p:cNvPr>
          <p:cNvSpPr>
            <a:spLocks xmlns:a="http://schemas.openxmlformats.org/drawingml/2006/main" noGrp="1"/>
          </p:cNvSpPr>
          <p:nvPr/>
        </p:nvSpPr>
        <p:spPr>
          <a:xfrm xmlns:a="http://schemas.openxmlformats.org/drawingml/2006/main">
            <a:off x="476250" y="501015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后端与规则引擎</a:t>
            </a:r>
          </a:p>
        </p:txBody>
      </p:sp>
      <p:sp>
        <p:nvSpPr>
          <p:cNvPr id="42" name="">
            <a:extLst xmlns:a="http://schemas.openxmlformats.org/drawingml/2006/main">
              <a:ext uri="{FF2B5EF4-FFF2-40B4-BE49-F238E27FC236}">
                <a16:creationId xmlns:a16="http://schemas.microsoft.com/office/drawing/2014/main" id="{ED7C0938-761F-41B9-8055-09E5B2533BB1}"/>
              </a:ext>
            </a:extLst>
          </p:cNvPr>
          <p:cNvSpPr>
            <a:spLocks xmlns:a="http://schemas.openxmlformats.org/drawingml/2006/main" noGrp="1"/>
          </p:cNvSpPr>
          <p:nvPr/>
        </p:nvSpPr>
        <p:spPr>
          <a:xfrm xmlns:a="http://schemas.openxmlformats.org/drawingml/2006/main">
            <a:off x="1752600" y="501015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规则表设计、</a:t>
            </a:r>
            <a:r>
              <a:rPr sz="825" b="0">
                <a:solidFill>
                  <a:srgbClr val="EEF5FF"/>
                </a:solidFill>
                <a:latin typeface="微软雅黑"/>
                <a:ea typeface="微软雅黑"/>
                <a:cs typeface="微软雅黑"/>
              </a:rPr>
              <a:t>RuleEngine </a:t>
            </a:r>
            <a:r>
              <a:rPr sz="825" b="0">
                <a:solidFill>
                  <a:srgbClr val="EEF5FF"/>
                </a:solidFill>
                <a:latin typeface="微软雅黑"/>
                <a:ea typeface="微软雅黑"/>
                <a:cs typeface="微软雅黑"/>
              </a:rPr>
              <a:t>匹配与分组、归因适配层、鉴权与审计接口</a:t>
            </a:r>
          </a:p>
        </p:txBody>
      </p:sp>
      <p:sp>
        <p:nvSpPr>
          <p:cNvPr id="43" name="">
            <a:extLst xmlns:a="http://schemas.openxmlformats.org/drawingml/2006/main">
              <a:ext uri="{FF2B5EF4-FFF2-40B4-BE49-F238E27FC236}">
                <a16:creationId xmlns:a16="http://schemas.microsoft.com/office/drawing/2014/main" id="{9B79A3AE-2A97-4024-B43A-646BD317C894}"/>
              </a:ext>
            </a:extLst>
          </p:cNvPr>
          <p:cNvSpPr>
            <a:spLocks xmlns:a="http://schemas.openxmlformats.org/drawingml/2006/main" noGrp="1"/>
          </p:cNvSpPr>
          <p:nvPr/>
        </p:nvSpPr>
        <p:spPr>
          <a:xfrm xmlns:a="http://schemas.openxmlformats.org/drawingml/2006/main">
            <a:off x="476250" y="53340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前端与交互</a:t>
            </a:r>
          </a:p>
        </p:txBody>
      </p:sp>
      <p:sp>
        <p:nvSpPr>
          <p:cNvPr id="44" name="">
            <a:extLst xmlns:a="http://schemas.openxmlformats.org/drawingml/2006/main">
              <a:ext uri="{FF2B5EF4-FFF2-40B4-BE49-F238E27FC236}">
                <a16:creationId xmlns:a16="http://schemas.microsoft.com/office/drawing/2014/main" id="{6CA76E5F-D3BB-455F-BB06-A80EB971A7EB}"/>
              </a:ext>
            </a:extLst>
          </p:cNvPr>
          <p:cNvSpPr>
            <a:spLocks xmlns:a="http://schemas.openxmlformats.org/drawingml/2006/main" noGrp="1"/>
          </p:cNvSpPr>
          <p:nvPr/>
        </p:nvSpPr>
        <p:spPr>
          <a:xfrm xmlns:a="http://schemas.openxmlformats.org/drawingml/2006/main">
            <a:off x="1752600" y="533400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四端界面：能力画像、组卷考试、班组报告、管理看板与配置后台</a:t>
            </a:r>
          </a:p>
        </p:txBody>
      </p:sp>
      <p:sp>
        <p:nvSpPr>
          <p:cNvPr id="45" name="">
            <a:extLst xmlns:a="http://schemas.openxmlformats.org/drawingml/2006/main">
              <a:ext uri="{FF2B5EF4-FFF2-40B4-BE49-F238E27FC236}">
                <a16:creationId xmlns:a16="http://schemas.microsoft.com/office/drawing/2014/main" id="{4ED1787C-98DD-44FB-9AE4-B50B6E2A00BF}"/>
              </a:ext>
            </a:extLst>
          </p:cNvPr>
          <p:cNvSpPr>
            <a:spLocks xmlns:a="http://schemas.openxmlformats.org/drawingml/2006/main" noGrp="1"/>
          </p:cNvSpPr>
          <p:nvPr/>
        </p:nvSpPr>
        <p:spPr>
          <a:xfrm xmlns:a="http://schemas.openxmlformats.org/drawingml/2006/main">
            <a:off x="476250" y="565785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数据与测试</a:t>
            </a:r>
          </a:p>
        </p:txBody>
      </p:sp>
      <p:sp>
        <p:nvSpPr>
          <p:cNvPr id="46" name="">
            <a:extLst xmlns:a="http://schemas.openxmlformats.org/drawingml/2006/main">
              <a:ext uri="{FF2B5EF4-FFF2-40B4-BE49-F238E27FC236}">
                <a16:creationId xmlns:a16="http://schemas.microsoft.com/office/drawing/2014/main" id="{810FD435-2646-4561-9467-F6049AC0080C}"/>
              </a:ext>
            </a:extLst>
          </p:cNvPr>
          <p:cNvSpPr>
            <a:spLocks xmlns:a="http://schemas.openxmlformats.org/drawingml/2006/main" noGrp="1"/>
          </p:cNvSpPr>
          <p:nvPr/>
        </p:nvSpPr>
        <p:spPr>
          <a:xfrm xmlns:a="http://schemas.openxmlformats.org/drawingml/2006/main">
            <a:off x="1752600" y="565785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建库脚本 </a:t>
            </a:r>
            <a:r>
              <a:rPr sz="825" b="0">
                <a:solidFill>
                  <a:srgbClr val="EEF5FF"/>
                </a:solidFill>
                <a:latin typeface="微软雅黑"/>
                <a:ea typeface="微软雅黑"/>
                <a:cs typeface="微软雅黑"/>
              </a:rPr>
              <a:t>001~011</a:t>
            </a:r>
            <a:r>
              <a:rPr sz="825" b="0">
                <a:solidFill>
                  <a:srgbClr val="EEF5FF"/>
                </a:solidFill>
                <a:latin typeface="微软雅黑"/>
                <a:ea typeface="微软雅黑"/>
                <a:cs typeface="微软雅黑"/>
              </a:rPr>
              <a:t>、种子数据、五层测试验收与规则回归用例</a:t>
            </a:r>
          </a:p>
        </p:txBody>
      </p:sp>
      <p:sp>
        <p:nvSpPr>
          <p:cNvPr id="47" name="">
            <a:extLst xmlns:a="http://schemas.openxmlformats.org/drawingml/2006/main">
              <a:ext uri="{FF2B5EF4-FFF2-40B4-BE49-F238E27FC236}">
                <a16:creationId xmlns:a16="http://schemas.microsoft.com/office/drawing/2014/main" id="{A4428BAE-8A75-4CBC-9859-5F8933F198AA}"/>
              </a:ext>
            </a:extLst>
          </p:cNvPr>
          <p:cNvSpPr>
            <a:spLocks xmlns:a="http://schemas.openxmlformats.org/drawingml/2006/main" noGrp="1"/>
          </p:cNvSpPr>
          <p:nvPr/>
        </p:nvSpPr>
        <p:spPr>
          <a:xfrm xmlns:a="http://schemas.openxmlformats.org/drawingml/2006/main">
            <a:off x="476250" y="5981700"/>
            <a:ext cx="1238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文档与合规</a:t>
            </a:r>
          </a:p>
        </p:txBody>
      </p:sp>
      <p:sp>
        <p:nvSpPr>
          <p:cNvPr id="48" name="">
            <a:extLst xmlns:a="http://schemas.openxmlformats.org/drawingml/2006/main">
              <a:ext uri="{FF2B5EF4-FFF2-40B4-BE49-F238E27FC236}">
                <a16:creationId xmlns:a16="http://schemas.microsoft.com/office/drawing/2014/main" id="{9BE0DC85-72FA-4162-89E3-E6678C3980EA}"/>
              </a:ext>
            </a:extLst>
          </p:cNvPr>
          <p:cNvSpPr>
            <a:spLocks xmlns:a="http://schemas.openxmlformats.org/drawingml/2006/main" noGrp="1"/>
          </p:cNvSpPr>
          <p:nvPr/>
        </p:nvSpPr>
        <p:spPr>
          <a:xfrm xmlns:a="http://schemas.openxmlformats.org/drawingml/2006/main">
            <a:off x="1752600" y="5981700"/>
            <a:ext cx="41338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技术方案、技术报告、使用报告书、演示脚本与合规伦理说明</a:t>
            </a:r>
          </a:p>
        </p:txBody>
      </p:sp>
      <p:sp>
        <p:nvSpPr>
          <p:cNvPr id="49" name="">
            <a:extLst xmlns:a="http://schemas.openxmlformats.org/drawingml/2006/main">
              <a:ext uri="{FF2B5EF4-FFF2-40B4-BE49-F238E27FC236}">
                <a16:creationId xmlns:a16="http://schemas.microsoft.com/office/drawing/2014/main" id="{6A13C651-EDA0-493A-A6D6-3B6898AE5A22}"/>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二、团队与外部成果清单（按实填写，留空处待补）</a:t>
            </a:r>
          </a:p>
        </p:txBody>
      </p:sp>
      <p:graphicFrame>
        <p:nvGraphicFramePr>
          <p:cNvPr id="108" name=""/>
          <p:cNvGraphicFramePr/>
          <p:nvPr/>
        </p:nvGraphicFramePr>
        <p:xfrm>
          <a:off xmlns:a="http://schemas.openxmlformats.org/drawingml/2006/main" x="6229350" y="1638300"/>
          <a:ext xmlns:a="http://schemas.openxmlformats.org/drawingml/2006/main" cx="5676900" cy="3619500"/>
        </p:xfrm>
        <a:graphic xmlns:a="http://schemas.openxmlformats.org/drawingml/2006/main">
          <a:graphicData uri="http://schemas.openxmlformats.org/drawingml/2006/table">
            <a:tbl>
              <a:tblPr/>
              <a:tblGrid>
                <a:gridCol w="1669676"/>
                <a:gridCol w="960064"/>
                <a:gridCol w="1127032"/>
                <a:gridCol w="667871"/>
                <a:gridCol w="1252257"/>
              </a:tblGrid>
              <a:tr h="304800">
                <a:tc>
                  <a:txBody>
                    <a:bodyPr/>
                    <a:lstStyle/>
                    <a:p>
                      <a:r>
                        <a:rPr sz="825" b="1">
                          <a:solidFill>
                            <a:srgbClr val="FFFFFF"/>
                          </a:solidFill>
                          <a:latin typeface="微软雅黑"/>
                          <a:ea typeface="微软雅黑"/>
                          <a:cs typeface="微软雅黑"/>
                        </a:rPr>
                        <a:t>项目名称 / 成果</a:t>
                      </a:r>
                    </a:p>
                  </a:txBody>
                  <a:tcPr marL="91440" marR="91440" marT="45720" marB="45720">
                    <a:solidFill>
                      <a:srgbClr val="1A6AC0"/>
                    </a:solidFill>
                  </a:tcPr>
                </a:tc>
                <a:tc>
                  <a:txBody>
                    <a:bodyPr/>
                    <a:lstStyle/>
                    <a:p>
                      <a:r>
                        <a:rPr sz="825" b="1">
                          <a:solidFill>
                            <a:srgbClr val="FFFFFF"/>
                          </a:solidFill>
                          <a:latin typeface="微软雅黑"/>
                          <a:ea typeface="微软雅黑"/>
                          <a:cs typeface="微软雅黑"/>
                        </a:rPr>
                        <a:t>类别</a:t>
                      </a:r>
                    </a:p>
                  </a:txBody>
                  <a:tcPr marL="91440" marR="91440" marT="45720" marB="45720">
                    <a:solidFill>
                      <a:srgbClr val="1A6AC0"/>
                    </a:solidFill>
                  </a:tcPr>
                </a:tc>
                <a:tc>
                  <a:txBody>
                    <a:bodyPr/>
                    <a:lstStyle/>
                    <a:p>
                      <a:r>
                        <a:rPr sz="825" b="1">
                          <a:solidFill>
                            <a:srgbClr val="FFFFFF"/>
                          </a:solidFill>
                          <a:latin typeface="微软雅黑"/>
                          <a:ea typeface="微软雅黑"/>
                          <a:cs typeface="微软雅黑"/>
                        </a:rPr>
                        <a:t>级别</a:t>
                      </a:r>
                    </a:p>
                  </a:txBody>
                  <a:tcPr marL="91440" marR="91440" marT="45720" marB="45720">
                    <a:solidFill>
                      <a:srgbClr val="1A6AC0"/>
                    </a:solidFill>
                  </a:tcPr>
                </a:tc>
                <a:tc>
                  <a:txBody>
                    <a:bodyPr/>
                    <a:lstStyle/>
                    <a:p>
                      <a:r>
                        <a:rPr sz="825" b="1">
                          <a:solidFill>
                            <a:srgbClr val="FFFFFF"/>
                          </a:solidFill>
                          <a:latin typeface="微软雅黑"/>
                          <a:ea typeface="微软雅黑"/>
                          <a:cs typeface="微软雅黑"/>
                        </a:rPr>
                        <a:t>年份</a:t>
                      </a:r>
                    </a:p>
                  </a:txBody>
                  <a:tcPr marL="91440" marR="91440" marT="45720" marB="45720">
                    <a:solidFill>
                      <a:srgbClr val="1A6AC0"/>
                    </a:solidFill>
                  </a:tcPr>
                </a:tc>
                <a:tc>
                  <a:txBody>
                    <a:bodyPr/>
                    <a:lstStyle/>
                    <a:p>
                      <a:r>
                        <a:rPr sz="825" b="1">
                          <a:solidFill>
                            <a:srgbClr val="FFFFFF"/>
                          </a:solidFill>
                          <a:latin typeface="微软雅黑"/>
                          <a:ea typeface="微软雅黑"/>
                          <a:cs typeface="微软雅黑"/>
                        </a:rPr>
                        <a:t>本人贡献</a:t>
                      </a:r>
                    </a:p>
                  </a:txBody>
                  <a:tcPr marL="91440" marR="91440" marT="45720" marB="45720">
                    <a:solidFill>
                      <a:srgbClr val="1A6AC0"/>
                    </a:solidFill>
                  </a:tcPr>
                </a:tc>
              </a:tr>
              <a:tr h="514350">
                <a:tc>
                  <a:txBody>
                    <a:bodyPr/>
                    <a:lstStyle/>
                    <a:p>
                      <a:r>
                        <a:rPr sz="788">
                          <a:solidFill>
                            <a:srgbClr val="FFD24A"/>
                          </a:solidFill>
                          <a:latin typeface="微软雅黑"/>
                          <a:ea typeface="微软雅黑"/>
                          <a:cs typeface="微软雅黑"/>
                        </a:rPr>
                        <a:t>（待补：竞赛获奖名称）</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学科竞赛</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（国家级 / 省级）</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（角色与工作）</a:t>
                      </a:r>
                    </a:p>
                  </a:txBody>
                  <a:tcPr marL="91440" marR="91440" marT="45720" marB="45720">
                    <a:solidFill>
                      <a:srgbClr val="0E4A96"/>
                    </a:solidFill>
                  </a:tcPr>
                </a:tc>
              </a:tr>
              <a:tr h="514350">
                <a:tc>
                  <a:txBody>
                    <a:bodyPr/>
                    <a:lstStyle/>
                    <a:p>
                      <a:r>
                        <a:rPr sz="788">
                          <a:solidFill>
                            <a:srgbClr val="FFD24A"/>
                          </a:solidFill>
                          <a:latin typeface="微软雅黑"/>
                          <a:ea typeface="微软雅黑"/>
                          <a:cs typeface="微软雅黑"/>
                        </a:rPr>
                        <a:t>（待补：大创 / 教科创项目名称）</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大创 / 教科创</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（国家级 / 省级）</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（角色与工作）</a:t>
                      </a:r>
                    </a:p>
                  </a:txBody>
                  <a:tcPr marL="91440" marR="91440" marT="45720" marB="45720">
                    <a:solidFill>
                      <a:srgbClr val="0E4A96"/>
                    </a:solidFill>
                  </a:tcPr>
                </a:tc>
              </a:tr>
              <a:tr h="514350">
                <a:tc>
                  <a:txBody>
                    <a:bodyPr/>
                    <a:lstStyle/>
                    <a:p>
                      <a:r>
                        <a:rPr sz="788">
                          <a:solidFill>
                            <a:srgbClr val="FFD24A"/>
                          </a:solidFill>
                          <a:latin typeface="微软雅黑"/>
                          <a:ea typeface="微软雅黑"/>
                          <a:cs typeface="微软雅黑"/>
                        </a:rPr>
                        <a:t>（待补：软件著作权名称）</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软件著作权</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（登记号）</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（作者排序）</a:t>
                      </a:r>
                    </a:p>
                  </a:txBody>
                  <a:tcPr marL="91440" marR="91440" marT="45720" marB="45720">
                    <a:solidFill>
                      <a:srgbClr val="0E4A96"/>
                    </a:solidFill>
                  </a:tcPr>
                </a:tc>
              </a:tr>
              <a:tr h="514350">
                <a:tc>
                  <a:txBody>
                    <a:bodyPr/>
                    <a:lstStyle/>
                    <a:p>
                      <a:r>
                        <a:rPr sz="788">
                          <a:solidFill>
                            <a:srgbClr val="FFD24A"/>
                          </a:solidFill>
                          <a:latin typeface="微软雅黑"/>
                          <a:ea typeface="微软雅黑"/>
                          <a:cs typeface="微软雅黑"/>
                        </a:rPr>
                        <a:t>（待补：论文题目）</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学术论文</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（期刊 / 会议）</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（作者排序）</a:t>
                      </a:r>
                    </a:p>
                  </a:txBody>
                  <a:tcPr marL="91440" marR="91440" marT="45720" marB="45720">
                    <a:solidFill>
                      <a:srgbClr val="0E4A96"/>
                    </a:solidFill>
                  </a:tcPr>
                </a:tc>
              </a:tr>
              <a:tr h="514350">
                <a:tc>
                  <a:txBody>
                    <a:bodyPr/>
                    <a:lstStyle/>
                    <a:p>
                      <a:r>
                        <a:rPr sz="788">
                          <a:solidFill>
                            <a:srgbClr val="FFD24A"/>
                          </a:solidFill>
                          <a:latin typeface="微软雅黑"/>
                          <a:ea typeface="微软雅黑"/>
                          <a:cs typeface="微软雅黑"/>
                        </a:rPr>
                        <a:t>（待补：企业合作产品）</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企业合作</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（合作单位）</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（承担模块）</a:t>
                      </a:r>
                    </a:p>
                  </a:txBody>
                  <a:tcPr marL="91440" marR="91440" marT="45720" marB="45720">
                    <a:solidFill>
                      <a:srgbClr val="0E4A96"/>
                    </a:solidFill>
                  </a:tcPr>
                </a:tc>
              </a:tr>
              <a:tr h="514350">
                <a:tc>
                  <a:txBody>
                    <a:bodyPr/>
                    <a:lstStyle/>
                    <a:p>
                      <a:r>
                        <a:rPr sz="788">
                          <a:solidFill>
                            <a:srgbClr val="FFD24A"/>
                          </a:solidFill>
                          <a:latin typeface="微软雅黑"/>
                          <a:ea typeface="微软雅黑"/>
                          <a:cs typeface="微软雅黑"/>
                        </a:rPr>
                        <a:t>（待补：指导老师结题项目）</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教师科研</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（项目级别）</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solidFill>
                      <a:srgbClr val="0E4A96"/>
                    </a:solidFill>
                  </a:tcPr>
                </a:tc>
                <a:tc>
                  <a:txBody>
                    <a:bodyPr/>
                    <a:lstStyle/>
                    <a:p>
                      <a:r>
                        <a:rPr sz="788">
                          <a:solidFill>
                            <a:srgbClr val="C6DDFF"/>
                          </a:solidFill>
                          <a:latin typeface="微软雅黑"/>
                          <a:ea typeface="微软雅黑"/>
                          <a:cs typeface="微软雅黑"/>
                        </a:rPr>
                        <a:t>（学生参与内容）</a:t>
                      </a:r>
                    </a:p>
                  </a:txBody>
                  <a:tcPr marL="91440" marR="91440" marT="45720" marB="45720">
                    <a:solidFill>
                      <a:srgbClr val="0E4A96"/>
                    </a:solidFill>
                  </a:tcPr>
                </a:tc>
              </a:tr>
            </a:tbl>
          </a:graphicData>
        </a:graphic>
      </p:graphicFrame>
      <p:sp>
        <p:nvSpPr>
          <p:cNvPr id="51" name="">
            <a:extLst xmlns:a="http://schemas.openxmlformats.org/drawingml/2006/main">
              <a:ext uri="{FF2B5EF4-FFF2-40B4-BE49-F238E27FC236}">
                <a16:creationId xmlns:a16="http://schemas.microsoft.com/office/drawing/2014/main" id="{F6893091-6FC6-4790-B91A-276F1CE04A49}"/>
              </a:ext>
            </a:extLst>
          </p:cNvPr>
          <p:cNvSpPr>
            <a:spLocks xmlns:a="http://schemas.openxmlformats.org/drawingml/2006/main" noGrp="1"/>
          </p:cNvSpPr>
          <p:nvPr/>
        </p:nvSpPr>
        <p:spPr>
          <a:xfrm xmlns:a="http://schemas.openxmlformats.org/drawingml/2006/main">
            <a:off x="6229350" y="5143500"/>
            <a:ext cx="5676900" cy="1181100"/>
          </a:xfrm>
          <a:prstGeom xmlns:a="http://schemas.openxmlformats.org/drawingml/2006/main" prst="roundRect">
            <a:avLst>
              <a:gd name="adj" fmla="val 7258"/>
            </a:avLst>
          </a:prstGeom>
          <a:solidFill xmlns:a="http://schemas.openxmlformats.org/drawingml/2006/main">
            <a:srgbClr val="7A5A1A">
              <a:alpha val="70000"/>
            </a:srgbClr>
          </a:solidFill>
          <a:ln xmlns:a="http://schemas.openxmlformats.org/drawingml/2006/main" w="13335">
            <a:solidFill>
              <a:srgbClr val="FFD24A"/>
            </a:solidFill>
            <a:prstDash val="solid"/>
          </a:ln>
        </p:spPr>
      </p:sp>
      <p:sp>
        <p:nvSpPr>
          <p:cNvPr id="52" name="">
            <a:extLst xmlns:a="http://schemas.openxmlformats.org/drawingml/2006/main">
              <a:ext uri="{FF2B5EF4-FFF2-40B4-BE49-F238E27FC236}">
                <a16:creationId xmlns:a16="http://schemas.microsoft.com/office/drawing/2014/main" id="{01B607BA-F478-4325-BA8C-D63D8383A3D0}"/>
              </a:ext>
            </a:extLst>
          </p:cNvPr>
          <p:cNvSpPr>
            <a:spLocks xmlns:a="http://schemas.openxmlformats.org/drawingml/2006/main" noGrp="1"/>
          </p:cNvSpPr>
          <p:nvPr/>
        </p:nvSpPr>
        <p:spPr>
          <a:xfrm xmlns:a="http://schemas.openxmlformats.org/drawingml/2006/main">
            <a:off x="6400800" y="5257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FD24A"/>
                </a:solidFill>
                <a:latin typeface="微软雅黑"/>
                <a:ea typeface="微软雅黑"/>
                <a:cs typeface="微软雅黑"/>
              </a:defRPr>
            </a:pPr>
            <a:r>
              <a:rPr sz="975" b="1">
                <a:solidFill>
                  <a:srgbClr val="FFD24A"/>
                </a:solidFill>
                <a:latin typeface="微软雅黑"/>
                <a:ea typeface="微软雅黑"/>
                <a:cs typeface="微软雅黑"/>
              </a:rPr>
              <a:t>为什么这一页留空而不是编数据</a:t>
            </a:r>
          </a:p>
        </p:txBody>
      </p:sp>
      <p:sp>
        <p:nvSpPr>
          <p:cNvPr id="53" name="">
            <a:extLst xmlns:a="http://schemas.openxmlformats.org/drawingml/2006/main">
              <a:ext uri="{FF2B5EF4-FFF2-40B4-BE49-F238E27FC236}">
                <a16:creationId xmlns:a16="http://schemas.microsoft.com/office/drawing/2014/main" id="{C0CF0CA3-FBF5-44E9-AC35-B43E3FAEF0BB}"/>
              </a:ext>
            </a:extLst>
          </p:cNvPr>
          <p:cNvSpPr>
            <a:spLocks xmlns:a="http://schemas.openxmlformats.org/drawingml/2006/main" noGrp="1"/>
          </p:cNvSpPr>
          <p:nvPr/>
        </p:nvSpPr>
        <p:spPr>
          <a:xfrm xmlns:a="http://schemas.openxmlformats.org/drawingml/2006/main">
            <a:off x="6400800" y="5524500"/>
            <a:ext cx="5353050" cy="704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团队获奖、软著、论文、企业合作与教师结题项目属于可被评委逐条核验的材料。本页先固定「项目名称</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类别</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级别</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年份</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贡献」的表格结构，等团队按指导老师的教科创结题材料填齐后再定稿，避免出现无法对证的成果条目。</a:t>
            </a:r>
          </a:p>
        </p:txBody>
      </p:sp>
      <p:sp>
        <p:nvSpPr>
          <p:cNvPr id="54" name="">
            <a:extLst xmlns:a="http://schemas.openxmlformats.org/drawingml/2006/main">
              <a:ext uri="{FF2B5EF4-FFF2-40B4-BE49-F238E27FC236}">
                <a16:creationId xmlns:a16="http://schemas.microsoft.com/office/drawing/2014/main" id="{614C5636-1046-4D33-B94B-735F0154CC4F}"/>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D2BF03FF-EB86-4311-9B20-97B7310A5A33}"/>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B79BF524-9FCE-433F-9169-A5AE68332102}"/>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57" name="">
            <a:extLst xmlns:a="http://schemas.openxmlformats.org/drawingml/2006/main">
              <a:ext uri="{FF2B5EF4-FFF2-40B4-BE49-F238E27FC236}">
                <a16:creationId xmlns:a16="http://schemas.microsoft.com/office/drawing/2014/main" id="{7A8A1FB7-8238-4D59-BCDC-DAC61143BFB9}"/>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F254124B-38C0-44F6-BB66-2024A5BDF82C}"/>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33</a:t>
            </a:r>
          </a:p>
        </p:txBody>
      </p:sp>
    </p:spTree>
    <p:extLst>
      <p:ext uri="{BB962C8B-B14F-4D97-AF65-F5344CB8AC3E}">
        <p14:creationId xmlns:p14="http://schemas.microsoft.com/office/powerpoint/2010/main" val="525382802"/>
      </p:ext>
    </p:extLst>
  </p:cSld>
</p:sld>
</file>

<file path=ppt/slides/slide3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bbfe1925fb5a448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F00F01-47EB-4E25-82DB-4DB33BE3FD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50B11D48-B4AF-4218-A4DE-8F6EB05AA38A}"/>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CC04F2DE-1AB3-44FB-87B1-8B662DB71D24}"/>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F2A32C9A-25D2-4316-81EE-3484D17A92F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C04E517D-A2A7-4949-8601-661C74D4E74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9721AB1C-11CB-4856-B300-064AEB539041}"/>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84328CF7-392B-4482-99FE-F6933642716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6ED55252-B70B-4265-8DAB-7C284A9D4198}"/>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69F3D5C3-CDE7-4661-8E96-BB580F55E639}"/>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88BD6D45-46C5-4F77-9250-6EE1BBD65A12}"/>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A8B60496-3D27-4570-9DE6-F6A9C2EDF97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A0064193-BB9D-4D89-A13E-110004A9D9F1}"/>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DE51CECE-5039-410C-8EA1-BDC3BBA63659}"/>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应用场景与目标客户</a:t>
            </a:r>
          </a:p>
        </p:txBody>
      </p:sp>
      <p:sp>
        <p:nvSpPr>
          <p:cNvPr id="15" name="">
            <a:extLst xmlns:a="http://schemas.openxmlformats.org/drawingml/2006/main">
              <a:ext uri="{FF2B5EF4-FFF2-40B4-BE49-F238E27FC236}">
                <a16:creationId xmlns:a16="http://schemas.microsoft.com/office/drawing/2014/main" id="{6DD81769-E8C1-464F-AF73-1C76B551F020}"/>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B9330CFA-F357-4D0A-B460-2F79D44F12B6}"/>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55B27030-2B8F-455E-9763-7D4861DF214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0262D19B-9C28-4FC7-9A91-F353B7B2761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B7525700-9284-4EBB-B001-44D7BA6B9CF9}"/>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不写「可推广到电力行业」，而是写清四类具体客户、部署方式与付费逻辑。</a:t>
            </a:r>
          </a:p>
        </p:txBody>
      </p:sp>
      <p:sp>
        <p:nvSpPr>
          <p:cNvPr id="20" name="">
            <a:extLst xmlns:a="http://schemas.openxmlformats.org/drawingml/2006/main">
              <a:ext uri="{FF2B5EF4-FFF2-40B4-BE49-F238E27FC236}">
                <a16:creationId xmlns:a16="http://schemas.microsoft.com/office/drawing/2014/main" id="{A4AFB968-33E7-4646-97B9-43AB98015016}"/>
              </a:ext>
            </a:extLst>
          </p:cNvPr>
          <p:cNvSpPr>
            <a:spLocks xmlns:a="http://schemas.openxmlformats.org/drawingml/2006/main" noGrp="1"/>
          </p:cNvSpPr>
          <p:nvPr/>
        </p:nvSpPr>
        <p:spPr>
          <a:xfrm xmlns:a="http://schemas.openxmlformats.org/drawingml/2006/main">
            <a:off x="285750" y="133350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29F81CB8-4B76-4C5F-82EA-B9AF1ED5AFCE}"/>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36683388-B3F7-4452-8C56-B7FA04CE8F66}"/>
              </a:ext>
            </a:extLst>
          </p:cNvPr>
          <p:cNvSpPr>
            <a:spLocks xmlns:a="http://schemas.openxmlformats.org/drawingml/2006/main" noGrp="1"/>
          </p:cNvSpPr>
          <p:nvPr/>
        </p:nvSpPr>
        <p:spPr>
          <a:xfrm xmlns:a="http://schemas.openxmlformats.org/drawingml/2006/main">
            <a:off x="495300" y="150495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4FD8FF"/>
                </a:solidFill>
                <a:latin typeface="微软雅黑"/>
                <a:ea typeface="微软雅黑"/>
                <a:cs typeface="微软雅黑"/>
              </a:defRPr>
            </a:pPr>
            <a:r>
              <a:rPr sz="1425" b="1">
                <a:solidFill>
                  <a:srgbClr val="4FD8FF"/>
                </a:solidFill>
                <a:latin typeface="微软雅黑"/>
                <a:ea typeface="微软雅黑"/>
                <a:cs typeface="微软雅黑"/>
              </a:rPr>
              <a:t>县级 </a:t>
            </a:r>
            <a:r>
              <a:rPr sz="1425" b="1">
                <a:solidFill>
                  <a:srgbClr val="4FD8FF"/>
                </a:solidFill>
                <a:latin typeface="微软雅黑"/>
                <a:ea typeface="微软雅黑"/>
                <a:cs typeface="微软雅黑"/>
              </a:rPr>
              <a:t>/ </a:t>
            </a:r>
            <a:r>
              <a:rPr sz="1425" b="1">
                <a:solidFill>
                  <a:srgbClr val="4FD8FF"/>
                </a:solidFill>
                <a:latin typeface="微软雅黑"/>
                <a:ea typeface="微软雅黑"/>
                <a:cs typeface="微软雅黑"/>
              </a:rPr>
              <a:t>地市供电公司</a:t>
            </a:r>
          </a:p>
        </p:txBody>
      </p:sp>
      <p:sp>
        <p:nvSpPr>
          <p:cNvPr id="23" name="">
            <a:extLst xmlns:a="http://schemas.openxmlformats.org/drawingml/2006/main">
              <a:ext uri="{FF2B5EF4-FFF2-40B4-BE49-F238E27FC236}">
                <a16:creationId xmlns:a16="http://schemas.microsoft.com/office/drawing/2014/main" id="{B93669B7-8D6F-4A0B-BCAF-D1532C724D65}"/>
              </a:ext>
            </a:extLst>
          </p:cNvPr>
          <p:cNvSpPr>
            <a:spLocks xmlns:a="http://schemas.openxmlformats.org/drawingml/2006/main" noGrp="1"/>
          </p:cNvSpPr>
          <p:nvPr/>
        </p:nvSpPr>
        <p:spPr>
          <a:xfrm xmlns:a="http://schemas.openxmlformats.org/drawingml/2006/main">
            <a:off x="495300" y="180975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变电运维中心</a:t>
            </a:r>
          </a:p>
        </p:txBody>
      </p:sp>
      <p:sp>
        <p:nvSpPr>
          <p:cNvPr id="24" name="">
            <a:extLst xmlns:a="http://schemas.openxmlformats.org/drawingml/2006/main">
              <a:ext uri="{FF2B5EF4-FFF2-40B4-BE49-F238E27FC236}">
                <a16:creationId xmlns:a16="http://schemas.microsoft.com/office/drawing/2014/main" id="{D938F020-D59D-4598-BA35-A3E9FF6CDFED}"/>
              </a:ext>
            </a:extLst>
          </p:cNvPr>
          <p:cNvSpPr>
            <a:spLocks xmlns:a="http://schemas.openxmlformats.org/drawingml/2006/main" noGrp="1"/>
          </p:cNvSpPr>
          <p:nvPr/>
        </p:nvSpPr>
        <p:spPr>
          <a:xfrm xmlns:a="http://schemas.openxmlformats.org/drawingml/2006/main">
            <a:off x="495300" y="20764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25" name="">
            <a:extLst xmlns:a="http://schemas.openxmlformats.org/drawingml/2006/main">
              <a:ext uri="{FF2B5EF4-FFF2-40B4-BE49-F238E27FC236}">
                <a16:creationId xmlns:a16="http://schemas.microsoft.com/office/drawing/2014/main" id="{5514CC64-7B61-449B-9F39-FEF472EDB102}"/>
              </a:ext>
            </a:extLst>
          </p:cNvPr>
          <p:cNvSpPr>
            <a:spLocks xmlns:a="http://schemas.openxmlformats.org/drawingml/2006/main" noGrp="1"/>
          </p:cNvSpPr>
          <p:nvPr/>
        </p:nvSpPr>
        <p:spPr>
          <a:xfrm xmlns:a="http://schemas.openxmlformats.org/drawingml/2006/main">
            <a:off x="1276350" y="20764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培训投入要能对账；迎检要能一键出合规材料；关键岗位要有备份</a:t>
            </a:r>
          </a:p>
        </p:txBody>
      </p:sp>
      <p:sp>
        <p:nvSpPr>
          <p:cNvPr id="26" name="">
            <a:extLst xmlns:a="http://schemas.openxmlformats.org/drawingml/2006/main">
              <a:ext uri="{FF2B5EF4-FFF2-40B4-BE49-F238E27FC236}">
                <a16:creationId xmlns:a16="http://schemas.microsoft.com/office/drawing/2014/main" id="{B420FD84-1E1A-4F85-A054-666E81E9B837}"/>
              </a:ext>
            </a:extLst>
          </p:cNvPr>
          <p:cNvSpPr>
            <a:spLocks xmlns:a="http://schemas.openxmlformats.org/drawingml/2006/main" noGrp="1"/>
          </p:cNvSpPr>
          <p:nvPr/>
        </p:nvSpPr>
        <p:spPr>
          <a:xfrm xmlns:a="http://schemas.openxmlformats.org/drawingml/2006/main">
            <a:off x="495300" y="24384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27" name="">
            <a:extLst xmlns:a="http://schemas.openxmlformats.org/drawingml/2006/main">
              <a:ext uri="{FF2B5EF4-FFF2-40B4-BE49-F238E27FC236}">
                <a16:creationId xmlns:a16="http://schemas.microsoft.com/office/drawing/2014/main" id="{6C7B30BB-B67E-4CBD-8334-B3E105598F17}"/>
              </a:ext>
            </a:extLst>
          </p:cNvPr>
          <p:cNvSpPr>
            <a:spLocks xmlns:a="http://schemas.openxmlformats.org/drawingml/2006/main" noGrp="1"/>
          </p:cNvSpPr>
          <p:nvPr/>
        </p:nvSpPr>
        <p:spPr>
          <a:xfrm xmlns:a="http://schemas.openxmlformats.org/drawingml/2006/main">
            <a:off x="1276350" y="24384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内网私有化部署（</a:t>
            </a:r>
            <a:r>
              <a:rPr sz="863" b="0">
                <a:solidFill>
                  <a:srgbClr val="EEF5FF"/>
                </a:solidFill>
                <a:latin typeface="微软雅黑"/>
                <a:ea typeface="微软雅黑"/>
                <a:cs typeface="微软雅黑"/>
              </a:rPr>
              <a:t>Docker Compose</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MySQL + API + Web</a:t>
            </a:r>
            <a:r>
              <a:rPr sz="863" b="0">
                <a:solidFill>
                  <a:srgbClr val="EEF5FF"/>
                </a:solidFill>
                <a:latin typeface="微软雅黑"/>
                <a:ea typeface="微软雅黑"/>
                <a:cs typeface="微软雅黑"/>
              </a:rPr>
              <a:t>），支持完全离线运行</a:t>
            </a:r>
          </a:p>
        </p:txBody>
      </p:sp>
      <p:sp>
        <p:nvSpPr>
          <p:cNvPr id="28" name="">
            <a:extLst xmlns:a="http://schemas.openxmlformats.org/drawingml/2006/main">
              <a:ext uri="{FF2B5EF4-FFF2-40B4-BE49-F238E27FC236}">
                <a16:creationId xmlns:a16="http://schemas.microsoft.com/office/drawing/2014/main" id="{B72FEF7E-BCB2-4884-82E2-938482461D78}"/>
              </a:ext>
            </a:extLst>
          </p:cNvPr>
          <p:cNvSpPr>
            <a:spLocks xmlns:a="http://schemas.openxmlformats.org/drawingml/2006/main" noGrp="1"/>
          </p:cNvSpPr>
          <p:nvPr/>
        </p:nvSpPr>
        <p:spPr>
          <a:xfrm xmlns:a="http://schemas.openxmlformats.org/drawingml/2006/main">
            <a:off x="495300" y="28003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29" name="">
            <a:extLst xmlns:a="http://schemas.openxmlformats.org/drawingml/2006/main">
              <a:ext uri="{FF2B5EF4-FFF2-40B4-BE49-F238E27FC236}">
                <a16:creationId xmlns:a16="http://schemas.microsoft.com/office/drawing/2014/main" id="{B747E9F0-9786-4109-81DA-E67B9E20D235}"/>
              </a:ext>
            </a:extLst>
          </p:cNvPr>
          <p:cNvSpPr>
            <a:spLocks xmlns:a="http://schemas.openxmlformats.org/drawingml/2006/main" noGrp="1"/>
          </p:cNvSpPr>
          <p:nvPr/>
        </p:nvSpPr>
        <p:spPr>
          <a:xfrm xmlns:a="http://schemas.openxmlformats.org/drawingml/2006/main">
            <a:off x="1276350" y="28003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按站点规模或运维人数年度订阅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首次实施与数据初始化服务</a:t>
            </a:r>
          </a:p>
        </p:txBody>
      </p:sp>
      <p:sp>
        <p:nvSpPr>
          <p:cNvPr id="30" name="">
            <a:extLst xmlns:a="http://schemas.openxmlformats.org/drawingml/2006/main">
              <a:ext uri="{FF2B5EF4-FFF2-40B4-BE49-F238E27FC236}">
                <a16:creationId xmlns:a16="http://schemas.microsoft.com/office/drawing/2014/main" id="{89CC7D7F-F1FC-467F-A9DC-B680B5081795}"/>
              </a:ext>
            </a:extLst>
          </p:cNvPr>
          <p:cNvSpPr>
            <a:spLocks xmlns:a="http://schemas.openxmlformats.org/drawingml/2006/main" noGrp="1"/>
          </p:cNvSpPr>
          <p:nvPr/>
        </p:nvSpPr>
        <p:spPr>
          <a:xfrm xmlns:a="http://schemas.openxmlformats.org/drawingml/2006/main">
            <a:off x="495300" y="31623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31" name="">
            <a:extLst xmlns:a="http://schemas.openxmlformats.org/drawingml/2006/main">
              <a:ext uri="{FF2B5EF4-FFF2-40B4-BE49-F238E27FC236}">
                <a16:creationId xmlns:a16="http://schemas.microsoft.com/office/drawing/2014/main" id="{EBC198BB-6090-4611-9633-B6EAEE9D01DF}"/>
              </a:ext>
            </a:extLst>
          </p:cNvPr>
          <p:cNvSpPr>
            <a:spLocks xmlns:a="http://schemas.openxmlformats.org/drawingml/2006/main" noGrp="1"/>
          </p:cNvSpPr>
          <p:nvPr/>
        </p:nvSpPr>
        <p:spPr>
          <a:xfrm xmlns:a="http://schemas.openxmlformats.org/drawingml/2006/main">
            <a:off x="1276350" y="31623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先选 </a:t>
            </a:r>
            <a:r>
              <a:rPr sz="863" b="0">
                <a:solidFill>
                  <a:srgbClr val="EEF5FF"/>
                </a:solidFill>
                <a:latin typeface="微软雅黑"/>
                <a:ea typeface="微软雅黑"/>
                <a:cs typeface="微软雅黑"/>
              </a:rPr>
              <a:t>1 </a:t>
            </a:r>
            <a:r>
              <a:rPr sz="863" b="0">
                <a:solidFill>
                  <a:srgbClr val="EEF5FF"/>
                </a:solidFill>
                <a:latin typeface="微软雅黑"/>
                <a:ea typeface="微软雅黑"/>
                <a:cs typeface="微软雅黑"/>
              </a:rPr>
              <a:t>个变电运维班组试点，跑通一个完整考核周期后再扩展</a:t>
            </a:r>
          </a:p>
        </p:txBody>
      </p:sp>
      <p:sp>
        <p:nvSpPr>
          <p:cNvPr id="32" name="">
            <a:extLst xmlns:a="http://schemas.openxmlformats.org/drawingml/2006/main">
              <a:ext uri="{FF2B5EF4-FFF2-40B4-BE49-F238E27FC236}">
                <a16:creationId xmlns:a16="http://schemas.microsoft.com/office/drawing/2014/main" id="{2BD639AA-BEFD-41AE-984B-A6617671EC9B}"/>
              </a:ext>
            </a:extLst>
          </p:cNvPr>
          <p:cNvSpPr>
            <a:spLocks xmlns:a="http://schemas.openxmlformats.org/drawingml/2006/main" noGrp="1"/>
          </p:cNvSpPr>
          <p:nvPr/>
        </p:nvSpPr>
        <p:spPr>
          <a:xfrm xmlns:a="http://schemas.openxmlformats.org/drawingml/2006/main">
            <a:off x="6210300" y="133350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974E9062-1153-4528-A9E6-E7534F8DAFA3}"/>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FDB003EE-CF9F-4ADD-A9DD-D0CA6701906C}"/>
              </a:ext>
            </a:extLst>
          </p:cNvPr>
          <p:cNvSpPr>
            <a:spLocks xmlns:a="http://schemas.openxmlformats.org/drawingml/2006/main" noGrp="1"/>
          </p:cNvSpPr>
          <p:nvPr/>
        </p:nvSpPr>
        <p:spPr>
          <a:xfrm xmlns:a="http://schemas.openxmlformats.org/drawingml/2006/main">
            <a:off x="6419850" y="150495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2E86E0"/>
                </a:solidFill>
                <a:latin typeface="微软雅黑"/>
                <a:ea typeface="微软雅黑"/>
                <a:cs typeface="微软雅黑"/>
              </a:defRPr>
            </a:pPr>
            <a:r>
              <a:rPr sz="1425" b="1">
                <a:solidFill>
                  <a:srgbClr val="2E86E0"/>
                </a:solidFill>
                <a:latin typeface="微软雅黑"/>
                <a:ea typeface="微软雅黑"/>
                <a:cs typeface="微软雅黑"/>
              </a:rPr>
              <a:t>变电运维班组</a:t>
            </a:r>
          </a:p>
        </p:txBody>
      </p:sp>
      <p:sp>
        <p:nvSpPr>
          <p:cNvPr id="35" name="">
            <a:extLst xmlns:a="http://schemas.openxmlformats.org/drawingml/2006/main">
              <a:ext uri="{FF2B5EF4-FFF2-40B4-BE49-F238E27FC236}">
                <a16:creationId xmlns:a16="http://schemas.microsoft.com/office/drawing/2014/main" id="{3F694F4C-5D16-4568-BF30-56658BBEB0AD}"/>
              </a:ext>
            </a:extLst>
          </p:cNvPr>
          <p:cNvSpPr>
            <a:spLocks xmlns:a="http://schemas.openxmlformats.org/drawingml/2006/main" noGrp="1"/>
          </p:cNvSpPr>
          <p:nvPr/>
        </p:nvSpPr>
        <p:spPr>
          <a:xfrm xmlns:a="http://schemas.openxmlformats.org/drawingml/2006/main">
            <a:off x="6419850" y="180975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最小采购单元</a:t>
            </a:r>
          </a:p>
        </p:txBody>
      </p:sp>
      <p:sp>
        <p:nvSpPr>
          <p:cNvPr id="36" name="">
            <a:extLst xmlns:a="http://schemas.openxmlformats.org/drawingml/2006/main">
              <a:ext uri="{FF2B5EF4-FFF2-40B4-BE49-F238E27FC236}">
                <a16:creationId xmlns:a16="http://schemas.microsoft.com/office/drawing/2014/main" id="{17E09007-33D5-4702-9410-B4957E118A00}"/>
              </a:ext>
            </a:extLst>
          </p:cNvPr>
          <p:cNvSpPr>
            <a:spLocks xmlns:a="http://schemas.openxmlformats.org/drawingml/2006/main" noGrp="1"/>
          </p:cNvSpPr>
          <p:nvPr/>
        </p:nvSpPr>
        <p:spPr>
          <a:xfrm xmlns:a="http://schemas.openxmlformats.org/drawingml/2006/main">
            <a:off x="6419850" y="20764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37" name="">
            <a:extLst xmlns:a="http://schemas.openxmlformats.org/drawingml/2006/main">
              <a:ext uri="{FF2B5EF4-FFF2-40B4-BE49-F238E27FC236}">
                <a16:creationId xmlns:a16="http://schemas.microsoft.com/office/drawing/2014/main" id="{180F060B-D10D-4172-8A41-08D8B4B0D0D1}"/>
              </a:ext>
            </a:extLst>
          </p:cNvPr>
          <p:cNvSpPr>
            <a:spLocks xmlns:a="http://schemas.openxmlformats.org/drawingml/2006/main" noGrp="1"/>
          </p:cNvSpPr>
          <p:nvPr/>
        </p:nvSpPr>
        <p:spPr>
          <a:xfrm xmlns:a="http://schemas.openxmlformats.org/drawingml/2006/main">
            <a:off x="7200900" y="20764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班组长要能说清「本班组差在哪、谁该补什么、报告该判成什么原因」</a:t>
            </a:r>
          </a:p>
        </p:txBody>
      </p:sp>
      <p:sp>
        <p:nvSpPr>
          <p:cNvPr id="38" name="">
            <a:extLst xmlns:a="http://schemas.openxmlformats.org/drawingml/2006/main">
              <a:ext uri="{FF2B5EF4-FFF2-40B4-BE49-F238E27FC236}">
                <a16:creationId xmlns:a16="http://schemas.microsoft.com/office/drawing/2014/main" id="{8369BC0A-6650-43C5-8C3B-7A999169DC94}"/>
              </a:ext>
            </a:extLst>
          </p:cNvPr>
          <p:cNvSpPr>
            <a:spLocks xmlns:a="http://schemas.openxmlformats.org/drawingml/2006/main" noGrp="1"/>
          </p:cNvSpPr>
          <p:nvPr/>
        </p:nvSpPr>
        <p:spPr>
          <a:xfrm xmlns:a="http://schemas.openxmlformats.org/drawingml/2006/main">
            <a:off x="6419850" y="24384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39" name="">
            <a:extLst xmlns:a="http://schemas.openxmlformats.org/drawingml/2006/main">
              <a:ext uri="{FF2B5EF4-FFF2-40B4-BE49-F238E27FC236}">
                <a16:creationId xmlns:a16="http://schemas.microsoft.com/office/drawing/2014/main" id="{36C78E5A-33D5-4138-A2FE-C87C533EFCDD}"/>
              </a:ext>
            </a:extLst>
          </p:cNvPr>
          <p:cNvSpPr>
            <a:spLocks xmlns:a="http://schemas.openxmlformats.org/drawingml/2006/main" noGrp="1"/>
          </p:cNvSpPr>
          <p:nvPr/>
        </p:nvSpPr>
        <p:spPr>
          <a:xfrm xmlns:a="http://schemas.openxmlformats.org/drawingml/2006/main">
            <a:off x="7200900" y="24384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同一套系统按班组开通，账号与数据按班组隔离</a:t>
            </a:r>
          </a:p>
        </p:txBody>
      </p:sp>
      <p:sp>
        <p:nvSpPr>
          <p:cNvPr id="40" name="">
            <a:extLst xmlns:a="http://schemas.openxmlformats.org/drawingml/2006/main">
              <a:ext uri="{FF2B5EF4-FFF2-40B4-BE49-F238E27FC236}">
                <a16:creationId xmlns:a16="http://schemas.microsoft.com/office/drawing/2014/main" id="{6160702B-7915-4E3E-A1E6-50674155B2D8}"/>
              </a:ext>
            </a:extLst>
          </p:cNvPr>
          <p:cNvSpPr>
            <a:spLocks xmlns:a="http://schemas.openxmlformats.org/drawingml/2006/main" noGrp="1"/>
          </p:cNvSpPr>
          <p:nvPr/>
        </p:nvSpPr>
        <p:spPr>
          <a:xfrm xmlns:a="http://schemas.openxmlformats.org/drawingml/2006/main">
            <a:off x="6419850" y="28003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41" name="">
            <a:extLst xmlns:a="http://schemas.openxmlformats.org/drawingml/2006/main">
              <a:ext uri="{FF2B5EF4-FFF2-40B4-BE49-F238E27FC236}">
                <a16:creationId xmlns:a16="http://schemas.microsoft.com/office/drawing/2014/main" id="{CEF13E6A-4379-4FF5-B7DF-317D8D3FF984}"/>
              </a:ext>
            </a:extLst>
          </p:cNvPr>
          <p:cNvSpPr>
            <a:spLocks xmlns:a="http://schemas.openxmlformats.org/drawingml/2006/main" noGrp="1"/>
          </p:cNvSpPr>
          <p:nvPr/>
        </p:nvSpPr>
        <p:spPr>
          <a:xfrm xmlns:a="http://schemas.openxmlformats.org/drawingml/2006/main">
            <a:off x="7200900" y="28003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按班组订阅，单价低、决策链短，适合作为试点入口</a:t>
            </a:r>
          </a:p>
        </p:txBody>
      </p:sp>
      <p:sp>
        <p:nvSpPr>
          <p:cNvPr id="42" name="">
            <a:extLst xmlns:a="http://schemas.openxmlformats.org/drawingml/2006/main">
              <a:ext uri="{FF2B5EF4-FFF2-40B4-BE49-F238E27FC236}">
                <a16:creationId xmlns:a16="http://schemas.microsoft.com/office/drawing/2014/main" id="{CE157C73-4480-491A-8D93-E6D5AFF40DE0}"/>
              </a:ext>
            </a:extLst>
          </p:cNvPr>
          <p:cNvSpPr>
            <a:spLocks xmlns:a="http://schemas.openxmlformats.org/drawingml/2006/main" noGrp="1"/>
          </p:cNvSpPr>
          <p:nvPr/>
        </p:nvSpPr>
        <p:spPr>
          <a:xfrm xmlns:a="http://schemas.openxmlformats.org/drawingml/2006/main">
            <a:off x="6419850" y="31623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43" name="">
            <a:extLst xmlns:a="http://schemas.openxmlformats.org/drawingml/2006/main">
              <a:ext uri="{FF2B5EF4-FFF2-40B4-BE49-F238E27FC236}">
                <a16:creationId xmlns:a16="http://schemas.microsoft.com/office/drawing/2014/main" id="{31CB9B41-B3A8-440E-B899-5B967F61CAA4}"/>
              </a:ext>
            </a:extLst>
          </p:cNvPr>
          <p:cNvSpPr>
            <a:spLocks xmlns:a="http://schemas.openxmlformats.org/drawingml/2006/main" noGrp="1"/>
          </p:cNvSpPr>
          <p:nvPr/>
        </p:nvSpPr>
        <p:spPr>
          <a:xfrm xmlns:a="http://schemas.openxmlformats.org/drawingml/2006/main">
            <a:off x="7200900" y="31623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由班组自下而上推动，形成内部案例后再向中心推广</a:t>
            </a:r>
          </a:p>
        </p:txBody>
      </p:sp>
      <p:sp>
        <p:nvSpPr>
          <p:cNvPr id="44" name="">
            <a:extLst xmlns:a="http://schemas.openxmlformats.org/drawingml/2006/main">
              <a:ext uri="{FF2B5EF4-FFF2-40B4-BE49-F238E27FC236}">
                <a16:creationId xmlns:a16="http://schemas.microsoft.com/office/drawing/2014/main" id="{7904BBCB-9C89-48AE-B9AC-0304C19FC8ED}"/>
              </a:ext>
            </a:extLst>
          </p:cNvPr>
          <p:cNvSpPr>
            <a:spLocks xmlns:a="http://schemas.openxmlformats.org/drawingml/2006/main" noGrp="1"/>
          </p:cNvSpPr>
          <p:nvPr/>
        </p:nvSpPr>
        <p:spPr>
          <a:xfrm xmlns:a="http://schemas.openxmlformats.org/drawingml/2006/main">
            <a:off x="285750" y="371475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5" name="">
            <a:extLst xmlns:a="http://schemas.openxmlformats.org/drawingml/2006/main">
              <a:ext uri="{FF2B5EF4-FFF2-40B4-BE49-F238E27FC236}">
                <a16:creationId xmlns:a16="http://schemas.microsoft.com/office/drawing/2014/main" id="{BD4633CA-1BF0-498C-9F6F-544F4C8D2BB4}"/>
              </a:ext>
            </a:extLst>
          </p:cNvPr>
          <p:cNvSpPr>
            <a:spLocks xmlns:a="http://schemas.openxmlformats.org/drawingml/2006/main" noGrp="1"/>
          </p:cNvSpPr>
          <p:nvPr/>
        </p:nvSpPr>
        <p:spPr>
          <a:xfrm xmlns:a="http://schemas.openxmlformats.org/drawingml/2006/main">
            <a:off x="285750" y="3714750"/>
            <a:ext cx="5695950" cy="47625"/>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2A9EC5AA-9B91-42CA-B242-DD24FD92D176}"/>
              </a:ext>
            </a:extLst>
          </p:cNvPr>
          <p:cNvSpPr>
            <a:spLocks xmlns:a="http://schemas.openxmlformats.org/drawingml/2006/main" noGrp="1"/>
          </p:cNvSpPr>
          <p:nvPr/>
        </p:nvSpPr>
        <p:spPr>
          <a:xfrm xmlns:a="http://schemas.openxmlformats.org/drawingml/2006/main">
            <a:off x="495300" y="388620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微软雅黑"/>
                <a:ea typeface="微软雅黑"/>
                <a:cs typeface="微软雅黑"/>
              </a:defRPr>
            </a:pPr>
            <a:r>
              <a:rPr sz="1425" b="1">
                <a:solidFill>
                  <a:srgbClr val="FFD24A"/>
                </a:solidFill>
                <a:latin typeface="微软雅黑"/>
                <a:ea typeface="微软雅黑"/>
                <a:cs typeface="微软雅黑"/>
              </a:rPr>
              <a:t>电力类高职院校</a:t>
            </a:r>
          </a:p>
        </p:txBody>
      </p:sp>
      <p:sp>
        <p:nvSpPr>
          <p:cNvPr id="47" name="">
            <a:extLst xmlns:a="http://schemas.openxmlformats.org/drawingml/2006/main">
              <a:ext uri="{FF2B5EF4-FFF2-40B4-BE49-F238E27FC236}">
                <a16:creationId xmlns:a16="http://schemas.microsoft.com/office/drawing/2014/main" id="{E426878F-C2A0-41D3-A46E-B16DB07E2A58}"/>
              </a:ext>
            </a:extLst>
          </p:cNvPr>
          <p:cNvSpPr>
            <a:spLocks xmlns:a="http://schemas.openxmlformats.org/drawingml/2006/main" noGrp="1"/>
          </p:cNvSpPr>
          <p:nvPr/>
        </p:nvSpPr>
        <p:spPr>
          <a:xfrm xmlns:a="http://schemas.openxmlformats.org/drawingml/2006/main">
            <a:off x="495300" y="419100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岗课赛证融通</a:t>
            </a:r>
          </a:p>
        </p:txBody>
      </p:sp>
      <p:sp>
        <p:nvSpPr>
          <p:cNvPr id="48" name="">
            <a:extLst xmlns:a="http://schemas.openxmlformats.org/drawingml/2006/main">
              <a:ext uri="{FF2B5EF4-FFF2-40B4-BE49-F238E27FC236}">
                <a16:creationId xmlns:a16="http://schemas.microsoft.com/office/drawing/2014/main" id="{D5D2367A-ADCE-4FBE-8228-7244C9BA1E74}"/>
              </a:ext>
            </a:extLst>
          </p:cNvPr>
          <p:cNvSpPr>
            <a:spLocks xmlns:a="http://schemas.openxmlformats.org/drawingml/2006/main" noGrp="1"/>
          </p:cNvSpPr>
          <p:nvPr/>
        </p:nvSpPr>
        <p:spPr>
          <a:xfrm xmlns:a="http://schemas.openxmlformats.org/drawingml/2006/main">
            <a:off x="495300" y="44577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49" name="">
            <a:extLst xmlns:a="http://schemas.openxmlformats.org/drawingml/2006/main">
              <a:ext uri="{FF2B5EF4-FFF2-40B4-BE49-F238E27FC236}">
                <a16:creationId xmlns:a16="http://schemas.microsoft.com/office/drawing/2014/main" id="{8733D0A9-EC87-4CE7-8085-369BD387D0F3}"/>
              </a:ext>
            </a:extLst>
          </p:cNvPr>
          <p:cNvSpPr>
            <a:spLocks xmlns:a="http://schemas.openxmlformats.org/drawingml/2006/main" noGrp="1"/>
          </p:cNvSpPr>
          <p:nvPr/>
        </p:nvSpPr>
        <p:spPr>
          <a:xfrm xmlns:a="http://schemas.openxmlformats.org/drawingml/2006/main">
            <a:off x="1276350" y="44577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岗位化题库、练习与考核体系可直接复用于教学与技能认定</a:t>
            </a:r>
          </a:p>
        </p:txBody>
      </p:sp>
      <p:sp>
        <p:nvSpPr>
          <p:cNvPr id="50" name="">
            <a:extLst xmlns:a="http://schemas.openxmlformats.org/drawingml/2006/main">
              <a:ext uri="{FF2B5EF4-FFF2-40B4-BE49-F238E27FC236}">
                <a16:creationId xmlns:a16="http://schemas.microsoft.com/office/drawing/2014/main" id="{4DEAD2B0-5C52-4212-9518-9B9981ED14CE}"/>
              </a:ext>
            </a:extLst>
          </p:cNvPr>
          <p:cNvSpPr>
            <a:spLocks xmlns:a="http://schemas.openxmlformats.org/drawingml/2006/main" noGrp="1"/>
          </p:cNvSpPr>
          <p:nvPr/>
        </p:nvSpPr>
        <p:spPr>
          <a:xfrm xmlns:a="http://schemas.openxmlformats.org/drawingml/2006/main">
            <a:off x="495300" y="48196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51" name="">
            <a:extLst xmlns:a="http://schemas.openxmlformats.org/drawingml/2006/main">
              <a:ext uri="{FF2B5EF4-FFF2-40B4-BE49-F238E27FC236}">
                <a16:creationId xmlns:a16="http://schemas.microsoft.com/office/drawing/2014/main" id="{61F88B04-E0A6-4486-A420-35B72DEABF6E}"/>
              </a:ext>
            </a:extLst>
          </p:cNvPr>
          <p:cNvSpPr>
            <a:spLocks xmlns:a="http://schemas.openxmlformats.org/drawingml/2006/main" noGrp="1"/>
          </p:cNvSpPr>
          <p:nvPr/>
        </p:nvSpPr>
        <p:spPr>
          <a:xfrm xmlns:a="http://schemas.openxmlformats.org/drawingml/2006/main">
            <a:off x="1276350" y="48196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校内私有化部署，按专业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班级开通</a:t>
            </a:r>
          </a:p>
        </p:txBody>
      </p:sp>
      <p:sp>
        <p:nvSpPr>
          <p:cNvPr id="52" name="">
            <a:extLst xmlns:a="http://schemas.openxmlformats.org/drawingml/2006/main">
              <a:ext uri="{FF2B5EF4-FFF2-40B4-BE49-F238E27FC236}">
                <a16:creationId xmlns:a16="http://schemas.microsoft.com/office/drawing/2014/main" id="{6F33EAA2-FF9A-45D8-8D0C-8FD7AFD2A8EF}"/>
              </a:ext>
            </a:extLst>
          </p:cNvPr>
          <p:cNvSpPr>
            <a:spLocks xmlns:a="http://schemas.openxmlformats.org/drawingml/2006/main" noGrp="1"/>
          </p:cNvSpPr>
          <p:nvPr/>
        </p:nvSpPr>
        <p:spPr>
          <a:xfrm xmlns:a="http://schemas.openxmlformats.org/drawingml/2006/main">
            <a:off x="495300" y="51816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53" name="">
            <a:extLst xmlns:a="http://schemas.openxmlformats.org/drawingml/2006/main">
              <a:ext uri="{FF2B5EF4-FFF2-40B4-BE49-F238E27FC236}">
                <a16:creationId xmlns:a16="http://schemas.microsoft.com/office/drawing/2014/main" id="{975E2DC8-261D-4766-9158-3B3B91ACCCB6}"/>
              </a:ext>
            </a:extLst>
          </p:cNvPr>
          <p:cNvSpPr>
            <a:spLocks xmlns:a="http://schemas.openxmlformats.org/drawingml/2006/main" noGrp="1"/>
          </p:cNvSpPr>
          <p:nvPr/>
        </p:nvSpPr>
        <p:spPr>
          <a:xfrm xmlns:a="http://schemas.openxmlformats.org/drawingml/2006/main">
            <a:off x="1276350" y="51816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按专业或班级订阅；可结合实训室建设整体交付</a:t>
            </a:r>
          </a:p>
        </p:txBody>
      </p:sp>
      <p:sp>
        <p:nvSpPr>
          <p:cNvPr id="54" name="">
            <a:extLst xmlns:a="http://schemas.openxmlformats.org/drawingml/2006/main">
              <a:ext uri="{FF2B5EF4-FFF2-40B4-BE49-F238E27FC236}">
                <a16:creationId xmlns:a16="http://schemas.microsoft.com/office/drawing/2014/main" id="{A2BCDC05-04F1-42B2-B2A6-2DD1A3D36B32}"/>
              </a:ext>
            </a:extLst>
          </p:cNvPr>
          <p:cNvSpPr>
            <a:spLocks xmlns:a="http://schemas.openxmlformats.org/drawingml/2006/main" noGrp="1"/>
          </p:cNvSpPr>
          <p:nvPr/>
        </p:nvSpPr>
        <p:spPr>
          <a:xfrm xmlns:a="http://schemas.openxmlformats.org/drawingml/2006/main">
            <a:off x="495300" y="55435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55" name="">
            <a:extLst xmlns:a="http://schemas.openxmlformats.org/drawingml/2006/main">
              <a:ext uri="{FF2B5EF4-FFF2-40B4-BE49-F238E27FC236}">
                <a16:creationId xmlns:a16="http://schemas.microsoft.com/office/drawing/2014/main" id="{67780DA9-AFCD-42E7-B5CD-878713D46FC7}"/>
              </a:ext>
            </a:extLst>
          </p:cNvPr>
          <p:cNvSpPr>
            <a:spLocks xmlns:a="http://schemas.openxmlformats.org/drawingml/2006/main" noGrp="1"/>
          </p:cNvSpPr>
          <p:nvPr/>
        </p:nvSpPr>
        <p:spPr>
          <a:xfrm xmlns:a="http://schemas.openxmlformats.org/drawingml/2006/main">
            <a:off x="1276350" y="55435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以「课程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题库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考试」打包，先落地一门核心专业课</a:t>
            </a:r>
          </a:p>
        </p:txBody>
      </p:sp>
      <p:sp>
        <p:nvSpPr>
          <p:cNvPr id="56" name="">
            <a:extLst xmlns:a="http://schemas.openxmlformats.org/drawingml/2006/main">
              <a:ext uri="{FF2B5EF4-FFF2-40B4-BE49-F238E27FC236}">
                <a16:creationId xmlns:a16="http://schemas.microsoft.com/office/drawing/2014/main" id="{4304CA9A-42CA-42C2-8CEF-3EB0733CE702}"/>
              </a:ext>
            </a:extLst>
          </p:cNvPr>
          <p:cNvSpPr>
            <a:spLocks xmlns:a="http://schemas.openxmlformats.org/drawingml/2006/main" noGrp="1"/>
          </p:cNvSpPr>
          <p:nvPr/>
        </p:nvSpPr>
        <p:spPr>
          <a:xfrm xmlns:a="http://schemas.openxmlformats.org/drawingml/2006/main">
            <a:off x="6210300" y="371475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7" name="">
            <a:extLst xmlns:a="http://schemas.openxmlformats.org/drawingml/2006/main">
              <a:ext uri="{FF2B5EF4-FFF2-40B4-BE49-F238E27FC236}">
                <a16:creationId xmlns:a16="http://schemas.microsoft.com/office/drawing/2014/main" id="{57FFEE6F-91E5-44FF-894F-365089203F09}"/>
              </a:ext>
            </a:extLst>
          </p:cNvPr>
          <p:cNvSpPr>
            <a:spLocks xmlns:a="http://schemas.openxmlformats.org/drawingml/2006/main" noGrp="1"/>
          </p:cNvSpPr>
          <p:nvPr/>
        </p:nvSpPr>
        <p:spPr>
          <a:xfrm xmlns:a="http://schemas.openxmlformats.org/drawingml/2006/main">
            <a:off x="6210300" y="3714750"/>
            <a:ext cx="5695950" cy="47625"/>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982A01B7-F527-4C61-821A-BDEDB9F05FA9}"/>
              </a:ext>
            </a:extLst>
          </p:cNvPr>
          <p:cNvSpPr>
            <a:spLocks xmlns:a="http://schemas.openxmlformats.org/drawingml/2006/main" noGrp="1"/>
          </p:cNvSpPr>
          <p:nvPr/>
        </p:nvSpPr>
        <p:spPr>
          <a:xfrm xmlns:a="http://schemas.openxmlformats.org/drawingml/2006/main">
            <a:off x="6419850" y="3886200"/>
            <a:ext cx="3619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5FE3A1"/>
                </a:solidFill>
                <a:latin typeface="微软雅黑"/>
                <a:ea typeface="微软雅黑"/>
                <a:cs typeface="微软雅黑"/>
              </a:defRPr>
            </a:pPr>
            <a:r>
              <a:rPr sz="1425" b="1">
                <a:solidFill>
                  <a:srgbClr val="5FE3A1"/>
                </a:solidFill>
                <a:latin typeface="微软雅黑"/>
                <a:ea typeface="微软雅黑"/>
                <a:cs typeface="微软雅黑"/>
              </a:rPr>
              <a:t>新能源场站</a:t>
            </a:r>
          </a:p>
        </p:txBody>
      </p:sp>
      <p:sp>
        <p:nvSpPr>
          <p:cNvPr id="59" name="">
            <a:extLst xmlns:a="http://schemas.openxmlformats.org/drawingml/2006/main">
              <a:ext uri="{FF2B5EF4-FFF2-40B4-BE49-F238E27FC236}">
                <a16:creationId xmlns:a16="http://schemas.microsoft.com/office/drawing/2014/main" id="{ECB3F0C7-8D4C-4EBC-8B22-DBEBC7280438}"/>
              </a:ext>
            </a:extLst>
          </p:cNvPr>
          <p:cNvSpPr>
            <a:spLocks xmlns:a="http://schemas.openxmlformats.org/drawingml/2006/main" noGrp="1"/>
          </p:cNvSpPr>
          <p:nvPr/>
        </p:nvSpPr>
        <p:spPr>
          <a:xfrm xmlns:a="http://schemas.openxmlformats.org/drawingml/2006/main">
            <a:off x="6419850" y="4191000"/>
            <a:ext cx="438150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风电 </a:t>
            </a:r>
            <a:r>
              <a:rPr sz="900" b="0">
                <a:solidFill>
                  <a:srgbClr val="9DBEE8"/>
                </a:solidFill>
                <a:latin typeface="微软雅黑"/>
                <a:ea typeface="微软雅黑"/>
                <a:cs typeface="微软雅黑"/>
              </a:rPr>
              <a:t>/ </a:t>
            </a:r>
            <a:r>
              <a:rPr sz="900" b="0">
                <a:solidFill>
                  <a:srgbClr val="9DBEE8"/>
                </a:solidFill>
                <a:latin typeface="微软雅黑"/>
                <a:ea typeface="微软雅黑"/>
                <a:cs typeface="微软雅黑"/>
              </a:rPr>
              <a:t>光伏</a:t>
            </a:r>
          </a:p>
        </p:txBody>
      </p:sp>
      <p:sp>
        <p:nvSpPr>
          <p:cNvPr id="60" name="">
            <a:extLst xmlns:a="http://schemas.openxmlformats.org/drawingml/2006/main">
              <a:ext uri="{FF2B5EF4-FFF2-40B4-BE49-F238E27FC236}">
                <a16:creationId xmlns:a16="http://schemas.microsoft.com/office/drawing/2014/main" id="{CA100EA2-587F-45AA-B069-94DDDB947ACD}"/>
              </a:ext>
            </a:extLst>
          </p:cNvPr>
          <p:cNvSpPr>
            <a:spLocks xmlns:a="http://schemas.openxmlformats.org/drawingml/2006/main" noGrp="1"/>
          </p:cNvSpPr>
          <p:nvPr/>
        </p:nvSpPr>
        <p:spPr>
          <a:xfrm xmlns:a="http://schemas.openxmlformats.org/drawingml/2006/main">
            <a:off x="6419850" y="44577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61" name="">
            <a:extLst xmlns:a="http://schemas.openxmlformats.org/drawingml/2006/main">
              <a:ext uri="{FF2B5EF4-FFF2-40B4-BE49-F238E27FC236}">
                <a16:creationId xmlns:a16="http://schemas.microsoft.com/office/drawing/2014/main" id="{FDEA017B-6240-477F-9F91-1798B366A0CE}"/>
              </a:ext>
            </a:extLst>
          </p:cNvPr>
          <p:cNvSpPr>
            <a:spLocks xmlns:a="http://schemas.openxmlformats.org/drawingml/2006/main" noGrp="1"/>
          </p:cNvSpPr>
          <p:nvPr/>
        </p:nvSpPr>
        <p:spPr>
          <a:xfrm xmlns:a="http://schemas.openxmlformats.org/drawingml/2006/main">
            <a:off x="7200900" y="44577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值守点分散、人员少，复训窗口难安排，证书到期易漏检</a:t>
            </a:r>
          </a:p>
        </p:txBody>
      </p:sp>
      <p:sp>
        <p:nvSpPr>
          <p:cNvPr id="62" name="">
            <a:extLst xmlns:a="http://schemas.openxmlformats.org/drawingml/2006/main">
              <a:ext uri="{FF2B5EF4-FFF2-40B4-BE49-F238E27FC236}">
                <a16:creationId xmlns:a16="http://schemas.microsoft.com/office/drawing/2014/main" id="{6AD86CDD-A230-4D08-8E8E-9793E18D987A}"/>
              </a:ext>
            </a:extLst>
          </p:cNvPr>
          <p:cNvSpPr>
            <a:spLocks xmlns:a="http://schemas.openxmlformats.org/drawingml/2006/main" noGrp="1"/>
          </p:cNvSpPr>
          <p:nvPr/>
        </p:nvSpPr>
        <p:spPr>
          <a:xfrm xmlns:a="http://schemas.openxmlformats.org/drawingml/2006/main">
            <a:off x="6419850" y="48196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63" name="">
            <a:extLst xmlns:a="http://schemas.openxmlformats.org/drawingml/2006/main">
              <a:ext uri="{FF2B5EF4-FFF2-40B4-BE49-F238E27FC236}">
                <a16:creationId xmlns:a16="http://schemas.microsoft.com/office/drawing/2014/main" id="{5C861556-930C-4AC0-90D2-A801F6172374}"/>
              </a:ext>
            </a:extLst>
          </p:cNvPr>
          <p:cNvSpPr>
            <a:spLocks xmlns:a="http://schemas.openxmlformats.org/drawingml/2006/main" noGrp="1"/>
          </p:cNvSpPr>
          <p:nvPr/>
        </p:nvSpPr>
        <p:spPr>
          <a:xfrm xmlns:a="http://schemas.openxmlformats.org/drawingml/2006/main">
            <a:off x="7200900" y="48196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场站侧离线部署或中心集中部署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弱网同步</a:t>
            </a:r>
          </a:p>
        </p:txBody>
      </p:sp>
      <p:sp>
        <p:nvSpPr>
          <p:cNvPr id="64" name="">
            <a:extLst xmlns:a="http://schemas.openxmlformats.org/drawingml/2006/main">
              <a:ext uri="{FF2B5EF4-FFF2-40B4-BE49-F238E27FC236}">
                <a16:creationId xmlns:a16="http://schemas.microsoft.com/office/drawing/2014/main" id="{FAE5835E-11D5-4CE7-BD38-851FD1AC4789}"/>
              </a:ext>
            </a:extLst>
          </p:cNvPr>
          <p:cNvSpPr>
            <a:spLocks xmlns:a="http://schemas.openxmlformats.org/drawingml/2006/main" noGrp="1"/>
          </p:cNvSpPr>
          <p:nvPr/>
        </p:nvSpPr>
        <p:spPr>
          <a:xfrm xmlns:a="http://schemas.openxmlformats.org/drawingml/2006/main">
            <a:off x="6419850" y="518160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65" name="">
            <a:extLst xmlns:a="http://schemas.openxmlformats.org/drawingml/2006/main">
              <a:ext uri="{FF2B5EF4-FFF2-40B4-BE49-F238E27FC236}">
                <a16:creationId xmlns:a16="http://schemas.microsoft.com/office/drawing/2014/main" id="{D7E4F4F0-F5D8-4738-A603-B6483DB03DD9}"/>
              </a:ext>
            </a:extLst>
          </p:cNvPr>
          <p:cNvSpPr>
            <a:spLocks xmlns:a="http://schemas.openxmlformats.org/drawingml/2006/main" noGrp="1"/>
          </p:cNvSpPr>
          <p:nvPr/>
        </p:nvSpPr>
        <p:spPr>
          <a:xfrm xmlns:a="http://schemas.openxmlformats.org/drawingml/2006/main">
            <a:off x="7200900" y="518160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按场站订阅，多场站打包有阶梯价</a:t>
            </a:r>
          </a:p>
        </p:txBody>
      </p:sp>
      <p:sp>
        <p:nvSpPr>
          <p:cNvPr id="66" name="">
            <a:extLst xmlns:a="http://schemas.openxmlformats.org/drawingml/2006/main">
              <a:ext uri="{FF2B5EF4-FFF2-40B4-BE49-F238E27FC236}">
                <a16:creationId xmlns:a16="http://schemas.microsoft.com/office/drawing/2014/main" id="{DE18E5AF-878D-442D-8E0F-3B6755CCD367}"/>
              </a:ext>
            </a:extLst>
          </p:cNvPr>
          <p:cNvSpPr>
            <a:spLocks xmlns:a="http://schemas.openxmlformats.org/drawingml/2006/main" noGrp="1"/>
          </p:cNvSpPr>
          <p:nvPr/>
        </p:nvSpPr>
        <p:spPr>
          <a:xfrm xmlns:a="http://schemas.openxmlformats.org/drawingml/2006/main">
            <a:off x="6419850" y="5543550"/>
            <a:ext cx="742950" cy="209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67" name="">
            <a:extLst xmlns:a="http://schemas.openxmlformats.org/drawingml/2006/main">
              <a:ext uri="{FF2B5EF4-FFF2-40B4-BE49-F238E27FC236}">
                <a16:creationId xmlns:a16="http://schemas.microsoft.com/office/drawing/2014/main" id="{642AFDAB-DE86-428D-BEB6-F5A668EB99D8}"/>
              </a:ext>
            </a:extLst>
          </p:cNvPr>
          <p:cNvSpPr>
            <a:spLocks xmlns:a="http://schemas.openxmlformats.org/drawingml/2006/main" noGrp="1"/>
          </p:cNvSpPr>
          <p:nvPr/>
        </p:nvSpPr>
        <p:spPr>
          <a:xfrm xmlns:a="http://schemas.openxmlformats.org/drawingml/2006/main">
            <a:off x="7200900" y="5543550"/>
            <a:ext cx="4533900" cy="3238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从证书到期预警与定向补训两个高频刚需切入</a:t>
            </a:r>
          </a:p>
        </p:txBody>
      </p:sp>
      <p:sp>
        <p:nvSpPr>
          <p:cNvPr id="68" name="">
            <a:extLst xmlns:a="http://schemas.openxmlformats.org/drawingml/2006/main">
              <a:ext uri="{FF2B5EF4-FFF2-40B4-BE49-F238E27FC236}">
                <a16:creationId xmlns:a16="http://schemas.microsoft.com/office/drawing/2014/main" id="{158BF053-6EFE-49C1-BC61-09B76AF26F92}"/>
              </a:ext>
            </a:extLst>
          </p:cNvPr>
          <p:cNvSpPr>
            <a:spLocks xmlns:a="http://schemas.openxmlformats.org/drawingml/2006/main" noGrp="1"/>
          </p:cNvSpPr>
          <p:nvPr/>
        </p:nvSpPr>
        <p:spPr>
          <a:xfrm xmlns:a="http://schemas.openxmlformats.org/drawingml/2006/main">
            <a:off x="285750" y="6057900"/>
            <a:ext cx="11620500" cy="476250"/>
          </a:xfrm>
          <a:prstGeom xmlns:a="http://schemas.openxmlformats.org/drawingml/2006/main" prst="roundRect">
            <a:avLst>
              <a:gd name="adj" fmla="val 18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9" name="">
            <a:extLst xmlns:a="http://schemas.openxmlformats.org/drawingml/2006/main">
              <a:ext uri="{FF2B5EF4-FFF2-40B4-BE49-F238E27FC236}">
                <a16:creationId xmlns:a16="http://schemas.microsoft.com/office/drawing/2014/main" id="{5E2E885B-6868-41EC-878B-CFAAB803111E}"/>
              </a:ext>
            </a:extLst>
          </p:cNvPr>
          <p:cNvSpPr>
            <a:spLocks xmlns:a="http://schemas.openxmlformats.org/drawingml/2006/main" noGrp="1"/>
          </p:cNvSpPr>
          <p:nvPr/>
        </p:nvSpPr>
        <p:spPr>
          <a:xfrm xmlns:a="http://schemas.openxmlformats.org/drawingml/2006/main">
            <a:off x="457200" y="6057900"/>
            <a:ext cx="11239500" cy="476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推进顺序建议：先用「变电运维班组」跑通一个完整考核周期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再以县级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地市供电公司为付费主体做中心级推广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同步向电力高职与新能源场站复制同一套引擎。</a:t>
            </a:r>
          </a:p>
        </p:txBody>
      </p:sp>
      <p:sp>
        <p:nvSpPr>
          <p:cNvPr id="70" name="">
            <a:extLst xmlns:a="http://schemas.openxmlformats.org/drawingml/2006/main">
              <a:ext uri="{FF2B5EF4-FFF2-40B4-BE49-F238E27FC236}">
                <a16:creationId xmlns:a16="http://schemas.microsoft.com/office/drawing/2014/main" id="{EA42EAB0-CEAB-4F8E-A914-B9960E042C75}"/>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2E1270DD-366B-4E2B-8F39-EF893464EB4B}"/>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72" name="">
            <a:extLst xmlns:a="http://schemas.openxmlformats.org/drawingml/2006/main">
              <a:ext uri="{FF2B5EF4-FFF2-40B4-BE49-F238E27FC236}">
                <a16:creationId xmlns:a16="http://schemas.microsoft.com/office/drawing/2014/main" id="{1140400B-22ED-4D4A-93DF-801124E168EC}"/>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3" name="">
            <a:extLst xmlns:a="http://schemas.openxmlformats.org/drawingml/2006/main">
              <a:ext uri="{FF2B5EF4-FFF2-40B4-BE49-F238E27FC236}">
                <a16:creationId xmlns:a16="http://schemas.microsoft.com/office/drawing/2014/main" id="{3C7C916B-2244-467D-95D7-E985FCC76064}"/>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C0229BBC-A1F6-48FF-ABFA-FF44962F70D9}"/>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34</a:t>
            </a:r>
          </a:p>
        </p:txBody>
      </p:sp>
    </p:spTree>
    <p:extLst>
      <p:ext uri="{BB962C8B-B14F-4D97-AF65-F5344CB8AC3E}">
        <p14:creationId xmlns:p14="http://schemas.microsoft.com/office/powerpoint/2010/main" val="1210753326"/>
      </p:ext>
    </p:extLst>
  </p:cSld>
</p:sld>
</file>

<file path=ppt/slides/slide3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dc6ff95167cd4ff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506889-6DDB-4793-A8FB-7B8E32325A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2886BB1D-4583-462E-A9D1-608F166AA85C}"/>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CB41051-D7D2-4469-A9AA-058076196953}"/>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5A7A4FA8-432D-483F-8018-0BE3C0815AA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CA0168F-D00B-46A9-AEB9-F9944859A1CA}"/>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FEF989F9-B8BD-4C33-A27E-7D320EEBBF28}"/>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DE21D033-82B3-48D8-A7D9-B71FCFB59A7A}"/>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361F1B6E-9357-4537-BB40-E2A763FECFB0}"/>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B2CE002B-A5D7-45A3-BF66-6C535CFDCA15}"/>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E5F3B06B-614F-4436-A160-BB0090F44CE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2D0788E6-A48D-41C6-9E5D-6BD31561058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2F2C79E0-2F4B-4BF9-B7D5-72CEE79DADC8}"/>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F972C98B-2964-4755-80E0-FA6D027B7FB3}"/>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市场价值测算：按成本口径算账</a:t>
            </a:r>
          </a:p>
        </p:txBody>
      </p:sp>
      <p:sp>
        <p:nvSpPr>
          <p:cNvPr id="15" name="">
            <a:extLst xmlns:a="http://schemas.openxmlformats.org/drawingml/2006/main">
              <a:ext uri="{FF2B5EF4-FFF2-40B4-BE49-F238E27FC236}">
                <a16:creationId xmlns:a16="http://schemas.microsoft.com/office/drawing/2014/main" id="{C75A7FB5-CFBD-428C-86EF-9F4859ECF460}"/>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10A34527-8E14-411B-AB86-1E36BF406D9B}"/>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72A70062-3269-47B6-9DD2-EC50BF6B6DC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AE62A5AF-DAD7-4A56-909D-A14D642B001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408EAD28-2EC6-41B0-B359-73F15DDB2868}"/>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把「省多少钱」写成可代入的算式，并明确这是按需求参数代入的示范测算，不是试点实测值。</a:t>
            </a:r>
          </a:p>
        </p:txBody>
      </p:sp>
      <p:sp>
        <p:nvSpPr>
          <p:cNvPr id="20" name="">
            <a:extLst xmlns:a="http://schemas.openxmlformats.org/drawingml/2006/main">
              <a:ext uri="{FF2B5EF4-FFF2-40B4-BE49-F238E27FC236}">
                <a16:creationId xmlns:a16="http://schemas.microsoft.com/office/drawing/2014/main" id="{0323CC31-02E1-4A68-9535-B643BBA2CAB0}"/>
              </a:ext>
            </a:extLst>
          </p:cNvPr>
          <p:cNvSpPr>
            <a:spLocks xmlns:a="http://schemas.openxmlformats.org/drawingml/2006/main" noGrp="1"/>
          </p:cNvSpPr>
          <p:nvPr/>
        </p:nvSpPr>
        <p:spPr>
          <a:xfrm xmlns:a="http://schemas.openxmlformats.org/drawingml/2006/main">
            <a:off x="285750" y="1333500"/>
            <a:ext cx="5715000" cy="1676400"/>
          </a:xfrm>
          <a:prstGeom xmlns:a="http://schemas.openxmlformats.org/drawingml/2006/main" prst="roundRect">
            <a:avLst>
              <a:gd name="adj" fmla="val 511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9D1F09E5-CFD3-4E2F-A786-6676133B1D91}"/>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成本参数（来源：本项目需求测算）</a:t>
            </a:r>
          </a:p>
        </p:txBody>
      </p:sp>
      <p:sp>
        <p:nvSpPr>
          <p:cNvPr id="22" name="">
            <a:extLst xmlns:a="http://schemas.openxmlformats.org/drawingml/2006/main">
              <a:ext uri="{FF2B5EF4-FFF2-40B4-BE49-F238E27FC236}">
                <a16:creationId xmlns:a16="http://schemas.microsoft.com/office/drawing/2014/main" id="{CD2E0796-F571-457E-BD52-147CCE734491}"/>
              </a:ext>
            </a:extLst>
          </p:cNvPr>
          <p:cNvSpPr>
            <a:spLocks xmlns:a="http://schemas.openxmlformats.org/drawingml/2006/main" noGrp="1"/>
          </p:cNvSpPr>
          <p:nvPr/>
        </p:nvSpPr>
        <p:spPr>
          <a:xfrm xmlns:a="http://schemas.openxmlformats.org/drawingml/2006/main">
            <a:off x="457200" y="17716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内部转岗培训</a:t>
            </a:r>
          </a:p>
        </p:txBody>
      </p:sp>
      <p:sp>
        <p:nvSpPr>
          <p:cNvPr id="23" name="">
            <a:extLst xmlns:a="http://schemas.openxmlformats.org/drawingml/2006/main">
              <a:ext uri="{FF2B5EF4-FFF2-40B4-BE49-F238E27FC236}">
                <a16:creationId xmlns:a16="http://schemas.microsoft.com/office/drawing/2014/main" id="{92AFA6C3-3FDF-40B7-83D5-7DA8635D7625}"/>
              </a:ext>
            </a:extLst>
          </p:cNvPr>
          <p:cNvSpPr>
            <a:spLocks xmlns:a="http://schemas.openxmlformats.org/drawingml/2006/main" noGrp="1"/>
          </p:cNvSpPr>
          <p:nvPr/>
        </p:nvSpPr>
        <p:spPr>
          <a:xfrm xmlns:a="http://schemas.openxmlformats.org/drawingml/2006/main">
            <a:off x="2628900" y="17716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2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24" name="">
            <a:extLst xmlns:a="http://schemas.openxmlformats.org/drawingml/2006/main">
              <a:ext uri="{FF2B5EF4-FFF2-40B4-BE49-F238E27FC236}">
                <a16:creationId xmlns:a16="http://schemas.microsoft.com/office/drawing/2014/main" id="{24B29E3C-1210-462F-837E-D925DFABEBCF}"/>
              </a:ext>
            </a:extLst>
          </p:cNvPr>
          <p:cNvSpPr>
            <a:spLocks xmlns:a="http://schemas.openxmlformats.org/drawingml/2006/main" noGrp="1"/>
          </p:cNvSpPr>
          <p:nvPr/>
        </p:nvSpPr>
        <p:spPr>
          <a:xfrm xmlns:a="http://schemas.openxmlformats.org/drawingml/2006/main">
            <a:off x="457200" y="20764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外部招聘</a:t>
            </a:r>
          </a:p>
        </p:txBody>
      </p:sp>
      <p:sp>
        <p:nvSpPr>
          <p:cNvPr id="25" name="">
            <a:extLst xmlns:a="http://schemas.openxmlformats.org/drawingml/2006/main">
              <a:ext uri="{FF2B5EF4-FFF2-40B4-BE49-F238E27FC236}">
                <a16:creationId xmlns:a16="http://schemas.microsoft.com/office/drawing/2014/main" id="{0FFF04BA-6E69-4CE5-86C9-05FC2866F368}"/>
              </a:ext>
            </a:extLst>
          </p:cNvPr>
          <p:cNvSpPr>
            <a:spLocks xmlns:a="http://schemas.openxmlformats.org/drawingml/2006/main" noGrp="1"/>
          </p:cNvSpPr>
          <p:nvPr/>
        </p:nvSpPr>
        <p:spPr>
          <a:xfrm xmlns:a="http://schemas.openxmlformats.org/drawingml/2006/main">
            <a:off x="2628900" y="20764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26" name="">
            <a:extLst xmlns:a="http://schemas.openxmlformats.org/drawingml/2006/main">
              <a:ext uri="{FF2B5EF4-FFF2-40B4-BE49-F238E27FC236}">
                <a16:creationId xmlns:a16="http://schemas.microsoft.com/office/drawing/2014/main" id="{8F375EB8-F8EF-4CC1-9DE9-33DF626417CB}"/>
              </a:ext>
            </a:extLst>
          </p:cNvPr>
          <p:cNvSpPr>
            <a:spLocks xmlns:a="http://schemas.openxmlformats.org/drawingml/2006/main" noGrp="1"/>
          </p:cNvSpPr>
          <p:nvPr/>
        </p:nvSpPr>
        <p:spPr>
          <a:xfrm xmlns:a="http://schemas.openxmlformats.org/drawingml/2006/main">
            <a:off x="457200" y="23812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外委服务</a:t>
            </a:r>
          </a:p>
        </p:txBody>
      </p:sp>
      <p:sp>
        <p:nvSpPr>
          <p:cNvPr id="27" name="">
            <a:extLst xmlns:a="http://schemas.openxmlformats.org/drawingml/2006/main">
              <a:ext uri="{FF2B5EF4-FFF2-40B4-BE49-F238E27FC236}">
                <a16:creationId xmlns:a16="http://schemas.microsoft.com/office/drawing/2014/main" id="{65DDE2E8-95A3-4B78-97EB-4D5B2D4384A2}"/>
              </a:ext>
            </a:extLst>
          </p:cNvPr>
          <p:cNvSpPr>
            <a:spLocks xmlns:a="http://schemas.openxmlformats.org/drawingml/2006/main" noGrp="1"/>
          </p:cNvSpPr>
          <p:nvPr/>
        </p:nvSpPr>
        <p:spPr>
          <a:xfrm xmlns:a="http://schemas.openxmlformats.org/drawingml/2006/main">
            <a:off x="2628900" y="23812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1.5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月（</a:t>
            </a:r>
            <a:r>
              <a:rPr sz="975" b="1">
                <a:solidFill>
                  <a:srgbClr val="FFFFFF"/>
                </a:solidFill>
                <a:latin typeface="微软雅黑"/>
                <a:ea typeface="微软雅黑"/>
                <a:cs typeface="微软雅黑"/>
              </a:rPr>
              <a:t>≈18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年）</a:t>
            </a:r>
          </a:p>
        </p:txBody>
      </p:sp>
      <p:sp>
        <p:nvSpPr>
          <p:cNvPr id="28" name="">
            <a:extLst xmlns:a="http://schemas.openxmlformats.org/drawingml/2006/main">
              <a:ext uri="{FF2B5EF4-FFF2-40B4-BE49-F238E27FC236}">
                <a16:creationId xmlns:a16="http://schemas.microsoft.com/office/drawing/2014/main" id="{91EC3CCC-55F0-41F7-84C1-870A67817131}"/>
              </a:ext>
            </a:extLst>
          </p:cNvPr>
          <p:cNvSpPr>
            <a:spLocks xmlns:a="http://schemas.openxmlformats.org/drawingml/2006/main" noGrp="1"/>
          </p:cNvSpPr>
          <p:nvPr/>
        </p:nvSpPr>
        <p:spPr>
          <a:xfrm xmlns:a="http://schemas.openxmlformats.org/drawingml/2006/main">
            <a:off x="457200" y="2686050"/>
            <a:ext cx="20955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工作量变化</a:t>
            </a:r>
          </a:p>
        </p:txBody>
      </p:sp>
      <p:sp>
        <p:nvSpPr>
          <p:cNvPr id="29" name="">
            <a:extLst xmlns:a="http://schemas.openxmlformats.org/drawingml/2006/main">
              <a:ext uri="{FF2B5EF4-FFF2-40B4-BE49-F238E27FC236}">
                <a16:creationId xmlns:a16="http://schemas.microsoft.com/office/drawing/2014/main" id="{91749FBD-6033-4C0E-8A3E-BF072ED6CB72}"/>
              </a:ext>
            </a:extLst>
          </p:cNvPr>
          <p:cNvSpPr>
            <a:spLocks xmlns:a="http://schemas.openxmlformats.org/drawingml/2006/main" noGrp="1"/>
          </p:cNvSpPr>
          <p:nvPr/>
        </p:nvSpPr>
        <p:spPr>
          <a:xfrm xmlns:a="http://schemas.openxmlformats.org/drawingml/2006/main">
            <a:off x="2628900" y="2686050"/>
            <a:ext cx="314325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新增 </a:t>
            </a:r>
            <a:r>
              <a:rPr sz="975" b="1">
                <a:solidFill>
                  <a:srgbClr val="FFFFFF"/>
                </a:solidFill>
                <a:latin typeface="微软雅黑"/>
                <a:ea typeface="微软雅黑"/>
                <a:cs typeface="微软雅黑"/>
              </a:rPr>
              <a:t>2 </a:t>
            </a:r>
            <a:r>
              <a:rPr sz="975" b="1">
                <a:solidFill>
                  <a:srgbClr val="FFFFFF"/>
                </a:solidFill>
                <a:latin typeface="微软雅黑"/>
                <a:ea typeface="微软雅黑"/>
                <a:cs typeface="微软雅黑"/>
              </a:rPr>
              <a:t>座 </a:t>
            </a:r>
            <a:r>
              <a:rPr sz="975" b="1">
                <a:solidFill>
                  <a:srgbClr val="FFFFFF"/>
                </a:solidFill>
                <a:latin typeface="微软雅黑"/>
                <a:ea typeface="微软雅黑"/>
                <a:cs typeface="微软雅黑"/>
              </a:rPr>
              <a:t>110kV </a:t>
            </a:r>
            <a:r>
              <a:rPr sz="975" b="1">
                <a:solidFill>
                  <a:srgbClr val="FFFFFF"/>
                </a:solidFill>
                <a:latin typeface="微软雅黑"/>
                <a:ea typeface="微软雅黑"/>
                <a:cs typeface="微软雅黑"/>
              </a:rPr>
              <a:t>变电站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运维工作量 </a:t>
            </a:r>
            <a:r>
              <a:rPr sz="975" b="1">
                <a:solidFill>
                  <a:srgbClr val="FFFFFF"/>
                </a:solidFill>
                <a:latin typeface="微软雅黑"/>
                <a:ea typeface="微软雅黑"/>
                <a:cs typeface="微软雅黑"/>
              </a:rPr>
              <a:t>+30%</a:t>
            </a:r>
          </a:p>
        </p:txBody>
      </p:sp>
      <p:sp>
        <p:nvSpPr>
          <p:cNvPr id="30" name="">
            <a:extLst xmlns:a="http://schemas.openxmlformats.org/drawingml/2006/main">
              <a:ext uri="{FF2B5EF4-FFF2-40B4-BE49-F238E27FC236}">
                <a16:creationId xmlns:a16="http://schemas.microsoft.com/office/drawing/2014/main" id="{5C2F4420-E5F6-4E55-B24F-CB0B53066E9D}"/>
              </a:ext>
            </a:extLst>
          </p:cNvPr>
          <p:cNvSpPr>
            <a:spLocks xmlns:a="http://schemas.openxmlformats.org/drawingml/2006/main" noGrp="1"/>
          </p:cNvSpPr>
          <p:nvPr/>
        </p:nvSpPr>
        <p:spPr>
          <a:xfrm xmlns:a="http://schemas.openxmlformats.org/drawingml/2006/main">
            <a:off x="285750" y="3162300"/>
            <a:ext cx="5715000" cy="2533650"/>
          </a:xfrm>
          <a:prstGeom xmlns:a="http://schemas.openxmlformats.org/drawingml/2006/main" prst="roundRect">
            <a:avLst>
              <a:gd name="adj" fmla="val 338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708960FB-1ACC-4FF4-BBE3-19EE497ED326}"/>
              </a:ext>
            </a:extLst>
          </p:cNvPr>
          <p:cNvSpPr>
            <a:spLocks xmlns:a="http://schemas.openxmlformats.org/drawingml/2006/main" noGrp="1"/>
          </p:cNvSpPr>
          <p:nvPr/>
        </p:nvSpPr>
        <p:spPr>
          <a:xfrm xmlns:a="http://schemas.openxmlformats.org/drawingml/2006/main">
            <a:off x="457200" y="3276600"/>
            <a:ext cx="5334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示范测算：继保 </a:t>
            </a:r>
            <a:r>
              <a:rPr sz="1050" b="1">
                <a:solidFill>
                  <a:srgbClr val="4FD8FF"/>
                </a:solidFill>
                <a:latin typeface="微软雅黑"/>
                <a:ea typeface="微软雅黑"/>
                <a:cs typeface="微软雅黑"/>
              </a:rPr>
              <a:t>L3 </a:t>
            </a:r>
            <a:r>
              <a:rPr sz="1050" b="1">
                <a:solidFill>
                  <a:srgbClr val="4FD8FF"/>
                </a:solidFill>
                <a:latin typeface="微软雅黑"/>
                <a:ea typeface="微软雅黑"/>
                <a:cs typeface="微软雅黑"/>
              </a:rPr>
              <a:t>缺 </a:t>
            </a:r>
            <a:r>
              <a:rPr sz="1050" b="1">
                <a:solidFill>
                  <a:srgbClr val="4FD8FF"/>
                </a:solidFill>
                <a:latin typeface="微软雅黑"/>
                <a:ea typeface="微软雅黑"/>
                <a:cs typeface="微软雅黑"/>
              </a:rPr>
              <a:t>4 </a:t>
            </a:r>
            <a:r>
              <a:rPr sz="1050" b="1">
                <a:solidFill>
                  <a:srgbClr val="4FD8FF"/>
                </a:solidFill>
                <a:latin typeface="微软雅黑"/>
                <a:ea typeface="微软雅黑"/>
                <a:cs typeface="微软雅黑"/>
              </a:rPr>
              <a:t>人、高压试验缺 </a:t>
            </a:r>
            <a:r>
              <a:rPr sz="1050" b="1">
                <a:solidFill>
                  <a:srgbClr val="4FD8FF"/>
                </a:solidFill>
                <a:latin typeface="微软雅黑"/>
                <a:ea typeface="微软雅黑"/>
                <a:cs typeface="微软雅黑"/>
              </a:rPr>
              <a:t>3 </a:t>
            </a:r>
            <a:r>
              <a:rPr sz="1050" b="1">
                <a:solidFill>
                  <a:srgbClr val="4FD8FF"/>
                </a:solidFill>
                <a:latin typeface="微软雅黑"/>
                <a:ea typeface="微软雅黑"/>
                <a:cs typeface="微软雅黑"/>
              </a:rPr>
              <a:t>人</a:t>
            </a:r>
          </a:p>
        </p:txBody>
      </p:sp>
      <p:sp>
        <p:nvSpPr>
          <p:cNvPr id="32" name="">
            <a:extLst xmlns:a="http://schemas.openxmlformats.org/drawingml/2006/main">
              <a:ext uri="{FF2B5EF4-FFF2-40B4-BE49-F238E27FC236}">
                <a16:creationId xmlns:a16="http://schemas.microsoft.com/office/drawing/2014/main" id="{52D92741-C01E-46E8-AA13-658133A66FDA}"/>
              </a:ext>
            </a:extLst>
          </p:cNvPr>
          <p:cNvSpPr>
            <a:spLocks xmlns:a="http://schemas.openxmlformats.org/drawingml/2006/main" noGrp="1"/>
          </p:cNvSpPr>
          <p:nvPr/>
        </p:nvSpPr>
        <p:spPr>
          <a:xfrm xmlns:a="http://schemas.openxmlformats.org/drawingml/2006/main">
            <a:off x="457200" y="3543300"/>
            <a:ext cx="5372100" cy="400050"/>
          </a:xfrm>
          <a:prstGeom xmlns:a="http://schemas.openxmlformats.org/drawingml/2006/main" prst="roundRect">
            <a:avLst>
              <a:gd name="adj" fmla="val 21429"/>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3" name="">
            <a:extLst xmlns:a="http://schemas.openxmlformats.org/drawingml/2006/main">
              <a:ext uri="{FF2B5EF4-FFF2-40B4-BE49-F238E27FC236}">
                <a16:creationId xmlns:a16="http://schemas.microsoft.com/office/drawing/2014/main" id="{A13E62BC-FCED-4CD9-8696-F009AC941EEF}"/>
              </a:ext>
            </a:extLst>
          </p:cNvPr>
          <p:cNvSpPr>
            <a:spLocks xmlns:a="http://schemas.openxmlformats.org/drawingml/2006/main" noGrp="1"/>
          </p:cNvSpPr>
          <p:nvPr/>
        </p:nvSpPr>
        <p:spPr>
          <a:xfrm xmlns:a="http://schemas.openxmlformats.org/drawingml/2006/main">
            <a:off x="571500" y="35814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C6DDFF"/>
                </a:solidFill>
                <a:latin typeface="微软雅黑"/>
                <a:ea typeface="微软雅黑"/>
                <a:cs typeface="微软雅黑"/>
              </a:defRPr>
            </a:pPr>
            <a:r>
              <a:rPr sz="825" b="1">
                <a:solidFill>
                  <a:srgbClr val="C6DDFF"/>
                </a:solidFill>
                <a:latin typeface="微软雅黑"/>
                <a:ea typeface="微软雅黑"/>
                <a:cs typeface="微软雅黑"/>
              </a:rPr>
              <a:t>口径 </a:t>
            </a:r>
            <a:r>
              <a:rPr sz="825" b="1">
                <a:solidFill>
                  <a:srgbClr val="C6DDFF"/>
                </a:solidFill>
                <a:latin typeface="微软雅黑"/>
                <a:ea typeface="微软雅黑"/>
                <a:cs typeface="微软雅黑"/>
              </a:rPr>
              <a:t>A · </a:t>
            </a:r>
            <a:r>
              <a:rPr sz="825" b="1">
                <a:solidFill>
                  <a:srgbClr val="C6DDFF"/>
                </a:solidFill>
                <a:latin typeface="微软雅黑"/>
                <a:ea typeface="微软雅黑"/>
                <a:cs typeface="微软雅黑"/>
              </a:rPr>
              <a:t>全部外招</a:t>
            </a:r>
          </a:p>
        </p:txBody>
      </p:sp>
      <p:sp>
        <p:nvSpPr>
          <p:cNvPr id="34" name="">
            <a:extLst xmlns:a="http://schemas.openxmlformats.org/drawingml/2006/main">
              <a:ext uri="{FF2B5EF4-FFF2-40B4-BE49-F238E27FC236}">
                <a16:creationId xmlns:a16="http://schemas.microsoft.com/office/drawing/2014/main" id="{A1DC4D96-9A88-4016-9443-2AC399154CBC}"/>
              </a:ext>
            </a:extLst>
          </p:cNvPr>
          <p:cNvSpPr>
            <a:spLocks xmlns:a="http://schemas.openxmlformats.org/drawingml/2006/main" noGrp="1"/>
          </p:cNvSpPr>
          <p:nvPr/>
        </p:nvSpPr>
        <p:spPr>
          <a:xfrm xmlns:a="http://schemas.openxmlformats.org/drawingml/2006/main">
            <a:off x="571500" y="37528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继保 </a:t>
            </a:r>
            <a:r>
              <a:rPr sz="788" b="0">
                <a:solidFill>
                  <a:srgbClr val="EEF5FF"/>
                </a:solidFill>
                <a:latin typeface="微软雅黑"/>
                <a:ea typeface="微软雅黑"/>
                <a:cs typeface="微软雅黑"/>
              </a:rPr>
              <a:t>4 </a:t>
            </a:r>
            <a:r>
              <a:rPr sz="788" b="0">
                <a:solidFill>
                  <a:srgbClr val="EEF5FF"/>
                </a:solidFill>
                <a:latin typeface="微软雅黑"/>
                <a:ea typeface="微软雅黑"/>
                <a:cs typeface="微软雅黑"/>
              </a:rPr>
              <a:t>人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高压试验 </a:t>
            </a:r>
            <a:r>
              <a:rPr sz="788" b="0">
                <a:solidFill>
                  <a:srgbClr val="EEF5FF"/>
                </a:solidFill>
                <a:latin typeface="微软雅黑"/>
                <a:ea typeface="微软雅黑"/>
                <a:cs typeface="微软雅黑"/>
              </a:rPr>
              <a:t>3 </a:t>
            </a:r>
            <a:r>
              <a:rPr sz="788" b="0">
                <a:solidFill>
                  <a:srgbClr val="EEF5FF"/>
                </a:solidFill>
                <a:latin typeface="微软雅黑"/>
                <a:ea typeface="微软雅黑"/>
                <a:cs typeface="微软雅黑"/>
              </a:rPr>
              <a:t>人 </a:t>
            </a:r>
            <a:r>
              <a:rPr sz="788" b="0">
                <a:solidFill>
                  <a:srgbClr val="EEF5FF"/>
                </a:solidFill>
                <a:latin typeface="微软雅黑"/>
                <a:ea typeface="微软雅黑"/>
                <a:cs typeface="微软雅黑"/>
              </a:rPr>
              <a:t>= 7 </a:t>
            </a:r>
            <a:r>
              <a:rPr sz="788" b="0">
                <a:solidFill>
                  <a:srgbClr val="EEF5FF"/>
                </a:solidFill>
                <a:latin typeface="微软雅黑"/>
                <a:ea typeface="微软雅黑"/>
                <a:cs typeface="微软雅黑"/>
              </a:rPr>
              <a:t>人 </a:t>
            </a:r>
            <a:r>
              <a:rPr sz="788" b="0">
                <a:solidFill>
                  <a:srgbClr val="EEF5FF"/>
                </a:solidFill>
                <a:latin typeface="微软雅黑"/>
                <a:ea typeface="微软雅黑"/>
                <a:cs typeface="微软雅黑"/>
              </a:rPr>
              <a:t>× 8 </a:t>
            </a:r>
            <a:r>
              <a:rPr sz="788" b="0">
                <a:solidFill>
                  <a:srgbClr val="EEF5FF"/>
                </a:solidFill>
                <a:latin typeface="微软雅黑"/>
                <a:ea typeface="微软雅黑"/>
                <a:cs typeface="微软雅黑"/>
              </a:rPr>
              <a:t>万</a:t>
            </a:r>
          </a:p>
        </p:txBody>
      </p:sp>
      <p:sp>
        <p:nvSpPr>
          <p:cNvPr id="35" name="">
            <a:extLst xmlns:a="http://schemas.openxmlformats.org/drawingml/2006/main">
              <a:ext uri="{FF2B5EF4-FFF2-40B4-BE49-F238E27FC236}">
                <a16:creationId xmlns:a16="http://schemas.microsoft.com/office/drawing/2014/main" id="{5F91A871-2831-466B-9EBC-670BBAE32508}"/>
              </a:ext>
            </a:extLst>
          </p:cNvPr>
          <p:cNvSpPr>
            <a:spLocks xmlns:a="http://schemas.openxmlformats.org/drawingml/2006/main" noGrp="1"/>
          </p:cNvSpPr>
          <p:nvPr/>
        </p:nvSpPr>
        <p:spPr>
          <a:xfrm xmlns:a="http://schemas.openxmlformats.org/drawingml/2006/main">
            <a:off x="4305300" y="36576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C6DDFF"/>
                </a:solidFill>
                <a:latin typeface="微软雅黑"/>
                <a:ea typeface="微软雅黑"/>
                <a:cs typeface="微软雅黑"/>
              </a:defRPr>
            </a:pPr>
            <a:r>
              <a:rPr sz="975" b="1">
                <a:solidFill>
                  <a:srgbClr val="C6DDFF"/>
                </a:solidFill>
                <a:latin typeface="微软雅黑"/>
                <a:ea typeface="微软雅黑"/>
                <a:cs typeface="微软雅黑"/>
              </a:rPr>
              <a:t>56 </a:t>
            </a:r>
            <a:r>
              <a:rPr sz="975" b="1">
                <a:solidFill>
                  <a:srgbClr val="C6DDFF"/>
                </a:solidFill>
                <a:latin typeface="微软雅黑"/>
                <a:ea typeface="微软雅黑"/>
                <a:cs typeface="微软雅黑"/>
              </a:rPr>
              <a:t>万元 </a:t>
            </a:r>
            <a:r>
              <a:rPr sz="975" b="1">
                <a:solidFill>
                  <a:srgbClr val="C6DDFF"/>
                </a:solidFill>
                <a:latin typeface="微软雅黑"/>
                <a:ea typeface="微软雅黑"/>
                <a:cs typeface="微软雅黑"/>
              </a:rPr>
              <a:t>/ </a:t>
            </a:r>
            <a:r>
              <a:rPr sz="975" b="1">
                <a:solidFill>
                  <a:srgbClr val="C6DDFF"/>
                </a:solidFill>
                <a:latin typeface="微软雅黑"/>
                <a:ea typeface="微软雅黑"/>
                <a:cs typeface="微软雅黑"/>
              </a:rPr>
              <a:t>年</a:t>
            </a:r>
          </a:p>
        </p:txBody>
      </p:sp>
      <p:sp>
        <p:nvSpPr>
          <p:cNvPr id="36" name="">
            <a:extLst xmlns:a="http://schemas.openxmlformats.org/drawingml/2006/main">
              <a:ext uri="{FF2B5EF4-FFF2-40B4-BE49-F238E27FC236}">
                <a16:creationId xmlns:a16="http://schemas.microsoft.com/office/drawing/2014/main" id="{8809B96D-C2BD-42FE-BD30-B3984123E678}"/>
              </a:ext>
            </a:extLst>
          </p:cNvPr>
          <p:cNvSpPr>
            <a:spLocks xmlns:a="http://schemas.openxmlformats.org/drawingml/2006/main" noGrp="1"/>
          </p:cNvSpPr>
          <p:nvPr/>
        </p:nvSpPr>
        <p:spPr>
          <a:xfrm xmlns:a="http://schemas.openxmlformats.org/drawingml/2006/main">
            <a:off x="457200" y="4000500"/>
            <a:ext cx="5372100" cy="400050"/>
          </a:xfrm>
          <a:prstGeom xmlns:a="http://schemas.openxmlformats.org/drawingml/2006/main" prst="roundRect">
            <a:avLst>
              <a:gd name="adj" fmla="val 21429"/>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7" name="">
            <a:extLst xmlns:a="http://schemas.openxmlformats.org/drawingml/2006/main">
              <a:ext uri="{FF2B5EF4-FFF2-40B4-BE49-F238E27FC236}">
                <a16:creationId xmlns:a16="http://schemas.microsoft.com/office/drawing/2014/main" id="{71F9EC91-E8AB-45B7-8E31-7080C55258A4}"/>
              </a:ext>
            </a:extLst>
          </p:cNvPr>
          <p:cNvSpPr>
            <a:spLocks xmlns:a="http://schemas.openxmlformats.org/drawingml/2006/main" noGrp="1"/>
          </p:cNvSpPr>
          <p:nvPr/>
        </p:nvSpPr>
        <p:spPr>
          <a:xfrm xmlns:a="http://schemas.openxmlformats.org/drawingml/2006/main">
            <a:off x="571500" y="40386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5FE3A1"/>
                </a:solidFill>
                <a:latin typeface="微软雅黑"/>
                <a:ea typeface="微软雅黑"/>
                <a:cs typeface="微软雅黑"/>
              </a:defRPr>
            </a:pPr>
            <a:r>
              <a:rPr sz="825" b="1">
                <a:solidFill>
                  <a:srgbClr val="5FE3A1"/>
                </a:solidFill>
                <a:latin typeface="微软雅黑"/>
                <a:ea typeface="微软雅黑"/>
                <a:cs typeface="微软雅黑"/>
              </a:rPr>
              <a:t>口径 </a:t>
            </a:r>
            <a:r>
              <a:rPr sz="825" b="1">
                <a:solidFill>
                  <a:srgbClr val="5FE3A1"/>
                </a:solidFill>
                <a:latin typeface="微软雅黑"/>
                <a:ea typeface="微软雅黑"/>
                <a:cs typeface="微软雅黑"/>
              </a:rPr>
              <a:t>B · </a:t>
            </a:r>
            <a:r>
              <a:rPr sz="825" b="1">
                <a:solidFill>
                  <a:srgbClr val="5FE3A1"/>
                </a:solidFill>
                <a:latin typeface="微软雅黑"/>
                <a:ea typeface="微软雅黑"/>
                <a:cs typeface="微软雅黑"/>
              </a:rPr>
              <a:t>按缺口的组合建议</a:t>
            </a:r>
          </a:p>
        </p:txBody>
      </p:sp>
      <p:sp>
        <p:nvSpPr>
          <p:cNvPr id="38" name="">
            <a:extLst xmlns:a="http://schemas.openxmlformats.org/drawingml/2006/main">
              <a:ext uri="{FF2B5EF4-FFF2-40B4-BE49-F238E27FC236}">
                <a16:creationId xmlns:a16="http://schemas.microsoft.com/office/drawing/2014/main" id="{525DB636-DF3E-4EAD-94E4-441E9CC42822}"/>
              </a:ext>
            </a:extLst>
          </p:cNvPr>
          <p:cNvSpPr>
            <a:spLocks xmlns:a="http://schemas.openxmlformats.org/drawingml/2006/main" noGrp="1"/>
          </p:cNvSpPr>
          <p:nvPr/>
        </p:nvSpPr>
        <p:spPr>
          <a:xfrm xmlns:a="http://schemas.openxmlformats.org/drawingml/2006/main">
            <a:off x="571500" y="42100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继保：</a:t>
            </a:r>
            <a:r>
              <a:rPr sz="788" b="0">
                <a:solidFill>
                  <a:srgbClr val="EEF5FF"/>
                </a:solidFill>
                <a:latin typeface="微软雅黑"/>
                <a:ea typeface="微软雅黑"/>
                <a:cs typeface="微软雅黑"/>
              </a:rPr>
              <a:t>3 </a:t>
            </a:r>
            <a:r>
              <a:rPr sz="788" b="0">
                <a:solidFill>
                  <a:srgbClr val="EEF5FF"/>
                </a:solidFill>
                <a:latin typeface="微软雅黑"/>
                <a:ea typeface="微软雅黑"/>
                <a:cs typeface="微软雅黑"/>
              </a:rPr>
              <a:t>人转岗（</a:t>
            </a:r>
            <a:r>
              <a:rPr sz="788" b="0">
                <a:solidFill>
                  <a:srgbClr val="EEF5FF"/>
                </a:solidFill>
                <a:latin typeface="微软雅黑"/>
                <a:ea typeface="微软雅黑"/>
                <a:cs typeface="微软雅黑"/>
              </a:rPr>
              <a:t>6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+ 1 </a:t>
            </a:r>
            <a:r>
              <a:rPr sz="788" b="0">
                <a:solidFill>
                  <a:srgbClr val="EEF5FF"/>
                </a:solidFill>
                <a:latin typeface="微软雅黑"/>
                <a:ea typeface="微软雅黑"/>
                <a:cs typeface="微软雅黑"/>
              </a:rPr>
              <a:t>人招聘（</a:t>
            </a:r>
            <a:r>
              <a:rPr sz="788" b="0">
                <a:solidFill>
                  <a:srgbClr val="EEF5FF"/>
                </a:solidFill>
                <a:latin typeface="微软雅黑"/>
                <a:ea typeface="微软雅黑"/>
                <a:cs typeface="微软雅黑"/>
              </a:rPr>
              <a:t>8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14 </a:t>
            </a:r>
            <a:r>
              <a:rPr sz="788" b="0">
                <a:solidFill>
                  <a:srgbClr val="EEF5FF"/>
                </a:solidFill>
                <a:latin typeface="微软雅黑"/>
                <a:ea typeface="微软雅黑"/>
                <a:cs typeface="微软雅黑"/>
              </a:rPr>
              <a:t>万</a:t>
            </a:r>
          </a:p>
        </p:txBody>
      </p:sp>
      <p:sp>
        <p:nvSpPr>
          <p:cNvPr id="39" name="">
            <a:extLst xmlns:a="http://schemas.openxmlformats.org/drawingml/2006/main">
              <a:ext uri="{FF2B5EF4-FFF2-40B4-BE49-F238E27FC236}">
                <a16:creationId xmlns:a16="http://schemas.microsoft.com/office/drawing/2014/main" id="{BB74BBC2-5CFB-46B8-A410-A97120388DBE}"/>
              </a:ext>
            </a:extLst>
          </p:cNvPr>
          <p:cNvSpPr>
            <a:spLocks xmlns:a="http://schemas.openxmlformats.org/drawingml/2006/main" noGrp="1"/>
          </p:cNvSpPr>
          <p:nvPr/>
        </p:nvSpPr>
        <p:spPr>
          <a:xfrm xmlns:a="http://schemas.openxmlformats.org/drawingml/2006/main">
            <a:off x="4305300" y="41148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5FE3A1"/>
                </a:solidFill>
                <a:latin typeface="微软雅黑"/>
                <a:ea typeface="微软雅黑"/>
                <a:cs typeface="微软雅黑"/>
              </a:defRPr>
            </a:pPr>
            <a:r>
              <a:rPr sz="975" b="1">
                <a:solidFill>
                  <a:srgbClr val="5FE3A1"/>
                </a:solidFill>
                <a:latin typeface="微软雅黑"/>
                <a:ea typeface="微软雅黑"/>
                <a:cs typeface="微软雅黑"/>
              </a:rPr>
              <a:t>14 </a:t>
            </a:r>
            <a:r>
              <a:rPr sz="975" b="1">
                <a:solidFill>
                  <a:srgbClr val="5FE3A1"/>
                </a:solidFill>
                <a:latin typeface="微软雅黑"/>
                <a:ea typeface="微软雅黑"/>
                <a:cs typeface="微软雅黑"/>
              </a:rPr>
              <a:t>万元 </a:t>
            </a:r>
            <a:r>
              <a:rPr sz="975" b="1">
                <a:solidFill>
                  <a:srgbClr val="5FE3A1"/>
                </a:solidFill>
                <a:latin typeface="微软雅黑"/>
                <a:ea typeface="微软雅黑"/>
                <a:cs typeface="微软雅黑"/>
              </a:rPr>
              <a:t>/ </a:t>
            </a:r>
            <a:r>
              <a:rPr sz="975" b="1">
                <a:solidFill>
                  <a:srgbClr val="5FE3A1"/>
                </a:solidFill>
                <a:latin typeface="微软雅黑"/>
                <a:ea typeface="微软雅黑"/>
                <a:cs typeface="微软雅黑"/>
              </a:rPr>
              <a:t>年</a:t>
            </a:r>
          </a:p>
        </p:txBody>
      </p:sp>
      <p:sp>
        <p:nvSpPr>
          <p:cNvPr id="40" name="">
            <a:extLst xmlns:a="http://schemas.openxmlformats.org/drawingml/2006/main">
              <a:ext uri="{FF2B5EF4-FFF2-40B4-BE49-F238E27FC236}">
                <a16:creationId xmlns:a16="http://schemas.microsoft.com/office/drawing/2014/main" id="{35E0CE7E-A96D-4368-9687-111D4D6334C9}"/>
              </a:ext>
            </a:extLst>
          </p:cNvPr>
          <p:cNvSpPr>
            <a:spLocks xmlns:a="http://schemas.openxmlformats.org/drawingml/2006/main" noGrp="1"/>
          </p:cNvSpPr>
          <p:nvPr/>
        </p:nvSpPr>
        <p:spPr>
          <a:xfrm xmlns:a="http://schemas.openxmlformats.org/drawingml/2006/main">
            <a:off x="457200" y="4457700"/>
            <a:ext cx="5372100" cy="400050"/>
          </a:xfrm>
          <a:prstGeom xmlns:a="http://schemas.openxmlformats.org/drawingml/2006/main" prst="roundRect">
            <a:avLst>
              <a:gd name="adj" fmla="val 21429"/>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1" name="">
            <a:extLst xmlns:a="http://schemas.openxmlformats.org/drawingml/2006/main">
              <a:ext uri="{FF2B5EF4-FFF2-40B4-BE49-F238E27FC236}">
                <a16:creationId xmlns:a16="http://schemas.microsoft.com/office/drawing/2014/main" id="{04CBA99A-92F1-4DF8-AD2A-844A71AA1902}"/>
              </a:ext>
            </a:extLst>
          </p:cNvPr>
          <p:cNvSpPr>
            <a:spLocks xmlns:a="http://schemas.openxmlformats.org/drawingml/2006/main" noGrp="1"/>
          </p:cNvSpPr>
          <p:nvPr/>
        </p:nvSpPr>
        <p:spPr>
          <a:xfrm xmlns:a="http://schemas.openxmlformats.org/drawingml/2006/main">
            <a:off x="571500" y="44958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r>
              <a:rPr b="1">
                <a:solidFill>
                  <a:srgbClr val="FFD24A"/>
                </a:solidFill>
              </a:rPr>
              <a:t/>
            </a:r>
          </a:p>
        </p:txBody>
      </p:sp>
      <p:sp>
        <p:nvSpPr>
          <p:cNvPr id="42" name="">
            <a:extLst xmlns:a="http://schemas.openxmlformats.org/drawingml/2006/main">
              <a:ext uri="{FF2B5EF4-FFF2-40B4-BE49-F238E27FC236}">
                <a16:creationId xmlns:a16="http://schemas.microsoft.com/office/drawing/2014/main" id="{BFD974FB-CB0B-4C06-B135-280D661986FD}"/>
              </a:ext>
            </a:extLst>
          </p:cNvPr>
          <p:cNvSpPr>
            <a:spLocks xmlns:a="http://schemas.openxmlformats.org/drawingml/2006/main" noGrp="1"/>
          </p:cNvSpPr>
          <p:nvPr/>
        </p:nvSpPr>
        <p:spPr>
          <a:xfrm xmlns:a="http://schemas.openxmlformats.org/drawingml/2006/main">
            <a:off x="571500" y="46672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高压试验：</a:t>
            </a:r>
            <a:r>
              <a:rPr sz="788" b="0">
                <a:solidFill>
                  <a:srgbClr val="EEF5FF"/>
                </a:solidFill>
                <a:latin typeface="微软雅黑"/>
                <a:ea typeface="微软雅黑"/>
                <a:cs typeface="微软雅黑"/>
              </a:rPr>
              <a:t>2 </a:t>
            </a:r>
            <a:r>
              <a:rPr sz="788" b="0">
                <a:solidFill>
                  <a:srgbClr val="EEF5FF"/>
                </a:solidFill>
                <a:latin typeface="微软雅黑"/>
                <a:ea typeface="微软雅黑"/>
                <a:cs typeface="微软雅黑"/>
              </a:rPr>
              <a:t>人招聘（</a:t>
            </a:r>
            <a:r>
              <a:rPr sz="788" b="0">
                <a:solidFill>
                  <a:srgbClr val="EEF5FF"/>
                </a:solidFill>
                <a:latin typeface="微软雅黑"/>
                <a:ea typeface="微软雅黑"/>
                <a:cs typeface="微软雅黑"/>
              </a:rPr>
              <a:t>16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+ 1 </a:t>
            </a:r>
            <a:r>
              <a:rPr sz="788" b="0">
                <a:solidFill>
                  <a:srgbClr val="EEF5FF"/>
                </a:solidFill>
                <a:latin typeface="微软雅黑"/>
                <a:ea typeface="微软雅黑"/>
                <a:cs typeface="微软雅黑"/>
              </a:rPr>
              <a:t>人外委（</a:t>
            </a:r>
            <a:r>
              <a:rPr sz="788" b="0">
                <a:solidFill>
                  <a:srgbClr val="EEF5FF"/>
                </a:solidFill>
                <a:latin typeface="微软雅黑"/>
                <a:ea typeface="微软雅黑"/>
                <a:cs typeface="微软雅黑"/>
              </a:rPr>
              <a:t>18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34 </a:t>
            </a:r>
            <a:r>
              <a:rPr sz="788" b="0">
                <a:solidFill>
                  <a:srgbClr val="EEF5FF"/>
                </a:solidFill>
                <a:latin typeface="微软雅黑"/>
                <a:ea typeface="微软雅黑"/>
                <a:cs typeface="微软雅黑"/>
              </a:rPr>
              <a:t>万</a:t>
            </a:r>
          </a:p>
        </p:txBody>
      </p:sp>
      <p:sp>
        <p:nvSpPr>
          <p:cNvPr id="43" name="">
            <a:extLst xmlns:a="http://schemas.openxmlformats.org/drawingml/2006/main">
              <a:ext uri="{FF2B5EF4-FFF2-40B4-BE49-F238E27FC236}">
                <a16:creationId xmlns:a16="http://schemas.microsoft.com/office/drawing/2014/main" id="{92802C28-33D4-4DA2-970A-4484CA0D0F6E}"/>
              </a:ext>
            </a:extLst>
          </p:cNvPr>
          <p:cNvSpPr>
            <a:spLocks xmlns:a="http://schemas.openxmlformats.org/drawingml/2006/main" noGrp="1"/>
          </p:cNvSpPr>
          <p:nvPr/>
        </p:nvSpPr>
        <p:spPr>
          <a:xfrm xmlns:a="http://schemas.openxmlformats.org/drawingml/2006/main">
            <a:off x="4305300" y="45720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微软雅黑"/>
                <a:ea typeface="微软雅黑"/>
                <a:cs typeface="微软雅黑"/>
              </a:defRPr>
            </a:pPr>
            <a:r>
              <a:rPr sz="975" b="1">
                <a:solidFill>
                  <a:srgbClr val="FFD24A"/>
                </a:solidFill>
                <a:latin typeface="微软雅黑"/>
                <a:ea typeface="微软雅黑"/>
                <a:cs typeface="微软雅黑"/>
              </a:rPr>
              <a:t>34 </a:t>
            </a:r>
            <a:r>
              <a:rPr sz="975" b="1">
                <a:solidFill>
                  <a:srgbClr val="FFD24A"/>
                </a:solidFill>
                <a:latin typeface="微软雅黑"/>
                <a:ea typeface="微软雅黑"/>
                <a:cs typeface="微软雅黑"/>
              </a:rPr>
              <a:t>万元 </a:t>
            </a:r>
            <a:r>
              <a:rPr sz="975" b="1">
                <a:solidFill>
                  <a:srgbClr val="FFD24A"/>
                </a:solidFill>
                <a:latin typeface="微软雅黑"/>
                <a:ea typeface="微软雅黑"/>
                <a:cs typeface="微软雅黑"/>
              </a:rPr>
              <a:t>/ </a:t>
            </a:r>
            <a:r>
              <a:rPr sz="975" b="1">
                <a:solidFill>
                  <a:srgbClr val="FFD24A"/>
                </a:solidFill>
                <a:latin typeface="微软雅黑"/>
                <a:ea typeface="微软雅黑"/>
                <a:cs typeface="微软雅黑"/>
              </a:rPr>
              <a:t>年</a:t>
            </a:r>
          </a:p>
        </p:txBody>
      </p:sp>
      <p:sp>
        <p:nvSpPr>
          <p:cNvPr id="44" name="">
            <a:extLst xmlns:a="http://schemas.openxmlformats.org/drawingml/2006/main">
              <a:ext uri="{FF2B5EF4-FFF2-40B4-BE49-F238E27FC236}">
                <a16:creationId xmlns:a16="http://schemas.microsoft.com/office/drawing/2014/main" id="{673105A6-104D-472B-91B4-423B33537326}"/>
              </a:ext>
            </a:extLst>
          </p:cNvPr>
          <p:cNvSpPr>
            <a:spLocks xmlns:a="http://schemas.openxmlformats.org/drawingml/2006/main" noGrp="1"/>
          </p:cNvSpPr>
          <p:nvPr/>
        </p:nvSpPr>
        <p:spPr>
          <a:xfrm xmlns:a="http://schemas.openxmlformats.org/drawingml/2006/main">
            <a:off x="457200" y="4914900"/>
            <a:ext cx="5372100" cy="400050"/>
          </a:xfrm>
          <a:prstGeom xmlns:a="http://schemas.openxmlformats.org/drawingml/2006/main" prst="roundRect">
            <a:avLst>
              <a:gd name="adj" fmla="val 21429"/>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45" name="">
            <a:extLst xmlns:a="http://schemas.openxmlformats.org/drawingml/2006/main">
              <a:ext uri="{FF2B5EF4-FFF2-40B4-BE49-F238E27FC236}">
                <a16:creationId xmlns:a16="http://schemas.microsoft.com/office/drawing/2014/main" id="{EC857589-AB35-47D0-B383-19BACA3051A9}"/>
              </a:ext>
            </a:extLst>
          </p:cNvPr>
          <p:cNvSpPr>
            <a:spLocks xmlns:a="http://schemas.openxmlformats.org/drawingml/2006/main" noGrp="1"/>
          </p:cNvSpPr>
          <p:nvPr/>
        </p:nvSpPr>
        <p:spPr>
          <a:xfrm xmlns:a="http://schemas.openxmlformats.org/drawingml/2006/main">
            <a:off x="571500" y="4953000"/>
            <a:ext cx="219075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5FE3A1"/>
                </a:solidFill>
                <a:latin typeface="微软雅黑"/>
                <a:ea typeface="微软雅黑"/>
                <a:cs typeface="微软雅黑"/>
              </a:defRPr>
            </a:pPr>
            <a:r>
              <a:rPr sz="825" b="1">
                <a:solidFill>
                  <a:srgbClr val="5FE3A1"/>
                </a:solidFill>
                <a:latin typeface="微软雅黑"/>
                <a:ea typeface="微软雅黑"/>
                <a:cs typeface="微软雅黑"/>
              </a:rPr>
              <a:t>差额</a:t>
            </a:r>
          </a:p>
        </p:txBody>
      </p:sp>
      <p:sp>
        <p:nvSpPr>
          <p:cNvPr id="46" name="">
            <a:extLst xmlns:a="http://schemas.openxmlformats.org/drawingml/2006/main">
              <a:ext uri="{FF2B5EF4-FFF2-40B4-BE49-F238E27FC236}">
                <a16:creationId xmlns:a16="http://schemas.microsoft.com/office/drawing/2014/main" id="{9172E649-CB58-4FC9-B3B6-E1715E3D4E29}"/>
              </a:ext>
            </a:extLst>
          </p:cNvPr>
          <p:cNvSpPr>
            <a:spLocks xmlns:a="http://schemas.openxmlformats.org/drawingml/2006/main" noGrp="1"/>
          </p:cNvSpPr>
          <p:nvPr/>
        </p:nvSpPr>
        <p:spPr>
          <a:xfrm xmlns:a="http://schemas.openxmlformats.org/drawingml/2006/main">
            <a:off x="571500" y="5124450"/>
            <a:ext cx="3810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口径 </a:t>
            </a:r>
            <a:r>
              <a:rPr sz="788" b="0">
                <a:solidFill>
                  <a:srgbClr val="EEF5FF"/>
                </a:solidFill>
                <a:latin typeface="微软雅黑"/>
                <a:ea typeface="微软雅黑"/>
                <a:cs typeface="微软雅黑"/>
              </a:rPr>
              <a:t>B </a:t>
            </a:r>
            <a:r>
              <a:rPr sz="788" b="0">
                <a:solidFill>
                  <a:srgbClr val="EEF5FF"/>
                </a:solidFill>
                <a:latin typeface="微软雅黑"/>
                <a:ea typeface="微软雅黑"/>
                <a:cs typeface="微软雅黑"/>
              </a:rPr>
              <a:t>相对口径 </a:t>
            </a:r>
            <a:r>
              <a:rPr sz="788" b="0">
                <a:solidFill>
                  <a:srgbClr val="EEF5FF"/>
                </a:solidFill>
                <a:latin typeface="微软雅黑"/>
                <a:ea typeface="微软雅黑"/>
                <a:cs typeface="微软雅黑"/>
              </a:rPr>
              <a:t>A </a:t>
            </a:r>
            <a:r>
              <a:rPr sz="788" b="0">
                <a:solidFill>
                  <a:srgbClr val="EEF5FF"/>
                </a:solidFill>
                <a:latin typeface="微软雅黑"/>
                <a:ea typeface="微软雅黑"/>
                <a:cs typeface="微软雅黑"/>
              </a:rPr>
              <a:t>的净变化</a:t>
            </a:r>
          </a:p>
        </p:txBody>
      </p:sp>
      <p:sp>
        <p:nvSpPr>
          <p:cNvPr id="47" name="">
            <a:extLst xmlns:a="http://schemas.openxmlformats.org/drawingml/2006/main">
              <a:ext uri="{FF2B5EF4-FFF2-40B4-BE49-F238E27FC236}">
                <a16:creationId xmlns:a16="http://schemas.microsoft.com/office/drawing/2014/main" id="{67434B8B-FE1F-4A4D-AACE-4D8E6413A7A0}"/>
              </a:ext>
            </a:extLst>
          </p:cNvPr>
          <p:cNvSpPr>
            <a:spLocks xmlns:a="http://schemas.openxmlformats.org/drawingml/2006/main" noGrp="1"/>
          </p:cNvSpPr>
          <p:nvPr/>
        </p:nvSpPr>
        <p:spPr>
          <a:xfrm xmlns:a="http://schemas.openxmlformats.org/drawingml/2006/main">
            <a:off x="4305300" y="5029200"/>
            <a:ext cx="14097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5FE3A1"/>
                </a:solidFill>
                <a:latin typeface="微软雅黑"/>
                <a:ea typeface="微软雅黑"/>
                <a:cs typeface="微软雅黑"/>
              </a:defRPr>
            </a:pPr>
            <a:r>
              <a:rPr sz="975" b="1">
                <a:solidFill>
                  <a:srgbClr val="5FE3A1"/>
                </a:solidFill>
                <a:latin typeface="微软雅黑"/>
                <a:ea typeface="微软雅黑"/>
                <a:cs typeface="微软雅黑"/>
              </a:rPr>
              <a:t>节约 </a:t>
            </a:r>
            <a:r>
              <a:rPr sz="975" b="1">
                <a:solidFill>
                  <a:srgbClr val="5FE3A1"/>
                </a:solidFill>
                <a:latin typeface="微软雅黑"/>
                <a:ea typeface="微软雅黑"/>
                <a:cs typeface="微软雅黑"/>
              </a:rPr>
              <a:t>8 </a:t>
            </a:r>
            <a:r>
              <a:rPr sz="975" b="1">
                <a:solidFill>
                  <a:srgbClr val="5FE3A1"/>
                </a:solidFill>
                <a:latin typeface="微软雅黑"/>
                <a:ea typeface="微软雅黑"/>
                <a:cs typeface="微软雅黑"/>
              </a:rPr>
              <a:t>万元 </a:t>
            </a:r>
            <a:r>
              <a:rPr sz="975" b="1">
                <a:solidFill>
                  <a:srgbClr val="5FE3A1"/>
                </a:solidFill>
                <a:latin typeface="微软雅黑"/>
                <a:ea typeface="微软雅黑"/>
                <a:cs typeface="微软雅黑"/>
              </a:rPr>
              <a:t>/ </a:t>
            </a:r>
            <a:r>
              <a:rPr sz="975" b="1">
                <a:solidFill>
                  <a:srgbClr val="5FE3A1"/>
                </a:solidFill>
                <a:latin typeface="微软雅黑"/>
                <a:ea typeface="微软雅黑"/>
                <a:cs typeface="微软雅黑"/>
              </a:rPr>
              <a:t>年</a:t>
            </a:r>
          </a:p>
        </p:txBody>
      </p:sp>
      <p:sp>
        <p:nvSpPr>
          <p:cNvPr id="48" name="">
            <a:extLst xmlns:a="http://schemas.openxmlformats.org/drawingml/2006/main">
              <a:ext uri="{FF2B5EF4-FFF2-40B4-BE49-F238E27FC236}">
                <a16:creationId xmlns:a16="http://schemas.microsoft.com/office/drawing/2014/main" id="{9715F23E-0D69-4240-94E6-378A8FB59CB6}"/>
              </a:ext>
            </a:extLst>
          </p:cNvPr>
          <p:cNvSpPr>
            <a:spLocks xmlns:a="http://schemas.openxmlformats.org/drawingml/2006/main" noGrp="1"/>
          </p:cNvSpPr>
          <p:nvPr/>
        </p:nvSpPr>
        <p:spPr>
          <a:xfrm xmlns:a="http://schemas.openxmlformats.org/drawingml/2006/main">
            <a:off x="457200" y="5429250"/>
            <a:ext cx="53911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注：外委单价高但响应快，适合临时窗口；系统会如实给出「该组合不一定更省」的结论，而不是一味推荐内部消化。</a:t>
            </a:r>
          </a:p>
        </p:txBody>
      </p:sp>
      <p:sp>
        <p:nvSpPr>
          <p:cNvPr id="49" name="">
            <a:extLst xmlns:a="http://schemas.openxmlformats.org/drawingml/2006/main">
              <a:ext uri="{FF2B5EF4-FFF2-40B4-BE49-F238E27FC236}">
                <a16:creationId xmlns:a16="http://schemas.microsoft.com/office/drawing/2014/main" id="{5B525461-E8D1-441E-9D7E-3AC67C60800C}"/>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回收期模型（把客户真实参数代入即可算）</a:t>
            </a:r>
          </a:p>
        </p:txBody>
      </p:sp>
      <p:sp>
        <p:nvSpPr>
          <p:cNvPr id="50" name="">
            <a:extLst xmlns:a="http://schemas.openxmlformats.org/drawingml/2006/main">
              <a:ext uri="{FF2B5EF4-FFF2-40B4-BE49-F238E27FC236}">
                <a16:creationId xmlns:a16="http://schemas.microsoft.com/office/drawing/2014/main" id="{B7698DC0-B26A-46DE-9B2B-74C84B1002D0}"/>
              </a:ext>
            </a:extLst>
          </p:cNvPr>
          <p:cNvSpPr>
            <a:spLocks xmlns:a="http://schemas.openxmlformats.org/drawingml/2006/main" noGrp="1"/>
          </p:cNvSpPr>
          <p:nvPr/>
        </p:nvSpPr>
        <p:spPr>
          <a:xfrm xmlns:a="http://schemas.openxmlformats.org/drawingml/2006/main">
            <a:off x="6229350" y="1638300"/>
            <a:ext cx="5676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51" name="">
            <a:extLst xmlns:a="http://schemas.openxmlformats.org/drawingml/2006/main">
              <a:ext uri="{FF2B5EF4-FFF2-40B4-BE49-F238E27FC236}">
                <a16:creationId xmlns:a16="http://schemas.microsoft.com/office/drawing/2014/main" id="{3EDE1096-C639-4914-95AA-634813A18F3E}"/>
              </a:ext>
            </a:extLst>
          </p:cNvPr>
          <p:cNvSpPr>
            <a:spLocks xmlns:a="http://schemas.openxmlformats.org/drawingml/2006/main" noGrp="1"/>
          </p:cNvSpPr>
          <p:nvPr/>
        </p:nvSpPr>
        <p:spPr>
          <a:xfrm xmlns:a="http://schemas.openxmlformats.org/drawingml/2006/main">
            <a:off x="6400800" y="1771650"/>
            <a:ext cx="5353050" cy="666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年可量化节省 </a:t>
            </a:r>
            <a:r>
              <a:rPr sz="938" b="1">
                <a:solidFill>
                  <a:srgbClr val="EEF5FF"/>
                </a:solidFill>
                <a:latin typeface="微软雅黑"/>
                <a:ea typeface="微软雅黑"/>
                <a:cs typeface="微软雅黑"/>
              </a:rPr>
              <a:t>S = </a:t>
            </a:r>
            <a:r>
              <a:rPr sz="938">
                <a:solidFill>
                  <a:srgbClr val="EEF5FF"/>
                </a:solidFill>
                <a:latin typeface="微软雅黑"/>
                <a:ea typeface="微软雅黑"/>
                <a:cs typeface="微软雅黑"/>
              </a:rPr>
              <a:t>人力决策节省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停机带教工时节省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重复培训工时节省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台账人工节省</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回收期 </a:t>
            </a:r>
            <a:r>
              <a:rPr sz="938" b="1">
                <a:solidFill>
                  <a:srgbClr val="EEF5FF"/>
                </a:solidFill>
                <a:latin typeface="微软雅黑"/>
                <a:ea typeface="微软雅黑"/>
                <a:cs typeface="微软雅黑"/>
              </a:rPr>
              <a:t>T = </a:t>
            </a:r>
            <a:r>
              <a:rPr sz="938">
                <a:solidFill>
                  <a:srgbClr val="EEF5FF"/>
                </a:solidFill>
                <a:latin typeface="微软雅黑"/>
                <a:ea typeface="微软雅黑"/>
                <a:cs typeface="微软雅黑"/>
              </a:rPr>
              <a:t>系统年费 </a:t>
            </a:r>
            <a:r>
              <a:rPr sz="938">
                <a:solidFill>
                  <a:srgbClr val="EEF5FF"/>
                </a:solidFill>
                <a:latin typeface="微软雅黑"/>
                <a:ea typeface="微软雅黑"/>
                <a:cs typeface="微软雅黑"/>
              </a:rPr>
              <a:t>÷ S　</a:t>
            </a:r>
            <a:r>
              <a:rPr sz="938">
                <a:solidFill>
                  <a:srgbClr val="EEF5FF"/>
                </a:solidFill>
                <a:latin typeface="微软雅黑"/>
                <a:ea typeface="微软雅黑"/>
                <a:cs typeface="微软雅黑"/>
              </a:rPr>
              <a:t>（按客户真实人均工时成本代入）</a:t>
            </a:r>
          </a:p>
        </p:txBody>
      </p:sp>
      <p:sp>
        <p:nvSpPr>
          <p:cNvPr id="52" name="">
            <a:extLst xmlns:a="http://schemas.openxmlformats.org/drawingml/2006/main">
              <a:ext uri="{FF2B5EF4-FFF2-40B4-BE49-F238E27FC236}">
                <a16:creationId xmlns:a16="http://schemas.microsoft.com/office/drawing/2014/main" id="{93A57EAA-1E1D-4445-B3B0-39D12D0BC7EC}"/>
              </a:ext>
            </a:extLst>
          </p:cNvPr>
          <p:cNvSpPr>
            <a:spLocks xmlns:a="http://schemas.openxmlformats.org/drawingml/2006/main" noGrp="1"/>
          </p:cNvSpPr>
          <p:nvPr/>
        </p:nvSpPr>
        <p:spPr>
          <a:xfrm xmlns:a="http://schemas.openxmlformats.org/drawingml/2006/main">
            <a:off x="6229350" y="270510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A34EACD3-47F6-4488-8E89-431C6809FD03}"/>
              </a:ext>
            </a:extLst>
          </p:cNvPr>
          <p:cNvSpPr>
            <a:spLocks xmlns:a="http://schemas.openxmlformats.org/drawingml/2006/main" noGrp="1"/>
          </p:cNvSpPr>
          <p:nvPr/>
        </p:nvSpPr>
        <p:spPr>
          <a:xfrm xmlns:a="http://schemas.openxmlformats.org/drawingml/2006/main">
            <a:off x="6229350" y="2705100"/>
            <a:ext cx="38100" cy="6286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54" name="">
            <a:extLst xmlns:a="http://schemas.openxmlformats.org/drawingml/2006/main">
              <a:ext uri="{FF2B5EF4-FFF2-40B4-BE49-F238E27FC236}">
                <a16:creationId xmlns:a16="http://schemas.microsoft.com/office/drawing/2014/main" id="{6E36AD44-8286-42A5-BA2A-2E180E0FADB5}"/>
              </a:ext>
            </a:extLst>
          </p:cNvPr>
          <p:cNvSpPr>
            <a:spLocks xmlns:a="http://schemas.openxmlformats.org/drawingml/2006/main" noGrp="1"/>
          </p:cNvSpPr>
          <p:nvPr/>
        </p:nvSpPr>
        <p:spPr>
          <a:xfrm xmlns:a="http://schemas.openxmlformats.org/drawingml/2006/main">
            <a:off x="6400800" y="27813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人力决策节省</a:t>
            </a:r>
          </a:p>
        </p:txBody>
      </p:sp>
      <p:sp>
        <p:nvSpPr>
          <p:cNvPr id="55" name="">
            <a:extLst xmlns:a="http://schemas.openxmlformats.org/drawingml/2006/main">
              <a:ext uri="{FF2B5EF4-FFF2-40B4-BE49-F238E27FC236}">
                <a16:creationId xmlns:a16="http://schemas.microsoft.com/office/drawing/2014/main" id="{35409CF3-1DC1-4005-8405-5F594A42C862}"/>
              </a:ext>
            </a:extLst>
          </p:cNvPr>
          <p:cNvSpPr>
            <a:spLocks xmlns:a="http://schemas.openxmlformats.org/drawingml/2006/main" noGrp="1"/>
          </p:cNvSpPr>
          <p:nvPr/>
        </p:nvSpPr>
        <p:spPr>
          <a:xfrm xmlns:a="http://schemas.openxmlformats.org/drawingml/2006/main">
            <a:off x="6400800" y="300990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按转岗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招聘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外委组合与全外招口径之差计算</a:t>
            </a:r>
          </a:p>
        </p:txBody>
      </p:sp>
      <p:sp>
        <p:nvSpPr>
          <p:cNvPr id="56" name="">
            <a:extLst xmlns:a="http://schemas.openxmlformats.org/drawingml/2006/main">
              <a:ext uri="{FF2B5EF4-FFF2-40B4-BE49-F238E27FC236}">
                <a16:creationId xmlns:a16="http://schemas.microsoft.com/office/drawing/2014/main" id="{8B24E620-10BB-425D-B0B7-86FA74C42824}"/>
              </a:ext>
            </a:extLst>
          </p:cNvPr>
          <p:cNvSpPr>
            <a:spLocks xmlns:a="http://schemas.openxmlformats.org/drawingml/2006/main" noGrp="1"/>
          </p:cNvSpPr>
          <p:nvPr/>
        </p:nvSpPr>
        <p:spPr>
          <a:xfrm xmlns:a="http://schemas.openxmlformats.org/drawingml/2006/main">
            <a:off x="10001250" y="289560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本次示范 </a:t>
            </a:r>
            <a:r>
              <a:rPr sz="825" b="1">
                <a:solidFill>
                  <a:srgbClr val="FFD24A"/>
                </a:solidFill>
                <a:latin typeface="微软雅黑"/>
                <a:ea typeface="微软雅黑"/>
                <a:cs typeface="微软雅黑"/>
              </a:rPr>
              <a:t>8 </a:t>
            </a:r>
            <a:r>
              <a:rPr sz="825" b="1">
                <a:solidFill>
                  <a:srgbClr val="FFD24A"/>
                </a:solidFill>
                <a:latin typeface="微软雅黑"/>
                <a:ea typeface="微软雅黑"/>
                <a:cs typeface="微软雅黑"/>
              </a:rPr>
              <a:t>万元 </a:t>
            </a:r>
            <a:r>
              <a:rPr sz="825" b="1">
                <a:solidFill>
                  <a:srgbClr val="FFD24A"/>
                </a:solidFill>
                <a:latin typeface="微软雅黑"/>
                <a:ea typeface="微软雅黑"/>
                <a:cs typeface="微软雅黑"/>
              </a:rPr>
              <a:t>/ </a:t>
            </a:r>
            <a:r>
              <a:rPr sz="825" b="1">
                <a:solidFill>
                  <a:srgbClr val="FFD24A"/>
                </a:solidFill>
                <a:latin typeface="微软雅黑"/>
                <a:ea typeface="微软雅黑"/>
                <a:cs typeface="微软雅黑"/>
              </a:rPr>
              <a:t>年</a:t>
            </a:r>
          </a:p>
        </p:txBody>
      </p:sp>
      <p:sp>
        <p:nvSpPr>
          <p:cNvPr id="57" name="">
            <a:extLst xmlns:a="http://schemas.openxmlformats.org/drawingml/2006/main">
              <a:ext uri="{FF2B5EF4-FFF2-40B4-BE49-F238E27FC236}">
                <a16:creationId xmlns:a16="http://schemas.microsoft.com/office/drawing/2014/main" id="{7B7279B0-4EDB-4084-8E72-D60CE3801D88}"/>
              </a:ext>
            </a:extLst>
          </p:cNvPr>
          <p:cNvSpPr>
            <a:spLocks xmlns:a="http://schemas.openxmlformats.org/drawingml/2006/main" noGrp="1"/>
          </p:cNvSpPr>
          <p:nvPr/>
        </p:nvSpPr>
        <p:spPr>
          <a:xfrm xmlns:a="http://schemas.openxmlformats.org/drawingml/2006/main">
            <a:off x="6229350" y="340995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8" name="">
            <a:extLst xmlns:a="http://schemas.openxmlformats.org/drawingml/2006/main">
              <a:ext uri="{FF2B5EF4-FFF2-40B4-BE49-F238E27FC236}">
                <a16:creationId xmlns:a16="http://schemas.microsoft.com/office/drawing/2014/main" id="{E0B29929-C8DC-4F73-901C-ABB6ACF1CF64}"/>
              </a:ext>
            </a:extLst>
          </p:cNvPr>
          <p:cNvSpPr>
            <a:spLocks xmlns:a="http://schemas.openxmlformats.org/drawingml/2006/main" noGrp="1"/>
          </p:cNvSpPr>
          <p:nvPr/>
        </p:nvSpPr>
        <p:spPr>
          <a:xfrm xmlns:a="http://schemas.openxmlformats.org/drawingml/2006/main">
            <a:off x="6229350" y="3409950"/>
            <a:ext cx="38100" cy="6286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A1538CF8-F2FD-4CBF-9C78-DC18B537403C}"/>
              </a:ext>
            </a:extLst>
          </p:cNvPr>
          <p:cNvSpPr>
            <a:spLocks xmlns:a="http://schemas.openxmlformats.org/drawingml/2006/main" noGrp="1"/>
          </p:cNvSpPr>
          <p:nvPr/>
        </p:nvSpPr>
        <p:spPr>
          <a:xfrm xmlns:a="http://schemas.openxmlformats.org/drawingml/2006/main">
            <a:off x="6400800" y="348615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停机带教工时</a:t>
            </a:r>
          </a:p>
        </p:txBody>
      </p:sp>
      <p:sp>
        <p:nvSpPr>
          <p:cNvPr id="60" name="">
            <a:extLst xmlns:a="http://schemas.openxmlformats.org/drawingml/2006/main">
              <a:ext uri="{FF2B5EF4-FFF2-40B4-BE49-F238E27FC236}">
                <a16:creationId xmlns:a16="http://schemas.microsoft.com/office/drawing/2014/main" id="{2F56D58B-A84C-40C4-8C07-0C8EB4BED925}"/>
              </a:ext>
            </a:extLst>
          </p:cNvPr>
          <p:cNvSpPr>
            <a:spLocks xmlns:a="http://schemas.openxmlformats.org/drawingml/2006/main" noGrp="1"/>
          </p:cNvSpPr>
          <p:nvPr/>
        </p:nvSpPr>
        <p:spPr>
          <a:xfrm xmlns:a="http://schemas.openxmlformats.org/drawingml/2006/main">
            <a:off x="6400800" y="371475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按「带教人数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年带教工时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客户人均工时成本」计算</a:t>
            </a:r>
          </a:p>
        </p:txBody>
      </p:sp>
      <p:sp>
        <p:nvSpPr>
          <p:cNvPr id="61" name="">
            <a:extLst xmlns:a="http://schemas.openxmlformats.org/drawingml/2006/main">
              <a:ext uri="{FF2B5EF4-FFF2-40B4-BE49-F238E27FC236}">
                <a16:creationId xmlns:a16="http://schemas.microsoft.com/office/drawing/2014/main" id="{BEBF90FB-ACAB-4DCF-9E3F-ADA36501AF3A}"/>
              </a:ext>
            </a:extLst>
          </p:cNvPr>
          <p:cNvSpPr>
            <a:spLocks xmlns:a="http://schemas.openxmlformats.org/drawingml/2006/main" noGrp="1"/>
          </p:cNvSpPr>
          <p:nvPr/>
        </p:nvSpPr>
        <p:spPr>
          <a:xfrm xmlns:a="http://schemas.openxmlformats.org/drawingml/2006/main">
            <a:off x="10001250" y="360045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参数待客户代入</a:t>
            </a:r>
          </a:p>
        </p:txBody>
      </p:sp>
      <p:sp>
        <p:nvSpPr>
          <p:cNvPr id="62" name="">
            <a:extLst xmlns:a="http://schemas.openxmlformats.org/drawingml/2006/main">
              <a:ext uri="{FF2B5EF4-FFF2-40B4-BE49-F238E27FC236}">
                <a16:creationId xmlns:a16="http://schemas.microsoft.com/office/drawing/2014/main" id="{56128BB8-855F-4E93-8F7D-6F1309BDE758}"/>
              </a:ext>
            </a:extLst>
          </p:cNvPr>
          <p:cNvSpPr>
            <a:spLocks xmlns:a="http://schemas.openxmlformats.org/drawingml/2006/main" noGrp="1"/>
          </p:cNvSpPr>
          <p:nvPr/>
        </p:nvSpPr>
        <p:spPr>
          <a:xfrm xmlns:a="http://schemas.openxmlformats.org/drawingml/2006/main">
            <a:off x="6229350" y="411480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3" name="">
            <a:extLst xmlns:a="http://schemas.openxmlformats.org/drawingml/2006/main">
              <a:ext uri="{FF2B5EF4-FFF2-40B4-BE49-F238E27FC236}">
                <a16:creationId xmlns:a16="http://schemas.microsoft.com/office/drawing/2014/main" id="{D52737CA-446B-44DA-970A-FB4F0920BE19}"/>
              </a:ext>
            </a:extLst>
          </p:cNvPr>
          <p:cNvSpPr>
            <a:spLocks xmlns:a="http://schemas.openxmlformats.org/drawingml/2006/main" noGrp="1"/>
          </p:cNvSpPr>
          <p:nvPr/>
        </p:nvSpPr>
        <p:spPr>
          <a:xfrm xmlns:a="http://schemas.openxmlformats.org/drawingml/2006/main">
            <a:off x="6229350" y="4114800"/>
            <a:ext cx="38100" cy="6286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4" name="">
            <a:extLst xmlns:a="http://schemas.openxmlformats.org/drawingml/2006/main">
              <a:ext uri="{FF2B5EF4-FFF2-40B4-BE49-F238E27FC236}">
                <a16:creationId xmlns:a16="http://schemas.microsoft.com/office/drawing/2014/main" id="{D488EBC8-6F77-48D7-AB52-3A2043CA378F}"/>
              </a:ext>
            </a:extLst>
          </p:cNvPr>
          <p:cNvSpPr>
            <a:spLocks xmlns:a="http://schemas.openxmlformats.org/drawingml/2006/main" noGrp="1"/>
          </p:cNvSpPr>
          <p:nvPr/>
        </p:nvSpPr>
        <p:spPr>
          <a:xfrm xmlns:a="http://schemas.openxmlformats.org/drawingml/2006/main">
            <a:off x="6400800" y="41910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重复培训工时</a:t>
            </a:r>
          </a:p>
        </p:txBody>
      </p:sp>
      <p:sp>
        <p:nvSpPr>
          <p:cNvPr id="65" name="">
            <a:extLst xmlns:a="http://schemas.openxmlformats.org/drawingml/2006/main">
              <a:ext uri="{FF2B5EF4-FFF2-40B4-BE49-F238E27FC236}">
                <a16:creationId xmlns:a16="http://schemas.microsoft.com/office/drawing/2014/main" id="{16803BB3-91B2-4627-A933-7E3AA3284574}"/>
              </a:ext>
            </a:extLst>
          </p:cNvPr>
          <p:cNvSpPr>
            <a:spLocks xmlns:a="http://schemas.openxmlformats.org/drawingml/2006/main" noGrp="1"/>
          </p:cNvSpPr>
          <p:nvPr/>
        </p:nvSpPr>
        <p:spPr>
          <a:xfrm xmlns:a="http://schemas.openxmlformats.org/drawingml/2006/main">
            <a:off x="6400800" y="441960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按「重复培训人数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课时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人均工时成本」计算</a:t>
            </a:r>
          </a:p>
        </p:txBody>
      </p:sp>
      <p:sp>
        <p:nvSpPr>
          <p:cNvPr id="66" name="">
            <a:extLst xmlns:a="http://schemas.openxmlformats.org/drawingml/2006/main">
              <a:ext uri="{FF2B5EF4-FFF2-40B4-BE49-F238E27FC236}">
                <a16:creationId xmlns:a16="http://schemas.microsoft.com/office/drawing/2014/main" id="{1A510702-1038-4238-8EF5-D52857C595CD}"/>
              </a:ext>
            </a:extLst>
          </p:cNvPr>
          <p:cNvSpPr>
            <a:spLocks xmlns:a="http://schemas.openxmlformats.org/drawingml/2006/main" noGrp="1"/>
          </p:cNvSpPr>
          <p:nvPr/>
        </p:nvSpPr>
        <p:spPr>
          <a:xfrm xmlns:a="http://schemas.openxmlformats.org/drawingml/2006/main">
            <a:off x="10001250" y="430530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参数待客户代入</a:t>
            </a:r>
          </a:p>
        </p:txBody>
      </p:sp>
      <p:sp>
        <p:nvSpPr>
          <p:cNvPr id="67" name="">
            <a:extLst xmlns:a="http://schemas.openxmlformats.org/drawingml/2006/main">
              <a:ext uri="{FF2B5EF4-FFF2-40B4-BE49-F238E27FC236}">
                <a16:creationId xmlns:a16="http://schemas.microsoft.com/office/drawing/2014/main" id="{F138AED8-B383-45EF-8824-7E7899B6E5C5}"/>
              </a:ext>
            </a:extLst>
          </p:cNvPr>
          <p:cNvSpPr>
            <a:spLocks xmlns:a="http://schemas.openxmlformats.org/drawingml/2006/main" noGrp="1"/>
          </p:cNvSpPr>
          <p:nvPr/>
        </p:nvSpPr>
        <p:spPr>
          <a:xfrm xmlns:a="http://schemas.openxmlformats.org/drawingml/2006/main">
            <a:off x="6229350" y="481965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8" name="">
            <a:extLst xmlns:a="http://schemas.openxmlformats.org/drawingml/2006/main">
              <a:ext uri="{FF2B5EF4-FFF2-40B4-BE49-F238E27FC236}">
                <a16:creationId xmlns:a16="http://schemas.microsoft.com/office/drawing/2014/main" id="{52221BBF-0D6B-430F-A8D5-D134C88EEF23}"/>
              </a:ext>
            </a:extLst>
          </p:cNvPr>
          <p:cNvSpPr>
            <a:spLocks xmlns:a="http://schemas.openxmlformats.org/drawingml/2006/main" noGrp="1"/>
          </p:cNvSpPr>
          <p:nvPr/>
        </p:nvSpPr>
        <p:spPr>
          <a:xfrm xmlns:a="http://schemas.openxmlformats.org/drawingml/2006/main">
            <a:off x="6229350" y="4819650"/>
            <a:ext cx="38100" cy="62865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8B2BE2A2-EE39-4F47-9698-B231370A1829}"/>
              </a:ext>
            </a:extLst>
          </p:cNvPr>
          <p:cNvSpPr>
            <a:spLocks xmlns:a="http://schemas.openxmlformats.org/drawingml/2006/main" noGrp="1"/>
          </p:cNvSpPr>
          <p:nvPr/>
        </p:nvSpPr>
        <p:spPr>
          <a:xfrm xmlns:a="http://schemas.openxmlformats.org/drawingml/2006/main">
            <a:off x="6400800" y="489585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台账与取证人工</a:t>
            </a:r>
          </a:p>
        </p:txBody>
      </p:sp>
      <p:sp>
        <p:nvSpPr>
          <p:cNvPr id="70" name="">
            <a:extLst xmlns:a="http://schemas.openxmlformats.org/drawingml/2006/main">
              <a:ext uri="{FF2B5EF4-FFF2-40B4-BE49-F238E27FC236}">
                <a16:creationId xmlns:a16="http://schemas.microsoft.com/office/drawing/2014/main" id="{B1C445D6-348F-4AC4-BA77-45AEB7E564FB}"/>
              </a:ext>
            </a:extLst>
          </p:cNvPr>
          <p:cNvSpPr>
            <a:spLocks xmlns:a="http://schemas.openxmlformats.org/drawingml/2006/main" noGrp="1"/>
          </p:cNvSpPr>
          <p:nvPr/>
        </p:nvSpPr>
        <p:spPr>
          <a:xfrm xmlns:a="http://schemas.openxmlformats.org/drawingml/2006/main">
            <a:off x="6400800" y="512445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按「专人月均天数 </a:t>
            </a:r>
            <a:r>
              <a:rPr sz="788" b="0">
                <a:solidFill>
                  <a:srgbClr val="EEF5FF"/>
                </a:solidFill>
                <a:latin typeface="微软雅黑"/>
                <a:ea typeface="微软雅黑"/>
                <a:cs typeface="微软雅黑"/>
              </a:rPr>
              <a:t>× 12 × </a:t>
            </a:r>
            <a:r>
              <a:rPr sz="788" b="0">
                <a:solidFill>
                  <a:srgbClr val="EEF5FF"/>
                </a:solidFill>
                <a:latin typeface="微软雅黑"/>
                <a:ea typeface="微软雅黑"/>
                <a:cs typeface="微软雅黑"/>
              </a:rPr>
              <a:t>日均人工成本」计算</a:t>
            </a:r>
          </a:p>
        </p:txBody>
      </p:sp>
      <p:sp>
        <p:nvSpPr>
          <p:cNvPr id="71" name="">
            <a:extLst xmlns:a="http://schemas.openxmlformats.org/drawingml/2006/main">
              <a:ext uri="{FF2B5EF4-FFF2-40B4-BE49-F238E27FC236}">
                <a16:creationId xmlns:a16="http://schemas.microsoft.com/office/drawing/2014/main" id="{D39EC2CE-883A-4EFD-8A5A-B904D69D25F5}"/>
              </a:ext>
            </a:extLst>
          </p:cNvPr>
          <p:cNvSpPr>
            <a:spLocks xmlns:a="http://schemas.openxmlformats.org/drawingml/2006/main" noGrp="1"/>
          </p:cNvSpPr>
          <p:nvPr/>
        </p:nvSpPr>
        <p:spPr>
          <a:xfrm xmlns:a="http://schemas.openxmlformats.org/drawingml/2006/main">
            <a:off x="10001250" y="501015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参数待客户代入</a:t>
            </a:r>
          </a:p>
        </p:txBody>
      </p:sp>
      <p:sp>
        <p:nvSpPr>
          <p:cNvPr id="72" name="">
            <a:extLst xmlns:a="http://schemas.openxmlformats.org/drawingml/2006/main">
              <a:ext uri="{FF2B5EF4-FFF2-40B4-BE49-F238E27FC236}">
                <a16:creationId xmlns:a16="http://schemas.microsoft.com/office/drawing/2014/main" id="{0675725D-EC1E-4101-B6C8-FD52BED20E70}"/>
              </a:ext>
            </a:extLst>
          </p:cNvPr>
          <p:cNvSpPr>
            <a:spLocks xmlns:a="http://schemas.openxmlformats.org/drawingml/2006/main" noGrp="1"/>
          </p:cNvSpPr>
          <p:nvPr/>
        </p:nvSpPr>
        <p:spPr>
          <a:xfrm xmlns:a="http://schemas.openxmlformats.org/drawingml/2006/main">
            <a:off x="6229350" y="552450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73" name="">
            <a:extLst xmlns:a="http://schemas.openxmlformats.org/drawingml/2006/main">
              <a:ext uri="{FF2B5EF4-FFF2-40B4-BE49-F238E27FC236}">
                <a16:creationId xmlns:a16="http://schemas.microsoft.com/office/drawing/2014/main" id="{A4A088E4-6266-4D56-AEAB-0D3C1045BD38}"/>
              </a:ext>
            </a:extLst>
          </p:cNvPr>
          <p:cNvSpPr>
            <a:spLocks xmlns:a="http://schemas.openxmlformats.org/drawingml/2006/main" noGrp="1"/>
          </p:cNvSpPr>
          <p:nvPr/>
        </p:nvSpPr>
        <p:spPr>
          <a:xfrm xmlns:a="http://schemas.openxmlformats.org/drawingml/2006/main">
            <a:off x="6229350" y="5524500"/>
            <a:ext cx="38100" cy="628650"/>
          </a:xfrm>
          <a:prstGeom xmlns:a="http://schemas.openxmlformats.org/drawingml/2006/main" prst="rect">
            <a:avLst/>
          </a:prstGeom>
          <a:solidFill xmlns:a="http://schemas.openxmlformats.org/drawingml/2006/main">
            <a:srgbClr val="FF7A6B"/>
          </a:solidFill>
          <a:ln xmlns:a="http://schemas.openxmlformats.org/drawingml/2006/main" w="0">
            <a:solidFill>
              <a:srgbClr val="000000"/>
            </a:solidFill>
            <a:prstDash val="solid"/>
          </a:ln>
        </p:spPr>
      </p:sp>
      <p:sp>
        <p:nvSpPr>
          <p:cNvPr id="74" name="">
            <a:extLst xmlns:a="http://schemas.openxmlformats.org/drawingml/2006/main">
              <a:ext uri="{FF2B5EF4-FFF2-40B4-BE49-F238E27FC236}">
                <a16:creationId xmlns:a16="http://schemas.microsoft.com/office/drawing/2014/main" id="{CEC74B4B-8790-4B4F-9869-A2329A5F92F3}"/>
              </a:ext>
            </a:extLst>
          </p:cNvPr>
          <p:cNvSpPr>
            <a:spLocks xmlns:a="http://schemas.openxmlformats.org/drawingml/2006/main" noGrp="1"/>
          </p:cNvSpPr>
          <p:nvPr/>
        </p:nvSpPr>
        <p:spPr>
          <a:xfrm xmlns:a="http://schemas.openxmlformats.org/drawingml/2006/main">
            <a:off x="6400800" y="5600700"/>
            <a:ext cx="285750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7A6B"/>
                </a:solidFill>
                <a:latin typeface="微软雅黑"/>
                <a:ea typeface="微软雅黑"/>
                <a:cs typeface="微软雅黑"/>
              </a:defRPr>
            </a:pPr>
            <a:r>
              <a:rPr sz="938" b="1">
                <a:solidFill>
                  <a:srgbClr val="FF7A6B"/>
                </a:solidFill>
                <a:latin typeface="微软雅黑"/>
                <a:ea typeface="微软雅黑"/>
                <a:cs typeface="微软雅黑"/>
              </a:rPr>
              <a:t>事故与漏检风险</a:t>
            </a:r>
          </a:p>
        </p:txBody>
      </p:sp>
      <p:sp>
        <p:nvSpPr>
          <p:cNvPr id="75" name="">
            <a:extLst xmlns:a="http://schemas.openxmlformats.org/drawingml/2006/main">
              <a:ext uri="{FF2B5EF4-FFF2-40B4-BE49-F238E27FC236}">
                <a16:creationId xmlns:a16="http://schemas.microsoft.com/office/drawing/2014/main" id="{C0D81E62-3E8E-4EAA-B537-00E9614DA448}"/>
              </a:ext>
            </a:extLst>
          </p:cNvPr>
          <p:cNvSpPr>
            <a:spLocks xmlns:a="http://schemas.openxmlformats.org/drawingml/2006/main" noGrp="1"/>
          </p:cNvSpPr>
          <p:nvPr/>
        </p:nvSpPr>
        <p:spPr>
          <a:xfrm xmlns:a="http://schemas.openxmlformats.org/drawingml/2006/main">
            <a:off x="6400800" y="5829300"/>
            <a:ext cx="36195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按行业风险成本口径估算，属机会成本</a:t>
            </a:r>
          </a:p>
        </p:txBody>
      </p:sp>
      <p:sp>
        <p:nvSpPr>
          <p:cNvPr id="76" name="">
            <a:extLst xmlns:a="http://schemas.openxmlformats.org/drawingml/2006/main">
              <a:ext uri="{FF2B5EF4-FFF2-40B4-BE49-F238E27FC236}">
                <a16:creationId xmlns:a16="http://schemas.microsoft.com/office/drawing/2014/main" id="{8D511810-5693-4BAD-AD11-1957830CA952}"/>
              </a:ext>
            </a:extLst>
          </p:cNvPr>
          <p:cNvSpPr>
            <a:spLocks xmlns:a="http://schemas.openxmlformats.org/drawingml/2006/main" noGrp="1"/>
          </p:cNvSpPr>
          <p:nvPr/>
        </p:nvSpPr>
        <p:spPr>
          <a:xfrm xmlns:a="http://schemas.openxmlformats.org/drawingml/2006/main">
            <a:off x="10001250" y="5715000"/>
            <a:ext cx="177165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不计入回收期，单独提示</a:t>
            </a:r>
          </a:p>
        </p:txBody>
      </p:sp>
      <p:sp>
        <p:nvSpPr>
          <p:cNvPr id="77" name="">
            <a:extLst xmlns:a="http://schemas.openxmlformats.org/drawingml/2006/main">
              <a:ext uri="{FF2B5EF4-FFF2-40B4-BE49-F238E27FC236}">
                <a16:creationId xmlns:a16="http://schemas.microsoft.com/office/drawing/2014/main" id="{58A1BE61-A51D-40A2-AB5F-BBD9C9823E0C}"/>
              </a:ext>
            </a:extLst>
          </p:cNvPr>
          <p:cNvSpPr>
            <a:spLocks xmlns:a="http://schemas.openxmlformats.org/drawingml/2006/main" noGrp="1"/>
          </p:cNvSpPr>
          <p:nvPr/>
        </p:nvSpPr>
        <p:spPr>
          <a:xfrm xmlns:a="http://schemas.openxmlformats.org/drawingml/2006/main">
            <a:off x="6229350" y="6248400"/>
            <a:ext cx="5676900" cy="0"/>
          </a:xfrm>
          <a:prstGeom xmlns:a="http://schemas.openxmlformats.org/drawingml/2006/main" prst="roundRect">
            <a:avLst/>
          </a:prstGeom>
          <a:noFill xmlns:a="http://schemas.openxmlformats.org/drawingml/2006/main"/>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644A4B8A-AAFD-45EB-BFF5-0846E786295E}"/>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C652336B-7287-4BD0-A74B-00D1770CEC0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82E66847-78BA-4A6D-8CF7-9EEE4711853D}"/>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81" name="">
            <a:extLst xmlns:a="http://schemas.openxmlformats.org/drawingml/2006/main">
              <a:ext uri="{FF2B5EF4-FFF2-40B4-BE49-F238E27FC236}">
                <a16:creationId xmlns:a16="http://schemas.microsoft.com/office/drawing/2014/main" id="{D0A434A1-ED76-48CF-8ED3-100E7DE0D676}"/>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82" name="">
            <a:extLst xmlns:a="http://schemas.openxmlformats.org/drawingml/2006/main">
              <a:ext uri="{FF2B5EF4-FFF2-40B4-BE49-F238E27FC236}">
                <a16:creationId xmlns:a16="http://schemas.microsoft.com/office/drawing/2014/main" id="{F3F726CE-4574-4A7B-AD3F-24FA9A97BF56}"/>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35</a:t>
            </a:r>
          </a:p>
        </p:txBody>
      </p:sp>
    </p:spTree>
    <p:extLst>
      <p:ext uri="{BB962C8B-B14F-4D97-AF65-F5344CB8AC3E}">
        <p14:creationId xmlns:p14="http://schemas.microsoft.com/office/powerpoint/2010/main" val="1210000958"/>
      </p:ext>
    </p:extLst>
  </p:cSld>
</p:sld>
</file>

<file path=ppt/slides/slide3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af864fb35c074ca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47F0C8-BBC7-479D-8934-7BB3DF40A3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9E8941FB-2A6E-4661-AB3E-C37F7D87D3A3}"/>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C25E408F-161B-41B2-AD85-AA872B6761B7}"/>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E896C88B-C001-40F2-892E-0761E7E3532E}"/>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D804678-D07B-4630-8790-BBFBFB282AF3}"/>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DD76F933-85C8-4831-A898-55AD7703588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8B2774A1-91BE-45A4-B9C4-6187B63F3C5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5C1C643C-26E8-4AA0-8476-A48A153C21E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AC9FCD14-9DEE-4690-873E-299E1A390BAF}"/>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9E1052A3-C821-4BBB-8583-675CC1FEA078}"/>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40198B7A-02EA-46F9-B099-B1E4D0EAFB6F}"/>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4D7CB51F-0D97-4E99-B9D6-D7A4888D2F63}"/>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7DF099AD-FC08-49A5-9B3F-63DE1DA73F02}"/>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未来展望：三阶段演进</a:t>
            </a:r>
          </a:p>
        </p:txBody>
      </p:sp>
      <p:sp>
        <p:nvSpPr>
          <p:cNvPr id="15" name="">
            <a:extLst xmlns:a="http://schemas.openxmlformats.org/drawingml/2006/main">
              <a:ext uri="{FF2B5EF4-FFF2-40B4-BE49-F238E27FC236}">
                <a16:creationId xmlns:a16="http://schemas.microsoft.com/office/drawing/2014/main" id="{22499250-9FBD-43CE-A6D9-7383103030C6}"/>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7A025A78-E84E-4FDB-86BA-B2F3EC60A868}"/>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ECCDAA86-A898-4683-9DB8-BBA2C63375A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D3FE49CE-F4B5-4F1D-8F62-A36340C3094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05DEDCE4-7B15-45BF-8171-978073886735}"/>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第一阶段把规则底座铺满，第二阶段让模型增强并在接口不变的前提下替换，第三阶段才谈行业训练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a:t>
            </a:r>
          </a:p>
        </p:txBody>
      </p:sp>
      <p:sp>
        <p:nvSpPr>
          <p:cNvPr id="20" name="">
            <a:extLst xmlns:a="http://schemas.openxmlformats.org/drawingml/2006/main">
              <a:ext uri="{FF2B5EF4-FFF2-40B4-BE49-F238E27FC236}">
                <a16:creationId xmlns:a16="http://schemas.microsoft.com/office/drawing/2014/main" id="{ACD53AE1-BF06-4A79-885D-26FC3E0DACF8}"/>
              </a:ext>
            </a:extLst>
          </p:cNvPr>
          <p:cNvSpPr>
            <a:spLocks xmlns:a="http://schemas.openxmlformats.org/drawingml/2006/main" noGrp="1"/>
          </p:cNvSpPr>
          <p:nvPr/>
        </p:nvSpPr>
        <p:spPr>
          <a:xfrm xmlns:a="http://schemas.openxmlformats.org/drawingml/2006/main">
            <a:off x="285750" y="1333500"/>
            <a:ext cx="3771900" cy="4381500"/>
          </a:xfrm>
          <a:prstGeom xmlns:a="http://schemas.openxmlformats.org/drawingml/2006/main" prst="roundRect">
            <a:avLst>
              <a:gd name="adj" fmla="val 2273"/>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21" name="">
            <a:extLst xmlns:a="http://schemas.openxmlformats.org/drawingml/2006/main">
              <a:ext uri="{FF2B5EF4-FFF2-40B4-BE49-F238E27FC236}">
                <a16:creationId xmlns:a16="http://schemas.microsoft.com/office/drawing/2014/main" id="{4FA4C2E4-AB1C-40D4-9476-4C73DB281F22}"/>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A4810C0E-DA98-495F-A25F-5C8317FAD458}"/>
              </a:ext>
            </a:extLst>
          </p:cNvPr>
          <p:cNvSpPr>
            <a:spLocks xmlns:a="http://schemas.openxmlformats.org/drawingml/2006/main" noGrp="1"/>
          </p:cNvSpPr>
          <p:nvPr/>
        </p:nvSpPr>
        <p:spPr>
          <a:xfrm xmlns:a="http://schemas.openxmlformats.org/drawingml/2006/main">
            <a:off x="495300" y="1504950"/>
            <a:ext cx="190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9DBEE8"/>
                </a:solidFill>
                <a:latin typeface="微软雅黑"/>
                <a:ea typeface="微软雅黑"/>
                <a:cs typeface="微软雅黑"/>
              </a:defRPr>
            </a:pPr>
            <a:r>
              <a:rPr sz="975" b="1">
                <a:solidFill>
                  <a:srgbClr val="9DBEE8"/>
                </a:solidFill>
                <a:latin typeface="微软雅黑"/>
                <a:ea typeface="微软雅黑"/>
                <a:cs typeface="微软雅黑"/>
              </a:rPr>
              <a:t>阶段一</a:t>
            </a:r>
          </a:p>
        </p:txBody>
      </p:sp>
      <p:sp>
        <p:nvSpPr>
          <p:cNvPr id="23" name="">
            <a:extLst xmlns:a="http://schemas.openxmlformats.org/drawingml/2006/main">
              <a:ext uri="{FF2B5EF4-FFF2-40B4-BE49-F238E27FC236}">
                <a16:creationId xmlns:a16="http://schemas.microsoft.com/office/drawing/2014/main" id="{03509351-9DE9-4B49-82F8-45B9C547D423}"/>
              </a:ext>
            </a:extLst>
          </p:cNvPr>
          <p:cNvSpPr>
            <a:spLocks xmlns:a="http://schemas.openxmlformats.org/drawingml/2006/main" noGrp="1"/>
          </p:cNvSpPr>
          <p:nvPr/>
        </p:nvSpPr>
        <p:spPr>
          <a:xfrm xmlns:a="http://schemas.openxmlformats.org/drawingml/2006/main">
            <a:off x="495300" y="1809750"/>
            <a:ext cx="33909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规则底座全面落地</a:t>
            </a:r>
          </a:p>
        </p:txBody>
      </p:sp>
      <p:sp>
        <p:nvSpPr>
          <p:cNvPr id="24" name="">
            <a:extLst xmlns:a="http://schemas.openxmlformats.org/drawingml/2006/main">
              <a:ext uri="{FF2B5EF4-FFF2-40B4-BE49-F238E27FC236}">
                <a16:creationId xmlns:a16="http://schemas.microsoft.com/office/drawing/2014/main" id="{8185526C-1123-46A9-A46E-FEB6732F255A}"/>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5FE3A1"/>
            </a:solidFill>
            <a:prstDash val="solid"/>
          </a:ln>
        </p:spPr>
      </p:sp>
      <p:sp>
        <p:nvSpPr>
          <p:cNvPr id="25" name="">
            <a:extLst xmlns:a="http://schemas.openxmlformats.org/drawingml/2006/main">
              <a:ext uri="{FF2B5EF4-FFF2-40B4-BE49-F238E27FC236}">
                <a16:creationId xmlns:a16="http://schemas.microsoft.com/office/drawing/2014/main" id="{A0323DBB-B8BB-4B17-B609-AAC2C3373A31}"/>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现在（已完成主体）</a:t>
            </a:r>
          </a:p>
        </p:txBody>
      </p:sp>
      <p:sp>
        <p:nvSpPr>
          <p:cNvPr id="26" name="">
            <a:extLst xmlns:a="http://schemas.openxmlformats.org/drawingml/2006/main">
              <a:ext uri="{FF2B5EF4-FFF2-40B4-BE49-F238E27FC236}">
                <a16:creationId xmlns:a16="http://schemas.microsoft.com/office/drawing/2014/main" id="{8130CA38-F42F-4165-9F2D-7CAE04CFC16E}"/>
              </a:ext>
            </a:extLst>
          </p:cNvPr>
          <p:cNvSpPr>
            <a:spLocks xmlns:a="http://schemas.openxmlformats.org/drawingml/2006/main" noGrp="1"/>
          </p:cNvSpPr>
          <p:nvPr/>
        </p:nvSpPr>
        <p:spPr>
          <a:xfrm xmlns:a="http://schemas.openxmlformats.org/drawingml/2006/main">
            <a:off x="495300" y="2743200"/>
            <a:ext cx="3390900" cy="2762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场景全部接入规则引擎，支持规则新增、修改、停用与试算</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三个 </a:t>
            </a:r>
            <a:r>
              <a:rPr sz="938">
                <a:solidFill>
                  <a:srgbClr val="EEF5FF"/>
                </a:solidFill>
                <a:latin typeface="微软雅黑"/>
                <a:ea typeface="微软雅黑"/>
                <a:cs typeface="微软雅黑"/>
              </a:rPr>
              <a:t>Agent </a:t>
            </a:r>
            <a:r>
              <a:rPr sz="938">
                <a:solidFill>
                  <a:srgbClr val="EEF5FF"/>
                </a:solidFill>
                <a:latin typeface="微软雅黑"/>
                <a:ea typeface="微软雅黑"/>
                <a:cs typeface="微软雅黑"/>
              </a:rPr>
              <a:t>桩接入规则 </a:t>
            </a:r>
            <a:r>
              <a:rPr sz="938">
                <a:solidFill>
                  <a:srgbClr val="EEF5FF"/>
                </a:solidFill>
                <a:latin typeface="微软雅黑"/>
                <a:ea typeface="微软雅黑"/>
                <a:cs typeface="微软雅黑"/>
              </a:rPr>
              <a:t>Service</a:t>
            </a:r>
            <a:r>
              <a:rPr sz="938">
                <a:solidFill>
                  <a:srgbClr val="EEF5FF"/>
                </a:solidFill>
                <a:latin typeface="微软雅黑"/>
                <a:ea typeface="微软雅黑"/>
                <a:cs typeface="微软雅黑"/>
              </a:rPr>
              <a:t>，保留命中依据、置信度与人工确认</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阶段结果：核心业务离线可运行，结论可复算、可追溯</a:t>
            </a:r>
          </a:p>
        </p:txBody>
      </p:sp>
      <p:sp>
        <p:nvSpPr>
          <p:cNvPr id="27" name="">
            <a:extLst xmlns:a="http://schemas.openxmlformats.org/drawingml/2006/main">
              <a:ext uri="{FF2B5EF4-FFF2-40B4-BE49-F238E27FC236}">
                <a16:creationId xmlns:a16="http://schemas.microsoft.com/office/drawing/2014/main" id="{8FF1FAA8-B4B5-4C35-AEB7-4320D7FDA139}"/>
              </a:ext>
            </a:extLst>
          </p:cNvPr>
          <p:cNvSpPr>
            <a:spLocks xmlns:a="http://schemas.openxmlformats.org/drawingml/2006/main" noGrp="1"/>
          </p:cNvSpPr>
          <p:nvPr/>
        </p:nvSpPr>
        <p:spPr>
          <a:xfrm xmlns:a="http://schemas.openxmlformats.org/drawingml/2006/main">
            <a:off x="4229100" y="1333500"/>
            <a:ext cx="3771900" cy="43815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3C4D9843-2FCA-41B1-B4BF-52FEDB73AD57}"/>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E1F5639B-1862-490F-BCC9-2C5034B2CFA6}"/>
              </a:ext>
            </a:extLst>
          </p:cNvPr>
          <p:cNvSpPr>
            <a:spLocks xmlns:a="http://schemas.openxmlformats.org/drawingml/2006/main" noGrp="1"/>
          </p:cNvSpPr>
          <p:nvPr/>
        </p:nvSpPr>
        <p:spPr>
          <a:xfrm xmlns:a="http://schemas.openxmlformats.org/drawingml/2006/main">
            <a:off x="4438650" y="1504950"/>
            <a:ext cx="190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9DBEE8"/>
                </a:solidFill>
                <a:latin typeface="微软雅黑"/>
                <a:ea typeface="微软雅黑"/>
                <a:cs typeface="微软雅黑"/>
              </a:defRPr>
            </a:pPr>
            <a:r>
              <a:rPr sz="975" b="1">
                <a:solidFill>
                  <a:srgbClr val="9DBEE8"/>
                </a:solidFill>
                <a:latin typeface="微软雅黑"/>
                <a:ea typeface="微软雅黑"/>
                <a:cs typeface="微软雅黑"/>
              </a:rPr>
              <a:t>阶段二</a:t>
            </a:r>
          </a:p>
        </p:txBody>
      </p:sp>
      <p:sp>
        <p:nvSpPr>
          <p:cNvPr id="30" name="">
            <a:extLst xmlns:a="http://schemas.openxmlformats.org/drawingml/2006/main">
              <a:ext uri="{FF2B5EF4-FFF2-40B4-BE49-F238E27FC236}">
                <a16:creationId xmlns:a16="http://schemas.microsoft.com/office/drawing/2014/main" id="{F4307735-BE38-4AF9-98A7-7FA8F42E6753}"/>
              </a:ext>
            </a:extLst>
          </p:cNvPr>
          <p:cNvSpPr>
            <a:spLocks xmlns:a="http://schemas.openxmlformats.org/drawingml/2006/main" noGrp="1"/>
          </p:cNvSpPr>
          <p:nvPr/>
        </p:nvSpPr>
        <p:spPr>
          <a:xfrm xmlns:a="http://schemas.openxmlformats.org/drawingml/2006/main">
            <a:off x="4438650" y="1809750"/>
            <a:ext cx="33909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模型增强与数据回流</a:t>
            </a:r>
          </a:p>
        </p:txBody>
      </p:sp>
      <p:sp>
        <p:nvSpPr>
          <p:cNvPr id="31" name="">
            <a:extLst xmlns:a="http://schemas.openxmlformats.org/drawingml/2006/main">
              <a:ext uri="{FF2B5EF4-FFF2-40B4-BE49-F238E27FC236}">
                <a16:creationId xmlns:a16="http://schemas.microsoft.com/office/drawing/2014/main" id="{54FB57CD-1C26-4557-9888-DCD5967EEAC2}"/>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FD24A"/>
            </a:solidFill>
            <a:prstDash val="solid"/>
          </a:ln>
        </p:spPr>
      </p:sp>
      <p:sp>
        <p:nvSpPr>
          <p:cNvPr id="32" name="">
            <a:extLst xmlns:a="http://schemas.openxmlformats.org/drawingml/2006/main">
              <a:ext uri="{FF2B5EF4-FFF2-40B4-BE49-F238E27FC236}">
                <a16:creationId xmlns:a16="http://schemas.microsoft.com/office/drawing/2014/main" id="{08D49BBA-0A81-4DC9-8641-89880A5A09FE}"/>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下一步</a:t>
            </a:r>
          </a:p>
        </p:txBody>
      </p:sp>
      <p:sp>
        <p:nvSpPr>
          <p:cNvPr id="33" name="">
            <a:extLst xmlns:a="http://schemas.openxmlformats.org/drawingml/2006/main">
              <a:ext uri="{FF2B5EF4-FFF2-40B4-BE49-F238E27FC236}">
                <a16:creationId xmlns:a16="http://schemas.microsoft.com/office/drawing/2014/main" id="{4F891140-69C3-481D-96B0-6410148BB4C5}"/>
              </a:ext>
            </a:extLst>
          </p:cNvPr>
          <p:cNvSpPr>
            <a:spLocks xmlns:a="http://schemas.openxmlformats.org/drawingml/2006/main" noGrp="1"/>
          </p:cNvSpPr>
          <p:nvPr/>
        </p:nvSpPr>
        <p:spPr>
          <a:xfrm xmlns:a="http://schemas.openxmlformats.org/drawingml/2006/main">
            <a:off x="4438650" y="2743200"/>
            <a:ext cx="3390900" cy="2762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不改接口与前端，增加 </a:t>
            </a:r>
            <a:r>
              <a:rPr sz="938">
                <a:solidFill>
                  <a:srgbClr val="EEF5FF"/>
                </a:solidFill>
                <a:latin typeface="微软雅黑"/>
                <a:ea typeface="微软雅黑"/>
                <a:cs typeface="微软雅黑"/>
              </a:rPr>
              <a:t>source=model </a:t>
            </a:r>
            <a:r>
              <a:rPr sz="938">
                <a:solidFill>
                  <a:srgbClr val="EEF5FF"/>
                </a:solidFill>
                <a:latin typeface="微软雅黑"/>
                <a:ea typeface="微软雅黑"/>
                <a:cs typeface="微软雅黑"/>
              </a:rPr>
              <a:t>的 </a:t>
            </a:r>
            <a:r>
              <a:rPr sz="938">
                <a:solidFill>
                  <a:srgbClr val="EEF5FF"/>
                </a:solidFill>
                <a:latin typeface="微软雅黑"/>
                <a:ea typeface="微软雅黑"/>
                <a:cs typeface="微软雅黑"/>
              </a:rPr>
              <a:t>Service</a:t>
            </a:r>
            <a:r>
              <a:rPr sz="938">
                <a:solidFill>
                  <a:srgbClr val="EEF5FF"/>
                </a:solidFill>
                <a:latin typeface="微软雅黑"/>
                <a:ea typeface="微软雅黑"/>
                <a:cs typeface="微软雅黑"/>
              </a:rPr>
              <a:t>，规则始终兜底</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用岗位、课程、考试、实操与历史决策构建训练知识库</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人工确认结果沉淀为训练标签，形成「越用越准」的数据飞轮</a:t>
            </a:r>
          </a:p>
        </p:txBody>
      </p:sp>
      <p:sp>
        <p:nvSpPr>
          <p:cNvPr id="34" name="">
            <a:extLst xmlns:a="http://schemas.openxmlformats.org/drawingml/2006/main">
              <a:ext uri="{FF2B5EF4-FFF2-40B4-BE49-F238E27FC236}">
                <a16:creationId xmlns:a16="http://schemas.microsoft.com/office/drawing/2014/main" id="{6815B90B-ED85-428A-8652-BCB1B627F615}"/>
              </a:ext>
            </a:extLst>
          </p:cNvPr>
          <p:cNvSpPr>
            <a:spLocks xmlns:a="http://schemas.openxmlformats.org/drawingml/2006/main" noGrp="1"/>
          </p:cNvSpPr>
          <p:nvPr/>
        </p:nvSpPr>
        <p:spPr>
          <a:xfrm xmlns:a="http://schemas.openxmlformats.org/drawingml/2006/main">
            <a:off x="8172450" y="1333500"/>
            <a:ext cx="3771900" cy="43815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3FA9ADCE-6142-4FA3-BEA3-3BDAE2DD409C}"/>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B7A6FF"/>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FB1A8CA2-7F22-4A3E-B4CA-3D98C026DC0C}"/>
              </a:ext>
            </a:extLst>
          </p:cNvPr>
          <p:cNvSpPr>
            <a:spLocks xmlns:a="http://schemas.openxmlformats.org/drawingml/2006/main" noGrp="1"/>
          </p:cNvSpPr>
          <p:nvPr/>
        </p:nvSpPr>
        <p:spPr>
          <a:xfrm xmlns:a="http://schemas.openxmlformats.org/drawingml/2006/main">
            <a:off x="8382000" y="1504950"/>
            <a:ext cx="19050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9DBEE8"/>
                </a:solidFill>
                <a:latin typeface="微软雅黑"/>
                <a:ea typeface="微软雅黑"/>
                <a:cs typeface="微软雅黑"/>
              </a:defRPr>
            </a:pPr>
            <a:r>
              <a:rPr sz="975" b="1">
                <a:solidFill>
                  <a:srgbClr val="9DBEE8"/>
                </a:solidFill>
                <a:latin typeface="微软雅黑"/>
                <a:ea typeface="微软雅黑"/>
                <a:cs typeface="微软雅黑"/>
              </a:rPr>
              <a:t>阶段三</a:t>
            </a:r>
          </a:p>
        </p:txBody>
      </p:sp>
      <p:sp>
        <p:nvSpPr>
          <p:cNvPr id="37" name="">
            <a:extLst xmlns:a="http://schemas.openxmlformats.org/drawingml/2006/main">
              <a:ext uri="{FF2B5EF4-FFF2-40B4-BE49-F238E27FC236}">
                <a16:creationId xmlns:a16="http://schemas.microsoft.com/office/drawing/2014/main" id="{1D130871-C8E6-4F8A-9BD2-B6A504FF9C9C}"/>
              </a:ext>
            </a:extLst>
          </p:cNvPr>
          <p:cNvSpPr>
            <a:spLocks xmlns:a="http://schemas.openxmlformats.org/drawingml/2006/main" noGrp="1"/>
          </p:cNvSpPr>
          <p:nvPr/>
        </p:nvSpPr>
        <p:spPr>
          <a:xfrm xmlns:a="http://schemas.openxmlformats.org/drawingml/2006/main">
            <a:off x="8382000" y="1809750"/>
            <a:ext cx="33909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行业训练 </a:t>
            </a:r>
            <a:r>
              <a:rPr sz="1650" b="1">
                <a:solidFill>
                  <a:srgbClr val="FFFFFF"/>
                </a:solidFill>
                <a:latin typeface="微软雅黑"/>
                <a:ea typeface="微软雅黑"/>
                <a:cs typeface="微软雅黑"/>
              </a:rPr>
              <a:t>Agent</a:t>
            </a:r>
          </a:p>
        </p:txBody>
      </p:sp>
      <p:sp>
        <p:nvSpPr>
          <p:cNvPr id="38" name="">
            <a:extLst xmlns:a="http://schemas.openxmlformats.org/drawingml/2006/main">
              <a:ext uri="{FF2B5EF4-FFF2-40B4-BE49-F238E27FC236}">
                <a16:creationId xmlns:a16="http://schemas.microsoft.com/office/drawing/2014/main" id="{5C30BED0-D2A9-4D70-A9FA-5928872E62AB}"/>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B7A6FF"/>
            </a:solidFill>
            <a:prstDash val="solid"/>
          </a:ln>
        </p:spPr>
      </p:sp>
      <p:sp>
        <p:nvSpPr>
          <p:cNvPr id="39" name="">
            <a:extLst xmlns:a="http://schemas.openxmlformats.org/drawingml/2006/main">
              <a:ext uri="{FF2B5EF4-FFF2-40B4-BE49-F238E27FC236}">
                <a16:creationId xmlns:a16="http://schemas.microsoft.com/office/drawing/2014/main" id="{10048743-A492-4C56-8B26-0BF839E7FAC5}"/>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B7A6FF"/>
                </a:solidFill>
                <a:latin typeface="微软雅黑"/>
                <a:ea typeface="微软雅黑"/>
                <a:cs typeface="微软雅黑"/>
              </a:defRPr>
            </a:pPr>
            <a:r>
              <a:rPr sz="900" b="1">
                <a:solidFill>
                  <a:srgbClr val="B7A6FF"/>
                </a:solidFill>
                <a:latin typeface="微软雅黑"/>
                <a:ea typeface="微软雅黑"/>
                <a:cs typeface="微软雅黑"/>
              </a:rPr>
              <a:t>中长期</a:t>
            </a:r>
          </a:p>
        </p:txBody>
      </p:sp>
      <p:sp>
        <p:nvSpPr>
          <p:cNvPr id="40" name="">
            <a:extLst xmlns:a="http://schemas.openxmlformats.org/drawingml/2006/main">
              <a:ext uri="{FF2B5EF4-FFF2-40B4-BE49-F238E27FC236}">
                <a16:creationId xmlns:a16="http://schemas.microsoft.com/office/drawing/2014/main" id="{6F40A5EA-D97B-4592-84B2-3802841D6A49}"/>
              </a:ext>
            </a:extLst>
          </p:cNvPr>
          <p:cNvSpPr>
            <a:spLocks xmlns:a="http://schemas.openxmlformats.org/drawingml/2006/main" noGrp="1"/>
          </p:cNvSpPr>
          <p:nvPr/>
        </p:nvSpPr>
        <p:spPr>
          <a:xfrm xmlns:a="http://schemas.openxmlformats.org/drawingml/2006/main">
            <a:off x="8382000" y="2743200"/>
            <a:ext cx="3390900" cy="27622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融合岗位、技能、课程、考试、实操、带教与成本数据，形成企业训练知识底座</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Agent </a:t>
            </a:r>
            <a:r>
              <a:rPr sz="938">
                <a:solidFill>
                  <a:srgbClr val="EEF5FF"/>
                </a:solidFill>
                <a:latin typeface="微软雅黑"/>
                <a:ea typeface="微软雅黑"/>
                <a:cs typeface="微软雅黑"/>
              </a:rPr>
              <a:t>能识别缺口、生成计划、推荐带教并安排复训</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最终形态：越用越懂岗位、员工和训练闭环的行业训练 </a:t>
            </a:r>
            <a:r>
              <a:rPr sz="938">
                <a:solidFill>
                  <a:srgbClr val="EEF5FF"/>
                </a:solidFill>
                <a:latin typeface="微软雅黑"/>
                <a:ea typeface="微软雅黑"/>
                <a:cs typeface="微软雅黑"/>
              </a:rPr>
              <a:t>Agent</a:t>
            </a:r>
          </a:p>
        </p:txBody>
      </p:sp>
      <p:sp>
        <p:nvSpPr>
          <p:cNvPr id="41" name="">
            <a:extLst xmlns:a="http://schemas.openxmlformats.org/drawingml/2006/main">
              <a:ext uri="{FF2B5EF4-FFF2-40B4-BE49-F238E27FC236}">
                <a16:creationId xmlns:a16="http://schemas.microsoft.com/office/drawing/2014/main" id="{E09FD145-9071-45B3-836B-CB179417DD01}"/>
              </a:ext>
            </a:extLst>
          </p:cNvPr>
          <p:cNvSpPr>
            <a:spLocks xmlns:a="http://schemas.openxmlformats.org/drawingml/2006/main" noGrp="1"/>
          </p:cNvSpPr>
          <p:nvPr/>
        </p:nvSpPr>
        <p:spPr>
          <a:xfrm xmlns:a="http://schemas.openxmlformats.org/drawingml/2006/main">
            <a:off x="285750" y="5924550"/>
            <a:ext cx="116205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2" name="">
            <a:extLst xmlns:a="http://schemas.openxmlformats.org/drawingml/2006/main">
              <a:ext uri="{FF2B5EF4-FFF2-40B4-BE49-F238E27FC236}">
                <a16:creationId xmlns:a16="http://schemas.microsoft.com/office/drawing/2014/main" id="{CE73D9F9-21C9-4D85-B180-71CA38AF3203}"/>
              </a:ext>
            </a:extLst>
          </p:cNvPr>
          <p:cNvSpPr>
            <a:spLocks xmlns:a="http://schemas.openxmlformats.org/drawingml/2006/main" noGrp="1"/>
          </p:cNvSpPr>
          <p:nvPr/>
        </p:nvSpPr>
        <p:spPr>
          <a:xfrm xmlns:a="http://schemas.openxmlformats.org/drawingml/2006/main">
            <a:off x="457200" y="5924550"/>
            <a:ext cx="11239500" cy="571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35000"/>
              </a:lnSpc>
              <a:buNone/>
              <a:defRPr sz="975" b="0">
                <a:solidFill>
                  <a:srgbClr val="EEF5FF"/>
                </a:solidFill>
                <a:latin typeface="微软雅黑"/>
                <a:ea typeface="微软雅黑"/>
                <a:cs typeface="微软雅黑"/>
              </a:defRPr>
            </a:pPr>
            <a:r>
              <a:rPr sz="975" b="0">
                <a:solidFill>
                  <a:srgbClr val="EEF5FF"/>
                </a:solidFill>
                <a:latin typeface="微软雅黑"/>
                <a:ea typeface="微软雅黑"/>
                <a:cs typeface="微软雅黑"/>
              </a:rPr>
              <a:t>规则全面落地　</a:t>
            </a:r>
            <a:r>
              <a:rPr sz="975" b="0">
                <a:solidFill>
                  <a:srgbClr val="EEF5FF"/>
                </a:solidFill>
                <a:latin typeface="微软雅黑"/>
                <a:ea typeface="微软雅黑"/>
                <a:cs typeface="微软雅黑"/>
              </a:rPr>
              <a:t>→　</a:t>
            </a:r>
            <a:r>
              <a:rPr sz="975" b="0">
                <a:solidFill>
                  <a:srgbClr val="EEF5FF"/>
                </a:solidFill>
                <a:latin typeface="微软雅黑"/>
                <a:ea typeface="微软雅黑"/>
                <a:cs typeface="微软雅黑"/>
              </a:rPr>
              <a:t>模型增强与数据回流　</a:t>
            </a:r>
            <a:r>
              <a:rPr sz="975" b="0">
                <a:solidFill>
                  <a:srgbClr val="EEF5FF"/>
                </a:solidFill>
                <a:latin typeface="微软雅黑"/>
                <a:ea typeface="微软雅黑"/>
                <a:cs typeface="微软雅黑"/>
              </a:rPr>
              <a:t>→　</a:t>
            </a:r>
            <a:r>
              <a:rPr sz="975" b="0">
                <a:solidFill>
                  <a:srgbClr val="EEF5FF"/>
                </a:solidFill>
                <a:latin typeface="微软雅黑"/>
                <a:ea typeface="微软雅黑"/>
                <a:cs typeface="微软雅黑"/>
              </a:rPr>
              <a:t>行业训练 </a:t>
            </a:r>
            <a:r>
              <a:rPr sz="975" b="0">
                <a:solidFill>
                  <a:srgbClr val="EEF5FF"/>
                </a:solidFill>
                <a:latin typeface="微软雅黑"/>
                <a:ea typeface="微软雅黑"/>
                <a:cs typeface="微软雅黑"/>
              </a:rPr>
              <a:t>Agent　　</a:t>
            </a:r>
            <a:r>
              <a:rPr sz="975" b="0">
                <a:solidFill>
                  <a:srgbClr val="EEF5FF"/>
                </a:solidFill>
                <a:latin typeface="微软雅黑"/>
                <a:ea typeface="微软雅黑"/>
                <a:cs typeface="微软雅黑"/>
              </a:rPr>
              <a:t>演进过程不改接口、不改前端、不改变结论的可追溯要求。</a:t>
            </a:r>
          </a:p>
        </p:txBody>
      </p:sp>
      <p:sp>
        <p:nvSpPr>
          <p:cNvPr id="43" name="">
            <a:extLst xmlns:a="http://schemas.openxmlformats.org/drawingml/2006/main">
              <a:ext uri="{FF2B5EF4-FFF2-40B4-BE49-F238E27FC236}">
                <a16:creationId xmlns:a16="http://schemas.microsoft.com/office/drawing/2014/main" id="{27E8CAAC-1BB2-4C15-95E2-F91EC9F26F6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w="0">
            <a:solidFill>
              <a:srgbClr val="000000"/>
            </a:solidFill>
            <a:prstDash val="solid"/>
          </a:ln>
        </p:spPr>
      </p:sp>
      <p:sp>
        <p:nvSpPr>
          <p:cNvPr id="44" name="">
            <a:extLst xmlns:a="http://schemas.openxmlformats.org/drawingml/2006/main">
              <a:ext uri="{FF2B5EF4-FFF2-40B4-BE49-F238E27FC236}">
                <a16:creationId xmlns:a16="http://schemas.microsoft.com/office/drawing/2014/main" id="{B03A5580-760C-4A6B-B05F-082D7EBC19AA}"/>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5411DE1D-3FB4-435C-B976-C13898110384}"/>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6" name="">
            <a:extLst xmlns:a="http://schemas.openxmlformats.org/drawingml/2006/main">
              <a:ext uri="{FF2B5EF4-FFF2-40B4-BE49-F238E27FC236}">
                <a16:creationId xmlns:a16="http://schemas.microsoft.com/office/drawing/2014/main" id="{23634BAF-A4D9-4768-8C20-8848DEFE20F6}"/>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83A92A9C-2AEC-4BC8-829C-8EA71DF519B8}"/>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36</a:t>
            </a:r>
          </a:p>
        </p:txBody>
      </p:sp>
    </p:spTree>
    <p:extLst>
      <p:ext uri="{BB962C8B-B14F-4D97-AF65-F5344CB8AC3E}">
        <p14:creationId xmlns:p14="http://schemas.microsoft.com/office/powerpoint/2010/main" val="397038639"/>
      </p:ext>
    </p:extLst>
  </p:cSld>
</p:sld>
</file>

<file path=ppt/slides/slide37.xml><?xml version="1.0" encoding="utf-8"?>
<p:sld xmlns:p="http://schemas.openxmlformats.org/presentationml/2006/main">
  <p:cSld>
    <p:bg>
      <p:bgPr>
        <a:gradFill xmlns:a="http://schemas.openxmlformats.org/drawingml/2006/main">
          <a:gsLst>
            <a:gs pos="0">
              <a:srgbClr val="0D4489"/>
            </a:gs>
            <a:gs pos="100000">
              <a:srgbClr val="061C3F"/>
            </a:gs>
          </a:gsLst>
          <a:lin ang="7200000"/>
        </a:gradFill>
      </p:bgPr>
    </p:bg>
    <p:spTree>
      <p:nvGrpSpPr>
        <p:cNvPr id="1" name=""/>
        <p:cNvGrpSpPr/>
        <p:nvPr/>
      </p:nvGrpSpPr>
      <p:grpSpPr>
        <a:xfrm xmlns:a="http://schemas.openxmlformats.org/drawingml/2006/main"/>
      </p:grpSpPr>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2870691ac00e4ff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10F7FF-3116-4C73-A982-6D765FA86B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w="0">
            <a:solidFill>
              <a:srgbClr val="000000"/>
            </a:solidFill>
            <a:prstDash val="solid"/>
          </a:ln>
        </p:spPr>
      </p:sp>
      <p:sp>
        <p:nvSpPr>
          <p:cNvPr id="3" name="">
            <a:extLst xmlns:a="http://schemas.openxmlformats.org/drawingml/2006/main">
              <a:ext uri="{FF2B5EF4-FFF2-40B4-BE49-F238E27FC236}">
                <a16:creationId xmlns:a16="http://schemas.microsoft.com/office/drawing/2014/main" id="{86CF8960-4BDB-433E-8FDB-4B5B7A8EF743}"/>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w="0">
            <a:solidFill>
              <a:srgbClr val="000000"/>
            </a:solidFill>
            <a:prstDash val="solid"/>
          </a:ln>
        </p:spPr>
      </p:sp>
      <p:sp>
        <p:nvSpPr>
          <p:cNvPr id="4" name="">
            <a:extLst xmlns:a="http://schemas.openxmlformats.org/drawingml/2006/main">
              <a:ext uri="{FF2B5EF4-FFF2-40B4-BE49-F238E27FC236}">
                <a16:creationId xmlns:a16="http://schemas.microsoft.com/office/drawing/2014/main" id="{068BF80B-8DAA-41A0-9658-99325CBBADC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w="0">
            <a:solidFill>
              <a:srgbClr val="000000"/>
            </a:solidFill>
            <a:prstDash val="solid"/>
          </a:ln>
        </p:spPr>
      </p:sp>
      <p:sp>
        <p:nvSpPr>
          <p:cNvPr id="5" name="">
            <a:extLst xmlns:a="http://schemas.openxmlformats.org/drawingml/2006/main">
              <a:ext uri="{FF2B5EF4-FFF2-40B4-BE49-F238E27FC236}">
                <a16:creationId xmlns:a16="http://schemas.microsoft.com/office/drawing/2014/main" id="{53FE739C-1AB2-4DEA-8C8A-B7C41CC7E04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DF7F36E7-17A6-4F10-A33C-6155CDAC7E2C}"/>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026E0C1C-D08E-4C82-A564-7AB7704A8D48}"/>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CC3BA0B6-1262-4FA1-AAE9-0230B0D8E30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02C4B6D8-B14D-4960-9FCD-26D970DD1382}"/>
              </a:ext>
            </a:extLst>
          </p:cNvPr>
          <p:cNvSpPr>
            <a:spLocks xmlns:a="http://schemas.openxmlformats.org/drawingml/2006/main" noGrp="1"/>
          </p:cNvSpPr>
          <p:nvPr/>
        </p:nvSpPr>
        <p:spPr>
          <a:xfrm xmlns:a="http://schemas.openxmlformats.org/drawingml/2006/main">
            <a:off x="7810500" y="0"/>
            <a:ext cx="4381500" cy="4762500"/>
          </a:xfrm>
          <a:prstGeom xmlns:a="http://schemas.openxmlformats.org/drawingml/2006/main" prst="ellipse">
            <a:avLst/>
          </a:prstGeom>
          <a:gradFill xmlns:a="http://schemas.openxmlformats.org/drawingml/2006/main">
            <a:gsLst>
              <a:gs pos="0">
                <a:srgbClr val="3E8AD8">
                  <a:alpha val="40000"/>
                </a:srgbClr>
              </a:gs>
              <a:gs pos="45000">
                <a:srgbClr val="3E8AD8">
                  <a:alpha val="16000"/>
                </a:srgbClr>
              </a:gs>
              <a:gs pos="100000">
                <a:srgbClr val="3E8AD8">
                  <a:alpha val="0"/>
                </a:srgbClr>
              </a:gs>
            </a:gsLst>
            <a:path path="shape"/>
          </a:gra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9DC49CB4-199E-45FA-9B0C-CD5173C9B6BB}"/>
              </a:ext>
            </a:extLst>
          </p:cNvPr>
          <p:cNvSpPr>
            <a:spLocks xmlns:a="http://schemas.openxmlformats.org/drawingml/2006/main" noGrp="1"/>
          </p:cNvSpPr>
          <p:nvPr/>
        </p:nvSpPr>
        <p:spPr>
          <a:xfrm xmlns:a="http://schemas.openxmlformats.org/drawingml/2006/main">
            <a:off x="9620250"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F6EFF844-53B1-4893-9B3D-0951BE2EBFEC}"/>
              </a:ext>
            </a:extLst>
          </p:cNvPr>
          <p:cNvSpPr>
            <a:spLocks xmlns:a="http://schemas.openxmlformats.org/drawingml/2006/main" noGrp="1"/>
          </p:cNvSpPr>
          <p:nvPr/>
        </p:nvSpPr>
        <p:spPr>
          <a:xfrm xmlns:a="http://schemas.openxmlformats.org/drawingml/2006/main">
            <a:off x="9620250"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8FA3342E-7706-400B-99E6-E37D034270E4}"/>
              </a:ext>
            </a:extLst>
          </p:cNvPr>
          <p:cNvSpPr>
            <a:spLocks xmlns:a="http://schemas.openxmlformats.org/drawingml/2006/main" noGrp="1"/>
          </p:cNvSpPr>
          <p:nvPr/>
        </p:nvSpPr>
        <p:spPr>
          <a:xfrm xmlns:a="http://schemas.openxmlformats.org/drawingml/2006/main">
            <a:off x="9620250"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25A67EE9-7DF1-40E2-8D8F-7011BBACD7CC}"/>
              </a:ext>
            </a:extLst>
          </p:cNvPr>
          <p:cNvSpPr>
            <a:spLocks xmlns:a="http://schemas.openxmlformats.org/drawingml/2006/main" noGrp="1"/>
          </p:cNvSpPr>
          <p:nvPr/>
        </p:nvSpPr>
        <p:spPr>
          <a:xfrm xmlns:a="http://schemas.openxmlformats.org/drawingml/2006/main">
            <a:off x="9782175"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FA4924D2-D251-4056-9ADC-5AC00FBF9E16}"/>
              </a:ext>
            </a:extLst>
          </p:cNvPr>
          <p:cNvSpPr>
            <a:spLocks xmlns:a="http://schemas.openxmlformats.org/drawingml/2006/main" noGrp="1"/>
          </p:cNvSpPr>
          <p:nvPr/>
        </p:nvSpPr>
        <p:spPr>
          <a:xfrm xmlns:a="http://schemas.openxmlformats.org/drawingml/2006/main">
            <a:off x="9782175"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7A1F8E5C-7AF0-483E-A217-BA37B41D1FE1}"/>
              </a:ext>
            </a:extLst>
          </p:cNvPr>
          <p:cNvSpPr>
            <a:spLocks xmlns:a="http://schemas.openxmlformats.org/drawingml/2006/main" noGrp="1"/>
          </p:cNvSpPr>
          <p:nvPr/>
        </p:nvSpPr>
        <p:spPr>
          <a:xfrm xmlns:a="http://schemas.openxmlformats.org/drawingml/2006/main">
            <a:off x="9782175"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6" name="">
            <a:extLst xmlns:a="http://schemas.openxmlformats.org/drawingml/2006/main">
              <a:ext uri="{FF2B5EF4-FFF2-40B4-BE49-F238E27FC236}">
                <a16:creationId xmlns:a16="http://schemas.microsoft.com/office/drawing/2014/main" id="{64C42421-DF3C-49D7-BA63-7A96D33176B7}"/>
              </a:ext>
            </a:extLst>
          </p:cNvPr>
          <p:cNvSpPr>
            <a:spLocks xmlns:a="http://schemas.openxmlformats.org/drawingml/2006/main" noGrp="1"/>
          </p:cNvSpPr>
          <p:nvPr/>
        </p:nvSpPr>
        <p:spPr>
          <a:xfrm xmlns:a="http://schemas.openxmlformats.org/drawingml/2006/main">
            <a:off x="9944100"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2B01C5AC-40CC-4C79-9300-DDBF428ACDB8}"/>
              </a:ext>
            </a:extLst>
          </p:cNvPr>
          <p:cNvSpPr>
            <a:spLocks xmlns:a="http://schemas.openxmlformats.org/drawingml/2006/main" noGrp="1"/>
          </p:cNvSpPr>
          <p:nvPr/>
        </p:nvSpPr>
        <p:spPr>
          <a:xfrm xmlns:a="http://schemas.openxmlformats.org/drawingml/2006/main">
            <a:off x="9944100"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8" name="">
            <a:extLst xmlns:a="http://schemas.openxmlformats.org/drawingml/2006/main">
              <a:ext uri="{FF2B5EF4-FFF2-40B4-BE49-F238E27FC236}">
                <a16:creationId xmlns:a16="http://schemas.microsoft.com/office/drawing/2014/main" id="{501C522D-288F-43E3-896F-29F033EA7FD1}"/>
              </a:ext>
            </a:extLst>
          </p:cNvPr>
          <p:cNvSpPr>
            <a:spLocks xmlns:a="http://schemas.openxmlformats.org/drawingml/2006/main" noGrp="1"/>
          </p:cNvSpPr>
          <p:nvPr/>
        </p:nvSpPr>
        <p:spPr>
          <a:xfrm xmlns:a="http://schemas.openxmlformats.org/drawingml/2006/main">
            <a:off x="9944100"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54BBA532-84D3-40A4-AD02-FC74DD8DE204}"/>
              </a:ext>
            </a:extLst>
          </p:cNvPr>
          <p:cNvSpPr>
            <a:spLocks xmlns:a="http://schemas.openxmlformats.org/drawingml/2006/main" noGrp="1"/>
          </p:cNvSpPr>
          <p:nvPr/>
        </p:nvSpPr>
        <p:spPr>
          <a:xfrm xmlns:a="http://schemas.openxmlformats.org/drawingml/2006/main">
            <a:off x="10106025"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0" name="">
            <a:extLst xmlns:a="http://schemas.openxmlformats.org/drawingml/2006/main">
              <a:ext uri="{FF2B5EF4-FFF2-40B4-BE49-F238E27FC236}">
                <a16:creationId xmlns:a16="http://schemas.microsoft.com/office/drawing/2014/main" id="{159F48AD-42CD-4B90-BDEF-4F488080EB4D}"/>
              </a:ext>
            </a:extLst>
          </p:cNvPr>
          <p:cNvSpPr>
            <a:spLocks xmlns:a="http://schemas.openxmlformats.org/drawingml/2006/main" noGrp="1"/>
          </p:cNvSpPr>
          <p:nvPr/>
        </p:nvSpPr>
        <p:spPr>
          <a:xfrm xmlns:a="http://schemas.openxmlformats.org/drawingml/2006/main">
            <a:off x="10106025"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B1DF6CD9-5D68-4BD9-B886-C4CDDE6744D0}"/>
              </a:ext>
            </a:extLst>
          </p:cNvPr>
          <p:cNvSpPr>
            <a:spLocks xmlns:a="http://schemas.openxmlformats.org/drawingml/2006/main" noGrp="1"/>
          </p:cNvSpPr>
          <p:nvPr/>
        </p:nvSpPr>
        <p:spPr>
          <a:xfrm xmlns:a="http://schemas.openxmlformats.org/drawingml/2006/main">
            <a:off x="10106025"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BE1045C8-82D7-4C96-AA64-570EC3DA4548}"/>
              </a:ext>
            </a:extLst>
          </p:cNvPr>
          <p:cNvSpPr>
            <a:spLocks xmlns:a="http://schemas.openxmlformats.org/drawingml/2006/main" noGrp="1"/>
          </p:cNvSpPr>
          <p:nvPr/>
        </p:nvSpPr>
        <p:spPr>
          <a:xfrm xmlns:a="http://schemas.openxmlformats.org/drawingml/2006/main">
            <a:off x="10267950"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6EDB0A49-8EF3-40FF-B84C-BD13492DACDB}"/>
              </a:ext>
            </a:extLst>
          </p:cNvPr>
          <p:cNvSpPr>
            <a:spLocks xmlns:a="http://schemas.openxmlformats.org/drawingml/2006/main" noGrp="1"/>
          </p:cNvSpPr>
          <p:nvPr/>
        </p:nvSpPr>
        <p:spPr>
          <a:xfrm xmlns:a="http://schemas.openxmlformats.org/drawingml/2006/main">
            <a:off x="10267950"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095D7BDF-AD6D-4864-95F5-1E7747309A65}"/>
              </a:ext>
            </a:extLst>
          </p:cNvPr>
          <p:cNvSpPr>
            <a:spLocks xmlns:a="http://schemas.openxmlformats.org/drawingml/2006/main" noGrp="1"/>
          </p:cNvSpPr>
          <p:nvPr/>
        </p:nvSpPr>
        <p:spPr>
          <a:xfrm xmlns:a="http://schemas.openxmlformats.org/drawingml/2006/main">
            <a:off x="10267950"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89499C1F-8545-4ECA-9A95-6B9123207710}"/>
              </a:ext>
            </a:extLst>
          </p:cNvPr>
          <p:cNvSpPr>
            <a:spLocks xmlns:a="http://schemas.openxmlformats.org/drawingml/2006/main" noGrp="1"/>
          </p:cNvSpPr>
          <p:nvPr/>
        </p:nvSpPr>
        <p:spPr>
          <a:xfrm xmlns:a="http://schemas.openxmlformats.org/drawingml/2006/main">
            <a:off x="1066800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C226B94C-7D3A-481C-BAEE-55E3B84363CE}"/>
              </a:ext>
            </a:extLst>
          </p:cNvPr>
          <p:cNvSpPr>
            <a:spLocks xmlns:a="http://schemas.openxmlformats.org/drawingml/2006/main" noGrp="1"/>
          </p:cNvSpPr>
          <p:nvPr/>
        </p:nvSpPr>
        <p:spPr>
          <a:xfrm xmlns:a="http://schemas.openxmlformats.org/drawingml/2006/main">
            <a:off x="1066800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01F276F8-229D-48DD-B11B-E64CE28190A2}"/>
              </a:ext>
            </a:extLst>
          </p:cNvPr>
          <p:cNvSpPr>
            <a:spLocks xmlns:a="http://schemas.openxmlformats.org/drawingml/2006/main" noGrp="1"/>
          </p:cNvSpPr>
          <p:nvPr/>
        </p:nvSpPr>
        <p:spPr>
          <a:xfrm xmlns:a="http://schemas.openxmlformats.org/drawingml/2006/main">
            <a:off x="1066800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C48DE271-9C04-493A-8A9D-183C2F9BC6B7}"/>
              </a:ext>
            </a:extLst>
          </p:cNvPr>
          <p:cNvSpPr>
            <a:spLocks xmlns:a="http://schemas.openxmlformats.org/drawingml/2006/main" noGrp="1"/>
          </p:cNvSpPr>
          <p:nvPr/>
        </p:nvSpPr>
        <p:spPr>
          <a:xfrm xmlns:a="http://schemas.openxmlformats.org/drawingml/2006/main">
            <a:off x="1080135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AEA3165D-C8D1-4E41-83AD-90E4FCAC4C7F}"/>
              </a:ext>
            </a:extLst>
          </p:cNvPr>
          <p:cNvSpPr>
            <a:spLocks xmlns:a="http://schemas.openxmlformats.org/drawingml/2006/main" noGrp="1"/>
          </p:cNvSpPr>
          <p:nvPr/>
        </p:nvSpPr>
        <p:spPr>
          <a:xfrm xmlns:a="http://schemas.openxmlformats.org/drawingml/2006/main">
            <a:off x="1080135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27D6FF23-4660-432D-B6D6-2C16FA6DD67C}"/>
              </a:ext>
            </a:extLst>
          </p:cNvPr>
          <p:cNvSpPr>
            <a:spLocks xmlns:a="http://schemas.openxmlformats.org/drawingml/2006/main" noGrp="1"/>
          </p:cNvSpPr>
          <p:nvPr/>
        </p:nvSpPr>
        <p:spPr>
          <a:xfrm xmlns:a="http://schemas.openxmlformats.org/drawingml/2006/main">
            <a:off x="1080135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36D846D6-AF7A-4561-87FF-2620398E15EA}"/>
              </a:ext>
            </a:extLst>
          </p:cNvPr>
          <p:cNvSpPr>
            <a:spLocks xmlns:a="http://schemas.openxmlformats.org/drawingml/2006/main" noGrp="1"/>
          </p:cNvSpPr>
          <p:nvPr/>
        </p:nvSpPr>
        <p:spPr>
          <a:xfrm xmlns:a="http://schemas.openxmlformats.org/drawingml/2006/main">
            <a:off x="1093470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ABBD0A11-B2AA-4BF9-A632-5E80F40D9A60}"/>
              </a:ext>
            </a:extLst>
          </p:cNvPr>
          <p:cNvSpPr>
            <a:spLocks xmlns:a="http://schemas.openxmlformats.org/drawingml/2006/main" noGrp="1"/>
          </p:cNvSpPr>
          <p:nvPr/>
        </p:nvSpPr>
        <p:spPr>
          <a:xfrm xmlns:a="http://schemas.openxmlformats.org/drawingml/2006/main">
            <a:off x="1093470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7DBC8C04-BA79-4E16-86E3-1D86090302C3}"/>
              </a:ext>
            </a:extLst>
          </p:cNvPr>
          <p:cNvSpPr>
            <a:spLocks xmlns:a="http://schemas.openxmlformats.org/drawingml/2006/main" noGrp="1"/>
          </p:cNvSpPr>
          <p:nvPr/>
        </p:nvSpPr>
        <p:spPr>
          <a:xfrm xmlns:a="http://schemas.openxmlformats.org/drawingml/2006/main">
            <a:off x="1093470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4" name="">
            <a:extLst xmlns:a="http://schemas.openxmlformats.org/drawingml/2006/main">
              <a:ext uri="{FF2B5EF4-FFF2-40B4-BE49-F238E27FC236}">
                <a16:creationId xmlns:a16="http://schemas.microsoft.com/office/drawing/2014/main" id="{8FBEEBC4-D511-4310-9B86-08C66D54CD90}"/>
              </a:ext>
            </a:extLst>
          </p:cNvPr>
          <p:cNvSpPr>
            <a:spLocks xmlns:a="http://schemas.openxmlformats.org/drawingml/2006/main" noGrp="1"/>
          </p:cNvSpPr>
          <p:nvPr/>
        </p:nvSpPr>
        <p:spPr>
          <a:xfrm xmlns:a="http://schemas.openxmlformats.org/drawingml/2006/main">
            <a:off x="1106805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B8104278-65DC-4A30-AD79-E42CD27CAEB0}"/>
              </a:ext>
            </a:extLst>
          </p:cNvPr>
          <p:cNvSpPr>
            <a:spLocks xmlns:a="http://schemas.openxmlformats.org/drawingml/2006/main" noGrp="1"/>
          </p:cNvSpPr>
          <p:nvPr/>
        </p:nvSpPr>
        <p:spPr>
          <a:xfrm xmlns:a="http://schemas.openxmlformats.org/drawingml/2006/main">
            <a:off x="1106805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6" name="">
            <a:extLst xmlns:a="http://schemas.openxmlformats.org/drawingml/2006/main">
              <a:ext uri="{FF2B5EF4-FFF2-40B4-BE49-F238E27FC236}">
                <a16:creationId xmlns:a16="http://schemas.microsoft.com/office/drawing/2014/main" id="{20CF8D37-D78E-4BEC-AB04-A9B2D2C90883}"/>
              </a:ext>
            </a:extLst>
          </p:cNvPr>
          <p:cNvSpPr>
            <a:spLocks xmlns:a="http://schemas.openxmlformats.org/drawingml/2006/main" noGrp="1"/>
          </p:cNvSpPr>
          <p:nvPr/>
        </p:nvSpPr>
        <p:spPr>
          <a:xfrm xmlns:a="http://schemas.openxmlformats.org/drawingml/2006/main">
            <a:off x="1106805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9BC43A31-F5B6-46AD-8ECE-2EF3BF134B2F}"/>
              </a:ext>
            </a:extLst>
          </p:cNvPr>
          <p:cNvSpPr>
            <a:spLocks xmlns:a="http://schemas.openxmlformats.org/drawingml/2006/main" noGrp="1"/>
          </p:cNvSpPr>
          <p:nvPr/>
        </p:nvSpPr>
        <p:spPr>
          <a:xfrm xmlns:a="http://schemas.openxmlformats.org/drawingml/2006/main">
            <a:off x="1120140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8" name="">
            <a:extLst xmlns:a="http://schemas.openxmlformats.org/drawingml/2006/main">
              <a:ext uri="{FF2B5EF4-FFF2-40B4-BE49-F238E27FC236}">
                <a16:creationId xmlns:a16="http://schemas.microsoft.com/office/drawing/2014/main" id="{5ECE761C-1C2C-4F60-8382-EFFF3B4AECA6}"/>
              </a:ext>
            </a:extLst>
          </p:cNvPr>
          <p:cNvSpPr>
            <a:spLocks xmlns:a="http://schemas.openxmlformats.org/drawingml/2006/main" noGrp="1"/>
          </p:cNvSpPr>
          <p:nvPr/>
        </p:nvSpPr>
        <p:spPr>
          <a:xfrm xmlns:a="http://schemas.openxmlformats.org/drawingml/2006/main">
            <a:off x="1120140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427B3121-B84D-436F-AE8F-AB75A65CAEAF}"/>
              </a:ext>
            </a:extLst>
          </p:cNvPr>
          <p:cNvSpPr>
            <a:spLocks xmlns:a="http://schemas.openxmlformats.org/drawingml/2006/main" noGrp="1"/>
          </p:cNvSpPr>
          <p:nvPr/>
        </p:nvSpPr>
        <p:spPr>
          <a:xfrm xmlns:a="http://schemas.openxmlformats.org/drawingml/2006/main">
            <a:off x="1120140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w="0">
            <a:solidFill>
              <a:srgbClr val="000000"/>
            </a:solidFill>
            <a:prstDash val="solid"/>
          </a:ln>
        </p:spPr>
      </p:sp>
      <p:sp>
        <p:nvSpPr>
          <p:cNvPr id="40" name="">
            <a:extLst xmlns:a="http://schemas.openxmlformats.org/drawingml/2006/main">
              <a:ext uri="{FF2B5EF4-FFF2-40B4-BE49-F238E27FC236}">
                <a16:creationId xmlns:a16="http://schemas.microsoft.com/office/drawing/2014/main" id="{14A95CAC-482A-4922-A09D-2C902F50255E}"/>
              </a:ext>
            </a:extLst>
          </p:cNvPr>
          <p:cNvSpPr>
            <a:spLocks xmlns:a="http://schemas.openxmlformats.org/drawingml/2006/main" noGrp="1"/>
          </p:cNvSpPr>
          <p:nvPr/>
        </p:nvSpPr>
        <p:spPr>
          <a:xfrm xmlns:a="http://schemas.openxmlformats.org/drawingml/2006/main">
            <a:off x="9525000" y="2381250"/>
            <a:ext cx="1714500" cy="419100"/>
          </a:xfrm>
          <a:prstGeom xmlns:a="http://schemas.openxmlformats.org/drawingml/2006/main" prst="rect">
            <a:avLst/>
          </a:prstGeom>
          <a:pattFill xmlns:a="http://schemas.openxmlformats.org/drawingml/2006/main" prst="dotGrid">
            <a:fgClr>
              <a:srgbClr val="7FC4FF">
                <a:alpha val="42000"/>
              </a:srgbClr>
            </a:fgClr>
            <a:bgClr>
              <a:srgbClr val="0A2F6B"/>
            </a:bgClr>
          </a:patt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F9F810A3-C751-416B-BEDF-C6ED153A14D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42" name="">
            <a:extLst xmlns:a="http://schemas.openxmlformats.org/drawingml/2006/main">
              <a:ext uri="{FF2B5EF4-FFF2-40B4-BE49-F238E27FC236}">
                <a16:creationId xmlns:a16="http://schemas.microsoft.com/office/drawing/2014/main" id="{5DF34A27-2F48-4816-878E-170C199CC185}"/>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3" name="">
            <a:extLst xmlns:a="http://schemas.openxmlformats.org/drawingml/2006/main">
              <a:ext uri="{FF2B5EF4-FFF2-40B4-BE49-F238E27FC236}">
                <a16:creationId xmlns:a16="http://schemas.microsoft.com/office/drawing/2014/main" id="{BB787E90-2B3E-4A92-AFEF-8355DE4C7090}"/>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44" name="">
            <a:extLst xmlns:a="http://schemas.openxmlformats.org/drawingml/2006/main">
              <a:ext uri="{FF2B5EF4-FFF2-40B4-BE49-F238E27FC236}">
                <a16:creationId xmlns:a16="http://schemas.microsoft.com/office/drawing/2014/main" id="{8782C5E5-AA88-4D57-AF61-59A3F34BC3A8}"/>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90C2DCA3-86B6-42C9-817E-BCF4259F61EB}"/>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w="0">
            <a:solidFill>
              <a:srgbClr val="000000"/>
            </a:solidFill>
            <a:prstDash val="solid"/>
          </a:ln>
        </p:spPr>
      </p:sp>
      <p:sp>
        <p:nvSpPr>
          <p:cNvPr id="46" name="">
            <a:extLst xmlns:a="http://schemas.openxmlformats.org/drawingml/2006/main">
              <a:ext uri="{FF2B5EF4-FFF2-40B4-BE49-F238E27FC236}">
                <a16:creationId xmlns:a16="http://schemas.microsoft.com/office/drawing/2014/main" id="{D2BE5A66-3FC5-44CB-A49A-045AF36E0452}"/>
              </a:ext>
            </a:extLst>
          </p:cNvPr>
          <p:cNvSpPr>
            <a:spLocks xmlns:a="http://schemas.openxmlformats.org/drawingml/2006/main" noGrp="1"/>
          </p:cNvSpPr>
          <p:nvPr/>
        </p:nvSpPr>
        <p:spPr>
          <a:xfrm xmlns:a="http://schemas.openxmlformats.org/drawingml/2006/main">
            <a:off x="857250" y="1219200"/>
            <a:ext cx="10477500" cy="9525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5400" b="1" spc="6">
                <a:solidFill>
                  <a:srgbClr val="FFFFFF"/>
                </a:solidFill>
                <a:latin typeface="微软雅黑"/>
                <a:ea typeface="微软雅黑"/>
                <a:cs typeface="微软雅黑"/>
              </a:defRPr>
            </a:pPr>
            <a:r>
              <a:rPr sz="5400" b="1" spc="6">
                <a:solidFill>
                  <a:srgbClr val="FFFFFF"/>
                </a:solidFill>
                <a:latin typeface="微软雅黑"/>
                <a:ea typeface="微软雅黑"/>
                <a:cs typeface="微软雅黑"/>
              </a:rPr>
              <a:t>感谢聆听</a:t>
            </a:r>
          </a:p>
        </p:txBody>
      </p:sp>
      <p:sp>
        <p:nvSpPr>
          <p:cNvPr id="47" name="">
            <a:extLst xmlns:a="http://schemas.openxmlformats.org/drawingml/2006/main">
              <a:ext uri="{FF2B5EF4-FFF2-40B4-BE49-F238E27FC236}">
                <a16:creationId xmlns:a16="http://schemas.microsoft.com/office/drawing/2014/main" id="{F0AC0EDB-24EA-4752-9ADD-A8D239232541}"/>
              </a:ext>
            </a:extLst>
          </p:cNvPr>
          <p:cNvSpPr>
            <a:spLocks xmlns:a="http://schemas.openxmlformats.org/drawingml/2006/main" noGrp="1"/>
          </p:cNvSpPr>
          <p:nvPr/>
        </p:nvSpPr>
        <p:spPr>
          <a:xfrm xmlns:a="http://schemas.openxmlformats.org/drawingml/2006/main">
            <a:off x="895350" y="2305050"/>
            <a:ext cx="10477500" cy="3619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4FD8FF"/>
                </a:solidFill>
                <a:latin typeface="微软雅黑"/>
                <a:ea typeface="微软雅黑"/>
                <a:cs typeface="微软雅黑"/>
              </a:defRPr>
            </a:pPr>
            <a:r>
              <a:rPr sz="1800" b="1">
                <a:solidFill>
                  <a:srgbClr val="4FD8FF"/>
                </a:solidFill>
                <a:latin typeface="微软雅黑"/>
                <a:ea typeface="微软雅黑"/>
                <a:cs typeface="微软雅黑"/>
              </a:rPr>
              <a:t>面向变电运维的可解释智能人才培养平台</a:t>
            </a:r>
          </a:p>
        </p:txBody>
      </p:sp>
      <p:sp>
        <p:nvSpPr>
          <p:cNvPr id="48" name="">
            <a:extLst xmlns:a="http://schemas.openxmlformats.org/drawingml/2006/main">
              <a:ext uri="{FF2B5EF4-FFF2-40B4-BE49-F238E27FC236}">
                <a16:creationId xmlns:a16="http://schemas.microsoft.com/office/drawing/2014/main" id="{A7EBFD3C-55A7-4F00-B663-59D0861E06C8}"/>
              </a:ext>
            </a:extLst>
          </p:cNvPr>
          <p:cNvSpPr>
            <a:spLocks xmlns:a="http://schemas.openxmlformats.org/drawingml/2006/main" noGrp="1"/>
          </p:cNvSpPr>
          <p:nvPr/>
        </p:nvSpPr>
        <p:spPr>
          <a:xfrm xmlns:a="http://schemas.openxmlformats.org/drawingml/2006/main">
            <a:off x="895350" y="2743200"/>
            <a:ext cx="1028700" cy="24003"/>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6AEC96EF-6D3A-4F38-9982-4558E110738D}"/>
              </a:ext>
            </a:extLst>
          </p:cNvPr>
          <p:cNvSpPr>
            <a:spLocks xmlns:a="http://schemas.openxmlformats.org/drawingml/2006/main" noGrp="1"/>
          </p:cNvSpPr>
          <p:nvPr/>
        </p:nvSpPr>
        <p:spPr>
          <a:xfrm xmlns:a="http://schemas.openxmlformats.org/drawingml/2006/main">
            <a:off x="2038350" y="2686050"/>
            <a:ext cx="857250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00" b="0">
                <a:solidFill>
                  <a:srgbClr val="FFD24A"/>
                </a:solidFill>
                <a:latin typeface="微软雅黑"/>
                <a:ea typeface="微软雅黑"/>
                <a:cs typeface="微软雅黑"/>
              </a:defRPr>
            </a:pPr>
            <a:r>
              <a:rPr sz="1200" b="0">
                <a:solidFill>
                  <a:srgbClr val="FFD24A"/>
                </a:solidFill>
                <a:latin typeface="微软雅黑"/>
                <a:ea typeface="微软雅黑"/>
                <a:cs typeface="微软雅黑"/>
              </a:rPr>
              <a:t>规则先行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模型后置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结论可追溯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离线可运行</a:t>
            </a:r>
          </a:p>
        </p:txBody>
      </p:sp>
      <p:sp>
        <p:nvSpPr>
          <p:cNvPr id="50" name="">
            <a:extLst xmlns:a="http://schemas.openxmlformats.org/drawingml/2006/main">
              <a:ext uri="{FF2B5EF4-FFF2-40B4-BE49-F238E27FC236}">
                <a16:creationId xmlns:a16="http://schemas.microsoft.com/office/drawing/2014/main" id="{30F7F46C-6004-4861-9D19-63C92987028B}"/>
              </a:ext>
            </a:extLst>
          </p:cNvPr>
          <p:cNvSpPr>
            <a:spLocks xmlns:a="http://schemas.openxmlformats.org/drawingml/2006/main" noGrp="1"/>
          </p:cNvSpPr>
          <p:nvPr/>
        </p:nvSpPr>
        <p:spPr>
          <a:xfrm xmlns:a="http://schemas.openxmlformats.org/drawingml/2006/main">
            <a:off x="857250" y="3143250"/>
            <a:ext cx="10477500" cy="590550"/>
          </a:xfrm>
          <a:prstGeom xmlns:a="http://schemas.openxmlformats.org/drawingml/2006/main" prst="roundRect">
            <a:avLst>
              <a:gd name="adj" fmla="val 1451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51" name="">
            <a:extLst xmlns:a="http://schemas.openxmlformats.org/drawingml/2006/main">
              <a:ext uri="{FF2B5EF4-FFF2-40B4-BE49-F238E27FC236}">
                <a16:creationId xmlns:a16="http://schemas.microsoft.com/office/drawing/2014/main" id="{778213C7-7E62-4567-8653-DA1E4CAF98F1}"/>
              </a:ext>
            </a:extLst>
          </p:cNvPr>
          <p:cNvSpPr>
            <a:spLocks xmlns:a="http://schemas.openxmlformats.org/drawingml/2006/main" noGrp="1"/>
          </p:cNvSpPr>
          <p:nvPr/>
        </p:nvSpPr>
        <p:spPr>
          <a:xfrm xmlns:a="http://schemas.openxmlformats.org/drawingml/2006/main">
            <a:off x="876300" y="3200400"/>
            <a:ext cx="38100" cy="47625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52" name="">
            <a:extLst xmlns:a="http://schemas.openxmlformats.org/drawingml/2006/main">
              <a:ext uri="{FF2B5EF4-FFF2-40B4-BE49-F238E27FC236}">
                <a16:creationId xmlns:a16="http://schemas.microsoft.com/office/drawing/2014/main" id="{4E436963-5737-433C-A56E-FD52039D226E}"/>
              </a:ext>
            </a:extLst>
          </p:cNvPr>
          <p:cNvSpPr>
            <a:spLocks xmlns:a="http://schemas.openxmlformats.org/drawingml/2006/main" noGrp="1"/>
          </p:cNvSpPr>
          <p:nvPr/>
        </p:nvSpPr>
        <p:spPr>
          <a:xfrm xmlns:a="http://schemas.openxmlformats.org/drawingml/2006/main">
            <a:off x="1085850" y="3143250"/>
            <a:ext cx="10096500" cy="5905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lnSpc>
                <a:spcPct val="140000"/>
              </a:lnSpc>
              <a:buNone/>
              <a:defRPr sz="1125" b="0">
                <a:solidFill>
                  <a:srgbClr val="EEF5FF"/>
                </a:solidFill>
                <a:latin typeface="微软雅黑"/>
                <a:ea typeface="微软雅黑"/>
                <a:cs typeface="微软雅黑"/>
              </a:defRPr>
            </a:pPr>
            <a:r>
              <a:rPr sz="1125" b="0">
                <a:solidFill>
                  <a:srgbClr val="EEF5FF"/>
                </a:solidFill>
                <a:latin typeface="微软雅黑"/>
                <a:ea typeface="微软雅黑"/>
                <a:cs typeface="微软雅黑"/>
              </a:rPr>
              <a:t>把智能放在可审计的位置：每一条建议都能说清命中了哪条规则、依据了哪个数据点、由谁确认。</a:t>
            </a:r>
          </a:p>
        </p:txBody>
      </p:sp>
      <p:sp>
        <p:nvSpPr>
          <p:cNvPr id="53" name="">
            <a:extLst xmlns:a="http://schemas.openxmlformats.org/drawingml/2006/main">
              <a:ext uri="{FF2B5EF4-FFF2-40B4-BE49-F238E27FC236}">
                <a16:creationId xmlns:a16="http://schemas.microsoft.com/office/drawing/2014/main" id="{01FD6488-E15B-476F-80B7-351DAC454E3D}"/>
              </a:ext>
            </a:extLst>
          </p:cNvPr>
          <p:cNvSpPr>
            <a:spLocks xmlns:a="http://schemas.openxmlformats.org/drawingml/2006/main" noGrp="1"/>
          </p:cNvSpPr>
          <p:nvPr/>
        </p:nvSpPr>
        <p:spPr>
          <a:xfrm xmlns:a="http://schemas.openxmlformats.org/drawingml/2006/main">
            <a:off x="8572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54" name="">
            <a:extLst xmlns:a="http://schemas.openxmlformats.org/drawingml/2006/main">
              <a:ext uri="{FF2B5EF4-FFF2-40B4-BE49-F238E27FC236}">
                <a16:creationId xmlns:a16="http://schemas.microsoft.com/office/drawing/2014/main" id="{EDBBC2A6-E5C9-4DF5-81AD-311C254045F7}"/>
              </a:ext>
            </a:extLst>
          </p:cNvPr>
          <p:cNvSpPr>
            <a:spLocks xmlns:a="http://schemas.openxmlformats.org/drawingml/2006/main" noGrp="1"/>
          </p:cNvSpPr>
          <p:nvPr/>
        </p:nvSpPr>
        <p:spPr>
          <a:xfrm xmlns:a="http://schemas.openxmlformats.org/drawingml/2006/main">
            <a:off x="857250" y="3962400"/>
            <a:ext cx="2552700" cy="38100"/>
          </a:xfrm>
          <a:prstGeom xmlns:a="http://schemas.openxmlformats.org/drawingml/2006/main" prst="rect">
            <a:avLst/>
          </a:prstGeom>
          <a:solidFill xmlns:a="http://schemas.openxmlformats.org/drawingml/2006/main">
            <a:srgbClr val="4FD8FF"/>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925AE575-C864-455D-B67E-736428B90C12}"/>
              </a:ext>
            </a:extLst>
          </p:cNvPr>
          <p:cNvSpPr>
            <a:spLocks xmlns:a="http://schemas.openxmlformats.org/drawingml/2006/main" noGrp="1"/>
          </p:cNvSpPr>
          <p:nvPr/>
        </p:nvSpPr>
        <p:spPr>
          <a:xfrm xmlns:a="http://schemas.openxmlformats.org/drawingml/2006/main">
            <a:off x="3009900" y="41148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6" name="">
            <a:extLst xmlns:a="http://schemas.openxmlformats.org/drawingml/2006/main">
              <a:ext uri="{FF2B5EF4-FFF2-40B4-BE49-F238E27FC236}">
                <a16:creationId xmlns:a16="http://schemas.microsoft.com/office/drawing/2014/main" id="{7988DD34-802F-4D5D-AA77-64C39A70EC1F}"/>
              </a:ext>
            </a:extLst>
          </p:cNvPr>
          <p:cNvSpPr>
            <a:spLocks xmlns:a="http://schemas.openxmlformats.org/drawingml/2006/main" noGrp="1"/>
          </p:cNvSpPr>
          <p:nvPr/>
        </p:nvSpPr>
        <p:spPr>
          <a:xfrm xmlns:a="http://schemas.openxmlformats.org/drawingml/2006/main">
            <a:off x="3009900" y="42291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7" name="">
            <a:extLst xmlns:a="http://schemas.openxmlformats.org/drawingml/2006/main">
              <a:ext uri="{FF2B5EF4-FFF2-40B4-BE49-F238E27FC236}">
                <a16:creationId xmlns:a16="http://schemas.microsoft.com/office/drawing/2014/main" id="{71201812-D402-4DB2-BF77-AC40632E2D2D}"/>
              </a:ext>
            </a:extLst>
          </p:cNvPr>
          <p:cNvSpPr>
            <a:spLocks xmlns:a="http://schemas.openxmlformats.org/drawingml/2006/main" noGrp="1"/>
          </p:cNvSpPr>
          <p:nvPr/>
        </p:nvSpPr>
        <p:spPr>
          <a:xfrm xmlns:a="http://schemas.openxmlformats.org/drawingml/2006/main">
            <a:off x="3124200" y="41148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8" name="">
            <a:extLst xmlns:a="http://schemas.openxmlformats.org/drawingml/2006/main">
              <a:ext uri="{FF2B5EF4-FFF2-40B4-BE49-F238E27FC236}">
                <a16:creationId xmlns:a16="http://schemas.microsoft.com/office/drawing/2014/main" id="{B2EBFADB-1438-4567-920E-B813A453EDEC}"/>
              </a:ext>
            </a:extLst>
          </p:cNvPr>
          <p:cNvSpPr>
            <a:spLocks xmlns:a="http://schemas.openxmlformats.org/drawingml/2006/main" noGrp="1"/>
          </p:cNvSpPr>
          <p:nvPr/>
        </p:nvSpPr>
        <p:spPr>
          <a:xfrm xmlns:a="http://schemas.openxmlformats.org/drawingml/2006/main">
            <a:off x="3124200" y="42291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59" name="">
            <a:extLst xmlns:a="http://schemas.openxmlformats.org/drawingml/2006/main">
              <a:ext uri="{FF2B5EF4-FFF2-40B4-BE49-F238E27FC236}">
                <a16:creationId xmlns:a16="http://schemas.microsoft.com/office/drawing/2014/main" id="{90154F5D-931B-4E0C-A632-8C69952DF9C3}"/>
              </a:ext>
            </a:extLst>
          </p:cNvPr>
          <p:cNvSpPr>
            <a:spLocks xmlns:a="http://schemas.openxmlformats.org/drawingml/2006/main" noGrp="1"/>
          </p:cNvSpPr>
          <p:nvPr/>
        </p:nvSpPr>
        <p:spPr>
          <a:xfrm xmlns:a="http://schemas.openxmlformats.org/drawingml/2006/main">
            <a:off x="3238500" y="41148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60" name="">
            <a:extLst xmlns:a="http://schemas.openxmlformats.org/drawingml/2006/main">
              <a:ext uri="{FF2B5EF4-FFF2-40B4-BE49-F238E27FC236}">
                <a16:creationId xmlns:a16="http://schemas.microsoft.com/office/drawing/2014/main" id="{6A071285-E2AF-4647-B2B7-CE514130B011}"/>
              </a:ext>
            </a:extLst>
          </p:cNvPr>
          <p:cNvSpPr>
            <a:spLocks xmlns:a="http://schemas.openxmlformats.org/drawingml/2006/main" noGrp="1"/>
          </p:cNvSpPr>
          <p:nvPr/>
        </p:nvSpPr>
        <p:spPr>
          <a:xfrm xmlns:a="http://schemas.openxmlformats.org/drawingml/2006/main">
            <a:off x="3238500" y="42291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w="0">
            <a:solidFill>
              <a:srgbClr val="000000"/>
            </a:solidFill>
            <a:prstDash val="solid"/>
          </a:ln>
        </p:spPr>
      </p:sp>
      <p:sp>
        <p:nvSpPr>
          <p:cNvPr id="61" name="">
            <a:extLst xmlns:a="http://schemas.openxmlformats.org/drawingml/2006/main">
              <a:ext uri="{FF2B5EF4-FFF2-40B4-BE49-F238E27FC236}">
                <a16:creationId xmlns:a16="http://schemas.microsoft.com/office/drawing/2014/main" id="{4B85DEF1-0996-4D3E-8935-5F719171070F}"/>
              </a:ext>
            </a:extLst>
          </p:cNvPr>
          <p:cNvSpPr>
            <a:spLocks xmlns:a="http://schemas.openxmlformats.org/drawingml/2006/main" noGrp="1"/>
          </p:cNvSpPr>
          <p:nvPr/>
        </p:nvSpPr>
        <p:spPr>
          <a:xfrm xmlns:a="http://schemas.openxmlformats.org/drawingml/2006/main">
            <a:off x="10096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问题真</a:t>
            </a:r>
          </a:p>
        </p:txBody>
      </p:sp>
      <p:sp>
        <p:nvSpPr>
          <p:cNvPr id="62" name="">
            <a:extLst xmlns:a="http://schemas.openxmlformats.org/drawingml/2006/main">
              <a:ext uri="{FF2B5EF4-FFF2-40B4-BE49-F238E27FC236}">
                <a16:creationId xmlns:a16="http://schemas.microsoft.com/office/drawing/2014/main" id="{3AB4500C-F1FE-464E-BEA3-124604FD8E4E}"/>
              </a:ext>
            </a:extLst>
          </p:cNvPr>
          <p:cNvSpPr>
            <a:spLocks xmlns:a="http://schemas.openxmlformats.org/drawingml/2006/main" noGrp="1"/>
          </p:cNvSpPr>
          <p:nvPr/>
        </p:nvSpPr>
        <p:spPr>
          <a:xfrm xmlns:a="http://schemas.openxmlformats.org/drawingml/2006/main">
            <a:off x="10096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标准原文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四本账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三条痛点，先立住真问题</a:t>
            </a:r>
          </a:p>
        </p:txBody>
      </p:sp>
      <p:sp>
        <p:nvSpPr>
          <p:cNvPr id="63" name="">
            <a:extLst xmlns:a="http://schemas.openxmlformats.org/drawingml/2006/main">
              <a:ext uri="{FF2B5EF4-FFF2-40B4-BE49-F238E27FC236}">
                <a16:creationId xmlns:a16="http://schemas.microsoft.com/office/drawing/2014/main" id="{4EF28AE2-EF58-47A4-B10B-472E045791BC}"/>
              </a:ext>
            </a:extLst>
          </p:cNvPr>
          <p:cNvSpPr>
            <a:spLocks xmlns:a="http://schemas.openxmlformats.org/drawingml/2006/main" noGrp="1"/>
          </p:cNvSpPr>
          <p:nvPr/>
        </p:nvSpPr>
        <p:spPr>
          <a:xfrm xmlns:a="http://schemas.openxmlformats.org/drawingml/2006/main">
            <a:off x="35623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64" name="">
            <a:extLst xmlns:a="http://schemas.openxmlformats.org/drawingml/2006/main">
              <a:ext uri="{FF2B5EF4-FFF2-40B4-BE49-F238E27FC236}">
                <a16:creationId xmlns:a16="http://schemas.microsoft.com/office/drawing/2014/main" id="{404C2CD4-4063-475B-9CF1-D1162F448945}"/>
              </a:ext>
            </a:extLst>
          </p:cNvPr>
          <p:cNvSpPr>
            <a:spLocks xmlns:a="http://schemas.openxmlformats.org/drawingml/2006/main" noGrp="1"/>
          </p:cNvSpPr>
          <p:nvPr/>
        </p:nvSpPr>
        <p:spPr>
          <a:xfrm xmlns:a="http://schemas.openxmlformats.org/drawingml/2006/main">
            <a:off x="3562350" y="3962400"/>
            <a:ext cx="2552700" cy="38100"/>
          </a:xfrm>
          <a:prstGeom xmlns:a="http://schemas.openxmlformats.org/drawingml/2006/main" prst="rect">
            <a:avLst/>
          </a:prstGeom>
          <a:solidFill xmlns:a="http://schemas.openxmlformats.org/drawingml/2006/main">
            <a:srgbClr val="2E86E0"/>
          </a:solidFill>
          <a:ln xmlns:a="http://schemas.openxmlformats.org/drawingml/2006/main" w="0">
            <a:solidFill>
              <a:srgbClr val="000000"/>
            </a:solidFill>
            <a:prstDash val="solid"/>
          </a:ln>
        </p:spPr>
      </p:sp>
      <p:sp>
        <p:nvSpPr>
          <p:cNvPr id="65" name="">
            <a:extLst xmlns:a="http://schemas.openxmlformats.org/drawingml/2006/main">
              <a:ext uri="{FF2B5EF4-FFF2-40B4-BE49-F238E27FC236}">
                <a16:creationId xmlns:a16="http://schemas.microsoft.com/office/drawing/2014/main" id="{6A514D88-4989-4E7A-943A-3C084DEAC550}"/>
              </a:ext>
            </a:extLst>
          </p:cNvPr>
          <p:cNvSpPr>
            <a:spLocks xmlns:a="http://schemas.openxmlformats.org/drawingml/2006/main" noGrp="1"/>
          </p:cNvSpPr>
          <p:nvPr/>
        </p:nvSpPr>
        <p:spPr>
          <a:xfrm xmlns:a="http://schemas.openxmlformats.org/drawingml/2006/main">
            <a:off x="5715000" y="41148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66" name="">
            <a:extLst xmlns:a="http://schemas.openxmlformats.org/drawingml/2006/main">
              <a:ext uri="{FF2B5EF4-FFF2-40B4-BE49-F238E27FC236}">
                <a16:creationId xmlns:a16="http://schemas.microsoft.com/office/drawing/2014/main" id="{7867F066-1B51-424F-8A16-9F1A1C07F5AE}"/>
              </a:ext>
            </a:extLst>
          </p:cNvPr>
          <p:cNvSpPr>
            <a:spLocks xmlns:a="http://schemas.openxmlformats.org/drawingml/2006/main" noGrp="1"/>
          </p:cNvSpPr>
          <p:nvPr/>
        </p:nvSpPr>
        <p:spPr>
          <a:xfrm xmlns:a="http://schemas.openxmlformats.org/drawingml/2006/main">
            <a:off x="5715000" y="42291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67" name="">
            <a:extLst xmlns:a="http://schemas.openxmlformats.org/drawingml/2006/main">
              <a:ext uri="{FF2B5EF4-FFF2-40B4-BE49-F238E27FC236}">
                <a16:creationId xmlns:a16="http://schemas.microsoft.com/office/drawing/2014/main" id="{98F0DBEA-BAC9-4756-8026-9F7C2E4A859D}"/>
              </a:ext>
            </a:extLst>
          </p:cNvPr>
          <p:cNvSpPr>
            <a:spLocks xmlns:a="http://schemas.openxmlformats.org/drawingml/2006/main" noGrp="1"/>
          </p:cNvSpPr>
          <p:nvPr/>
        </p:nvSpPr>
        <p:spPr>
          <a:xfrm xmlns:a="http://schemas.openxmlformats.org/drawingml/2006/main">
            <a:off x="5829300" y="41148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68" name="">
            <a:extLst xmlns:a="http://schemas.openxmlformats.org/drawingml/2006/main">
              <a:ext uri="{FF2B5EF4-FFF2-40B4-BE49-F238E27FC236}">
                <a16:creationId xmlns:a16="http://schemas.microsoft.com/office/drawing/2014/main" id="{D51CDFE4-8F29-4D90-82F7-7B97B75C56C8}"/>
              </a:ext>
            </a:extLst>
          </p:cNvPr>
          <p:cNvSpPr>
            <a:spLocks xmlns:a="http://schemas.openxmlformats.org/drawingml/2006/main" noGrp="1"/>
          </p:cNvSpPr>
          <p:nvPr/>
        </p:nvSpPr>
        <p:spPr>
          <a:xfrm xmlns:a="http://schemas.openxmlformats.org/drawingml/2006/main">
            <a:off x="5829300" y="42291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69" name="">
            <a:extLst xmlns:a="http://schemas.openxmlformats.org/drawingml/2006/main">
              <a:ext uri="{FF2B5EF4-FFF2-40B4-BE49-F238E27FC236}">
                <a16:creationId xmlns:a16="http://schemas.microsoft.com/office/drawing/2014/main" id="{076BBB47-E423-4CD9-AA30-6EE761A46A59}"/>
              </a:ext>
            </a:extLst>
          </p:cNvPr>
          <p:cNvSpPr>
            <a:spLocks xmlns:a="http://schemas.openxmlformats.org/drawingml/2006/main" noGrp="1"/>
          </p:cNvSpPr>
          <p:nvPr/>
        </p:nvSpPr>
        <p:spPr>
          <a:xfrm xmlns:a="http://schemas.openxmlformats.org/drawingml/2006/main">
            <a:off x="5943600" y="41148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70" name="">
            <a:extLst xmlns:a="http://schemas.openxmlformats.org/drawingml/2006/main">
              <a:ext uri="{FF2B5EF4-FFF2-40B4-BE49-F238E27FC236}">
                <a16:creationId xmlns:a16="http://schemas.microsoft.com/office/drawing/2014/main" id="{325AF4D7-13BA-4650-9FEB-5817CDA57B5F}"/>
              </a:ext>
            </a:extLst>
          </p:cNvPr>
          <p:cNvSpPr>
            <a:spLocks xmlns:a="http://schemas.openxmlformats.org/drawingml/2006/main" noGrp="1"/>
          </p:cNvSpPr>
          <p:nvPr/>
        </p:nvSpPr>
        <p:spPr>
          <a:xfrm xmlns:a="http://schemas.openxmlformats.org/drawingml/2006/main">
            <a:off x="5943600" y="42291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w="0">
            <a:solidFill>
              <a:srgbClr val="000000"/>
            </a:solidFill>
            <a:prstDash val="solid"/>
          </a:ln>
        </p:spPr>
      </p:sp>
      <p:sp>
        <p:nvSpPr>
          <p:cNvPr id="71" name="">
            <a:extLst xmlns:a="http://schemas.openxmlformats.org/drawingml/2006/main">
              <a:ext uri="{FF2B5EF4-FFF2-40B4-BE49-F238E27FC236}">
                <a16:creationId xmlns:a16="http://schemas.microsoft.com/office/drawing/2014/main" id="{139B1459-86A3-4B20-B5DC-F805F3C214EE}"/>
              </a:ext>
            </a:extLst>
          </p:cNvPr>
          <p:cNvSpPr>
            <a:spLocks xmlns:a="http://schemas.openxmlformats.org/drawingml/2006/main" noGrp="1"/>
          </p:cNvSpPr>
          <p:nvPr/>
        </p:nvSpPr>
        <p:spPr>
          <a:xfrm xmlns:a="http://schemas.openxmlformats.org/drawingml/2006/main">
            <a:off x="37147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2E86E0"/>
                </a:solidFill>
                <a:latin typeface="微软雅黑"/>
                <a:ea typeface="微软雅黑"/>
                <a:cs typeface="微软雅黑"/>
              </a:defRPr>
            </a:pPr>
            <a:r>
              <a:rPr sz="1125" b="1">
                <a:solidFill>
                  <a:srgbClr val="2E86E0"/>
                </a:solidFill>
                <a:latin typeface="微软雅黑"/>
                <a:ea typeface="微软雅黑"/>
                <a:cs typeface="微软雅黑"/>
              </a:rPr>
              <a:t>方案清</a:t>
            </a:r>
          </a:p>
        </p:txBody>
      </p:sp>
      <p:sp>
        <p:nvSpPr>
          <p:cNvPr id="72" name="">
            <a:extLst xmlns:a="http://schemas.openxmlformats.org/drawingml/2006/main">
              <a:ext uri="{FF2B5EF4-FFF2-40B4-BE49-F238E27FC236}">
                <a16:creationId xmlns:a16="http://schemas.microsoft.com/office/drawing/2014/main" id="{0E76CE36-864E-42B0-A7A8-93DB47B5E725}"/>
              </a:ext>
            </a:extLst>
          </p:cNvPr>
          <p:cNvSpPr>
            <a:spLocks xmlns:a="http://schemas.openxmlformats.org/drawingml/2006/main" noGrp="1"/>
          </p:cNvSpPr>
          <p:nvPr/>
        </p:nvSpPr>
        <p:spPr>
          <a:xfrm xmlns:a="http://schemas.openxmlformats.org/drawingml/2006/main">
            <a:off x="37147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五层架构 </a:t>
            </a:r>
            <a:r>
              <a:rPr sz="863" b="0">
                <a:solidFill>
                  <a:srgbClr val="EEF5FF"/>
                </a:solidFill>
                <a:latin typeface="微软雅黑"/>
                <a:ea typeface="微软雅黑"/>
                <a:cs typeface="微软雅黑"/>
              </a:rPr>
              <a:t>+ 18 </a:t>
            </a:r>
            <a:r>
              <a:rPr sz="863" b="0">
                <a:solidFill>
                  <a:srgbClr val="EEF5FF"/>
                </a:solidFill>
                <a:latin typeface="微软雅黑"/>
                <a:ea typeface="微软雅黑"/>
                <a:cs typeface="微软雅黑"/>
              </a:rPr>
              <a:t>条规则 </a:t>
            </a:r>
            <a:r>
              <a:rPr sz="863" b="0">
                <a:solidFill>
                  <a:srgbClr val="EEF5FF"/>
                </a:solidFill>
                <a:latin typeface="微软雅黑"/>
                <a:ea typeface="微软雅黑"/>
                <a:cs typeface="微软雅黑"/>
              </a:rPr>
              <a:t>+ 3 </a:t>
            </a:r>
            <a:r>
              <a:rPr sz="863" b="0">
                <a:solidFill>
                  <a:srgbClr val="EEF5FF"/>
                </a:solidFill>
                <a:latin typeface="微软雅黑"/>
                <a:ea typeface="微软雅黑"/>
                <a:cs typeface="微软雅黑"/>
              </a:rPr>
              <a:t>个稳定 </a:t>
            </a:r>
            <a:r>
              <a:rPr sz="863" b="0">
                <a:solidFill>
                  <a:srgbClr val="EEF5FF"/>
                </a:solidFill>
                <a:latin typeface="微软雅黑"/>
                <a:ea typeface="微软雅黑"/>
                <a:cs typeface="微软雅黑"/>
              </a:rPr>
              <a:t>Agent </a:t>
            </a:r>
            <a:r>
              <a:rPr sz="863" b="0">
                <a:solidFill>
                  <a:srgbClr val="EEF5FF"/>
                </a:solidFill>
                <a:latin typeface="微软雅黑"/>
                <a:ea typeface="微软雅黑"/>
                <a:cs typeface="微软雅黑"/>
              </a:rPr>
              <a:t>接口</a:t>
            </a:r>
          </a:p>
        </p:txBody>
      </p:sp>
      <p:sp>
        <p:nvSpPr>
          <p:cNvPr id="73" name="">
            <a:extLst xmlns:a="http://schemas.openxmlformats.org/drawingml/2006/main">
              <a:ext uri="{FF2B5EF4-FFF2-40B4-BE49-F238E27FC236}">
                <a16:creationId xmlns:a16="http://schemas.microsoft.com/office/drawing/2014/main" id="{3CB2CE14-1C45-499E-9BE8-F4EEB27EC843}"/>
              </a:ext>
            </a:extLst>
          </p:cNvPr>
          <p:cNvSpPr>
            <a:spLocks xmlns:a="http://schemas.openxmlformats.org/drawingml/2006/main" noGrp="1"/>
          </p:cNvSpPr>
          <p:nvPr/>
        </p:nvSpPr>
        <p:spPr>
          <a:xfrm xmlns:a="http://schemas.openxmlformats.org/drawingml/2006/main">
            <a:off x="62674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74" name="">
            <a:extLst xmlns:a="http://schemas.openxmlformats.org/drawingml/2006/main">
              <a:ext uri="{FF2B5EF4-FFF2-40B4-BE49-F238E27FC236}">
                <a16:creationId xmlns:a16="http://schemas.microsoft.com/office/drawing/2014/main" id="{6E0F2A46-B2DA-4C88-BE8E-83293BD60B69}"/>
              </a:ext>
            </a:extLst>
          </p:cNvPr>
          <p:cNvSpPr>
            <a:spLocks xmlns:a="http://schemas.openxmlformats.org/drawingml/2006/main" noGrp="1"/>
          </p:cNvSpPr>
          <p:nvPr/>
        </p:nvSpPr>
        <p:spPr>
          <a:xfrm xmlns:a="http://schemas.openxmlformats.org/drawingml/2006/main">
            <a:off x="6267450" y="3962400"/>
            <a:ext cx="2552700" cy="38100"/>
          </a:xfrm>
          <a:prstGeom xmlns:a="http://schemas.openxmlformats.org/drawingml/2006/main" prst="rect">
            <a:avLst/>
          </a:prstGeom>
          <a:solidFill xmlns:a="http://schemas.openxmlformats.org/drawingml/2006/main">
            <a:srgbClr val="5FE3A1"/>
          </a:solidFill>
          <a:ln xmlns:a="http://schemas.openxmlformats.org/drawingml/2006/main" w="0">
            <a:solidFill>
              <a:srgbClr val="000000"/>
            </a:solidFill>
            <a:prstDash val="solid"/>
          </a:ln>
        </p:spPr>
      </p:sp>
      <p:sp>
        <p:nvSpPr>
          <p:cNvPr id="75" name="">
            <a:extLst xmlns:a="http://schemas.openxmlformats.org/drawingml/2006/main">
              <a:ext uri="{FF2B5EF4-FFF2-40B4-BE49-F238E27FC236}">
                <a16:creationId xmlns:a16="http://schemas.microsoft.com/office/drawing/2014/main" id="{5AB1134F-19E7-40B8-8290-7830F421D01D}"/>
              </a:ext>
            </a:extLst>
          </p:cNvPr>
          <p:cNvSpPr>
            <a:spLocks xmlns:a="http://schemas.openxmlformats.org/drawingml/2006/main" noGrp="1"/>
          </p:cNvSpPr>
          <p:nvPr/>
        </p:nvSpPr>
        <p:spPr>
          <a:xfrm xmlns:a="http://schemas.openxmlformats.org/drawingml/2006/main">
            <a:off x="8420100" y="41148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76" name="">
            <a:extLst xmlns:a="http://schemas.openxmlformats.org/drawingml/2006/main">
              <a:ext uri="{FF2B5EF4-FFF2-40B4-BE49-F238E27FC236}">
                <a16:creationId xmlns:a16="http://schemas.microsoft.com/office/drawing/2014/main" id="{1A5759EF-71C1-4376-931B-2856DA0EF8F1}"/>
              </a:ext>
            </a:extLst>
          </p:cNvPr>
          <p:cNvSpPr>
            <a:spLocks xmlns:a="http://schemas.openxmlformats.org/drawingml/2006/main" noGrp="1"/>
          </p:cNvSpPr>
          <p:nvPr/>
        </p:nvSpPr>
        <p:spPr>
          <a:xfrm xmlns:a="http://schemas.openxmlformats.org/drawingml/2006/main">
            <a:off x="8420100" y="42291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77" name="">
            <a:extLst xmlns:a="http://schemas.openxmlformats.org/drawingml/2006/main">
              <a:ext uri="{FF2B5EF4-FFF2-40B4-BE49-F238E27FC236}">
                <a16:creationId xmlns:a16="http://schemas.microsoft.com/office/drawing/2014/main" id="{81BAE3DC-400A-4A8A-86BC-2C771024FFA2}"/>
              </a:ext>
            </a:extLst>
          </p:cNvPr>
          <p:cNvSpPr>
            <a:spLocks xmlns:a="http://schemas.openxmlformats.org/drawingml/2006/main" noGrp="1"/>
          </p:cNvSpPr>
          <p:nvPr/>
        </p:nvSpPr>
        <p:spPr>
          <a:xfrm xmlns:a="http://schemas.openxmlformats.org/drawingml/2006/main">
            <a:off x="8534400" y="41148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78" name="">
            <a:extLst xmlns:a="http://schemas.openxmlformats.org/drawingml/2006/main">
              <a:ext uri="{FF2B5EF4-FFF2-40B4-BE49-F238E27FC236}">
                <a16:creationId xmlns:a16="http://schemas.microsoft.com/office/drawing/2014/main" id="{38F40D0E-C33A-473F-96FE-5334F2AF1F5F}"/>
              </a:ext>
            </a:extLst>
          </p:cNvPr>
          <p:cNvSpPr>
            <a:spLocks xmlns:a="http://schemas.openxmlformats.org/drawingml/2006/main" noGrp="1"/>
          </p:cNvSpPr>
          <p:nvPr/>
        </p:nvSpPr>
        <p:spPr>
          <a:xfrm xmlns:a="http://schemas.openxmlformats.org/drawingml/2006/main">
            <a:off x="8534400" y="42291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79" name="">
            <a:extLst xmlns:a="http://schemas.openxmlformats.org/drawingml/2006/main">
              <a:ext uri="{FF2B5EF4-FFF2-40B4-BE49-F238E27FC236}">
                <a16:creationId xmlns:a16="http://schemas.microsoft.com/office/drawing/2014/main" id="{D8F6E7F7-3BAB-4422-89CA-984A876C256B}"/>
              </a:ext>
            </a:extLst>
          </p:cNvPr>
          <p:cNvSpPr>
            <a:spLocks xmlns:a="http://schemas.openxmlformats.org/drawingml/2006/main" noGrp="1"/>
          </p:cNvSpPr>
          <p:nvPr/>
        </p:nvSpPr>
        <p:spPr>
          <a:xfrm xmlns:a="http://schemas.openxmlformats.org/drawingml/2006/main">
            <a:off x="8648700" y="41148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80" name="">
            <a:extLst xmlns:a="http://schemas.openxmlformats.org/drawingml/2006/main">
              <a:ext uri="{FF2B5EF4-FFF2-40B4-BE49-F238E27FC236}">
                <a16:creationId xmlns:a16="http://schemas.microsoft.com/office/drawing/2014/main" id="{003ED0B3-DF04-4240-A7D3-C7E3F5142ECC}"/>
              </a:ext>
            </a:extLst>
          </p:cNvPr>
          <p:cNvSpPr>
            <a:spLocks xmlns:a="http://schemas.openxmlformats.org/drawingml/2006/main" noGrp="1"/>
          </p:cNvSpPr>
          <p:nvPr/>
        </p:nvSpPr>
        <p:spPr>
          <a:xfrm xmlns:a="http://schemas.openxmlformats.org/drawingml/2006/main">
            <a:off x="8648700" y="42291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w="0">
            <a:solidFill>
              <a:srgbClr val="000000"/>
            </a:solidFill>
            <a:prstDash val="solid"/>
          </a:ln>
        </p:spPr>
      </p:sp>
      <p:sp>
        <p:nvSpPr>
          <p:cNvPr id="81" name="">
            <a:extLst xmlns:a="http://schemas.openxmlformats.org/drawingml/2006/main">
              <a:ext uri="{FF2B5EF4-FFF2-40B4-BE49-F238E27FC236}">
                <a16:creationId xmlns:a16="http://schemas.microsoft.com/office/drawing/2014/main" id="{AE6CDB83-E4F4-4FBE-B56D-C3D3C4537966}"/>
              </a:ext>
            </a:extLst>
          </p:cNvPr>
          <p:cNvSpPr>
            <a:spLocks xmlns:a="http://schemas.openxmlformats.org/drawingml/2006/main" noGrp="1"/>
          </p:cNvSpPr>
          <p:nvPr/>
        </p:nvSpPr>
        <p:spPr>
          <a:xfrm xmlns:a="http://schemas.openxmlformats.org/drawingml/2006/main">
            <a:off x="64198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5FE3A1"/>
                </a:solidFill>
                <a:latin typeface="微软雅黑"/>
                <a:ea typeface="微软雅黑"/>
                <a:cs typeface="微软雅黑"/>
              </a:defRPr>
            </a:pPr>
            <a:r>
              <a:rPr sz="1125" b="1">
                <a:solidFill>
                  <a:srgbClr val="5FE3A1"/>
                </a:solidFill>
                <a:latin typeface="微软雅黑"/>
                <a:ea typeface="微软雅黑"/>
                <a:cs typeface="微软雅黑"/>
              </a:rPr>
              <a:t>可复算</a:t>
            </a:r>
          </a:p>
        </p:txBody>
      </p:sp>
      <p:sp>
        <p:nvSpPr>
          <p:cNvPr id="82" name="">
            <a:extLst xmlns:a="http://schemas.openxmlformats.org/drawingml/2006/main">
              <a:ext uri="{FF2B5EF4-FFF2-40B4-BE49-F238E27FC236}">
                <a16:creationId xmlns:a16="http://schemas.microsoft.com/office/drawing/2014/main" id="{CA4EEF0F-35B8-4394-8E4F-1E40BC7921DA}"/>
              </a:ext>
            </a:extLst>
          </p:cNvPr>
          <p:cNvSpPr>
            <a:spLocks xmlns:a="http://schemas.openxmlformats.org/drawingml/2006/main" noGrp="1"/>
          </p:cNvSpPr>
          <p:nvPr/>
        </p:nvSpPr>
        <p:spPr>
          <a:xfrm xmlns:a="http://schemas.openxmlformats.org/drawingml/2006/main">
            <a:off x="64198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同一输入复跑 </a:t>
            </a:r>
            <a:r>
              <a:rPr sz="863" b="0">
                <a:solidFill>
                  <a:srgbClr val="EEF5FF"/>
                </a:solidFill>
                <a:latin typeface="微软雅黑"/>
                <a:ea typeface="微软雅黑"/>
                <a:cs typeface="微软雅黑"/>
              </a:rPr>
              <a:t>200 </a:t>
            </a:r>
            <a:r>
              <a:rPr sz="863" b="0">
                <a:solidFill>
                  <a:srgbClr val="EEF5FF"/>
                </a:solidFill>
                <a:latin typeface="微软雅黑"/>
                <a:ea typeface="微软雅黑"/>
                <a:cs typeface="微软雅黑"/>
              </a:rPr>
              <a:t>次，</a:t>
            </a:r>
            <a:r>
              <a:rPr sz="863" b="0">
                <a:solidFill>
                  <a:srgbClr val="EEF5FF"/>
                </a:solidFill>
                <a:latin typeface="微软雅黑"/>
                <a:ea typeface="微软雅黑"/>
                <a:cs typeface="微软雅黑"/>
              </a:rPr>
              <a:t>rule_refs </a:t>
            </a:r>
            <a:r>
              <a:rPr sz="863" b="0">
                <a:solidFill>
                  <a:srgbClr val="EEF5FF"/>
                </a:solidFill>
                <a:latin typeface="微软雅黑"/>
                <a:ea typeface="微软雅黑"/>
                <a:cs typeface="微软雅黑"/>
              </a:rPr>
              <a:t>完全一致</a:t>
            </a:r>
          </a:p>
        </p:txBody>
      </p:sp>
      <p:sp>
        <p:nvSpPr>
          <p:cNvPr id="83" name="">
            <a:extLst xmlns:a="http://schemas.openxmlformats.org/drawingml/2006/main">
              <a:ext uri="{FF2B5EF4-FFF2-40B4-BE49-F238E27FC236}">
                <a16:creationId xmlns:a16="http://schemas.microsoft.com/office/drawing/2014/main" id="{CA040D9F-90F1-4E89-AD42-626453D0A2B4}"/>
              </a:ext>
            </a:extLst>
          </p:cNvPr>
          <p:cNvSpPr>
            <a:spLocks xmlns:a="http://schemas.openxmlformats.org/drawingml/2006/main" noGrp="1"/>
          </p:cNvSpPr>
          <p:nvPr/>
        </p:nvSpPr>
        <p:spPr>
          <a:xfrm xmlns:a="http://schemas.openxmlformats.org/drawingml/2006/main">
            <a:off x="89725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84" name="">
            <a:extLst xmlns:a="http://schemas.openxmlformats.org/drawingml/2006/main">
              <a:ext uri="{FF2B5EF4-FFF2-40B4-BE49-F238E27FC236}">
                <a16:creationId xmlns:a16="http://schemas.microsoft.com/office/drawing/2014/main" id="{559BF0B3-054F-4F45-887A-3DE1501A888E}"/>
              </a:ext>
            </a:extLst>
          </p:cNvPr>
          <p:cNvSpPr>
            <a:spLocks xmlns:a="http://schemas.openxmlformats.org/drawingml/2006/main" noGrp="1"/>
          </p:cNvSpPr>
          <p:nvPr/>
        </p:nvSpPr>
        <p:spPr>
          <a:xfrm xmlns:a="http://schemas.openxmlformats.org/drawingml/2006/main">
            <a:off x="8972550" y="3962400"/>
            <a:ext cx="2552700" cy="38100"/>
          </a:xfrm>
          <a:prstGeom xmlns:a="http://schemas.openxmlformats.org/drawingml/2006/main" prst="rect">
            <a:avLst/>
          </a:prstGeom>
          <a:solidFill xmlns:a="http://schemas.openxmlformats.org/drawingml/2006/main">
            <a:srgbClr val="FFD24A"/>
          </a:solidFill>
          <a:ln xmlns:a="http://schemas.openxmlformats.org/drawingml/2006/main" w="0">
            <a:solidFill>
              <a:srgbClr val="000000"/>
            </a:solidFill>
            <a:prstDash val="solid"/>
          </a:ln>
        </p:spPr>
      </p:sp>
      <p:sp>
        <p:nvSpPr>
          <p:cNvPr id="85" name="">
            <a:extLst xmlns:a="http://schemas.openxmlformats.org/drawingml/2006/main">
              <a:ext uri="{FF2B5EF4-FFF2-40B4-BE49-F238E27FC236}">
                <a16:creationId xmlns:a16="http://schemas.microsoft.com/office/drawing/2014/main" id="{0F62942E-B584-4290-BAD2-E5271A60F04F}"/>
              </a:ext>
            </a:extLst>
          </p:cNvPr>
          <p:cNvSpPr>
            <a:spLocks xmlns:a="http://schemas.openxmlformats.org/drawingml/2006/main" noGrp="1"/>
          </p:cNvSpPr>
          <p:nvPr/>
        </p:nvSpPr>
        <p:spPr>
          <a:xfrm xmlns:a="http://schemas.openxmlformats.org/drawingml/2006/main">
            <a:off x="11125200" y="41148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6" name="">
            <a:extLst xmlns:a="http://schemas.openxmlformats.org/drawingml/2006/main">
              <a:ext uri="{FF2B5EF4-FFF2-40B4-BE49-F238E27FC236}">
                <a16:creationId xmlns:a16="http://schemas.microsoft.com/office/drawing/2014/main" id="{3D37150D-42AF-4FF8-9114-E2807A1C56D8}"/>
              </a:ext>
            </a:extLst>
          </p:cNvPr>
          <p:cNvSpPr>
            <a:spLocks xmlns:a="http://schemas.openxmlformats.org/drawingml/2006/main" noGrp="1"/>
          </p:cNvSpPr>
          <p:nvPr/>
        </p:nvSpPr>
        <p:spPr>
          <a:xfrm xmlns:a="http://schemas.openxmlformats.org/drawingml/2006/main">
            <a:off x="11125200" y="42291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7" name="">
            <a:extLst xmlns:a="http://schemas.openxmlformats.org/drawingml/2006/main">
              <a:ext uri="{FF2B5EF4-FFF2-40B4-BE49-F238E27FC236}">
                <a16:creationId xmlns:a16="http://schemas.microsoft.com/office/drawing/2014/main" id="{F951F9CF-C03A-4726-9C63-08B0300BEFEE}"/>
              </a:ext>
            </a:extLst>
          </p:cNvPr>
          <p:cNvSpPr>
            <a:spLocks xmlns:a="http://schemas.openxmlformats.org/drawingml/2006/main" noGrp="1"/>
          </p:cNvSpPr>
          <p:nvPr/>
        </p:nvSpPr>
        <p:spPr>
          <a:xfrm xmlns:a="http://schemas.openxmlformats.org/drawingml/2006/main">
            <a:off x="11239500" y="41148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8" name="">
            <a:extLst xmlns:a="http://schemas.openxmlformats.org/drawingml/2006/main">
              <a:ext uri="{FF2B5EF4-FFF2-40B4-BE49-F238E27FC236}">
                <a16:creationId xmlns:a16="http://schemas.microsoft.com/office/drawing/2014/main" id="{EE1ED72F-0D79-4CFC-BFD2-B3D7FA154F6F}"/>
              </a:ext>
            </a:extLst>
          </p:cNvPr>
          <p:cNvSpPr>
            <a:spLocks xmlns:a="http://schemas.openxmlformats.org/drawingml/2006/main" noGrp="1"/>
          </p:cNvSpPr>
          <p:nvPr/>
        </p:nvSpPr>
        <p:spPr>
          <a:xfrm xmlns:a="http://schemas.openxmlformats.org/drawingml/2006/main">
            <a:off x="11239500" y="42291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89" name="">
            <a:extLst xmlns:a="http://schemas.openxmlformats.org/drawingml/2006/main">
              <a:ext uri="{FF2B5EF4-FFF2-40B4-BE49-F238E27FC236}">
                <a16:creationId xmlns:a16="http://schemas.microsoft.com/office/drawing/2014/main" id="{907C21DF-E835-439F-874F-57EA81FD30CF}"/>
              </a:ext>
            </a:extLst>
          </p:cNvPr>
          <p:cNvSpPr>
            <a:spLocks xmlns:a="http://schemas.openxmlformats.org/drawingml/2006/main" noGrp="1"/>
          </p:cNvSpPr>
          <p:nvPr/>
        </p:nvSpPr>
        <p:spPr>
          <a:xfrm xmlns:a="http://schemas.openxmlformats.org/drawingml/2006/main">
            <a:off x="11353800" y="41148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90" name="">
            <a:extLst xmlns:a="http://schemas.openxmlformats.org/drawingml/2006/main">
              <a:ext uri="{FF2B5EF4-FFF2-40B4-BE49-F238E27FC236}">
                <a16:creationId xmlns:a16="http://schemas.microsoft.com/office/drawing/2014/main" id="{CFDF5B57-DDC8-4B5C-83FA-C8E3C14ABDBD}"/>
              </a:ext>
            </a:extLst>
          </p:cNvPr>
          <p:cNvSpPr>
            <a:spLocks xmlns:a="http://schemas.openxmlformats.org/drawingml/2006/main" noGrp="1"/>
          </p:cNvSpPr>
          <p:nvPr/>
        </p:nvSpPr>
        <p:spPr>
          <a:xfrm xmlns:a="http://schemas.openxmlformats.org/drawingml/2006/main">
            <a:off x="11353800" y="42291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w="0">
            <a:solidFill>
              <a:srgbClr val="000000"/>
            </a:solidFill>
            <a:prstDash val="solid"/>
          </a:ln>
        </p:spPr>
      </p:sp>
      <p:sp>
        <p:nvSpPr>
          <p:cNvPr id="91" name="">
            <a:extLst xmlns:a="http://schemas.openxmlformats.org/drawingml/2006/main">
              <a:ext uri="{FF2B5EF4-FFF2-40B4-BE49-F238E27FC236}">
                <a16:creationId xmlns:a16="http://schemas.microsoft.com/office/drawing/2014/main" id="{1AED6BCD-7228-4EA5-A252-2BD35E175535}"/>
              </a:ext>
            </a:extLst>
          </p:cNvPr>
          <p:cNvSpPr>
            <a:spLocks xmlns:a="http://schemas.openxmlformats.org/drawingml/2006/main" noGrp="1"/>
          </p:cNvSpPr>
          <p:nvPr/>
        </p:nvSpPr>
        <p:spPr>
          <a:xfrm xmlns:a="http://schemas.openxmlformats.org/drawingml/2006/main">
            <a:off x="9124950" y="4114800"/>
            <a:ext cx="2247900" cy="2476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算得清</a:t>
            </a:r>
          </a:p>
        </p:txBody>
      </p:sp>
      <p:sp>
        <p:nvSpPr>
          <p:cNvPr id="92" name="">
            <a:extLst xmlns:a="http://schemas.openxmlformats.org/drawingml/2006/main">
              <a:ext uri="{FF2B5EF4-FFF2-40B4-BE49-F238E27FC236}">
                <a16:creationId xmlns:a16="http://schemas.microsoft.com/office/drawing/2014/main" id="{8FBAF9E3-B53E-4C8B-8651-BC44D8ABBF3A}"/>
              </a:ext>
            </a:extLst>
          </p:cNvPr>
          <p:cNvSpPr>
            <a:spLocks xmlns:a="http://schemas.openxmlformats.org/drawingml/2006/main" noGrp="1"/>
          </p:cNvSpPr>
          <p:nvPr/>
        </p:nvSpPr>
        <p:spPr>
          <a:xfrm xmlns:a="http://schemas.openxmlformats.org/drawingml/2006/main">
            <a:off x="9124950" y="4419600"/>
            <a:ext cx="2266950" cy="4572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转岗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招聘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外委口径明确，回收期可代公式</a:t>
            </a:r>
          </a:p>
        </p:txBody>
      </p:sp>
      <p:sp>
        <p:nvSpPr>
          <p:cNvPr id="93" name="">
            <a:extLst xmlns:a="http://schemas.openxmlformats.org/drawingml/2006/main">
              <a:ext uri="{FF2B5EF4-FFF2-40B4-BE49-F238E27FC236}">
                <a16:creationId xmlns:a16="http://schemas.microsoft.com/office/drawing/2014/main" id="{F9493924-56F1-42E3-9B05-511445C2A688}"/>
              </a:ext>
            </a:extLst>
          </p:cNvPr>
          <p:cNvSpPr>
            <a:spLocks xmlns:a="http://schemas.openxmlformats.org/drawingml/2006/main" noGrp="1"/>
          </p:cNvSpPr>
          <p:nvPr/>
        </p:nvSpPr>
        <p:spPr>
          <a:xfrm xmlns:a="http://schemas.openxmlformats.org/drawingml/2006/main">
            <a:off x="8572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参赛单位</a:t>
            </a:r>
          </a:p>
        </p:txBody>
      </p:sp>
      <p:sp>
        <p:nvSpPr>
          <p:cNvPr id="94" name="">
            <a:extLst xmlns:a="http://schemas.openxmlformats.org/drawingml/2006/main">
              <a:ext uri="{FF2B5EF4-FFF2-40B4-BE49-F238E27FC236}">
                <a16:creationId xmlns:a16="http://schemas.microsoft.com/office/drawing/2014/main" id="{02FA7FAB-B099-4AD7-9804-594D53705052}"/>
              </a:ext>
            </a:extLst>
          </p:cNvPr>
          <p:cNvSpPr>
            <a:spLocks xmlns:a="http://schemas.openxmlformats.org/drawingml/2006/main" noGrp="1"/>
          </p:cNvSpPr>
          <p:nvPr/>
        </p:nvSpPr>
        <p:spPr>
          <a:xfrm xmlns:a="http://schemas.openxmlformats.org/drawingml/2006/main">
            <a:off x="8572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95" name="">
            <a:extLst xmlns:a="http://schemas.openxmlformats.org/drawingml/2006/main">
              <a:ext uri="{FF2B5EF4-FFF2-40B4-BE49-F238E27FC236}">
                <a16:creationId xmlns:a16="http://schemas.microsoft.com/office/drawing/2014/main" id="{CA87E33B-0896-4177-94FA-22F4C7ABFA7F}"/>
              </a:ext>
            </a:extLst>
          </p:cNvPr>
          <p:cNvSpPr>
            <a:spLocks xmlns:a="http://schemas.openxmlformats.org/drawingml/2006/main" noGrp="1"/>
          </p:cNvSpPr>
          <p:nvPr/>
        </p:nvSpPr>
        <p:spPr>
          <a:xfrm xmlns:a="http://schemas.openxmlformats.org/drawingml/2006/main">
            <a:off x="35623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赛道</a:t>
            </a:r>
          </a:p>
        </p:txBody>
      </p:sp>
      <p:sp>
        <p:nvSpPr>
          <p:cNvPr id="96" name="">
            <a:extLst xmlns:a="http://schemas.openxmlformats.org/drawingml/2006/main">
              <a:ext uri="{FF2B5EF4-FFF2-40B4-BE49-F238E27FC236}">
                <a16:creationId xmlns:a16="http://schemas.microsoft.com/office/drawing/2014/main" id="{01CFA297-5DDE-4E59-9CC1-6B13E9DCAC93}"/>
              </a:ext>
            </a:extLst>
          </p:cNvPr>
          <p:cNvSpPr>
            <a:spLocks xmlns:a="http://schemas.openxmlformats.org/drawingml/2006/main" noGrp="1"/>
          </p:cNvSpPr>
          <p:nvPr/>
        </p:nvSpPr>
        <p:spPr>
          <a:xfrm xmlns:a="http://schemas.openxmlformats.org/drawingml/2006/main">
            <a:off x="35623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97" name="">
            <a:extLst xmlns:a="http://schemas.openxmlformats.org/drawingml/2006/main">
              <a:ext uri="{FF2B5EF4-FFF2-40B4-BE49-F238E27FC236}">
                <a16:creationId xmlns:a16="http://schemas.microsoft.com/office/drawing/2014/main" id="{AAD171FF-2B35-4D64-A1DD-6FC3E1E010CC}"/>
              </a:ext>
            </a:extLst>
          </p:cNvPr>
          <p:cNvSpPr>
            <a:spLocks xmlns:a="http://schemas.openxmlformats.org/drawingml/2006/main" noGrp="1"/>
          </p:cNvSpPr>
          <p:nvPr/>
        </p:nvSpPr>
        <p:spPr>
          <a:xfrm xmlns:a="http://schemas.openxmlformats.org/drawingml/2006/main">
            <a:off x="62674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团队</a:t>
            </a:r>
          </a:p>
        </p:txBody>
      </p:sp>
      <p:sp>
        <p:nvSpPr>
          <p:cNvPr id="98" name="">
            <a:extLst xmlns:a="http://schemas.openxmlformats.org/drawingml/2006/main">
              <a:ext uri="{FF2B5EF4-FFF2-40B4-BE49-F238E27FC236}">
                <a16:creationId xmlns:a16="http://schemas.microsoft.com/office/drawing/2014/main" id="{55793A01-E4FC-4187-A785-B5732535E0F3}"/>
              </a:ext>
            </a:extLst>
          </p:cNvPr>
          <p:cNvSpPr>
            <a:spLocks xmlns:a="http://schemas.openxmlformats.org/drawingml/2006/main" noGrp="1"/>
          </p:cNvSpPr>
          <p:nvPr/>
        </p:nvSpPr>
        <p:spPr>
          <a:xfrm xmlns:a="http://schemas.openxmlformats.org/drawingml/2006/main">
            <a:off x="62674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99" name="">
            <a:extLst xmlns:a="http://schemas.openxmlformats.org/drawingml/2006/main">
              <a:ext uri="{FF2B5EF4-FFF2-40B4-BE49-F238E27FC236}">
                <a16:creationId xmlns:a16="http://schemas.microsoft.com/office/drawing/2014/main" id="{0436F943-4BFE-4AE1-BF96-AD218428D300}"/>
              </a:ext>
            </a:extLst>
          </p:cNvPr>
          <p:cNvSpPr>
            <a:spLocks xmlns:a="http://schemas.openxmlformats.org/drawingml/2006/main" noGrp="1"/>
          </p:cNvSpPr>
          <p:nvPr/>
        </p:nvSpPr>
        <p:spPr>
          <a:xfrm xmlns:a="http://schemas.openxmlformats.org/drawingml/2006/main">
            <a:off x="8972550" y="5257800"/>
            <a:ext cx="2571750" cy="22860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指导老师</a:t>
            </a:r>
          </a:p>
        </p:txBody>
      </p:sp>
      <p:sp>
        <p:nvSpPr>
          <p:cNvPr id="100" name="">
            <a:extLst xmlns:a="http://schemas.openxmlformats.org/drawingml/2006/main">
              <a:ext uri="{FF2B5EF4-FFF2-40B4-BE49-F238E27FC236}">
                <a16:creationId xmlns:a16="http://schemas.microsoft.com/office/drawing/2014/main" id="{FE763C58-1411-40D2-9691-D03E497AF4A1}"/>
              </a:ext>
            </a:extLst>
          </p:cNvPr>
          <p:cNvSpPr>
            <a:spLocks xmlns:a="http://schemas.openxmlformats.org/drawingml/2006/main" noGrp="1"/>
          </p:cNvSpPr>
          <p:nvPr/>
        </p:nvSpPr>
        <p:spPr>
          <a:xfrm xmlns:a="http://schemas.openxmlformats.org/drawingml/2006/main">
            <a:off x="8972550" y="5505450"/>
            <a:ext cx="2571750" cy="285750"/>
          </a:xfrm>
          <a:prstGeom xmlns:a="http://schemas.openxmlformats.org/drawingml/2006/main" prst="rect">
            <a:avLst/>
          </a:prstGeom>
          <a:noFill xmlns:a="http://schemas.openxmlformats.org/drawingml/2006/main"/>
          <a:ln xmlns:a="http://schemas.openxmlformats.org/drawingml/2006/main" w="0">
            <a:solidFill>
              <a:srgbClr val="000000"/>
            </a:solid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101" name="">
            <a:extLst xmlns:a="http://schemas.openxmlformats.org/drawingml/2006/main">
              <a:ext uri="{FF2B5EF4-FFF2-40B4-BE49-F238E27FC236}">
                <a16:creationId xmlns:a16="http://schemas.microsoft.com/office/drawing/2014/main" id="{C76DE371-2700-4DE2-ADB6-809DB971C218}"/>
              </a:ext>
            </a:extLst>
          </p:cNvPr>
          <p:cNvSpPr>
            <a:spLocks xmlns:a="http://schemas.openxmlformats.org/drawingml/2006/main" noGrp="1"/>
          </p:cNvSpPr>
          <p:nvPr/>
        </p:nvSpPr>
        <p:spPr>
          <a:xfrm xmlns:a="http://schemas.openxmlformats.org/drawingml/2006/main">
            <a:off x="857250" y="6038850"/>
            <a:ext cx="10477500" cy="9525"/>
          </a:xfrm>
          <a:prstGeom xmlns:a="http://schemas.openxmlformats.org/drawingml/2006/main" prst="rect">
            <a:avLst/>
          </a:prstGeom>
          <a:gradFill xmlns:a="http://schemas.openxmlformats.org/drawingml/2006/main">
            <a:gsLst>
              <a:gs pos="0">
                <a:srgbClr val="FFD24A"/>
              </a:gs>
              <a:gs pos="70000">
                <a:srgbClr val="4FD8FF">
                  <a:alpha val="45000"/>
                </a:srgbClr>
              </a:gs>
              <a:gs pos="100000">
                <a:srgbClr val="4FD8FF">
                  <a:alpha val="0"/>
                </a:srgbClr>
              </a:gs>
            </a:gsLst>
            <a:lin ang="0"/>
          </a:gradFill>
          <a:ln xmlns:a="http://schemas.openxmlformats.org/drawingml/2006/main" w="0">
            <a:solidFill>
              <a:srgbClr val="000000"/>
            </a:solidFill>
            <a:prstDash val="solid"/>
          </a:ln>
        </p:spPr>
      </p:sp>
    </p:spTree>
    <p:extLst>
      <p:ext uri="{BB962C8B-B14F-4D97-AF65-F5344CB8AC3E}">
        <p14:creationId xmlns:p14="http://schemas.microsoft.com/office/powerpoint/2010/main" val="555749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2026-09-27T11:44:35.3820000Z</dcterms:created>
  <dcterms:modified xsi:type="dcterms:W3CDTF">2026-09-27T11:44:35.3820000Z</dcterms:modified>
</coreProperties>
</file>