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b0fff436154eda" /><Relationship Type="http://schemas.openxmlformats.org/officeDocument/2006/relationships/extended-properties" Target="/docProps/app.xml" Id="R8ce33ca488ef4179" /><Relationship Type="http://schemas.openxmlformats.org/officeDocument/2006/relationships/officeDocument" Target="/ppt/presentation.xml" Id="R8d35faeb64b246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83e8e218f742af"/>
  </p:sldMasterIdLst>
  <p:notesMasterIdLst>
    <p:notesMasterId xmlns:r="http://schemas.openxmlformats.org/officeDocument/2006/relationships" r:id="R855d0cbe5c14417e"/>
  </p:notesMasterIdLst>
  <p:sldIdLst>
    <p:sldId xmlns:r="http://schemas.openxmlformats.org/officeDocument/2006/relationships" id="256" r:id="R7ecae4b832ae4a61"/>
    <p:sldId xmlns:r="http://schemas.openxmlformats.org/officeDocument/2006/relationships" id="257" r:id="Rc4bfbac06e9c432b"/>
    <p:sldId xmlns:r="http://schemas.openxmlformats.org/officeDocument/2006/relationships" id="258" r:id="R701c239b75374423"/>
    <p:sldId xmlns:r="http://schemas.openxmlformats.org/officeDocument/2006/relationships" id="259" r:id="Rda50ca0986594106"/>
    <p:sldId xmlns:r="http://schemas.openxmlformats.org/officeDocument/2006/relationships" id="260" r:id="Re486e5c5cc7a4d13"/>
    <p:sldId xmlns:r="http://schemas.openxmlformats.org/officeDocument/2006/relationships" id="261" r:id="R50fcfba3271a4e47"/>
    <p:sldId xmlns:r="http://schemas.openxmlformats.org/officeDocument/2006/relationships" id="262" r:id="R67a1604a584c4e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a6a86def3b4a9a" /><Relationship Type="http://schemas.openxmlformats.org/officeDocument/2006/relationships/slideMaster" Target="/ppt/slideMasters/slideMaster1.xml" Id="R4183e8e218f742af" /><Relationship Type="http://schemas.openxmlformats.org/officeDocument/2006/relationships/notesMaster" Target="/ppt/notesMasters/notesMaster1.xml" Id="R855d0cbe5c14417e" /><Relationship Type="http://schemas.openxmlformats.org/officeDocument/2006/relationships/presProps" Target="/ppt/presProps.xml" Id="R5a72b4fb61fc45a8" /><Relationship Type="http://schemas.openxmlformats.org/officeDocument/2006/relationships/tableStyles" Target="/ppt/tableStyles.xml" Id="Ra5497efa9d1d48df" /><Relationship Type="http://schemas.openxmlformats.org/officeDocument/2006/relationships/slide" Target="/ppt/slides/slide1.xml" Id="R7ecae4b832ae4a61" /><Relationship Type="http://schemas.openxmlformats.org/officeDocument/2006/relationships/slide" Target="/ppt/slides/slide2.xml" Id="Rc4bfbac06e9c432b" /><Relationship Type="http://schemas.openxmlformats.org/officeDocument/2006/relationships/slide" Target="/ppt/slides/slide3.xml" Id="R701c239b75374423" /><Relationship Type="http://schemas.openxmlformats.org/officeDocument/2006/relationships/slide" Target="/ppt/slides/slide4.xml" Id="Rda50ca0986594106" /><Relationship Type="http://schemas.openxmlformats.org/officeDocument/2006/relationships/slide" Target="/ppt/slides/slide5.xml" Id="Re486e5c5cc7a4d13" /><Relationship Type="http://schemas.openxmlformats.org/officeDocument/2006/relationships/slide" Target="/ppt/slides/slide6.xml" Id="R50fcfba3271a4e47" /><Relationship Type="http://schemas.openxmlformats.org/officeDocument/2006/relationships/slide" Target="/ppt/slides/slide7.xml" Id="R67a1604a584c4e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59f7c166684a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2a25bd7ca44310" /><Relationship Type="http://schemas.openxmlformats.org/officeDocument/2006/relationships/notesMaster" Target="/ppt/notesMasters/notesMaster1.xml" Id="R3c063ef626a847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a35bbcbaa14a4f" /><Relationship Type="http://schemas.openxmlformats.org/officeDocument/2006/relationships/notesMaster" Target="/ppt/notesMasters/notesMaster1.xml" Id="R3fabd094aa5241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25d6720f234d2f" /><Relationship Type="http://schemas.openxmlformats.org/officeDocument/2006/relationships/notesMaster" Target="/ppt/notesMasters/notesMaster1.xml" Id="R9d8f508fafde45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33dc2c33094dd0" /><Relationship Type="http://schemas.openxmlformats.org/officeDocument/2006/relationships/notesMaster" Target="/ppt/notesMasters/notesMaster1.xml" Id="Rf8da28e4c59848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8facbe37584bca" /><Relationship Type="http://schemas.openxmlformats.org/officeDocument/2006/relationships/notesMaster" Target="/ppt/notesMasters/notesMaster1.xml" Id="R060c1375d52e44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8386333d884e40" /><Relationship Type="http://schemas.openxmlformats.org/officeDocument/2006/relationships/notesMaster" Target="/ppt/notesMasters/notesMaster1.xml" Id="R8a07416460aa4b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7017077e504d57" /><Relationship Type="http://schemas.openxmlformats.org/officeDocument/2006/relationships/notesMaster" Target="/ppt/notesMasters/notesMaster1.xml" Id="R806f63dcb87e4c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a9ab152df449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a0001a037547a2" /><Relationship Type="http://schemas.openxmlformats.org/officeDocument/2006/relationships/slideLayout" Target="/ppt/slideLayouts/slideLayout1.xml" Id="R835252cfe6db47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5252cfe6db47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0f7a1a7bc4a40" /><Relationship Type="http://schemas.openxmlformats.org/officeDocument/2006/relationships/image" Target="/ppt/media/image.jpeg" Id="R6cbffd219c90414f" /><Relationship Type="http://schemas.openxmlformats.org/officeDocument/2006/relationships/notesSlide" Target="/ppt/notesSlides/notesSlide1.xml" Id="R4d77a99bf60944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ce81b16224164" /><Relationship Type="http://schemas.openxmlformats.org/officeDocument/2006/relationships/image" Target="/ppt/media/image2.jpeg" Id="R552cf2739adb41a9" /><Relationship Type="http://schemas.openxmlformats.org/officeDocument/2006/relationships/notesSlide" Target="/ppt/notesSlides/notesSlide2.xml" Id="R3ecac7ed1dcc4c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32ddbf89f4e47" /><Relationship Type="http://schemas.openxmlformats.org/officeDocument/2006/relationships/image" Target="/ppt/media/image3.jpeg" Id="R4f0e346ac95545cc" /><Relationship Type="http://schemas.openxmlformats.org/officeDocument/2006/relationships/notesSlide" Target="/ppt/notesSlides/notesSlide3.xml" Id="Rccad8c6570fc48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98277339f44da" /><Relationship Type="http://schemas.openxmlformats.org/officeDocument/2006/relationships/image" Target="/ppt/media/image4.jpeg" Id="R5fc86f0773a243ba" /><Relationship Type="http://schemas.openxmlformats.org/officeDocument/2006/relationships/notesSlide" Target="/ppt/notesSlides/notesSlide4.xml" Id="R263f5760651c42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9b84867a7442d" /><Relationship Type="http://schemas.openxmlformats.org/officeDocument/2006/relationships/image" Target="/ppt/media/image5.jpeg" Id="R452c713d8f0549f2" /><Relationship Type="http://schemas.openxmlformats.org/officeDocument/2006/relationships/notesSlide" Target="/ppt/notesSlides/notesSlide5.xml" Id="Rdd806f39d88141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c750bf2c34ea4" /><Relationship Type="http://schemas.openxmlformats.org/officeDocument/2006/relationships/image" Target="/ppt/media/image6.jpeg" Id="R03c9cb1411a845b4" /><Relationship Type="http://schemas.openxmlformats.org/officeDocument/2006/relationships/notesSlide" Target="/ppt/notesSlides/notesSlide6.xml" Id="R6f72f7b5d6e849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632c224234bd4" /><Relationship Type="http://schemas.openxmlformats.org/officeDocument/2006/relationships/image" Target="/ppt/media/image7.jpeg" Id="R258d31d7c2b548b6" /><Relationship Type="http://schemas.openxmlformats.org/officeDocument/2006/relationships/notesSlide" Target="/ppt/notesSlides/notesSlide7.xml" Id="Re4331344014248e7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2A52"/>
            </a:gs>
            <a:gs pos="100000">
              <a:srgbClr val="06152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ffd219c90414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A1AF6-677E-41D0-9CF0-C5A65CEE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52B">
              <a:alpha val="5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D9FE2-6AE3-4225-BDA9-0EC95BAA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5334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1C7F0">
                  <a:alpha val="20000"/>
                </a:srgbClr>
              </a:gs>
              <a:gs pos="45000">
                <a:srgbClr val="31C7F0">
                  <a:alpha val="8000"/>
                </a:srgbClr>
              </a:gs>
              <a:gs pos="100000">
                <a:srgbClr val="31C7F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D6FD8-9681-49C9-A00E-74B5DD11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3429000" cy="3429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E86E8">
                  <a:alpha val="14000"/>
                </a:srgbClr>
              </a:gs>
              <a:gs pos="45000">
                <a:srgbClr val="2E86E8">
                  <a:alpha val="6000"/>
                </a:srgbClr>
              </a:gs>
              <a:gs pos="100000">
                <a:srgbClr val="2E86E8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86456-41AC-471C-A349-07902198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5C33B"/>
              </a:gs>
              <a:gs pos="52000">
                <a:srgbClr val="31C7F0"/>
              </a:gs>
              <a:gs pos="100000">
                <a:srgbClr val="31C7F0">
                  <a:alpha val="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E27EE-19ED-4C4C-B207-BD3E2E55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EB3C3-EB4E-405F-950D-32E08261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12039600" cy="6705600"/>
          </a:xfrm>
          <a:prstGeom xmlns:a="http://schemas.openxmlformats.org/drawingml/2006/main" prst="roundRect">
            <a:avLst>
              <a:gd name="adj" fmla="val 1989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2E6FB0">
                <a:alpha val="6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2B1B7-0A36-42BD-A49A-1EA86E03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11925300" cy="6591300"/>
          </a:xfrm>
          <a:prstGeom xmlns:a="http://schemas.openxmlformats.org/drawingml/2006/main" prst="roundRect">
            <a:avLst>
              <a:gd name="adj" fmla="val 1445"/>
            </a:avLst>
          </a:prstGeom>
          <a:noFill xmlns:a="http://schemas.openxmlformats.org/drawingml/2006/main"/>
          <a:ln xmlns:a="http://schemas.openxmlformats.org/drawingml/2006/main" w="7144">
            <a:solidFill>
              <a:srgbClr val="1B4C8A">
                <a:alpha val="3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EC361-3108-4D0B-8534-72EBC157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FC5AC6-4C8F-485B-B560-10066B1F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038DB-E173-44D1-857D-C9E1326F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7532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DF747-23CF-43A4-9AFD-683AB0E4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64579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265D3-AF9A-48BF-B8C1-0B2C634E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3D51B-98A1-442C-BD35-2FC57B99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B8237-B05F-4D10-A19D-546A5199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71512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080A6-BCBF-49E1-89F9-96FD6B1E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65532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F2DBB3-C335-446D-87CB-D1E4BF3B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" y="339090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B34330-DC2D-419F-B012-E9B157FE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3128" y="339090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79362B-F19E-4E0D-8928-93AA18B7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927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8D0B7-7D34-4AEB-9328-9B7802B2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273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9E06A8-E488-45FE-9F36-7DC8F46B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CA901A-68E8-4A70-8B32-E8F9D024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727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BEF44B-F941-4C32-9544-95BF668A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073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75EDCC-D88B-4DBE-9DE3-0A62A230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62050"/>
            <a:ext cx="4495800" cy="4495800"/>
          </a:xfrm>
          <a:prstGeom xmlns:a="http://schemas.openxmlformats.org/drawingml/2006/main" prst="roundRect">
            <a:avLst>
              <a:gd name="adj" fmla="val 3390"/>
            </a:avLst>
          </a:prstGeom>
          <a:gradFill xmlns:a="http://schemas.openxmlformats.org/drawingml/2006/main">
            <a:gsLst>
              <a:gs pos="0">
                <a:srgbClr val="233951"/>
              </a:gs>
              <a:gs pos="62000">
                <a:srgbClr val="08203C"/>
              </a:gs>
              <a:gs pos="100000">
                <a:srgbClr val="06192F"/>
              </a:gs>
            </a:gsLst>
            <a:lin ang="8100000"/>
          </a:gradFill>
          <a:ln xmlns:a="http://schemas.openxmlformats.org/drawingml/2006/main" w="11430">
            <a:solidFill>
              <a:srgbClr val="31C7F0">
                <a:alpha val="45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4AA552-4271-44AB-BCFB-72344324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257300"/>
            <a:ext cx="4305300" cy="4305300"/>
          </a:xfrm>
          <a:prstGeom xmlns:a="http://schemas.openxmlformats.org/drawingml/2006/main" prst="roundRect">
            <a:avLst>
              <a:gd name="adj" fmla="val 2655"/>
            </a:avLst>
          </a:prstGeom>
          <a:gradFill xmlns:a="http://schemas.openxmlformats.org/drawingml/2006/main">
            <a:gsLst>
              <a:gs pos="0">
                <a:srgbClr val="233F63"/>
              </a:gs>
              <a:gs pos="100000">
                <a:srgbClr val="071E3A"/>
              </a:gs>
            </a:gsLst>
            <a:lin ang="8100000"/>
          </a:gradFill>
          <a:ln xmlns:a="http://schemas.openxmlformats.org/drawingml/2006/main" w="9525">
            <a:solidFill>
              <a:srgbClr val="31C7F0">
                <a:alpha val="28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3EF428-8D4C-4C98-8A38-99FB4A51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3962400" cy="1676400"/>
          </a:xfrm>
          <a:prstGeom xmlns:a="http://schemas.openxmlformats.org/drawingml/2006/main" prst="rect">
            <a:avLst/>
          </a:prstGeom>
          <a:pattFill xmlns:a="http://schemas.openxmlformats.org/drawingml/2006/main" prst="dotGrid">
            <a:fgClr>
              <a:srgbClr val="2A6BAE">
                <a:alpha val="55000"/>
              </a:srgbClr>
            </a:fgClr>
            <a:bgClr>
              <a:srgbClr val="08203C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F2B04D-136A-43D3-955E-94C28A92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09750"/>
            <a:ext cx="723900" cy="65151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>
            <a:solidFill>
              <a:srgbClr val="31C7F0">
                <a:alpha val="3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3D8165-D10F-4A32-99C2-B42370E1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2012442"/>
            <a:ext cx="723900" cy="65151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>
            <a:solidFill>
              <a:srgbClr val="31C7F0">
                <a:alpha val="3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C017B2-35C6-4627-BFFF-1115D115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208" y="1809750"/>
            <a:ext cx="723900" cy="65151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>
            <a:solidFill>
              <a:srgbClr val="31C7F0">
                <a:alpha val="30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6691FE-6509-4592-BE85-045E0DCA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38300"/>
            <a:ext cx="24574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900" b="1">
                <a:ln w="14288">
                  <a:solidFill>
                    <a:srgbClr val="31C7F0">
                      <a:alpha val="75000"/>
                    </a:srgbClr>
                  </a:solidFill>
                  <a:prstDash val="solid"/>
                </a:ln>
                <a:solidFill>
                  <a:srgbClr val="0B2C56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9900" b="1">
                <a:ln w="14288">
                  <a:solidFill>
                    <a:srgbClr val="31C7F0">
                      <a:alpha val="75000"/>
                    </a:srgbClr>
                  </a:solidFill>
                  <a:prstDash val="solid"/>
                </a:ln>
                <a:solidFill>
                  <a:srgbClr val="0B2C56"/>
                </a:solidFill>
                <a:latin typeface="Bahnschrift SemiBold"/>
                <a:ea typeface="Bahnschrift SemiBold"/>
                <a:cs typeface="Bahnschrift SemiBold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C73AFA-5DA3-4456-9BBD-EAD1E6B0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95650"/>
            <a:ext cx="3962400" cy="190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31C7F0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19B1DA-355F-496A-9D41-FEEF987A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3962400" cy="685800"/>
          </a:xfrm>
          <a:prstGeom xmlns:a="http://schemas.openxmlformats.org/drawingml/2006/main" prst="rect">
            <a:avLst/>
          </a:prstGeom>
          <a:pattFill xmlns:a="http://schemas.openxmlformats.org/drawingml/2006/main" prst="wdUpDiag">
            <a:fgClr>
              <a:srgbClr val="31C7F0">
                <a:alpha val="24000"/>
              </a:srgbClr>
            </a:fgClr>
            <a:bgClr>
              <a:srgbClr val="08203C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31271D-B891-46F0-8F4E-9673CC42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C979BB-D4FF-43E2-8457-0DD2D478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243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C6EFE8-C2E2-4B8A-A6FF-6CA49072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49BF70-D270-4257-8559-5EC5C4E3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400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F251C4-F14D-4E65-AEA0-708C431A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5243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43053A-DEBB-403A-83C5-84220D6D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6482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0276B1-8125-45C2-A439-875F9F10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00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56FF87-8708-445A-BDAA-1525F32B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243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F33E4B-F7E1-4CA0-A34E-9CAA4617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482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6CAB2E-3D7E-4D9B-A778-74E96ED7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400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E735F9-A598-4E8B-9614-D3430C2F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5243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65399F-21CB-4DDF-8413-5F9E104B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6482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454477-0A42-49D1-A37A-57F834B8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00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3B46D5-B4AC-4CA1-ABED-F23366A8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243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0C60B1-8826-4A9A-9A94-846A7A2A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482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B4F107-3B4A-4C0B-920E-9B23A536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00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3E3DF0-79D8-4572-BA60-EBF14A98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243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E048201-28F4-4960-B0A0-2D35D02A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482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04DA4E-EDC6-450E-98F0-1D09A01D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00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14C7D1-2CC2-4077-836F-5E6E4C38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243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8C5F92-21FF-443B-8EC7-6AB99730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482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4D1576D-7E77-4180-BF34-892A2111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400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1CE4246-A2CE-48A0-9623-02DBD171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5243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57EE5B-6AF2-44BE-B00D-5259B227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6482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1BCAC6-2075-4916-848F-9A37039C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00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8F7F46E-5A5A-4578-8788-0D10FB49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243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4162892-94E4-42BF-BE1F-703A7C05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482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0A04FC4-D071-43B0-80BB-E68D6FDD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38650"/>
            <a:ext cx="2095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C9F3FA1-0701-4A5D-9137-F4EAC420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38650"/>
            <a:ext cx="2095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1C7F0">
              <a:alpha val="2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0850E19-23AA-4652-8B10-D3828E69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38650"/>
            <a:ext cx="2095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1C7F0">
              <a:alpha val="14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09A597E-71A4-4A84-858D-59A24C76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67300"/>
            <a:ext cx="3543300" cy="14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C00E6CF-EA2F-41AB-91B9-F5C6B418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895850"/>
            <a:ext cx="571500" cy="571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1C7F0">
                  <a:alpha val="30000"/>
                </a:srgbClr>
              </a:gs>
              <a:gs pos="45000">
                <a:srgbClr val="31C7F0">
                  <a:alpha val="12000"/>
                </a:srgbClr>
              </a:gs>
              <a:gs pos="100000">
                <a:srgbClr val="31C7F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D424099-4D05-4CF5-B46A-D45F1AFC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0196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67578C3-6DC5-47E5-8C95-57CEB460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006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背景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7A0F937-B1F4-46F2-8C30-F9EF9808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0196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344B5D8-5F2B-4D3F-80F3-54D12951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2006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21837FD-68F8-4999-B0D6-4B944BEF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0196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4481527-6AC4-40A0-ADA4-55D5C8E7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2006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算法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7DE9B89-872A-4142-A1A3-F076D102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0196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0C843D1-9A69-4936-902A-07C2C7E8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2006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系统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FCA9493-5D19-4A9E-8F05-DBFBA347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0196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CE09D8E-34C0-4E5A-B10C-FD1513C9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2006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3AB30B3-283E-4825-BBBE-761B3F5A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0196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B51B149-E948-46C4-B5B7-9B01CBEA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52006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价值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193301F-DE6A-49E4-8F9E-CB0383F8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3962400" cy="1447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5C33B"/>
              </a:gs>
              <a:gs pos="100000">
                <a:srgbClr val="F5C33B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B637022-845C-49BC-96B1-FD10746F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3450"/>
            <a:ext cx="396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spc="1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 spc="1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答辩结构 </a:t>
            </a:r>
            <a:r>
              <a:rPr sz="938" b="0" spc="1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38" b="0" spc="1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六章推进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422C044-69B0-44BC-9CEC-26664ED3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257300"/>
            <a:ext cx="247650" cy="24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D143987-C472-4D5B-BB72-4383F225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257300"/>
            <a:ext cx="2400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F6DECEA-964D-4287-B687-1FFEE324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538978"/>
            <a:ext cx="247650" cy="24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FC95723-9257-4794-AD9B-10BFC3A5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9228" y="5314950"/>
            <a:ext cx="2400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3436747-8093-4058-AAE9-D54A0926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906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spc="3">
                <a:latin typeface="Bahnschrift SemiBold"/>
                <a:ea typeface="Bahnschrift SemiBold"/>
                <a:cs typeface="Bahnschrift SemiBold"/>
              </a:defRPr>
            </a:pPr>
            <a:r>
              <a:rPr sz="975" spc="3">
                <a:solidFill>
                  <a:srgbClr val="7A9CC4"/>
                </a:solidFill>
                <a:latin typeface="Bahnschrift SemiBold"/>
                <a:ea typeface="Bahnschrift SemiBold"/>
                <a:cs typeface="Bahnschrift SemiBold"/>
              </a:rPr>
              <a:t>SECTION </a:t>
            </a:r>
            <a:r>
              <a:rPr sz="975" b="1" spc="3">
                <a:solidFill>
                  <a:srgbClr val="F5C33B"/>
                </a:solidFill>
                <a:latin typeface="Bahnschrift SemiBold"/>
                <a:ea typeface="Bahnschrift SemiBold"/>
                <a:cs typeface="Bahnschrift SemiBold"/>
              </a:rPr>
              <a:t>01</a:t>
            </a:r>
            <a:r>
              <a:rPr sz="975" spc="3">
                <a:solidFill>
                  <a:srgbClr val="7A9CC4"/>
                </a:solidFill>
                <a:latin typeface="Bahnschrift SemiBold"/>
                <a:ea typeface="Bahnschrift SemiBold"/>
                <a:cs typeface="Bahnschrift SemiBold"/>
              </a:rPr>
              <a:t> / 06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2959A15-4FCB-42CD-9696-2B7A0498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800100" cy="190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31C7F0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003DAA1-7D39-4852-84C7-D945302F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 spc="3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1" spc="3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FC1B4E7-C23E-4A37-AA6F-2B66A8AD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 spc="3">
                <a:solidFill>
                  <a:srgbClr val="31C7F0"/>
                </a:solidFill>
                <a:latin typeface="Bahnschrift"/>
                <a:ea typeface="Bahnschrift"/>
                <a:cs typeface="Bahnschrift"/>
              </a:defRPr>
            </a:pPr>
            <a:r>
              <a:rPr sz="1013" b="0" spc="3">
                <a:solidFill>
                  <a:srgbClr val="31C7F0"/>
                </a:solidFill>
                <a:latin typeface="Bahnschrift"/>
                <a:ea typeface="Bahnschrift"/>
                <a:cs typeface="Bahnschrift"/>
              </a:rPr>
              <a:t>BACKGROUND / WHY INDUSTRIAL SMART TRAINING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A30D291-7C4C-4380-80B6-12D1BE55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257300" cy="285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5C33B"/>
              </a:gs>
              <a:gs pos="100000">
                <a:srgbClr val="F5C33B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8EA6FE3-5C5E-44A4-8D4E-F36C246C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0" algn="l">
              <a:lnSpc>
                <a:spcPct val="210000"/>
              </a:lnSpc>
              <a:buNone/>
              <a:defRPr sz="1163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1163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◆ </a:t>
            </a:r>
            <a:r>
              <a:rPr sz="1163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监管刚性：培训学时与判定阈值全部来自国家 </a:t>
            </a:r>
            <a:r>
              <a:rPr sz="1163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1163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行业标准原文</a:t>
            </a:r>
          </a:p>
          <a:p xmlns:a="http://schemas.openxmlformats.org/drawingml/2006/main">
            <a:pPr marL="0" algn="l">
              <a:lnSpc>
                <a:spcPct val="210000"/>
              </a:lnSpc>
              <a:buNone/>
              <a:defRPr sz="1163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1163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◆ </a:t>
            </a:r>
            <a:r>
              <a:rPr sz="1163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转型压力：站点增加、作业复杂、人员备份不足、用人成本刚性</a:t>
            </a:r>
          </a:p>
          <a:p xmlns:a="http://schemas.openxmlformats.org/drawingml/2006/main">
            <a:pPr marL="0" algn="l">
              <a:lnSpc>
                <a:spcPct val="210000"/>
              </a:lnSpc>
              <a:buNone/>
              <a:defRPr sz="1163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1163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◆ </a:t>
            </a:r>
            <a:r>
              <a:rPr sz="1163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数据缺位：能力数据散落在纸质签到与 </a:t>
            </a:r>
            <a:r>
              <a:rPr sz="1163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Excel </a:t>
            </a:r>
            <a:r>
              <a:rPr sz="1163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台账，投入无法量化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93F615C-6EED-4D44-8207-BD87E546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809750" cy="723900"/>
          </a:xfrm>
          <a:prstGeom xmlns:a="http://schemas.openxmlformats.org/drawingml/2006/main" prst="roundRect">
            <a:avLst>
              <a:gd name="adj" fmla="val 15789"/>
            </a:avLst>
          </a:prstGeom>
          <a:gradFill xmlns:a="http://schemas.openxmlformats.org/drawingml/2006/main">
            <a:gsLst>
              <a:gs pos="0">
                <a:srgbClr val="253D5B"/>
              </a:gs>
              <a:gs pos="62000">
                <a:srgbClr val="0A2547"/>
              </a:gs>
              <a:gs pos="100000">
                <a:srgbClr val="081D37"/>
              </a:gs>
            </a:gsLst>
            <a:lin ang="8100000"/>
          </a:gradFill>
          <a:ln xmlns:a="http://schemas.openxmlformats.org/drawingml/2006/main" w="9525">
            <a:solidFill>
              <a:srgbClr val="31C7F0">
                <a:alpha val="5000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06C34C9-07B4-4295-8D36-EAB4DAC5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58AB440-9201-4A69-8903-2879B926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482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86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3918B72-0FD3-4EFB-9EA2-51295B80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721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运检人员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49A560E-B3DF-468F-B846-6BA63043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0"/>
            <a:ext cx="1809750" cy="723900"/>
          </a:xfrm>
          <a:prstGeom xmlns:a="http://schemas.openxmlformats.org/drawingml/2006/main" prst="roundRect">
            <a:avLst>
              <a:gd name="adj" fmla="val 15789"/>
            </a:avLst>
          </a:prstGeom>
          <a:gradFill xmlns:a="http://schemas.openxmlformats.org/drawingml/2006/main">
            <a:gsLst>
              <a:gs pos="0">
                <a:srgbClr val="253D5B"/>
              </a:gs>
              <a:gs pos="62000">
                <a:srgbClr val="0A2547"/>
              </a:gs>
              <a:gs pos="100000">
                <a:srgbClr val="081D37"/>
              </a:gs>
            </a:gsLst>
            <a:lin ang="8100000"/>
          </a:gradFill>
          <a:ln xmlns:a="http://schemas.openxmlformats.org/drawingml/2006/main" w="9525">
            <a:solidFill>
              <a:srgbClr val="31C7F0">
                <a:alpha val="5000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2AA134C-A8D7-41F7-8487-ECE6917E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022D380-5F8A-485F-A275-F86A3B25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482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E735A68-49C3-4D61-929A-9BFE94B6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721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班组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A723B8B-BA78-4FB5-ADC5-9C091B45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53000"/>
            <a:ext cx="1809750" cy="723900"/>
          </a:xfrm>
          <a:prstGeom xmlns:a="http://schemas.openxmlformats.org/drawingml/2006/main" prst="roundRect">
            <a:avLst>
              <a:gd name="adj" fmla="val 15789"/>
            </a:avLst>
          </a:prstGeom>
          <a:gradFill xmlns:a="http://schemas.openxmlformats.org/drawingml/2006/main">
            <a:gsLst>
              <a:gs pos="0">
                <a:srgbClr val="253D5B"/>
              </a:gs>
              <a:gs pos="62000">
                <a:srgbClr val="0A2547"/>
              </a:gs>
              <a:gs pos="100000">
                <a:srgbClr val="081D37"/>
              </a:gs>
            </a:gsLst>
            <a:lin ang="8100000"/>
          </a:gradFill>
          <a:ln xmlns:a="http://schemas.openxmlformats.org/drawingml/2006/main" w="9525">
            <a:solidFill>
              <a:srgbClr val="31C7F0">
                <a:alpha val="5000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9E0C86A-1BF8-40EB-A45E-80257DF0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5300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5553305-621B-4F16-A452-04079682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0482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BFDCC6A-E44D-4F4D-8025-5EA5FE38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3721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类核心技能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90C461F-DD54-45D3-BE58-ED2D2867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5143500" cy="1447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31C7F0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A26F4A3-72A9-4DDD-AE2F-D744DC9C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0"/>
            <a:ext cx="24765" cy="247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540B0B2-AF81-4F68-B180-E1DFE109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096000"/>
            <a:ext cx="24765" cy="247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60BD69C-D9E7-461E-91EF-0AABC63A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96000"/>
            <a:ext cx="24765" cy="247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7007082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2A52"/>
            </a:gs>
            <a:gs pos="100000">
              <a:srgbClr val="06152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cf2739adb41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D5256-5C00-4687-AFC1-D6563DBC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52B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C9CC6-D121-4D99-835E-ECCD3D74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4476750" cy="39052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1C7F0">
                  <a:alpha val="15000"/>
                </a:srgbClr>
              </a:gs>
              <a:gs pos="45000">
                <a:srgbClr val="31C7F0">
                  <a:alpha val="6000"/>
                </a:srgbClr>
              </a:gs>
              <a:gs pos="100000">
                <a:srgbClr val="31C7F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F47EE-ADEA-43F3-BF42-654A8873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3429000" cy="304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E86E8">
                  <a:alpha val="12000"/>
                </a:srgbClr>
              </a:gs>
              <a:gs pos="45000">
                <a:srgbClr val="2E86E8">
                  <a:alpha val="5000"/>
                </a:srgbClr>
              </a:gs>
              <a:gs pos="100000">
                <a:srgbClr val="2E86E8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10FEB-B436-4CF6-9A00-10C06509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914400"/>
            <a:ext cx="1866900" cy="800100"/>
          </a:xfrm>
          <a:prstGeom xmlns:a="http://schemas.openxmlformats.org/drawingml/2006/main" prst="rect">
            <a:avLst/>
          </a:prstGeom>
          <a:pattFill xmlns:a="http://schemas.openxmlformats.org/drawingml/2006/main" prst="wdUpDiag">
            <a:fgClr>
              <a:srgbClr val="2A6BAE">
                <a:alpha val="42000"/>
              </a:srgbClr>
            </a:fgClr>
            <a:bgClr>
              <a:srgbClr val="0A2144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59B0A-CBFC-4037-8166-8800FD87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914400"/>
            <a:ext cx="400050" cy="800100"/>
          </a:xfrm>
          <a:prstGeom xmlns:a="http://schemas.openxmlformats.org/drawingml/2006/main" prst="rect">
            <a:avLst/>
          </a:prstGeom>
          <a:pattFill xmlns:a="http://schemas.openxmlformats.org/drawingml/2006/main" prst="narVert">
            <a:fgClr>
              <a:srgbClr val="31C7F0">
                <a:alpha val="32000"/>
              </a:srgbClr>
            </a:fgClr>
            <a:bgClr>
              <a:srgbClr val="0A2144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1FF6C-9ABC-4DEE-9D50-CEA52401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E15C7-A34C-48D3-BDF5-8EC570DA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FB52E-CC47-4EB8-9599-06BEDCBE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9234E-D805-4F53-928E-BC54F304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E8867-E2E9-4D28-9B42-CEAB7785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C77F7-D843-4623-8014-05017AC2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B9D85-90E2-45C9-87DC-727D57FC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C0C02-9D03-47D4-8B46-D499FF4B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692BA-F486-4DC9-B11A-07DDEA81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5E3270-2AEA-47A9-9DFB-1629FB75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FA4A79-8865-4FD1-B7CD-AA289DCF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73B78-E04B-4EC2-8D9C-74A157CE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74086-79E0-4F87-965D-4BF765A3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12039600" cy="6705600"/>
          </a:xfrm>
          <a:prstGeom xmlns:a="http://schemas.openxmlformats.org/drawingml/2006/main" prst="roundRect">
            <a:avLst>
              <a:gd name="adj" fmla="val 1989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2E6FB0">
                <a:alpha val="6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B3ACA8-401B-434C-9E28-727758CD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11925300" cy="6591300"/>
          </a:xfrm>
          <a:prstGeom xmlns:a="http://schemas.openxmlformats.org/drawingml/2006/main" prst="roundRect">
            <a:avLst>
              <a:gd name="adj" fmla="val 1445"/>
            </a:avLst>
          </a:prstGeom>
          <a:noFill xmlns:a="http://schemas.openxmlformats.org/drawingml/2006/main"/>
          <a:ln xmlns:a="http://schemas.openxmlformats.org/drawingml/2006/main" w="7144">
            <a:solidFill>
              <a:srgbClr val="1B4C8A">
                <a:alpha val="32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A352C2-BAF4-48BD-ADEF-4C20972F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F81747-5EBA-4E5D-8A7C-F7AAD677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5EBAA1-9997-4207-A23A-4DF34C50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7532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4E5800-0B9D-41B3-99C6-75441DFF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64579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5C84F2-D7B4-4476-8A7E-58FFCFEF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1C0349-5CBA-4BB4-81A6-4FCEAC75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8F9F3B-F056-47BB-967F-050549BD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71512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A6D06A-0F80-4093-8D3C-BBB51E35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65532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4CCB41-FB58-41F1-97F1-CCAB3D12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" y="339090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9DF4C0-7D9B-4B76-AAEF-3466D023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3128" y="339090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B07F7B-76D2-4B86-A364-5496D910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927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605ED3-45B5-4B2E-B70F-7C8AD36C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273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044238-907C-43CD-B775-D6B4DFDF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50A47A-CFE2-47BB-A802-8D2E2F17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727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6959B5-F312-4A66-93EB-4C4A1A33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073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1E4600-00BF-4240-940E-6313DA3D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192F"/>
              </a:gs>
              <a:gs pos="58000">
                <a:srgbClr val="071E3A"/>
              </a:gs>
              <a:gs pos="100000">
                <a:srgbClr val="04142B"/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E7F3EB-7078-429B-8E3E-3AF5EC4D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0"/>
            <a:ext cx="2819400" cy="628650"/>
          </a:xfrm>
          <a:prstGeom xmlns:a="http://schemas.openxmlformats.org/drawingml/2006/main" prst="rect">
            <a:avLst/>
          </a:prstGeom>
          <a:pattFill xmlns:a="http://schemas.openxmlformats.org/drawingml/2006/main" prst="narVert">
            <a:fgClr>
              <a:srgbClr val="2A6BAE">
                <a:alpha val="42000"/>
              </a:srgbClr>
            </a:fgClr>
            <a:bgClr>
              <a:srgbClr val="061B36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A734C4-8446-43B0-A37F-5D51EA81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286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31C7F0">
                  <a:alpha val="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04A644-9AE7-4B35-AD06-5699291B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5C33B"/>
              </a:gs>
              <a:gs pos="24000">
                <a:srgbClr val="F5C33B">
                  <a:alpha val="55000"/>
                </a:srgbClr>
              </a:gs>
              <a:gs pos="68000">
                <a:srgbClr val="31C7F0">
                  <a:alpha val="45000"/>
                </a:srgbClr>
              </a:gs>
              <a:gs pos="100000">
                <a:srgbClr val="31C7F0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54266D-4A48-4BCB-988B-BE97B6C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05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广东科技学院 </a:t>
            </a:r>
            <a:r>
              <a:rPr sz="93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3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逐光造梦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687A97-1A40-48A1-8606-EBA4FAFF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1C7F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B8A260-02C5-4548-9D63-F494B6C7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1C7F0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30ADFD-EC08-46EF-80C3-429DB2F5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9050"/>
            <a:ext cx="1028700" cy="5905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1C7F0">
                  <a:alpha val="26000"/>
                </a:srgbClr>
              </a:gs>
              <a:gs pos="45000">
                <a:srgbClr val="31C7F0">
                  <a:alpha val="10000"/>
                </a:srgbClr>
              </a:gs>
              <a:gs pos="100000">
                <a:srgbClr val="31C7F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4319EA-1A81-4458-B27A-01AA8410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5250"/>
            <a:ext cx="628650" cy="438150"/>
          </a:xfrm>
          <a:prstGeom xmlns:a="http://schemas.openxmlformats.org/drawingml/2006/main" prst="hexagon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196478"/>
              </a:gs>
            </a:gsLst>
            <a:lin ang="8100000"/>
          </a:gradFill>
          <a:ln xmlns:a="http://schemas.openxmlformats.org/drawingml/2006/main" w="11906">
            <a:solidFill>
              <a:srgbClr val="F5C33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4203A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04203A"/>
                </a:solidFill>
                <a:latin typeface="Bahnschrift SemiBold"/>
                <a:ea typeface="Bahnschrift SemiBold"/>
                <a:cs typeface="Bahnschrift SemiBold"/>
              </a:rPr>
              <a:t>01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ABDF3E-AF3A-4965-BCA2-84F7A8DA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4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spc="2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spc="2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F93856-BDC2-478D-BE26-4DD5C410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"/>
            <a:ext cx="19050" cy="2476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31C7F0">
                  <a:alpha val="20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14505E3-55FA-488B-AC40-28A295AA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428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监管依据与标准原文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0CC770-FF3B-40F0-BC0C-9F7BFA7D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838200" cy="1447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31C7F0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9E1B43-6192-4CC5-8AB6-E6377E1A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533D82-8120-416C-B0FF-7F84E4C3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521B2EE-493A-4352-BA52-FB3FB898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9769C37-F123-4CC2-BBE7-16273EAE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42950"/>
            <a:ext cx="11734800" cy="457200"/>
          </a:xfrm>
          <a:prstGeom xmlns:a="http://schemas.openxmlformats.org/drawingml/2006/main" prst="roundRect">
            <a:avLst>
              <a:gd name="adj" fmla="val 20833"/>
            </a:avLst>
          </a:prstGeom>
          <a:gradFill xmlns:a="http://schemas.openxmlformats.org/drawingml/2006/main">
            <a:gsLst>
              <a:gs pos="0">
                <a:srgbClr val="274569"/>
              </a:gs>
              <a:gs pos="62000">
                <a:srgbClr val="0C2E56"/>
              </a:gs>
              <a:gs pos="100000">
                <a:srgbClr val="092443"/>
              </a:gs>
            </a:gsLst>
            <a:lin ang="8100000"/>
          </a:gradFill>
          <a:ln xmlns:a="http://schemas.openxmlformats.org/drawingml/2006/main" w="12383">
            <a:solidFill>
              <a:srgbClr val="F5C33B">
                <a:alpha val="85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38D7F2-D625-4463-9E05-CD9C28AE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81050"/>
            <a:ext cx="116586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7144">
            <a:solidFill>
              <a:srgbClr val="F5C33B">
                <a:alpha val="22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988F3A8-EBD9-4234-927C-910DED75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19150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0006523-B1F5-45DB-A78F-A9857081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38200"/>
            <a:ext cx="247650" cy="26670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>
            <a:solidFill>
              <a:srgbClr val="F5C33B">
                <a:alpha val="60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BB5E7D7-93B3-498A-B9DA-0DFB9B92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895350"/>
            <a:ext cx="114300" cy="1428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5C33B">
              <a:alpha val="3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AAAE9BA-D8AE-4540-92D6-0FBE53E4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009650"/>
            <a:ext cx="38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3273D61-57CB-4A3D-AC2C-55763836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981075"/>
            <a:ext cx="381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3AA435E-8217-40C7-B21A-85915E97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952500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6E8941D-9192-461C-AABC-22FC6E29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923925"/>
            <a:ext cx="38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B5D7015-2C61-4FAF-93BB-19715A9C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89535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631DCDD-7C67-4EE1-8FD5-6AF7D0BE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982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>
                <a:latin typeface="微软雅黑"/>
                <a:ea typeface="微软雅黑"/>
                <a:cs typeface="微软雅黑"/>
              </a:defRPr>
            </a:pPr>
            <a:r>
              <a:rPr sz="123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本页结论</a:t>
            </a:r>
            <a:r>
              <a:rPr sz="1238">
                <a:solidFill>
                  <a:srgbClr val="F5C33B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　◆　</a:t>
            </a:r>
            <a:r>
              <a:rPr sz="1238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安全生产培训是法定刚性项：不培训不得上岗，判定阈值必须能在标准原文里查到。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1E7C8E6-7D60-48B2-94E4-28DFA22F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33500"/>
            <a:ext cx="575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C7F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1C7F0"/>
                </a:solidFill>
                <a:latin typeface="微软雅黑"/>
                <a:ea typeface="微软雅黑"/>
                <a:cs typeface="微软雅黑"/>
              </a:rPr>
              <a:t>一、法规依据：培训是法定刚性项，且有档案要求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C16D5BA-B56D-454A-9143-0D2D7F48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38300"/>
            <a:ext cx="5753100" cy="2247900"/>
          </a:xfrm>
          <a:prstGeom xmlns:a="http://schemas.openxmlformats.org/drawingml/2006/main" prst="roundRect">
            <a:avLst>
              <a:gd name="adj" fmla="val 3814"/>
            </a:avLst>
          </a:prstGeom>
          <a:gradFill xmlns:a="http://schemas.openxmlformats.org/drawingml/2006/main">
            <a:gsLst>
              <a:gs pos="0">
                <a:srgbClr val="253D5B"/>
              </a:gs>
              <a:gs pos="62000">
                <a:srgbClr val="0A2547"/>
              </a:gs>
              <a:gs pos="100000">
                <a:srgbClr val="081D37"/>
              </a:gs>
            </a:gsLst>
            <a:lin ang="8100000"/>
          </a:gradFill>
          <a:ln xmlns:a="http://schemas.openxmlformats.org/drawingml/2006/main" w="9525">
            <a:solidFill>
              <a:srgbClr val="1B4C8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C42747C-E6D9-4ACD-A26C-77CE1FCA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38300"/>
            <a:ext cx="5753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5A23F9E-2C87-4362-87E4-B658144E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02200F8-6CC1-4B6A-B2D6-528A708F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288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《安全生产法》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779ABF6-8A72-4CE7-8BDD-91918DBB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生产经营单位应当对从业人员进行安全生产教育和培训；未经培训合格的人员，不得上岗作业，并须如实记录培训情况。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7AE00EF-1F9E-4944-A1FC-89493944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4D0875E-016D-4D6A-A831-9E68EB94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《生产经营单位安全培训规定》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7932F3F-BEC3-4CCC-B09D-8D551642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对初次安全培训与每年再培训的学时设有下限；应当建立安全培训档案，如实记录培训时间、内容与考核结果。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BAC16E0-2009-4D96-AC7A-4A563A02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B274F61-570D-48B1-80EB-DD1A4A72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04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监管检查的共同要求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A498918-2457-409A-95A1-5A78C623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培训要有记录、考核要有结果、上岗要有依据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三项都指向同一件事：能力数据必须可查。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BDD20F7-5390-4C95-8B19-F3F30C33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38600"/>
            <a:ext cx="5753100" cy="2019300"/>
          </a:xfrm>
          <a:prstGeom xmlns:a="http://schemas.openxmlformats.org/drawingml/2006/main" prst="roundRect">
            <a:avLst>
              <a:gd name="adj" fmla="val 4245"/>
            </a:avLst>
          </a:prstGeom>
          <a:gradFill xmlns:a="http://schemas.openxmlformats.org/drawingml/2006/main">
            <a:gsLst>
              <a:gs pos="0">
                <a:srgbClr val="233951"/>
              </a:gs>
              <a:gs pos="62000">
                <a:srgbClr val="08203C"/>
              </a:gs>
              <a:gs pos="100000">
                <a:srgbClr val="06192F"/>
              </a:gs>
            </a:gsLst>
            <a:lin ang="8100000"/>
          </a:gradFill>
          <a:ln xmlns:a="http://schemas.openxmlformats.org/drawingml/2006/main" w="11430">
            <a:solidFill>
              <a:srgbClr val="31C7F0">
                <a:alpha val="4500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75D77E2-066C-46B5-9652-27C84796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31C7F0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31C7F0"/>
                </a:solidFill>
                <a:latin typeface="微软雅黑"/>
                <a:ea typeface="微软雅黑"/>
                <a:cs typeface="微软雅黑"/>
              </a:rPr>
              <a:t>依据清单与检索范围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8B6749B-76F7-47E4-8B20-96BDA9F0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5391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5000"/>
              </a:lnSpc>
              <a:buNone/>
              <a:def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国家标准：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国家标准全文公开系统（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GB / GBZ / GB/T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系列）</a:t>
            </a:r>
          </a:p>
          <a:p xmlns:a="http://schemas.openxmlformats.org/drawingml/2006/main">
            <a:pPr algn="l">
              <a:lnSpc>
                <a:spcPct val="175000"/>
              </a:lnSpc>
              <a:buNone/>
              <a:def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行业标准：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电力行业标准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DL/T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系列（六氟化硫防护、预防性试验）</a:t>
            </a:r>
          </a:p>
          <a:p xmlns:a="http://schemas.openxmlformats.org/drawingml/2006/main">
            <a:pPr algn="l">
              <a:lnSpc>
                <a:spcPct val="175000"/>
              </a:lnSpc>
              <a:buNone/>
              <a:def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法规规章：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应急管理部规章与安全生产法律法规数据库</a:t>
            </a:r>
          </a:p>
          <a:p xmlns:a="http://schemas.openxmlformats.org/drawingml/2006/main">
            <a:pPr algn="l">
              <a:lnSpc>
                <a:spcPct val="175000"/>
              </a:lnSpc>
              <a:buNone/>
              <a:def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企业材料：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需求方岗位说明书、培训档案、实操报告模板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1DC91F7-178C-4B72-A0BB-B8B7456C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788" b="0">
                <a:solidFill>
                  <a:srgbClr val="F5C33B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引用时以现行有效版本为准，逐条核对条款号与数值。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FE12AF7-C21C-4087-8607-A7EE999A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33500"/>
            <a:ext cx="577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C7F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1C7F0"/>
                </a:solidFill>
                <a:latin typeface="微软雅黑"/>
                <a:ea typeface="微软雅黑"/>
                <a:cs typeface="微软雅黑"/>
              </a:rPr>
              <a:t>二、判定阈值依据：四组数字都有标准原文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E26D7BE-BAE4-434C-B9D3-B852B3D3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38300"/>
            <a:ext cx="5772150" cy="609600"/>
          </a:xfrm>
          <a:prstGeom xmlns:a="http://schemas.openxmlformats.org/drawingml/2006/main" prst="roundRect">
            <a:avLst>
              <a:gd name="adj" fmla="val 14063"/>
            </a:avLst>
          </a:prstGeom>
          <a:gradFill xmlns:a="http://schemas.openxmlformats.org/drawingml/2006/main">
            <a:gsLst>
              <a:gs pos="0">
                <a:srgbClr val="29486B"/>
              </a:gs>
              <a:gs pos="62000">
                <a:srgbClr val="0F3159"/>
              </a:gs>
              <a:gs pos="100000">
                <a:srgbClr val="0C2645"/>
              </a:gs>
            </a:gsLst>
            <a:lin ang="8100000"/>
          </a:gradFill>
          <a:ln xmlns:a="http://schemas.openxmlformats.org/drawingml/2006/main" w="9525">
            <a:solidFill>
              <a:srgbClr val="1B4C8A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469942F-AB0E-48C8-8F9A-AF81693D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38300"/>
            <a:ext cx="3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2B9816E-1564-4F9F-AC5F-54CC09FF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95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C33B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F5C33B"/>
                </a:solidFill>
                <a:latin typeface="Bahnschrift"/>
                <a:ea typeface="Bahnschrift"/>
                <a:cs typeface="Bahnschrift"/>
              </a:rPr>
              <a:t>GBZ 2.1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86FD647-F93D-480C-990A-AA5A0AE2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《工作场所有害因素职业接触限值》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73ABE81-9590-4091-A2B3-2507E1E0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954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硫化氢 </a:t>
            </a: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ppm </a:t>
            </a: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｜ 一氧化碳 </a:t>
            </a: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30 ppm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5C58BCA-737E-441E-8141-53C05529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5772150" cy="609600"/>
          </a:xfrm>
          <a:prstGeom xmlns:a="http://schemas.openxmlformats.org/drawingml/2006/main" prst="roundRect">
            <a:avLst>
              <a:gd name="adj" fmla="val 14063"/>
            </a:avLst>
          </a:prstGeom>
          <a:gradFill xmlns:a="http://schemas.openxmlformats.org/drawingml/2006/main">
            <a:gsLst>
              <a:gs pos="0">
                <a:srgbClr val="274163"/>
              </a:gs>
              <a:gs pos="62000">
                <a:srgbClr val="0C2A50"/>
              </a:gs>
              <a:gs pos="100000">
                <a:srgbClr val="09213E"/>
              </a:gs>
            </a:gsLst>
            <a:lin ang="8100000"/>
          </a:gradFill>
          <a:ln xmlns:a="http://schemas.openxmlformats.org/drawingml/2006/main" w="9525">
            <a:solidFill>
              <a:srgbClr val="1B4C8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2C082CD-BDAE-4D7B-80ED-98A2A02E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3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005AC1B-B467-405E-8E73-AB28AEA0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C33B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F5C33B"/>
                </a:solidFill>
                <a:latin typeface="Bahnschrift"/>
                <a:ea typeface="Bahnschrift"/>
                <a:cs typeface="Bahnschrift"/>
              </a:rPr>
              <a:t>GB 30871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5E594CE-5230-4DF5-853C-BDFF23BC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《危险化学品企业特殊作业安全规范》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F49FA40-8865-4290-A2C5-E2076500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003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可燃气 </a:t>
            </a: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10 %LEL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7E2A611-95B6-4FF2-B9D2-F223EED9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48000"/>
            <a:ext cx="5772150" cy="609600"/>
          </a:xfrm>
          <a:prstGeom xmlns:a="http://schemas.openxmlformats.org/drawingml/2006/main" prst="roundRect">
            <a:avLst>
              <a:gd name="adj" fmla="val 14063"/>
            </a:avLst>
          </a:prstGeom>
          <a:gradFill xmlns:a="http://schemas.openxmlformats.org/drawingml/2006/main">
            <a:gsLst>
              <a:gs pos="0">
                <a:srgbClr val="29486B"/>
              </a:gs>
              <a:gs pos="62000">
                <a:srgbClr val="0F3159"/>
              </a:gs>
              <a:gs pos="100000">
                <a:srgbClr val="0C2645"/>
              </a:gs>
            </a:gsLst>
            <a:lin ang="8100000"/>
          </a:gradFill>
          <a:ln xmlns:a="http://schemas.openxmlformats.org/drawingml/2006/main" w="9525">
            <a:solidFill>
              <a:srgbClr val="1B4C8A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006658D-0BA1-4F0C-86CC-12E86665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48000"/>
            <a:ext cx="3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ACF7CDF-1C6D-48C5-BF90-90D545B7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051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C33B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F5C33B"/>
                </a:solidFill>
                <a:latin typeface="Bahnschrift"/>
                <a:ea typeface="Bahnschrift"/>
                <a:cs typeface="Bahnschrift"/>
              </a:rPr>
              <a:t>DL/T 639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D6C4543-AC26-4B4A-8418-7B633B39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33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《六氟化硫电气设备运行、试验及检修人员安全防护细则》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ACC6D6F-FCF2-4716-BE41-64EFE3E9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051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六氟化硫 </a:t>
            </a: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1000 ppm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53BBDA2-CF21-44E4-8D40-35581D23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52850"/>
            <a:ext cx="5772150" cy="609600"/>
          </a:xfrm>
          <a:prstGeom xmlns:a="http://schemas.openxmlformats.org/drawingml/2006/main" prst="roundRect">
            <a:avLst>
              <a:gd name="adj" fmla="val 14063"/>
            </a:avLst>
          </a:prstGeom>
          <a:gradFill xmlns:a="http://schemas.openxmlformats.org/drawingml/2006/main">
            <a:gsLst>
              <a:gs pos="0">
                <a:srgbClr val="274163"/>
              </a:gs>
              <a:gs pos="62000">
                <a:srgbClr val="0C2A50"/>
              </a:gs>
              <a:gs pos="100000">
                <a:srgbClr val="09213E"/>
              </a:gs>
            </a:gsLst>
            <a:lin ang="8100000"/>
          </a:gradFill>
          <a:ln xmlns:a="http://schemas.openxmlformats.org/drawingml/2006/main" w="9525">
            <a:solidFill>
              <a:srgbClr val="1B4C8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5CD1772-B77D-44C6-9634-BC48A22B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52850"/>
            <a:ext cx="3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176847D-86D9-4224-A126-2FE95120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100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C33B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F5C33B"/>
                </a:solidFill>
                <a:latin typeface="Bahnschrift"/>
                <a:ea typeface="Bahnschrift"/>
                <a:cs typeface="Bahnschrift"/>
              </a:rPr>
              <a:t>GB/T 11022 · DL/T 596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8DE5C0C-81D7-4B45-B19A-9C8B4CC0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38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《电力设备预防性试验规程》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CF76873-FFC6-4157-A5A0-74BC3C53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100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SF6 </a:t>
            </a: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微水 </a:t>
            </a: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150 μL/L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6FE3F5B-AD6A-4973-957E-3CC19F2E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33900"/>
            <a:ext cx="5772150" cy="1524000"/>
          </a:xfrm>
          <a:prstGeom xmlns:a="http://schemas.openxmlformats.org/drawingml/2006/main" prst="roundRect">
            <a:avLst>
              <a:gd name="adj" fmla="val 5625"/>
            </a:avLst>
          </a:prstGeom>
          <a:gradFill xmlns:a="http://schemas.openxmlformats.org/drawingml/2006/main">
            <a:gsLst>
              <a:gs pos="0">
                <a:srgbClr val="233951"/>
              </a:gs>
              <a:gs pos="62000">
                <a:srgbClr val="08203C"/>
              </a:gs>
              <a:gs pos="100000">
                <a:srgbClr val="06192F"/>
              </a:gs>
            </a:gsLst>
            <a:lin ang="8100000"/>
          </a:gradFill>
          <a:ln xmlns:a="http://schemas.openxmlformats.org/drawingml/2006/main" w="11430">
            <a:solidFill>
              <a:srgbClr val="31C7F0">
                <a:alpha val="4500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F4060BB-FC6C-41B2-988A-C4913F07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31C7F0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31C7F0"/>
                </a:solidFill>
                <a:latin typeface="微软雅黑"/>
                <a:ea typeface="微软雅黑"/>
                <a:cs typeface="微软雅黑"/>
              </a:rPr>
              <a:t>口径说明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C713B34-39CB-4651-A1C9-200B06A2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53000"/>
            <a:ext cx="5429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标准阈值：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取自上述标准原文，作为系统气体字典默认值，管理员可改库调整。</a:t>
            </a:r>
          </a:p>
          <a:p xmlns:a="http://schemas.openxmlformats.org/drawingml/2006/main">
            <a:pPr algn="l">
              <a:lnSpc>
                <a:spcPct val="170000"/>
              </a:lnSpc>
              <a:buNone/>
              <a:def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成本与现状数字：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取自本项目需求调研（需求方提供口径），未做行业抽样统计。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ED24A28-BD55-443B-B3BC-91A02999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572250"/>
            <a:ext cx="11734800" cy="95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>
                  <a:alpha val="45000"/>
                </a:srgbClr>
              </a:gs>
              <a:gs pos="62000">
                <a:srgbClr val="1B4C8A">
                  <a:alpha val="30000"/>
                </a:srgbClr>
              </a:gs>
              <a:gs pos="100000">
                <a:srgbClr val="1B4C8A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BD55FA1-7074-4A93-A160-9C4BE8EC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543675"/>
            <a:ext cx="285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3663BF6-A8FD-4B47-8D20-B6EDC426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579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5339F8F-3F5D-451D-8CF1-9522FF8F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579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A178FBA-6B45-4616-8F9F-C0A8C8A2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579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BD0024B-F383-436D-AF70-8A2FFFB4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198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工业智训 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面向变电运维的可解释智能人才培养平台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8B771BD-98E1-4B7A-811F-C3D65092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619875"/>
            <a:ext cx="514350" cy="1447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5C33B">
                  <a:alpha val="0"/>
                </a:srgbClr>
              </a:gs>
              <a:gs pos="100000">
                <a:srgbClr val="F5C33B"/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B2B0096-9CE7-4741-9F30-AE35F4D0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591300"/>
            <a:ext cx="304800" cy="219075"/>
          </a:xfrm>
          <a:prstGeom xmlns:a="http://schemas.openxmlformats.org/drawingml/2006/main" prst="hexagon">
            <a:avLst/>
          </a:prstGeom>
          <a:gradFill xmlns:a="http://schemas.openxmlformats.org/drawingml/2006/main">
            <a:gsLst>
              <a:gs pos="0">
                <a:srgbClr val="1B4C8A"/>
              </a:gs>
              <a:gs pos="100000">
                <a:srgbClr val="0A2144"/>
              </a:gs>
            </a:gsLst>
            <a:lin ang="8100000"/>
          </a:gradFill>
          <a:ln xmlns:a="http://schemas.openxmlformats.org/drawingml/2006/main" w="11906">
            <a:solidFill>
              <a:srgbClr val="2A6BA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97A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900" b="1">
                <a:solidFill>
                  <a:srgbClr val="FFD97A"/>
                </a:solidFill>
                <a:latin typeface="Bahnschrift SemiBold"/>
                <a:ea typeface="Bahnschrift SemiBold"/>
                <a:cs typeface="Bahnschrift SemiBold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4298844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2A52"/>
            </a:gs>
            <a:gs pos="100000">
              <a:srgbClr val="06152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e346ac95545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E041F-ABCA-454C-8B4A-AEA00EE9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52B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DD9D9-32D3-4F28-B9F4-2A130BFF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4476750" cy="39052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1C7F0">
                  <a:alpha val="15000"/>
                </a:srgbClr>
              </a:gs>
              <a:gs pos="45000">
                <a:srgbClr val="31C7F0">
                  <a:alpha val="6000"/>
                </a:srgbClr>
              </a:gs>
              <a:gs pos="100000">
                <a:srgbClr val="31C7F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5B3B5-50E7-4261-B021-B324BC27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3429000" cy="304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E86E8">
                  <a:alpha val="12000"/>
                </a:srgbClr>
              </a:gs>
              <a:gs pos="45000">
                <a:srgbClr val="2E86E8">
                  <a:alpha val="5000"/>
                </a:srgbClr>
              </a:gs>
              <a:gs pos="100000">
                <a:srgbClr val="2E86E8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A95D8-9F98-4BAF-B1D8-BC8E9EDB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6AE88-6A1F-48B2-A348-C6CD61C7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5154C-8811-44EA-8E1B-F11BA1A1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B3D1E-6014-478D-A8EE-FAEC3F89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28573-1B9C-4BD6-8AA0-79ECAF72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E35D9-F6BD-4F20-BD63-4B88E18D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6F2B5-7A30-4CDB-A2E9-7D99A806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62FB0-5DC0-496F-A7D5-9F811CC9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927C5C-B3F1-4CAE-8DD4-78D5F9DD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8977F-4A44-4EE5-A9EC-CA7E2339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BB74A-693F-46B5-88F5-70EEB1B3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A1CF3-9560-4AD3-9BE0-8CA74002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0D8AFA-CF80-4089-9E2D-042D406C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27382B-C143-4340-8069-52CE10DB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99091F-E23D-4B33-9EC4-822E7813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DC28B5-26A3-44E6-B455-E06713D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97665F-47D0-4EDF-93C9-BF620FB2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57EE16-07A8-49BE-9C8B-35828990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234F92-FD93-417B-AD2D-9C08ABBA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A0B2B4-D08F-4355-8EE8-3358D5D9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A4DA2F-C0AF-41A9-8881-35BF2382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BD4BC8-B3DC-43E7-B96F-D948450D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6DFEF4-FF92-450A-9915-97175F3E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4D3F68-0DF2-4583-9867-8F9ED50D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87012D-2590-4C63-8BF9-9CEE1712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5CFE08-CB0C-4506-99F8-243A0650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BC6163-8268-4996-8749-728409C1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BDC367-33C4-42E1-976F-CC6E7562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ED2EF3-EB7B-49EF-9EA2-F0839962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FC5B06-F800-45D1-B03B-B1BFCB21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DA3F0B-2116-4465-B61B-1F3153D8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35F97E-FED1-44D9-9A2C-7E02A4AA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3ABAC5-399F-48C8-A668-10C145DA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895C53-7EFE-4B2F-B60E-8D023326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76D87A-F119-4710-9C40-DEEA01E8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7E9DA4-7583-4B60-B405-1CE56ECE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65C8DC-7A5B-49B7-896C-5F549AA3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29337A-DF6D-4617-B8E3-BB8B727C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5B8CF9-AC61-4E2E-BAFE-B4711005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7D2E7C-8975-4172-9C49-4C3278D5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06B5BA-1378-4B2F-BF31-1A199E08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E601A4-1B80-4A63-9E2E-849A62D0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A7154BB-1A19-45BD-86E7-DB9C5240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409700"/>
            <a:ext cx="1905000" cy="2400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>
                  <a:alpha val="0"/>
                </a:srgbClr>
              </a:gs>
              <a:gs pos="45000">
                <a:srgbClr val="31C7F0"/>
              </a:gs>
              <a:gs pos="100000">
                <a:srgbClr val="31C7F0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033D35-A072-467A-A4E5-FF4D6681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1333500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1C7F0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69642E-AD44-45EF-A0F1-A7FB00F9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6E0990-FF61-4F1A-93AE-5663951C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5F9910-87A1-4C57-B42A-D830E42C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DABF27-4C98-4FAE-AC24-D42E4C39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10EF97-F5D0-40AF-90BD-A42BFF4A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0B5A0BB-C547-43FD-AB74-29889D4D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AB7F84F-3E38-4893-9C35-C0E7F166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04621CA-BD80-400F-B1A6-4D2DC4AE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9A144E6-4B1B-45A6-BA1A-28666E6F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B89C00-6B7E-4948-8DAE-C67742AA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4244046-84AD-45B7-8A95-CC8ECE18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D1DBD2E-F57B-416D-AD59-042FB9A8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53FE246-96E3-414F-B040-4640A2C2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12039600" cy="6705600"/>
          </a:xfrm>
          <a:prstGeom xmlns:a="http://schemas.openxmlformats.org/drawingml/2006/main" prst="roundRect">
            <a:avLst>
              <a:gd name="adj" fmla="val 1989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2E6FB0">
                <a:alpha val="6000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E47EFD5-EFB3-4BB7-B2F4-6149FE1F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11925300" cy="6591300"/>
          </a:xfrm>
          <a:prstGeom xmlns:a="http://schemas.openxmlformats.org/drawingml/2006/main" prst="roundRect">
            <a:avLst>
              <a:gd name="adj" fmla="val 1445"/>
            </a:avLst>
          </a:prstGeom>
          <a:noFill xmlns:a="http://schemas.openxmlformats.org/drawingml/2006/main"/>
          <a:ln xmlns:a="http://schemas.openxmlformats.org/drawingml/2006/main" w="7144">
            <a:solidFill>
              <a:srgbClr val="1B4C8A">
                <a:alpha val="3200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2DF273F-944B-4DE4-BFB0-EF19A60D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FA6614-4883-443C-BE67-8AEE1F5B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F9AD250-13F1-40DC-840B-22A0F183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7532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A3C3A68-E7E1-4CA1-ADCB-E0584B3A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64579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D237B09-985A-4A17-8391-CCF03068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12960DD-072E-4FC5-823F-DF3E5BCD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4820710-94B7-4F41-992C-9A401FE5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71512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80B4FC5-8C81-4117-A623-3662867D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65532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A1BD65E-C506-490F-B6AC-CC654BB0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" y="339090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31657F5-8EED-49E3-BD1A-09DE12F8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3128" y="339090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1C5F9B9-68FD-44F5-8518-7CF35C48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927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0EB9C01-B9A1-4856-9E10-B5D387E9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273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823B443-6D64-4B55-926D-07DF09A8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35709F2-EC57-408B-983B-38D3A0D0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727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412F84D-509E-4A0C-BA93-B8B37D25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073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25D2799-DA74-4E3D-9277-42130D07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192F"/>
              </a:gs>
              <a:gs pos="58000">
                <a:srgbClr val="071E3A"/>
              </a:gs>
              <a:gs pos="100000">
                <a:srgbClr val="04142B"/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E8C7D5E-0597-48B8-9C15-2283F2A0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0"/>
            <a:ext cx="2819400" cy="628650"/>
          </a:xfrm>
          <a:prstGeom xmlns:a="http://schemas.openxmlformats.org/drawingml/2006/main" prst="rect">
            <a:avLst/>
          </a:prstGeom>
          <a:pattFill xmlns:a="http://schemas.openxmlformats.org/drawingml/2006/main" prst="narVert">
            <a:fgClr>
              <a:srgbClr val="2A6BAE">
                <a:alpha val="42000"/>
              </a:srgbClr>
            </a:fgClr>
            <a:bgClr>
              <a:srgbClr val="061B36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6C3E1BA-5BFE-464D-A5CE-B74EF946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286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31C7F0">
                  <a:alpha val="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490CBFD-F902-455C-B133-0E0BF4F6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5C33B"/>
              </a:gs>
              <a:gs pos="24000">
                <a:srgbClr val="F5C33B">
                  <a:alpha val="55000"/>
                </a:srgbClr>
              </a:gs>
              <a:gs pos="68000">
                <a:srgbClr val="31C7F0">
                  <a:alpha val="45000"/>
                </a:srgbClr>
              </a:gs>
              <a:gs pos="100000">
                <a:srgbClr val="31C7F0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2384BB0-9FA4-4DFA-B978-98D97793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05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广东科技学院 </a:t>
            </a:r>
            <a:r>
              <a:rPr sz="93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3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逐光造梦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FC577F1-BD18-419E-9977-F6B9FBB2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1C7F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5FFEE8C-CE54-4D04-8D31-312520FA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1C7F0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2BEF670-28AC-4C3C-937E-A2CDC4D5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9050"/>
            <a:ext cx="1028700" cy="5905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1C7F0">
                  <a:alpha val="26000"/>
                </a:srgbClr>
              </a:gs>
              <a:gs pos="45000">
                <a:srgbClr val="31C7F0">
                  <a:alpha val="10000"/>
                </a:srgbClr>
              </a:gs>
              <a:gs pos="100000">
                <a:srgbClr val="31C7F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983FD0C-0FB2-421C-A7D7-4BEB7C13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5250"/>
            <a:ext cx="628650" cy="438150"/>
          </a:xfrm>
          <a:prstGeom xmlns:a="http://schemas.openxmlformats.org/drawingml/2006/main" prst="hexagon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196478"/>
              </a:gs>
            </a:gsLst>
            <a:lin ang="8100000"/>
          </a:gradFill>
          <a:ln xmlns:a="http://schemas.openxmlformats.org/drawingml/2006/main" w="11906">
            <a:solidFill>
              <a:srgbClr val="F5C33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4203A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04203A"/>
                </a:solidFill>
                <a:latin typeface="Bahnschrift SemiBold"/>
                <a:ea typeface="Bahnschrift SemiBold"/>
                <a:cs typeface="Bahnschrift SemiBold"/>
              </a:rPr>
              <a:t>01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2024BA0-3309-4C59-B061-BE781FDF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4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spc="2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spc="2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199A0FF-1B97-4AE7-8C1B-FD7A1A45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"/>
            <a:ext cx="19050" cy="2476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31C7F0">
                  <a:alpha val="20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18017ED-1420-41FC-921A-1E6F126C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428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行业现状与转型压力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0F2E5A2-B945-4EB1-B2CF-4E236480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838200" cy="1447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31C7F0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7EE1486-9F80-4D63-A0CF-EECC83E4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9F90ACE-A7DE-4693-BEB4-53FDB319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60BE4EC-82BD-4B6D-A714-D84F75BC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FE0B441-32BE-442A-9BCA-F7A546E6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42950"/>
            <a:ext cx="11734800" cy="457200"/>
          </a:xfrm>
          <a:prstGeom xmlns:a="http://schemas.openxmlformats.org/drawingml/2006/main" prst="roundRect">
            <a:avLst>
              <a:gd name="adj" fmla="val 20833"/>
            </a:avLst>
          </a:prstGeom>
          <a:gradFill xmlns:a="http://schemas.openxmlformats.org/drawingml/2006/main">
            <a:gsLst>
              <a:gs pos="0">
                <a:srgbClr val="274569"/>
              </a:gs>
              <a:gs pos="62000">
                <a:srgbClr val="0C2E56"/>
              </a:gs>
              <a:gs pos="100000">
                <a:srgbClr val="092443"/>
              </a:gs>
            </a:gsLst>
            <a:lin ang="8100000"/>
          </a:gradFill>
          <a:ln xmlns:a="http://schemas.openxmlformats.org/drawingml/2006/main" w="12383">
            <a:solidFill>
              <a:srgbClr val="F5C33B">
                <a:alpha val="8500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1593857-37CF-405D-9A0B-5F953AA4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81050"/>
            <a:ext cx="116586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7144">
            <a:solidFill>
              <a:srgbClr val="F5C33B">
                <a:alpha val="2200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9F3457C-0483-474A-9EFD-256A99D7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19150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E21724B-584A-4315-B04D-5EADB08F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38200"/>
            <a:ext cx="247650" cy="26670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>
            <a:solidFill>
              <a:srgbClr val="F5C33B">
                <a:alpha val="6000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28148DF-C7AF-471F-87E8-370BA209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895350"/>
            <a:ext cx="114300" cy="1428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5C33B">
              <a:alpha val="3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F9ABAF3-996F-43EA-88D4-9130BB3E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009650"/>
            <a:ext cx="38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5C23BE0-13F4-4DBE-A1B5-2D11BD2D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981075"/>
            <a:ext cx="381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206DC3C-8CDC-435E-BB51-72D022EE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952500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50E2992-E8C3-4C91-A2EA-89B84AC5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923925"/>
            <a:ext cx="38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A8C0662-A08E-4C87-8923-052B2C4F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89535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25F535C-E8AE-4548-BAD5-F9272178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982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>
                <a:latin typeface="微软雅黑"/>
                <a:ea typeface="微软雅黑"/>
                <a:cs typeface="微软雅黑"/>
              </a:defRPr>
            </a:pPr>
            <a:r>
              <a:rPr sz="123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本页结论</a:t>
            </a:r>
            <a:r>
              <a:rPr sz="1238">
                <a:solidFill>
                  <a:srgbClr val="F5C33B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　◆　</a:t>
            </a:r>
            <a:r>
              <a:rPr sz="1238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变电运维正同时承压：站点变多、作业变复杂、人手变紧、用人成本变刚。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7AF5D95-A053-4287-8275-336F46B7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38300"/>
            <a:ext cx="5753100" cy="1333500"/>
          </a:xfrm>
          <a:prstGeom xmlns:a="http://schemas.openxmlformats.org/drawingml/2006/main" prst="roundRect">
            <a:avLst>
              <a:gd name="adj" fmla="val 6429"/>
            </a:avLst>
          </a:prstGeom>
          <a:gradFill xmlns:a="http://schemas.openxmlformats.org/drawingml/2006/main">
            <a:gsLst>
              <a:gs pos="0">
                <a:srgbClr val="29486B"/>
              </a:gs>
              <a:gs pos="62000">
                <a:srgbClr val="0F3159"/>
              </a:gs>
              <a:gs pos="100000">
                <a:srgbClr val="0C2645"/>
              </a:gs>
            </a:gsLst>
            <a:lin ang="8100000"/>
          </a:gradFill>
          <a:ln xmlns:a="http://schemas.openxmlformats.org/drawingml/2006/main" w="9525">
            <a:solidFill>
              <a:srgbClr val="1B4C8A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23A482A-51B1-4697-9478-C103A923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38300"/>
            <a:ext cx="5753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D35C931-4577-4056-A836-79272E38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38300"/>
            <a:ext cx="381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8DC0BFF-248A-4842-8259-3F50D391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907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C7F0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31C7F0"/>
                </a:solidFill>
                <a:latin typeface="Bahnschrift"/>
                <a:ea typeface="Bahnschrift"/>
                <a:cs typeface="Bahnschrift"/>
              </a:rPr>
              <a:t>+30%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F56952A-BE0E-4FC4-832F-FBFAB3A1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09800"/>
            <a:ext cx="537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站点增加，工作量同步上涨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2FE31CF-E1D7-47B6-B907-9FF75722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76500"/>
            <a:ext cx="537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需求方经营口径：明年新增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2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座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110kV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变电站，运维工作量预计增长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30%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，而人员编制不增。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09F818D-E597-419A-A326-9FA4EED4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90700"/>
            <a:ext cx="361950" cy="3238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>
            <a:solidFill>
              <a:srgbClr val="31C7F0">
                <a:alpha val="5500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55A277B-B551-4470-BF1D-03D6D3CD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38300"/>
            <a:ext cx="5753100" cy="1333500"/>
          </a:xfrm>
          <a:prstGeom xmlns:a="http://schemas.openxmlformats.org/drawingml/2006/main" prst="roundRect">
            <a:avLst>
              <a:gd name="adj" fmla="val 6429"/>
            </a:avLst>
          </a:prstGeom>
          <a:gradFill xmlns:a="http://schemas.openxmlformats.org/drawingml/2006/main">
            <a:gsLst>
              <a:gs pos="0">
                <a:srgbClr val="274163"/>
              </a:gs>
              <a:gs pos="62000">
                <a:srgbClr val="0C2A50"/>
              </a:gs>
              <a:gs pos="100000">
                <a:srgbClr val="09213E"/>
              </a:gs>
            </a:gsLst>
            <a:lin ang="8100000"/>
          </a:gradFill>
          <a:ln xmlns:a="http://schemas.openxmlformats.org/drawingml/2006/main" w="9525">
            <a:solidFill>
              <a:srgbClr val="1B4C8A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ACE0A26-A3FC-4A87-A481-EBAD3A57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38300"/>
            <a:ext cx="5753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D4AAA5C-A58C-4338-9910-E7B83606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38300"/>
            <a:ext cx="381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68395A2-50B8-4AF9-BE46-9CABED8E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C33B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5C33B"/>
                </a:solidFill>
                <a:latin typeface="Bahnschrift"/>
                <a:ea typeface="Bahnschrift"/>
                <a:cs typeface="Bahnschrift"/>
              </a:rPr>
              <a:t>12 / 8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00EB246-1FBC-4807-B6AE-D32DC707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537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关键岗位需求大于现有，备份不足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8A727F6-B551-4FFC-B1F9-E8A59304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537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继电保护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L3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以上需求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12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人、现有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8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人；高压试验需求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6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人、现有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3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人。关键岗位一人请假即出现能力断点。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398C460-369B-47FC-9B50-1B4A30E5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790700"/>
            <a:ext cx="361950" cy="3238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>
            <a:solidFill>
              <a:srgbClr val="F5C33B">
                <a:alpha val="5500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418DBC3-1F42-4855-BB38-4E98CC1F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86100"/>
            <a:ext cx="5753100" cy="1333500"/>
          </a:xfrm>
          <a:prstGeom xmlns:a="http://schemas.openxmlformats.org/drawingml/2006/main" prst="roundRect">
            <a:avLst>
              <a:gd name="adj" fmla="val 6429"/>
            </a:avLst>
          </a:prstGeom>
          <a:gradFill xmlns:a="http://schemas.openxmlformats.org/drawingml/2006/main">
            <a:gsLst>
              <a:gs pos="0">
                <a:srgbClr val="29486B"/>
              </a:gs>
              <a:gs pos="62000">
                <a:srgbClr val="0F3159"/>
              </a:gs>
              <a:gs pos="100000">
                <a:srgbClr val="0C2645"/>
              </a:gs>
            </a:gsLst>
            <a:lin ang="8100000"/>
          </a:gradFill>
          <a:ln xmlns:a="http://schemas.openxmlformats.org/drawingml/2006/main" w="9525">
            <a:solidFill>
              <a:srgbClr val="1B4C8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3253D23-5E9F-4AA7-A4EA-42D61855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86100"/>
            <a:ext cx="5753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05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AE91C46-13C0-4A2B-9D95-D677B012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86100"/>
            <a:ext cx="381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05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392FDA7-0C49-4DE5-B2F2-01C017C2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705E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2705E"/>
                </a:solidFill>
                <a:latin typeface="Bahnschrift"/>
                <a:ea typeface="Bahnschrift"/>
                <a:cs typeface="Bahnschrift"/>
              </a:rPr>
              <a:t>2 · 8 · 1.5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D44D354-5F9F-46DA-96B5-E9E96551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57600"/>
            <a:ext cx="537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用人成本刚性，招人比培养贵得多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8345CE9-3956-497A-A182-9FAAB615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24300"/>
            <a:ext cx="537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内部转岗培训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≈ 2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万元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人，外部招聘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≈ 8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万元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人，外委服务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≈ 1.5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万元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月；本案例年度用人成本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1,006,000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元。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D7968E1-5B7D-488A-BD2C-F58DDA5C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38500"/>
            <a:ext cx="361950" cy="3238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>
            <a:solidFill>
              <a:srgbClr val="F2705E">
                <a:alpha val="5500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F7EBA0E-2365-493B-89EE-3C886153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86100"/>
            <a:ext cx="5753100" cy="1333500"/>
          </a:xfrm>
          <a:prstGeom xmlns:a="http://schemas.openxmlformats.org/drawingml/2006/main" prst="roundRect">
            <a:avLst>
              <a:gd name="adj" fmla="val 6429"/>
            </a:avLst>
          </a:prstGeom>
          <a:gradFill xmlns:a="http://schemas.openxmlformats.org/drawingml/2006/main">
            <a:gsLst>
              <a:gs pos="0">
                <a:srgbClr val="29486B"/>
              </a:gs>
              <a:gs pos="62000">
                <a:srgbClr val="0F3159"/>
              </a:gs>
              <a:gs pos="100000">
                <a:srgbClr val="0C2645"/>
              </a:gs>
            </a:gsLst>
            <a:lin ang="8100000"/>
          </a:gradFill>
          <a:ln xmlns:a="http://schemas.openxmlformats.org/drawingml/2006/main" w="9525">
            <a:solidFill>
              <a:srgbClr val="1B4C8A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C99E43A-51C7-4910-9EA0-E33B265E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86100"/>
            <a:ext cx="5753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D3B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63573DD-AAE3-4377-A49F-7846F650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86100"/>
            <a:ext cx="381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D3B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FE938C1-89D7-4C9D-AE9E-93741186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38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D3B6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2AD3B6"/>
                </a:solidFill>
                <a:latin typeface="Bahnschrift"/>
                <a:ea typeface="Bahnschrift"/>
                <a:cs typeface="Bahnschrift"/>
              </a:rPr>
              <a:t>86 / 9 / 5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9DCC752-4155-4FFD-88D9-443D125A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57600"/>
            <a:ext cx="537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技能面广，一人多岗成为常态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0D5FA5B-2DDB-41D2-80E8-A707B739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24300"/>
            <a:ext cx="537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86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名运检人员、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9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个班组，覆盖继保、倒闸、高压试验、故障录波、安全规程五类核心技能，能力底数难掌握。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8D3B153-2D05-4C88-8E6D-65A17C4C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238500"/>
            <a:ext cx="361950" cy="3238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>
            <a:solidFill>
              <a:srgbClr val="2AD3B6">
                <a:alpha val="5500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618BD73-CAAC-4470-A651-26830AD3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291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31C7F0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31C7F0"/>
                </a:solidFill>
                <a:latin typeface="微软雅黑"/>
                <a:ea typeface="微软雅黑"/>
                <a:cs typeface="微软雅黑"/>
              </a:rPr>
              <a:t>四条压力线同时收紧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541635E-7E38-4A18-AF99-C825B5D6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14900"/>
            <a:ext cx="2781300" cy="419100"/>
          </a:xfrm>
          <a:prstGeom xmlns:a="http://schemas.openxmlformats.org/drawingml/2006/main" prst="roundRect">
            <a:avLst>
              <a:gd name="adj" fmla="val 22727"/>
            </a:avLst>
          </a:prstGeom>
          <a:gradFill xmlns:a="http://schemas.openxmlformats.org/drawingml/2006/main">
            <a:gsLst>
              <a:gs pos="0">
                <a:srgbClr val="253D5B"/>
              </a:gs>
              <a:gs pos="62000">
                <a:srgbClr val="0A2547"/>
              </a:gs>
              <a:gs pos="100000">
                <a:srgbClr val="081D37"/>
              </a:gs>
            </a:gsLst>
            <a:lin ang="8100000"/>
          </a:gradFill>
          <a:ln xmlns:a="http://schemas.openxmlformats.org/drawingml/2006/main" w="9525">
            <a:solidFill>
              <a:srgbClr val="31C7F0">
                <a:alpha val="4500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EA80B43-4085-4533-BB26-3DF545F8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2920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1C7F0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98416FE-4C20-4733-B084-B36868F7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站点增加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420FF46-7CD5-46EE-A1DD-52FD3AFB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14900"/>
            <a:ext cx="2781300" cy="419100"/>
          </a:xfrm>
          <a:prstGeom xmlns:a="http://schemas.openxmlformats.org/drawingml/2006/main" prst="roundRect">
            <a:avLst>
              <a:gd name="adj" fmla="val 22727"/>
            </a:avLst>
          </a:prstGeom>
          <a:gradFill xmlns:a="http://schemas.openxmlformats.org/drawingml/2006/main">
            <a:gsLst>
              <a:gs pos="0">
                <a:srgbClr val="253D5B"/>
              </a:gs>
              <a:gs pos="62000">
                <a:srgbClr val="0A2547"/>
              </a:gs>
              <a:gs pos="100000">
                <a:srgbClr val="081D37"/>
              </a:gs>
            </a:gsLst>
            <a:lin ang="8100000"/>
          </a:gradFill>
          <a:ln xmlns:a="http://schemas.openxmlformats.org/drawingml/2006/main" w="9525">
            <a:solidFill>
              <a:srgbClr val="31C7F0">
                <a:alpha val="4500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DF6DFCE-C3EE-4038-9DA5-0D391643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2920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1C7F0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E7561B3-15A4-459B-809F-3B8BE775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14900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作业复杂度上升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6E4A48E-2739-4A28-A075-94634335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14900"/>
            <a:ext cx="2781300" cy="419100"/>
          </a:xfrm>
          <a:prstGeom xmlns:a="http://schemas.openxmlformats.org/drawingml/2006/main" prst="roundRect">
            <a:avLst>
              <a:gd name="adj" fmla="val 22727"/>
            </a:avLst>
          </a:prstGeom>
          <a:gradFill xmlns:a="http://schemas.openxmlformats.org/drawingml/2006/main">
            <a:gsLst>
              <a:gs pos="0">
                <a:srgbClr val="253D5B"/>
              </a:gs>
              <a:gs pos="62000">
                <a:srgbClr val="0A2547"/>
              </a:gs>
              <a:gs pos="100000">
                <a:srgbClr val="081D37"/>
              </a:gs>
            </a:gsLst>
            <a:lin ang="8100000"/>
          </a:gradFill>
          <a:ln xmlns:a="http://schemas.openxmlformats.org/drawingml/2006/main" w="9525">
            <a:solidFill>
              <a:srgbClr val="31C7F0">
                <a:alpha val="4500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13CBE92-A60B-492D-8A1B-7CDA87E9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2920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1C7F0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87947D3-D0FA-4573-AEFD-97856FAC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14900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人员备份不足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A972FBD-12B1-4C69-82B4-5CA692EC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14900"/>
            <a:ext cx="2781300" cy="419100"/>
          </a:xfrm>
          <a:prstGeom xmlns:a="http://schemas.openxmlformats.org/drawingml/2006/main" prst="roundRect">
            <a:avLst>
              <a:gd name="adj" fmla="val 22727"/>
            </a:avLst>
          </a:prstGeom>
          <a:gradFill xmlns:a="http://schemas.openxmlformats.org/drawingml/2006/main">
            <a:gsLst>
              <a:gs pos="0">
                <a:srgbClr val="253D5B"/>
              </a:gs>
              <a:gs pos="62000">
                <a:srgbClr val="0A2547"/>
              </a:gs>
              <a:gs pos="100000">
                <a:srgbClr val="081D37"/>
              </a:gs>
            </a:gsLst>
            <a:lin ang="8100000"/>
          </a:gradFill>
          <a:ln xmlns:a="http://schemas.openxmlformats.org/drawingml/2006/main" w="9525">
            <a:solidFill>
              <a:srgbClr val="31C7F0">
                <a:alpha val="4500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BE5DFAE-477A-45D6-8E2E-A181165D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02920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1C7F0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A386B52-5FE0-4E16-B9E9-5A4FC945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14900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用人成本刚性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4B9DCF3-E3BC-4D3A-B2EF-A21EC84D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05450"/>
            <a:ext cx="11639550" cy="552450"/>
          </a:xfrm>
          <a:prstGeom xmlns:a="http://schemas.openxmlformats.org/drawingml/2006/main" prst="roundRect">
            <a:avLst>
              <a:gd name="adj" fmla="val 15517"/>
            </a:avLst>
          </a:prstGeom>
          <a:gradFill xmlns:a="http://schemas.openxmlformats.org/drawingml/2006/main">
            <a:gsLst>
              <a:gs pos="0">
                <a:srgbClr val="233951"/>
              </a:gs>
              <a:gs pos="62000">
                <a:srgbClr val="08203C"/>
              </a:gs>
              <a:gs pos="100000">
                <a:srgbClr val="06192F"/>
              </a:gs>
            </a:gsLst>
            <a:lin ang="8100000"/>
          </a:gradFill>
          <a:ln xmlns:a="http://schemas.openxmlformats.org/drawingml/2006/main" w="10478">
            <a:solidFill>
              <a:srgbClr val="F5C33B">
                <a:alpha val="5500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A78048F-72A8-41AC-BFD0-2BEE3658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62600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6A67823-FC61-43D8-88A9-63D00F34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39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5C33B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数据来源　本项目需求调研（需求方提供的经营与岗位口径），可与需求方核对复算。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F3C9CF1-F2AA-465E-998D-3BC1AA82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139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待补　公开行业报告数据（建议来源：中电联《中国电力行业年度发展报告》、国家能源局全国电力工业统计数据、应急管理部有限空间作业事故通报）。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7A4CA8E-B2F7-470F-B5D0-A4E1EEA7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572250"/>
            <a:ext cx="11734800" cy="95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>
                  <a:alpha val="45000"/>
                </a:srgbClr>
              </a:gs>
              <a:gs pos="62000">
                <a:srgbClr val="1B4C8A">
                  <a:alpha val="30000"/>
                </a:srgbClr>
              </a:gs>
              <a:gs pos="100000">
                <a:srgbClr val="1B4C8A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6E84E53-A503-44EF-AE9E-41965D0D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543675"/>
            <a:ext cx="285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CAB478B-9C5D-4822-B4DB-13C43B68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579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94666C6-9D96-455B-8C2E-5D589DC1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579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8CCDCEE-BF68-4703-A9B9-A9B84E5D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579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D7D9E47-D7BF-4F60-8944-E8C6153E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198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工业智训 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面向变电运维的可解释智能人才培养平台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C1F9419B-E82D-4DAC-A3BF-3AB4F62D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619875"/>
            <a:ext cx="514350" cy="1447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5C33B">
                  <a:alpha val="0"/>
                </a:srgbClr>
              </a:gs>
              <a:gs pos="100000">
                <a:srgbClr val="F5C33B"/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85C8FA6-BBCC-40BE-9A4C-DF82E053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591300"/>
            <a:ext cx="304800" cy="219075"/>
          </a:xfrm>
          <a:prstGeom xmlns:a="http://schemas.openxmlformats.org/drawingml/2006/main" prst="hexagon">
            <a:avLst/>
          </a:prstGeom>
          <a:gradFill xmlns:a="http://schemas.openxmlformats.org/drawingml/2006/main">
            <a:gsLst>
              <a:gs pos="0">
                <a:srgbClr val="1B4C8A"/>
              </a:gs>
              <a:gs pos="100000">
                <a:srgbClr val="0A2144"/>
              </a:gs>
            </a:gsLst>
            <a:lin ang="8100000"/>
          </a:gradFill>
          <a:ln xmlns:a="http://schemas.openxmlformats.org/drawingml/2006/main" w="11906">
            <a:solidFill>
              <a:srgbClr val="2A6BA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97A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900" b="1">
                <a:solidFill>
                  <a:srgbClr val="FFD97A"/>
                </a:solidFill>
                <a:latin typeface="Bahnschrift SemiBold"/>
                <a:ea typeface="Bahnschrift SemiBold"/>
                <a:cs typeface="Bahnschrift SemiBold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90202666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2A52"/>
            </a:gs>
            <a:gs pos="100000">
              <a:srgbClr val="06152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86f0773a243b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962E7-EC7F-41F7-B44A-A990C257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52B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4616E-B3F8-4741-BDF4-051A68F9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4476750" cy="39052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1C7F0">
                  <a:alpha val="15000"/>
                </a:srgbClr>
              </a:gs>
              <a:gs pos="45000">
                <a:srgbClr val="31C7F0">
                  <a:alpha val="6000"/>
                </a:srgbClr>
              </a:gs>
              <a:gs pos="100000">
                <a:srgbClr val="31C7F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1BD84-CD38-4F76-A793-0A9E9C36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3429000" cy="304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E86E8">
                  <a:alpha val="12000"/>
                </a:srgbClr>
              </a:gs>
              <a:gs pos="45000">
                <a:srgbClr val="2E86E8">
                  <a:alpha val="5000"/>
                </a:srgbClr>
              </a:gs>
              <a:gs pos="100000">
                <a:srgbClr val="2E86E8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88835-7ADC-4A22-A662-7C580E18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914400"/>
            <a:ext cx="1962150" cy="838200"/>
          </a:xfrm>
          <a:prstGeom xmlns:a="http://schemas.openxmlformats.org/drawingml/2006/main" prst="rect">
            <a:avLst/>
          </a:prstGeom>
          <a:pattFill xmlns:a="http://schemas.openxmlformats.org/drawingml/2006/main" prst="dotGrid">
            <a:fgClr>
              <a:srgbClr val="2A6BAE">
                <a:alpha val="50000"/>
              </a:srgbClr>
            </a:fgClr>
            <a:bgClr>
              <a:srgbClr val="0A2144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D70F3-4EE5-4F97-B386-A686D191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914400"/>
            <a:ext cx="1962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B549B-1050-4BE8-8147-CD3BD2E2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91440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EBD0B-A0A0-4F6B-B950-96DA710C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CADBD-9180-4062-9039-27E12525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45C54-A982-4D55-B0DE-67741170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09A41-29E5-4E0E-B798-400D7642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76346-25F2-4595-B84A-E48FBC28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A8CDB-99F7-42EF-85A4-923DF178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AE3303-77E5-4A64-AF08-758F165F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A7352-EB1B-49C1-AD64-C6223BE9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55494-EA07-4DED-83C6-AD191BC7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BAC36-7386-4705-8B19-A53AD8FB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B059B1-4398-4752-A6AA-A6EB9C7D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4DDC1-246D-44FE-B3E4-FF30553F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34C568-9CC2-4895-8709-1A6F2537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12039600" cy="6705600"/>
          </a:xfrm>
          <a:prstGeom xmlns:a="http://schemas.openxmlformats.org/drawingml/2006/main" prst="roundRect">
            <a:avLst>
              <a:gd name="adj" fmla="val 1989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2E6FB0">
                <a:alpha val="6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DF99E0-617F-43C4-87BF-501EDE58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11925300" cy="6591300"/>
          </a:xfrm>
          <a:prstGeom xmlns:a="http://schemas.openxmlformats.org/drawingml/2006/main" prst="roundRect">
            <a:avLst>
              <a:gd name="adj" fmla="val 1445"/>
            </a:avLst>
          </a:prstGeom>
          <a:noFill xmlns:a="http://schemas.openxmlformats.org/drawingml/2006/main"/>
          <a:ln xmlns:a="http://schemas.openxmlformats.org/drawingml/2006/main" w="7144">
            <a:solidFill>
              <a:srgbClr val="1B4C8A">
                <a:alpha val="32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98F44F-6986-40F8-B821-BFDB77A8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F3B9A8-2750-4381-AE65-6A06CC07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B062F0-076E-4778-9CCD-CB8C9EE8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7532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4BE1B8-F03B-430C-820A-1FB0F7C5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64579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E76B41-5F60-42AC-BEDE-2E3AD7E6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92F85E-42E3-4A96-91A1-BB5E0D7B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98D422-F539-46E6-92A3-30FE1E02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71512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AABADB-CE4E-436C-AFE3-87CCAFAA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65532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F540C4-5F38-433D-8EF2-ACFEA857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" y="339090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0D04AB-2970-40C5-97B1-1997AFEA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3128" y="339090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65FE8C-D58B-41CF-ABED-EA5A6D3E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927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4421A6-B03F-461F-BC5D-971536E2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273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49EBD8-E10B-4AF6-933A-411F4952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6CE1B9-C63B-48C8-BF7E-4F3E3F9C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727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AA1699-745F-4B4A-88D9-3384912B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073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EFAA5E-1EFC-43CE-9365-ADFF96D3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192F"/>
              </a:gs>
              <a:gs pos="58000">
                <a:srgbClr val="071E3A"/>
              </a:gs>
              <a:gs pos="100000">
                <a:srgbClr val="04142B"/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A2DADF-C598-44E1-988A-3E22925F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0"/>
            <a:ext cx="2819400" cy="628650"/>
          </a:xfrm>
          <a:prstGeom xmlns:a="http://schemas.openxmlformats.org/drawingml/2006/main" prst="rect">
            <a:avLst/>
          </a:prstGeom>
          <a:pattFill xmlns:a="http://schemas.openxmlformats.org/drawingml/2006/main" prst="narVert">
            <a:fgClr>
              <a:srgbClr val="2A6BAE">
                <a:alpha val="42000"/>
              </a:srgbClr>
            </a:fgClr>
            <a:bgClr>
              <a:srgbClr val="061B36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013526-4855-44AC-A362-E4ECB30E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286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31C7F0">
                  <a:alpha val="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9AE712-78CC-4401-9CF0-C4526F04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5C33B"/>
              </a:gs>
              <a:gs pos="24000">
                <a:srgbClr val="F5C33B">
                  <a:alpha val="55000"/>
                </a:srgbClr>
              </a:gs>
              <a:gs pos="68000">
                <a:srgbClr val="31C7F0">
                  <a:alpha val="45000"/>
                </a:srgbClr>
              </a:gs>
              <a:gs pos="100000">
                <a:srgbClr val="31C7F0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B1C055-A058-4F6A-A818-CADE34E1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05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广东科技学院 </a:t>
            </a:r>
            <a:r>
              <a:rPr sz="93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3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逐光造梦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205DDA-6B69-4A44-9253-050CF246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1C7F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E49B08-C90A-4C5C-918B-2D49CC44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1C7F0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6A6B25-C780-4948-B43C-D5E77FDA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9050"/>
            <a:ext cx="1028700" cy="5905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1C7F0">
                  <a:alpha val="26000"/>
                </a:srgbClr>
              </a:gs>
              <a:gs pos="45000">
                <a:srgbClr val="31C7F0">
                  <a:alpha val="10000"/>
                </a:srgbClr>
              </a:gs>
              <a:gs pos="100000">
                <a:srgbClr val="31C7F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91B437-A420-46EC-A65F-27C8157C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5250"/>
            <a:ext cx="628650" cy="438150"/>
          </a:xfrm>
          <a:prstGeom xmlns:a="http://schemas.openxmlformats.org/drawingml/2006/main" prst="hexagon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196478"/>
              </a:gs>
            </a:gsLst>
            <a:lin ang="8100000"/>
          </a:gradFill>
          <a:ln xmlns:a="http://schemas.openxmlformats.org/drawingml/2006/main" w="11906">
            <a:solidFill>
              <a:srgbClr val="F5C33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4203A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04203A"/>
                </a:solidFill>
                <a:latin typeface="Bahnschrift SemiBold"/>
                <a:ea typeface="Bahnschrift SemiBold"/>
                <a:cs typeface="Bahnschrift SemiBold"/>
              </a:rPr>
              <a:t>01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639865-127A-4D57-A8BA-2AA28E2A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4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spc="2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spc="2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E56EA3-EA7D-4CA1-9301-F47E5F37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"/>
            <a:ext cx="19050" cy="2476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31C7F0">
                  <a:alpha val="20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9C067A-9299-40A8-B1E1-EDFA6831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428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三条高精度痛点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366FAD-0D6E-4196-8C2A-6FA9F013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838200" cy="1447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31C7F0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BA748F-CE3A-4FB4-A8F2-032DBC3C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9853D4-D5A5-4A7A-B85E-76444F90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5AF918-8755-465D-8257-3F4CF9BE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F21D595-21C9-4C56-84E2-E8347552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42950"/>
            <a:ext cx="11734800" cy="457200"/>
          </a:xfrm>
          <a:prstGeom xmlns:a="http://schemas.openxmlformats.org/drawingml/2006/main" prst="roundRect">
            <a:avLst>
              <a:gd name="adj" fmla="val 20833"/>
            </a:avLst>
          </a:prstGeom>
          <a:gradFill xmlns:a="http://schemas.openxmlformats.org/drawingml/2006/main">
            <a:gsLst>
              <a:gs pos="0">
                <a:srgbClr val="274569"/>
              </a:gs>
              <a:gs pos="62000">
                <a:srgbClr val="0C2E56"/>
              </a:gs>
              <a:gs pos="100000">
                <a:srgbClr val="092443"/>
              </a:gs>
            </a:gsLst>
            <a:lin ang="8100000"/>
          </a:gradFill>
          <a:ln xmlns:a="http://schemas.openxmlformats.org/drawingml/2006/main" w="12383">
            <a:solidFill>
              <a:srgbClr val="F5C33B">
                <a:alpha val="85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6E020AE-107D-4E76-B25D-5830C1D9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81050"/>
            <a:ext cx="116586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7144">
            <a:solidFill>
              <a:srgbClr val="F5C33B">
                <a:alpha val="22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08D60C-ADAF-4F37-BCCB-245255D5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19150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EE9210-A226-4A06-A642-F3389F6E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38200"/>
            <a:ext cx="247650" cy="26670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>
            <a:solidFill>
              <a:srgbClr val="F5C33B">
                <a:alpha val="6000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4BEF7D0-3CD6-43A9-8059-EE8BECBD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895350"/>
            <a:ext cx="114300" cy="1428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5C33B">
              <a:alpha val="3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13D444D-3D8C-4941-9B7E-D0DEF604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009650"/>
            <a:ext cx="38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3E97278-7587-4522-81F4-9C449194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981075"/>
            <a:ext cx="381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621C9EE-8E44-43E9-999C-5D966325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952500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ECE6742-6815-47D2-87DB-16CDECB7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923925"/>
            <a:ext cx="38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5E683A6-4023-40B6-BB55-C2D559F8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89535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ED935CA-B6DF-4066-8BBC-6C72D476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982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>
                <a:latin typeface="微软雅黑"/>
                <a:ea typeface="微软雅黑"/>
                <a:cs typeface="微软雅黑"/>
              </a:defRPr>
            </a:pPr>
            <a:r>
              <a:rPr sz="123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本页结论</a:t>
            </a:r>
            <a:r>
              <a:rPr sz="1238">
                <a:solidFill>
                  <a:srgbClr val="F5C33B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　◆　</a:t>
            </a:r>
            <a:r>
              <a:rPr sz="1238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痛点不是「没有系统」，而是三条价值缺口：能力看不清、结论不可信、过程不可审。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FDD1357-1F9C-4162-948D-E541E9E0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38300"/>
            <a:ext cx="3771900" cy="4419600"/>
          </a:xfrm>
          <a:prstGeom xmlns:a="http://schemas.openxmlformats.org/drawingml/2006/main" prst="roundRect">
            <a:avLst>
              <a:gd name="adj" fmla="val 3030"/>
            </a:avLst>
          </a:prstGeom>
          <a:gradFill xmlns:a="http://schemas.openxmlformats.org/drawingml/2006/main">
            <a:gsLst>
              <a:gs pos="0">
                <a:srgbClr val="264265"/>
              </a:gs>
              <a:gs pos="62000">
                <a:srgbClr val="0B2B52"/>
              </a:gs>
              <a:gs pos="100000">
                <a:srgbClr val="092240"/>
              </a:gs>
            </a:gsLst>
            <a:lin ang="8100000"/>
          </a:gradFill>
          <a:ln xmlns:a="http://schemas.openxmlformats.org/drawingml/2006/main" w="9525">
            <a:solidFill>
              <a:srgbClr val="1B4C8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A67C4DA-2B69-4420-AF85-129DC2D8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38300"/>
            <a:ext cx="3771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F4D163C-C2A2-40A8-AEE7-C1B81220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47850"/>
            <a:ext cx="400050" cy="3619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>
            <a:solidFill>
              <a:srgbClr val="31C7F0">
                <a:alpha val="6000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3C8A1D4-4C2C-4655-8ECE-964CF197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31C7F0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1">
                <a:solidFill>
                  <a:srgbClr val="31C7F0"/>
                </a:solidFill>
                <a:latin typeface="微软雅黑"/>
                <a:ea typeface="微软雅黑"/>
                <a:cs typeface="微软雅黑"/>
              </a:rPr>
              <a:t>痛点一 </a:t>
            </a:r>
            <a:r>
              <a:rPr sz="1238" b="1">
                <a:solidFill>
                  <a:srgbClr val="31C7F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238" b="1">
                <a:solidFill>
                  <a:srgbClr val="31C7F0"/>
                </a:solidFill>
                <a:latin typeface="微软雅黑"/>
                <a:ea typeface="微软雅黑"/>
                <a:cs typeface="微软雅黑"/>
              </a:rPr>
              <a:t>能力看不清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853EBCE-7532-487C-AA9C-8E1093B6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331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38" b="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能力数据孤岛，培训投入难量化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CC43448-A653-41AC-A4C7-209B8792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C8A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ECFBF7C-30F5-4910-BE10-E1697BA0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19400"/>
            <a:ext cx="3390900" cy="914400"/>
          </a:xfrm>
          <a:prstGeom xmlns:a="http://schemas.openxmlformats.org/drawingml/2006/main" prst="roundRect">
            <a:avLst>
              <a:gd name="adj" fmla="val 8333"/>
            </a:avLst>
          </a:prstGeom>
          <a:gradFill xmlns:a="http://schemas.openxmlformats.org/drawingml/2006/main">
            <a:gsLst>
              <a:gs pos="0">
                <a:srgbClr val="233951"/>
              </a:gs>
              <a:gs pos="62000">
                <a:srgbClr val="08203C"/>
              </a:gs>
              <a:gs pos="100000">
                <a:srgbClr val="06192F"/>
              </a:gs>
            </a:gsLst>
            <a:lin ang="8100000"/>
          </a:gradFill>
          <a:ln xmlns:a="http://schemas.openxmlformats.org/drawingml/2006/main" w="9525">
            <a:solidFill>
              <a:srgbClr val="1B4C8A">
                <a:alpha val="6000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DC6BF75-EDD3-4BD1-B7F2-06A1634A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19400"/>
            <a:ext cx="285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05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05BBAF5-1E29-4905-8B3C-0ACE4FBE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705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2705E"/>
                </a:solidFill>
                <a:latin typeface="微软雅黑"/>
                <a:ea typeface="微软雅黑"/>
                <a:cs typeface="微软雅黑"/>
              </a:rPr>
              <a:t>业务损失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56218D8-7001-41F4-ABBA-E92C19EB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培训年年做，却说不清「谁补上了什么能力」，投入与产出无法对应。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3521B86-5006-403A-B566-18798334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48100"/>
            <a:ext cx="3390900" cy="914400"/>
          </a:xfrm>
          <a:prstGeom xmlns:a="http://schemas.openxmlformats.org/drawingml/2006/main" prst="roundRect">
            <a:avLst>
              <a:gd name="adj" fmla="val 8333"/>
            </a:avLst>
          </a:prstGeom>
          <a:gradFill xmlns:a="http://schemas.openxmlformats.org/drawingml/2006/main">
            <a:gsLst>
              <a:gs pos="0">
                <a:srgbClr val="233951"/>
              </a:gs>
              <a:gs pos="62000">
                <a:srgbClr val="08203C"/>
              </a:gs>
              <a:gs pos="100000">
                <a:srgbClr val="06192F"/>
              </a:gs>
            </a:gsLst>
            <a:lin ang="8100000"/>
          </a:gradFill>
          <a:ln xmlns:a="http://schemas.openxmlformats.org/drawingml/2006/main" w="9525">
            <a:solidFill>
              <a:srgbClr val="1B4C8A">
                <a:alpha val="6000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14F431C-BFD4-435C-85C8-63620218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48100"/>
            <a:ext cx="285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2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146225C-A616-47B7-B36B-971E4687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A23B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0A23B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A72F4DA-8343-4AC5-B76A-E2094FA2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排课靠印象、用人靠点名，关键岗位是否有备份无人能答。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63E3B03-7A6D-423E-A92E-8E73CA88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76800"/>
            <a:ext cx="3390900" cy="914400"/>
          </a:xfrm>
          <a:prstGeom xmlns:a="http://schemas.openxmlformats.org/drawingml/2006/main" prst="roundRect">
            <a:avLst>
              <a:gd name="adj" fmla="val 8333"/>
            </a:avLst>
          </a:prstGeom>
          <a:gradFill xmlns:a="http://schemas.openxmlformats.org/drawingml/2006/main">
            <a:gsLst>
              <a:gs pos="0">
                <a:srgbClr val="233951"/>
              </a:gs>
              <a:gs pos="62000">
                <a:srgbClr val="08203C"/>
              </a:gs>
              <a:gs pos="100000">
                <a:srgbClr val="06192F"/>
              </a:gs>
            </a:gsLst>
            <a:lin ang="8100000"/>
          </a:gradFill>
          <a:ln xmlns:a="http://schemas.openxmlformats.org/drawingml/2006/main" w="9525">
            <a:solidFill>
              <a:srgbClr val="1B4C8A">
                <a:alpha val="6000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0F77040-82F2-4558-935A-C38DAA78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76800"/>
            <a:ext cx="285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D08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81AB457-D2C1-4C78-8F63-14A1340E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D0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3FD08A"/>
                </a:solidFill>
                <a:latin typeface="微软雅黑"/>
                <a:ea typeface="微软雅黑"/>
                <a:cs typeface="微软雅黑"/>
              </a:rPr>
              <a:t>智能化机会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2C1936E-8F81-45F9-8E7C-81C0A57F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把考试、实操、证书、工单统一成结构化能力数据，让培训可量化。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030843B-CB35-476B-86C3-6D594502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38300"/>
            <a:ext cx="3771900" cy="4419600"/>
          </a:xfrm>
          <a:prstGeom xmlns:a="http://schemas.openxmlformats.org/drawingml/2006/main" prst="roundRect">
            <a:avLst>
              <a:gd name="adj" fmla="val 3030"/>
            </a:avLst>
          </a:prstGeom>
          <a:gradFill xmlns:a="http://schemas.openxmlformats.org/drawingml/2006/main">
            <a:gsLst>
              <a:gs pos="0">
                <a:srgbClr val="264265"/>
              </a:gs>
              <a:gs pos="62000">
                <a:srgbClr val="0B2B52"/>
              </a:gs>
              <a:gs pos="100000">
                <a:srgbClr val="092240"/>
              </a:gs>
            </a:gsLst>
            <a:lin ang="8100000"/>
          </a:gradFill>
          <a:ln xmlns:a="http://schemas.openxmlformats.org/drawingml/2006/main" w="9525">
            <a:solidFill>
              <a:srgbClr val="1B4C8A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5E4AA5F-8020-43A7-9F07-B1A72875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38300"/>
            <a:ext cx="3771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8020BE9-AD5C-4A01-819A-7074ABA7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47850"/>
            <a:ext cx="400050" cy="3619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>
            <a:solidFill>
              <a:srgbClr val="F5C33B">
                <a:alpha val="6000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8259083-E831-44A4-9A8C-DC066525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47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痛点二 </a:t>
            </a:r>
            <a:r>
              <a:rPr sz="123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23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结论不可信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8DD29D8-4204-4952-AD58-A5AF3A82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31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38" b="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通用大模型结论不可复算、断网即失效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9629B2C-6B22-4148-8057-6974DB81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C8A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709D53C-1460-43E9-9DC3-926859AF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3390900" cy="914400"/>
          </a:xfrm>
          <a:prstGeom xmlns:a="http://schemas.openxmlformats.org/drawingml/2006/main" prst="roundRect">
            <a:avLst>
              <a:gd name="adj" fmla="val 8333"/>
            </a:avLst>
          </a:prstGeom>
          <a:gradFill xmlns:a="http://schemas.openxmlformats.org/drawingml/2006/main">
            <a:gsLst>
              <a:gs pos="0">
                <a:srgbClr val="233951"/>
              </a:gs>
              <a:gs pos="62000">
                <a:srgbClr val="08203C"/>
              </a:gs>
              <a:gs pos="100000">
                <a:srgbClr val="06192F"/>
              </a:gs>
            </a:gsLst>
            <a:lin ang="8100000"/>
          </a:gradFill>
          <a:ln xmlns:a="http://schemas.openxmlformats.org/drawingml/2006/main" w="9525">
            <a:solidFill>
              <a:srgbClr val="1B4C8A">
                <a:alpha val="6000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022E575-7850-484D-B9F1-18C53772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285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05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BE38C61-F3B3-4543-B389-0E8B5918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956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705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2705E"/>
                </a:solidFill>
                <a:latin typeface="微软雅黑"/>
                <a:ea typeface="微软雅黑"/>
                <a:cs typeface="微软雅黑"/>
              </a:rPr>
              <a:t>业务损失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51BD2CD-8721-434B-9B61-90006640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051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结论无法复算，答辩或审计时讲不清「为什么是这个原因」。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7200483-BD0D-44E3-A576-644F0612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48100"/>
            <a:ext cx="3390900" cy="914400"/>
          </a:xfrm>
          <a:prstGeom xmlns:a="http://schemas.openxmlformats.org/drawingml/2006/main" prst="roundRect">
            <a:avLst>
              <a:gd name="adj" fmla="val 8333"/>
            </a:avLst>
          </a:prstGeom>
          <a:gradFill xmlns:a="http://schemas.openxmlformats.org/drawingml/2006/main">
            <a:gsLst>
              <a:gs pos="0">
                <a:srgbClr val="233951"/>
              </a:gs>
              <a:gs pos="62000">
                <a:srgbClr val="08203C"/>
              </a:gs>
              <a:gs pos="100000">
                <a:srgbClr val="06192F"/>
              </a:gs>
            </a:gsLst>
            <a:lin ang="8100000"/>
          </a:gradFill>
          <a:ln xmlns:a="http://schemas.openxmlformats.org/drawingml/2006/main" w="9525">
            <a:solidFill>
              <a:srgbClr val="1B4C8A">
                <a:alpha val="6000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BB457C5-B2BD-4CAF-B14E-E0343022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48100"/>
            <a:ext cx="285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2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9E605C8-8515-4019-86E1-45FA6170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A23B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0A23B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BB58C68-53FC-4E09-B909-5ED28BC8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338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依赖外网模型，断网即瘫痪；输出不稳定，无法上岗使用。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8A58329-05AE-40A3-8CB0-5A7033D0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76800"/>
            <a:ext cx="3390900" cy="914400"/>
          </a:xfrm>
          <a:prstGeom xmlns:a="http://schemas.openxmlformats.org/drawingml/2006/main" prst="roundRect">
            <a:avLst>
              <a:gd name="adj" fmla="val 8333"/>
            </a:avLst>
          </a:prstGeom>
          <a:gradFill xmlns:a="http://schemas.openxmlformats.org/drawingml/2006/main">
            <a:gsLst>
              <a:gs pos="0">
                <a:srgbClr val="233951"/>
              </a:gs>
              <a:gs pos="62000">
                <a:srgbClr val="08203C"/>
              </a:gs>
              <a:gs pos="100000">
                <a:srgbClr val="06192F"/>
              </a:gs>
            </a:gsLst>
            <a:lin ang="8100000"/>
          </a:gradFill>
          <a:ln xmlns:a="http://schemas.openxmlformats.org/drawingml/2006/main" w="9525">
            <a:solidFill>
              <a:srgbClr val="1B4C8A">
                <a:alpha val="6000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D48FEFF-54BB-4D6D-B1CD-9298CE2D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76800"/>
            <a:ext cx="285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D08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0AAB959-7B24-4B44-98FC-2F34627F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53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D0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3FD08A"/>
                </a:solidFill>
                <a:latin typeface="微软雅黑"/>
                <a:ea typeface="微软雅黑"/>
                <a:cs typeface="微软雅黑"/>
              </a:rPr>
              <a:t>智能化机会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4413BF3-80AE-40EA-9370-90B95002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625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规则进数据库、算子白名单求值；结论带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rule_code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与依据事实，可复算。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19D6B8A-4FBD-45C7-9D0C-6C3FDEAE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38300"/>
            <a:ext cx="3771900" cy="4419600"/>
          </a:xfrm>
          <a:prstGeom xmlns:a="http://schemas.openxmlformats.org/drawingml/2006/main" prst="roundRect">
            <a:avLst>
              <a:gd name="adj" fmla="val 3030"/>
            </a:avLst>
          </a:prstGeom>
          <a:gradFill xmlns:a="http://schemas.openxmlformats.org/drawingml/2006/main">
            <a:gsLst>
              <a:gs pos="0">
                <a:srgbClr val="264265"/>
              </a:gs>
              <a:gs pos="62000">
                <a:srgbClr val="0B2B52"/>
              </a:gs>
              <a:gs pos="100000">
                <a:srgbClr val="092240"/>
              </a:gs>
            </a:gsLst>
            <a:lin ang="8100000"/>
          </a:gradFill>
          <a:ln xmlns:a="http://schemas.openxmlformats.org/drawingml/2006/main" w="9525">
            <a:solidFill>
              <a:srgbClr val="1B4C8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E0B2944-E265-4008-9260-90FD7ECE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38300"/>
            <a:ext cx="3771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C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26C4450-6095-4C38-8D11-76305329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847850"/>
            <a:ext cx="400050" cy="3619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>
            <a:solidFill>
              <a:srgbClr val="9B8CFF">
                <a:alpha val="6000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186C231-B16A-4C59-A887-5EEBA091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47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9B8CFF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1">
                <a:solidFill>
                  <a:srgbClr val="9B8CFF"/>
                </a:solidFill>
                <a:latin typeface="微软雅黑"/>
                <a:ea typeface="微软雅黑"/>
                <a:cs typeface="微软雅黑"/>
              </a:rPr>
              <a:t>痛点三 </a:t>
            </a:r>
            <a:r>
              <a:rPr sz="1238" b="1">
                <a:solidFill>
                  <a:srgbClr val="9B8CFF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238" b="1">
                <a:solidFill>
                  <a:srgbClr val="9B8CFF"/>
                </a:solidFill>
                <a:latin typeface="微软雅黑"/>
                <a:ea typeface="微软雅黑"/>
                <a:cs typeface="微软雅黑"/>
              </a:rPr>
              <a:t>过程不可审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225CD44-040E-4FE0-98B3-BC2B7BD6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331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38" b="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建议、确认、执行、回滚都没有留痕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9A8FDBF-60AE-4F75-9958-DCB8C6C5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6700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C8A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54CBF10-D0D0-47A1-8F59-D07AB45F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19400"/>
            <a:ext cx="3390900" cy="914400"/>
          </a:xfrm>
          <a:prstGeom xmlns:a="http://schemas.openxmlformats.org/drawingml/2006/main" prst="roundRect">
            <a:avLst>
              <a:gd name="adj" fmla="val 8333"/>
            </a:avLst>
          </a:prstGeom>
          <a:gradFill xmlns:a="http://schemas.openxmlformats.org/drawingml/2006/main">
            <a:gsLst>
              <a:gs pos="0">
                <a:srgbClr val="233951"/>
              </a:gs>
              <a:gs pos="62000">
                <a:srgbClr val="08203C"/>
              </a:gs>
              <a:gs pos="100000">
                <a:srgbClr val="06192F"/>
              </a:gs>
            </a:gsLst>
            <a:lin ang="8100000"/>
          </a:gradFill>
          <a:ln xmlns:a="http://schemas.openxmlformats.org/drawingml/2006/main" w="9525">
            <a:solidFill>
              <a:srgbClr val="1B4C8A">
                <a:alpha val="6000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38E6821-8D13-48D2-BC39-D005D51C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19400"/>
            <a:ext cx="285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05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1D887C1-225F-4A29-AF91-F2F3FB5D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956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705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2705E"/>
                </a:solidFill>
                <a:latin typeface="微软雅黑"/>
                <a:ea typeface="微软雅黑"/>
                <a:cs typeface="微软雅黑"/>
              </a:rPr>
              <a:t>业务损失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6909129-FC64-40C1-BD8B-7ED4F66C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051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建议由谁提出、谁采纳、谁执行，事后无法界定责任。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E6FCA59-F06C-4EBD-BDFA-A27D1345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3390900" cy="914400"/>
          </a:xfrm>
          <a:prstGeom xmlns:a="http://schemas.openxmlformats.org/drawingml/2006/main" prst="roundRect">
            <a:avLst>
              <a:gd name="adj" fmla="val 8333"/>
            </a:avLst>
          </a:prstGeom>
          <a:gradFill xmlns:a="http://schemas.openxmlformats.org/drawingml/2006/main">
            <a:gsLst>
              <a:gs pos="0">
                <a:srgbClr val="233951"/>
              </a:gs>
              <a:gs pos="62000">
                <a:srgbClr val="08203C"/>
              </a:gs>
              <a:gs pos="100000">
                <a:srgbClr val="06192F"/>
              </a:gs>
            </a:gsLst>
            <a:lin ang="8100000"/>
          </a:gradFill>
          <a:ln xmlns:a="http://schemas.openxmlformats.org/drawingml/2006/main" w="9525">
            <a:solidFill>
              <a:srgbClr val="1B4C8A">
                <a:alpha val="6000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D8493E3-BE30-4F8F-AB63-881B3E12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285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2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F6D8495-3E0F-4F7B-B30A-088CFBAB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243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A23B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0A23B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062B873-556C-44F4-AF39-96652EF6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338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缺乏审计链；心理与关怀数据也没有隔离手段。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42AB11D-3661-473C-8290-23A6F60B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76800"/>
            <a:ext cx="3390900" cy="914400"/>
          </a:xfrm>
          <a:prstGeom xmlns:a="http://schemas.openxmlformats.org/drawingml/2006/main" prst="roundRect">
            <a:avLst>
              <a:gd name="adj" fmla="val 8333"/>
            </a:avLst>
          </a:prstGeom>
          <a:gradFill xmlns:a="http://schemas.openxmlformats.org/drawingml/2006/main">
            <a:gsLst>
              <a:gs pos="0">
                <a:srgbClr val="233951"/>
              </a:gs>
              <a:gs pos="62000">
                <a:srgbClr val="08203C"/>
              </a:gs>
              <a:gs pos="100000">
                <a:srgbClr val="06192F"/>
              </a:gs>
            </a:gsLst>
            <a:lin ang="8100000"/>
          </a:gradFill>
          <a:ln xmlns:a="http://schemas.openxmlformats.org/drawingml/2006/main" w="9525">
            <a:solidFill>
              <a:srgbClr val="1B4C8A">
                <a:alpha val="6000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674057D-BE2E-4B79-B62D-F81F8EDA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76800"/>
            <a:ext cx="285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D08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A0AADA2-D1FB-4858-BA41-A791656C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53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D08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3FD08A"/>
                </a:solidFill>
                <a:latin typeface="微软雅黑"/>
                <a:ea typeface="微软雅黑"/>
                <a:cs typeface="微软雅黑"/>
              </a:rPr>
              <a:t>智能化机会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E9B867A-048D-4D92-BDC3-A4D54362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625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建议写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agent_suggestion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、确认写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decision_log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，三表用同一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run_id </a:t>
            </a:r>
            <a:r>
              <a:rPr sz="863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串起。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FDF513D-775D-447D-97D4-7E51A695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572250"/>
            <a:ext cx="11734800" cy="95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>
                  <a:alpha val="45000"/>
                </a:srgbClr>
              </a:gs>
              <a:gs pos="62000">
                <a:srgbClr val="1B4C8A">
                  <a:alpha val="30000"/>
                </a:srgbClr>
              </a:gs>
              <a:gs pos="100000">
                <a:srgbClr val="1B4C8A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7B5FE3E-FE8D-4592-931D-76543CBD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543675"/>
            <a:ext cx="285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57E51C5-C24E-4DA3-B0DF-AC2E1A70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579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7264D59-E918-4986-9D98-2E4BC97C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579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2ED91A3-2F43-4E6C-90B9-675D86FC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579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C696DAA-4026-4A51-A116-1B5E3389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198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工业智训 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面向变电运维的可解释智能人才培养平台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2D4D6E9-873C-4E41-85D7-AC08CC75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619875"/>
            <a:ext cx="514350" cy="1447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5C33B">
                  <a:alpha val="0"/>
                </a:srgbClr>
              </a:gs>
              <a:gs pos="100000">
                <a:srgbClr val="F5C33B"/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A766235-66FA-4A41-AA8F-2B94982C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591300"/>
            <a:ext cx="304800" cy="219075"/>
          </a:xfrm>
          <a:prstGeom xmlns:a="http://schemas.openxmlformats.org/drawingml/2006/main" prst="hexagon">
            <a:avLst/>
          </a:prstGeom>
          <a:gradFill xmlns:a="http://schemas.openxmlformats.org/drawingml/2006/main">
            <a:gsLst>
              <a:gs pos="0">
                <a:srgbClr val="1B4C8A"/>
              </a:gs>
              <a:gs pos="100000">
                <a:srgbClr val="0A2144"/>
              </a:gs>
            </a:gsLst>
            <a:lin ang="8100000"/>
          </a:gradFill>
          <a:ln xmlns:a="http://schemas.openxmlformats.org/drawingml/2006/main" w="11906">
            <a:solidFill>
              <a:srgbClr val="2A6BA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97A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900" b="1">
                <a:solidFill>
                  <a:srgbClr val="FFD97A"/>
                </a:solidFill>
                <a:latin typeface="Bahnschrift SemiBold"/>
                <a:ea typeface="Bahnschrift SemiBold"/>
                <a:cs typeface="Bahnschrift SemiBold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18858811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2A52"/>
            </a:gs>
            <a:gs pos="100000">
              <a:srgbClr val="06152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c713d8f0549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55AE1-CA0F-4322-8DCE-4696A88F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52B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D5170-F00E-40F9-A02A-8D09B127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4476750" cy="39052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1C7F0">
                  <a:alpha val="15000"/>
                </a:srgbClr>
              </a:gs>
              <a:gs pos="45000">
                <a:srgbClr val="31C7F0">
                  <a:alpha val="6000"/>
                </a:srgbClr>
              </a:gs>
              <a:gs pos="100000">
                <a:srgbClr val="31C7F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B020B-3D1E-47B9-9243-89CD6AA0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3429000" cy="304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E86E8">
                  <a:alpha val="12000"/>
                </a:srgbClr>
              </a:gs>
              <a:gs pos="45000">
                <a:srgbClr val="2E86E8">
                  <a:alpha val="5000"/>
                </a:srgbClr>
              </a:gs>
              <a:gs pos="100000">
                <a:srgbClr val="2E86E8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A649A-2BC7-4157-B75E-8E103D97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952500"/>
            <a:ext cx="533400" cy="48006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>
            <a:solidFill>
              <a:srgbClr val="31C7F0">
                <a:alpha val="28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AB14E-B3FC-4587-B90F-3A6C101A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9024" y="1101852"/>
            <a:ext cx="533400" cy="48006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>
            <a:solidFill>
              <a:srgbClr val="31C7F0">
                <a:alpha val="28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20E9F-82E6-402F-9936-E47BF3E0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2998" y="952500"/>
            <a:ext cx="533400" cy="48006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>
            <a:solidFill>
              <a:srgbClr val="31C7F0">
                <a:alpha val="28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87EC5-69E7-425B-B6BE-DAD2E726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657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44925-650D-4BEC-8AF8-53E945C0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4954A-B813-4CF5-9A31-E483091A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2656E-BDC7-40CF-A174-8F097F5F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FCF2E-93A3-4F4D-AF20-4E11DD63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C6559-B948-44A4-ACC2-4B162E79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B5537F-1D2F-4145-BC26-44C46C10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8E239-00B6-4270-95D6-CE111F81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E17376-1EF1-430B-B393-E7CA0145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321BF9-594C-46AE-B5AB-C15036C3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BAE45-13C8-4115-AD37-5D1F0DA6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65B5B0-3973-48A4-9FAC-5AF0971F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298174-5012-403C-896F-D2421B17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A78191-15B3-40B9-9B9A-8652FC1D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12039600" cy="6705600"/>
          </a:xfrm>
          <a:prstGeom xmlns:a="http://schemas.openxmlformats.org/drawingml/2006/main" prst="roundRect">
            <a:avLst>
              <a:gd name="adj" fmla="val 1989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2E6FB0">
                <a:alpha val="6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C9E825-7251-4019-8837-C3798968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11925300" cy="6591300"/>
          </a:xfrm>
          <a:prstGeom xmlns:a="http://schemas.openxmlformats.org/drawingml/2006/main" prst="roundRect">
            <a:avLst>
              <a:gd name="adj" fmla="val 1445"/>
            </a:avLst>
          </a:prstGeom>
          <a:noFill xmlns:a="http://schemas.openxmlformats.org/drawingml/2006/main"/>
          <a:ln xmlns:a="http://schemas.openxmlformats.org/drawingml/2006/main" w="7144">
            <a:solidFill>
              <a:srgbClr val="1B4C8A">
                <a:alpha val="32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B859FE-C220-4332-B85C-17F16C81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E43252-4197-4AFF-B691-88F7D98D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A74AD6-19B9-41AB-95F2-C7B06FB2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7532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B2D56F-6024-4489-89A6-B57C063A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64579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BB89B7-F6E5-461D-A11F-A4CE8D49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7425E2-2518-4438-A3EA-EA192452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93EAB5-602A-48D7-BD26-53503940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71512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CA7C2F-6877-4323-B651-66F52A81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65532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A9A849-85E1-4A15-A5E4-E442893D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" y="339090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3F275F-96D9-4718-B00C-511DA4C2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3128" y="339090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7FC4B0-B205-46D4-B3A7-23F51E7C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927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BA9963-ACC3-47C2-96F5-B84D08C5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273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8C27D5-B6C9-4753-835A-669E0B54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0BA03D-AAD9-489B-BE3B-E13D91E1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727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698891-716F-4FCE-A55F-D4727129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073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F1A8CB-DD78-418D-AA00-B5BF8A94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192F"/>
              </a:gs>
              <a:gs pos="58000">
                <a:srgbClr val="071E3A"/>
              </a:gs>
              <a:gs pos="100000">
                <a:srgbClr val="04142B"/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2BFFB0-1A05-494D-B9FC-7997D37B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0"/>
            <a:ext cx="2819400" cy="628650"/>
          </a:xfrm>
          <a:prstGeom xmlns:a="http://schemas.openxmlformats.org/drawingml/2006/main" prst="rect">
            <a:avLst/>
          </a:prstGeom>
          <a:pattFill xmlns:a="http://schemas.openxmlformats.org/drawingml/2006/main" prst="narVert">
            <a:fgClr>
              <a:srgbClr val="2A6BAE">
                <a:alpha val="42000"/>
              </a:srgbClr>
            </a:fgClr>
            <a:bgClr>
              <a:srgbClr val="061B36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F61B63-B335-4859-824E-3FC9A9D2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286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31C7F0">
                  <a:alpha val="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6CC98A-BA70-45C1-B32E-B7D715DE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5C33B"/>
              </a:gs>
              <a:gs pos="24000">
                <a:srgbClr val="F5C33B">
                  <a:alpha val="55000"/>
                </a:srgbClr>
              </a:gs>
              <a:gs pos="68000">
                <a:srgbClr val="31C7F0">
                  <a:alpha val="45000"/>
                </a:srgbClr>
              </a:gs>
              <a:gs pos="100000">
                <a:srgbClr val="31C7F0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87D109-BF8B-476D-ABA0-D8E7FD9A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05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广东科技学院 </a:t>
            </a:r>
            <a:r>
              <a:rPr sz="93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3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逐光造梦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570FE8-977D-4C2E-AEBA-211D1C8C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1C7F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E9BC23-2E3D-4F52-82EF-4A2A55CA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1C7F0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72A645-D840-4C98-BE01-7ADCC763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9050"/>
            <a:ext cx="1028700" cy="5905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1C7F0">
                  <a:alpha val="26000"/>
                </a:srgbClr>
              </a:gs>
              <a:gs pos="45000">
                <a:srgbClr val="31C7F0">
                  <a:alpha val="10000"/>
                </a:srgbClr>
              </a:gs>
              <a:gs pos="100000">
                <a:srgbClr val="31C7F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05497F-882B-4743-A527-0CF3DF69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5250"/>
            <a:ext cx="628650" cy="438150"/>
          </a:xfrm>
          <a:prstGeom xmlns:a="http://schemas.openxmlformats.org/drawingml/2006/main" prst="hexagon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196478"/>
              </a:gs>
            </a:gsLst>
            <a:lin ang="8100000"/>
          </a:gradFill>
          <a:ln xmlns:a="http://schemas.openxmlformats.org/drawingml/2006/main" w="11906">
            <a:solidFill>
              <a:srgbClr val="F5C33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4203A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04203A"/>
                </a:solidFill>
                <a:latin typeface="Bahnschrift SemiBold"/>
                <a:ea typeface="Bahnschrift SemiBold"/>
                <a:cs typeface="Bahnschrift SemiBold"/>
              </a:rPr>
              <a:t>01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23605D-C366-473A-889D-55744A1C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4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spc="2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spc="2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A9F32E-7CCB-483D-A6CA-5C4B4EAB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"/>
            <a:ext cx="19050" cy="2476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31C7F0">
                  <a:alpha val="20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AB00E3-9439-493D-8A1E-7220090B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428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典型场景与真实案例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148463-F859-454E-9FDA-8814BE59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838200" cy="1447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31C7F0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F72534-161F-4131-9ADC-25B64B1D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6FE5A87-53A5-4CBA-8224-616688A8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D7F1D6-7412-4140-812A-F78A7A33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4ED94FE-7AC7-4292-897F-8546386C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42950"/>
            <a:ext cx="11734800" cy="457200"/>
          </a:xfrm>
          <a:prstGeom xmlns:a="http://schemas.openxmlformats.org/drawingml/2006/main" prst="roundRect">
            <a:avLst>
              <a:gd name="adj" fmla="val 20833"/>
            </a:avLst>
          </a:prstGeom>
          <a:gradFill xmlns:a="http://schemas.openxmlformats.org/drawingml/2006/main">
            <a:gsLst>
              <a:gs pos="0">
                <a:srgbClr val="274569"/>
              </a:gs>
              <a:gs pos="62000">
                <a:srgbClr val="0C2E56"/>
              </a:gs>
              <a:gs pos="100000">
                <a:srgbClr val="092443"/>
              </a:gs>
            </a:gsLst>
            <a:lin ang="8100000"/>
          </a:gradFill>
          <a:ln xmlns:a="http://schemas.openxmlformats.org/drawingml/2006/main" w="12383">
            <a:solidFill>
              <a:srgbClr val="F5C33B">
                <a:alpha val="85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852683-594F-4BA4-BBE6-154624E8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81050"/>
            <a:ext cx="116586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7144">
            <a:solidFill>
              <a:srgbClr val="F5C33B">
                <a:alpha val="22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7230E5-77BA-453C-AE55-52DF5558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19150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28BD7BC-4418-4002-9BA5-BD1BCE80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38200"/>
            <a:ext cx="247650" cy="26670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>
            <a:solidFill>
              <a:srgbClr val="F5C33B">
                <a:alpha val="60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EFD94D7-CE83-4E3F-85F9-5603D5CD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895350"/>
            <a:ext cx="114300" cy="1428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5C33B">
              <a:alpha val="3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A803149-F0F6-4DE8-86FA-7C460E5D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009650"/>
            <a:ext cx="38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D83F324-36AD-48F8-BCFD-43B46F8F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981075"/>
            <a:ext cx="381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DA6CCEE-4630-4547-B641-403F3EA5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952500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862085B-06B1-4F67-94D3-55FDAC43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923925"/>
            <a:ext cx="38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2D78BBC-52D4-4060-838B-30462486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89535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91087AB-4DD9-426A-9920-DA5F4336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982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>
                <a:latin typeface="微软雅黑"/>
                <a:ea typeface="微软雅黑"/>
                <a:cs typeface="微软雅黑"/>
              </a:defRPr>
            </a:pPr>
            <a:r>
              <a:rPr sz="123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本页结论</a:t>
            </a:r>
            <a:r>
              <a:rPr sz="1238">
                <a:solidFill>
                  <a:srgbClr val="F5C33B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　◆　</a:t>
            </a:r>
            <a:r>
              <a:rPr sz="1238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同一套规则引擎与角色体系，可覆盖电网变电运维、新能源场站与智能制造产线。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84A91F4-E62B-4C8E-AF34-828B42E2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38300"/>
            <a:ext cx="11639550" cy="2247900"/>
          </a:xfrm>
          <a:prstGeom xmlns:a="http://schemas.openxmlformats.org/drawingml/2006/main" prst="roundRect">
            <a:avLst>
              <a:gd name="adj" fmla="val 5085"/>
            </a:avLst>
          </a:prstGeom>
          <a:gradFill xmlns:a="http://schemas.openxmlformats.org/drawingml/2006/main">
            <a:gsLst>
              <a:gs pos="0">
                <a:srgbClr val="264265"/>
              </a:gs>
              <a:gs pos="62000">
                <a:srgbClr val="0B2B52"/>
              </a:gs>
              <a:gs pos="100000">
                <a:srgbClr val="092240"/>
              </a:gs>
            </a:gsLst>
            <a:lin ang="8100000"/>
          </a:gradFill>
          <a:ln xmlns:a="http://schemas.openxmlformats.org/drawingml/2006/main" w="13335">
            <a:solidFill>
              <a:srgbClr val="F5C33B">
                <a:alpha val="7000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1AE1FA3-4E3E-4659-8F2A-A2E4D3BA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38300"/>
            <a:ext cx="1163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CA2806E-5C06-4777-90B9-6D4B1F2B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案例一 </a:t>
            </a:r>
            <a:r>
              <a:rPr sz="123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23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电网变电运维（已落地运行）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3683258-E3B4-4934-B1E3-97BA3FF2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809750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C5074"/>
              </a:gs>
              <a:gs pos="62000">
                <a:srgbClr val="123A63"/>
              </a:gs>
              <a:gs pos="100000">
                <a:srgbClr val="0E2D4D"/>
              </a:gs>
            </a:gsLst>
            <a:lin ang="8100000"/>
          </a:gradFill>
          <a:ln xmlns:a="http://schemas.openxmlformats.org/drawingml/2006/main" w="9525">
            <a:solidFill>
              <a:srgbClr val="3FD08A">
                <a:alpha val="7000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CD65427-EA94-4620-9800-9F1025D3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8097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3FD08A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3FD08A"/>
                </a:solidFill>
                <a:latin typeface="微软雅黑"/>
                <a:ea typeface="微软雅黑"/>
                <a:cs typeface="微软雅黑"/>
              </a:rPr>
              <a:t>已落地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917053B-5E65-4FC0-8674-6CC7D211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98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31C7F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31C7F0"/>
                </a:solidFill>
                <a:latin typeface="微软雅黑"/>
                <a:ea typeface="微软雅黑"/>
                <a:cs typeface="微软雅黑"/>
              </a:rPr>
              <a:t>现场事实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808753F-DACA-4BCE-9DFC-50E34EB1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38400"/>
            <a:ext cx="1143000" cy="14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0908258-26EF-45BA-A9E1-F90585E8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33650"/>
            <a:ext cx="361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85000"/>
              </a:lnSpc>
              <a:buNone/>
              <a:def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110kV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城北变电所电缆沟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A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段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#1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检查井</a:t>
            </a:r>
          </a:p>
          <a:p xmlns:a="http://schemas.openxmlformats.org/drawingml/2006/main">
            <a:pPr algn="l">
              <a:lnSpc>
                <a:spcPct val="185000"/>
              </a:lnSpc>
              <a:buNone/>
              <a:def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氧气实测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18.2 %VOL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（阈值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19.5 %VOL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）</a:t>
            </a:r>
          </a:p>
          <a:p xmlns:a="http://schemas.openxmlformats.org/drawingml/2006/main">
            <a:pPr algn="l">
              <a:lnSpc>
                <a:spcPct val="185000"/>
              </a:lnSpc>
              <a:buNone/>
              <a:def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作业人员出现头晕、胸闷，未按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SOP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先检测后进入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6FC23DC-ADDE-41E0-A493-005338AB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31C7F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31C7F0"/>
                </a:solidFill>
                <a:latin typeface="微软雅黑"/>
                <a:ea typeface="微软雅黑"/>
                <a:cs typeface="微软雅黑"/>
              </a:rPr>
              <a:t>标准与判定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ADC0E18-9CDC-41B2-B6C1-F8154869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38400"/>
            <a:ext cx="1143000" cy="14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69686EA-07FE-4CED-A486-FD9DBF58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33650"/>
            <a:ext cx="361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85000"/>
              </a:lnSpc>
              <a:buNone/>
              <a:def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阈值取自标准原文，写入系统气体字典</a:t>
            </a:r>
          </a:p>
          <a:p xmlns:a="http://schemas.openxmlformats.org/drawingml/2006/main">
            <a:pPr algn="l">
              <a:lnSpc>
                <a:spcPct val="185000"/>
              </a:lnSpc>
              <a:buNone/>
              <a:def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命中规则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REPORT_GAS_OVER_MARGIN_MID</a:t>
            </a:r>
          </a:p>
          <a:p xmlns:a="http://schemas.openxmlformats.org/drawingml/2006/main">
            <a:pPr algn="l">
              <a:lnSpc>
                <a:spcPct val="185000"/>
              </a:lnSpc>
              <a:buNone/>
              <a:def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同时命中关键词规则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RULE-KW-HEALTH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（人员不适）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5E8F6C1-8074-4739-B9AB-95D19BED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098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31C7F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31C7F0"/>
                </a:solidFill>
                <a:latin typeface="微软雅黑"/>
                <a:ea typeface="微软雅黑"/>
                <a:cs typeface="微软雅黑"/>
              </a:rPr>
              <a:t>系统输出与留痕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44AE319-3C2F-4A3D-B4E5-499CD1B3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38400"/>
            <a:ext cx="1143000" cy="14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822E4B3-DC1A-4B73-85F9-EE17EA35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33650"/>
            <a:ext cx="361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85000"/>
              </a:lnSpc>
              <a:buNone/>
              <a:def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输出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2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条原因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+ 4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条处置措施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+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规则编号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+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标准条款</a:t>
            </a:r>
          </a:p>
          <a:p xmlns:a="http://schemas.openxmlformats.org/drawingml/2006/main">
            <a:pPr algn="l">
              <a:lnSpc>
                <a:spcPct val="185000"/>
              </a:lnSpc>
              <a:buNone/>
              <a:def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严重度判为「高」，需人工确认后才生效</a:t>
            </a:r>
          </a:p>
          <a:p xmlns:a="http://schemas.openxmlformats.org/drawingml/2006/main">
            <a:pPr algn="l">
              <a:lnSpc>
                <a:spcPct val="185000"/>
              </a:lnSpc>
              <a:buNone/>
              <a:def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班组长当场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ACCEPTED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，业务数据零变更，全程可回算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3DA0035-8152-4233-9E11-8E936BE4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76700"/>
            <a:ext cx="5753100" cy="1981200"/>
          </a:xfrm>
          <a:prstGeom xmlns:a="http://schemas.openxmlformats.org/drawingml/2006/main" prst="roundRect">
            <a:avLst>
              <a:gd name="adj" fmla="val 5769"/>
            </a:avLst>
          </a:prstGeom>
          <a:gradFill xmlns:a="http://schemas.openxmlformats.org/drawingml/2006/main">
            <a:gsLst>
              <a:gs pos="0">
                <a:srgbClr val="29486B"/>
              </a:gs>
              <a:gs pos="62000">
                <a:srgbClr val="0F3159"/>
              </a:gs>
              <a:gs pos="100000">
                <a:srgbClr val="0C2645"/>
              </a:gs>
            </a:gsLst>
            <a:lin ang="8100000"/>
          </a:gradFill>
          <a:ln xmlns:a="http://schemas.openxmlformats.org/drawingml/2006/main" w="9525">
            <a:solidFill>
              <a:srgbClr val="1B4C8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6C28F9E-80A2-4019-BA0B-6C921F50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76700"/>
            <a:ext cx="5753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D3B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3E54B08-8C81-4F9E-A462-1C1BCF32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291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AD3B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AD3B6"/>
                </a:solidFill>
                <a:latin typeface="微软雅黑"/>
                <a:ea typeface="微软雅黑"/>
                <a:cs typeface="微软雅黑"/>
              </a:rPr>
              <a:t>案例二 </a:t>
            </a:r>
            <a:r>
              <a:rPr sz="1125" b="1">
                <a:solidFill>
                  <a:srgbClr val="2AD3B6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25" b="1">
                <a:solidFill>
                  <a:srgbClr val="2AD3B6"/>
                </a:solidFill>
                <a:latin typeface="微软雅黑"/>
                <a:ea typeface="微软雅黑"/>
                <a:cs typeface="微软雅黑"/>
              </a:rPr>
              <a:t>新能源场站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96A9E2E-1F44-42E0-A3E5-279978A9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29100"/>
            <a:ext cx="857250" cy="2286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C5074"/>
              </a:gs>
              <a:gs pos="62000">
                <a:srgbClr val="123A63"/>
              </a:gs>
              <a:gs pos="100000">
                <a:srgbClr val="0E2D4D"/>
              </a:gs>
            </a:gsLst>
            <a:lin ang="8100000"/>
          </a:gradFill>
          <a:ln xmlns:a="http://schemas.openxmlformats.org/drawingml/2006/main" w="9525">
            <a:solidFill>
              <a:srgbClr val="2AD3B6">
                <a:alpha val="6000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FCC125A-E820-41D3-82B6-5085391C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291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AD3B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2AD3B6"/>
                </a:solidFill>
                <a:latin typeface="微软雅黑"/>
                <a:ea typeface="微软雅黑"/>
                <a:cs typeface="微软雅黑"/>
              </a:rPr>
              <a:t>待试点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C7F72FA-8EEE-4D38-B77B-5E870841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91050"/>
            <a:ext cx="5391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90000"/>
              </a:lnSpc>
              <a:buNone/>
              <a:def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站点分散、值守人员少，集中培训与复训窗口难以安排。</a:t>
            </a:r>
          </a:p>
          <a:p xmlns:a="http://schemas.openxmlformats.org/drawingml/2006/main">
            <a:pPr algn="l">
              <a:lnSpc>
                <a:spcPct val="190000"/>
              </a:lnSpc>
              <a:buNone/>
              <a:def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需要离网可运行、结论可审计的培训与考核证据链。</a:t>
            </a:r>
          </a:p>
          <a:p xmlns:a="http://schemas.openxmlformats.org/drawingml/2006/main">
            <a:pPr algn="l">
              <a:lnSpc>
                <a:spcPct val="190000"/>
              </a:lnSpc>
              <a:buNone/>
              <a:def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同一套引擎可迁移：换的是岗位与课程数据，不是引擎与接口。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7C294D5-80D7-4506-ACBB-CBD8F5B3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76700"/>
            <a:ext cx="5753100" cy="1981200"/>
          </a:xfrm>
          <a:prstGeom xmlns:a="http://schemas.openxmlformats.org/drawingml/2006/main" prst="roundRect">
            <a:avLst>
              <a:gd name="adj" fmla="val 5769"/>
            </a:avLst>
          </a:prstGeom>
          <a:gradFill xmlns:a="http://schemas.openxmlformats.org/drawingml/2006/main">
            <a:gsLst>
              <a:gs pos="0">
                <a:srgbClr val="29486B"/>
              </a:gs>
              <a:gs pos="62000">
                <a:srgbClr val="0F3159"/>
              </a:gs>
              <a:gs pos="100000">
                <a:srgbClr val="0C2645"/>
              </a:gs>
            </a:gsLst>
            <a:lin ang="8100000"/>
          </a:gradFill>
          <a:ln xmlns:a="http://schemas.openxmlformats.org/drawingml/2006/main" w="9525">
            <a:solidFill>
              <a:srgbClr val="1B4C8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344F123-DA6D-4316-9701-38BA7C60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76700"/>
            <a:ext cx="5753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E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6274A6C-B6BA-4E50-B4B9-E8FC61B4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291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6E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E86E8"/>
                </a:solidFill>
                <a:latin typeface="微软雅黑"/>
                <a:ea typeface="微软雅黑"/>
                <a:cs typeface="微软雅黑"/>
              </a:rPr>
              <a:t>案例三 </a:t>
            </a:r>
            <a:r>
              <a:rPr sz="1125" b="1">
                <a:solidFill>
                  <a:srgbClr val="2E86E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25" b="1">
                <a:solidFill>
                  <a:srgbClr val="2E86E8"/>
                </a:solidFill>
                <a:latin typeface="微软雅黑"/>
                <a:ea typeface="微软雅黑"/>
                <a:cs typeface="微软雅黑"/>
              </a:rPr>
              <a:t>智能制造产线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5BED618-7A5D-4050-AC86-39AE7552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229100"/>
            <a:ext cx="857250" cy="2286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C5074"/>
              </a:gs>
              <a:gs pos="62000">
                <a:srgbClr val="123A63"/>
              </a:gs>
              <a:gs pos="100000">
                <a:srgbClr val="0E2D4D"/>
              </a:gs>
            </a:gsLst>
            <a:lin ang="8100000"/>
          </a:gradFill>
          <a:ln xmlns:a="http://schemas.openxmlformats.org/drawingml/2006/main" w="9525">
            <a:solidFill>
              <a:srgbClr val="2E86E8">
                <a:alpha val="6000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6716656-0084-4C07-B2CE-5DC66855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2291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E86E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2E86E8"/>
                </a:solidFill>
                <a:latin typeface="微软雅黑"/>
                <a:ea typeface="微软雅黑"/>
                <a:cs typeface="微软雅黑"/>
              </a:rPr>
              <a:t>待试点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B442356-8877-41EB-B61B-2E73D1B8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91050"/>
            <a:ext cx="5391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90000"/>
              </a:lnSpc>
              <a:buNone/>
              <a:def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多工种、多班次，停机培训的直接成本高。</a:t>
            </a:r>
          </a:p>
          <a:p xmlns:a="http://schemas.openxmlformats.org/drawingml/2006/main">
            <a:pPr algn="l">
              <a:lnSpc>
                <a:spcPct val="190000"/>
              </a:lnSpc>
              <a:buNone/>
              <a:def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需要按能力缺口精准补训，并让培训排期不与生产冲突。</a:t>
            </a:r>
          </a:p>
          <a:p xmlns:a="http://schemas.openxmlformats.org/drawingml/2006/main">
            <a:pPr algn="l">
              <a:lnSpc>
                <a:spcPct val="190000"/>
              </a:lnSpc>
              <a:buNone/>
              <a:def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同一套引擎可迁移：岗位技能矩阵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+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关键岗位备份预警。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7B86011-CFBF-4806-AA63-C3835A25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572250"/>
            <a:ext cx="11734800" cy="95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>
                  <a:alpha val="45000"/>
                </a:srgbClr>
              </a:gs>
              <a:gs pos="62000">
                <a:srgbClr val="1B4C8A">
                  <a:alpha val="30000"/>
                </a:srgbClr>
              </a:gs>
              <a:gs pos="100000">
                <a:srgbClr val="1B4C8A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371421B-34CF-422F-9004-337F43DF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543675"/>
            <a:ext cx="285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09D66FB-E539-4F45-922A-16590120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579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D43366A-7C1C-4102-B77B-CABA8E65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579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5D8D59D-E0BE-4BB6-BDF9-F7B09F6B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579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469A886-CEDA-4509-8532-19C7D2E9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198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工业智训 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面向变电运维的可解释智能人才培养平台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F1B5B08-8BE3-40BE-B262-4654173A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619875"/>
            <a:ext cx="514350" cy="1447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5C33B">
                  <a:alpha val="0"/>
                </a:srgbClr>
              </a:gs>
              <a:gs pos="100000">
                <a:srgbClr val="F5C33B"/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879D017-5AEF-4A8E-9EA7-68C1B984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591300"/>
            <a:ext cx="304800" cy="219075"/>
          </a:xfrm>
          <a:prstGeom xmlns:a="http://schemas.openxmlformats.org/drawingml/2006/main" prst="hexagon">
            <a:avLst/>
          </a:prstGeom>
          <a:gradFill xmlns:a="http://schemas.openxmlformats.org/drawingml/2006/main">
            <a:gsLst>
              <a:gs pos="0">
                <a:srgbClr val="1B4C8A"/>
              </a:gs>
              <a:gs pos="100000">
                <a:srgbClr val="0A2144"/>
              </a:gs>
            </a:gsLst>
            <a:lin ang="8100000"/>
          </a:gradFill>
          <a:ln xmlns:a="http://schemas.openxmlformats.org/drawingml/2006/main" w="11906">
            <a:solidFill>
              <a:srgbClr val="2A6BA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97A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900" b="1">
                <a:solidFill>
                  <a:srgbClr val="FFD97A"/>
                </a:solidFill>
                <a:latin typeface="Bahnschrift SemiBold"/>
                <a:ea typeface="Bahnschrift SemiBold"/>
                <a:cs typeface="Bahnschrift SemiBold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56714420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2A52"/>
            </a:gs>
            <a:gs pos="100000">
              <a:srgbClr val="06152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c9cb1411a845b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8C84F-6C04-466B-BA18-105F2FB8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52B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C728F-2BEC-4EDA-AE22-81227361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4476750" cy="39052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1C7F0">
                  <a:alpha val="15000"/>
                </a:srgbClr>
              </a:gs>
              <a:gs pos="45000">
                <a:srgbClr val="31C7F0">
                  <a:alpha val="6000"/>
                </a:srgbClr>
              </a:gs>
              <a:gs pos="100000">
                <a:srgbClr val="31C7F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7AA4C-8492-4D0D-950B-10EED7A5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3429000" cy="304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E86E8">
                  <a:alpha val="12000"/>
                </a:srgbClr>
              </a:gs>
              <a:gs pos="45000">
                <a:srgbClr val="2E86E8">
                  <a:alpha val="5000"/>
                </a:srgbClr>
              </a:gs>
              <a:gs pos="100000">
                <a:srgbClr val="2E86E8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019B7-8A3E-4BE3-9893-BE5D3592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914400"/>
            <a:ext cx="1866900" cy="800100"/>
          </a:xfrm>
          <a:prstGeom xmlns:a="http://schemas.openxmlformats.org/drawingml/2006/main" prst="rect">
            <a:avLst/>
          </a:prstGeom>
          <a:pattFill xmlns:a="http://schemas.openxmlformats.org/drawingml/2006/main" prst="wdUpDiag">
            <a:fgClr>
              <a:srgbClr val="2A6BAE">
                <a:alpha val="42000"/>
              </a:srgbClr>
            </a:fgClr>
            <a:bgClr>
              <a:srgbClr val="0A2144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4B64E-269A-496E-B297-927AE6D3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914400"/>
            <a:ext cx="400050" cy="800100"/>
          </a:xfrm>
          <a:prstGeom xmlns:a="http://schemas.openxmlformats.org/drawingml/2006/main" prst="rect">
            <a:avLst/>
          </a:prstGeom>
          <a:pattFill xmlns:a="http://schemas.openxmlformats.org/drawingml/2006/main" prst="narVert">
            <a:fgClr>
              <a:srgbClr val="31C7F0">
                <a:alpha val="32000"/>
              </a:srgbClr>
            </a:fgClr>
            <a:bgClr>
              <a:srgbClr val="0A2144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27639-85A3-44D2-9B52-A7F4E288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D3A80-EF08-4201-ADA3-62F51DE1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1F2F9-DD98-41C0-BB17-B0328151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CA5CA-F452-4526-A784-1266CC36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55BC8-BE35-45E2-A682-410388D4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2330CE-DE97-4832-B0EF-A30FF9FF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95765-D213-4330-8503-CD185BC1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D6632-BD3D-4537-AFCF-BFF265C5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BBA39-B039-4A70-B137-E6A1A91E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CD14E9-72F2-4177-8B44-D03D1B9C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522C0A-E22E-49DE-8373-0F95A267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CA3304-4E2E-492F-AABC-F5407DAF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0EF69-00AA-44DC-8B06-AD11F510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12039600" cy="6705600"/>
          </a:xfrm>
          <a:prstGeom xmlns:a="http://schemas.openxmlformats.org/drawingml/2006/main" prst="roundRect">
            <a:avLst>
              <a:gd name="adj" fmla="val 1989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2E6FB0">
                <a:alpha val="6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8C38AB-80BC-466A-A40F-5526C6B2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11925300" cy="6591300"/>
          </a:xfrm>
          <a:prstGeom xmlns:a="http://schemas.openxmlformats.org/drawingml/2006/main" prst="roundRect">
            <a:avLst>
              <a:gd name="adj" fmla="val 1445"/>
            </a:avLst>
          </a:prstGeom>
          <a:noFill xmlns:a="http://schemas.openxmlformats.org/drawingml/2006/main"/>
          <a:ln xmlns:a="http://schemas.openxmlformats.org/drawingml/2006/main" w="7144">
            <a:solidFill>
              <a:srgbClr val="1B4C8A">
                <a:alpha val="32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327711-6C97-4D0E-A4B3-278E9F90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F91CD8-8813-4747-AD2C-32F31381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9EFA24-4BAB-42F0-8CE1-3CAC573E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7532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85F1E9-CBD2-451B-BDEA-22B4EEB0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64579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92712A-4B6A-4FB2-B93D-34E54D1A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648FB8-C260-46CE-9691-C0182C01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FE15F9-44E4-468B-8209-EA5D90F2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71512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E6F2CC-E8E4-405A-AB2A-AC31DDD5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65532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C2F900-5968-4AF4-A26A-80DA202D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" y="339090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A9F899-6316-44D8-8B63-C591E81F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3128" y="339090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65D08B-3509-47CC-866F-519FA9CC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927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382995-0420-48CD-9E5D-521471D3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273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AA5220-4A49-4E70-96F2-353D1BB6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DFCA1B-7561-4B8D-9BF3-E49B2C4B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727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5AD93E-6373-4942-85AA-D896D96D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073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E261F6-43FA-4565-A428-2682BF73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192F"/>
              </a:gs>
              <a:gs pos="58000">
                <a:srgbClr val="071E3A"/>
              </a:gs>
              <a:gs pos="100000">
                <a:srgbClr val="04142B"/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16487E-107C-4A35-A062-BBC3C22D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0"/>
            <a:ext cx="2819400" cy="628650"/>
          </a:xfrm>
          <a:prstGeom xmlns:a="http://schemas.openxmlformats.org/drawingml/2006/main" prst="rect">
            <a:avLst/>
          </a:prstGeom>
          <a:pattFill xmlns:a="http://schemas.openxmlformats.org/drawingml/2006/main" prst="narVert">
            <a:fgClr>
              <a:srgbClr val="2A6BAE">
                <a:alpha val="42000"/>
              </a:srgbClr>
            </a:fgClr>
            <a:bgClr>
              <a:srgbClr val="061B36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F843CA-E751-4309-9CE5-F5E06918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286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31C7F0">
                  <a:alpha val="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C60AC5-317C-4950-9328-8D36F375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5C33B"/>
              </a:gs>
              <a:gs pos="24000">
                <a:srgbClr val="F5C33B">
                  <a:alpha val="55000"/>
                </a:srgbClr>
              </a:gs>
              <a:gs pos="68000">
                <a:srgbClr val="31C7F0">
                  <a:alpha val="45000"/>
                </a:srgbClr>
              </a:gs>
              <a:gs pos="100000">
                <a:srgbClr val="31C7F0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77F060-49B4-4DB0-B4CF-C099ABB2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05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广东科技学院 </a:t>
            </a:r>
            <a:r>
              <a:rPr sz="93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3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逐光造梦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0F60D5-E3DF-48F8-BEEA-AED2C65D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1C7F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DD558C-FABE-4EA8-866C-69CA3556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1C7F0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76ECBC-6909-404F-B436-1207D9E0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9050"/>
            <a:ext cx="1028700" cy="5905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1C7F0">
                  <a:alpha val="26000"/>
                </a:srgbClr>
              </a:gs>
              <a:gs pos="45000">
                <a:srgbClr val="31C7F0">
                  <a:alpha val="10000"/>
                </a:srgbClr>
              </a:gs>
              <a:gs pos="100000">
                <a:srgbClr val="31C7F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CDE0D0-65BC-4187-9311-437BC168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5250"/>
            <a:ext cx="628650" cy="438150"/>
          </a:xfrm>
          <a:prstGeom xmlns:a="http://schemas.openxmlformats.org/drawingml/2006/main" prst="hexagon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196478"/>
              </a:gs>
            </a:gsLst>
            <a:lin ang="8100000"/>
          </a:gradFill>
          <a:ln xmlns:a="http://schemas.openxmlformats.org/drawingml/2006/main" w="11906">
            <a:solidFill>
              <a:srgbClr val="F5C33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4203A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04203A"/>
                </a:solidFill>
                <a:latin typeface="Bahnschrift SemiBold"/>
                <a:ea typeface="Bahnschrift SemiBold"/>
                <a:cs typeface="Bahnschrift SemiBold"/>
              </a:rPr>
              <a:t>01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A51633-3AFA-4044-A52F-4472D581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4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spc="2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spc="2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CE8404-7A11-470B-9382-38420B5E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"/>
            <a:ext cx="19050" cy="2476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31C7F0">
                  <a:alpha val="20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E98F0B-4DDE-423B-A829-81EBC86E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428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企业调研与专家访谈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18A967-95B4-4FFB-9FA5-AA049163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838200" cy="1447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31C7F0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69FA03-BBA9-40CD-9EAC-F6D44320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928156-5FD0-4F8F-9818-A376E1E0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026EB0-3AFB-4539-8714-606ABD4D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3F1541-7ECA-4AA6-AC44-B700E1D1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42950"/>
            <a:ext cx="11734800" cy="457200"/>
          </a:xfrm>
          <a:prstGeom xmlns:a="http://schemas.openxmlformats.org/drawingml/2006/main" prst="roundRect">
            <a:avLst>
              <a:gd name="adj" fmla="val 20833"/>
            </a:avLst>
          </a:prstGeom>
          <a:gradFill xmlns:a="http://schemas.openxmlformats.org/drawingml/2006/main">
            <a:gsLst>
              <a:gs pos="0">
                <a:srgbClr val="274569"/>
              </a:gs>
              <a:gs pos="62000">
                <a:srgbClr val="0C2E56"/>
              </a:gs>
              <a:gs pos="100000">
                <a:srgbClr val="092443"/>
              </a:gs>
            </a:gsLst>
            <a:lin ang="8100000"/>
          </a:gradFill>
          <a:ln xmlns:a="http://schemas.openxmlformats.org/drawingml/2006/main" w="12383">
            <a:solidFill>
              <a:srgbClr val="F5C33B">
                <a:alpha val="85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C8FD3DA-647C-4F61-BC1A-B295D46B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81050"/>
            <a:ext cx="116586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7144">
            <a:solidFill>
              <a:srgbClr val="F5C33B">
                <a:alpha val="22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7B89F4-C853-4BDB-8188-1B88170F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19150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163882-4E6C-44AE-A561-B38EC002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38200"/>
            <a:ext cx="247650" cy="26670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>
            <a:solidFill>
              <a:srgbClr val="F5C33B">
                <a:alpha val="60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AEC82A8-2866-4A3A-A5F7-623396E8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895350"/>
            <a:ext cx="114300" cy="1428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5C33B">
              <a:alpha val="3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1744A03-2FC1-4F2C-AF05-331ABABD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009650"/>
            <a:ext cx="38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BB668C8-F55A-4CC6-A8BD-69C79C91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981075"/>
            <a:ext cx="381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E30DD04-182B-4776-B2BD-052CC23F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952500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86A6477-DA61-44EB-BF8C-EC1D1E19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923925"/>
            <a:ext cx="38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F803E51-2D4E-466C-BA6E-799066EE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89535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62BB2F7-2A93-4536-B8F0-8DF2AFC2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982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>
                <a:latin typeface="微软雅黑"/>
                <a:ea typeface="微软雅黑"/>
                <a:cs typeface="微软雅黑"/>
              </a:defRPr>
            </a:pPr>
            <a:r>
              <a:rPr sz="123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本页结论</a:t>
            </a:r>
            <a:r>
              <a:rPr sz="1238">
                <a:solidFill>
                  <a:srgbClr val="F5C33B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　◆　</a:t>
            </a:r>
            <a:r>
              <a:rPr sz="1238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现状判断来自现场走访与岗位访谈；照片与访谈记录按下方位置补齐后，本页即为实证。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8F9438A-B694-4441-9796-EC9405A5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38300"/>
            <a:ext cx="3771900" cy="1866900"/>
          </a:xfrm>
          <a:prstGeom xmlns:a="http://schemas.openxmlformats.org/drawingml/2006/main" prst="roundRect">
            <a:avLst>
              <a:gd name="adj" fmla="val 5102"/>
            </a:avLst>
          </a:prstGeom>
          <a:gradFill xmlns:a="http://schemas.openxmlformats.org/drawingml/2006/main">
            <a:gsLst>
              <a:gs pos="0">
                <a:srgbClr val="253851"/>
              </a:gs>
              <a:gs pos="62000">
                <a:srgbClr val="0A1F3C"/>
              </a:gs>
              <a:gs pos="100000">
                <a:srgbClr val="08182F"/>
              </a:gs>
            </a:gsLst>
            <a:lin ang="8100000"/>
          </a:gradFill>
          <a:ln xmlns:a="http://schemas.openxmlformats.org/drawingml/2006/main" w="11430">
            <a:solidFill>
              <a:srgbClr val="31C7F0">
                <a:alpha val="4200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FDAEF51-15EB-4471-BC88-9A520E64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647825"/>
            <a:ext cx="3752850" cy="247650"/>
          </a:xfrm>
          <a:prstGeom xmlns:a="http://schemas.openxmlformats.org/drawingml/2006/main" prst="rect">
            <a:avLst/>
          </a:prstGeom>
          <a:pattFill xmlns:a="http://schemas.openxmlformats.org/drawingml/2006/main" prst="narVert">
            <a:fgClr>
              <a:srgbClr val="2A6BAE">
                <a:alpha val="35000"/>
              </a:srgbClr>
            </a:fgClr>
            <a:bgClr>
              <a:srgbClr val="0A1F3C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5DCC7DB-7C41-40AE-8CD3-356B9D93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 spc="2">
                <a:solidFill>
                  <a:srgbClr val="31C7F0">
                    <a:alpha val="85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 spc="2">
                <a:solidFill>
                  <a:srgbClr val="31C7F0">
                    <a:alpha val="85000"/>
                  </a:srgbClr>
                </a:solidFill>
                <a:latin typeface="微软雅黑"/>
                <a:ea typeface="微软雅黑"/>
                <a:cs typeface="微软雅黑"/>
              </a:rPr>
              <a:t>照片位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F2FE2F1-B3AA-4480-A177-E360B5E7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431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6CB3BEC-18B6-4FC7-875E-213A42B5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143125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C2B23F3-DF1E-4036-AA21-11FFB037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24150"/>
            <a:ext cx="346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企业调研现场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1FB4622-D712-4B60-8F64-640FD529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124200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8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建议：与需求方座谈、翻阅培训档案与台账
可核验：档案形式、学时记录方式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5096D89-3C24-4E4D-8414-8F1F6399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38300"/>
            <a:ext cx="3771900" cy="1866900"/>
          </a:xfrm>
          <a:prstGeom xmlns:a="http://schemas.openxmlformats.org/drawingml/2006/main" prst="roundRect">
            <a:avLst>
              <a:gd name="adj" fmla="val 5102"/>
            </a:avLst>
          </a:prstGeom>
          <a:gradFill xmlns:a="http://schemas.openxmlformats.org/drawingml/2006/main">
            <a:gsLst>
              <a:gs pos="0">
                <a:srgbClr val="253851"/>
              </a:gs>
              <a:gs pos="62000">
                <a:srgbClr val="0A1F3C"/>
              </a:gs>
              <a:gs pos="100000">
                <a:srgbClr val="08182F"/>
              </a:gs>
            </a:gsLst>
            <a:lin ang="8100000"/>
          </a:gradFill>
          <a:ln xmlns:a="http://schemas.openxmlformats.org/drawingml/2006/main" w="11430">
            <a:solidFill>
              <a:srgbClr val="2AD3B6">
                <a:alpha val="4200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A9626CA-C1E2-42FB-B95B-E90FCD45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47825"/>
            <a:ext cx="3752850" cy="247650"/>
          </a:xfrm>
          <a:prstGeom xmlns:a="http://schemas.openxmlformats.org/drawingml/2006/main" prst="rect">
            <a:avLst/>
          </a:prstGeom>
          <a:pattFill xmlns:a="http://schemas.openxmlformats.org/drawingml/2006/main" prst="narVert">
            <a:fgClr>
              <a:srgbClr val="2A6BAE">
                <a:alpha val="35000"/>
              </a:srgbClr>
            </a:fgClr>
            <a:bgClr>
              <a:srgbClr val="0A1F3C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E71CBC2-1010-42EA-AB5E-CA492FEC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66875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 spc="2">
                <a:solidFill>
                  <a:srgbClr val="2AD3B6">
                    <a:alpha val="85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 spc="2">
                <a:solidFill>
                  <a:srgbClr val="2AD3B6">
                    <a:alpha val="85000"/>
                  </a:srgbClr>
                </a:solidFill>
                <a:latin typeface="微软雅黑"/>
                <a:ea typeface="微软雅黑"/>
                <a:cs typeface="微软雅黑"/>
              </a:rPr>
              <a:t>照片位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F95DBF6-D579-4418-8457-A896C8EC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431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D3B6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DC462E9-01B4-44DB-B30F-7861BC5D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143125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D3B6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2587C33-B6B5-4FEF-A30E-CB6D40D4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346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现场走访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E2C6231-047A-4472-81BC-45CFE22A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24200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8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建议：变电站一次设备区 </a:t>
            </a:r>
            <a:r>
              <a:rPr sz="78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78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电缆沟检查井作业
可核验：作业环境、</a:t>
            </a:r>
            <a:r>
              <a:rPr sz="78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SOP </a:t>
            </a:r>
            <a:r>
              <a:rPr sz="78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执行情况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D3A7FC2-1A88-422B-9EEF-412505B9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38300"/>
            <a:ext cx="3771900" cy="1866900"/>
          </a:xfrm>
          <a:prstGeom xmlns:a="http://schemas.openxmlformats.org/drawingml/2006/main" prst="roundRect">
            <a:avLst>
              <a:gd name="adj" fmla="val 5102"/>
            </a:avLst>
          </a:prstGeom>
          <a:gradFill xmlns:a="http://schemas.openxmlformats.org/drawingml/2006/main">
            <a:gsLst>
              <a:gs pos="0">
                <a:srgbClr val="253851"/>
              </a:gs>
              <a:gs pos="62000">
                <a:srgbClr val="0A1F3C"/>
              </a:gs>
              <a:gs pos="100000">
                <a:srgbClr val="08182F"/>
              </a:gs>
            </a:gsLst>
            <a:lin ang="8100000"/>
          </a:gradFill>
          <a:ln xmlns:a="http://schemas.openxmlformats.org/drawingml/2006/main" w="11430">
            <a:solidFill>
              <a:srgbClr val="F5C33B">
                <a:alpha val="4200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E2BC954-64DC-4DAB-950C-9B15FDFA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647825"/>
            <a:ext cx="3752850" cy="247650"/>
          </a:xfrm>
          <a:prstGeom xmlns:a="http://schemas.openxmlformats.org/drawingml/2006/main" prst="rect">
            <a:avLst/>
          </a:prstGeom>
          <a:pattFill xmlns:a="http://schemas.openxmlformats.org/drawingml/2006/main" prst="narVert">
            <a:fgClr>
              <a:srgbClr val="2A6BAE">
                <a:alpha val="35000"/>
              </a:srgbClr>
            </a:fgClr>
            <a:bgClr>
              <a:srgbClr val="0A1F3C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7336357-518F-40A9-A4C4-4C943E9A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66875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 spc="2">
                <a:solidFill>
                  <a:srgbClr val="F5C33B">
                    <a:alpha val="85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 spc="2">
                <a:solidFill>
                  <a:srgbClr val="F5C33B">
                    <a:alpha val="85000"/>
                  </a:srgbClr>
                </a:solidFill>
                <a:latin typeface="微软雅黑"/>
                <a:ea typeface="微软雅黑"/>
                <a:cs typeface="微软雅黑"/>
              </a:rPr>
              <a:t>照片位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46CFE8C-BDE3-421B-8252-B1189DBA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431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03EB239-67D3-4145-8CE5-3D1E3111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143125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E8295D-65E4-4F2F-AEA6-0127C88F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346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专家访谈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448ECC2-B4EC-4C21-9A2D-CF34CD8D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24200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8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建议：指导教师或行业专家访谈画面截图
可核验：结论来源与访谈时间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D7432A5-CF28-47E1-9214-1A44C1F0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33800"/>
            <a:ext cx="5753100" cy="2324100"/>
          </a:xfrm>
          <a:prstGeom xmlns:a="http://schemas.openxmlformats.org/drawingml/2006/main" prst="roundRect">
            <a:avLst>
              <a:gd name="adj" fmla="val 3689"/>
            </a:avLst>
          </a:prstGeom>
          <a:gradFill xmlns:a="http://schemas.openxmlformats.org/drawingml/2006/main">
            <a:gsLst>
              <a:gs pos="0">
                <a:srgbClr val="253D5B"/>
              </a:gs>
              <a:gs pos="62000">
                <a:srgbClr val="0A2547"/>
              </a:gs>
              <a:gs pos="100000">
                <a:srgbClr val="081D37"/>
              </a:gs>
            </a:gsLst>
            <a:lin ang="8100000"/>
          </a:gradFill>
          <a:ln xmlns:a="http://schemas.openxmlformats.org/drawingml/2006/main" w="11430">
            <a:solidFill>
              <a:srgbClr val="31C7F0">
                <a:alpha val="5000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455046C-A682-4C12-90B6-439D5B4B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67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31C7F0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31C7F0"/>
                </a:solidFill>
                <a:latin typeface="微软雅黑"/>
                <a:ea typeface="微软雅黑"/>
                <a:cs typeface="微软雅黑"/>
              </a:rPr>
              <a:t>已获取的调研结论（三条，可逐条指认）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C5D4E4B-6B62-49A6-87FB-72E4BD08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53911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95000"/>
              </a:lnSpc>
              <a:buNone/>
              <a:def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档案形式：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培训档案以纸质签到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+ Excel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台账为主，学时代签、事后难核实。</a:t>
            </a:r>
          </a:p>
          <a:p xmlns:a="http://schemas.openxmlformats.org/drawingml/2006/main">
            <a:pPr algn="l">
              <a:lnSpc>
                <a:spcPct val="195000"/>
              </a:lnSpc>
              <a:buNone/>
              <a:def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考核方式：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资料学完即止，缺少岗位化题库与短板复盘，考核与岗位脱节。</a:t>
            </a:r>
          </a:p>
          <a:p xmlns:a="http://schemas.openxmlformats.org/drawingml/2006/main">
            <a:pPr algn="l">
              <a:lnSpc>
                <a:spcPct val="195000"/>
              </a:lnSpc>
              <a:buNone/>
              <a:def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归因口径：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同一份气体检测报告，不同人给出不同归因结论，无法复算。</a:t>
            </a:r>
          </a:p>
          <a:p xmlns:a="http://schemas.openxmlformats.org/drawingml/2006/main">
            <a:pPr algn="l">
              <a:lnSpc>
                <a:spcPct val="195000"/>
              </a:lnSpc>
              <a:buNone/>
              <a:def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证书管理：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有效期靠人工翻台账，漏检即形成合规风险。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FF72810-8029-45CC-96FB-1B793DB9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5772150" cy="2324100"/>
          </a:xfrm>
          <a:prstGeom xmlns:a="http://schemas.openxmlformats.org/drawingml/2006/main" prst="roundRect">
            <a:avLst>
              <a:gd name="adj" fmla="val 3689"/>
            </a:avLst>
          </a:prstGeom>
          <a:gradFill xmlns:a="http://schemas.openxmlformats.org/drawingml/2006/main">
            <a:gsLst>
              <a:gs pos="0">
                <a:srgbClr val="233951"/>
              </a:gs>
              <a:gs pos="62000">
                <a:srgbClr val="08203C"/>
              </a:gs>
              <a:gs pos="100000">
                <a:srgbClr val="06192F"/>
              </a:gs>
            </a:gsLst>
            <a:lin ang="8100000"/>
          </a:gradFill>
          <a:ln xmlns:a="http://schemas.openxmlformats.org/drawingml/2006/main" w="11430">
            <a:solidFill>
              <a:srgbClr val="F5C33B">
                <a:alpha val="5500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664B81D-4C68-4AD6-8B9C-FC3DFA85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671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5C33B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访谈记录要素（按此补齐，逐次登记）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BFB9ACD-E9D7-47FD-8099-F746AC75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2647950" cy="495300"/>
          </a:xfrm>
          <a:prstGeom xmlns:a="http://schemas.openxmlformats.org/drawingml/2006/main" prst="roundRect">
            <a:avLst>
              <a:gd name="adj" fmla="val 15385"/>
            </a:avLst>
          </a:prstGeom>
          <a:gradFill xmlns:a="http://schemas.openxmlformats.org/drawingml/2006/main">
            <a:gsLst>
              <a:gs pos="0">
                <a:srgbClr val="264265"/>
              </a:gs>
              <a:gs pos="62000">
                <a:srgbClr val="0B2B52"/>
              </a:gs>
              <a:gs pos="100000">
                <a:srgbClr val="092240"/>
              </a:gs>
            </a:gsLst>
            <a:lin ang="8100000"/>
          </a:gradFill>
          <a:ln xmlns:a="http://schemas.openxmlformats.org/drawingml/2006/main" w="9525">
            <a:solidFill>
              <a:srgbClr val="1B4C8A">
                <a:alpha val="6000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BF4122B-5A0A-4797-9DDE-4F148000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67200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访谈时间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AF9006E-584B-4446-9010-5E27B0D4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____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年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__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月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__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日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8BF853F-9BC5-49F7-8777-5BCF2773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10050"/>
            <a:ext cx="2647950" cy="495300"/>
          </a:xfrm>
          <a:prstGeom xmlns:a="http://schemas.openxmlformats.org/drawingml/2006/main" prst="roundRect">
            <a:avLst>
              <a:gd name="adj" fmla="val 15385"/>
            </a:avLst>
          </a:prstGeom>
          <a:gradFill xmlns:a="http://schemas.openxmlformats.org/drawingml/2006/main">
            <a:gsLst>
              <a:gs pos="0">
                <a:srgbClr val="264265"/>
              </a:gs>
              <a:gs pos="62000">
                <a:srgbClr val="0B2B52"/>
              </a:gs>
              <a:gs pos="100000">
                <a:srgbClr val="092240"/>
              </a:gs>
            </a:gsLst>
            <a:lin ang="8100000"/>
          </a:gradFill>
          <a:ln xmlns:a="http://schemas.openxmlformats.org/drawingml/2006/main" w="9525">
            <a:solidFill>
              <a:srgbClr val="1B4C8A">
                <a:alpha val="6000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728D922-9571-447E-9A90-DC7F0489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67200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受访单位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7FB8AA3-4360-48F3-820C-0489A20F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577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____________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154EE5F-58F5-4B48-B0A4-2C009518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00600"/>
            <a:ext cx="2647950" cy="495300"/>
          </a:xfrm>
          <a:prstGeom xmlns:a="http://schemas.openxmlformats.org/drawingml/2006/main" prst="roundRect">
            <a:avLst>
              <a:gd name="adj" fmla="val 15385"/>
            </a:avLst>
          </a:prstGeom>
          <a:gradFill xmlns:a="http://schemas.openxmlformats.org/drawingml/2006/main">
            <a:gsLst>
              <a:gs pos="0">
                <a:srgbClr val="264265"/>
              </a:gs>
              <a:gs pos="62000">
                <a:srgbClr val="0B2B52"/>
              </a:gs>
              <a:gs pos="100000">
                <a:srgbClr val="092240"/>
              </a:gs>
            </a:gsLst>
            <a:lin ang="8100000"/>
          </a:gradFill>
          <a:ln xmlns:a="http://schemas.openxmlformats.org/drawingml/2006/main" w="9525">
            <a:solidFill>
              <a:srgbClr val="1B4C8A">
                <a:alpha val="6000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D8C8BEB-6464-4D50-BF37-0301DB56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57750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对象 </a:t>
            </a:r>
            <a:r>
              <a:rPr sz="78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78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岗位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8DA7CF4-A37E-49B9-9279-FAF2F67E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482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____________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966F341-A857-4B83-B818-7DCDE21F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00600"/>
            <a:ext cx="2647950" cy="495300"/>
          </a:xfrm>
          <a:prstGeom xmlns:a="http://schemas.openxmlformats.org/drawingml/2006/main" prst="roundRect">
            <a:avLst>
              <a:gd name="adj" fmla="val 15385"/>
            </a:avLst>
          </a:prstGeom>
          <a:gradFill xmlns:a="http://schemas.openxmlformats.org/drawingml/2006/main">
            <a:gsLst>
              <a:gs pos="0">
                <a:srgbClr val="264265"/>
              </a:gs>
              <a:gs pos="62000">
                <a:srgbClr val="0B2B52"/>
              </a:gs>
              <a:gs pos="100000">
                <a:srgbClr val="092240"/>
              </a:gs>
            </a:gsLst>
            <a:lin ang="8100000"/>
          </a:gradFill>
          <a:ln xmlns:a="http://schemas.openxmlformats.org/drawingml/2006/main" w="9525">
            <a:solidFill>
              <a:srgbClr val="1B4C8A">
                <a:alpha val="6000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38292FC-62C9-4C2E-BDFB-9204EDCF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57750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形式 </a:t>
            </a:r>
            <a:r>
              <a:rPr sz="78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78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人数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81645CA-D376-45F1-8A3F-7F181331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482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座谈 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走访 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线上　共 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__ 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人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2A51A01-6640-4260-835A-C03E2667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91150"/>
            <a:ext cx="2647950" cy="495300"/>
          </a:xfrm>
          <a:prstGeom xmlns:a="http://schemas.openxmlformats.org/drawingml/2006/main" prst="roundRect">
            <a:avLst>
              <a:gd name="adj" fmla="val 15385"/>
            </a:avLst>
          </a:prstGeom>
          <a:gradFill xmlns:a="http://schemas.openxmlformats.org/drawingml/2006/main">
            <a:gsLst>
              <a:gs pos="0">
                <a:srgbClr val="264265"/>
              </a:gs>
              <a:gs pos="62000">
                <a:srgbClr val="0B2B52"/>
              </a:gs>
              <a:gs pos="100000">
                <a:srgbClr val="092240"/>
              </a:gs>
            </a:gsLst>
            <a:lin ang="8100000"/>
          </a:gradFill>
          <a:ln xmlns:a="http://schemas.openxmlformats.org/drawingml/2006/main" w="9525">
            <a:solidFill>
              <a:srgbClr val="1B4C8A">
                <a:alpha val="6000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E8A7BB2-9F0C-48AE-90F2-60D5E277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48300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关键结论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0B09431-2BBD-4784-B724-2B263DFC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388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____________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6DC102D-F48C-4137-A66F-A0B210BA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391150"/>
            <a:ext cx="2647950" cy="495300"/>
          </a:xfrm>
          <a:prstGeom xmlns:a="http://schemas.openxmlformats.org/drawingml/2006/main" prst="roundRect">
            <a:avLst>
              <a:gd name="adj" fmla="val 15385"/>
            </a:avLst>
          </a:prstGeom>
          <a:gradFill xmlns:a="http://schemas.openxmlformats.org/drawingml/2006/main">
            <a:gsLst>
              <a:gs pos="0">
                <a:srgbClr val="264265"/>
              </a:gs>
              <a:gs pos="62000">
                <a:srgbClr val="0B2B52"/>
              </a:gs>
              <a:gs pos="100000">
                <a:srgbClr val="092240"/>
              </a:gs>
            </a:gsLst>
            <a:lin ang="8100000"/>
          </a:gradFill>
          <a:ln xmlns:a="http://schemas.openxmlformats.org/drawingml/2006/main" w="9525">
            <a:solidFill>
              <a:srgbClr val="1B4C8A">
                <a:alpha val="6000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FF4AB5D-29DD-43FE-9938-5AFBFE95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48300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可核验材料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2CDAC03-F1FF-4B13-A2E2-D6F22CB5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6388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照片 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录音 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纪要编号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48392F0-A173-49F5-BAB8-A273195D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572250"/>
            <a:ext cx="11734800" cy="95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>
                  <a:alpha val="45000"/>
                </a:srgbClr>
              </a:gs>
              <a:gs pos="62000">
                <a:srgbClr val="1B4C8A">
                  <a:alpha val="30000"/>
                </a:srgbClr>
              </a:gs>
              <a:gs pos="100000">
                <a:srgbClr val="1B4C8A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B4D2EA6-0264-4529-ABFE-CAEFAA94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543675"/>
            <a:ext cx="285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D9157B8-3ABD-443B-B481-E73F8EFB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579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26439C4-7135-4558-B19A-4ED6930A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579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79264F9-BACB-4515-9F61-2280B495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579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4DDEF20-E9FC-4FE5-B851-2B482332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198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工业智训 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面向变电运维的可解释智能人才培养平台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36D5B9C-2C45-4369-95E4-7E512DEA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619875"/>
            <a:ext cx="514350" cy="1447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5C33B">
                  <a:alpha val="0"/>
                </a:srgbClr>
              </a:gs>
              <a:gs pos="100000">
                <a:srgbClr val="F5C33B"/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42FE8E1-EDD6-4C89-94BE-58BD9F34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591300"/>
            <a:ext cx="304800" cy="219075"/>
          </a:xfrm>
          <a:prstGeom xmlns:a="http://schemas.openxmlformats.org/drawingml/2006/main" prst="hexagon">
            <a:avLst/>
          </a:prstGeom>
          <a:gradFill xmlns:a="http://schemas.openxmlformats.org/drawingml/2006/main">
            <a:gsLst>
              <a:gs pos="0">
                <a:srgbClr val="1B4C8A"/>
              </a:gs>
              <a:gs pos="100000">
                <a:srgbClr val="0A2144"/>
              </a:gs>
            </a:gsLst>
            <a:lin ang="8100000"/>
          </a:gradFill>
          <a:ln xmlns:a="http://schemas.openxmlformats.org/drawingml/2006/main" w="11906">
            <a:solidFill>
              <a:srgbClr val="2A6BA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97A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900" b="1">
                <a:solidFill>
                  <a:srgbClr val="FFD97A"/>
                </a:solidFill>
                <a:latin typeface="Bahnschrift SemiBold"/>
                <a:ea typeface="Bahnschrift SemiBold"/>
                <a:cs typeface="Bahnschrift SemiBold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71459900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2A52"/>
            </a:gs>
            <a:gs pos="100000">
              <a:srgbClr val="06152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d31d7c2b548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CA4F9-E0CE-44EC-BA13-FDCFCCE4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52B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7BFBB-C25B-46D9-BC21-C7728D91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4476750" cy="39052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1C7F0">
                  <a:alpha val="15000"/>
                </a:srgbClr>
              </a:gs>
              <a:gs pos="45000">
                <a:srgbClr val="31C7F0">
                  <a:alpha val="6000"/>
                </a:srgbClr>
              </a:gs>
              <a:gs pos="100000">
                <a:srgbClr val="31C7F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002F4-9AB0-4B2F-9001-9B75B301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3429000" cy="304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E86E8">
                  <a:alpha val="12000"/>
                </a:srgbClr>
              </a:gs>
              <a:gs pos="45000">
                <a:srgbClr val="2E86E8">
                  <a:alpha val="5000"/>
                </a:srgbClr>
              </a:gs>
              <a:gs pos="100000">
                <a:srgbClr val="2E86E8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5C0F5-C8BC-4DEA-891E-6A3D79DA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A16CA-AED3-463C-A9B9-FDB54E25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947D2-22F1-4562-8343-807E0015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4ECB0-4399-4DC5-B9C6-A7816018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F9D92-EAA6-4591-97DE-3B7552E2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10B69-5A0E-4596-B259-5AAE0091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602EA-E071-4461-A452-3C8A7DA4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DF759-4FF6-4AA9-BBCD-14D6ED6E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DD062-2C45-4865-BC80-55E144F7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0095F-D71F-4C80-83C9-A8F0C827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AC79C-9D27-4D16-8CF3-1266AC21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80719-3433-4293-AE13-33C4B75C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FA060F-0A6B-40BA-9BBA-6E9378ED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94114C-4B4C-43C5-B70A-43115463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3CF67-CA99-4E12-A7B8-7D318488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C3E717-06CD-43B5-BD7C-B2085026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27E590-9951-4084-A467-681DB49E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81480-728A-4F3E-8830-B403D788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FAC815-A14C-478E-85E6-B01B7E8B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D320B6-9D74-4A5F-AA58-7ADC55FD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85A25D-F225-4AAE-88C5-C7328142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08EFAF-15F2-496F-B750-CF14D1F3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EA4FF0-CB2A-4C61-AEE9-4D356711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121311-5987-437E-8920-0B9E9B25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C72683-9A0E-4172-A525-A5573B62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4DCB35-7493-4986-9327-ABA5FD77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099555-FB4A-419E-B1BB-B89D4610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9E4890-32EE-4273-9F22-20E1B057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99A624-B38D-43FE-A1B7-7082F3B1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199884-676A-4283-9865-30CEF718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0D6593-8AB8-4C7C-944B-ECE7406B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8B4908-E902-4F8A-95AA-89F4B3C7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9E35BE-44CF-4E7F-AF75-FCFD7C0A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BE7C8F-7CD5-4BAF-A28B-C453D8A7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B7CFFB-DD1A-4240-95C2-4F110394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94981D-F896-4D1A-BBEB-39E06626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CC782A-B60B-40F4-9C7D-FE072959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5D03F4-87B3-43D6-897F-A41F7BBB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5A91E6-4826-472B-9D7D-92D22BF4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BB4FEE-6C60-4659-99E8-3FE14A2D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95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B901FA-66A6-4CB5-AD6B-84B852FF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10763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34DB489-C9FD-4857-AD31-977D07C7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38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B3CD91-3BCE-45F5-A75C-9F58AA43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409700"/>
            <a:ext cx="1905000" cy="2400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>
                  <a:alpha val="0"/>
                </a:srgbClr>
              </a:gs>
              <a:gs pos="45000">
                <a:srgbClr val="31C7F0"/>
              </a:gs>
              <a:gs pos="100000">
                <a:srgbClr val="31C7F0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F7E3F5-9BE9-4AA5-803F-3D04C2E7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1333500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1C7F0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7E913B-A52B-493D-A316-19CB4181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A68B75-39F0-4768-A8EE-9A2400F9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A60CC3E-0A00-43D5-9F1C-9CF6A1EF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80494B5-8AF0-40EA-9EE1-892367C0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3A1319-2EDE-4F67-BB0E-7BE041F6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2ED47AF-4ACD-464C-85A4-85DDC53B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A29852-FBB3-49B6-B077-544D8840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EF2255F-F275-412F-AFFC-42ACD5F6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08E5635-D4D3-4927-A6A0-F4B5349A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503D73E-8EB5-4F56-B73B-3E30131A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AAA0C5C-BED8-4592-B74A-E49E0533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0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2F66F6A-FC52-4E52-BFD6-7EAE814D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410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8F23E75-4BDB-4973-965D-E4E3959B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12039600" cy="6705600"/>
          </a:xfrm>
          <a:prstGeom xmlns:a="http://schemas.openxmlformats.org/drawingml/2006/main" prst="roundRect">
            <a:avLst>
              <a:gd name="adj" fmla="val 1989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2E6FB0">
                <a:alpha val="6000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9DC9D6C-AFE3-4D1B-B533-464090E8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11925300" cy="6591300"/>
          </a:xfrm>
          <a:prstGeom xmlns:a="http://schemas.openxmlformats.org/drawingml/2006/main" prst="roundRect">
            <a:avLst>
              <a:gd name="adj" fmla="val 1445"/>
            </a:avLst>
          </a:prstGeom>
          <a:noFill xmlns:a="http://schemas.openxmlformats.org/drawingml/2006/main"/>
          <a:ln xmlns:a="http://schemas.openxmlformats.org/drawingml/2006/main" w="7144">
            <a:solidFill>
              <a:srgbClr val="1B4C8A">
                <a:alpha val="3200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9634B94-F2DC-434B-BA17-05D80524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9891002-F068-42FA-83A4-EB8315A8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9F0ADEF-9897-4853-A1B5-4719AB69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7532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20F4B7B-A5AA-46CE-9D74-3EA545CC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64579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6878308-26C4-4C96-A6C7-EB6E4138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A50CB14-99B6-4E61-BFF5-D401B6C8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A2F8B3E-E593-4E00-8A3C-939270CA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71512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AEB50A7-F40C-4875-A5F3-602DC303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65532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07160A9-01E9-4B73-AAF3-5925CDD9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" y="339090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4D9ED6E-4C61-4FB0-B523-0C680C5D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3128" y="339090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53949DE-1204-45A6-A2BC-60F2B552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927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E81EE11-EAFD-49A0-882D-4FA197A3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273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4906026-9DD2-48C2-80A7-A48BA0FE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4236AC8-32A8-4C12-B3BC-CF67B4C6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727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21C0A96-3703-4285-A3A8-79945B5D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073" y="6743700"/>
            <a:ext cx="144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B0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9765F60-1AF6-4221-8336-98D1A99B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192F"/>
              </a:gs>
              <a:gs pos="58000">
                <a:srgbClr val="071E3A"/>
              </a:gs>
              <a:gs pos="100000">
                <a:srgbClr val="04142B"/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34533E9-7446-4B8A-91A5-B72D1B1F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0"/>
            <a:ext cx="2819400" cy="628650"/>
          </a:xfrm>
          <a:prstGeom xmlns:a="http://schemas.openxmlformats.org/drawingml/2006/main" prst="rect">
            <a:avLst/>
          </a:prstGeom>
          <a:pattFill xmlns:a="http://schemas.openxmlformats.org/drawingml/2006/main" prst="narVert">
            <a:fgClr>
              <a:srgbClr val="2A6BAE">
                <a:alpha val="42000"/>
              </a:srgbClr>
            </a:fgClr>
            <a:bgClr>
              <a:srgbClr val="061B36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F34567C-FE1E-494E-8389-1A36D08B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286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31C7F0">
                  <a:alpha val="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C864F2A-B795-41DB-AF7F-8BF5FFB5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5C33B"/>
              </a:gs>
              <a:gs pos="24000">
                <a:srgbClr val="F5C33B">
                  <a:alpha val="55000"/>
                </a:srgbClr>
              </a:gs>
              <a:gs pos="68000">
                <a:srgbClr val="31C7F0">
                  <a:alpha val="45000"/>
                </a:srgbClr>
              </a:gs>
              <a:gs pos="100000">
                <a:srgbClr val="31C7F0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2D8A698-F3DE-4C10-8E0F-8CB94F4B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05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广东科技学院 </a:t>
            </a:r>
            <a:r>
              <a:rPr sz="93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38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逐光造梦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3C49DF4-1FC2-43E6-BC19-81A3FD48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1C7F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7B1F33B-5951-4467-B2A4-B4188B15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"/>
            <a:ext cx="47625" cy="47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1C7F0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379B281-5AA0-4B7D-B771-2BECA7B5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9050"/>
            <a:ext cx="1028700" cy="5905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1C7F0">
                  <a:alpha val="26000"/>
                </a:srgbClr>
              </a:gs>
              <a:gs pos="45000">
                <a:srgbClr val="31C7F0">
                  <a:alpha val="10000"/>
                </a:srgbClr>
              </a:gs>
              <a:gs pos="100000">
                <a:srgbClr val="31C7F0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0291D0F-09E9-43A1-A556-0B4BC228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5250"/>
            <a:ext cx="628650" cy="438150"/>
          </a:xfrm>
          <a:prstGeom xmlns:a="http://schemas.openxmlformats.org/drawingml/2006/main" prst="hexagon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196478"/>
              </a:gs>
            </a:gsLst>
            <a:lin ang="8100000"/>
          </a:gradFill>
          <a:ln xmlns:a="http://schemas.openxmlformats.org/drawingml/2006/main" w="11906">
            <a:solidFill>
              <a:srgbClr val="F5C33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4203A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04203A"/>
                </a:solidFill>
                <a:latin typeface="Bahnschrift SemiBold"/>
                <a:ea typeface="Bahnschrift SemiBold"/>
                <a:cs typeface="Bahnschrift SemiBold"/>
              </a:rPr>
              <a:t>01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CFEA400-924A-46E3-8D0D-F73CE7F2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4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spc="2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spc="2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8231B02-05A6-4C0C-951A-C48CD7DE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"/>
            <a:ext cx="19050" cy="2476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31C7F0">
                  <a:alpha val="20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FAC3743-0DC1-4260-988F-721F4F6D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428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调研结论：为什么要做工业智训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D1302AE-D8BA-4233-80DF-F6B18E63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838200" cy="1447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/>
              </a:gs>
              <a:gs pos="100000">
                <a:srgbClr val="31C7F0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D704E89-185E-40EE-88E4-E69CEBF7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9862C1A-CD54-4726-9211-77D6B9BE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9AD9653-727B-4C88-9A7F-028C9BE9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C7F0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4C2DF42-E993-4F4B-845F-6FFA6D76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42950"/>
            <a:ext cx="11734800" cy="457200"/>
          </a:xfrm>
          <a:prstGeom xmlns:a="http://schemas.openxmlformats.org/drawingml/2006/main" prst="roundRect">
            <a:avLst>
              <a:gd name="adj" fmla="val 20833"/>
            </a:avLst>
          </a:prstGeom>
          <a:gradFill xmlns:a="http://schemas.openxmlformats.org/drawingml/2006/main">
            <a:gsLst>
              <a:gs pos="0">
                <a:srgbClr val="274569"/>
              </a:gs>
              <a:gs pos="62000">
                <a:srgbClr val="0C2E56"/>
              </a:gs>
              <a:gs pos="100000">
                <a:srgbClr val="092443"/>
              </a:gs>
            </a:gsLst>
            <a:lin ang="8100000"/>
          </a:gradFill>
          <a:ln xmlns:a="http://schemas.openxmlformats.org/drawingml/2006/main" w="12383">
            <a:solidFill>
              <a:srgbClr val="F5C33B">
                <a:alpha val="8500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EFFDA97-BBAB-4D64-B69F-35F5E6DC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81050"/>
            <a:ext cx="116586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7144">
            <a:solidFill>
              <a:srgbClr val="F5C33B">
                <a:alpha val="2200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4E8D374-A085-482E-A55F-CDC70655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19150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DB90095-D57C-4E41-BF8D-0FBFA253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38200"/>
            <a:ext cx="247650" cy="26670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>
            <a:solidFill>
              <a:srgbClr val="F5C33B">
                <a:alpha val="6000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846944D-7A69-420B-8519-37DBE214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895350"/>
            <a:ext cx="114300" cy="1428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5C33B">
              <a:alpha val="3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BA78650-17FD-443C-83E6-D0B20424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009650"/>
            <a:ext cx="38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7FED5D9-B476-4055-A8B2-F5F4E8C3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981075"/>
            <a:ext cx="381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8F27086-4DBA-4656-93D2-1E618D2C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952500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D8E1BBB-2639-4991-9615-54E63B16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923925"/>
            <a:ext cx="38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7F0">
              <a:alpha val="5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A976090-04E8-4CCF-8B68-67E74DA7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89535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FD9DD87-21FF-407F-AFF4-6288C680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982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>
                <a:latin typeface="微软雅黑"/>
                <a:ea typeface="微软雅黑"/>
                <a:cs typeface="微软雅黑"/>
              </a:defRPr>
            </a:pPr>
            <a:r>
              <a:rPr sz="1238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本页结论</a:t>
            </a:r>
            <a:r>
              <a:rPr sz="1238">
                <a:solidFill>
                  <a:srgbClr val="F5C33B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　◆　</a:t>
            </a:r>
            <a:r>
              <a:rPr sz="1238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结论：不是缺一个培训系统，而是缺可量化、可追溯、可上岗的能力数据。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0CE94EE-000E-4EB5-B678-92ADD6D2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09700"/>
            <a:ext cx="3619500" cy="323850"/>
          </a:xfrm>
          <a:prstGeom xmlns:a="http://schemas.openxmlformats.org/drawingml/2006/main" prst="roundRect">
            <a:avLst>
              <a:gd name="adj" fmla="val 23529"/>
            </a:avLst>
          </a:prstGeom>
          <a:gradFill xmlns:a="http://schemas.openxmlformats.org/drawingml/2006/main">
            <a:gsLst>
              <a:gs pos="0">
                <a:srgbClr val="2C5074"/>
              </a:gs>
              <a:gs pos="62000">
                <a:srgbClr val="123A63"/>
              </a:gs>
              <a:gs pos="100000">
                <a:srgbClr val="0E2D4D"/>
              </a:gs>
            </a:gsLst>
            <a:lin ang="8100000"/>
          </a:gradFill>
          <a:ln xmlns:a="http://schemas.openxmlformats.org/drawingml/2006/main" w="9525">
            <a:solidFill>
              <a:srgbClr val="F2705E">
                <a:alpha val="6000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506BF06-760F-41B3-8757-18838C53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705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705E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A2C900E-B08B-4711-9CB0-406F967F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09700"/>
            <a:ext cx="3619500" cy="323850"/>
          </a:xfrm>
          <a:prstGeom xmlns:a="http://schemas.openxmlformats.org/drawingml/2006/main" prst="roundRect">
            <a:avLst>
              <a:gd name="adj" fmla="val 23529"/>
            </a:avLst>
          </a:prstGeom>
          <a:gradFill xmlns:a="http://schemas.openxmlformats.org/drawingml/2006/main">
            <a:gsLst>
              <a:gs pos="0">
                <a:srgbClr val="2C5074"/>
              </a:gs>
              <a:gs pos="62000">
                <a:srgbClr val="123A63"/>
              </a:gs>
              <a:gs pos="100000">
                <a:srgbClr val="0E2D4D"/>
              </a:gs>
            </a:gsLst>
            <a:lin ang="8100000"/>
          </a:gradFill>
          <a:ln xmlns:a="http://schemas.openxmlformats.org/drawingml/2006/main" w="9525">
            <a:solidFill>
              <a:srgbClr val="F0A23B">
                <a:alpha val="6000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C70AE86-55B6-4DD4-A100-7BBAFCCA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0970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A23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A23B"/>
                </a:solidFill>
                <a:latin typeface="微软雅黑"/>
                <a:ea typeface="微软雅黑"/>
                <a:cs typeface="微软雅黑"/>
              </a:rPr>
              <a:t>后果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D1D7CDC-D767-44F9-88E1-BAE3C0D8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09700"/>
            <a:ext cx="4019550" cy="323850"/>
          </a:xfrm>
          <a:prstGeom xmlns:a="http://schemas.openxmlformats.org/drawingml/2006/main" prst="roundRect">
            <a:avLst>
              <a:gd name="adj" fmla="val 23529"/>
            </a:avLst>
          </a:prstGeom>
          <a:gradFill xmlns:a="http://schemas.openxmlformats.org/drawingml/2006/main">
            <a:gsLst>
              <a:gs pos="0">
                <a:srgbClr val="2C5074"/>
              </a:gs>
              <a:gs pos="62000">
                <a:srgbClr val="123A63"/>
              </a:gs>
              <a:gs pos="100000">
                <a:srgbClr val="0E2D4D"/>
              </a:gs>
            </a:gsLst>
            <a:lin ang="8100000"/>
          </a:gradFill>
          <a:ln xmlns:a="http://schemas.openxmlformats.org/drawingml/2006/main" w="9525">
            <a:solidFill>
              <a:srgbClr val="3FD08A">
                <a:alpha val="6000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6E02FE7-A7DF-4AE3-A41F-979F2101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097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D08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FD08A"/>
                </a:solidFill>
                <a:latin typeface="微软雅黑"/>
                <a:ea typeface="微软雅黑"/>
                <a:cs typeface="微软雅黑"/>
              </a:rPr>
              <a:t>本项目对应做法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A2783EE-8FCA-4400-9917-63FB066A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47850"/>
            <a:ext cx="3619500" cy="1181100"/>
          </a:xfrm>
          <a:prstGeom xmlns:a="http://schemas.openxmlformats.org/drawingml/2006/main" prst="roundRect">
            <a:avLst>
              <a:gd name="adj" fmla="val 8065"/>
            </a:avLst>
          </a:prstGeom>
          <a:gradFill xmlns:a="http://schemas.openxmlformats.org/drawingml/2006/main">
            <a:gsLst>
              <a:gs pos="0">
                <a:srgbClr val="29486B"/>
              </a:gs>
              <a:gs pos="62000">
                <a:srgbClr val="0F3159"/>
              </a:gs>
              <a:gs pos="100000">
                <a:srgbClr val="0C2645"/>
              </a:gs>
            </a:gsLst>
            <a:lin ang="8100000"/>
          </a:gradFill>
          <a:ln xmlns:a="http://schemas.openxmlformats.org/drawingml/2006/main" w="9525">
            <a:solidFill>
              <a:srgbClr val="1B4C8A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E372EC2-C70F-493C-88A8-754C68A2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47850"/>
            <a:ext cx="285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05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9EFD669-CF36-4160-B2D3-A7E0DB7A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327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900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能力数据散落在纸质签到与 </a:t>
            </a:r>
            <a:r>
              <a:rPr sz="900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Excel </a:t>
            </a:r>
            <a:r>
              <a:rPr sz="900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台账里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2716FB0-98DE-49F0-B387-D2F60F17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3619500" cy="1181100"/>
          </a:xfrm>
          <a:prstGeom xmlns:a="http://schemas.openxmlformats.org/drawingml/2006/main" prst="roundRect">
            <a:avLst>
              <a:gd name="adj" fmla="val 8065"/>
            </a:avLst>
          </a:prstGeom>
          <a:gradFill xmlns:a="http://schemas.openxmlformats.org/drawingml/2006/main">
            <a:gsLst>
              <a:gs pos="0">
                <a:srgbClr val="29486B"/>
              </a:gs>
              <a:gs pos="62000">
                <a:srgbClr val="0F3159"/>
              </a:gs>
              <a:gs pos="100000">
                <a:srgbClr val="0C2645"/>
              </a:gs>
            </a:gsLst>
            <a:lin ang="8100000"/>
          </a:gradFill>
          <a:ln xmlns:a="http://schemas.openxmlformats.org/drawingml/2006/main" w="9525">
            <a:solidFill>
              <a:srgbClr val="1B4C8A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A63F8DC-E5F6-451E-BA41-01ADCD46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285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2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10F78AF-73A2-49A2-B2C5-E63F384F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00250"/>
            <a:ext cx="327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900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培训投入无法量化，用人决策靠印象；关键岗位有没有备份答不上来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82A0591-929C-43D6-8000-62201ABE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47850"/>
            <a:ext cx="4019550" cy="1181100"/>
          </a:xfrm>
          <a:prstGeom xmlns:a="http://schemas.openxmlformats.org/drawingml/2006/main" prst="roundRect">
            <a:avLst>
              <a:gd name="adj" fmla="val 8065"/>
            </a:avLst>
          </a:prstGeom>
          <a:gradFill xmlns:a="http://schemas.openxmlformats.org/drawingml/2006/main">
            <a:gsLst>
              <a:gs pos="0">
                <a:srgbClr val="264265"/>
              </a:gs>
              <a:gs pos="62000">
                <a:srgbClr val="0B2B52"/>
              </a:gs>
              <a:gs pos="100000">
                <a:srgbClr val="092240"/>
              </a:gs>
            </a:gsLst>
            <a:lin ang="8100000"/>
          </a:gradFill>
          <a:ln xmlns:a="http://schemas.openxmlformats.org/drawingml/2006/main" w="9525">
            <a:solidFill>
              <a:srgbClr val="3FD08A">
                <a:alpha val="5000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1C4F5C3-B676-46DD-9E41-EC32E0D1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47850"/>
            <a:ext cx="285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D08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181F9C6-553A-4067-A04F-8E62F3E4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00250"/>
            <a:ext cx="3676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900" b="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把考试、实操、证书、工单统一成结构化能力数据，让每次投入都能对上缺口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A56DD0F-78AF-498C-B77A-511ECEBD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86100"/>
            <a:ext cx="11639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C8A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C013A52-BF4E-4843-B269-A2A9D5CD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8125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5C33B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E988042-B6AB-4FC0-9005-B54B06F6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8125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FD08A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187CE01-F3F8-401D-B07C-CC8A6B30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143250"/>
            <a:ext cx="3619500" cy="1181100"/>
          </a:xfrm>
          <a:prstGeom xmlns:a="http://schemas.openxmlformats.org/drawingml/2006/main" prst="roundRect">
            <a:avLst>
              <a:gd name="adj" fmla="val 8065"/>
            </a:avLst>
          </a:prstGeom>
          <a:gradFill xmlns:a="http://schemas.openxmlformats.org/drawingml/2006/main">
            <a:gsLst>
              <a:gs pos="0">
                <a:srgbClr val="29486B"/>
              </a:gs>
              <a:gs pos="62000">
                <a:srgbClr val="0F3159"/>
              </a:gs>
              <a:gs pos="100000">
                <a:srgbClr val="0C2645"/>
              </a:gs>
            </a:gsLst>
            <a:lin ang="8100000"/>
          </a:gradFill>
          <a:ln xmlns:a="http://schemas.openxmlformats.org/drawingml/2006/main" w="9525">
            <a:solidFill>
              <a:srgbClr val="1B4C8A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2DC51D7-8821-4978-AE49-90D8A503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143250"/>
            <a:ext cx="285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05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1D162A8-BEB6-42A5-A67B-97DA94B8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27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900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判定阈值与人选原因靠个人经验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F8BB544-3CB3-4762-9D21-C69EF906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3619500" cy="1181100"/>
          </a:xfrm>
          <a:prstGeom xmlns:a="http://schemas.openxmlformats.org/drawingml/2006/main" prst="roundRect">
            <a:avLst>
              <a:gd name="adj" fmla="val 8065"/>
            </a:avLst>
          </a:prstGeom>
          <a:gradFill xmlns:a="http://schemas.openxmlformats.org/drawingml/2006/main">
            <a:gsLst>
              <a:gs pos="0">
                <a:srgbClr val="29486B"/>
              </a:gs>
              <a:gs pos="62000">
                <a:srgbClr val="0F3159"/>
              </a:gs>
              <a:gs pos="100000">
                <a:srgbClr val="0C2645"/>
              </a:gs>
            </a:gsLst>
            <a:lin ang="8100000"/>
          </a:gradFill>
          <a:ln xmlns:a="http://schemas.openxmlformats.org/drawingml/2006/main" w="9525">
            <a:solidFill>
              <a:srgbClr val="1B4C8A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CE52790-FE1D-4F26-9D7B-286CCDD2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285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2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41273C8-4A1D-42EF-BF93-58F9F1A8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95650"/>
            <a:ext cx="327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900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同一份报告不同人不同结论，出了事无法复算，责任说不清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B546E1F-A903-4946-A0C8-C2A07AA7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4019550" cy="1181100"/>
          </a:xfrm>
          <a:prstGeom xmlns:a="http://schemas.openxmlformats.org/drawingml/2006/main" prst="roundRect">
            <a:avLst>
              <a:gd name="adj" fmla="val 8065"/>
            </a:avLst>
          </a:prstGeom>
          <a:gradFill xmlns:a="http://schemas.openxmlformats.org/drawingml/2006/main">
            <a:gsLst>
              <a:gs pos="0">
                <a:srgbClr val="264265"/>
              </a:gs>
              <a:gs pos="62000">
                <a:srgbClr val="0B2B52"/>
              </a:gs>
              <a:gs pos="100000">
                <a:srgbClr val="092240"/>
              </a:gs>
            </a:gsLst>
            <a:lin ang="8100000"/>
          </a:gradFill>
          <a:ln xmlns:a="http://schemas.openxmlformats.org/drawingml/2006/main" w="9525">
            <a:solidFill>
              <a:srgbClr val="3FD08A">
                <a:alpha val="5000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45679C3-8538-43A6-ACD5-3AB5FB73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85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D08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369E19D-5E93-485B-9D58-2F31E6F7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95650"/>
            <a:ext cx="3676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900" b="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阈值入标准库、算子白名单求值；结论带 </a:t>
            </a:r>
            <a:r>
              <a:rPr sz="900" b="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rule_code </a:t>
            </a:r>
            <a:r>
              <a:rPr sz="900" b="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与依据事实，任何人可复算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F686434-8ED5-4B45-AE5D-33DA23DF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81500"/>
            <a:ext cx="11639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C8A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6DDBB0A-A0BE-400E-8E1C-235FF45D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7665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5C33B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570ED4D-8B83-4A72-AAA7-2B873DFA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7665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FD08A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49708AE-A9E3-428F-845B-CB4DECA7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38650"/>
            <a:ext cx="3619500" cy="1181100"/>
          </a:xfrm>
          <a:prstGeom xmlns:a="http://schemas.openxmlformats.org/drawingml/2006/main" prst="roundRect">
            <a:avLst>
              <a:gd name="adj" fmla="val 8065"/>
            </a:avLst>
          </a:prstGeom>
          <a:gradFill xmlns:a="http://schemas.openxmlformats.org/drawingml/2006/main">
            <a:gsLst>
              <a:gs pos="0">
                <a:srgbClr val="29486B"/>
              </a:gs>
              <a:gs pos="62000">
                <a:srgbClr val="0F3159"/>
              </a:gs>
              <a:gs pos="100000">
                <a:srgbClr val="0C2645"/>
              </a:gs>
            </a:gsLst>
            <a:lin ang="8100000"/>
          </a:gradFill>
          <a:ln xmlns:a="http://schemas.openxmlformats.org/drawingml/2006/main" w="9525">
            <a:solidFill>
              <a:srgbClr val="1B4C8A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675728F-ACE2-482D-9786-98C9AD21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38650"/>
            <a:ext cx="285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05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2D7EA03-595B-481D-B562-79F42742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327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900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建议、确认、执行过程没有留痕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808B28E-A61E-4BCE-AEFE-820F839B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3619500" cy="1181100"/>
          </a:xfrm>
          <a:prstGeom xmlns:a="http://schemas.openxmlformats.org/drawingml/2006/main" prst="roundRect">
            <a:avLst>
              <a:gd name="adj" fmla="val 8065"/>
            </a:avLst>
          </a:prstGeom>
          <a:gradFill xmlns:a="http://schemas.openxmlformats.org/drawingml/2006/main">
            <a:gsLst>
              <a:gs pos="0">
                <a:srgbClr val="29486B"/>
              </a:gs>
              <a:gs pos="62000">
                <a:srgbClr val="0F3159"/>
              </a:gs>
              <a:gs pos="100000">
                <a:srgbClr val="0C2645"/>
              </a:gs>
            </a:gsLst>
            <a:lin ang="8100000"/>
          </a:gradFill>
          <a:ln xmlns:a="http://schemas.openxmlformats.org/drawingml/2006/main" w="9525">
            <a:solidFill>
              <a:srgbClr val="1B4C8A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8341466-E0C8-4E8D-A3CC-9F1B2D96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285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2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1AC1EAC-E00C-4389-92B1-AB1164C5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91050"/>
            <a:ext cx="327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900" b="0">
                <a:solidFill>
                  <a:srgbClr val="9FC2E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无法审计、无法追责，管理端不敢采信智能结论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863C473-A1E3-4488-807E-C73A0495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38650"/>
            <a:ext cx="4019550" cy="1181100"/>
          </a:xfrm>
          <a:prstGeom xmlns:a="http://schemas.openxmlformats.org/drawingml/2006/main" prst="roundRect">
            <a:avLst>
              <a:gd name="adj" fmla="val 8065"/>
            </a:avLst>
          </a:prstGeom>
          <a:gradFill xmlns:a="http://schemas.openxmlformats.org/drawingml/2006/main">
            <a:gsLst>
              <a:gs pos="0">
                <a:srgbClr val="264265"/>
              </a:gs>
              <a:gs pos="62000">
                <a:srgbClr val="0B2B52"/>
              </a:gs>
              <a:gs pos="100000">
                <a:srgbClr val="092240"/>
              </a:gs>
            </a:gsLst>
            <a:lin ang="8100000"/>
          </a:gradFill>
          <a:ln xmlns:a="http://schemas.openxmlformats.org/drawingml/2006/main" w="9525">
            <a:solidFill>
              <a:srgbClr val="3FD08A">
                <a:alpha val="5000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5FE99DF-588E-4C03-AFB2-14DC9C97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38650"/>
            <a:ext cx="285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D08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29335F5-DB12-483D-B930-C8BED946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91050"/>
            <a:ext cx="3676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900" b="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建议写 </a:t>
            </a:r>
            <a:r>
              <a:rPr sz="900" b="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agent_suggestion</a:t>
            </a:r>
            <a:r>
              <a:rPr sz="900" b="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、确认写 </a:t>
            </a:r>
            <a:r>
              <a:rPr sz="900" b="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decision_log</a:t>
            </a:r>
            <a:r>
              <a:rPr sz="900" b="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，同一 </a:t>
            </a:r>
            <a:r>
              <a:rPr sz="900" b="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run_id </a:t>
            </a:r>
            <a:r>
              <a:rPr sz="900" b="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串起三张表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BEA4CC8-CB80-4343-9A59-E2F8B855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7205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5C33B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1BE0858-E017-4171-AE7D-14EFC55A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7205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FD08A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CDB4B1A-F682-4361-986A-9EC01AE6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53100"/>
            <a:ext cx="11639550" cy="323850"/>
          </a:xfrm>
          <a:prstGeom xmlns:a="http://schemas.openxmlformats.org/drawingml/2006/main" prst="roundRect">
            <a:avLst>
              <a:gd name="adj" fmla="val 23529"/>
            </a:avLst>
          </a:prstGeom>
          <a:gradFill xmlns:a="http://schemas.openxmlformats.org/drawingml/2006/main">
            <a:gsLst>
              <a:gs pos="0">
                <a:srgbClr val="253D5B"/>
              </a:gs>
              <a:gs pos="62000">
                <a:srgbClr val="0A2547"/>
              </a:gs>
              <a:gs pos="100000">
                <a:srgbClr val="081D37"/>
              </a:gs>
            </a:gsLst>
            <a:lin ang="8100000"/>
          </a:gradFill>
          <a:ln xmlns:a="http://schemas.openxmlformats.org/drawingml/2006/main" w="11430">
            <a:solidFill>
              <a:srgbClr val="F5C33B">
                <a:alpha val="7000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A0A69EB-2EB2-4872-9700-26BB4409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79120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D59E32D-51C7-4CF9-A817-C82043DD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113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C33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因此，本项目把「证据链」当作第一性设计目标：规则保底 </a:t>
            </a:r>
            <a:r>
              <a:rPr sz="975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75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模型增强 </a:t>
            </a:r>
            <a:r>
              <a:rPr sz="975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75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人工确认 </a:t>
            </a:r>
            <a:r>
              <a:rPr sz="975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75" b="1">
                <a:solidFill>
                  <a:srgbClr val="F5C33B"/>
                </a:solidFill>
                <a:latin typeface="微软雅黑"/>
                <a:ea typeface="微软雅黑"/>
                <a:cs typeface="微软雅黑"/>
              </a:rPr>
              <a:t>全程留痕。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D2B57CD-D240-428C-8611-CB98B97A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572250"/>
            <a:ext cx="11734800" cy="95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1C7F0">
                  <a:alpha val="45000"/>
                </a:srgbClr>
              </a:gs>
              <a:gs pos="62000">
                <a:srgbClr val="1B4C8A">
                  <a:alpha val="30000"/>
                </a:srgbClr>
              </a:gs>
              <a:gs pos="100000">
                <a:srgbClr val="1B4C8A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268B57F-39FF-4FFF-8BFE-B0A2F7C2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543675"/>
            <a:ext cx="285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55EE147-6D1B-4501-AB9A-B6F73F7D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579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38B829A-A0F8-4D29-B87A-3E04616B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579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4764608A-40AF-4F21-A475-E75AA42E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579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33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0EAEDB0-44DD-4043-9AD5-73327B8F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198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工业智训 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25" b="0">
                <a:solidFill>
                  <a:srgbClr val="7A9CC4"/>
                </a:solidFill>
                <a:latin typeface="微软雅黑"/>
                <a:ea typeface="微软雅黑"/>
                <a:cs typeface="微软雅黑"/>
              </a:rPr>
              <a:t>面向变电运维的可解释智能人才培养平台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0042BC43-E9C1-4FC7-9872-3F644EE6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619875"/>
            <a:ext cx="514350" cy="1447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5C33B">
                  <a:alpha val="0"/>
                </a:srgbClr>
              </a:gs>
              <a:gs pos="100000">
                <a:srgbClr val="F5C33B"/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C54F2665-5981-4C31-A479-E7A8DD97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591300"/>
            <a:ext cx="304800" cy="219075"/>
          </a:xfrm>
          <a:prstGeom xmlns:a="http://schemas.openxmlformats.org/drawingml/2006/main" prst="hexagon">
            <a:avLst/>
          </a:prstGeom>
          <a:gradFill xmlns:a="http://schemas.openxmlformats.org/drawingml/2006/main">
            <a:gsLst>
              <a:gs pos="0">
                <a:srgbClr val="1B4C8A"/>
              </a:gs>
              <a:gs pos="100000">
                <a:srgbClr val="0A2144"/>
              </a:gs>
            </a:gsLst>
            <a:lin ang="8100000"/>
          </a:gradFill>
          <a:ln xmlns:a="http://schemas.openxmlformats.org/drawingml/2006/main" w="11906">
            <a:solidFill>
              <a:srgbClr val="2A6BA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97A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900" b="1">
                <a:solidFill>
                  <a:srgbClr val="FFD97A"/>
                </a:solidFill>
                <a:latin typeface="Bahnschrift SemiBold"/>
                <a:ea typeface="Bahnschrift SemiBold"/>
                <a:cs typeface="Bahnschrift SemiBold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74045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2026-09-27T11:13:36.2170000Z</dcterms:created>
  <dcterms:modified xsi:type="dcterms:W3CDTF">2026-09-27T11:13:36.2170000Z</dcterms:modified>
</coreProperties>
</file>