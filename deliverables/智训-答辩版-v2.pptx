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28800814cf4ecd" /><Relationship Type="http://schemas.openxmlformats.org/officeDocument/2006/relationships/extended-properties" Target="/docProps/app.xml" Id="Ra9179b78ea344753" /><Relationship Type="http://schemas.openxmlformats.org/officeDocument/2006/relationships/officeDocument" Target="/ppt/presentation.xml" Id="R9891e59b30074158" /></Relationships>
</file>

<file path=ppt/presentation.xml><?xml version="1.0" encoding="utf-8"?>
<p:presentation xmlns:p="http://schemas.openxmlformats.org/presentationml/2006/main">
  <p:sldMasterIdLst>
    <p:sldMasterId xmlns:r="http://schemas.openxmlformats.org/officeDocument/2006/relationships" id="2147483648" r:id="Rc5755c35bec34cf6"/>
  </p:sldMasterIdLst>
  <p:notesMasterIdLst>
    <p:notesMasterId xmlns:r="http://schemas.openxmlformats.org/officeDocument/2006/relationships" r:id="Rbd752ad20c1d4a21"/>
  </p:notesMasterIdLst>
  <p:sldIdLst>
    <p:sldId xmlns:r="http://schemas.openxmlformats.org/officeDocument/2006/relationships" id="256" r:id="R3a2ab56ad55948ab"/>
    <p:sldId xmlns:r="http://schemas.openxmlformats.org/officeDocument/2006/relationships" id="257" r:id="Rdf2dd7c358484223"/>
    <p:sldId xmlns:r="http://schemas.openxmlformats.org/officeDocument/2006/relationships" id="258" r:id="R315f0d28402f4b3e"/>
    <p:sldId xmlns:r="http://schemas.openxmlformats.org/officeDocument/2006/relationships" id="259" r:id="R4b3fb99c52374268"/>
    <p:sldId xmlns:r="http://schemas.openxmlformats.org/officeDocument/2006/relationships" id="260" r:id="R082d4cb1b9924184"/>
    <p:sldId xmlns:r="http://schemas.openxmlformats.org/officeDocument/2006/relationships" id="261" r:id="Ra2b2b883f6ca4d52"/>
    <p:sldId xmlns:r="http://schemas.openxmlformats.org/officeDocument/2006/relationships" id="262" r:id="R3e3b80d9bcad408e"/>
    <p:sldId xmlns:r="http://schemas.openxmlformats.org/officeDocument/2006/relationships" id="263" r:id="R6c9d14a53ff14ed8"/>
    <p:sldId xmlns:r="http://schemas.openxmlformats.org/officeDocument/2006/relationships" id="264" r:id="Re16033e5294646b7"/>
    <p:sldId xmlns:r="http://schemas.openxmlformats.org/officeDocument/2006/relationships" id="265" r:id="Rc80e978f183b4c4f"/>
    <p:sldId xmlns:r="http://schemas.openxmlformats.org/officeDocument/2006/relationships" id="266" r:id="R60b89a59ca044b7b"/>
    <p:sldId xmlns:r="http://schemas.openxmlformats.org/officeDocument/2006/relationships" id="267" r:id="R755d7235de1d488e"/>
    <p:sldId xmlns:r="http://schemas.openxmlformats.org/officeDocument/2006/relationships" id="268" r:id="R6e25f0850b5747ee"/>
    <p:sldId xmlns:r="http://schemas.openxmlformats.org/officeDocument/2006/relationships" id="269" r:id="R7f60102b713f44e5"/>
    <p:sldId xmlns:r="http://schemas.openxmlformats.org/officeDocument/2006/relationships" id="270" r:id="R140ecc95e4aa4a5f"/>
    <p:sldId xmlns:r="http://schemas.openxmlformats.org/officeDocument/2006/relationships" id="271" r:id="R7dabfe14df9a4586"/>
    <p:sldId xmlns:r="http://schemas.openxmlformats.org/officeDocument/2006/relationships" id="272" r:id="R6eb27a334f0543a4"/>
    <p:sldId xmlns:r="http://schemas.openxmlformats.org/officeDocument/2006/relationships" id="273" r:id="R9de57079d3154f5f"/>
    <p:sldId xmlns:r="http://schemas.openxmlformats.org/officeDocument/2006/relationships" id="274" r:id="Rc1da77c232894497"/>
    <p:sldId xmlns:r="http://schemas.openxmlformats.org/officeDocument/2006/relationships" id="275" r:id="R814ab428762f47fd"/>
    <p:sldId xmlns:r="http://schemas.openxmlformats.org/officeDocument/2006/relationships" id="276" r:id="R7bea23a473874cc0"/>
    <p:sldId xmlns:r="http://schemas.openxmlformats.org/officeDocument/2006/relationships" id="277" r:id="Rd1c23b4cdd8c4813"/>
    <p:sldId xmlns:r="http://schemas.openxmlformats.org/officeDocument/2006/relationships" id="278" r:id="Rb4d1b1187c5e4e8a"/>
    <p:sldId xmlns:r="http://schemas.openxmlformats.org/officeDocument/2006/relationships" id="279" r:id="R93276c680d1f4dbc"/>
    <p:sldId xmlns:r="http://schemas.openxmlformats.org/officeDocument/2006/relationships" id="280" r:id="Rdc4a9811f79844a0"/>
    <p:sldId xmlns:r="http://schemas.openxmlformats.org/officeDocument/2006/relationships" id="281" r:id="Rc2096c2760f04b4c"/>
    <p:sldId xmlns:r="http://schemas.openxmlformats.org/officeDocument/2006/relationships" id="282" r:id="R679ec13780a94aab"/>
    <p:sldId xmlns:r="http://schemas.openxmlformats.org/officeDocument/2006/relationships" id="283" r:id="R2cabc2369f444e1d"/>
    <p:sldId xmlns:r="http://schemas.openxmlformats.org/officeDocument/2006/relationships" id="284" r:id="Rb40de61629cf4ed6"/>
    <p:sldId xmlns:r="http://schemas.openxmlformats.org/officeDocument/2006/relationships" id="285" r:id="R0f9ca4664fd744c3"/>
    <p:sldId xmlns:r="http://schemas.openxmlformats.org/officeDocument/2006/relationships" id="286" r:id="Rb06925b1b26844cd"/>
    <p:sldId xmlns:r="http://schemas.openxmlformats.org/officeDocument/2006/relationships" id="287" r:id="R83aa3fb432fc403d"/>
    <p:sldId xmlns:r="http://schemas.openxmlformats.org/officeDocument/2006/relationships" id="288" r:id="Rb26b324dbf68427d"/>
    <p:sldId xmlns:r="http://schemas.openxmlformats.org/officeDocument/2006/relationships" id="289" r:id="R77e24489e85b4637"/>
    <p:sldId xmlns:r="http://schemas.openxmlformats.org/officeDocument/2006/relationships" id="290" r:id="R38e39f92f5ca476c"/>
    <p:sldId xmlns:r="http://schemas.openxmlformats.org/officeDocument/2006/relationships" id="291" r:id="R9673c903c2ab4b34"/>
    <p:sldId xmlns:r="http://schemas.openxmlformats.org/officeDocument/2006/relationships" id="292" r:id="Rc68ad0a56e7249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591e5ba4b847b9" /><Relationship Type="http://schemas.openxmlformats.org/officeDocument/2006/relationships/slideMaster" Target="/ppt/slideMasters/slideMaster1.xml" Id="Rc5755c35bec34cf6" /><Relationship Type="http://schemas.openxmlformats.org/officeDocument/2006/relationships/notesMaster" Target="/ppt/notesMasters/notesMaster1.xml" Id="Rbd752ad20c1d4a21" /><Relationship Type="http://schemas.openxmlformats.org/officeDocument/2006/relationships/presProps" Target="/ppt/presProps.xml" Id="R79be1e1fee914c48" /><Relationship Type="http://schemas.openxmlformats.org/officeDocument/2006/relationships/tableStyles" Target="/ppt/tableStyles.xml" Id="R6db4c549ee53433d" /><Relationship Type="http://schemas.openxmlformats.org/officeDocument/2006/relationships/slide" Target="/ppt/slides/slide1.xml" Id="R3a2ab56ad55948ab" /><Relationship Type="http://schemas.openxmlformats.org/officeDocument/2006/relationships/slide" Target="/ppt/slides/slide2.xml" Id="Rdf2dd7c358484223" /><Relationship Type="http://schemas.openxmlformats.org/officeDocument/2006/relationships/slide" Target="/ppt/slides/slide3.xml" Id="R315f0d28402f4b3e" /><Relationship Type="http://schemas.openxmlformats.org/officeDocument/2006/relationships/slide" Target="/ppt/slides/slide4.xml" Id="R4b3fb99c52374268" /><Relationship Type="http://schemas.openxmlformats.org/officeDocument/2006/relationships/slide" Target="/ppt/slides/slide5.xml" Id="R082d4cb1b9924184" /><Relationship Type="http://schemas.openxmlformats.org/officeDocument/2006/relationships/slide" Target="/ppt/slides/slide6.xml" Id="Ra2b2b883f6ca4d52" /><Relationship Type="http://schemas.openxmlformats.org/officeDocument/2006/relationships/slide" Target="/ppt/slides/slide7.xml" Id="R3e3b80d9bcad408e" /><Relationship Type="http://schemas.openxmlformats.org/officeDocument/2006/relationships/slide" Target="/ppt/slides/slide8.xml" Id="R6c9d14a53ff14ed8" /><Relationship Type="http://schemas.openxmlformats.org/officeDocument/2006/relationships/slide" Target="/ppt/slides/slide9.xml" Id="Re16033e5294646b7" /><Relationship Type="http://schemas.openxmlformats.org/officeDocument/2006/relationships/slide" Target="/ppt/slides/slide10.xml" Id="Rc80e978f183b4c4f" /><Relationship Type="http://schemas.openxmlformats.org/officeDocument/2006/relationships/slide" Target="/ppt/slides/slide11.xml" Id="R60b89a59ca044b7b" /><Relationship Type="http://schemas.openxmlformats.org/officeDocument/2006/relationships/slide" Target="/ppt/slides/slide12.xml" Id="R755d7235de1d488e" /><Relationship Type="http://schemas.openxmlformats.org/officeDocument/2006/relationships/slide" Target="/ppt/slides/slide13.xml" Id="R6e25f0850b5747ee" /><Relationship Type="http://schemas.openxmlformats.org/officeDocument/2006/relationships/slide" Target="/ppt/slides/slide14.xml" Id="R7f60102b713f44e5" /><Relationship Type="http://schemas.openxmlformats.org/officeDocument/2006/relationships/slide" Target="/ppt/slides/slide15.xml" Id="R140ecc95e4aa4a5f" /><Relationship Type="http://schemas.openxmlformats.org/officeDocument/2006/relationships/slide" Target="/ppt/slides/slide16.xml" Id="R7dabfe14df9a4586" /><Relationship Type="http://schemas.openxmlformats.org/officeDocument/2006/relationships/slide" Target="/ppt/slides/slide17.xml" Id="R6eb27a334f0543a4" /><Relationship Type="http://schemas.openxmlformats.org/officeDocument/2006/relationships/slide" Target="/ppt/slides/slide18.xml" Id="R9de57079d3154f5f" /><Relationship Type="http://schemas.openxmlformats.org/officeDocument/2006/relationships/slide" Target="/ppt/slides/slide19.xml" Id="Rc1da77c232894497" /><Relationship Type="http://schemas.openxmlformats.org/officeDocument/2006/relationships/slide" Target="/ppt/slides/slide20.xml" Id="R814ab428762f47fd" /><Relationship Type="http://schemas.openxmlformats.org/officeDocument/2006/relationships/slide" Target="/ppt/slides/slide21.xml" Id="R7bea23a473874cc0" /><Relationship Type="http://schemas.openxmlformats.org/officeDocument/2006/relationships/slide" Target="/ppt/slides/slide22.xml" Id="Rd1c23b4cdd8c4813" /><Relationship Type="http://schemas.openxmlformats.org/officeDocument/2006/relationships/slide" Target="/ppt/slides/slide23.xml" Id="Rb4d1b1187c5e4e8a" /><Relationship Type="http://schemas.openxmlformats.org/officeDocument/2006/relationships/slide" Target="/ppt/slides/slide24.xml" Id="R93276c680d1f4dbc" /><Relationship Type="http://schemas.openxmlformats.org/officeDocument/2006/relationships/slide" Target="/ppt/slides/slide25.xml" Id="Rdc4a9811f79844a0" /><Relationship Type="http://schemas.openxmlformats.org/officeDocument/2006/relationships/slide" Target="/ppt/slides/slide26.xml" Id="Rc2096c2760f04b4c" /><Relationship Type="http://schemas.openxmlformats.org/officeDocument/2006/relationships/slide" Target="/ppt/slides/slide27.xml" Id="R679ec13780a94aab" /><Relationship Type="http://schemas.openxmlformats.org/officeDocument/2006/relationships/slide" Target="/ppt/slides/slide28.xml" Id="R2cabc2369f444e1d" /><Relationship Type="http://schemas.openxmlformats.org/officeDocument/2006/relationships/slide" Target="/ppt/slides/slide29.xml" Id="Rb40de61629cf4ed6" /><Relationship Type="http://schemas.openxmlformats.org/officeDocument/2006/relationships/slide" Target="/ppt/slides/slide30.xml" Id="R0f9ca4664fd744c3" /><Relationship Type="http://schemas.openxmlformats.org/officeDocument/2006/relationships/slide" Target="/ppt/slides/slide31.xml" Id="Rb06925b1b26844cd" /><Relationship Type="http://schemas.openxmlformats.org/officeDocument/2006/relationships/slide" Target="/ppt/slides/slide32.xml" Id="R83aa3fb432fc403d" /><Relationship Type="http://schemas.openxmlformats.org/officeDocument/2006/relationships/slide" Target="/ppt/slides/slide33.xml" Id="Rb26b324dbf68427d" /><Relationship Type="http://schemas.openxmlformats.org/officeDocument/2006/relationships/slide" Target="/ppt/slides/slide34.xml" Id="R77e24489e85b4637" /><Relationship Type="http://schemas.openxmlformats.org/officeDocument/2006/relationships/slide" Target="/ppt/slides/slide35.xml" Id="R38e39f92f5ca476c" /><Relationship Type="http://schemas.openxmlformats.org/officeDocument/2006/relationships/slide" Target="/ppt/slides/slide36.xml" Id="R9673c903c2ab4b34" /><Relationship Type="http://schemas.openxmlformats.org/officeDocument/2006/relationships/slide" Target="/ppt/slides/slide37.xml" Id="Rc68ad0a56e7249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542847df8248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560c139de549dc" /><Relationship Type="http://schemas.openxmlformats.org/officeDocument/2006/relationships/notesMaster" Target="/ppt/notesMasters/notesMaster1.xml" Id="R9ec2e0c4a6af49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15e8c036c34eef" /><Relationship Type="http://schemas.openxmlformats.org/officeDocument/2006/relationships/notesMaster" Target="/ppt/notesMasters/notesMaster1.xml" Id="R0a4016d501fb47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756a13f74942c6" /><Relationship Type="http://schemas.openxmlformats.org/officeDocument/2006/relationships/notesMaster" Target="/ppt/notesMasters/notesMaster1.xml" Id="R3c6b8bb07b7a4e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82632809a0842e3" /><Relationship Type="http://schemas.openxmlformats.org/officeDocument/2006/relationships/notesMaster" Target="/ppt/notesMasters/notesMaster1.xml" Id="R8b327e7c39f34a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606c2e7826436c" /><Relationship Type="http://schemas.openxmlformats.org/officeDocument/2006/relationships/notesMaster" Target="/ppt/notesMasters/notesMaster1.xml" Id="Rd112b9913f1b46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003f1dae37aa42b8" /><Relationship Type="http://schemas.openxmlformats.org/officeDocument/2006/relationships/notesMaster" Target="/ppt/notesMasters/notesMaster1.xml" Id="R5b3ea30aa08748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c39f36ce9ab48ce" /><Relationship Type="http://schemas.openxmlformats.org/officeDocument/2006/relationships/notesMaster" Target="/ppt/notesMasters/notesMaster1.xml" Id="Re896b12d36e1478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f467348f6e4b95" /><Relationship Type="http://schemas.openxmlformats.org/officeDocument/2006/relationships/notesMaster" Target="/ppt/notesMasters/notesMaster1.xml" Id="R82501127a16f4da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00942e2272c4307" /><Relationship Type="http://schemas.openxmlformats.org/officeDocument/2006/relationships/notesMaster" Target="/ppt/notesMasters/notesMaster1.xml" Id="R8dff8cc002ab424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a6a60f0ba24a71" /><Relationship Type="http://schemas.openxmlformats.org/officeDocument/2006/relationships/notesMaster" Target="/ppt/notesMasters/notesMaster1.xml" Id="Ra09d6c2fc9f74d6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314d3184acb4d5d" /><Relationship Type="http://schemas.openxmlformats.org/officeDocument/2006/relationships/notesMaster" Target="/ppt/notesMasters/notesMaster1.xml" Id="R3bed9494cbb640b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593fa7fb89e4f23" /><Relationship Type="http://schemas.openxmlformats.org/officeDocument/2006/relationships/notesMaster" Target="/ppt/notesMasters/notesMaster1.xml" Id="R1611887f6a5b433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b8998a2248e4ad0" /><Relationship Type="http://schemas.openxmlformats.org/officeDocument/2006/relationships/notesMaster" Target="/ppt/notesMasters/notesMaster1.xml" Id="R7f8ec12a1c224df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da349d882e94230" /><Relationship Type="http://schemas.openxmlformats.org/officeDocument/2006/relationships/notesMaster" Target="/ppt/notesMasters/notesMaster1.xml" Id="Red97b63330b043a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3d2aa2f74d64a4e" /><Relationship Type="http://schemas.openxmlformats.org/officeDocument/2006/relationships/notesMaster" Target="/ppt/notesMasters/notesMaster1.xml" Id="R3c4c883f31b44ac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98a954fff794ee9" /><Relationship Type="http://schemas.openxmlformats.org/officeDocument/2006/relationships/notesMaster" Target="/ppt/notesMasters/notesMaster1.xml" Id="R7e5cc46bd7ce4ba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7971d66747d4b1c" /><Relationship Type="http://schemas.openxmlformats.org/officeDocument/2006/relationships/notesMaster" Target="/ppt/notesMasters/notesMaster1.xml" Id="R8a221b0d014c45d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3e8be6a29ea4d4d" /><Relationship Type="http://schemas.openxmlformats.org/officeDocument/2006/relationships/notesMaster" Target="/ppt/notesMasters/notesMaster1.xml" Id="R24a61cbcca7840d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ceffda3ad554e54" /><Relationship Type="http://schemas.openxmlformats.org/officeDocument/2006/relationships/notesMaster" Target="/ppt/notesMasters/notesMaster1.xml" Id="R7654ec0bcced44b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20d57803af94d97" /><Relationship Type="http://schemas.openxmlformats.org/officeDocument/2006/relationships/notesMaster" Target="/ppt/notesMasters/notesMaster1.xml" Id="Rf321b914be6a4db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2bcf352fcb44a4f" /><Relationship Type="http://schemas.openxmlformats.org/officeDocument/2006/relationships/notesMaster" Target="/ppt/notesMasters/notesMaster1.xml" Id="Ref98b60e21064cf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32cfa7963ad412b" /><Relationship Type="http://schemas.openxmlformats.org/officeDocument/2006/relationships/notesMaster" Target="/ppt/notesMasters/notesMaster1.xml" Id="R2e476471963c457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6049112057a41a6" /><Relationship Type="http://schemas.openxmlformats.org/officeDocument/2006/relationships/notesMaster" Target="/ppt/notesMasters/notesMaster1.xml" Id="R8497ce4cb7d74c6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1f7556732b34fd3" /><Relationship Type="http://schemas.openxmlformats.org/officeDocument/2006/relationships/notesMaster" Target="/ppt/notesMasters/notesMaster1.xml" Id="Rb8db79fc3d02480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1c43cab27424f69" /><Relationship Type="http://schemas.openxmlformats.org/officeDocument/2006/relationships/notesMaster" Target="/ppt/notesMasters/notesMaster1.xml" Id="R1fbc96323a484b5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8b41e9bd8e140fb" /><Relationship Type="http://schemas.openxmlformats.org/officeDocument/2006/relationships/notesMaster" Target="/ppt/notesMasters/notesMaster1.xml" Id="R9f885f3b62914e8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cfda6044d724fff" /><Relationship Type="http://schemas.openxmlformats.org/officeDocument/2006/relationships/notesMaster" Target="/ppt/notesMasters/notesMaster1.xml" Id="Rea7bddab494044e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5e5605e275649a6" /><Relationship Type="http://schemas.openxmlformats.org/officeDocument/2006/relationships/notesMaster" Target="/ppt/notesMasters/notesMaster1.xml" Id="R619eaa74f8394f3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8b567de5ef947cd" /><Relationship Type="http://schemas.openxmlformats.org/officeDocument/2006/relationships/notesMaster" Target="/ppt/notesMasters/notesMaster1.xml" Id="R9257d1d4341f4d0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048069c277d4cfd" /><Relationship Type="http://schemas.openxmlformats.org/officeDocument/2006/relationships/notesMaster" Target="/ppt/notesMasters/notesMaster1.xml" Id="Rfd4230d64f544df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80a78c3a28141f2" /><Relationship Type="http://schemas.openxmlformats.org/officeDocument/2006/relationships/notesMaster" Target="/ppt/notesMasters/notesMaster1.xml" Id="R215cfd4977814de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e5efc570ec84a3e" /><Relationship Type="http://schemas.openxmlformats.org/officeDocument/2006/relationships/notesMaster" Target="/ppt/notesMasters/notesMaster1.xml" Id="R29926d1c1b7f408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69e22a649d94f2d" /><Relationship Type="http://schemas.openxmlformats.org/officeDocument/2006/relationships/notesMaster" Target="/ppt/notesMasters/notesMaster1.xml" Id="R9cfcdb0407744c5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20864876d6a45ae" /><Relationship Type="http://schemas.openxmlformats.org/officeDocument/2006/relationships/notesMaster" Target="/ppt/notesMasters/notesMaster1.xml" Id="Rbd8c5293ed6b4d0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332ce5344dc4395" /><Relationship Type="http://schemas.openxmlformats.org/officeDocument/2006/relationships/notesMaster" Target="/ppt/notesMasters/notesMaster1.xml" Id="Re970d7063bce499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20cb9ae45d348d7" /><Relationship Type="http://schemas.openxmlformats.org/officeDocument/2006/relationships/notesMaster" Target="/ppt/notesMasters/notesMaster1.xml" Id="Rcb671a5b765f43c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6bd6985239849fe" /><Relationship Type="http://schemas.openxmlformats.org/officeDocument/2006/relationships/notesMaster" Target="/ppt/notesMasters/notesMaster1.xml" Id="Rdbd4841f16c543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数据来源：GBZ 2.1《工作场所有害因素职业接触限值》（硫化氢 10 ppm、一氧化碳 30 ppm）、GB 30871《危险化学品企业特殊作业安全规范》（可燃气 10 %LEL）、DL/T 639《六氟化硫电气设备运行、试验及检修人员安全防护细则》（SF6 1000 ppm）、GB/T 11022 与 DL/T 596《电力设备预防性试验规程》（SF6 微水 150 μL/L）。现行做法（纸质签到、Excel 台账、迎检临时补材料）来自本项目对企业与班组的调研访谈，详见 docs/技术报告-现状核对与完善建议.md。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成本口径：内部转岗培训 ≈ 2 万元 / 人、外部招聘 ≈ 8 万元 / 人、外委 ≈ 1.5 万元 / 月（≈18 万元 / 年），取自本项目需求测算参数，属客户侧人工成本口径的示范值，不是实测值。需求测算示例（新增 2 座 110kV 变电站 → 运维工作量 +30%、继保 L3 需求 12 人现有 8 人、高压试验需求 6 人现有 3 人）同样为本项目测算参数。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场景一为已落地并已验收的场景（案例编号 RPT-20260919-0003）；场景二、三为同一套规则引擎与角色体系的迁移方向，尚未开展试点，已如实标注。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条规则 / 5 个场景 / 3 个匹配分组 / 11 项规则测试场景均为系统实测统计，取自 db/init/008_rule_engine.sql、009_report_gas_rules.sql 与 docs/api-catalog.md。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案例数据来自系统内真实留存记录：检测点位 110kV 城北变电所电缆沟 A 段 #1 检查井；氧气实测 18.2 %VOL、阈值 19.5 %VOL；命中规则 REPORT_GAS_OVER_MARGIN_MID（优先级 140）与 RULE-KW-HEALTH（优先级 95）；严重度取最严重档「高」；置信度 0.8（来源 rule）；班组长 limin 确认结果 ACCEPTED。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组卷公式 effort = 缺口权重 × max(0.2, 1.6 − 历史正确率) 为本项目算法定义；缺口权重（继电保护 3.0 / 高压试验 2.0 / 故障录波 2.0 / 倒闸操作 1.0 / 安全规程 1.0）为演示数据参数。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工程规模取自代码与建库脚本实测统计：在线接口 75 个（docs/api-catalog.md）、数据库表 53 张 / 7 组、启用规则 18 条 / 5 场景、建库脚本 001~011 共 11 个、角色 4 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截图为系统真实页面；截图中出现的「常州启明汽车部件有限公司」「江苏华锐机械制造有限公司」为演示用虚构企业名称，非真实客户。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五层测试（建库 / 构建 / 引擎 / 鉴权 / 业务）的通过结论来自本项目自验记录：建库脚本对空库按序执行一次到位、docker logs 无 ERROR；后端 mvn -DskipTests package 通过、Swagger 可打开；11 项规则场景测试全部通过；非管理员调用 /api/v1/rules/** 返回 403 / code=40301；analyze → confirm 三张表可用同一 run_id 串起。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纵向对比口径：标注「实测」的条目来自系统自验与引擎回归（如同一份报告连续执行 200 次，rule_refs 完全一致）；标注「算法口径 / 演示数据」的条目为算法定义与演示数据下的输出，尚未取得企业实测值。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横向对比只比较机制与能力边界（可复算、可离线、可解释、可审计、人工确认），不比较尚未取得的模型效果指标。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「已具备的研发与落地基础」逐条可现场核验；右侧「团队与外部成果清单」为待填模板——团队获奖、软著、论文、企业合作与教师结题项目需要按指导老师的教科创结题材料如实填写，本页不代为编造。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目标客户与起量方式来自本项目市场推演，属方案规划；「为什么买 / 部署方式 / 付费逻辑 / 起量方式」四栏均按可落地的口径填写，不含未经测算的收益承诺。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市场测算为按成本口径的示范测算：成本参数为需求测算参数（转岗 2 万元 / 人、招聘 8 万元 / 人、外委 1.5 万元 / 月），回收期 T = 系统年费 ÷ 年可量化节省 S，其中 S 需代入客户真实人数与工时成本后计算；标注「参数待客户代入」的项不直接给出金额。事故与漏检风险属机会成本，不计入回收期，单独提示。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三阶段演进的边界：阶段一（规则底座）为已完成主体，阶段二（模型增强与数据回流）与阶段三（行业训练 Agent）为规划，过程中的数据均为规划目标而非实测结果。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f5f1c1391843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47a23970774de3" /><Relationship Type="http://schemas.openxmlformats.org/officeDocument/2006/relationships/slideLayout" Target="/ppt/slideLayouts/slideLayout1.xml" Id="R2fe683baffb049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e683baffb049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38f1b51f794405c" /><Relationship Type="http://schemas.openxmlformats.org/officeDocument/2006/relationships/notesSlide" Target="/ppt/notesSlides/notesSlide1.xml" Id="R1c5f7f0da3ed46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c1679c4b8c3485a" /><Relationship Type="http://schemas.openxmlformats.org/officeDocument/2006/relationships/notesSlide" Target="/ppt/notesSlides/notesSlide2.xml" Id="R8df7b7b3c2dd45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f485efffe804df7" /><Relationship Type="http://schemas.openxmlformats.org/officeDocument/2006/relationships/notesSlide" Target="/ppt/notesSlides/notesSlide3.xml" Id="R6b70880b820640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4a1f60f18dd4445" /><Relationship Type="http://schemas.openxmlformats.org/officeDocument/2006/relationships/notesSlide" Target="/ppt/notesSlides/notesSlide4.xml" Id="Rafe72b3bb4d04c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d7acf8be8624de0" /><Relationship Type="http://schemas.openxmlformats.org/officeDocument/2006/relationships/notesSlide" Target="/ppt/notesSlides/notesSlide5.xml" Id="R71d87eb5af424e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4a0a8743e814af8" /><Relationship Type="http://schemas.openxmlformats.org/officeDocument/2006/relationships/notesSlide" Target="/ppt/notesSlides/notesSlide6.xml" Id="R7335117637a346f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4431c4347f141c5" /><Relationship Type="http://schemas.openxmlformats.org/officeDocument/2006/relationships/notesSlide" Target="/ppt/notesSlides/notesSlide7.xml" Id="R202ab4dba6104f0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32f76f072214ee0" /><Relationship Type="http://schemas.openxmlformats.org/officeDocument/2006/relationships/notesSlide" Target="/ppt/notesSlides/notesSlide8.xml" Id="R17d5af00ab1540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0b5a2440eb048e6" /><Relationship Type="http://schemas.openxmlformats.org/officeDocument/2006/relationships/notesSlide" Target="/ppt/notesSlides/notesSlide9.xml" Id="R3bec4314f78844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1428d6c755d4e98" /><Relationship Type="http://schemas.openxmlformats.org/officeDocument/2006/relationships/notesSlide" Target="/ppt/notesSlides/notesSlide10.xml" Id="R76b5a014daab4ef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430f9c4ea574ce6" /><Relationship Type="http://schemas.openxmlformats.org/officeDocument/2006/relationships/notesSlide" Target="/ppt/notesSlides/notesSlide11.xml" Id="R1e83124c9b6c498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57f8279204f4f39" /><Relationship Type="http://schemas.openxmlformats.org/officeDocument/2006/relationships/notesSlide" Target="/ppt/notesSlides/notesSlide12.xml" Id="Rf4ff800b9648475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a996b2535e04dbb" /><Relationship Type="http://schemas.openxmlformats.org/officeDocument/2006/relationships/notesSlide" Target="/ppt/notesSlides/notesSlide13.xml" Id="R2e236e88109f43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01e65653e074bee" /><Relationship Type="http://schemas.openxmlformats.org/officeDocument/2006/relationships/notesSlide" Target="/ppt/notesSlides/notesSlide14.xml" Id="Rc4917efa7951426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c30f2f3bc694c3f" /><Relationship Type="http://schemas.openxmlformats.org/officeDocument/2006/relationships/notesSlide" Target="/ppt/notesSlides/notesSlide15.xml" Id="Ra05dec715dcf48a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134a1642fcb4cbc" /><Relationship Type="http://schemas.openxmlformats.org/officeDocument/2006/relationships/notesSlide" Target="/ppt/notesSlides/notesSlide16.xml" Id="Rad765dc1ced243e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3ffc65e2b8b4486" /><Relationship Type="http://schemas.openxmlformats.org/officeDocument/2006/relationships/notesSlide" Target="/ppt/notesSlides/notesSlide17.xml" Id="R34bde43f28d8492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a0f5b3f07d249f4" /><Relationship Type="http://schemas.openxmlformats.org/officeDocument/2006/relationships/notesSlide" Target="/ppt/notesSlides/notesSlide18.xml" Id="R45f77f7feea3443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3a2a2d0cbd2457f" /><Relationship Type="http://schemas.openxmlformats.org/officeDocument/2006/relationships/notesSlide" Target="/ppt/notesSlides/notesSlide19.xml" Id="R9430c3af636646e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a089272427247c6" /><Relationship Type="http://schemas.openxmlformats.org/officeDocument/2006/relationships/notesSlide" Target="/ppt/notesSlides/notesSlide20.xml" Id="Rc7f3097a328743f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4125b55ae3f4481" /><Relationship Type="http://schemas.openxmlformats.org/officeDocument/2006/relationships/image" Target="/ppt/media/image.png" Id="Rcde4a17cbfba4d04" /><Relationship Type="http://schemas.openxmlformats.org/officeDocument/2006/relationships/image" Target="/ppt/media/image2.png" Id="R29d6fcf72f3f4985" /><Relationship Type="http://schemas.openxmlformats.org/officeDocument/2006/relationships/notesSlide" Target="/ppt/notesSlides/notesSlide21.xml" Id="R99fdb98c7dad484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1d433a3f2754ffc" /><Relationship Type="http://schemas.openxmlformats.org/officeDocument/2006/relationships/image" Target="/ppt/media/image3.png" Id="R41245e95bcd045a8" /><Relationship Type="http://schemas.openxmlformats.org/officeDocument/2006/relationships/image" Target="/ppt/media/image4.png" Id="R37ff26e880ca4972" /><Relationship Type="http://schemas.openxmlformats.org/officeDocument/2006/relationships/notesSlide" Target="/ppt/notesSlides/notesSlide22.xml" Id="R132528981c9945b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b29427975c14fb5" /><Relationship Type="http://schemas.openxmlformats.org/officeDocument/2006/relationships/image" Target="/ppt/media/image5.png" Id="R5669a48cd3824845" /><Relationship Type="http://schemas.openxmlformats.org/officeDocument/2006/relationships/notesSlide" Target="/ppt/notesSlides/notesSlide23.xml" Id="R7bd3cbfe4a2d4da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d91f9e7df374e08" /><Relationship Type="http://schemas.openxmlformats.org/officeDocument/2006/relationships/image" Target="/ppt/media/image6.png" Id="R14bac9ac7cf54dd3" /><Relationship Type="http://schemas.openxmlformats.org/officeDocument/2006/relationships/image" Target="/ppt/media/image7.png" Id="R525619383e2a4ab0" /><Relationship Type="http://schemas.openxmlformats.org/officeDocument/2006/relationships/notesSlide" Target="/ppt/notesSlides/notesSlide24.xml" Id="Rc16913b3afe0451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e09dfc98df749ef" /><Relationship Type="http://schemas.openxmlformats.org/officeDocument/2006/relationships/image" Target="/ppt/media/image8.png" Id="Re0993464645d4420" /><Relationship Type="http://schemas.openxmlformats.org/officeDocument/2006/relationships/notesSlide" Target="/ppt/notesSlides/notesSlide25.xml" Id="R324d770bf50740a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32d5bd91914440c" /><Relationship Type="http://schemas.openxmlformats.org/officeDocument/2006/relationships/notesSlide" Target="/ppt/notesSlides/notesSlide26.xml" Id="Rea9a5f8efc69448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07abf1a64d84813" /><Relationship Type="http://schemas.openxmlformats.org/officeDocument/2006/relationships/notesSlide" Target="/ppt/notesSlides/notesSlide27.xml" Id="R0a611bdd7cdb43e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6f8c5ea6f62420f" /><Relationship Type="http://schemas.openxmlformats.org/officeDocument/2006/relationships/notesSlide" Target="/ppt/notesSlides/notesSlide28.xml" Id="R893d82f01cbe43d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38f36759a3d47b0" /><Relationship Type="http://schemas.openxmlformats.org/officeDocument/2006/relationships/notesSlide" Target="/ppt/notesSlides/notesSlide29.xml" Id="R5f135bb2a7194bb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392ff2baa91b48d3" /><Relationship Type="http://schemas.openxmlformats.org/officeDocument/2006/relationships/notesSlide" Target="/ppt/notesSlides/notesSlide30.xml" Id="R1a338ba910ef453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a32045a6f0845e4" /><Relationship Type="http://schemas.openxmlformats.org/officeDocument/2006/relationships/notesSlide" Target="/ppt/notesSlides/notesSlide31.xml" Id="R122b1614b0eb402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cc84ce9c0174fcf" /><Relationship Type="http://schemas.openxmlformats.org/officeDocument/2006/relationships/notesSlide" Target="/ppt/notesSlides/notesSlide32.xml" Id="R16c2740cd608481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7f29709114ab44fb" /><Relationship Type="http://schemas.openxmlformats.org/officeDocument/2006/relationships/notesSlide" Target="/ppt/notesSlides/notesSlide33.xml" Id="Rdc6feb9f06f7446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2ebd922a494475d" /><Relationship Type="http://schemas.openxmlformats.org/officeDocument/2006/relationships/notesSlide" Target="/ppt/notesSlides/notesSlide34.xml" Id="R85de19503e10423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05d9463eeb34287" /><Relationship Type="http://schemas.openxmlformats.org/officeDocument/2006/relationships/notesSlide" Target="/ppt/notesSlides/notesSlide35.xml" Id="R80b389fd47694f9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78eeb9f78955406e" /><Relationship Type="http://schemas.openxmlformats.org/officeDocument/2006/relationships/notesSlide" Target="/ppt/notesSlides/notesSlide36.xml" Id="R5a4aa746ad9b461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dc8178c3fa94cf3" /><Relationship Type="http://schemas.openxmlformats.org/officeDocument/2006/relationships/notesSlide" Target="/ppt/notesSlides/notesSlide37.xml" Id="Rcbbf7922f2d34530" /></Relationships>
</file>

<file path=ppt/slides/slide1.xml><?xml version="1.0" encoding="utf-8"?>
<p:sld xmlns:p="http://schemas.openxmlformats.org/presentationml/2006/main">
  <p:cSld>
    <p:bg>
      <p:bgPr>
        <a:gradFill xmlns:a="http://schemas.openxmlformats.org/drawingml/2006/main">
          <a:gsLst>
            <a:gs pos="0">
              <a:srgbClr val="0C3363"/>
            </a:gs>
            <a:gs pos="60000">
              <a:srgbClr val="071B38"/>
            </a:gs>
            <a:gs pos="100000">
              <a:srgbClr val="04101F"/>
            </a:gs>
          </a:gsLst>
          <a:lin ang="7200000"/>
        </a:gra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3D7D28DC-FA92-4591-AE08-A77EA7B5E1A3}"/>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B5BD77A-29A9-4AAB-9B2C-2D72CC3058E2}"/>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537B255-070D-417D-870E-87A4173A775A}"/>
              </a:ext>
            </a:extLst>
          </p:cNvPr>
          <p:cNvSpPr>
            <a:spLocks xmlns:a="http://schemas.openxmlformats.org/drawingml/2006/main" noGrp="1"/>
          </p:cNvSpPr>
          <p:nvPr/>
        </p:nvSpPr>
        <p:spPr>
          <a:xfrm xmlns:a="http://schemas.openxmlformats.org/drawingml/2006/main">
            <a:off x="8382000" y="-1714500"/>
            <a:ext cx="5905500" cy="5905500"/>
          </a:xfrm>
          <a:prstGeom xmlns:a="http://schemas.openxmlformats.org/drawingml/2006/main" prst="ellipse">
            <a:avLst/>
          </a:prstGeom>
          <a:gradFill xmlns:a="http://schemas.openxmlformats.org/drawingml/2006/main">
            <a:gsLst>
              <a:gs pos="0">
                <a:srgbClr val="1E5FA8">
                  <a:alpha val="45000"/>
                </a:srgbClr>
              </a:gs>
              <a:gs pos="70000">
                <a:srgbClr val="1E5FA8">
                  <a:alpha val="0"/>
                </a:srgbClr>
              </a:gs>
            </a:gsLst>
            <a:path path="shape"/>
          </a:gra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31581A1-C226-47B8-8705-A14A17390D65}"/>
              </a:ext>
            </a:extLst>
          </p:cNvPr>
          <p:cNvSpPr>
            <a:spLocks xmlns:a="http://schemas.openxmlformats.org/drawingml/2006/main" noGrp="1"/>
          </p:cNvSpPr>
          <p:nvPr/>
        </p:nvSpPr>
        <p:spPr>
          <a:xfrm xmlns:a="http://schemas.openxmlformats.org/drawingml/2006/main">
            <a:off x="9620250" y="3810000"/>
            <a:ext cx="3619500" cy="3619500"/>
          </a:xfrm>
          <a:prstGeom xmlns:a="http://schemas.openxmlformats.org/drawingml/2006/main" prst="ellipse">
            <a:avLst/>
          </a:prstGeom>
          <a:gradFill xmlns:a="http://schemas.openxmlformats.org/drawingml/2006/main">
            <a:gsLst>
              <a:gs pos="0">
                <a:srgbClr val="F5C33B">
                  <a:alpha val="12000"/>
                </a:srgbClr>
              </a:gs>
              <a:gs pos="70000">
                <a:srgbClr val="F5C33B">
                  <a:alpha val="0"/>
                </a:srgbClr>
              </a:gs>
            </a:gsLst>
            <a:path path="shape"/>
          </a:gra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3C0A7FE-ECD8-4513-B3EB-533A06EBAAE6}"/>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1FB6747-F3D4-4F2A-AE4B-F4750BC7A62E}"/>
              </a:ext>
            </a:extLst>
          </p:cNvPr>
          <p:cNvSpPr>
            <a:spLocks xmlns:a="http://schemas.openxmlformats.org/drawingml/2006/main" noGrp="1"/>
          </p:cNvSpPr>
          <p:nvPr/>
        </p:nvSpPr>
        <p:spPr>
          <a:xfrm xmlns:a="http://schemas.openxmlformats.org/drawingml/2006/main">
            <a:off x="0" y="38100"/>
            <a:ext cx="4000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B7BB1DB-2CF2-47C8-8DEE-D2E2F698B58F}"/>
              </a:ext>
            </a:extLst>
          </p:cNvPr>
          <p:cNvSpPr>
            <a:spLocks xmlns:a="http://schemas.openxmlformats.org/drawingml/2006/main" noGrp="1"/>
          </p:cNvSpPr>
          <p:nvPr/>
        </p:nvSpPr>
        <p:spPr>
          <a:xfrm xmlns:a="http://schemas.openxmlformats.org/drawingml/2006/main">
            <a:off x="723900" y="876300"/>
            <a:ext cx="57150" cy="91440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C5708A4-D939-417B-B2B3-339C78E25308}"/>
              </a:ext>
            </a:extLst>
          </p:cNvPr>
          <p:cNvSpPr>
            <a:spLocks xmlns:a="http://schemas.openxmlformats.org/drawingml/2006/main" noGrp="1"/>
          </p:cNvSpPr>
          <p:nvPr/>
        </p:nvSpPr>
        <p:spPr>
          <a:xfrm xmlns:a="http://schemas.openxmlformats.org/drawingml/2006/main">
            <a:off x="952500" y="800100"/>
            <a:ext cx="7239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6300" b="1">
                <a:solidFill>
                  <a:srgbClr val="FFFFFF"/>
                </a:solidFill>
                <a:latin typeface="微软雅黑"/>
                <a:ea typeface="微软雅黑"/>
                <a:cs typeface="微软雅黑"/>
              </a:defRPr>
            </a:pPr>
            <a:r>
              <a:rPr sz="6300" b="1">
                <a:solidFill>
                  <a:srgbClr val="FFFFFF"/>
                </a:solidFill>
                <a:latin typeface="微软雅黑"/>
                <a:ea typeface="微软雅黑"/>
                <a:cs typeface="微软雅黑"/>
              </a:rPr>
              <a:t>工业智训</a:t>
            </a:r>
          </a:p>
        </p:txBody>
      </p:sp>
      <p:sp>
        <p:nvSpPr>
          <p:cNvPr id="9" name="">
            <a:extLst xmlns:a="http://schemas.openxmlformats.org/drawingml/2006/main">
              <a:ext uri="{FF2B5EF4-FFF2-40B4-BE49-F238E27FC236}">
                <a16:creationId xmlns:a16="http://schemas.microsoft.com/office/drawing/2014/main" id="{1E9A2D96-9309-4805-A3E4-8E1D9E26B970}"/>
              </a:ext>
            </a:extLst>
          </p:cNvPr>
          <p:cNvSpPr>
            <a:spLocks xmlns:a="http://schemas.openxmlformats.org/drawingml/2006/main" noGrp="1"/>
          </p:cNvSpPr>
          <p:nvPr/>
        </p:nvSpPr>
        <p:spPr>
          <a:xfrm xmlns:a="http://schemas.openxmlformats.org/drawingml/2006/main">
            <a:off x="990600" y="177165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2025" b="1">
                <a:solidFill>
                  <a:srgbClr val="31C7F0"/>
                </a:solidFill>
                <a:latin typeface="微软雅黑"/>
                <a:ea typeface="微软雅黑"/>
                <a:cs typeface="微软雅黑"/>
              </a:defRPr>
            </a:pPr>
            <a:r>
              <a:rPr sz="2025" b="1">
                <a:solidFill>
                  <a:srgbClr val="31C7F0"/>
                </a:solidFill>
                <a:latin typeface="微软雅黑"/>
                <a:ea typeface="微软雅黑"/>
                <a:cs typeface="微软雅黑"/>
              </a:rPr>
              <a:t>面向变电运维的可解释智能人才培养平台</a:t>
            </a:r>
          </a:p>
        </p:txBody>
      </p:sp>
      <p:sp>
        <p:nvSpPr>
          <p:cNvPr id="10" name="">
            <a:extLst xmlns:a="http://schemas.openxmlformats.org/drawingml/2006/main">
              <a:ext uri="{FF2B5EF4-FFF2-40B4-BE49-F238E27FC236}">
                <a16:creationId xmlns:a16="http://schemas.microsoft.com/office/drawing/2014/main" id="{C40200BE-5043-4CE8-B09A-ACF69DF220BC}"/>
              </a:ext>
            </a:extLst>
          </p:cNvPr>
          <p:cNvSpPr>
            <a:spLocks xmlns:a="http://schemas.openxmlformats.org/drawingml/2006/main" noGrp="1"/>
          </p:cNvSpPr>
          <p:nvPr/>
        </p:nvSpPr>
        <p:spPr>
          <a:xfrm xmlns:a="http://schemas.openxmlformats.org/drawingml/2006/main">
            <a:off x="990600" y="22479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75" b="0">
                <a:solidFill>
                  <a:srgbClr val="F5C33B"/>
                </a:solidFill>
                <a:latin typeface="微软雅黑"/>
                <a:ea typeface="微软雅黑"/>
                <a:cs typeface="微软雅黑"/>
              </a:defRPr>
            </a:pPr>
            <a:r>
              <a:rPr sz="1275" b="0">
                <a:solidFill>
                  <a:srgbClr val="F5C33B"/>
                </a:solidFill>
                <a:latin typeface="微软雅黑"/>
                <a:ea typeface="微软雅黑"/>
                <a:cs typeface="微软雅黑"/>
              </a:rPr>
              <a:t>规则先行 · 模型后置 · 结论可追溯 · 离线可运行</a:t>
            </a:r>
          </a:p>
        </p:txBody>
      </p:sp>
      <p:sp>
        <p:nvSpPr>
          <p:cNvPr id="11" name="">
            <a:extLst xmlns:a="http://schemas.openxmlformats.org/drawingml/2006/main">
              <a:ext uri="{FF2B5EF4-FFF2-40B4-BE49-F238E27FC236}">
                <a16:creationId xmlns:a16="http://schemas.microsoft.com/office/drawing/2014/main" id="{3AF686BA-D2EA-49CB-AFBB-94ABF1432DA4}"/>
              </a:ext>
            </a:extLst>
          </p:cNvPr>
          <p:cNvSpPr>
            <a:spLocks xmlns:a="http://schemas.openxmlformats.org/drawingml/2006/main" noGrp="1"/>
          </p:cNvSpPr>
          <p:nvPr/>
        </p:nvSpPr>
        <p:spPr>
          <a:xfrm xmlns:a="http://schemas.openxmlformats.org/drawingml/2006/main">
            <a:off x="723900" y="2971800"/>
            <a:ext cx="3314700" cy="1447800"/>
          </a:xfrm>
          <a:prstGeom xmlns:a="http://schemas.openxmlformats.org/drawingml/2006/main" prst="roundRect">
            <a:avLst>
              <a:gd name="adj" fmla="val 5263"/>
            </a:avLst>
          </a:prstGeom>
          <a:solidFill xmlns:a="http://schemas.openxmlformats.org/drawingml/2006/main">
            <a:srgbClr val="0B2B52"/>
          </a:solidFill>
          <a:ln xmlns:a="http://schemas.openxmlformats.org/drawingml/2006/main" w="9525">
            <a:solidFill>
              <a:srgbClr val="1B4C8A"/>
            </a:solidFill>
            <a:prstDash val="solid"/>
          </a:ln>
        </p:spPr>
      </p:sp>
      <p:sp>
        <p:nvSpPr>
          <p:cNvPr id="12" name="">
            <a:extLst xmlns:a="http://schemas.openxmlformats.org/drawingml/2006/main">
              <a:ext uri="{FF2B5EF4-FFF2-40B4-BE49-F238E27FC236}">
                <a16:creationId xmlns:a16="http://schemas.microsoft.com/office/drawing/2014/main" id="{DC1FB6E2-FC31-40E7-9A71-675933207A83}"/>
              </a:ext>
            </a:extLst>
          </p:cNvPr>
          <p:cNvSpPr>
            <a:spLocks xmlns:a="http://schemas.openxmlformats.org/drawingml/2006/main" noGrp="1"/>
          </p:cNvSpPr>
          <p:nvPr/>
        </p:nvSpPr>
        <p:spPr>
          <a:xfrm xmlns:a="http://schemas.openxmlformats.org/drawingml/2006/main">
            <a:off x="723900" y="2971800"/>
            <a:ext cx="3314700" cy="38100"/>
          </a:xfrm>
          <a:prstGeom xmlns:a="http://schemas.openxmlformats.org/drawingml/2006/main" prst="rect">
            <a:avLst/>
          </a:prstGeom>
          <a:solidFill xmlns:a="http://schemas.openxmlformats.org/drawingml/2006/main">
            <a:srgbClr val="31C7F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A260042-D08E-4190-8D25-F62F2D211670}"/>
              </a:ext>
            </a:extLst>
          </p:cNvPr>
          <p:cNvSpPr>
            <a:spLocks xmlns:a="http://schemas.openxmlformats.org/drawingml/2006/main" noGrp="1"/>
          </p:cNvSpPr>
          <p:nvPr/>
        </p:nvSpPr>
        <p:spPr>
          <a:xfrm xmlns:a="http://schemas.openxmlformats.org/drawingml/2006/main">
            <a:off x="933450" y="31432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31C7F0"/>
                </a:solidFill>
                <a:latin typeface="微软雅黑"/>
                <a:ea typeface="微软雅黑"/>
                <a:cs typeface="微软雅黑"/>
              </a:defRPr>
            </a:pPr>
            <a:r>
              <a:rPr sz="1425" b="1">
                <a:solidFill>
                  <a:srgbClr val="31C7F0"/>
                </a:solidFill>
                <a:latin typeface="微软雅黑"/>
                <a:ea typeface="微软雅黑"/>
                <a:cs typeface="微软雅黑"/>
              </a:rPr>
              <a:t>应用场景</a:t>
            </a:r>
          </a:p>
        </p:txBody>
      </p:sp>
      <p:sp>
        <p:nvSpPr>
          <p:cNvPr id="14" name="">
            <a:extLst xmlns:a="http://schemas.openxmlformats.org/drawingml/2006/main">
              <a:ext uri="{FF2B5EF4-FFF2-40B4-BE49-F238E27FC236}">
                <a16:creationId xmlns:a16="http://schemas.microsoft.com/office/drawing/2014/main" id="{308BC58E-F79C-4A5E-96ED-82BFFDA3DBC6}"/>
              </a:ext>
            </a:extLst>
          </p:cNvPr>
          <p:cNvSpPr>
            <a:spLocks xmlns:a="http://schemas.openxmlformats.org/drawingml/2006/main" noGrp="1"/>
          </p:cNvSpPr>
          <p:nvPr/>
        </p:nvSpPr>
        <p:spPr>
          <a:xfrm xmlns:a="http://schemas.openxmlformats.org/drawingml/2006/main">
            <a:off x="933450" y="3505200"/>
            <a:ext cx="2914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1050" b="0">
                <a:solidFill>
                  <a:srgbClr val="D6E6F7"/>
                </a:solidFill>
                <a:latin typeface="微软雅黑"/>
                <a:ea typeface="微软雅黑"/>
                <a:cs typeface="微软雅黑"/>
              </a:defRPr>
            </a:pPr>
            <a:r>
              <a:rPr sz="1050" b="0">
                <a:solidFill>
                  <a:srgbClr val="D6E6F7"/>
                </a:solidFill>
                <a:latin typeface="微软雅黑"/>
                <a:ea typeface="微软雅黑"/>
                <a:cs typeface="微软雅黑"/>
              </a:rPr>
              <a:t>电网变电运维</a:t>
            </a:r>
          </a:p>
          <a:p xmlns:a="http://schemas.openxmlformats.org/drawingml/2006/main">
            <a:pPr algn="l">
              <a:lnSpc>
                <a:spcPct val="150000"/>
              </a:lnSpc>
              <a:buNone/>
              <a:defRPr sz="1050" b="0">
                <a:solidFill>
                  <a:srgbClr val="D6E6F7"/>
                </a:solidFill>
                <a:latin typeface="微软雅黑"/>
                <a:ea typeface="微软雅黑"/>
                <a:cs typeface="微软雅黑"/>
              </a:defRPr>
            </a:pPr>
            <a:r>
              <a:rPr sz="1050" b="0">
                <a:solidFill>
                  <a:srgbClr val="D6E6F7"/>
                </a:solidFill>
                <a:latin typeface="微软雅黑"/>
                <a:ea typeface="微软雅黑"/>
                <a:cs typeface="微软雅黑"/>
              </a:rPr>
              <a:t>新能源场站 · 智能制造产线</a:t>
            </a:r>
          </a:p>
        </p:txBody>
      </p:sp>
      <p:sp>
        <p:nvSpPr>
          <p:cNvPr id="15" name="">
            <a:extLst xmlns:a="http://schemas.openxmlformats.org/drawingml/2006/main">
              <a:ext uri="{FF2B5EF4-FFF2-40B4-BE49-F238E27FC236}">
                <a16:creationId xmlns:a16="http://schemas.microsoft.com/office/drawing/2014/main" id="{C54F5875-16F3-4578-B7B5-2876B84503E4}"/>
              </a:ext>
            </a:extLst>
          </p:cNvPr>
          <p:cNvSpPr>
            <a:spLocks xmlns:a="http://schemas.openxmlformats.org/drawingml/2006/main" noGrp="1"/>
          </p:cNvSpPr>
          <p:nvPr/>
        </p:nvSpPr>
        <p:spPr>
          <a:xfrm xmlns:a="http://schemas.openxmlformats.org/drawingml/2006/main">
            <a:off x="4305300" y="2971800"/>
            <a:ext cx="3314700" cy="1447800"/>
          </a:xfrm>
          <a:prstGeom xmlns:a="http://schemas.openxmlformats.org/drawingml/2006/main" prst="roundRect">
            <a:avLst>
              <a:gd name="adj" fmla="val 5263"/>
            </a:avLst>
          </a:prstGeom>
          <a:solidFill xmlns:a="http://schemas.openxmlformats.org/drawingml/2006/main">
            <a:srgbClr val="0B2B52"/>
          </a:solidFill>
          <a:ln xmlns:a="http://schemas.openxmlformats.org/drawingml/2006/main" w="9525">
            <a:solidFill>
              <a:srgbClr val="1B4C8A"/>
            </a:solidFill>
            <a:prstDash val="solid"/>
          </a:ln>
        </p:spPr>
      </p:sp>
      <p:sp>
        <p:nvSpPr>
          <p:cNvPr id="16" name="">
            <a:extLst xmlns:a="http://schemas.openxmlformats.org/drawingml/2006/main">
              <a:ext uri="{FF2B5EF4-FFF2-40B4-BE49-F238E27FC236}">
                <a16:creationId xmlns:a16="http://schemas.microsoft.com/office/drawing/2014/main" id="{F1707CB8-95A6-4570-AD3E-C60DC996078B}"/>
              </a:ext>
            </a:extLst>
          </p:cNvPr>
          <p:cNvSpPr>
            <a:spLocks xmlns:a="http://schemas.openxmlformats.org/drawingml/2006/main" noGrp="1"/>
          </p:cNvSpPr>
          <p:nvPr/>
        </p:nvSpPr>
        <p:spPr>
          <a:xfrm xmlns:a="http://schemas.openxmlformats.org/drawingml/2006/main">
            <a:off x="4305300" y="2971800"/>
            <a:ext cx="3314700" cy="38100"/>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DAB4488-654B-4FBF-8C4C-0CBA00754D2D}"/>
              </a:ext>
            </a:extLst>
          </p:cNvPr>
          <p:cNvSpPr>
            <a:spLocks xmlns:a="http://schemas.openxmlformats.org/drawingml/2006/main" noGrp="1"/>
          </p:cNvSpPr>
          <p:nvPr/>
        </p:nvSpPr>
        <p:spPr>
          <a:xfrm xmlns:a="http://schemas.openxmlformats.org/drawingml/2006/main">
            <a:off x="4514850" y="31432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2E86E8"/>
                </a:solidFill>
                <a:latin typeface="微软雅黑"/>
                <a:ea typeface="微软雅黑"/>
                <a:cs typeface="微软雅黑"/>
              </a:defRPr>
            </a:pPr>
            <a:r>
              <a:rPr sz="1425" b="1">
                <a:solidFill>
                  <a:srgbClr val="2E86E8"/>
                </a:solidFill>
                <a:latin typeface="微软雅黑"/>
                <a:ea typeface="微软雅黑"/>
                <a:cs typeface="微软雅黑"/>
              </a:rPr>
              <a:t>核心能力</a:t>
            </a:r>
          </a:p>
        </p:txBody>
      </p:sp>
      <p:sp>
        <p:nvSpPr>
          <p:cNvPr id="18" name="">
            <a:extLst xmlns:a="http://schemas.openxmlformats.org/drawingml/2006/main">
              <a:ext uri="{FF2B5EF4-FFF2-40B4-BE49-F238E27FC236}">
                <a16:creationId xmlns:a16="http://schemas.microsoft.com/office/drawing/2014/main" id="{B913BE48-3E0F-435C-8528-AFB7F6AD51A6}"/>
              </a:ext>
            </a:extLst>
          </p:cNvPr>
          <p:cNvSpPr>
            <a:spLocks xmlns:a="http://schemas.openxmlformats.org/drawingml/2006/main" noGrp="1"/>
          </p:cNvSpPr>
          <p:nvPr/>
        </p:nvSpPr>
        <p:spPr>
          <a:xfrm xmlns:a="http://schemas.openxmlformats.org/drawingml/2006/main">
            <a:off x="4514850" y="3505200"/>
            <a:ext cx="2914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1050" b="0">
                <a:solidFill>
                  <a:srgbClr val="D6E6F7"/>
                </a:solidFill>
                <a:latin typeface="微软雅黑"/>
                <a:ea typeface="微软雅黑"/>
                <a:cs typeface="微软雅黑"/>
              </a:defRPr>
            </a:pPr>
            <a:r>
              <a:rPr sz="1050" b="0">
                <a:solidFill>
                  <a:srgbClr val="D6E6F7"/>
                </a:solidFill>
                <a:latin typeface="微软雅黑"/>
                <a:ea typeface="微软雅黑"/>
                <a:cs typeface="微软雅黑"/>
              </a:rPr>
              <a:t>规则保底 · 模型增强</a:t>
            </a:r>
          </a:p>
          <a:p xmlns:a="http://schemas.openxmlformats.org/drawingml/2006/main">
            <a:pPr algn="l">
              <a:lnSpc>
                <a:spcPct val="150000"/>
              </a:lnSpc>
              <a:buNone/>
              <a:defRPr sz="1050" b="0">
                <a:solidFill>
                  <a:srgbClr val="D6E6F7"/>
                </a:solidFill>
                <a:latin typeface="微软雅黑"/>
                <a:ea typeface="微软雅黑"/>
                <a:cs typeface="微软雅黑"/>
              </a:defRPr>
            </a:pPr>
            <a:r>
              <a:rPr sz="1050" b="0">
                <a:solidFill>
                  <a:srgbClr val="D6E6F7"/>
                </a:solidFill>
                <a:latin typeface="微软雅黑"/>
                <a:ea typeface="微软雅黑"/>
                <a:cs typeface="微软雅黑"/>
              </a:rPr>
              <a:t>人工确认 · 全程留痕</a:t>
            </a:r>
          </a:p>
        </p:txBody>
      </p:sp>
      <p:sp>
        <p:nvSpPr>
          <p:cNvPr id="19" name="">
            <a:extLst xmlns:a="http://schemas.openxmlformats.org/drawingml/2006/main">
              <a:ext uri="{FF2B5EF4-FFF2-40B4-BE49-F238E27FC236}">
                <a16:creationId xmlns:a16="http://schemas.microsoft.com/office/drawing/2014/main" id="{9353FAC7-41F0-41D1-BB3F-E1E5438C971A}"/>
              </a:ext>
            </a:extLst>
          </p:cNvPr>
          <p:cNvSpPr>
            <a:spLocks xmlns:a="http://schemas.openxmlformats.org/drawingml/2006/main" noGrp="1"/>
          </p:cNvSpPr>
          <p:nvPr/>
        </p:nvSpPr>
        <p:spPr>
          <a:xfrm xmlns:a="http://schemas.openxmlformats.org/drawingml/2006/main">
            <a:off x="7886700" y="2971800"/>
            <a:ext cx="3314700" cy="1447800"/>
          </a:xfrm>
          <a:prstGeom xmlns:a="http://schemas.openxmlformats.org/drawingml/2006/main" prst="roundRect">
            <a:avLst>
              <a:gd name="adj" fmla="val 5263"/>
            </a:avLst>
          </a:prstGeom>
          <a:solidFill xmlns:a="http://schemas.openxmlformats.org/drawingml/2006/main">
            <a:srgbClr val="0B2B52"/>
          </a:solidFill>
          <a:ln xmlns:a="http://schemas.openxmlformats.org/drawingml/2006/main" w="9525">
            <a:solidFill>
              <a:srgbClr val="1B4C8A"/>
            </a:solidFill>
            <a:prstDash val="solid"/>
          </a:ln>
        </p:spPr>
      </p:sp>
      <p:sp>
        <p:nvSpPr>
          <p:cNvPr id="20" name="">
            <a:extLst xmlns:a="http://schemas.openxmlformats.org/drawingml/2006/main">
              <a:ext uri="{FF2B5EF4-FFF2-40B4-BE49-F238E27FC236}">
                <a16:creationId xmlns:a16="http://schemas.microsoft.com/office/drawing/2014/main" id="{FBC49423-1FCD-425E-82D9-C024A6330577}"/>
              </a:ext>
            </a:extLst>
          </p:cNvPr>
          <p:cNvSpPr>
            <a:spLocks xmlns:a="http://schemas.openxmlformats.org/drawingml/2006/main" noGrp="1"/>
          </p:cNvSpPr>
          <p:nvPr/>
        </p:nvSpPr>
        <p:spPr>
          <a:xfrm xmlns:a="http://schemas.openxmlformats.org/drawingml/2006/main">
            <a:off x="7886700" y="2971800"/>
            <a:ext cx="3314700" cy="3810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71135A7-5A5A-4EE2-9142-5B4215D474AF}"/>
              </a:ext>
            </a:extLst>
          </p:cNvPr>
          <p:cNvSpPr>
            <a:spLocks xmlns:a="http://schemas.openxmlformats.org/drawingml/2006/main" noGrp="1"/>
          </p:cNvSpPr>
          <p:nvPr/>
        </p:nvSpPr>
        <p:spPr>
          <a:xfrm xmlns:a="http://schemas.openxmlformats.org/drawingml/2006/main">
            <a:off x="8096250" y="31432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F5C33B"/>
                </a:solidFill>
                <a:latin typeface="微软雅黑"/>
                <a:ea typeface="微软雅黑"/>
                <a:cs typeface="微软雅黑"/>
              </a:defRPr>
            </a:pPr>
            <a:r>
              <a:rPr sz="1425" b="1">
                <a:solidFill>
                  <a:srgbClr val="F5C33B"/>
                </a:solidFill>
                <a:latin typeface="微软雅黑"/>
                <a:ea typeface="微软雅黑"/>
                <a:cs typeface="微软雅黑"/>
              </a:rPr>
              <a:t>差异化价值</a:t>
            </a:r>
          </a:p>
        </p:txBody>
      </p:sp>
      <p:sp>
        <p:nvSpPr>
          <p:cNvPr id="22" name="">
            <a:extLst xmlns:a="http://schemas.openxmlformats.org/drawingml/2006/main">
              <a:ext uri="{FF2B5EF4-FFF2-40B4-BE49-F238E27FC236}">
                <a16:creationId xmlns:a16="http://schemas.microsoft.com/office/drawing/2014/main" id="{F75876D1-2A47-47EC-9DD5-F21D24F1B400}"/>
              </a:ext>
            </a:extLst>
          </p:cNvPr>
          <p:cNvSpPr>
            <a:spLocks xmlns:a="http://schemas.openxmlformats.org/drawingml/2006/main" noGrp="1"/>
          </p:cNvSpPr>
          <p:nvPr/>
        </p:nvSpPr>
        <p:spPr>
          <a:xfrm xmlns:a="http://schemas.openxmlformats.org/drawingml/2006/main">
            <a:off x="8096250" y="3505200"/>
            <a:ext cx="2914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1050" b="0">
                <a:solidFill>
                  <a:srgbClr val="D6E6F7"/>
                </a:solidFill>
                <a:latin typeface="微软雅黑"/>
                <a:ea typeface="微软雅黑"/>
                <a:cs typeface="微软雅黑"/>
              </a:defRPr>
            </a:pPr>
            <a:r>
              <a:rPr sz="1050" b="0">
                <a:solidFill>
                  <a:srgbClr val="D6E6F7"/>
                </a:solidFill>
                <a:latin typeface="微软雅黑"/>
                <a:ea typeface="微软雅黑"/>
                <a:cs typeface="微软雅黑"/>
              </a:rPr>
              <a:t>可解释 · 可复算</a:t>
            </a:r>
          </a:p>
          <a:p xmlns:a="http://schemas.openxmlformats.org/drawingml/2006/main">
            <a:pPr algn="l">
              <a:lnSpc>
                <a:spcPct val="150000"/>
              </a:lnSpc>
              <a:buNone/>
              <a:defRPr sz="1050" b="0">
                <a:solidFill>
                  <a:srgbClr val="D6E6F7"/>
                </a:solidFill>
                <a:latin typeface="微软雅黑"/>
                <a:ea typeface="微软雅黑"/>
                <a:cs typeface="微软雅黑"/>
              </a:defRPr>
            </a:pPr>
            <a:r>
              <a:rPr sz="1050" b="0">
                <a:solidFill>
                  <a:srgbClr val="D6E6F7"/>
                </a:solidFill>
                <a:latin typeface="微软雅黑"/>
                <a:ea typeface="微软雅黑"/>
                <a:cs typeface="微软雅黑"/>
              </a:rPr>
              <a:t>可离线 · 可审计</a:t>
            </a:r>
          </a:p>
        </p:txBody>
      </p:sp>
      <p:sp>
        <p:nvSpPr>
          <p:cNvPr id="23" name="">
            <a:extLst xmlns:a="http://schemas.openxmlformats.org/drawingml/2006/main">
              <a:ext uri="{FF2B5EF4-FFF2-40B4-BE49-F238E27FC236}">
                <a16:creationId xmlns:a16="http://schemas.microsoft.com/office/drawing/2014/main" id="{761CA1C2-AE65-43D9-9F66-437C8925639A}"/>
              </a:ext>
            </a:extLst>
          </p:cNvPr>
          <p:cNvSpPr>
            <a:spLocks xmlns:a="http://schemas.openxmlformats.org/drawingml/2006/main" noGrp="1"/>
          </p:cNvSpPr>
          <p:nvPr/>
        </p:nvSpPr>
        <p:spPr>
          <a:xfrm xmlns:a="http://schemas.openxmlformats.org/drawingml/2006/main">
            <a:off x="723900" y="4724400"/>
            <a:ext cx="10744200" cy="9525"/>
          </a:xfrm>
          <a:prstGeom xmlns:a="http://schemas.openxmlformats.org/drawingml/2006/main" prst="rect">
            <a:avLst/>
          </a:prstGeom>
          <a:solidFill xmlns:a="http://schemas.openxmlformats.org/drawingml/2006/main">
            <a:srgbClr val="1B4C8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73D1FEC-E1F8-4971-9918-0DEC7B490DE3}"/>
              </a:ext>
            </a:extLst>
          </p:cNvPr>
          <p:cNvSpPr>
            <a:spLocks xmlns:a="http://schemas.openxmlformats.org/drawingml/2006/main" noGrp="1"/>
          </p:cNvSpPr>
          <p:nvPr/>
        </p:nvSpPr>
        <p:spPr>
          <a:xfrm xmlns:a="http://schemas.openxmlformats.org/drawingml/2006/main">
            <a:off x="723900" y="50101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微软雅黑"/>
                <a:ea typeface="微软雅黑"/>
                <a:cs typeface="微软雅黑"/>
              </a:defRPr>
            </a:pPr>
            <a:r>
              <a:rPr sz="975" b="0">
                <a:solidFill>
                  <a:srgbClr val="7A9CC4"/>
                </a:solidFill>
                <a:latin typeface="微软雅黑"/>
                <a:ea typeface="微软雅黑"/>
                <a:cs typeface="微软雅黑"/>
              </a:rPr>
              <a:t>参赛单位</a:t>
            </a:r>
          </a:p>
        </p:txBody>
      </p:sp>
      <p:sp>
        <p:nvSpPr>
          <p:cNvPr id="25" name="">
            <a:extLst xmlns:a="http://schemas.openxmlformats.org/drawingml/2006/main">
              <a:ext uri="{FF2B5EF4-FFF2-40B4-BE49-F238E27FC236}">
                <a16:creationId xmlns:a16="http://schemas.microsoft.com/office/drawing/2014/main" id="{C7C4E188-B341-449E-8CC9-56678EC8F890}"/>
              </a:ext>
            </a:extLst>
          </p:cNvPr>
          <p:cNvSpPr>
            <a:spLocks xmlns:a="http://schemas.openxmlformats.org/drawingml/2006/main" noGrp="1"/>
          </p:cNvSpPr>
          <p:nvPr/>
        </p:nvSpPr>
        <p:spPr>
          <a:xfrm xmlns:a="http://schemas.openxmlformats.org/drawingml/2006/main">
            <a:off x="723900" y="525780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广东科技学院</a:t>
            </a:r>
          </a:p>
        </p:txBody>
      </p:sp>
      <p:sp>
        <p:nvSpPr>
          <p:cNvPr id="26" name="">
            <a:extLst xmlns:a="http://schemas.openxmlformats.org/drawingml/2006/main">
              <a:ext uri="{FF2B5EF4-FFF2-40B4-BE49-F238E27FC236}">
                <a16:creationId xmlns:a16="http://schemas.microsoft.com/office/drawing/2014/main" id="{026FF4BB-BDC9-4509-A9A5-638DC28A31E3}"/>
              </a:ext>
            </a:extLst>
          </p:cNvPr>
          <p:cNvSpPr>
            <a:spLocks xmlns:a="http://schemas.openxmlformats.org/drawingml/2006/main" noGrp="1"/>
          </p:cNvSpPr>
          <p:nvPr/>
        </p:nvSpPr>
        <p:spPr>
          <a:xfrm xmlns:a="http://schemas.openxmlformats.org/drawingml/2006/main">
            <a:off x="3467100" y="50101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微软雅黑"/>
                <a:ea typeface="微软雅黑"/>
                <a:cs typeface="微软雅黑"/>
              </a:defRPr>
            </a:pPr>
            <a:r>
              <a:rPr sz="975" b="0">
                <a:solidFill>
                  <a:srgbClr val="7A9CC4"/>
                </a:solidFill>
                <a:latin typeface="微软雅黑"/>
                <a:ea typeface="微软雅黑"/>
                <a:cs typeface="微软雅黑"/>
              </a:rPr>
              <a:t>赛道</a:t>
            </a:r>
          </a:p>
        </p:txBody>
      </p:sp>
      <p:sp>
        <p:nvSpPr>
          <p:cNvPr id="27" name="">
            <a:extLst xmlns:a="http://schemas.openxmlformats.org/drawingml/2006/main">
              <a:ext uri="{FF2B5EF4-FFF2-40B4-BE49-F238E27FC236}">
                <a16:creationId xmlns:a16="http://schemas.microsoft.com/office/drawing/2014/main" id="{8711703E-256D-4684-A07A-6AF0BCC37038}"/>
              </a:ext>
            </a:extLst>
          </p:cNvPr>
          <p:cNvSpPr>
            <a:spLocks xmlns:a="http://schemas.openxmlformats.org/drawingml/2006/main" noGrp="1"/>
          </p:cNvSpPr>
          <p:nvPr/>
        </p:nvSpPr>
        <p:spPr>
          <a:xfrm xmlns:a="http://schemas.openxmlformats.org/drawingml/2006/main">
            <a:off x="3467100" y="525780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场景创新 · 软件创新</a:t>
            </a:r>
          </a:p>
        </p:txBody>
      </p:sp>
      <p:sp>
        <p:nvSpPr>
          <p:cNvPr id="28" name="">
            <a:extLst xmlns:a="http://schemas.openxmlformats.org/drawingml/2006/main">
              <a:ext uri="{FF2B5EF4-FFF2-40B4-BE49-F238E27FC236}">
                <a16:creationId xmlns:a16="http://schemas.microsoft.com/office/drawing/2014/main" id="{34DA403E-C1B0-4748-9166-2D2FC2A9AFF1}"/>
              </a:ext>
            </a:extLst>
          </p:cNvPr>
          <p:cNvSpPr>
            <a:spLocks xmlns:a="http://schemas.openxmlformats.org/drawingml/2006/main" noGrp="1"/>
          </p:cNvSpPr>
          <p:nvPr/>
        </p:nvSpPr>
        <p:spPr>
          <a:xfrm xmlns:a="http://schemas.openxmlformats.org/drawingml/2006/main">
            <a:off x="6210300" y="50101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微软雅黑"/>
                <a:ea typeface="微软雅黑"/>
                <a:cs typeface="微软雅黑"/>
              </a:defRPr>
            </a:pPr>
            <a:r>
              <a:rPr sz="975" b="0">
                <a:solidFill>
                  <a:srgbClr val="7A9CC4"/>
                </a:solidFill>
                <a:latin typeface="微软雅黑"/>
                <a:ea typeface="微软雅黑"/>
                <a:cs typeface="微软雅黑"/>
              </a:rPr>
              <a:t>团队</a:t>
            </a:r>
          </a:p>
        </p:txBody>
      </p:sp>
      <p:sp>
        <p:nvSpPr>
          <p:cNvPr id="29" name="">
            <a:extLst xmlns:a="http://schemas.openxmlformats.org/drawingml/2006/main">
              <a:ext uri="{FF2B5EF4-FFF2-40B4-BE49-F238E27FC236}">
                <a16:creationId xmlns:a16="http://schemas.microsoft.com/office/drawing/2014/main" id="{BEAC1114-5CF8-4B6F-B2B6-F8B0217C9FB9}"/>
              </a:ext>
            </a:extLst>
          </p:cNvPr>
          <p:cNvSpPr>
            <a:spLocks xmlns:a="http://schemas.openxmlformats.org/drawingml/2006/main" noGrp="1"/>
          </p:cNvSpPr>
          <p:nvPr/>
        </p:nvSpPr>
        <p:spPr>
          <a:xfrm xmlns:a="http://schemas.openxmlformats.org/drawingml/2006/main">
            <a:off x="6210300" y="525780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逐光造梦</a:t>
            </a:r>
          </a:p>
        </p:txBody>
      </p:sp>
      <p:sp>
        <p:nvSpPr>
          <p:cNvPr id="30" name="">
            <a:extLst xmlns:a="http://schemas.openxmlformats.org/drawingml/2006/main">
              <a:ext uri="{FF2B5EF4-FFF2-40B4-BE49-F238E27FC236}">
                <a16:creationId xmlns:a16="http://schemas.microsoft.com/office/drawing/2014/main" id="{23DEEE66-FAD5-436A-8E3F-7744F64F33D4}"/>
              </a:ext>
            </a:extLst>
          </p:cNvPr>
          <p:cNvSpPr>
            <a:spLocks xmlns:a="http://schemas.openxmlformats.org/drawingml/2006/main" noGrp="1"/>
          </p:cNvSpPr>
          <p:nvPr/>
        </p:nvSpPr>
        <p:spPr>
          <a:xfrm xmlns:a="http://schemas.openxmlformats.org/drawingml/2006/main">
            <a:off x="8953500" y="50101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微软雅黑"/>
                <a:ea typeface="微软雅黑"/>
                <a:cs typeface="微软雅黑"/>
              </a:defRPr>
            </a:pPr>
            <a:r>
              <a:rPr sz="975" b="0">
                <a:solidFill>
                  <a:srgbClr val="7A9CC4"/>
                </a:solidFill>
                <a:latin typeface="微软雅黑"/>
                <a:ea typeface="微软雅黑"/>
                <a:cs typeface="微软雅黑"/>
              </a:rPr>
              <a:t>指导老师</a:t>
            </a:r>
          </a:p>
        </p:txBody>
      </p:sp>
      <p:sp>
        <p:nvSpPr>
          <p:cNvPr id="31" name="">
            <a:extLst xmlns:a="http://schemas.openxmlformats.org/drawingml/2006/main">
              <a:ext uri="{FF2B5EF4-FFF2-40B4-BE49-F238E27FC236}">
                <a16:creationId xmlns:a16="http://schemas.microsoft.com/office/drawing/2014/main" id="{144B0C95-9370-4C0A-844E-7A045CA2165B}"/>
              </a:ext>
            </a:extLst>
          </p:cNvPr>
          <p:cNvSpPr>
            <a:spLocks xmlns:a="http://schemas.openxmlformats.org/drawingml/2006/main" noGrp="1"/>
          </p:cNvSpPr>
          <p:nvPr/>
        </p:nvSpPr>
        <p:spPr>
          <a:xfrm xmlns:a="http://schemas.openxmlformats.org/drawingml/2006/main">
            <a:off x="8953500" y="525780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王洪元 · 钟祖辉</a:t>
            </a:r>
          </a:p>
        </p:txBody>
      </p:sp>
      <p:sp>
        <p:nvSpPr>
          <p:cNvPr id="32" name="">
            <a:extLst xmlns:a="http://schemas.openxmlformats.org/drawingml/2006/main">
              <a:ext uri="{FF2B5EF4-FFF2-40B4-BE49-F238E27FC236}">
                <a16:creationId xmlns:a16="http://schemas.microsoft.com/office/drawing/2014/main" id="{0667B88A-0BE4-4595-8932-C36A144FB222}"/>
              </a:ext>
            </a:extLst>
          </p:cNvPr>
          <p:cNvSpPr>
            <a:spLocks xmlns:a="http://schemas.openxmlformats.org/drawingml/2006/main" noGrp="1"/>
          </p:cNvSpPr>
          <p:nvPr/>
        </p:nvSpPr>
        <p:spPr>
          <a:xfrm xmlns:a="http://schemas.openxmlformats.org/drawingml/2006/main">
            <a:off x="723900" y="5772150"/>
            <a:ext cx="10744200" cy="552450"/>
          </a:xfrm>
          <a:prstGeom xmlns:a="http://schemas.openxmlformats.org/drawingml/2006/main" prst="roundRect">
            <a:avLst>
              <a:gd name="adj" fmla="val 13793"/>
            </a:avLst>
          </a:prstGeom>
          <a:solidFill xmlns:a="http://schemas.openxmlformats.org/drawingml/2006/main">
            <a:srgbClr val="0A2547"/>
          </a:solidFill>
          <a:ln xmlns:a="http://schemas.openxmlformats.org/drawingml/2006/main" w="9525">
            <a:solidFill>
              <a:srgbClr val="1B4C8A"/>
            </a:solidFill>
            <a:prstDash val="solid"/>
          </a:ln>
        </p:spPr>
      </p:sp>
      <p:sp>
        <p:nvSpPr>
          <p:cNvPr id="33" name="">
            <a:extLst xmlns:a="http://schemas.openxmlformats.org/drawingml/2006/main">
              <a:ext uri="{FF2B5EF4-FFF2-40B4-BE49-F238E27FC236}">
                <a16:creationId xmlns:a16="http://schemas.microsoft.com/office/drawing/2014/main" id="{55DA80A8-B30A-4908-8450-66DEE91235BD}"/>
              </a:ext>
            </a:extLst>
          </p:cNvPr>
          <p:cNvSpPr>
            <a:spLocks xmlns:a="http://schemas.openxmlformats.org/drawingml/2006/main" noGrp="1"/>
          </p:cNvSpPr>
          <p:nvPr/>
        </p:nvSpPr>
        <p:spPr>
          <a:xfrm xmlns:a="http://schemas.openxmlformats.org/drawingml/2006/main">
            <a:off x="952500" y="57721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D6E6F7"/>
                </a:solidFill>
                <a:latin typeface="微软雅黑"/>
                <a:ea typeface="微软雅黑"/>
                <a:cs typeface="微软雅黑"/>
              </a:defRPr>
            </a:pPr>
            <a:r>
              <a:rPr sz="1125" b="0">
                <a:solidFill>
                  <a:srgbClr val="D6E6F7"/>
                </a:solidFill>
                <a:latin typeface="微软雅黑"/>
                <a:ea typeface="微软雅黑"/>
                <a:cs typeface="微软雅黑"/>
              </a:rPr>
              <a:t>一句话定位：把变电运维的每一次培训投入，变成算得清、追得到、能上岗的能力数据。</a:t>
            </a:r>
          </a:p>
        </p:txBody>
      </p:sp>
    </p:spTree>
    <p:extLst>
      <p:ext uri="{BB962C8B-B14F-4D97-AF65-F5344CB8AC3E}">
        <p14:creationId xmlns:p14="http://schemas.microsoft.com/office/powerpoint/2010/main" val="673337263"/>
      </p:ext>
    </p:extLst>
  </p:cSld>
</p:sld>
</file>

<file path=ppt/slides/slide2.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9EF9D1B1-3F37-4B0F-8EA2-5D47D4714817}"/>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FBEE32A-F0CF-474E-B624-7D4F916EB3E5}"/>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F5A5389-266C-422B-A62C-F4FD6F5C3D1E}"/>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0A779A0-F653-406C-B992-9F61AF23D108}"/>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7F742ED-4E70-4CB4-973A-C0FE3E747257}"/>
              </a:ext>
            </a:extLst>
          </p:cNvPr>
          <p:cNvSpPr>
            <a:spLocks xmlns:a="http://schemas.openxmlformats.org/drawingml/2006/main" noGrp="1"/>
          </p:cNvSpPr>
          <p:nvPr/>
        </p:nvSpPr>
        <p:spPr>
          <a:xfrm xmlns:a="http://schemas.openxmlformats.org/drawingml/2006/main">
            <a:off x="266700" y="15240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目录</a:t>
            </a:r>
          </a:p>
        </p:txBody>
      </p:sp>
      <p:sp>
        <p:nvSpPr>
          <p:cNvPr id="6" name="">
            <a:extLst xmlns:a="http://schemas.openxmlformats.org/drawingml/2006/main">
              <a:ext uri="{FF2B5EF4-FFF2-40B4-BE49-F238E27FC236}">
                <a16:creationId xmlns:a16="http://schemas.microsoft.com/office/drawing/2014/main" id="{A694764C-C7D4-4AB8-B711-396FE940020D}"/>
              </a:ext>
            </a:extLst>
          </p:cNvPr>
          <p:cNvSpPr>
            <a:spLocks xmlns:a="http://schemas.openxmlformats.org/drawingml/2006/main" noGrp="1"/>
          </p:cNvSpPr>
          <p:nvPr/>
        </p:nvSpPr>
        <p:spPr>
          <a:xfrm xmlns:a="http://schemas.openxmlformats.org/drawingml/2006/main">
            <a:off x="876300" y="1714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050" b="0">
                <a:solidFill>
                  <a:srgbClr val="9FC2E8"/>
                </a:solidFill>
                <a:latin typeface="微软雅黑"/>
                <a:ea typeface="微软雅黑"/>
                <a:cs typeface="微软雅黑"/>
              </a:defRPr>
            </a:pPr>
            <a:r>
              <a:rPr sz="1050" b="0">
                <a:solidFill>
                  <a:srgbClr val="9FC2E8"/>
                </a:solidFill>
                <a:latin typeface="微软雅黑"/>
                <a:ea typeface="微软雅黑"/>
                <a:cs typeface="微软雅黑"/>
              </a:rPr>
              <a:t>问题 → 方案 → 算法 → 系统 → 验证 → 价值</a:t>
            </a:r>
          </a:p>
        </p:txBody>
      </p:sp>
      <p:sp>
        <p:nvSpPr>
          <p:cNvPr id="7" name="">
            <a:extLst xmlns:a="http://schemas.openxmlformats.org/drawingml/2006/main">
              <a:ext uri="{FF2B5EF4-FFF2-40B4-BE49-F238E27FC236}">
                <a16:creationId xmlns:a16="http://schemas.microsoft.com/office/drawing/2014/main" id="{B8B8C3AF-F18B-4818-928E-E99B759B69D9}"/>
              </a:ext>
            </a:extLst>
          </p:cNvPr>
          <p:cNvSpPr>
            <a:spLocks xmlns:a="http://schemas.openxmlformats.org/drawingml/2006/main" noGrp="1"/>
          </p:cNvSpPr>
          <p:nvPr/>
        </p:nvSpPr>
        <p:spPr>
          <a:xfrm xmlns:a="http://schemas.openxmlformats.org/drawingml/2006/main">
            <a:off x="571500" y="1257300"/>
            <a:ext cx="3543300" cy="1981200"/>
          </a:xfrm>
          <a:prstGeom xmlns:a="http://schemas.openxmlformats.org/drawingml/2006/main" prst="roundRect">
            <a:avLst>
              <a:gd name="adj" fmla="val 3846"/>
            </a:avLst>
          </a:prstGeom>
          <a:solidFill xmlns:a="http://schemas.openxmlformats.org/drawingml/2006/main">
            <a:srgbClr val="0D2748"/>
          </a:solidFill>
          <a:ln xmlns:a="http://schemas.openxmlformats.org/drawingml/2006/main" w="9525">
            <a:solidFill>
              <a:srgbClr val="1B4C8A"/>
            </a:solidFill>
            <a:prstDash val="solid"/>
          </a:ln>
        </p:spPr>
      </p:sp>
      <p:sp>
        <p:nvSpPr>
          <p:cNvPr id="8" name="">
            <a:extLst xmlns:a="http://schemas.openxmlformats.org/drawingml/2006/main">
              <a:ext uri="{FF2B5EF4-FFF2-40B4-BE49-F238E27FC236}">
                <a16:creationId xmlns:a16="http://schemas.microsoft.com/office/drawing/2014/main" id="{529A7031-8E2C-469D-BA89-0956B4809DF7}"/>
              </a:ext>
            </a:extLst>
          </p:cNvPr>
          <p:cNvSpPr>
            <a:spLocks xmlns:a="http://schemas.openxmlformats.org/drawingml/2006/main" noGrp="1"/>
          </p:cNvSpPr>
          <p:nvPr/>
        </p:nvSpPr>
        <p:spPr>
          <a:xfrm xmlns:a="http://schemas.openxmlformats.org/drawingml/2006/main">
            <a:off x="571500" y="1257300"/>
            <a:ext cx="3543300" cy="4762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B553008-D251-4538-B15E-F53418F37E20}"/>
              </a:ext>
            </a:extLst>
          </p:cNvPr>
          <p:cNvSpPr>
            <a:spLocks xmlns:a="http://schemas.openxmlformats.org/drawingml/2006/main" noGrp="1"/>
          </p:cNvSpPr>
          <p:nvPr/>
        </p:nvSpPr>
        <p:spPr>
          <a:xfrm xmlns:a="http://schemas.openxmlformats.org/drawingml/2006/main">
            <a:off x="819150" y="1485900"/>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3450" b="1">
                <a:solidFill>
                  <a:srgbClr val="1D4C82"/>
                </a:solidFill>
                <a:latin typeface="Arial"/>
                <a:ea typeface="Arial"/>
                <a:cs typeface="Arial"/>
              </a:defRPr>
            </a:pPr>
            <a:r>
              <a:rPr sz="3450" b="1">
                <a:solidFill>
                  <a:srgbClr val="1D4C82"/>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A018A32F-20AA-485D-95EB-86ECBD85FB11}"/>
              </a:ext>
            </a:extLst>
          </p:cNvPr>
          <p:cNvSpPr>
            <a:spLocks xmlns:a="http://schemas.openxmlformats.org/drawingml/2006/main" noGrp="1"/>
          </p:cNvSpPr>
          <p:nvPr/>
        </p:nvSpPr>
        <p:spPr>
          <a:xfrm xmlns:a="http://schemas.openxmlformats.org/drawingml/2006/main">
            <a:off x="819150" y="20574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项目背景</a:t>
            </a:r>
          </a:p>
        </p:txBody>
      </p:sp>
      <p:sp>
        <p:nvSpPr>
          <p:cNvPr id="11" name="">
            <a:extLst xmlns:a="http://schemas.openxmlformats.org/drawingml/2006/main">
              <a:ext uri="{FF2B5EF4-FFF2-40B4-BE49-F238E27FC236}">
                <a16:creationId xmlns:a16="http://schemas.microsoft.com/office/drawing/2014/main" id="{0160759F-29E8-4486-9736-2831D6668415}"/>
              </a:ext>
            </a:extLst>
          </p:cNvPr>
          <p:cNvSpPr>
            <a:spLocks xmlns:a="http://schemas.openxmlformats.org/drawingml/2006/main" noGrp="1"/>
          </p:cNvSpPr>
          <p:nvPr/>
        </p:nvSpPr>
        <p:spPr>
          <a:xfrm xmlns:a="http://schemas.openxmlformats.org/drawingml/2006/main">
            <a:off x="819150" y="2476500"/>
            <a:ext cx="4953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CA500E5-22A4-452A-9FB6-481E14AED0CB}"/>
              </a:ext>
            </a:extLst>
          </p:cNvPr>
          <p:cNvSpPr>
            <a:spLocks xmlns:a="http://schemas.openxmlformats.org/drawingml/2006/main" noGrp="1"/>
          </p:cNvSpPr>
          <p:nvPr/>
        </p:nvSpPr>
        <p:spPr>
          <a:xfrm xmlns:a="http://schemas.openxmlformats.org/drawingml/2006/main">
            <a:off x="819150" y="2609850"/>
            <a:ext cx="304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行业现状与标准依据 · 培训成本结构 · 三大痛点 · 方案对比</a:t>
            </a:r>
          </a:p>
        </p:txBody>
      </p:sp>
      <p:sp>
        <p:nvSpPr>
          <p:cNvPr id="13" name="">
            <a:extLst xmlns:a="http://schemas.openxmlformats.org/drawingml/2006/main">
              <a:ext uri="{FF2B5EF4-FFF2-40B4-BE49-F238E27FC236}">
                <a16:creationId xmlns:a16="http://schemas.microsoft.com/office/drawing/2014/main" id="{2C0408DB-5DEE-4A32-A46B-8F3067068928}"/>
              </a:ext>
            </a:extLst>
          </p:cNvPr>
          <p:cNvSpPr>
            <a:spLocks xmlns:a="http://schemas.openxmlformats.org/drawingml/2006/main" noGrp="1"/>
          </p:cNvSpPr>
          <p:nvPr/>
        </p:nvSpPr>
        <p:spPr>
          <a:xfrm xmlns:a="http://schemas.openxmlformats.org/drawingml/2006/main">
            <a:off x="4419600" y="1257300"/>
            <a:ext cx="3543300" cy="1981200"/>
          </a:xfrm>
          <a:prstGeom xmlns:a="http://schemas.openxmlformats.org/drawingml/2006/main" prst="roundRect">
            <a:avLst>
              <a:gd name="adj" fmla="val 3846"/>
            </a:avLst>
          </a:prstGeom>
          <a:solidFill xmlns:a="http://schemas.openxmlformats.org/drawingml/2006/main">
            <a:srgbClr val="0D2748"/>
          </a:solidFill>
          <a:ln xmlns:a="http://schemas.openxmlformats.org/drawingml/2006/main" w="9525">
            <a:solidFill>
              <a:srgbClr val="1B4C8A"/>
            </a:solidFill>
            <a:prstDash val="solid"/>
          </a:ln>
        </p:spPr>
      </p:sp>
      <p:sp>
        <p:nvSpPr>
          <p:cNvPr id="14" name="">
            <a:extLst xmlns:a="http://schemas.openxmlformats.org/drawingml/2006/main">
              <a:ext uri="{FF2B5EF4-FFF2-40B4-BE49-F238E27FC236}">
                <a16:creationId xmlns:a16="http://schemas.microsoft.com/office/drawing/2014/main" id="{7086130D-EBCD-4B58-AF05-4E3EF885EDC1}"/>
              </a:ext>
            </a:extLst>
          </p:cNvPr>
          <p:cNvSpPr>
            <a:spLocks xmlns:a="http://schemas.openxmlformats.org/drawingml/2006/main" noGrp="1"/>
          </p:cNvSpPr>
          <p:nvPr/>
        </p:nvSpPr>
        <p:spPr>
          <a:xfrm xmlns:a="http://schemas.openxmlformats.org/drawingml/2006/main">
            <a:off x="4419600" y="1257300"/>
            <a:ext cx="3543300" cy="47625"/>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EACEB2A-9522-4DC3-AB99-EE3233B32DDA}"/>
              </a:ext>
            </a:extLst>
          </p:cNvPr>
          <p:cNvSpPr>
            <a:spLocks xmlns:a="http://schemas.openxmlformats.org/drawingml/2006/main" noGrp="1"/>
          </p:cNvSpPr>
          <p:nvPr/>
        </p:nvSpPr>
        <p:spPr>
          <a:xfrm xmlns:a="http://schemas.openxmlformats.org/drawingml/2006/main">
            <a:off x="4667250" y="1485900"/>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3450" b="1">
                <a:solidFill>
                  <a:srgbClr val="1D4C82"/>
                </a:solidFill>
                <a:latin typeface="Arial"/>
                <a:ea typeface="Arial"/>
                <a:cs typeface="Arial"/>
              </a:defRPr>
            </a:pPr>
            <a:r>
              <a:rPr sz="3450" b="1">
                <a:solidFill>
                  <a:srgbClr val="1D4C82"/>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0B20704C-06FD-4C87-88A2-4476CEC6E425}"/>
              </a:ext>
            </a:extLst>
          </p:cNvPr>
          <p:cNvSpPr>
            <a:spLocks xmlns:a="http://schemas.openxmlformats.org/drawingml/2006/main" noGrp="1"/>
          </p:cNvSpPr>
          <p:nvPr/>
        </p:nvSpPr>
        <p:spPr>
          <a:xfrm xmlns:a="http://schemas.openxmlformats.org/drawingml/2006/main">
            <a:off x="4667250" y="20574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总体方案</a:t>
            </a:r>
          </a:p>
        </p:txBody>
      </p:sp>
      <p:sp>
        <p:nvSpPr>
          <p:cNvPr id="17" name="">
            <a:extLst xmlns:a="http://schemas.openxmlformats.org/drawingml/2006/main">
              <a:ext uri="{FF2B5EF4-FFF2-40B4-BE49-F238E27FC236}">
                <a16:creationId xmlns:a16="http://schemas.microsoft.com/office/drawing/2014/main" id="{C4ABDF27-159F-43C6-9EA8-251F0E5BBA47}"/>
              </a:ext>
            </a:extLst>
          </p:cNvPr>
          <p:cNvSpPr>
            <a:spLocks xmlns:a="http://schemas.openxmlformats.org/drawingml/2006/main" noGrp="1"/>
          </p:cNvSpPr>
          <p:nvPr/>
        </p:nvSpPr>
        <p:spPr>
          <a:xfrm xmlns:a="http://schemas.openxmlformats.org/drawingml/2006/main">
            <a:off x="4667250" y="2476500"/>
            <a:ext cx="4953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D045AE7-1571-428C-A464-432D6604B867}"/>
              </a:ext>
            </a:extLst>
          </p:cNvPr>
          <p:cNvSpPr>
            <a:spLocks xmlns:a="http://schemas.openxmlformats.org/drawingml/2006/main" noGrp="1"/>
          </p:cNvSpPr>
          <p:nvPr/>
        </p:nvSpPr>
        <p:spPr>
          <a:xfrm xmlns:a="http://schemas.openxmlformats.org/drawingml/2006/main">
            <a:off x="4667250" y="2609850"/>
            <a:ext cx="304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五层总体框架 · 技术路线 · 四项核心创新点</a:t>
            </a:r>
          </a:p>
        </p:txBody>
      </p:sp>
      <p:sp>
        <p:nvSpPr>
          <p:cNvPr id="19" name="">
            <a:extLst xmlns:a="http://schemas.openxmlformats.org/drawingml/2006/main">
              <a:ext uri="{FF2B5EF4-FFF2-40B4-BE49-F238E27FC236}">
                <a16:creationId xmlns:a16="http://schemas.microsoft.com/office/drawing/2014/main" id="{E2ACA78B-7E52-4E4A-9097-C26D09311D8D}"/>
              </a:ext>
            </a:extLst>
          </p:cNvPr>
          <p:cNvSpPr>
            <a:spLocks xmlns:a="http://schemas.openxmlformats.org/drawingml/2006/main" noGrp="1"/>
          </p:cNvSpPr>
          <p:nvPr/>
        </p:nvSpPr>
        <p:spPr>
          <a:xfrm xmlns:a="http://schemas.openxmlformats.org/drawingml/2006/main">
            <a:off x="8267700" y="1257300"/>
            <a:ext cx="3543300" cy="1981200"/>
          </a:xfrm>
          <a:prstGeom xmlns:a="http://schemas.openxmlformats.org/drawingml/2006/main" prst="roundRect">
            <a:avLst>
              <a:gd name="adj" fmla="val 3846"/>
            </a:avLst>
          </a:prstGeom>
          <a:solidFill xmlns:a="http://schemas.openxmlformats.org/drawingml/2006/main">
            <a:srgbClr val="0D2748"/>
          </a:solidFill>
          <a:ln xmlns:a="http://schemas.openxmlformats.org/drawingml/2006/main" w="9525">
            <a:solidFill>
              <a:srgbClr val="1B4C8A"/>
            </a:solidFill>
            <a:prstDash val="solid"/>
          </a:ln>
        </p:spPr>
      </p:sp>
      <p:sp>
        <p:nvSpPr>
          <p:cNvPr id="20" name="">
            <a:extLst xmlns:a="http://schemas.openxmlformats.org/drawingml/2006/main">
              <a:ext uri="{FF2B5EF4-FFF2-40B4-BE49-F238E27FC236}">
                <a16:creationId xmlns:a16="http://schemas.microsoft.com/office/drawing/2014/main" id="{7AE9BA4F-346E-49F3-8F39-C5A7948BB730}"/>
              </a:ext>
            </a:extLst>
          </p:cNvPr>
          <p:cNvSpPr>
            <a:spLocks xmlns:a="http://schemas.openxmlformats.org/drawingml/2006/main" noGrp="1"/>
          </p:cNvSpPr>
          <p:nvPr/>
        </p:nvSpPr>
        <p:spPr>
          <a:xfrm xmlns:a="http://schemas.openxmlformats.org/drawingml/2006/main">
            <a:off x="8267700" y="1257300"/>
            <a:ext cx="3543300" cy="4762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16C7349-A9C9-401E-AA71-0EDEF3DE7E47}"/>
              </a:ext>
            </a:extLst>
          </p:cNvPr>
          <p:cNvSpPr>
            <a:spLocks xmlns:a="http://schemas.openxmlformats.org/drawingml/2006/main" noGrp="1"/>
          </p:cNvSpPr>
          <p:nvPr/>
        </p:nvSpPr>
        <p:spPr>
          <a:xfrm xmlns:a="http://schemas.openxmlformats.org/drawingml/2006/main">
            <a:off x="8515350" y="1485900"/>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3450" b="1">
                <a:solidFill>
                  <a:srgbClr val="1D4C82"/>
                </a:solidFill>
                <a:latin typeface="Arial"/>
                <a:ea typeface="Arial"/>
                <a:cs typeface="Arial"/>
              </a:defRPr>
            </a:pPr>
            <a:r>
              <a:rPr sz="3450" b="1">
                <a:solidFill>
                  <a:srgbClr val="1D4C82"/>
                </a:solidFill>
                <a:latin typeface="Arial"/>
                <a:ea typeface="Arial"/>
                <a:cs typeface="Arial"/>
              </a:rPr>
              <a:t>03</a:t>
            </a:r>
          </a:p>
        </p:txBody>
      </p:sp>
      <p:sp>
        <p:nvSpPr>
          <p:cNvPr id="22" name="">
            <a:extLst xmlns:a="http://schemas.openxmlformats.org/drawingml/2006/main">
              <a:ext uri="{FF2B5EF4-FFF2-40B4-BE49-F238E27FC236}">
                <a16:creationId xmlns:a16="http://schemas.microsoft.com/office/drawing/2014/main" id="{B9AD2725-CEF6-4146-BEC2-C931D13D0556}"/>
              </a:ext>
            </a:extLst>
          </p:cNvPr>
          <p:cNvSpPr>
            <a:spLocks xmlns:a="http://schemas.openxmlformats.org/drawingml/2006/main" noGrp="1"/>
          </p:cNvSpPr>
          <p:nvPr/>
        </p:nvSpPr>
        <p:spPr>
          <a:xfrm xmlns:a="http://schemas.openxmlformats.org/drawingml/2006/main">
            <a:off x="8515350" y="20574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核心算法</a:t>
            </a:r>
          </a:p>
        </p:txBody>
      </p:sp>
      <p:sp>
        <p:nvSpPr>
          <p:cNvPr id="23" name="">
            <a:extLst xmlns:a="http://schemas.openxmlformats.org/drawingml/2006/main">
              <a:ext uri="{FF2B5EF4-FFF2-40B4-BE49-F238E27FC236}">
                <a16:creationId xmlns:a16="http://schemas.microsoft.com/office/drawing/2014/main" id="{3A5905D5-E854-48ED-B718-830986ADF958}"/>
              </a:ext>
            </a:extLst>
          </p:cNvPr>
          <p:cNvSpPr>
            <a:spLocks xmlns:a="http://schemas.openxmlformats.org/drawingml/2006/main" noGrp="1"/>
          </p:cNvSpPr>
          <p:nvPr/>
        </p:nvSpPr>
        <p:spPr>
          <a:xfrm xmlns:a="http://schemas.openxmlformats.org/drawingml/2006/main">
            <a:off x="8515350" y="2476500"/>
            <a:ext cx="4953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EE1E568-345F-4096-8312-89F6FAF7B02A}"/>
              </a:ext>
            </a:extLst>
          </p:cNvPr>
          <p:cNvSpPr>
            <a:spLocks xmlns:a="http://schemas.openxmlformats.org/drawingml/2006/main" noGrp="1"/>
          </p:cNvSpPr>
          <p:nvPr/>
        </p:nvSpPr>
        <p:spPr>
          <a:xfrm xmlns:a="http://schemas.openxmlformats.org/drawingml/2006/main">
            <a:off x="8515350" y="2609850"/>
            <a:ext cx="304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规则引擎 · 气体检测归因 · 个性化组卷 · 课程匹配</a:t>
            </a:r>
          </a:p>
        </p:txBody>
      </p:sp>
      <p:sp>
        <p:nvSpPr>
          <p:cNvPr id="25" name="">
            <a:extLst xmlns:a="http://schemas.openxmlformats.org/drawingml/2006/main">
              <a:ext uri="{FF2B5EF4-FFF2-40B4-BE49-F238E27FC236}">
                <a16:creationId xmlns:a16="http://schemas.microsoft.com/office/drawing/2014/main" id="{70AF9D66-3619-4F00-B7D2-D8EB5DDABC65}"/>
              </a:ext>
            </a:extLst>
          </p:cNvPr>
          <p:cNvSpPr>
            <a:spLocks xmlns:a="http://schemas.openxmlformats.org/drawingml/2006/main" noGrp="1"/>
          </p:cNvSpPr>
          <p:nvPr/>
        </p:nvSpPr>
        <p:spPr>
          <a:xfrm xmlns:a="http://schemas.openxmlformats.org/drawingml/2006/main">
            <a:off x="571500" y="3581400"/>
            <a:ext cx="3543300" cy="1981200"/>
          </a:xfrm>
          <a:prstGeom xmlns:a="http://schemas.openxmlformats.org/drawingml/2006/main" prst="roundRect">
            <a:avLst>
              <a:gd name="adj" fmla="val 3846"/>
            </a:avLst>
          </a:prstGeom>
          <a:solidFill xmlns:a="http://schemas.openxmlformats.org/drawingml/2006/main">
            <a:srgbClr val="0D2748"/>
          </a:solidFill>
          <a:ln xmlns:a="http://schemas.openxmlformats.org/drawingml/2006/main" w="9525">
            <a:solidFill>
              <a:srgbClr val="1B4C8A"/>
            </a:solidFill>
            <a:prstDash val="solid"/>
          </a:ln>
        </p:spPr>
      </p:sp>
      <p:sp>
        <p:nvSpPr>
          <p:cNvPr id="26" name="">
            <a:extLst xmlns:a="http://schemas.openxmlformats.org/drawingml/2006/main">
              <a:ext uri="{FF2B5EF4-FFF2-40B4-BE49-F238E27FC236}">
                <a16:creationId xmlns:a16="http://schemas.microsoft.com/office/drawing/2014/main" id="{A0F04200-7015-4B53-99CA-7D8230EE8497}"/>
              </a:ext>
            </a:extLst>
          </p:cNvPr>
          <p:cNvSpPr>
            <a:spLocks xmlns:a="http://schemas.openxmlformats.org/drawingml/2006/main" noGrp="1"/>
          </p:cNvSpPr>
          <p:nvPr/>
        </p:nvSpPr>
        <p:spPr>
          <a:xfrm xmlns:a="http://schemas.openxmlformats.org/drawingml/2006/main">
            <a:off x="571500" y="3581400"/>
            <a:ext cx="3543300" cy="47625"/>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1D8BCBD-DDDF-4E4F-8880-271AB4CB3610}"/>
              </a:ext>
            </a:extLst>
          </p:cNvPr>
          <p:cNvSpPr>
            <a:spLocks xmlns:a="http://schemas.openxmlformats.org/drawingml/2006/main" noGrp="1"/>
          </p:cNvSpPr>
          <p:nvPr/>
        </p:nvSpPr>
        <p:spPr>
          <a:xfrm xmlns:a="http://schemas.openxmlformats.org/drawingml/2006/main">
            <a:off x="819150" y="3810000"/>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3450" b="1">
                <a:solidFill>
                  <a:srgbClr val="1D4C82"/>
                </a:solidFill>
                <a:latin typeface="Arial"/>
                <a:ea typeface="Arial"/>
                <a:cs typeface="Arial"/>
              </a:defRPr>
            </a:pPr>
            <a:r>
              <a:rPr sz="3450" b="1">
                <a:solidFill>
                  <a:srgbClr val="1D4C82"/>
                </a:solidFill>
                <a:latin typeface="Arial"/>
                <a:ea typeface="Arial"/>
                <a:cs typeface="Arial"/>
              </a:rPr>
              <a:t>04</a:t>
            </a:r>
          </a:p>
        </p:txBody>
      </p:sp>
      <p:sp>
        <p:nvSpPr>
          <p:cNvPr id="28" name="">
            <a:extLst xmlns:a="http://schemas.openxmlformats.org/drawingml/2006/main">
              <a:ext uri="{FF2B5EF4-FFF2-40B4-BE49-F238E27FC236}">
                <a16:creationId xmlns:a16="http://schemas.microsoft.com/office/drawing/2014/main" id="{9E01320A-D363-42C9-BB3D-092529CC1ACA}"/>
              </a:ext>
            </a:extLst>
          </p:cNvPr>
          <p:cNvSpPr>
            <a:spLocks xmlns:a="http://schemas.openxmlformats.org/drawingml/2006/main" noGrp="1"/>
          </p:cNvSpPr>
          <p:nvPr/>
        </p:nvSpPr>
        <p:spPr>
          <a:xfrm xmlns:a="http://schemas.openxmlformats.org/drawingml/2006/main">
            <a:off x="819150" y="43815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系统实现</a:t>
            </a:r>
          </a:p>
        </p:txBody>
      </p:sp>
      <p:sp>
        <p:nvSpPr>
          <p:cNvPr id="29" name="">
            <a:extLst xmlns:a="http://schemas.openxmlformats.org/drawingml/2006/main">
              <a:ext uri="{FF2B5EF4-FFF2-40B4-BE49-F238E27FC236}">
                <a16:creationId xmlns:a16="http://schemas.microsoft.com/office/drawing/2014/main" id="{138826B5-8731-4D44-9A25-EA4D68695C3A}"/>
              </a:ext>
            </a:extLst>
          </p:cNvPr>
          <p:cNvSpPr>
            <a:spLocks xmlns:a="http://schemas.openxmlformats.org/drawingml/2006/main" noGrp="1"/>
          </p:cNvSpPr>
          <p:nvPr/>
        </p:nvSpPr>
        <p:spPr>
          <a:xfrm xmlns:a="http://schemas.openxmlformats.org/drawingml/2006/main">
            <a:off x="819150" y="4800600"/>
            <a:ext cx="4953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ADB1F0A-445B-4CBD-9C0B-62543197DC13}"/>
              </a:ext>
            </a:extLst>
          </p:cNvPr>
          <p:cNvSpPr>
            <a:spLocks xmlns:a="http://schemas.openxmlformats.org/drawingml/2006/main" noGrp="1"/>
          </p:cNvSpPr>
          <p:nvPr/>
        </p:nvSpPr>
        <p:spPr>
          <a:xfrm xmlns:a="http://schemas.openxmlformats.org/drawingml/2006/main">
            <a:off x="819150" y="4933950"/>
            <a:ext cx="304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四层架构 · 系统界面与四类角色 · 建议到留痕的闭环</a:t>
            </a:r>
          </a:p>
        </p:txBody>
      </p:sp>
      <p:sp>
        <p:nvSpPr>
          <p:cNvPr id="31" name="">
            <a:extLst xmlns:a="http://schemas.openxmlformats.org/drawingml/2006/main">
              <a:ext uri="{FF2B5EF4-FFF2-40B4-BE49-F238E27FC236}">
                <a16:creationId xmlns:a16="http://schemas.microsoft.com/office/drawing/2014/main" id="{1570338E-4232-47D0-BD6E-F17A45317CA0}"/>
              </a:ext>
            </a:extLst>
          </p:cNvPr>
          <p:cNvSpPr>
            <a:spLocks xmlns:a="http://schemas.openxmlformats.org/drawingml/2006/main" noGrp="1"/>
          </p:cNvSpPr>
          <p:nvPr/>
        </p:nvSpPr>
        <p:spPr>
          <a:xfrm xmlns:a="http://schemas.openxmlformats.org/drawingml/2006/main">
            <a:off x="4419600" y="3581400"/>
            <a:ext cx="3543300" cy="1981200"/>
          </a:xfrm>
          <a:prstGeom xmlns:a="http://schemas.openxmlformats.org/drawingml/2006/main" prst="roundRect">
            <a:avLst>
              <a:gd name="adj" fmla="val 3846"/>
            </a:avLst>
          </a:prstGeom>
          <a:solidFill xmlns:a="http://schemas.openxmlformats.org/drawingml/2006/main">
            <a:srgbClr val="0D2748"/>
          </a:solidFill>
          <a:ln xmlns:a="http://schemas.openxmlformats.org/drawingml/2006/main" w="9525">
            <a:solidFill>
              <a:srgbClr val="1B4C8A"/>
            </a:solidFill>
            <a:prstDash val="solid"/>
          </a:ln>
        </p:spPr>
      </p:sp>
      <p:sp>
        <p:nvSpPr>
          <p:cNvPr id="32" name="">
            <a:extLst xmlns:a="http://schemas.openxmlformats.org/drawingml/2006/main">
              <a:ext uri="{FF2B5EF4-FFF2-40B4-BE49-F238E27FC236}">
                <a16:creationId xmlns:a16="http://schemas.microsoft.com/office/drawing/2014/main" id="{A52D0004-051C-4A43-836A-C13B7F1B5603}"/>
              </a:ext>
            </a:extLst>
          </p:cNvPr>
          <p:cNvSpPr>
            <a:spLocks xmlns:a="http://schemas.openxmlformats.org/drawingml/2006/main" noGrp="1"/>
          </p:cNvSpPr>
          <p:nvPr/>
        </p:nvSpPr>
        <p:spPr>
          <a:xfrm xmlns:a="http://schemas.openxmlformats.org/drawingml/2006/main">
            <a:off x="4419600" y="3581400"/>
            <a:ext cx="3543300" cy="4762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4DC4FAC-9B76-4647-8C22-56B1276EF2F5}"/>
              </a:ext>
            </a:extLst>
          </p:cNvPr>
          <p:cNvSpPr>
            <a:spLocks xmlns:a="http://schemas.openxmlformats.org/drawingml/2006/main" noGrp="1"/>
          </p:cNvSpPr>
          <p:nvPr/>
        </p:nvSpPr>
        <p:spPr>
          <a:xfrm xmlns:a="http://schemas.openxmlformats.org/drawingml/2006/main">
            <a:off x="4667250" y="3810000"/>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3450" b="1">
                <a:solidFill>
                  <a:srgbClr val="1D4C82"/>
                </a:solidFill>
                <a:latin typeface="Arial"/>
                <a:ea typeface="Arial"/>
                <a:cs typeface="Arial"/>
              </a:defRPr>
            </a:pPr>
            <a:r>
              <a:rPr sz="3450" b="1">
                <a:solidFill>
                  <a:srgbClr val="1D4C82"/>
                </a:solidFill>
                <a:latin typeface="Arial"/>
                <a:ea typeface="Arial"/>
                <a:cs typeface="Arial"/>
              </a:rPr>
              <a:t>05</a:t>
            </a:r>
          </a:p>
        </p:txBody>
      </p:sp>
      <p:sp>
        <p:nvSpPr>
          <p:cNvPr id="34" name="">
            <a:extLst xmlns:a="http://schemas.openxmlformats.org/drawingml/2006/main">
              <a:ext uri="{FF2B5EF4-FFF2-40B4-BE49-F238E27FC236}">
                <a16:creationId xmlns:a16="http://schemas.microsoft.com/office/drawing/2014/main" id="{1790A1A4-6567-49FD-892F-0B14DFDDFDC6}"/>
              </a:ext>
            </a:extLst>
          </p:cNvPr>
          <p:cNvSpPr>
            <a:spLocks xmlns:a="http://schemas.openxmlformats.org/drawingml/2006/main" noGrp="1"/>
          </p:cNvSpPr>
          <p:nvPr/>
        </p:nvSpPr>
        <p:spPr>
          <a:xfrm xmlns:a="http://schemas.openxmlformats.org/drawingml/2006/main">
            <a:off x="4667250" y="43815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测试验证</a:t>
            </a:r>
          </a:p>
        </p:txBody>
      </p:sp>
      <p:sp>
        <p:nvSpPr>
          <p:cNvPr id="35" name="">
            <a:extLst xmlns:a="http://schemas.openxmlformats.org/drawingml/2006/main">
              <a:ext uri="{FF2B5EF4-FFF2-40B4-BE49-F238E27FC236}">
                <a16:creationId xmlns:a16="http://schemas.microsoft.com/office/drawing/2014/main" id="{6FAD5E14-A2E3-4597-85D0-9DBEBEC50F83}"/>
              </a:ext>
            </a:extLst>
          </p:cNvPr>
          <p:cNvSpPr>
            <a:spLocks xmlns:a="http://schemas.openxmlformats.org/drawingml/2006/main" noGrp="1"/>
          </p:cNvSpPr>
          <p:nvPr/>
        </p:nvSpPr>
        <p:spPr>
          <a:xfrm xmlns:a="http://schemas.openxmlformats.org/drawingml/2006/main">
            <a:off x="4667250" y="4800600"/>
            <a:ext cx="4953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5B2CC3EA-128F-4916-AEA0-D044A0706DB5}"/>
              </a:ext>
            </a:extLst>
          </p:cNvPr>
          <p:cNvSpPr>
            <a:spLocks xmlns:a="http://schemas.openxmlformats.org/drawingml/2006/main" noGrp="1"/>
          </p:cNvSpPr>
          <p:nvPr/>
        </p:nvSpPr>
        <p:spPr>
          <a:xfrm xmlns:a="http://schemas.openxmlformats.org/drawingml/2006/main">
            <a:off x="4667250" y="4933950"/>
            <a:ext cx="304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五层测试 · 使用前后纵向对比 · 三种方案横向对比</a:t>
            </a:r>
          </a:p>
        </p:txBody>
      </p:sp>
      <p:sp>
        <p:nvSpPr>
          <p:cNvPr id="37" name="">
            <a:extLst xmlns:a="http://schemas.openxmlformats.org/drawingml/2006/main">
              <a:ext uri="{FF2B5EF4-FFF2-40B4-BE49-F238E27FC236}">
                <a16:creationId xmlns:a16="http://schemas.microsoft.com/office/drawing/2014/main" id="{34B71503-B5B6-4BCC-B367-00DA856DFD5F}"/>
              </a:ext>
            </a:extLst>
          </p:cNvPr>
          <p:cNvSpPr>
            <a:spLocks xmlns:a="http://schemas.openxmlformats.org/drawingml/2006/main" noGrp="1"/>
          </p:cNvSpPr>
          <p:nvPr/>
        </p:nvSpPr>
        <p:spPr>
          <a:xfrm xmlns:a="http://schemas.openxmlformats.org/drawingml/2006/main">
            <a:off x="8267700" y="3581400"/>
            <a:ext cx="3543300" cy="1981200"/>
          </a:xfrm>
          <a:prstGeom xmlns:a="http://schemas.openxmlformats.org/drawingml/2006/main" prst="roundRect">
            <a:avLst>
              <a:gd name="adj" fmla="val 3846"/>
            </a:avLst>
          </a:prstGeom>
          <a:solidFill xmlns:a="http://schemas.openxmlformats.org/drawingml/2006/main">
            <a:srgbClr val="0D2748"/>
          </a:solidFill>
          <a:ln xmlns:a="http://schemas.openxmlformats.org/drawingml/2006/main" w="9525">
            <a:solidFill>
              <a:srgbClr val="1B4C8A"/>
            </a:solidFill>
            <a:prstDash val="solid"/>
          </a:ln>
        </p:spPr>
      </p:sp>
      <p:sp>
        <p:nvSpPr>
          <p:cNvPr id="38" name="">
            <a:extLst xmlns:a="http://schemas.openxmlformats.org/drawingml/2006/main">
              <a:ext uri="{FF2B5EF4-FFF2-40B4-BE49-F238E27FC236}">
                <a16:creationId xmlns:a16="http://schemas.microsoft.com/office/drawing/2014/main" id="{E04DD6DF-DB79-4266-9BC3-E48F08AEC937}"/>
              </a:ext>
            </a:extLst>
          </p:cNvPr>
          <p:cNvSpPr>
            <a:spLocks xmlns:a="http://schemas.openxmlformats.org/drawingml/2006/main" noGrp="1"/>
          </p:cNvSpPr>
          <p:nvPr/>
        </p:nvSpPr>
        <p:spPr>
          <a:xfrm xmlns:a="http://schemas.openxmlformats.org/drawingml/2006/main">
            <a:off x="8267700" y="3581400"/>
            <a:ext cx="3543300" cy="47625"/>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DEBAF2D8-DC7A-4574-ACDD-C5B7A0272CBD}"/>
              </a:ext>
            </a:extLst>
          </p:cNvPr>
          <p:cNvSpPr>
            <a:spLocks xmlns:a="http://schemas.openxmlformats.org/drawingml/2006/main" noGrp="1"/>
          </p:cNvSpPr>
          <p:nvPr/>
        </p:nvSpPr>
        <p:spPr>
          <a:xfrm xmlns:a="http://schemas.openxmlformats.org/drawingml/2006/main">
            <a:off x="8515350" y="3810000"/>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3450" b="1">
                <a:solidFill>
                  <a:srgbClr val="1D4C82"/>
                </a:solidFill>
                <a:latin typeface="Arial"/>
                <a:ea typeface="Arial"/>
                <a:cs typeface="Arial"/>
              </a:defRPr>
            </a:pPr>
            <a:r>
              <a:rPr sz="3450" b="1">
                <a:solidFill>
                  <a:srgbClr val="1D4C82"/>
                </a:solidFill>
                <a:latin typeface="Arial"/>
                <a:ea typeface="Arial"/>
                <a:cs typeface="Arial"/>
              </a:rPr>
              <a:t>06</a:t>
            </a:r>
          </a:p>
        </p:txBody>
      </p:sp>
      <p:sp>
        <p:nvSpPr>
          <p:cNvPr id="40" name="">
            <a:extLst xmlns:a="http://schemas.openxmlformats.org/drawingml/2006/main">
              <a:ext uri="{FF2B5EF4-FFF2-40B4-BE49-F238E27FC236}">
                <a16:creationId xmlns:a16="http://schemas.microsoft.com/office/drawing/2014/main" id="{5C99530B-A856-4B5E-BDE5-F1A43AB1E284}"/>
              </a:ext>
            </a:extLst>
          </p:cNvPr>
          <p:cNvSpPr>
            <a:spLocks xmlns:a="http://schemas.openxmlformats.org/drawingml/2006/main" noGrp="1"/>
          </p:cNvSpPr>
          <p:nvPr/>
        </p:nvSpPr>
        <p:spPr>
          <a:xfrm xmlns:a="http://schemas.openxmlformats.org/drawingml/2006/main">
            <a:off x="8515350" y="43815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成果与价值</a:t>
            </a:r>
          </a:p>
        </p:txBody>
      </p:sp>
      <p:sp>
        <p:nvSpPr>
          <p:cNvPr id="41" name="">
            <a:extLst xmlns:a="http://schemas.openxmlformats.org/drawingml/2006/main">
              <a:ext uri="{FF2B5EF4-FFF2-40B4-BE49-F238E27FC236}">
                <a16:creationId xmlns:a16="http://schemas.microsoft.com/office/drawing/2014/main" id="{BB4F98A1-2454-4968-9CE8-D7BCD5A863EF}"/>
              </a:ext>
            </a:extLst>
          </p:cNvPr>
          <p:cNvSpPr>
            <a:spLocks xmlns:a="http://schemas.openxmlformats.org/drawingml/2006/main" noGrp="1"/>
          </p:cNvSpPr>
          <p:nvPr/>
        </p:nvSpPr>
        <p:spPr>
          <a:xfrm xmlns:a="http://schemas.openxmlformats.org/drawingml/2006/main">
            <a:off x="8515350" y="4800600"/>
            <a:ext cx="4953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7B0BC528-369F-4FAB-8203-315E5F7DAB71}"/>
              </a:ext>
            </a:extLst>
          </p:cNvPr>
          <p:cNvSpPr>
            <a:spLocks xmlns:a="http://schemas.openxmlformats.org/drawingml/2006/main" noGrp="1"/>
          </p:cNvSpPr>
          <p:nvPr/>
        </p:nvSpPr>
        <p:spPr>
          <a:xfrm xmlns:a="http://schemas.openxmlformats.org/drawingml/2006/main">
            <a:off x="8515350" y="4933950"/>
            <a:ext cx="304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成果沉淀 · 目标客户 · 市场测算 · 三阶段演进</a:t>
            </a:r>
          </a:p>
        </p:txBody>
      </p:sp>
      <p:sp>
        <p:nvSpPr>
          <p:cNvPr id="43" name="">
            <a:extLst xmlns:a="http://schemas.openxmlformats.org/drawingml/2006/main">
              <a:ext uri="{FF2B5EF4-FFF2-40B4-BE49-F238E27FC236}">
                <a16:creationId xmlns:a16="http://schemas.microsoft.com/office/drawing/2014/main" id="{F2C9C194-E8AF-43DF-A580-8A296E7C0D3D}"/>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FC444FA4-2DFF-467C-BA59-E2C121E84431}"/>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45" name="">
            <a:extLst xmlns:a="http://schemas.openxmlformats.org/drawingml/2006/main">
              <a:ext uri="{FF2B5EF4-FFF2-40B4-BE49-F238E27FC236}">
                <a16:creationId xmlns:a16="http://schemas.microsoft.com/office/drawing/2014/main" id="{59EFAB92-E2A5-4376-9C89-74C5B80AF984}"/>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02</a:t>
            </a:r>
          </a:p>
        </p:txBody>
      </p:sp>
    </p:spTree>
    <p:extLst>
      <p:ext uri="{BB962C8B-B14F-4D97-AF65-F5344CB8AC3E}">
        <p14:creationId xmlns:p14="http://schemas.microsoft.com/office/powerpoint/2010/main" val="349661649"/>
      </p:ext>
    </p:extLst>
  </p:cSld>
</p:sld>
</file>

<file path=ppt/slides/slide3.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DF8023C-969F-4867-9875-21486391918B}"/>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2001F82-B240-4C3B-B1A4-E2BE26382331}"/>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3E9B836-5408-41B5-B22C-58F22CA4EFA9}"/>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5621BF0-727D-4094-9F65-127B70500BC8}"/>
              </a:ext>
            </a:extLst>
          </p:cNvPr>
          <p:cNvSpPr>
            <a:spLocks xmlns:a="http://schemas.openxmlformats.org/drawingml/2006/main" noGrp="1"/>
          </p:cNvSpPr>
          <p:nvPr/>
        </p:nvSpPr>
        <p:spPr>
          <a:xfrm xmlns:a="http://schemas.openxmlformats.org/drawingml/2006/main">
            <a:off x="857250" y="1866900"/>
            <a:ext cx="3810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0" b="1">
                <a:solidFill>
                  <a:srgbClr val="12365F"/>
                </a:solidFill>
                <a:latin typeface="Arial"/>
                <a:ea typeface="Arial"/>
                <a:cs typeface="Arial"/>
              </a:defRPr>
            </a:pPr>
            <a:r>
              <a:rPr sz="9000" b="1">
                <a:solidFill>
                  <a:srgbClr val="12365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27309CDE-8206-4467-8D8D-4E5F112C2628}"/>
              </a:ext>
            </a:extLst>
          </p:cNvPr>
          <p:cNvSpPr>
            <a:spLocks xmlns:a="http://schemas.openxmlformats.org/drawingml/2006/main" noGrp="1"/>
          </p:cNvSpPr>
          <p:nvPr/>
        </p:nvSpPr>
        <p:spPr>
          <a:xfrm xmlns:a="http://schemas.openxmlformats.org/drawingml/2006/main">
            <a:off x="914400" y="2857500"/>
            <a:ext cx="666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3300" b="1">
                <a:solidFill>
                  <a:srgbClr val="FFFFFF"/>
                </a:solidFill>
                <a:latin typeface="微软雅黑"/>
                <a:ea typeface="微软雅黑"/>
                <a:cs typeface="微软雅黑"/>
              </a:defRPr>
            </a:pPr>
            <a:r>
              <a:rPr sz="3300" b="1">
                <a:solidFill>
                  <a:srgbClr val="FFFFFF"/>
                </a:solidFill>
                <a:latin typeface="微软雅黑"/>
                <a:ea typeface="微软雅黑"/>
                <a:cs typeface="微软雅黑"/>
              </a:rPr>
              <a:t>项目背景</a:t>
            </a:r>
          </a:p>
        </p:txBody>
      </p:sp>
      <p:sp>
        <p:nvSpPr>
          <p:cNvPr id="6" name="">
            <a:extLst xmlns:a="http://schemas.openxmlformats.org/drawingml/2006/main">
              <a:ext uri="{FF2B5EF4-FFF2-40B4-BE49-F238E27FC236}">
                <a16:creationId xmlns:a16="http://schemas.microsoft.com/office/drawing/2014/main" id="{0321BE49-8F43-4EAE-91D5-CC9A0A7885E3}"/>
              </a:ext>
            </a:extLst>
          </p:cNvPr>
          <p:cNvSpPr>
            <a:spLocks xmlns:a="http://schemas.openxmlformats.org/drawingml/2006/main" noGrp="1"/>
          </p:cNvSpPr>
          <p:nvPr/>
        </p:nvSpPr>
        <p:spPr>
          <a:xfrm xmlns:a="http://schemas.openxmlformats.org/drawingml/2006/main">
            <a:off x="952500" y="348615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050" b="0">
                <a:solidFill>
                  <a:srgbClr val="31C7F0"/>
                </a:solidFill>
                <a:latin typeface="Arial"/>
                <a:ea typeface="Arial"/>
                <a:cs typeface="Arial"/>
              </a:defRPr>
            </a:pPr>
            <a:r>
              <a:rPr sz="1050" b="0">
                <a:solidFill>
                  <a:srgbClr val="31C7F0"/>
                </a:solidFill>
                <a:latin typeface="Arial"/>
                <a:ea typeface="Arial"/>
                <a:cs typeface="Arial"/>
              </a:rPr>
              <a:t>BACKGROUND · WHY INDUSTRIAL TRAINING</a:t>
            </a:r>
          </a:p>
        </p:txBody>
      </p:sp>
      <p:sp>
        <p:nvSpPr>
          <p:cNvPr id="7" name="">
            <a:extLst xmlns:a="http://schemas.openxmlformats.org/drawingml/2006/main">
              <a:ext uri="{FF2B5EF4-FFF2-40B4-BE49-F238E27FC236}">
                <a16:creationId xmlns:a16="http://schemas.microsoft.com/office/drawing/2014/main" id="{D4DD3D3E-D7A8-4049-ACA4-23F317F64686}"/>
              </a:ext>
            </a:extLst>
          </p:cNvPr>
          <p:cNvSpPr>
            <a:spLocks xmlns:a="http://schemas.openxmlformats.org/drawingml/2006/main" noGrp="1"/>
          </p:cNvSpPr>
          <p:nvPr/>
        </p:nvSpPr>
        <p:spPr>
          <a:xfrm xmlns:a="http://schemas.openxmlformats.org/drawingml/2006/main">
            <a:off x="952500" y="3905250"/>
            <a:ext cx="857250" cy="28575"/>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B34A4F0-D003-40D4-8B86-6779F4E1E18D}"/>
              </a:ext>
            </a:extLst>
          </p:cNvPr>
          <p:cNvSpPr>
            <a:spLocks xmlns:a="http://schemas.openxmlformats.org/drawingml/2006/main" noGrp="1"/>
          </p:cNvSpPr>
          <p:nvPr/>
        </p:nvSpPr>
        <p:spPr>
          <a:xfrm xmlns:a="http://schemas.openxmlformats.org/drawingml/2006/main">
            <a:off x="952500" y="4152900"/>
            <a:ext cx="590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90000"/>
              </a:lnSpc>
              <a:buNone/>
              <a:defRPr sz="1125">
                <a:solidFill>
                  <a:srgbClr val="9FC2E8"/>
                </a:solidFill>
                <a:latin typeface="微软雅黑"/>
                <a:ea typeface="微软雅黑"/>
                <a:cs typeface="微软雅黑"/>
              </a:defRPr>
            </a:pPr>
            <a:r>
              <a:rPr sz="1125">
                <a:solidFill>
                  <a:srgbClr val="9FC2E8"/>
                </a:solidFill>
                <a:latin typeface="微软雅黑"/>
                <a:ea typeface="微软雅黑"/>
                <a:cs typeface="微软雅黑"/>
              </a:rPr>
              <a:t>从变电运维的隐性成本出发，说明「为什么要做工业智训」</a:t>
            </a:r>
          </a:p>
          <a:p xmlns:a="http://schemas.openxmlformats.org/drawingml/2006/main">
            <a:pPr algn="l">
              <a:lnSpc>
                <a:spcPct val="190000"/>
              </a:lnSpc>
              <a:buNone/>
              <a:defRPr sz="1125">
                <a:solidFill>
                  <a:srgbClr val="9FC2E8"/>
                </a:solidFill>
                <a:latin typeface="微软雅黑"/>
                <a:ea typeface="微软雅黑"/>
                <a:cs typeface="微软雅黑"/>
              </a:defRPr>
            </a:pPr>
            <a:r>
              <a:rPr sz="1125">
                <a:solidFill>
                  <a:srgbClr val="9FC2E8"/>
                </a:solidFill>
                <a:latin typeface="微软雅黑"/>
                <a:ea typeface="微软雅黑"/>
                <a:cs typeface="微软雅黑"/>
              </a:rPr>
              <a:t>用标准原文、成本科目与真实报告案例建立实证基础</a:t>
            </a:r>
          </a:p>
          <a:p xmlns:a="http://schemas.openxmlformats.org/drawingml/2006/main">
            <a:pPr algn="l">
              <a:lnSpc>
                <a:spcPct val="190000"/>
              </a:lnSpc>
              <a:buNone/>
              <a:defRPr sz="1125">
                <a:solidFill>
                  <a:srgbClr val="9FC2E8"/>
                </a:solidFill>
                <a:latin typeface="微软雅黑"/>
                <a:ea typeface="微软雅黑"/>
                <a:cs typeface="微软雅黑"/>
              </a:defRPr>
            </a:pPr>
            <a:r>
              <a:rPr sz="1125">
                <a:solidFill>
                  <a:srgbClr val="9FC2E8"/>
                </a:solidFill>
                <a:latin typeface="微软雅黑"/>
                <a:ea typeface="微软雅黑"/>
                <a:cs typeface="微软雅黑"/>
              </a:rPr>
              <a:t>把行业现象收敛为三条可治理的价值缺口</a:t>
            </a:r>
          </a:p>
        </p:txBody>
      </p:sp>
    </p:spTree>
    <p:extLst>
      <p:ext uri="{BB962C8B-B14F-4D97-AF65-F5344CB8AC3E}">
        <p14:creationId xmlns:p14="http://schemas.microsoft.com/office/powerpoint/2010/main" val="455757647"/>
      </p:ext>
    </p:extLst>
  </p:cSld>
</p:sld>
</file>

<file path=ppt/slides/slide4.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FE7DDEBE-74AF-4AFC-A31E-1F8B01D3AEAC}"/>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D52A61A-18C9-4EA1-B1DE-04444D8CB2B6}"/>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C82855C-98F2-4A73-9148-53B8AB4B473D}"/>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B53C0B2-BB8E-446F-B062-A10D4B2D5EF6}"/>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9169C37-467B-4A67-8E55-EF7AFEB85EC1}"/>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67D2D623-B412-42DF-87CF-F991FCB1A3A1}"/>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项目背景</a:t>
            </a:r>
          </a:p>
        </p:txBody>
      </p:sp>
      <p:sp>
        <p:nvSpPr>
          <p:cNvPr id="7" name="">
            <a:extLst xmlns:a="http://schemas.openxmlformats.org/drawingml/2006/main">
              <a:ext uri="{FF2B5EF4-FFF2-40B4-BE49-F238E27FC236}">
                <a16:creationId xmlns:a16="http://schemas.microsoft.com/office/drawing/2014/main" id="{43F2DD5B-CBD1-45F8-B841-7ED8C256F686}"/>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386E8F7-B6E6-4409-9553-D6F9226ED6B0}"/>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行业现状与标准依据</a:t>
            </a:r>
          </a:p>
        </p:txBody>
      </p:sp>
      <p:sp>
        <p:nvSpPr>
          <p:cNvPr id="9" name="">
            <a:extLst xmlns:a="http://schemas.openxmlformats.org/drawingml/2006/main">
              <a:ext uri="{FF2B5EF4-FFF2-40B4-BE49-F238E27FC236}">
                <a16:creationId xmlns:a16="http://schemas.microsoft.com/office/drawing/2014/main" id="{EDA79819-848A-4346-B7C1-8E56712CDAD7}"/>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62774C6E-A7CA-43E2-9E6C-601DA921C9EA}"/>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安全生产培训是监管刚性项，培训内容与判定阈值全部来自国家 / 行业标准，不能靠经验设定。</a:t>
            </a:r>
          </a:p>
        </p:txBody>
      </p:sp>
      <p:sp>
        <p:nvSpPr>
          <p:cNvPr id="11" name="">
            <a:extLst xmlns:a="http://schemas.openxmlformats.org/drawingml/2006/main">
              <a:ext uri="{FF2B5EF4-FFF2-40B4-BE49-F238E27FC236}">
                <a16:creationId xmlns:a16="http://schemas.microsoft.com/office/drawing/2014/main" id="{9EE83225-68A8-4356-A5DF-9CB09B9E11D6}"/>
              </a:ext>
            </a:extLst>
          </p:cNvPr>
          <p:cNvSpPr>
            <a:spLocks xmlns:a="http://schemas.openxmlformats.org/drawingml/2006/main" noGrp="1"/>
          </p:cNvSpPr>
          <p:nvPr/>
        </p:nvSpPr>
        <p:spPr>
          <a:xfrm xmlns:a="http://schemas.openxmlformats.org/drawingml/2006/main">
            <a:off x="285750" y="133350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31C7F0"/>
                </a:solidFill>
                <a:latin typeface="微软雅黑"/>
                <a:ea typeface="微软雅黑"/>
                <a:cs typeface="微软雅黑"/>
              </a:defRPr>
            </a:pPr>
            <a:r>
              <a:rPr sz="1125" b="1">
                <a:solidFill>
                  <a:srgbClr val="31C7F0"/>
                </a:solidFill>
                <a:latin typeface="微软雅黑"/>
                <a:ea typeface="微软雅黑"/>
                <a:cs typeface="微软雅黑"/>
              </a:rPr>
              <a:t>一、判定阈值全部来自标准原文（已内置进系统，可改库调整）</a:t>
            </a:r>
          </a:p>
        </p:txBody>
      </p:sp>
      <p:sp>
        <p:nvSpPr>
          <p:cNvPr id="12" name="">
            <a:extLst xmlns:a="http://schemas.openxmlformats.org/drawingml/2006/main">
              <a:ext uri="{FF2B5EF4-FFF2-40B4-BE49-F238E27FC236}">
                <a16:creationId xmlns:a16="http://schemas.microsoft.com/office/drawing/2014/main" id="{E9874C1A-3310-4C4E-A891-1FA016BD1706}"/>
              </a:ext>
            </a:extLst>
          </p:cNvPr>
          <p:cNvSpPr>
            <a:spLocks xmlns:a="http://schemas.openxmlformats.org/drawingml/2006/main" noGrp="1"/>
          </p:cNvSpPr>
          <p:nvPr/>
        </p:nvSpPr>
        <p:spPr>
          <a:xfrm xmlns:a="http://schemas.openxmlformats.org/drawingml/2006/main">
            <a:off x="285750" y="1676400"/>
            <a:ext cx="5715000" cy="609600"/>
          </a:xfrm>
          <a:prstGeom xmlns:a="http://schemas.openxmlformats.org/drawingml/2006/main" prst="roundRect">
            <a:avLst>
              <a:gd name="adj" fmla="val 12500"/>
            </a:avLst>
          </a:prstGeom>
          <a:solidFill xmlns:a="http://schemas.openxmlformats.org/drawingml/2006/main">
            <a:srgbClr val="0F3159"/>
          </a:solidFill>
          <a:ln xmlns:a="http://schemas.openxmlformats.org/drawingml/2006/main" w="9525">
            <a:solidFill>
              <a:srgbClr val="1B4C8A"/>
            </a:solidFill>
            <a:prstDash val="solid"/>
          </a:ln>
        </p:spPr>
      </p:sp>
      <p:sp>
        <p:nvSpPr>
          <p:cNvPr id="13" name="">
            <a:extLst xmlns:a="http://schemas.openxmlformats.org/drawingml/2006/main">
              <a:ext uri="{FF2B5EF4-FFF2-40B4-BE49-F238E27FC236}">
                <a16:creationId xmlns:a16="http://schemas.microsoft.com/office/drawing/2014/main" id="{756F45D2-2758-4072-AA09-BB858EAFAAA4}"/>
              </a:ext>
            </a:extLst>
          </p:cNvPr>
          <p:cNvSpPr>
            <a:spLocks xmlns:a="http://schemas.openxmlformats.org/drawingml/2006/main" noGrp="1"/>
          </p:cNvSpPr>
          <p:nvPr/>
        </p:nvSpPr>
        <p:spPr>
          <a:xfrm xmlns:a="http://schemas.openxmlformats.org/drawingml/2006/main">
            <a:off x="285750" y="1676400"/>
            <a:ext cx="38100" cy="60960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C8F7D22-9263-4073-98CB-72BAEA0E9406}"/>
              </a:ext>
            </a:extLst>
          </p:cNvPr>
          <p:cNvSpPr>
            <a:spLocks xmlns:a="http://schemas.openxmlformats.org/drawingml/2006/main" noGrp="1"/>
          </p:cNvSpPr>
          <p:nvPr/>
        </p:nvSpPr>
        <p:spPr>
          <a:xfrm xmlns:a="http://schemas.openxmlformats.org/drawingml/2006/main">
            <a:off x="438150" y="17526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F5C33B"/>
                </a:solidFill>
                <a:latin typeface="Arial"/>
                <a:ea typeface="Arial"/>
                <a:cs typeface="Arial"/>
              </a:defRPr>
            </a:pPr>
            <a:r>
              <a:rPr sz="975" b="1">
                <a:solidFill>
                  <a:srgbClr val="F5C33B"/>
                </a:solidFill>
                <a:latin typeface="Arial"/>
                <a:ea typeface="Arial"/>
                <a:cs typeface="Arial"/>
              </a:rPr>
              <a:t>GBZ 2.1</a:t>
            </a:r>
          </a:p>
        </p:txBody>
      </p:sp>
      <p:sp>
        <p:nvSpPr>
          <p:cNvPr id="15" name="">
            <a:extLst xmlns:a="http://schemas.openxmlformats.org/drawingml/2006/main">
              <a:ext uri="{FF2B5EF4-FFF2-40B4-BE49-F238E27FC236}">
                <a16:creationId xmlns:a16="http://schemas.microsoft.com/office/drawing/2014/main" id="{8D1A3DD1-FBD7-4D5A-AC1C-EECE3878E421}"/>
              </a:ext>
            </a:extLst>
          </p:cNvPr>
          <p:cNvSpPr>
            <a:spLocks xmlns:a="http://schemas.openxmlformats.org/drawingml/2006/main" noGrp="1"/>
          </p:cNvSpPr>
          <p:nvPr/>
        </p:nvSpPr>
        <p:spPr>
          <a:xfrm xmlns:a="http://schemas.openxmlformats.org/drawingml/2006/main">
            <a:off x="438150" y="19812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《工作场所有害因素职业接触限值》</a:t>
            </a:r>
          </a:p>
        </p:txBody>
      </p:sp>
      <p:sp>
        <p:nvSpPr>
          <p:cNvPr id="16" name="">
            <a:extLst xmlns:a="http://schemas.openxmlformats.org/drawingml/2006/main">
              <a:ext uri="{FF2B5EF4-FFF2-40B4-BE49-F238E27FC236}">
                <a16:creationId xmlns:a16="http://schemas.microsoft.com/office/drawing/2014/main" id="{BCDC02DA-EDED-4082-A643-A7011DAC9583}"/>
              </a:ext>
            </a:extLst>
          </p:cNvPr>
          <p:cNvSpPr>
            <a:spLocks xmlns:a="http://schemas.openxmlformats.org/drawingml/2006/main" noGrp="1"/>
          </p:cNvSpPr>
          <p:nvPr/>
        </p:nvSpPr>
        <p:spPr>
          <a:xfrm xmlns:a="http://schemas.openxmlformats.org/drawingml/2006/main">
            <a:off x="3390900" y="1847850"/>
            <a:ext cx="251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硫化氢 10 ppm ｜ 一氧化碳 30 ppm</a:t>
            </a:r>
          </a:p>
        </p:txBody>
      </p:sp>
      <p:sp>
        <p:nvSpPr>
          <p:cNvPr id="17" name="">
            <a:extLst xmlns:a="http://schemas.openxmlformats.org/drawingml/2006/main">
              <a:ext uri="{FF2B5EF4-FFF2-40B4-BE49-F238E27FC236}">
                <a16:creationId xmlns:a16="http://schemas.microsoft.com/office/drawing/2014/main" id="{210A227C-6EC4-44F8-8944-9462BC02D415}"/>
              </a:ext>
            </a:extLst>
          </p:cNvPr>
          <p:cNvSpPr>
            <a:spLocks xmlns:a="http://schemas.openxmlformats.org/drawingml/2006/main" noGrp="1"/>
          </p:cNvSpPr>
          <p:nvPr/>
        </p:nvSpPr>
        <p:spPr>
          <a:xfrm xmlns:a="http://schemas.openxmlformats.org/drawingml/2006/main">
            <a:off x="285750" y="2381250"/>
            <a:ext cx="5715000" cy="609600"/>
          </a:xfrm>
          <a:prstGeom xmlns:a="http://schemas.openxmlformats.org/drawingml/2006/main" prst="roundRect">
            <a:avLst>
              <a:gd name="adj" fmla="val 12500"/>
            </a:avLst>
          </a:prstGeom>
          <a:solidFill xmlns:a="http://schemas.openxmlformats.org/drawingml/2006/main">
            <a:srgbClr val="0C2A50"/>
          </a:solidFill>
          <a:ln xmlns:a="http://schemas.openxmlformats.org/drawingml/2006/main" w="9525">
            <a:solidFill>
              <a:srgbClr val="1B4C8A"/>
            </a:solidFill>
            <a:prstDash val="solid"/>
          </a:ln>
        </p:spPr>
      </p:sp>
      <p:sp>
        <p:nvSpPr>
          <p:cNvPr id="18" name="">
            <a:extLst xmlns:a="http://schemas.openxmlformats.org/drawingml/2006/main">
              <a:ext uri="{FF2B5EF4-FFF2-40B4-BE49-F238E27FC236}">
                <a16:creationId xmlns:a16="http://schemas.microsoft.com/office/drawing/2014/main" id="{9C0BAF27-7248-4CE4-AB25-E496A0460333}"/>
              </a:ext>
            </a:extLst>
          </p:cNvPr>
          <p:cNvSpPr>
            <a:spLocks xmlns:a="http://schemas.openxmlformats.org/drawingml/2006/main" noGrp="1"/>
          </p:cNvSpPr>
          <p:nvPr/>
        </p:nvSpPr>
        <p:spPr>
          <a:xfrm xmlns:a="http://schemas.openxmlformats.org/drawingml/2006/main">
            <a:off x="285750" y="2381250"/>
            <a:ext cx="38100" cy="60960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37655E7-36D5-4AC5-BFD1-02A5680E81B7}"/>
              </a:ext>
            </a:extLst>
          </p:cNvPr>
          <p:cNvSpPr>
            <a:spLocks xmlns:a="http://schemas.openxmlformats.org/drawingml/2006/main" noGrp="1"/>
          </p:cNvSpPr>
          <p:nvPr/>
        </p:nvSpPr>
        <p:spPr>
          <a:xfrm xmlns:a="http://schemas.openxmlformats.org/drawingml/2006/main">
            <a:off x="438150" y="24574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F5C33B"/>
                </a:solidFill>
                <a:latin typeface="Arial"/>
                <a:ea typeface="Arial"/>
                <a:cs typeface="Arial"/>
              </a:defRPr>
            </a:pPr>
            <a:r>
              <a:rPr sz="975" b="1">
                <a:solidFill>
                  <a:srgbClr val="F5C33B"/>
                </a:solidFill>
                <a:latin typeface="Arial"/>
                <a:ea typeface="Arial"/>
                <a:cs typeface="Arial"/>
              </a:rPr>
              <a:t>GB 30871</a:t>
            </a:r>
          </a:p>
        </p:txBody>
      </p:sp>
      <p:sp>
        <p:nvSpPr>
          <p:cNvPr id="20" name="">
            <a:extLst xmlns:a="http://schemas.openxmlformats.org/drawingml/2006/main">
              <a:ext uri="{FF2B5EF4-FFF2-40B4-BE49-F238E27FC236}">
                <a16:creationId xmlns:a16="http://schemas.microsoft.com/office/drawing/2014/main" id="{56BA1027-B7A0-424B-903F-5143FA50CFB1}"/>
              </a:ext>
            </a:extLst>
          </p:cNvPr>
          <p:cNvSpPr>
            <a:spLocks xmlns:a="http://schemas.openxmlformats.org/drawingml/2006/main" noGrp="1"/>
          </p:cNvSpPr>
          <p:nvPr/>
        </p:nvSpPr>
        <p:spPr>
          <a:xfrm xmlns:a="http://schemas.openxmlformats.org/drawingml/2006/main">
            <a:off x="438150" y="26860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《危险化学品企业特殊作业安全规范》</a:t>
            </a:r>
          </a:p>
        </p:txBody>
      </p:sp>
      <p:sp>
        <p:nvSpPr>
          <p:cNvPr id="21" name="">
            <a:extLst xmlns:a="http://schemas.openxmlformats.org/drawingml/2006/main">
              <a:ext uri="{FF2B5EF4-FFF2-40B4-BE49-F238E27FC236}">
                <a16:creationId xmlns:a16="http://schemas.microsoft.com/office/drawing/2014/main" id="{32EF9C66-3947-486C-8F49-1FFA557E2052}"/>
              </a:ext>
            </a:extLst>
          </p:cNvPr>
          <p:cNvSpPr>
            <a:spLocks xmlns:a="http://schemas.openxmlformats.org/drawingml/2006/main" noGrp="1"/>
          </p:cNvSpPr>
          <p:nvPr/>
        </p:nvSpPr>
        <p:spPr>
          <a:xfrm xmlns:a="http://schemas.openxmlformats.org/drawingml/2006/main">
            <a:off x="3390900" y="2552700"/>
            <a:ext cx="251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可燃气 10 %LEL</a:t>
            </a:r>
          </a:p>
        </p:txBody>
      </p:sp>
      <p:sp>
        <p:nvSpPr>
          <p:cNvPr id="22" name="">
            <a:extLst xmlns:a="http://schemas.openxmlformats.org/drawingml/2006/main">
              <a:ext uri="{FF2B5EF4-FFF2-40B4-BE49-F238E27FC236}">
                <a16:creationId xmlns:a16="http://schemas.microsoft.com/office/drawing/2014/main" id="{44AC345C-CCDE-498A-B69A-4F5C4717797C}"/>
              </a:ext>
            </a:extLst>
          </p:cNvPr>
          <p:cNvSpPr>
            <a:spLocks xmlns:a="http://schemas.openxmlformats.org/drawingml/2006/main" noGrp="1"/>
          </p:cNvSpPr>
          <p:nvPr/>
        </p:nvSpPr>
        <p:spPr>
          <a:xfrm xmlns:a="http://schemas.openxmlformats.org/drawingml/2006/main">
            <a:off x="285750" y="3086100"/>
            <a:ext cx="5715000" cy="609600"/>
          </a:xfrm>
          <a:prstGeom xmlns:a="http://schemas.openxmlformats.org/drawingml/2006/main" prst="roundRect">
            <a:avLst>
              <a:gd name="adj" fmla="val 12500"/>
            </a:avLst>
          </a:prstGeom>
          <a:solidFill xmlns:a="http://schemas.openxmlformats.org/drawingml/2006/main">
            <a:srgbClr val="0F3159"/>
          </a:solidFill>
          <a:ln xmlns:a="http://schemas.openxmlformats.org/drawingml/2006/main" w="9525">
            <a:solidFill>
              <a:srgbClr val="1B4C8A"/>
            </a:solidFill>
            <a:prstDash val="solid"/>
          </a:ln>
        </p:spPr>
      </p:sp>
      <p:sp>
        <p:nvSpPr>
          <p:cNvPr id="23" name="">
            <a:extLst xmlns:a="http://schemas.openxmlformats.org/drawingml/2006/main">
              <a:ext uri="{FF2B5EF4-FFF2-40B4-BE49-F238E27FC236}">
                <a16:creationId xmlns:a16="http://schemas.microsoft.com/office/drawing/2014/main" id="{B46D928C-6169-4598-811F-9430C69543B5}"/>
              </a:ext>
            </a:extLst>
          </p:cNvPr>
          <p:cNvSpPr>
            <a:spLocks xmlns:a="http://schemas.openxmlformats.org/drawingml/2006/main" noGrp="1"/>
          </p:cNvSpPr>
          <p:nvPr/>
        </p:nvSpPr>
        <p:spPr>
          <a:xfrm xmlns:a="http://schemas.openxmlformats.org/drawingml/2006/main">
            <a:off x="285750" y="3086100"/>
            <a:ext cx="38100" cy="60960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AA9AE85-7718-49B7-B1FA-6DC13EDE35E1}"/>
              </a:ext>
            </a:extLst>
          </p:cNvPr>
          <p:cNvSpPr>
            <a:spLocks xmlns:a="http://schemas.openxmlformats.org/drawingml/2006/main" noGrp="1"/>
          </p:cNvSpPr>
          <p:nvPr/>
        </p:nvSpPr>
        <p:spPr>
          <a:xfrm xmlns:a="http://schemas.openxmlformats.org/drawingml/2006/main">
            <a:off x="438150" y="31623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F5C33B"/>
                </a:solidFill>
                <a:latin typeface="Arial"/>
                <a:ea typeface="Arial"/>
                <a:cs typeface="Arial"/>
              </a:defRPr>
            </a:pPr>
            <a:r>
              <a:rPr sz="975" b="1">
                <a:solidFill>
                  <a:srgbClr val="F5C33B"/>
                </a:solidFill>
                <a:latin typeface="Arial"/>
                <a:ea typeface="Arial"/>
                <a:cs typeface="Arial"/>
              </a:rPr>
              <a:t>DL/T 639</a:t>
            </a:r>
          </a:p>
        </p:txBody>
      </p:sp>
      <p:sp>
        <p:nvSpPr>
          <p:cNvPr id="25" name="">
            <a:extLst xmlns:a="http://schemas.openxmlformats.org/drawingml/2006/main">
              <a:ext uri="{FF2B5EF4-FFF2-40B4-BE49-F238E27FC236}">
                <a16:creationId xmlns:a16="http://schemas.microsoft.com/office/drawing/2014/main" id="{2DCC826D-968A-4E7B-8509-DD5D468436E5}"/>
              </a:ext>
            </a:extLst>
          </p:cNvPr>
          <p:cNvSpPr>
            <a:spLocks xmlns:a="http://schemas.openxmlformats.org/drawingml/2006/main" noGrp="1"/>
          </p:cNvSpPr>
          <p:nvPr/>
        </p:nvSpPr>
        <p:spPr>
          <a:xfrm xmlns:a="http://schemas.openxmlformats.org/drawingml/2006/main">
            <a:off x="438150" y="33909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《六氟化硫电气设备运行、试验及检修人员安全防护细则》</a:t>
            </a:r>
          </a:p>
        </p:txBody>
      </p:sp>
      <p:sp>
        <p:nvSpPr>
          <p:cNvPr id="26" name="">
            <a:extLst xmlns:a="http://schemas.openxmlformats.org/drawingml/2006/main">
              <a:ext uri="{FF2B5EF4-FFF2-40B4-BE49-F238E27FC236}">
                <a16:creationId xmlns:a16="http://schemas.microsoft.com/office/drawing/2014/main" id="{97FDEB63-8E4C-461E-BB6A-1B76840155FB}"/>
              </a:ext>
            </a:extLst>
          </p:cNvPr>
          <p:cNvSpPr>
            <a:spLocks xmlns:a="http://schemas.openxmlformats.org/drawingml/2006/main" noGrp="1"/>
          </p:cNvSpPr>
          <p:nvPr/>
        </p:nvSpPr>
        <p:spPr>
          <a:xfrm xmlns:a="http://schemas.openxmlformats.org/drawingml/2006/main">
            <a:off x="3390900" y="3257550"/>
            <a:ext cx="251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六氟化硫 1000 ppm</a:t>
            </a:r>
          </a:p>
        </p:txBody>
      </p:sp>
      <p:sp>
        <p:nvSpPr>
          <p:cNvPr id="27" name="">
            <a:extLst xmlns:a="http://schemas.openxmlformats.org/drawingml/2006/main">
              <a:ext uri="{FF2B5EF4-FFF2-40B4-BE49-F238E27FC236}">
                <a16:creationId xmlns:a16="http://schemas.microsoft.com/office/drawing/2014/main" id="{55FAEDBF-C772-4E6D-A1FA-209B884A15A7}"/>
              </a:ext>
            </a:extLst>
          </p:cNvPr>
          <p:cNvSpPr>
            <a:spLocks xmlns:a="http://schemas.openxmlformats.org/drawingml/2006/main" noGrp="1"/>
          </p:cNvSpPr>
          <p:nvPr/>
        </p:nvSpPr>
        <p:spPr>
          <a:xfrm xmlns:a="http://schemas.openxmlformats.org/drawingml/2006/main">
            <a:off x="285750" y="3790950"/>
            <a:ext cx="5715000" cy="609600"/>
          </a:xfrm>
          <a:prstGeom xmlns:a="http://schemas.openxmlformats.org/drawingml/2006/main" prst="roundRect">
            <a:avLst>
              <a:gd name="adj" fmla="val 12500"/>
            </a:avLst>
          </a:prstGeom>
          <a:solidFill xmlns:a="http://schemas.openxmlformats.org/drawingml/2006/main">
            <a:srgbClr val="0C2A50"/>
          </a:solidFill>
          <a:ln xmlns:a="http://schemas.openxmlformats.org/drawingml/2006/main" w="9525">
            <a:solidFill>
              <a:srgbClr val="1B4C8A"/>
            </a:solidFill>
            <a:prstDash val="solid"/>
          </a:ln>
        </p:spPr>
      </p:sp>
      <p:sp>
        <p:nvSpPr>
          <p:cNvPr id="28" name="">
            <a:extLst xmlns:a="http://schemas.openxmlformats.org/drawingml/2006/main">
              <a:ext uri="{FF2B5EF4-FFF2-40B4-BE49-F238E27FC236}">
                <a16:creationId xmlns:a16="http://schemas.microsoft.com/office/drawing/2014/main" id="{587CC859-A6F9-4369-8B8D-D39850F210B9}"/>
              </a:ext>
            </a:extLst>
          </p:cNvPr>
          <p:cNvSpPr>
            <a:spLocks xmlns:a="http://schemas.openxmlformats.org/drawingml/2006/main" noGrp="1"/>
          </p:cNvSpPr>
          <p:nvPr/>
        </p:nvSpPr>
        <p:spPr>
          <a:xfrm xmlns:a="http://schemas.openxmlformats.org/drawingml/2006/main">
            <a:off x="285750" y="3790950"/>
            <a:ext cx="38100" cy="60960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4A9D347-F016-42AB-BA69-4D0C82B91E7E}"/>
              </a:ext>
            </a:extLst>
          </p:cNvPr>
          <p:cNvSpPr>
            <a:spLocks xmlns:a="http://schemas.openxmlformats.org/drawingml/2006/main" noGrp="1"/>
          </p:cNvSpPr>
          <p:nvPr/>
        </p:nvSpPr>
        <p:spPr>
          <a:xfrm xmlns:a="http://schemas.openxmlformats.org/drawingml/2006/main">
            <a:off x="438150" y="38671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F5C33B"/>
                </a:solidFill>
                <a:latin typeface="Arial"/>
                <a:ea typeface="Arial"/>
                <a:cs typeface="Arial"/>
              </a:defRPr>
            </a:pPr>
            <a:r>
              <a:rPr sz="975" b="1">
                <a:solidFill>
                  <a:srgbClr val="F5C33B"/>
                </a:solidFill>
                <a:latin typeface="Arial"/>
                <a:ea typeface="Arial"/>
                <a:cs typeface="Arial"/>
              </a:rPr>
              <a:t>GB/T 11022 · DL/T 596</a:t>
            </a:r>
          </a:p>
        </p:txBody>
      </p:sp>
      <p:sp>
        <p:nvSpPr>
          <p:cNvPr id="30" name="">
            <a:extLst xmlns:a="http://schemas.openxmlformats.org/drawingml/2006/main">
              <a:ext uri="{FF2B5EF4-FFF2-40B4-BE49-F238E27FC236}">
                <a16:creationId xmlns:a16="http://schemas.microsoft.com/office/drawing/2014/main" id="{5C8F7D37-F051-484D-B427-25C4095AD164}"/>
              </a:ext>
            </a:extLst>
          </p:cNvPr>
          <p:cNvSpPr>
            <a:spLocks xmlns:a="http://schemas.openxmlformats.org/drawingml/2006/main" noGrp="1"/>
          </p:cNvSpPr>
          <p:nvPr/>
        </p:nvSpPr>
        <p:spPr>
          <a:xfrm xmlns:a="http://schemas.openxmlformats.org/drawingml/2006/main">
            <a:off x="438150" y="4095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《电力设备预防性试验规程》</a:t>
            </a:r>
          </a:p>
        </p:txBody>
      </p:sp>
      <p:sp>
        <p:nvSpPr>
          <p:cNvPr id="31" name="">
            <a:extLst xmlns:a="http://schemas.openxmlformats.org/drawingml/2006/main">
              <a:ext uri="{FF2B5EF4-FFF2-40B4-BE49-F238E27FC236}">
                <a16:creationId xmlns:a16="http://schemas.microsoft.com/office/drawing/2014/main" id="{28A0BF81-3489-4249-8DAE-16DAA240A9AD}"/>
              </a:ext>
            </a:extLst>
          </p:cNvPr>
          <p:cNvSpPr>
            <a:spLocks xmlns:a="http://schemas.openxmlformats.org/drawingml/2006/main" noGrp="1"/>
          </p:cNvSpPr>
          <p:nvPr/>
        </p:nvSpPr>
        <p:spPr>
          <a:xfrm xmlns:a="http://schemas.openxmlformats.org/drawingml/2006/main">
            <a:off x="3390900" y="3962400"/>
            <a:ext cx="251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SF6 微水 150 μL/L</a:t>
            </a:r>
          </a:p>
        </p:txBody>
      </p:sp>
      <p:sp>
        <p:nvSpPr>
          <p:cNvPr id="32" name="">
            <a:extLst xmlns:a="http://schemas.openxmlformats.org/drawingml/2006/main">
              <a:ext uri="{FF2B5EF4-FFF2-40B4-BE49-F238E27FC236}">
                <a16:creationId xmlns:a16="http://schemas.microsoft.com/office/drawing/2014/main" id="{D61410C7-087E-43B1-9701-307D39C2CABB}"/>
              </a:ext>
            </a:extLst>
          </p:cNvPr>
          <p:cNvSpPr>
            <a:spLocks xmlns:a="http://schemas.openxmlformats.org/drawingml/2006/main" noGrp="1"/>
          </p:cNvSpPr>
          <p:nvPr/>
        </p:nvSpPr>
        <p:spPr>
          <a:xfrm xmlns:a="http://schemas.openxmlformats.org/drawingml/2006/main">
            <a:off x="285750" y="4533900"/>
            <a:ext cx="5715000" cy="1676400"/>
          </a:xfrm>
          <a:prstGeom xmlns:a="http://schemas.openxmlformats.org/drawingml/2006/main" prst="roundRect">
            <a:avLst>
              <a:gd name="adj" fmla="val 4545"/>
            </a:avLst>
          </a:prstGeom>
          <a:solidFill xmlns:a="http://schemas.openxmlformats.org/drawingml/2006/main">
            <a:srgbClr val="0A2547"/>
          </a:solidFill>
          <a:ln xmlns:a="http://schemas.openxmlformats.org/drawingml/2006/main" w="13335">
            <a:solidFill>
              <a:srgbClr val="F5C33B"/>
            </a:solidFill>
            <a:prstDash val="solid"/>
          </a:ln>
        </p:spPr>
      </p:sp>
      <p:sp>
        <p:nvSpPr>
          <p:cNvPr id="33" name="">
            <a:extLst xmlns:a="http://schemas.openxmlformats.org/drawingml/2006/main">
              <a:ext uri="{FF2B5EF4-FFF2-40B4-BE49-F238E27FC236}">
                <a16:creationId xmlns:a16="http://schemas.microsoft.com/office/drawing/2014/main" id="{8D3CE382-2874-4010-91BA-8201E771C8CA}"/>
              </a:ext>
            </a:extLst>
          </p:cNvPr>
          <p:cNvSpPr>
            <a:spLocks xmlns:a="http://schemas.openxmlformats.org/drawingml/2006/main" noGrp="1"/>
          </p:cNvSpPr>
          <p:nvPr/>
        </p:nvSpPr>
        <p:spPr>
          <a:xfrm xmlns:a="http://schemas.openxmlformats.org/drawingml/2006/main">
            <a:off x="495300" y="4667250"/>
            <a:ext cx="529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阈值入标准库带来的直接结果</a:t>
            </a:r>
          </a:p>
        </p:txBody>
      </p:sp>
      <p:sp>
        <p:nvSpPr>
          <p:cNvPr id="34" name="">
            <a:extLst xmlns:a="http://schemas.openxmlformats.org/drawingml/2006/main">
              <a:ext uri="{FF2B5EF4-FFF2-40B4-BE49-F238E27FC236}">
                <a16:creationId xmlns:a16="http://schemas.microsoft.com/office/drawing/2014/main" id="{378315BA-2B24-4B04-9725-48179B0FA2F9}"/>
              </a:ext>
            </a:extLst>
          </p:cNvPr>
          <p:cNvSpPr>
            <a:spLocks xmlns:a="http://schemas.openxmlformats.org/drawingml/2006/main" noGrp="1"/>
          </p:cNvSpPr>
          <p:nvPr/>
        </p:nvSpPr>
        <p:spPr>
          <a:xfrm xmlns:a="http://schemas.openxmlformats.org/drawingml/2006/main">
            <a:off x="495300" y="4953000"/>
            <a:ext cx="53149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判定阈值不再由个人经验决定，避免「同一份报告、不同人不同结论」。</a:t>
            </a:r>
          </a:p>
          <a:p xmlns:a="http://schemas.openxmlformats.org/drawingml/2006/main">
            <a:pPr algn="l">
              <a:lnSpc>
                <a:spcPct val="15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标准更新时只改数据库字典，不需要重新编译与发布。</a:t>
            </a:r>
          </a:p>
          <a:p xmlns:a="http://schemas.openxmlformats.org/drawingml/2006/main">
            <a:pPr algn="l">
              <a:lnSpc>
                <a:spcPct val="15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每条超限判定都能回指到标准条款，答辩与审计时可直接引用。</a:t>
            </a:r>
          </a:p>
        </p:txBody>
      </p:sp>
      <p:sp>
        <p:nvSpPr>
          <p:cNvPr id="35" name="">
            <a:extLst xmlns:a="http://schemas.openxmlformats.org/drawingml/2006/main">
              <a:ext uri="{FF2B5EF4-FFF2-40B4-BE49-F238E27FC236}">
                <a16:creationId xmlns:a16="http://schemas.microsoft.com/office/drawing/2014/main" id="{806AC936-8DB8-41F7-843E-FF1F93822D1A}"/>
              </a:ext>
            </a:extLst>
          </p:cNvPr>
          <p:cNvSpPr>
            <a:spLocks xmlns:a="http://schemas.openxmlformats.org/drawingml/2006/main" noGrp="1"/>
          </p:cNvSpPr>
          <p:nvPr/>
        </p:nvSpPr>
        <p:spPr>
          <a:xfrm xmlns:a="http://schemas.openxmlformats.org/drawingml/2006/main">
            <a:off x="6305550" y="1333500"/>
            <a:ext cx="561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31C7F0"/>
                </a:solidFill>
                <a:latin typeface="微软雅黑"/>
                <a:ea typeface="微软雅黑"/>
                <a:cs typeface="微软雅黑"/>
              </a:defRPr>
            </a:pPr>
            <a:r>
              <a:rPr sz="1125" b="1">
                <a:solidFill>
                  <a:srgbClr val="31C7F0"/>
                </a:solidFill>
                <a:latin typeface="微软雅黑"/>
                <a:ea typeface="微软雅黑"/>
                <a:cs typeface="微软雅黑"/>
              </a:rPr>
              <a:t>二、现行做法仍停留在「纸质签到 + Excel 台账」</a:t>
            </a:r>
          </a:p>
        </p:txBody>
      </p:sp>
      <p:sp>
        <p:nvSpPr>
          <p:cNvPr id="36" name="">
            <a:extLst xmlns:a="http://schemas.openxmlformats.org/drawingml/2006/main">
              <a:ext uri="{FF2B5EF4-FFF2-40B4-BE49-F238E27FC236}">
                <a16:creationId xmlns:a16="http://schemas.microsoft.com/office/drawing/2014/main" id="{C19C2833-669D-4806-B73D-3C39E8D972C5}"/>
              </a:ext>
            </a:extLst>
          </p:cNvPr>
          <p:cNvSpPr>
            <a:spLocks xmlns:a="http://schemas.openxmlformats.org/drawingml/2006/main" noGrp="1"/>
          </p:cNvSpPr>
          <p:nvPr/>
        </p:nvSpPr>
        <p:spPr>
          <a:xfrm xmlns:a="http://schemas.openxmlformats.org/drawingml/2006/main">
            <a:off x="6305550" y="1676400"/>
            <a:ext cx="5619750" cy="609600"/>
          </a:xfrm>
          <a:prstGeom xmlns:a="http://schemas.openxmlformats.org/drawingml/2006/main" prst="roundRect">
            <a:avLst>
              <a:gd name="adj" fmla="val 12500"/>
            </a:avLst>
          </a:prstGeom>
          <a:solidFill xmlns:a="http://schemas.openxmlformats.org/drawingml/2006/main">
            <a:srgbClr val="0C2A50"/>
          </a:solidFill>
          <a:ln xmlns:a="http://schemas.openxmlformats.org/drawingml/2006/main" w="9525">
            <a:solidFill>
              <a:srgbClr val="1B4C8A"/>
            </a:solidFill>
            <a:prstDash val="solid"/>
          </a:ln>
        </p:spPr>
      </p:sp>
      <p:sp>
        <p:nvSpPr>
          <p:cNvPr id="37" name="">
            <a:extLst xmlns:a="http://schemas.openxmlformats.org/drawingml/2006/main">
              <a:ext uri="{FF2B5EF4-FFF2-40B4-BE49-F238E27FC236}">
                <a16:creationId xmlns:a16="http://schemas.microsoft.com/office/drawing/2014/main" id="{15D0CD0A-26C8-443D-A447-26783D47E003}"/>
              </a:ext>
            </a:extLst>
          </p:cNvPr>
          <p:cNvSpPr>
            <a:spLocks xmlns:a="http://schemas.openxmlformats.org/drawingml/2006/main" noGrp="1"/>
          </p:cNvSpPr>
          <p:nvPr/>
        </p:nvSpPr>
        <p:spPr>
          <a:xfrm xmlns:a="http://schemas.openxmlformats.org/drawingml/2006/main">
            <a:off x="6457950" y="1885950"/>
            <a:ext cx="190500" cy="190500"/>
          </a:xfrm>
          <a:prstGeom xmlns:a="http://schemas.openxmlformats.org/drawingml/2006/main" prst="ellipse">
            <a:avLst/>
          </a:prstGeom>
          <a:solidFill xmlns:a="http://schemas.openxmlformats.org/drawingml/2006/main">
            <a:srgbClr val="F2705E"/>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C9E7CE22-1D5A-42C7-B4A2-82B5587EB40E}"/>
              </a:ext>
            </a:extLst>
          </p:cNvPr>
          <p:cNvSpPr>
            <a:spLocks xmlns:a="http://schemas.openxmlformats.org/drawingml/2006/main" noGrp="1"/>
          </p:cNvSpPr>
          <p:nvPr/>
        </p:nvSpPr>
        <p:spPr>
          <a:xfrm xmlns:a="http://schemas.openxmlformats.org/drawingml/2006/main">
            <a:off x="6743700" y="1752600"/>
            <a:ext cx="504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FFFF"/>
                </a:solidFill>
                <a:latin typeface="微软雅黑"/>
                <a:ea typeface="微软雅黑"/>
                <a:cs typeface="微软雅黑"/>
              </a:defRPr>
            </a:pPr>
            <a:r>
              <a:rPr sz="1050" b="1">
                <a:solidFill>
                  <a:srgbClr val="FFFFFF"/>
                </a:solidFill>
                <a:latin typeface="微软雅黑"/>
                <a:ea typeface="微软雅黑"/>
                <a:cs typeface="微软雅黑"/>
              </a:rPr>
              <a:t>学时代签、学时难核实</a:t>
            </a:r>
          </a:p>
        </p:txBody>
      </p:sp>
      <p:sp>
        <p:nvSpPr>
          <p:cNvPr id="39" name="">
            <a:extLst xmlns:a="http://schemas.openxmlformats.org/drawingml/2006/main">
              <a:ext uri="{FF2B5EF4-FFF2-40B4-BE49-F238E27FC236}">
                <a16:creationId xmlns:a16="http://schemas.microsoft.com/office/drawing/2014/main" id="{5ABDBDB5-54B6-473A-81E1-25BD5EE96E29}"/>
              </a:ext>
            </a:extLst>
          </p:cNvPr>
          <p:cNvSpPr>
            <a:spLocks xmlns:a="http://schemas.openxmlformats.org/drawingml/2006/main" noGrp="1"/>
          </p:cNvSpPr>
          <p:nvPr/>
        </p:nvSpPr>
        <p:spPr>
          <a:xfrm xmlns:a="http://schemas.openxmlformats.org/drawingml/2006/main">
            <a:off x="6743700" y="1981200"/>
            <a:ext cx="504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9FC2E8"/>
                </a:solidFill>
                <a:latin typeface="微软雅黑"/>
                <a:ea typeface="微软雅黑"/>
                <a:cs typeface="微软雅黑"/>
              </a:defRPr>
            </a:pPr>
            <a:r>
              <a:rPr sz="938" b="0">
                <a:solidFill>
                  <a:srgbClr val="9FC2E8"/>
                </a:solidFill>
                <a:latin typeface="微软雅黑"/>
                <a:ea typeface="微软雅黑"/>
                <a:cs typeface="微软雅黑"/>
              </a:rPr>
              <a:t>线下签到无法证明「本人、真实、有效学习」</a:t>
            </a:r>
          </a:p>
        </p:txBody>
      </p:sp>
      <p:sp>
        <p:nvSpPr>
          <p:cNvPr id="40" name="">
            <a:extLst xmlns:a="http://schemas.openxmlformats.org/drawingml/2006/main">
              <a:ext uri="{FF2B5EF4-FFF2-40B4-BE49-F238E27FC236}">
                <a16:creationId xmlns:a16="http://schemas.microsoft.com/office/drawing/2014/main" id="{BD47BE6D-34F6-4746-B217-DD4833FC2D6F}"/>
              </a:ext>
            </a:extLst>
          </p:cNvPr>
          <p:cNvSpPr>
            <a:spLocks xmlns:a="http://schemas.openxmlformats.org/drawingml/2006/main" noGrp="1"/>
          </p:cNvSpPr>
          <p:nvPr/>
        </p:nvSpPr>
        <p:spPr>
          <a:xfrm xmlns:a="http://schemas.openxmlformats.org/drawingml/2006/main">
            <a:off x="6305550" y="2381250"/>
            <a:ext cx="5619750" cy="609600"/>
          </a:xfrm>
          <a:prstGeom xmlns:a="http://schemas.openxmlformats.org/drawingml/2006/main" prst="roundRect">
            <a:avLst>
              <a:gd name="adj" fmla="val 12500"/>
            </a:avLst>
          </a:prstGeom>
          <a:solidFill xmlns:a="http://schemas.openxmlformats.org/drawingml/2006/main">
            <a:srgbClr val="0C2A50"/>
          </a:solidFill>
          <a:ln xmlns:a="http://schemas.openxmlformats.org/drawingml/2006/main" w="9525">
            <a:solidFill>
              <a:srgbClr val="1B4C8A"/>
            </a:solidFill>
            <a:prstDash val="solid"/>
          </a:ln>
        </p:spPr>
      </p:sp>
      <p:sp>
        <p:nvSpPr>
          <p:cNvPr id="41" name="">
            <a:extLst xmlns:a="http://schemas.openxmlformats.org/drawingml/2006/main">
              <a:ext uri="{FF2B5EF4-FFF2-40B4-BE49-F238E27FC236}">
                <a16:creationId xmlns:a16="http://schemas.microsoft.com/office/drawing/2014/main" id="{31BB13E2-D51A-4D08-8B27-A74C38B27162}"/>
              </a:ext>
            </a:extLst>
          </p:cNvPr>
          <p:cNvSpPr>
            <a:spLocks xmlns:a="http://schemas.openxmlformats.org/drawingml/2006/main" noGrp="1"/>
          </p:cNvSpPr>
          <p:nvPr/>
        </p:nvSpPr>
        <p:spPr>
          <a:xfrm xmlns:a="http://schemas.openxmlformats.org/drawingml/2006/main">
            <a:off x="6457950" y="2590800"/>
            <a:ext cx="190500" cy="190500"/>
          </a:xfrm>
          <a:prstGeom xmlns:a="http://schemas.openxmlformats.org/drawingml/2006/main" prst="ellipse">
            <a:avLst/>
          </a:prstGeom>
          <a:solidFill xmlns:a="http://schemas.openxmlformats.org/drawingml/2006/main">
            <a:srgbClr val="F2705E"/>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EC7F33E8-A5CF-4022-836B-71F63CA9A311}"/>
              </a:ext>
            </a:extLst>
          </p:cNvPr>
          <p:cNvSpPr>
            <a:spLocks xmlns:a="http://schemas.openxmlformats.org/drawingml/2006/main" noGrp="1"/>
          </p:cNvSpPr>
          <p:nvPr/>
        </p:nvSpPr>
        <p:spPr>
          <a:xfrm xmlns:a="http://schemas.openxmlformats.org/drawingml/2006/main">
            <a:off x="6743700" y="2457450"/>
            <a:ext cx="504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FFFF"/>
                </a:solidFill>
                <a:latin typeface="微软雅黑"/>
                <a:ea typeface="微软雅黑"/>
                <a:cs typeface="微软雅黑"/>
              </a:defRPr>
            </a:pPr>
            <a:r>
              <a:rPr sz="1050" b="1">
                <a:solidFill>
                  <a:srgbClr val="FFFFFF"/>
                </a:solidFill>
                <a:latin typeface="微软雅黑"/>
                <a:ea typeface="微软雅黑"/>
                <a:cs typeface="微软雅黑"/>
              </a:rPr>
              <a:t>考核与岗位脱节</a:t>
            </a:r>
          </a:p>
        </p:txBody>
      </p:sp>
      <p:sp>
        <p:nvSpPr>
          <p:cNvPr id="43" name="">
            <a:extLst xmlns:a="http://schemas.openxmlformats.org/drawingml/2006/main">
              <a:ext uri="{FF2B5EF4-FFF2-40B4-BE49-F238E27FC236}">
                <a16:creationId xmlns:a16="http://schemas.microsoft.com/office/drawing/2014/main" id="{774CA409-0363-4D79-B1D3-19F28951D0D1}"/>
              </a:ext>
            </a:extLst>
          </p:cNvPr>
          <p:cNvSpPr>
            <a:spLocks xmlns:a="http://schemas.openxmlformats.org/drawingml/2006/main" noGrp="1"/>
          </p:cNvSpPr>
          <p:nvPr/>
        </p:nvSpPr>
        <p:spPr>
          <a:xfrm xmlns:a="http://schemas.openxmlformats.org/drawingml/2006/main">
            <a:off x="6743700" y="2686050"/>
            <a:ext cx="504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9FC2E8"/>
                </a:solidFill>
                <a:latin typeface="微软雅黑"/>
                <a:ea typeface="微软雅黑"/>
                <a:cs typeface="微软雅黑"/>
              </a:defRPr>
            </a:pPr>
            <a:r>
              <a:rPr sz="938" b="0">
                <a:solidFill>
                  <a:srgbClr val="9FC2E8"/>
                </a:solidFill>
                <a:latin typeface="微软雅黑"/>
                <a:ea typeface="微软雅黑"/>
                <a:cs typeface="微软雅黑"/>
              </a:rPr>
              <a:t>资料学完即止，缺少岗位化题库与短板复盘</a:t>
            </a:r>
          </a:p>
        </p:txBody>
      </p:sp>
      <p:sp>
        <p:nvSpPr>
          <p:cNvPr id="44" name="">
            <a:extLst xmlns:a="http://schemas.openxmlformats.org/drawingml/2006/main">
              <a:ext uri="{FF2B5EF4-FFF2-40B4-BE49-F238E27FC236}">
                <a16:creationId xmlns:a16="http://schemas.microsoft.com/office/drawing/2014/main" id="{9B077D65-761A-4C66-B732-12C3533A53E1}"/>
              </a:ext>
            </a:extLst>
          </p:cNvPr>
          <p:cNvSpPr>
            <a:spLocks xmlns:a="http://schemas.openxmlformats.org/drawingml/2006/main" noGrp="1"/>
          </p:cNvSpPr>
          <p:nvPr/>
        </p:nvSpPr>
        <p:spPr>
          <a:xfrm xmlns:a="http://schemas.openxmlformats.org/drawingml/2006/main">
            <a:off x="6305550" y="3086100"/>
            <a:ext cx="5619750" cy="609600"/>
          </a:xfrm>
          <a:prstGeom xmlns:a="http://schemas.openxmlformats.org/drawingml/2006/main" prst="roundRect">
            <a:avLst>
              <a:gd name="adj" fmla="val 12500"/>
            </a:avLst>
          </a:prstGeom>
          <a:solidFill xmlns:a="http://schemas.openxmlformats.org/drawingml/2006/main">
            <a:srgbClr val="0C2A50"/>
          </a:solidFill>
          <a:ln xmlns:a="http://schemas.openxmlformats.org/drawingml/2006/main" w="9525">
            <a:solidFill>
              <a:srgbClr val="1B4C8A"/>
            </a:solidFill>
            <a:prstDash val="solid"/>
          </a:ln>
        </p:spPr>
      </p:sp>
      <p:sp>
        <p:nvSpPr>
          <p:cNvPr id="45" name="">
            <a:extLst xmlns:a="http://schemas.openxmlformats.org/drawingml/2006/main">
              <a:ext uri="{FF2B5EF4-FFF2-40B4-BE49-F238E27FC236}">
                <a16:creationId xmlns:a16="http://schemas.microsoft.com/office/drawing/2014/main" id="{BFEE8F58-1CAA-4A7E-823C-00216AE47904}"/>
              </a:ext>
            </a:extLst>
          </p:cNvPr>
          <p:cNvSpPr>
            <a:spLocks xmlns:a="http://schemas.openxmlformats.org/drawingml/2006/main" noGrp="1"/>
          </p:cNvSpPr>
          <p:nvPr/>
        </p:nvSpPr>
        <p:spPr>
          <a:xfrm xmlns:a="http://schemas.openxmlformats.org/drawingml/2006/main">
            <a:off x="6457950" y="3295650"/>
            <a:ext cx="190500" cy="190500"/>
          </a:xfrm>
          <a:prstGeom xmlns:a="http://schemas.openxmlformats.org/drawingml/2006/main" prst="ellipse">
            <a:avLst/>
          </a:prstGeom>
          <a:solidFill xmlns:a="http://schemas.openxmlformats.org/drawingml/2006/main">
            <a:srgbClr val="F2705E"/>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5EC17C56-FF52-46B9-9545-6DAF6AE3CFDC}"/>
              </a:ext>
            </a:extLst>
          </p:cNvPr>
          <p:cNvSpPr>
            <a:spLocks xmlns:a="http://schemas.openxmlformats.org/drawingml/2006/main" noGrp="1"/>
          </p:cNvSpPr>
          <p:nvPr/>
        </p:nvSpPr>
        <p:spPr>
          <a:xfrm xmlns:a="http://schemas.openxmlformats.org/drawingml/2006/main">
            <a:off x="6743700" y="3162300"/>
            <a:ext cx="504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FFFF"/>
                </a:solidFill>
                <a:latin typeface="微软雅黑"/>
                <a:ea typeface="微软雅黑"/>
                <a:cs typeface="微软雅黑"/>
              </a:defRPr>
            </a:pPr>
            <a:r>
              <a:rPr sz="1050" b="1">
                <a:solidFill>
                  <a:srgbClr val="FFFFFF"/>
                </a:solidFill>
                <a:latin typeface="微软雅黑"/>
                <a:ea typeface="微软雅黑"/>
                <a:cs typeface="微软雅黑"/>
              </a:rPr>
              <a:t>台账与证书靠人工</a:t>
            </a:r>
          </a:p>
        </p:txBody>
      </p:sp>
      <p:sp>
        <p:nvSpPr>
          <p:cNvPr id="47" name="">
            <a:extLst xmlns:a="http://schemas.openxmlformats.org/drawingml/2006/main">
              <a:ext uri="{FF2B5EF4-FFF2-40B4-BE49-F238E27FC236}">
                <a16:creationId xmlns:a16="http://schemas.microsoft.com/office/drawing/2014/main" id="{4CC5A030-3C28-4626-A64F-AF645493D4D1}"/>
              </a:ext>
            </a:extLst>
          </p:cNvPr>
          <p:cNvSpPr>
            <a:spLocks xmlns:a="http://schemas.openxmlformats.org/drawingml/2006/main" noGrp="1"/>
          </p:cNvSpPr>
          <p:nvPr/>
        </p:nvSpPr>
        <p:spPr>
          <a:xfrm xmlns:a="http://schemas.openxmlformats.org/drawingml/2006/main">
            <a:off x="6743700" y="3390900"/>
            <a:ext cx="504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9FC2E8"/>
                </a:solidFill>
                <a:latin typeface="微软雅黑"/>
                <a:ea typeface="微软雅黑"/>
                <a:cs typeface="微软雅黑"/>
              </a:defRPr>
            </a:pPr>
            <a:r>
              <a:rPr sz="938" b="0">
                <a:solidFill>
                  <a:srgbClr val="9FC2E8"/>
                </a:solidFill>
                <a:latin typeface="微软雅黑"/>
                <a:ea typeface="微软雅黑"/>
                <a:cs typeface="微软雅黑"/>
              </a:rPr>
              <a:t>证书有效期人工查，漏检直接形成合规风险</a:t>
            </a:r>
          </a:p>
        </p:txBody>
      </p:sp>
      <p:sp>
        <p:nvSpPr>
          <p:cNvPr id="48" name="">
            <a:extLst xmlns:a="http://schemas.openxmlformats.org/drawingml/2006/main">
              <a:ext uri="{FF2B5EF4-FFF2-40B4-BE49-F238E27FC236}">
                <a16:creationId xmlns:a16="http://schemas.microsoft.com/office/drawing/2014/main" id="{4C97D4E7-C9DB-4ED4-85D2-9FDA7981CFD1}"/>
              </a:ext>
            </a:extLst>
          </p:cNvPr>
          <p:cNvSpPr>
            <a:spLocks xmlns:a="http://schemas.openxmlformats.org/drawingml/2006/main" noGrp="1"/>
          </p:cNvSpPr>
          <p:nvPr/>
        </p:nvSpPr>
        <p:spPr>
          <a:xfrm xmlns:a="http://schemas.openxmlformats.org/drawingml/2006/main">
            <a:off x="6305550" y="3790950"/>
            <a:ext cx="5619750" cy="609600"/>
          </a:xfrm>
          <a:prstGeom xmlns:a="http://schemas.openxmlformats.org/drawingml/2006/main" prst="roundRect">
            <a:avLst>
              <a:gd name="adj" fmla="val 12500"/>
            </a:avLst>
          </a:prstGeom>
          <a:solidFill xmlns:a="http://schemas.openxmlformats.org/drawingml/2006/main">
            <a:srgbClr val="0C2A50"/>
          </a:solidFill>
          <a:ln xmlns:a="http://schemas.openxmlformats.org/drawingml/2006/main" w="9525">
            <a:solidFill>
              <a:srgbClr val="1B4C8A"/>
            </a:solidFill>
            <a:prstDash val="solid"/>
          </a:ln>
        </p:spPr>
      </p:sp>
      <p:sp>
        <p:nvSpPr>
          <p:cNvPr id="49" name="">
            <a:extLst xmlns:a="http://schemas.openxmlformats.org/drawingml/2006/main">
              <a:ext uri="{FF2B5EF4-FFF2-40B4-BE49-F238E27FC236}">
                <a16:creationId xmlns:a16="http://schemas.microsoft.com/office/drawing/2014/main" id="{A74088E8-0B3D-47B2-940D-1821C9EEB6CD}"/>
              </a:ext>
            </a:extLst>
          </p:cNvPr>
          <p:cNvSpPr>
            <a:spLocks xmlns:a="http://schemas.openxmlformats.org/drawingml/2006/main" noGrp="1"/>
          </p:cNvSpPr>
          <p:nvPr/>
        </p:nvSpPr>
        <p:spPr>
          <a:xfrm xmlns:a="http://schemas.openxmlformats.org/drawingml/2006/main">
            <a:off x="6457950" y="4000500"/>
            <a:ext cx="190500" cy="190500"/>
          </a:xfrm>
          <a:prstGeom xmlns:a="http://schemas.openxmlformats.org/drawingml/2006/main" prst="ellipse">
            <a:avLst/>
          </a:prstGeom>
          <a:solidFill xmlns:a="http://schemas.openxmlformats.org/drawingml/2006/main">
            <a:srgbClr val="F2705E"/>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44D1121D-5254-438A-B524-EC2599168281}"/>
              </a:ext>
            </a:extLst>
          </p:cNvPr>
          <p:cNvSpPr>
            <a:spLocks xmlns:a="http://schemas.openxmlformats.org/drawingml/2006/main" noGrp="1"/>
          </p:cNvSpPr>
          <p:nvPr/>
        </p:nvSpPr>
        <p:spPr>
          <a:xfrm xmlns:a="http://schemas.openxmlformats.org/drawingml/2006/main">
            <a:off x="6743700" y="3867150"/>
            <a:ext cx="504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FFFF"/>
                </a:solidFill>
                <a:latin typeface="微软雅黑"/>
                <a:ea typeface="微软雅黑"/>
                <a:cs typeface="微软雅黑"/>
              </a:defRPr>
            </a:pPr>
            <a:r>
              <a:rPr sz="1050" b="1">
                <a:solidFill>
                  <a:srgbClr val="FFFFFF"/>
                </a:solidFill>
                <a:latin typeface="微软雅黑"/>
                <a:ea typeface="微软雅黑"/>
                <a:cs typeface="微软雅黑"/>
              </a:rPr>
              <a:t>异常归因口径不一</a:t>
            </a:r>
          </a:p>
        </p:txBody>
      </p:sp>
      <p:sp>
        <p:nvSpPr>
          <p:cNvPr id="51" name="">
            <a:extLst xmlns:a="http://schemas.openxmlformats.org/drawingml/2006/main">
              <a:ext uri="{FF2B5EF4-FFF2-40B4-BE49-F238E27FC236}">
                <a16:creationId xmlns:a16="http://schemas.microsoft.com/office/drawing/2014/main" id="{843B72A7-3B77-4A10-8361-C017C7381CCA}"/>
              </a:ext>
            </a:extLst>
          </p:cNvPr>
          <p:cNvSpPr>
            <a:spLocks xmlns:a="http://schemas.openxmlformats.org/drawingml/2006/main" noGrp="1"/>
          </p:cNvSpPr>
          <p:nvPr/>
        </p:nvSpPr>
        <p:spPr>
          <a:xfrm xmlns:a="http://schemas.openxmlformats.org/drawingml/2006/main">
            <a:off x="6743700" y="4095750"/>
            <a:ext cx="504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9FC2E8"/>
                </a:solidFill>
                <a:latin typeface="微软雅黑"/>
                <a:ea typeface="微软雅黑"/>
                <a:cs typeface="微软雅黑"/>
              </a:defRPr>
            </a:pPr>
            <a:r>
              <a:rPr sz="938" b="0">
                <a:solidFill>
                  <a:srgbClr val="9FC2E8"/>
                </a:solidFill>
                <a:latin typeface="微软雅黑"/>
                <a:ea typeface="微软雅黑"/>
                <a:cs typeface="微软雅黑"/>
              </a:rPr>
              <a:t>同一份报告，不同人得出不同结论，无法复算</a:t>
            </a:r>
          </a:p>
        </p:txBody>
      </p:sp>
      <p:sp>
        <p:nvSpPr>
          <p:cNvPr id="52" name="">
            <a:extLst xmlns:a="http://schemas.openxmlformats.org/drawingml/2006/main">
              <a:ext uri="{FF2B5EF4-FFF2-40B4-BE49-F238E27FC236}">
                <a16:creationId xmlns:a16="http://schemas.microsoft.com/office/drawing/2014/main" id="{BA755E70-F998-4090-9DFC-926D6B75EBCC}"/>
              </a:ext>
            </a:extLst>
          </p:cNvPr>
          <p:cNvSpPr>
            <a:spLocks xmlns:a="http://schemas.openxmlformats.org/drawingml/2006/main" noGrp="1"/>
          </p:cNvSpPr>
          <p:nvPr/>
        </p:nvSpPr>
        <p:spPr>
          <a:xfrm xmlns:a="http://schemas.openxmlformats.org/drawingml/2006/main">
            <a:off x="6305550" y="4533900"/>
            <a:ext cx="5619750" cy="1676400"/>
          </a:xfrm>
          <a:prstGeom xmlns:a="http://schemas.openxmlformats.org/drawingml/2006/main" prst="roundRect">
            <a:avLst>
              <a:gd name="adj" fmla="val 4545"/>
            </a:avLst>
          </a:prstGeom>
          <a:solidFill xmlns:a="http://schemas.openxmlformats.org/drawingml/2006/main">
            <a:srgbClr val="0A2547"/>
          </a:solidFill>
          <a:ln xmlns:a="http://schemas.openxmlformats.org/drawingml/2006/main" w="13335">
            <a:solidFill>
              <a:srgbClr val="F5C33B"/>
            </a:solidFill>
            <a:prstDash val="solid"/>
          </a:ln>
        </p:spPr>
      </p:sp>
      <p:sp>
        <p:nvSpPr>
          <p:cNvPr id="53" name="">
            <a:extLst xmlns:a="http://schemas.openxmlformats.org/drawingml/2006/main">
              <a:ext uri="{FF2B5EF4-FFF2-40B4-BE49-F238E27FC236}">
                <a16:creationId xmlns:a16="http://schemas.microsoft.com/office/drawing/2014/main" id="{3664A620-B5D7-4F67-972F-0EF607D609EB}"/>
              </a:ext>
            </a:extLst>
          </p:cNvPr>
          <p:cNvSpPr>
            <a:spLocks xmlns:a="http://schemas.openxmlformats.org/drawingml/2006/main" noGrp="1"/>
          </p:cNvSpPr>
          <p:nvPr/>
        </p:nvSpPr>
        <p:spPr>
          <a:xfrm xmlns:a="http://schemas.openxmlformats.org/drawingml/2006/main">
            <a:off x="6515100" y="4667250"/>
            <a:ext cx="5200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口径说明（避免把估算写成实测）</a:t>
            </a:r>
          </a:p>
        </p:txBody>
      </p:sp>
      <p:sp>
        <p:nvSpPr>
          <p:cNvPr id="54" name="">
            <a:extLst xmlns:a="http://schemas.openxmlformats.org/drawingml/2006/main">
              <a:ext uri="{FF2B5EF4-FFF2-40B4-BE49-F238E27FC236}">
                <a16:creationId xmlns:a16="http://schemas.microsoft.com/office/drawing/2014/main" id="{5A775DB7-BE38-4298-AFE8-F70712D64F46}"/>
              </a:ext>
            </a:extLst>
          </p:cNvPr>
          <p:cNvSpPr>
            <a:spLocks xmlns:a="http://schemas.openxmlformats.org/drawingml/2006/main" noGrp="1"/>
          </p:cNvSpPr>
          <p:nvPr/>
        </p:nvSpPr>
        <p:spPr>
          <a:xfrm xmlns:a="http://schemas.openxmlformats.org/drawingml/2006/main">
            <a:off x="6515100" y="4953000"/>
            <a:ext cx="52197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标准阈值：</a:t>
            </a:r>
            <a:r>
              <a:rPr sz="938">
                <a:solidFill>
                  <a:srgbClr val="D6E6F7"/>
                </a:solidFill>
                <a:latin typeface="微软雅黑"/>
                <a:ea typeface="微软雅黑"/>
                <a:cs typeface="微软雅黑"/>
              </a:rPr>
              <a:t>取自上述标准原文，作为系统内置气体字典的默认值。</a:t>
            </a:r>
          </a:p>
          <a:p xmlns:a="http://schemas.openxmlformats.org/drawingml/2006/main">
            <a:pPr algn="l">
              <a:lnSpc>
                <a:spcPct val="14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成本数字：</a:t>
            </a:r>
            <a:r>
              <a:rPr sz="938">
                <a:solidFill>
                  <a:srgbClr val="D6E6F7"/>
                </a:solidFill>
                <a:latin typeface="微软雅黑"/>
                <a:ea typeface="微软雅黑"/>
                <a:cs typeface="微软雅黑"/>
              </a:rPr>
              <a:t>取自本项目需求测算（转岗 2 万 / 人、招聘 8 万 / 人、外委 1.5 万 / 月）。</a:t>
            </a:r>
          </a:p>
          <a:p xmlns:a="http://schemas.openxmlformats.org/drawingml/2006/main">
            <a:pPr algn="l">
              <a:lnSpc>
                <a:spcPct val="14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现状描述：</a:t>
            </a:r>
            <a:r>
              <a:rPr sz="938">
                <a:solidFill>
                  <a:srgbClr val="D6E6F7"/>
                </a:solidFill>
                <a:latin typeface="微软雅黑"/>
                <a:ea typeface="微软雅黑"/>
                <a:cs typeface="微软雅黑"/>
              </a:rPr>
              <a:t>来自项目调研与需求方访谈，未做行业抽样统计，不冒充行业统计口径。</a:t>
            </a:r>
          </a:p>
        </p:txBody>
      </p:sp>
      <p:sp>
        <p:nvSpPr>
          <p:cNvPr id="55" name="">
            <a:extLst xmlns:a="http://schemas.openxmlformats.org/drawingml/2006/main">
              <a:ext uri="{FF2B5EF4-FFF2-40B4-BE49-F238E27FC236}">
                <a16:creationId xmlns:a16="http://schemas.microsoft.com/office/drawing/2014/main" id="{8D8B3AFB-851A-4442-A4B3-9D352A1DC3DD}"/>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87B1474D-D1AB-4568-85D9-C93F80F86FF1}"/>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57" name="">
            <a:extLst xmlns:a="http://schemas.openxmlformats.org/drawingml/2006/main">
              <a:ext uri="{FF2B5EF4-FFF2-40B4-BE49-F238E27FC236}">
                <a16:creationId xmlns:a16="http://schemas.microsoft.com/office/drawing/2014/main" id="{E8A1DFF6-102F-4EE4-8FC8-0FBB602D34AF}"/>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04</a:t>
            </a:r>
          </a:p>
        </p:txBody>
      </p:sp>
    </p:spTree>
    <p:extLst>
      <p:ext uri="{BB962C8B-B14F-4D97-AF65-F5344CB8AC3E}">
        <p14:creationId xmlns:p14="http://schemas.microsoft.com/office/powerpoint/2010/main" val="1454655921"/>
      </p:ext>
    </p:extLst>
  </p:cSld>
</p:sld>
</file>

<file path=ppt/slides/slide5.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1875A691-7139-4365-8666-16D30BB5187A}"/>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DF23CD2-047D-4E75-A9D4-19E7026E035D}"/>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8E675EF-0E52-4286-BD84-6E3BDB7B7A27}"/>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90B1FF7-E1ED-4978-9A95-33943DAE48FA}"/>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F0AB719-CDE7-461A-A726-F2BB8164C1BC}"/>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AB2A390C-7086-45FE-8F5A-BA5E968A14F8}"/>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项目背景</a:t>
            </a:r>
          </a:p>
        </p:txBody>
      </p:sp>
      <p:sp>
        <p:nvSpPr>
          <p:cNvPr id="7" name="">
            <a:extLst xmlns:a="http://schemas.openxmlformats.org/drawingml/2006/main">
              <a:ext uri="{FF2B5EF4-FFF2-40B4-BE49-F238E27FC236}">
                <a16:creationId xmlns:a16="http://schemas.microsoft.com/office/drawing/2014/main" id="{9B576B12-5AE4-4DEF-94AA-33A2817C8E82}"/>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D5F2DC0-AC36-478B-9B9E-DDA996162393}"/>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变电运维培训的四本账</a:t>
            </a:r>
          </a:p>
        </p:txBody>
      </p:sp>
      <p:sp>
        <p:nvSpPr>
          <p:cNvPr id="9" name="">
            <a:extLst xmlns:a="http://schemas.openxmlformats.org/drawingml/2006/main">
              <a:ext uri="{FF2B5EF4-FFF2-40B4-BE49-F238E27FC236}">
                <a16:creationId xmlns:a16="http://schemas.microsoft.com/office/drawing/2014/main" id="{8EDB68E7-F86A-4D27-9C74-F15082DBBA10}"/>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AD475D7E-54C7-4801-A90A-A9B16862A02B}"/>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培训成本的大头不是「买系统的钱」，而是「人停下来的时间」和「做无用功的时间」。</a:t>
            </a:r>
          </a:p>
        </p:txBody>
      </p:sp>
      <p:sp>
        <p:nvSpPr>
          <p:cNvPr id="11" name="">
            <a:extLst xmlns:a="http://schemas.openxmlformats.org/drawingml/2006/main">
              <a:ext uri="{FF2B5EF4-FFF2-40B4-BE49-F238E27FC236}">
                <a16:creationId xmlns:a16="http://schemas.microsoft.com/office/drawing/2014/main" id="{E16DCB12-1A43-4FCC-8575-756BD8452C63}"/>
              </a:ext>
            </a:extLst>
          </p:cNvPr>
          <p:cNvSpPr>
            <a:spLocks xmlns:a="http://schemas.openxmlformats.org/drawingml/2006/main" noGrp="1"/>
          </p:cNvSpPr>
          <p:nvPr/>
        </p:nvSpPr>
        <p:spPr>
          <a:xfrm xmlns:a="http://schemas.openxmlformats.org/drawingml/2006/main">
            <a:off x="285750" y="1333500"/>
            <a:ext cx="2781300" cy="2381250"/>
          </a:xfrm>
          <a:prstGeom xmlns:a="http://schemas.openxmlformats.org/drawingml/2006/main" prst="roundRect">
            <a:avLst>
              <a:gd name="adj" fmla="val 3200"/>
            </a:avLst>
          </a:prstGeom>
          <a:solidFill xmlns:a="http://schemas.openxmlformats.org/drawingml/2006/main">
            <a:srgbClr val="0D2748"/>
          </a:solidFill>
          <a:ln xmlns:a="http://schemas.openxmlformats.org/drawingml/2006/main" w="9525">
            <a:solidFill>
              <a:srgbClr val="1B4C8A"/>
            </a:solidFill>
            <a:prstDash val="solid"/>
          </a:ln>
        </p:spPr>
      </p:sp>
      <p:sp>
        <p:nvSpPr>
          <p:cNvPr id="12" name="">
            <a:extLst xmlns:a="http://schemas.openxmlformats.org/drawingml/2006/main">
              <a:ext uri="{FF2B5EF4-FFF2-40B4-BE49-F238E27FC236}">
                <a16:creationId xmlns:a16="http://schemas.microsoft.com/office/drawing/2014/main" id="{D03DC76E-C15F-44C6-BD48-D107AEE37CF4}"/>
              </a:ext>
            </a:extLst>
          </p:cNvPr>
          <p:cNvSpPr>
            <a:spLocks xmlns:a="http://schemas.openxmlformats.org/drawingml/2006/main" noGrp="1"/>
          </p:cNvSpPr>
          <p:nvPr/>
        </p:nvSpPr>
        <p:spPr>
          <a:xfrm xmlns:a="http://schemas.openxmlformats.org/drawingml/2006/main">
            <a:off x="285750" y="1333500"/>
            <a:ext cx="2781300" cy="47625"/>
          </a:xfrm>
          <a:prstGeom xmlns:a="http://schemas.openxmlformats.org/drawingml/2006/main" prst="rect">
            <a:avLst/>
          </a:prstGeom>
          <a:solidFill xmlns:a="http://schemas.openxmlformats.org/drawingml/2006/main">
            <a:srgbClr val="31C7F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AE7ABFF-B921-4CE7-AB1E-717ABFB8127E}"/>
              </a:ext>
            </a:extLst>
          </p:cNvPr>
          <p:cNvSpPr>
            <a:spLocks xmlns:a="http://schemas.openxmlformats.org/drawingml/2006/main" noGrp="1"/>
          </p:cNvSpPr>
          <p:nvPr/>
        </p:nvSpPr>
        <p:spPr>
          <a:xfrm xmlns:a="http://schemas.openxmlformats.org/drawingml/2006/main">
            <a:off x="476250" y="15049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31C7F0"/>
                </a:solidFill>
                <a:latin typeface="微软雅黑"/>
                <a:ea typeface="微软雅黑"/>
                <a:cs typeface="微软雅黑"/>
              </a:defRPr>
            </a:pPr>
            <a:r>
              <a:rPr sz="1575" b="1">
                <a:solidFill>
                  <a:srgbClr val="31C7F0"/>
                </a:solidFill>
                <a:latin typeface="微软雅黑"/>
                <a:ea typeface="微软雅黑"/>
                <a:cs typeface="微软雅黑"/>
              </a:rPr>
              <a:t>工时账</a:t>
            </a:r>
          </a:p>
        </p:txBody>
      </p:sp>
      <p:sp>
        <p:nvSpPr>
          <p:cNvPr id="14" name="">
            <a:extLst xmlns:a="http://schemas.openxmlformats.org/drawingml/2006/main">
              <a:ext uri="{FF2B5EF4-FFF2-40B4-BE49-F238E27FC236}">
                <a16:creationId xmlns:a16="http://schemas.microsoft.com/office/drawing/2014/main" id="{63C1AB22-30C9-4C28-A527-9D498A7C0948}"/>
              </a:ext>
            </a:extLst>
          </p:cNvPr>
          <p:cNvSpPr>
            <a:spLocks xmlns:a="http://schemas.openxmlformats.org/drawingml/2006/main" noGrp="1"/>
          </p:cNvSpPr>
          <p:nvPr/>
        </p:nvSpPr>
        <p:spPr>
          <a:xfrm xmlns:a="http://schemas.openxmlformats.org/drawingml/2006/main">
            <a:off x="476250" y="1885950"/>
            <a:ext cx="419100" cy="19050"/>
          </a:xfrm>
          <a:prstGeom xmlns:a="http://schemas.openxmlformats.org/drawingml/2006/main" prst="rect">
            <a:avLst/>
          </a:prstGeom>
          <a:solidFill xmlns:a="http://schemas.openxmlformats.org/drawingml/2006/main">
            <a:srgbClr val="31C7F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45C6946-621D-44FD-9C28-7E67EC2A32A3}"/>
              </a:ext>
            </a:extLst>
          </p:cNvPr>
          <p:cNvSpPr>
            <a:spLocks xmlns:a="http://schemas.openxmlformats.org/drawingml/2006/main" noGrp="1"/>
          </p:cNvSpPr>
          <p:nvPr/>
        </p:nvSpPr>
        <p:spPr>
          <a:xfrm xmlns:a="http://schemas.openxmlformats.org/drawingml/2006/main">
            <a:off x="476250" y="2038350"/>
            <a:ext cx="243840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老师傅现场带教占用产能</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集中培训挤占检修窗口</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同一技能被反复重复培训</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复训与补考继续挤占正常排期</a:t>
            </a:r>
          </a:p>
        </p:txBody>
      </p:sp>
      <p:sp>
        <p:nvSpPr>
          <p:cNvPr id="16" name="">
            <a:extLst xmlns:a="http://schemas.openxmlformats.org/drawingml/2006/main">
              <a:ext uri="{FF2B5EF4-FFF2-40B4-BE49-F238E27FC236}">
                <a16:creationId xmlns:a16="http://schemas.microsoft.com/office/drawing/2014/main" id="{BB475D33-665D-4B35-BD16-291F293AE853}"/>
              </a:ext>
            </a:extLst>
          </p:cNvPr>
          <p:cNvSpPr>
            <a:spLocks xmlns:a="http://schemas.openxmlformats.org/drawingml/2006/main" noGrp="1"/>
          </p:cNvSpPr>
          <p:nvPr/>
        </p:nvSpPr>
        <p:spPr>
          <a:xfrm xmlns:a="http://schemas.openxmlformats.org/drawingml/2006/main">
            <a:off x="3219450" y="1333500"/>
            <a:ext cx="2781300" cy="2381250"/>
          </a:xfrm>
          <a:prstGeom xmlns:a="http://schemas.openxmlformats.org/drawingml/2006/main" prst="roundRect">
            <a:avLst>
              <a:gd name="adj" fmla="val 3200"/>
            </a:avLst>
          </a:prstGeom>
          <a:solidFill xmlns:a="http://schemas.openxmlformats.org/drawingml/2006/main">
            <a:srgbClr val="0D2748"/>
          </a:solidFill>
          <a:ln xmlns:a="http://schemas.openxmlformats.org/drawingml/2006/main" w="9525">
            <a:solidFill>
              <a:srgbClr val="1B4C8A"/>
            </a:solidFill>
            <a:prstDash val="solid"/>
          </a:ln>
        </p:spPr>
      </p:sp>
      <p:sp>
        <p:nvSpPr>
          <p:cNvPr id="17" name="">
            <a:extLst xmlns:a="http://schemas.openxmlformats.org/drawingml/2006/main">
              <a:ext uri="{FF2B5EF4-FFF2-40B4-BE49-F238E27FC236}">
                <a16:creationId xmlns:a16="http://schemas.microsoft.com/office/drawing/2014/main" id="{32654F85-E1D4-4752-BCFD-67528839794A}"/>
              </a:ext>
            </a:extLst>
          </p:cNvPr>
          <p:cNvSpPr>
            <a:spLocks xmlns:a="http://schemas.openxmlformats.org/drawingml/2006/main" noGrp="1"/>
          </p:cNvSpPr>
          <p:nvPr/>
        </p:nvSpPr>
        <p:spPr>
          <a:xfrm xmlns:a="http://schemas.openxmlformats.org/drawingml/2006/main">
            <a:off x="3219450" y="1333500"/>
            <a:ext cx="2781300" cy="47625"/>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FF45A6C-B3BA-41E8-A5AF-B5BC119BB25D}"/>
              </a:ext>
            </a:extLst>
          </p:cNvPr>
          <p:cNvSpPr>
            <a:spLocks xmlns:a="http://schemas.openxmlformats.org/drawingml/2006/main" noGrp="1"/>
          </p:cNvSpPr>
          <p:nvPr/>
        </p:nvSpPr>
        <p:spPr>
          <a:xfrm xmlns:a="http://schemas.openxmlformats.org/drawingml/2006/main">
            <a:off x="3409950" y="15049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F5C33B"/>
                </a:solidFill>
                <a:latin typeface="微软雅黑"/>
                <a:ea typeface="微软雅黑"/>
                <a:cs typeface="微软雅黑"/>
              </a:defRPr>
            </a:pPr>
            <a:r>
              <a:rPr sz="1575" b="1">
                <a:solidFill>
                  <a:srgbClr val="F5C33B"/>
                </a:solidFill>
                <a:latin typeface="微软雅黑"/>
                <a:ea typeface="微软雅黑"/>
                <a:cs typeface="微软雅黑"/>
              </a:rPr>
              <a:t>费用账</a:t>
            </a:r>
          </a:p>
        </p:txBody>
      </p:sp>
      <p:sp>
        <p:nvSpPr>
          <p:cNvPr id="19" name="">
            <a:extLst xmlns:a="http://schemas.openxmlformats.org/drawingml/2006/main">
              <a:ext uri="{FF2B5EF4-FFF2-40B4-BE49-F238E27FC236}">
                <a16:creationId xmlns:a16="http://schemas.microsoft.com/office/drawing/2014/main" id="{E7CDDBAE-A0FB-42F1-87F0-B6675837B46D}"/>
              </a:ext>
            </a:extLst>
          </p:cNvPr>
          <p:cNvSpPr>
            <a:spLocks xmlns:a="http://schemas.openxmlformats.org/drawingml/2006/main" noGrp="1"/>
          </p:cNvSpPr>
          <p:nvPr/>
        </p:nvSpPr>
        <p:spPr>
          <a:xfrm xmlns:a="http://schemas.openxmlformats.org/drawingml/2006/main">
            <a:off x="3409950" y="1885950"/>
            <a:ext cx="4191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AB7C285-C984-4BE8-8244-5B590DF8A0FD}"/>
              </a:ext>
            </a:extLst>
          </p:cNvPr>
          <p:cNvSpPr>
            <a:spLocks xmlns:a="http://schemas.openxmlformats.org/drawingml/2006/main" noGrp="1"/>
          </p:cNvSpPr>
          <p:nvPr/>
        </p:nvSpPr>
        <p:spPr>
          <a:xfrm xmlns:a="http://schemas.openxmlformats.org/drawingml/2006/main">
            <a:off x="3409950" y="2038350"/>
            <a:ext cx="243840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内部转岗培训 ≈ 2 万元 / 人</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外部招聘 ≈ 8 万元 / 人</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外委 ≈ 1.5 万元 / 月（≈18 万 / 年）</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外委随工作量线性增长，不可复利</a:t>
            </a:r>
          </a:p>
        </p:txBody>
      </p:sp>
      <p:sp>
        <p:nvSpPr>
          <p:cNvPr id="21" name="">
            <a:extLst xmlns:a="http://schemas.openxmlformats.org/drawingml/2006/main">
              <a:ext uri="{FF2B5EF4-FFF2-40B4-BE49-F238E27FC236}">
                <a16:creationId xmlns:a16="http://schemas.microsoft.com/office/drawing/2014/main" id="{AC777749-F4BA-4F76-88EE-D0371F143BF4}"/>
              </a:ext>
            </a:extLst>
          </p:cNvPr>
          <p:cNvSpPr>
            <a:spLocks xmlns:a="http://schemas.openxmlformats.org/drawingml/2006/main" noGrp="1"/>
          </p:cNvSpPr>
          <p:nvPr/>
        </p:nvSpPr>
        <p:spPr>
          <a:xfrm xmlns:a="http://schemas.openxmlformats.org/drawingml/2006/main">
            <a:off x="6153150" y="1333500"/>
            <a:ext cx="2781300" cy="2381250"/>
          </a:xfrm>
          <a:prstGeom xmlns:a="http://schemas.openxmlformats.org/drawingml/2006/main" prst="roundRect">
            <a:avLst>
              <a:gd name="adj" fmla="val 3200"/>
            </a:avLst>
          </a:prstGeom>
          <a:solidFill xmlns:a="http://schemas.openxmlformats.org/drawingml/2006/main">
            <a:srgbClr val="0D2748"/>
          </a:solidFill>
          <a:ln xmlns:a="http://schemas.openxmlformats.org/drawingml/2006/main" w="9525">
            <a:solidFill>
              <a:srgbClr val="1B4C8A"/>
            </a:solidFill>
            <a:prstDash val="solid"/>
          </a:ln>
        </p:spPr>
      </p:sp>
      <p:sp>
        <p:nvSpPr>
          <p:cNvPr id="22" name="">
            <a:extLst xmlns:a="http://schemas.openxmlformats.org/drawingml/2006/main">
              <a:ext uri="{FF2B5EF4-FFF2-40B4-BE49-F238E27FC236}">
                <a16:creationId xmlns:a16="http://schemas.microsoft.com/office/drawing/2014/main" id="{F6030C77-0D37-4466-A883-63632B18C944}"/>
              </a:ext>
            </a:extLst>
          </p:cNvPr>
          <p:cNvSpPr>
            <a:spLocks xmlns:a="http://schemas.openxmlformats.org/drawingml/2006/main" noGrp="1"/>
          </p:cNvSpPr>
          <p:nvPr/>
        </p:nvSpPr>
        <p:spPr>
          <a:xfrm xmlns:a="http://schemas.openxmlformats.org/drawingml/2006/main">
            <a:off x="6153150" y="1333500"/>
            <a:ext cx="2781300" cy="47625"/>
          </a:xfrm>
          <a:prstGeom xmlns:a="http://schemas.openxmlformats.org/drawingml/2006/main" prst="rect">
            <a:avLst/>
          </a:prstGeom>
          <a:solidFill xmlns:a="http://schemas.openxmlformats.org/drawingml/2006/main">
            <a:srgbClr val="F2705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75DD7C8-D9E6-4709-9F38-00323FD7F025}"/>
              </a:ext>
            </a:extLst>
          </p:cNvPr>
          <p:cNvSpPr>
            <a:spLocks xmlns:a="http://schemas.openxmlformats.org/drawingml/2006/main" noGrp="1"/>
          </p:cNvSpPr>
          <p:nvPr/>
        </p:nvSpPr>
        <p:spPr>
          <a:xfrm xmlns:a="http://schemas.openxmlformats.org/drawingml/2006/main">
            <a:off x="6343650" y="15049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F2705E"/>
                </a:solidFill>
                <a:latin typeface="微软雅黑"/>
                <a:ea typeface="微软雅黑"/>
                <a:cs typeface="微软雅黑"/>
              </a:defRPr>
            </a:pPr>
            <a:r>
              <a:rPr sz="1575" b="1">
                <a:solidFill>
                  <a:srgbClr val="F2705E"/>
                </a:solidFill>
                <a:latin typeface="微软雅黑"/>
                <a:ea typeface="微软雅黑"/>
                <a:cs typeface="微软雅黑"/>
              </a:rPr>
              <a:t>风险账</a:t>
            </a:r>
          </a:p>
        </p:txBody>
      </p:sp>
      <p:sp>
        <p:nvSpPr>
          <p:cNvPr id="24" name="">
            <a:extLst xmlns:a="http://schemas.openxmlformats.org/drawingml/2006/main">
              <a:ext uri="{FF2B5EF4-FFF2-40B4-BE49-F238E27FC236}">
                <a16:creationId xmlns:a16="http://schemas.microsoft.com/office/drawing/2014/main" id="{56F91E1B-B48F-4910-9132-9A3E77211DF9}"/>
              </a:ext>
            </a:extLst>
          </p:cNvPr>
          <p:cNvSpPr>
            <a:spLocks xmlns:a="http://schemas.openxmlformats.org/drawingml/2006/main" noGrp="1"/>
          </p:cNvSpPr>
          <p:nvPr/>
        </p:nvSpPr>
        <p:spPr>
          <a:xfrm xmlns:a="http://schemas.openxmlformats.org/drawingml/2006/main">
            <a:off x="6343650" y="1885950"/>
            <a:ext cx="419100" cy="19050"/>
          </a:xfrm>
          <a:prstGeom xmlns:a="http://schemas.openxmlformats.org/drawingml/2006/main" prst="rect">
            <a:avLst/>
          </a:prstGeom>
          <a:solidFill xmlns:a="http://schemas.openxmlformats.org/drawingml/2006/main">
            <a:srgbClr val="F2705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44BC2CA-33B2-4986-8A37-C3F8EFDBBCC1}"/>
              </a:ext>
            </a:extLst>
          </p:cNvPr>
          <p:cNvSpPr>
            <a:spLocks xmlns:a="http://schemas.openxmlformats.org/drawingml/2006/main" noGrp="1"/>
          </p:cNvSpPr>
          <p:nvPr/>
        </p:nvSpPr>
        <p:spPr>
          <a:xfrm xmlns:a="http://schemas.openxmlformats.org/drawingml/2006/main">
            <a:off x="6343650" y="2038350"/>
            <a:ext cx="243840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关键岗位备份不足，形成单点依赖</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一人请假即出现能力断点</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风险往往在停线之后才暴露</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继任与轮岗缺少量化依据</a:t>
            </a:r>
          </a:p>
        </p:txBody>
      </p:sp>
      <p:sp>
        <p:nvSpPr>
          <p:cNvPr id="26" name="">
            <a:extLst xmlns:a="http://schemas.openxmlformats.org/drawingml/2006/main">
              <a:ext uri="{FF2B5EF4-FFF2-40B4-BE49-F238E27FC236}">
                <a16:creationId xmlns:a16="http://schemas.microsoft.com/office/drawing/2014/main" id="{C5DA1294-DDCC-47CD-AE4F-0E6DD9D12A28}"/>
              </a:ext>
            </a:extLst>
          </p:cNvPr>
          <p:cNvSpPr>
            <a:spLocks xmlns:a="http://schemas.openxmlformats.org/drawingml/2006/main" noGrp="1"/>
          </p:cNvSpPr>
          <p:nvPr/>
        </p:nvSpPr>
        <p:spPr>
          <a:xfrm xmlns:a="http://schemas.openxmlformats.org/drawingml/2006/main">
            <a:off x="9086850" y="1333500"/>
            <a:ext cx="2781300" cy="2381250"/>
          </a:xfrm>
          <a:prstGeom xmlns:a="http://schemas.openxmlformats.org/drawingml/2006/main" prst="roundRect">
            <a:avLst>
              <a:gd name="adj" fmla="val 3200"/>
            </a:avLst>
          </a:prstGeom>
          <a:solidFill xmlns:a="http://schemas.openxmlformats.org/drawingml/2006/main">
            <a:srgbClr val="0D2748"/>
          </a:solidFill>
          <a:ln xmlns:a="http://schemas.openxmlformats.org/drawingml/2006/main" w="9525">
            <a:solidFill>
              <a:srgbClr val="1B4C8A"/>
            </a:solidFill>
            <a:prstDash val="solid"/>
          </a:ln>
        </p:spPr>
      </p:sp>
      <p:sp>
        <p:nvSpPr>
          <p:cNvPr id="27" name="">
            <a:extLst xmlns:a="http://schemas.openxmlformats.org/drawingml/2006/main">
              <a:ext uri="{FF2B5EF4-FFF2-40B4-BE49-F238E27FC236}">
                <a16:creationId xmlns:a16="http://schemas.microsoft.com/office/drawing/2014/main" id="{DEAE9EAD-0C34-49FB-9AF2-F10DCA29EC76}"/>
              </a:ext>
            </a:extLst>
          </p:cNvPr>
          <p:cNvSpPr>
            <a:spLocks xmlns:a="http://schemas.openxmlformats.org/drawingml/2006/main" noGrp="1"/>
          </p:cNvSpPr>
          <p:nvPr/>
        </p:nvSpPr>
        <p:spPr>
          <a:xfrm xmlns:a="http://schemas.openxmlformats.org/drawingml/2006/main">
            <a:off x="9086850" y="1333500"/>
            <a:ext cx="2781300" cy="47625"/>
          </a:xfrm>
          <a:prstGeom xmlns:a="http://schemas.openxmlformats.org/drawingml/2006/main" prst="rect">
            <a:avLst/>
          </a:prstGeom>
          <a:solidFill xmlns:a="http://schemas.openxmlformats.org/drawingml/2006/main">
            <a:srgbClr val="3FD08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5D33B81-FF4B-439F-8B30-AC97E38AE5CF}"/>
              </a:ext>
            </a:extLst>
          </p:cNvPr>
          <p:cNvSpPr>
            <a:spLocks xmlns:a="http://schemas.openxmlformats.org/drawingml/2006/main" noGrp="1"/>
          </p:cNvSpPr>
          <p:nvPr/>
        </p:nvSpPr>
        <p:spPr>
          <a:xfrm xmlns:a="http://schemas.openxmlformats.org/drawingml/2006/main">
            <a:off x="9277350" y="15049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3FD08A"/>
                </a:solidFill>
                <a:latin typeface="微软雅黑"/>
                <a:ea typeface="微软雅黑"/>
                <a:cs typeface="微软雅黑"/>
              </a:defRPr>
            </a:pPr>
            <a:r>
              <a:rPr sz="1575" b="1">
                <a:solidFill>
                  <a:srgbClr val="3FD08A"/>
                </a:solidFill>
                <a:latin typeface="微软雅黑"/>
                <a:ea typeface="微软雅黑"/>
                <a:cs typeface="微软雅黑"/>
              </a:rPr>
              <a:t>合规账</a:t>
            </a:r>
          </a:p>
        </p:txBody>
      </p:sp>
      <p:sp>
        <p:nvSpPr>
          <p:cNvPr id="29" name="">
            <a:extLst xmlns:a="http://schemas.openxmlformats.org/drawingml/2006/main">
              <a:ext uri="{FF2B5EF4-FFF2-40B4-BE49-F238E27FC236}">
                <a16:creationId xmlns:a16="http://schemas.microsoft.com/office/drawing/2014/main" id="{17E8811E-3798-411D-A77A-BD4A53DCDB37}"/>
              </a:ext>
            </a:extLst>
          </p:cNvPr>
          <p:cNvSpPr>
            <a:spLocks xmlns:a="http://schemas.openxmlformats.org/drawingml/2006/main" noGrp="1"/>
          </p:cNvSpPr>
          <p:nvPr/>
        </p:nvSpPr>
        <p:spPr>
          <a:xfrm xmlns:a="http://schemas.openxmlformats.org/drawingml/2006/main">
            <a:off x="9277350" y="1885950"/>
            <a:ext cx="419100" cy="19050"/>
          </a:xfrm>
          <a:prstGeom xmlns:a="http://schemas.openxmlformats.org/drawingml/2006/main" prst="rect">
            <a:avLst/>
          </a:prstGeom>
          <a:solidFill xmlns:a="http://schemas.openxmlformats.org/drawingml/2006/main">
            <a:srgbClr val="3FD08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F3F3DB5-CC1E-4041-B27D-ED1660F29F57}"/>
              </a:ext>
            </a:extLst>
          </p:cNvPr>
          <p:cNvSpPr>
            <a:spLocks xmlns:a="http://schemas.openxmlformats.org/drawingml/2006/main" noGrp="1"/>
          </p:cNvSpPr>
          <p:nvPr/>
        </p:nvSpPr>
        <p:spPr>
          <a:xfrm xmlns:a="http://schemas.openxmlformats.org/drawingml/2006/main">
            <a:off x="9277350" y="2038350"/>
            <a:ext cx="243840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台账与证书分散在多张 Excel</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到期漏检需临时补材料</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迎检举证成本高、责任难界定</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同一资质在多个系统重复登记</a:t>
            </a:r>
          </a:p>
        </p:txBody>
      </p:sp>
      <p:sp>
        <p:nvSpPr>
          <p:cNvPr id="31" name="">
            <a:extLst xmlns:a="http://schemas.openxmlformats.org/drawingml/2006/main">
              <a:ext uri="{FF2B5EF4-FFF2-40B4-BE49-F238E27FC236}">
                <a16:creationId xmlns:a16="http://schemas.microsoft.com/office/drawing/2014/main" id="{4B165850-05BA-481E-B3DE-FB9749F21440}"/>
              </a:ext>
            </a:extLst>
          </p:cNvPr>
          <p:cNvSpPr>
            <a:spLocks xmlns:a="http://schemas.openxmlformats.org/drawingml/2006/main" noGrp="1"/>
          </p:cNvSpPr>
          <p:nvPr/>
        </p:nvSpPr>
        <p:spPr>
          <a:xfrm xmlns:a="http://schemas.openxmlformats.org/drawingml/2006/main">
            <a:off x="285750" y="3867150"/>
            <a:ext cx="11620500" cy="990600"/>
          </a:xfrm>
          <a:prstGeom xmlns:a="http://schemas.openxmlformats.org/drawingml/2006/main" prst="roundRect">
            <a:avLst>
              <a:gd name="adj" fmla="val 7692"/>
            </a:avLst>
          </a:prstGeom>
          <a:solidFill xmlns:a="http://schemas.openxmlformats.org/drawingml/2006/main">
            <a:srgbClr val="0A2547"/>
          </a:solidFill>
          <a:ln xmlns:a="http://schemas.openxmlformats.org/drawingml/2006/main" w="9525">
            <a:solidFill>
              <a:srgbClr val="2A6BAE"/>
            </a:solidFill>
            <a:prstDash val="solid"/>
          </a:ln>
        </p:spPr>
      </p:sp>
      <p:sp>
        <p:nvSpPr>
          <p:cNvPr id="32" name="">
            <a:extLst xmlns:a="http://schemas.openxmlformats.org/drawingml/2006/main">
              <a:ext uri="{FF2B5EF4-FFF2-40B4-BE49-F238E27FC236}">
                <a16:creationId xmlns:a16="http://schemas.microsoft.com/office/drawing/2014/main" id="{15EC6A2C-9861-4AC3-9729-29F687B78C45}"/>
              </a:ext>
            </a:extLst>
          </p:cNvPr>
          <p:cNvSpPr>
            <a:spLocks xmlns:a="http://schemas.openxmlformats.org/drawingml/2006/main" noGrp="1"/>
          </p:cNvSpPr>
          <p:nvPr/>
        </p:nvSpPr>
        <p:spPr>
          <a:xfrm xmlns:a="http://schemas.openxmlformats.org/drawingml/2006/main">
            <a:off x="495300" y="3952875"/>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5C33B"/>
                </a:solidFill>
                <a:latin typeface="微软雅黑"/>
                <a:ea typeface="微软雅黑"/>
                <a:cs typeface="微软雅黑"/>
              </a:defRPr>
            </a:pPr>
            <a:r>
              <a:rPr sz="1125" b="1">
                <a:solidFill>
                  <a:srgbClr val="F5C33B"/>
                </a:solidFill>
                <a:latin typeface="微软雅黑"/>
                <a:ea typeface="微软雅黑"/>
                <a:cs typeface="微软雅黑"/>
              </a:rPr>
              <a:t>需求测算示例：新增 2 座 110kV 变电站，运维工作量预计 +30%</a:t>
            </a:r>
          </a:p>
        </p:txBody>
      </p:sp>
      <p:sp>
        <p:nvSpPr>
          <p:cNvPr id="33" name="">
            <a:extLst xmlns:a="http://schemas.openxmlformats.org/drawingml/2006/main">
              <a:ext uri="{FF2B5EF4-FFF2-40B4-BE49-F238E27FC236}">
                <a16:creationId xmlns:a16="http://schemas.microsoft.com/office/drawing/2014/main" id="{D5AD1EDF-8732-424C-A464-9F8930BFE09D}"/>
              </a:ext>
            </a:extLst>
          </p:cNvPr>
          <p:cNvSpPr>
            <a:spLocks xmlns:a="http://schemas.openxmlformats.org/drawingml/2006/main" noGrp="1"/>
          </p:cNvSpPr>
          <p:nvPr/>
        </p:nvSpPr>
        <p:spPr>
          <a:xfrm xmlns:a="http://schemas.openxmlformats.org/drawingml/2006/main">
            <a:off x="495300" y="421005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+30%</a:t>
            </a:r>
          </a:p>
        </p:txBody>
      </p:sp>
      <p:sp>
        <p:nvSpPr>
          <p:cNvPr id="34" name="">
            <a:extLst xmlns:a="http://schemas.openxmlformats.org/drawingml/2006/main">
              <a:ext uri="{FF2B5EF4-FFF2-40B4-BE49-F238E27FC236}">
                <a16:creationId xmlns:a16="http://schemas.microsoft.com/office/drawing/2014/main" id="{AD86350B-7D1B-4CF7-A502-DD3DAE4D92E7}"/>
              </a:ext>
            </a:extLst>
          </p:cNvPr>
          <p:cNvSpPr>
            <a:spLocks xmlns:a="http://schemas.openxmlformats.org/drawingml/2006/main" noGrp="1"/>
          </p:cNvSpPr>
          <p:nvPr/>
        </p:nvSpPr>
        <p:spPr>
          <a:xfrm xmlns:a="http://schemas.openxmlformats.org/drawingml/2006/main">
            <a:off x="495300" y="45720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运维工作量预计增长</a:t>
            </a:r>
          </a:p>
        </p:txBody>
      </p:sp>
      <p:sp>
        <p:nvSpPr>
          <p:cNvPr id="35" name="">
            <a:extLst xmlns:a="http://schemas.openxmlformats.org/drawingml/2006/main">
              <a:ext uri="{FF2B5EF4-FFF2-40B4-BE49-F238E27FC236}">
                <a16:creationId xmlns:a16="http://schemas.microsoft.com/office/drawing/2014/main" id="{BF480116-554D-4964-AF9E-ADAEEB4A692D}"/>
              </a:ext>
            </a:extLst>
          </p:cNvPr>
          <p:cNvSpPr>
            <a:spLocks xmlns:a="http://schemas.openxmlformats.org/drawingml/2006/main" noGrp="1"/>
          </p:cNvSpPr>
          <p:nvPr/>
        </p:nvSpPr>
        <p:spPr>
          <a:xfrm xmlns:a="http://schemas.openxmlformats.org/drawingml/2006/main">
            <a:off x="3352800" y="421005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12 / 8</a:t>
            </a:r>
          </a:p>
        </p:txBody>
      </p:sp>
      <p:sp>
        <p:nvSpPr>
          <p:cNvPr id="36" name="">
            <a:extLst xmlns:a="http://schemas.openxmlformats.org/drawingml/2006/main">
              <a:ext uri="{FF2B5EF4-FFF2-40B4-BE49-F238E27FC236}">
                <a16:creationId xmlns:a16="http://schemas.microsoft.com/office/drawing/2014/main" id="{A66734AF-989A-48BE-B6E2-1FF6F42190E7}"/>
              </a:ext>
            </a:extLst>
          </p:cNvPr>
          <p:cNvSpPr>
            <a:spLocks xmlns:a="http://schemas.openxmlformats.org/drawingml/2006/main" noGrp="1"/>
          </p:cNvSpPr>
          <p:nvPr/>
        </p:nvSpPr>
        <p:spPr>
          <a:xfrm xmlns:a="http://schemas.openxmlformats.org/drawingml/2006/main">
            <a:off x="3352800" y="45720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继保 L3 需求 / 现有</a:t>
            </a:r>
          </a:p>
        </p:txBody>
      </p:sp>
      <p:sp>
        <p:nvSpPr>
          <p:cNvPr id="37" name="">
            <a:extLst xmlns:a="http://schemas.openxmlformats.org/drawingml/2006/main">
              <a:ext uri="{FF2B5EF4-FFF2-40B4-BE49-F238E27FC236}">
                <a16:creationId xmlns:a16="http://schemas.microsoft.com/office/drawing/2014/main" id="{1F500E06-DB3A-44C4-9FCE-9E4B83E13C61}"/>
              </a:ext>
            </a:extLst>
          </p:cNvPr>
          <p:cNvSpPr>
            <a:spLocks xmlns:a="http://schemas.openxmlformats.org/drawingml/2006/main" noGrp="1"/>
          </p:cNvSpPr>
          <p:nvPr/>
        </p:nvSpPr>
        <p:spPr>
          <a:xfrm xmlns:a="http://schemas.openxmlformats.org/drawingml/2006/main">
            <a:off x="6210300" y="421005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6 / 3</a:t>
            </a:r>
          </a:p>
        </p:txBody>
      </p:sp>
      <p:sp>
        <p:nvSpPr>
          <p:cNvPr id="38" name="">
            <a:extLst xmlns:a="http://schemas.openxmlformats.org/drawingml/2006/main">
              <a:ext uri="{FF2B5EF4-FFF2-40B4-BE49-F238E27FC236}">
                <a16:creationId xmlns:a16="http://schemas.microsoft.com/office/drawing/2014/main" id="{B437FE66-0E7C-4629-87A5-223A4397A6DB}"/>
              </a:ext>
            </a:extLst>
          </p:cNvPr>
          <p:cNvSpPr>
            <a:spLocks xmlns:a="http://schemas.openxmlformats.org/drawingml/2006/main" noGrp="1"/>
          </p:cNvSpPr>
          <p:nvPr/>
        </p:nvSpPr>
        <p:spPr>
          <a:xfrm xmlns:a="http://schemas.openxmlformats.org/drawingml/2006/main">
            <a:off x="6210300" y="45720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高压试验需求 / 现有</a:t>
            </a:r>
          </a:p>
        </p:txBody>
      </p:sp>
      <p:sp>
        <p:nvSpPr>
          <p:cNvPr id="39" name="">
            <a:extLst xmlns:a="http://schemas.openxmlformats.org/drawingml/2006/main">
              <a:ext uri="{FF2B5EF4-FFF2-40B4-BE49-F238E27FC236}">
                <a16:creationId xmlns:a16="http://schemas.microsoft.com/office/drawing/2014/main" id="{5A3BE4DC-8F09-407E-B147-70C04C10C981}"/>
              </a:ext>
            </a:extLst>
          </p:cNvPr>
          <p:cNvSpPr>
            <a:spLocks xmlns:a="http://schemas.openxmlformats.org/drawingml/2006/main" noGrp="1"/>
          </p:cNvSpPr>
          <p:nvPr/>
        </p:nvSpPr>
        <p:spPr>
          <a:xfrm xmlns:a="http://schemas.openxmlformats.org/drawingml/2006/main">
            <a:off x="9067800" y="421005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2 · 8 · 1.5</a:t>
            </a:r>
          </a:p>
        </p:txBody>
      </p:sp>
      <p:sp>
        <p:nvSpPr>
          <p:cNvPr id="40" name="">
            <a:extLst xmlns:a="http://schemas.openxmlformats.org/drawingml/2006/main">
              <a:ext uri="{FF2B5EF4-FFF2-40B4-BE49-F238E27FC236}">
                <a16:creationId xmlns:a16="http://schemas.microsoft.com/office/drawing/2014/main" id="{8796ACB4-C850-4FD9-A9EF-0ECB2C593A80}"/>
              </a:ext>
            </a:extLst>
          </p:cNvPr>
          <p:cNvSpPr>
            <a:spLocks xmlns:a="http://schemas.openxmlformats.org/drawingml/2006/main" noGrp="1"/>
          </p:cNvSpPr>
          <p:nvPr/>
        </p:nvSpPr>
        <p:spPr>
          <a:xfrm xmlns:a="http://schemas.openxmlformats.org/drawingml/2006/main">
            <a:off x="9067800" y="45720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转岗万 / 招聘万 / 外委万·月</a:t>
            </a:r>
          </a:p>
        </p:txBody>
      </p:sp>
      <p:sp>
        <p:nvSpPr>
          <p:cNvPr id="41" name="">
            <a:extLst xmlns:a="http://schemas.openxmlformats.org/drawingml/2006/main">
              <a:ext uri="{FF2B5EF4-FFF2-40B4-BE49-F238E27FC236}">
                <a16:creationId xmlns:a16="http://schemas.microsoft.com/office/drawing/2014/main" id="{A6334CC6-2440-4327-A05B-E1CE211B79DC}"/>
              </a:ext>
            </a:extLst>
          </p:cNvPr>
          <p:cNvSpPr>
            <a:spLocks xmlns:a="http://schemas.openxmlformats.org/drawingml/2006/main" noGrp="1"/>
          </p:cNvSpPr>
          <p:nvPr/>
        </p:nvSpPr>
        <p:spPr>
          <a:xfrm xmlns:a="http://schemas.openxmlformats.org/drawingml/2006/main">
            <a:off x="285750" y="5143500"/>
            <a:ext cx="2781300" cy="1276350"/>
          </a:xfrm>
          <a:prstGeom xmlns:a="http://schemas.openxmlformats.org/drawingml/2006/main" prst="roundRect">
            <a:avLst>
              <a:gd name="adj" fmla="val 5970"/>
            </a:avLst>
          </a:prstGeom>
          <a:solidFill xmlns:a="http://schemas.openxmlformats.org/drawingml/2006/main">
            <a:srgbClr val="0C2A50"/>
          </a:solidFill>
          <a:ln xmlns:a="http://schemas.openxmlformats.org/drawingml/2006/main" w="11430">
            <a:solidFill>
              <a:srgbClr val="31C7F0"/>
            </a:solidFill>
            <a:prstDash val="solid"/>
          </a:ln>
        </p:spPr>
      </p:sp>
      <p:sp>
        <p:nvSpPr>
          <p:cNvPr id="42" name="">
            <a:extLst xmlns:a="http://schemas.openxmlformats.org/drawingml/2006/main">
              <a:ext uri="{FF2B5EF4-FFF2-40B4-BE49-F238E27FC236}">
                <a16:creationId xmlns:a16="http://schemas.microsoft.com/office/drawing/2014/main" id="{2179B18C-D851-4956-895F-CE1EB78C3F15}"/>
              </a:ext>
            </a:extLst>
          </p:cNvPr>
          <p:cNvSpPr>
            <a:spLocks xmlns:a="http://schemas.openxmlformats.org/drawingml/2006/main" noGrp="1"/>
          </p:cNvSpPr>
          <p:nvPr/>
        </p:nvSpPr>
        <p:spPr>
          <a:xfrm xmlns:a="http://schemas.openxmlformats.org/drawingml/2006/main">
            <a:off x="457200" y="5257800"/>
            <a:ext cx="2457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31C7F0"/>
                </a:solidFill>
                <a:latin typeface="微软雅黑"/>
                <a:ea typeface="微软雅黑"/>
                <a:cs typeface="微软雅黑"/>
              </a:defRPr>
            </a:pPr>
            <a:r>
              <a:rPr sz="975" b="1">
                <a:solidFill>
                  <a:srgbClr val="31C7F0"/>
                </a:solidFill>
                <a:latin typeface="微软雅黑"/>
                <a:ea typeface="微软雅黑"/>
                <a:cs typeface="微软雅黑"/>
              </a:rPr>
              <a:t>工时账 · 核算口径</a:t>
            </a:r>
          </a:p>
        </p:txBody>
      </p:sp>
      <p:sp>
        <p:nvSpPr>
          <p:cNvPr id="43" name="">
            <a:extLst xmlns:a="http://schemas.openxmlformats.org/drawingml/2006/main">
              <a:ext uri="{FF2B5EF4-FFF2-40B4-BE49-F238E27FC236}">
                <a16:creationId xmlns:a16="http://schemas.microsoft.com/office/drawing/2014/main" id="{11FCA66E-A4AD-4259-B74A-508918BA0E76}"/>
              </a:ext>
            </a:extLst>
          </p:cNvPr>
          <p:cNvSpPr>
            <a:spLocks xmlns:a="http://schemas.openxmlformats.org/drawingml/2006/main" noGrp="1"/>
          </p:cNvSpPr>
          <p:nvPr/>
        </p:nvSpPr>
        <p:spPr>
          <a:xfrm xmlns:a="http://schemas.openxmlformats.org/drawingml/2006/main">
            <a:off x="457200" y="5543550"/>
            <a:ext cx="247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人均年培训工时 × 参训人数 × 人工时成本</a:t>
            </a:r>
          </a:p>
        </p:txBody>
      </p:sp>
      <p:sp>
        <p:nvSpPr>
          <p:cNvPr id="44" name="">
            <a:extLst xmlns:a="http://schemas.openxmlformats.org/drawingml/2006/main">
              <a:ext uri="{FF2B5EF4-FFF2-40B4-BE49-F238E27FC236}">
                <a16:creationId xmlns:a16="http://schemas.microsoft.com/office/drawing/2014/main" id="{9E6D8021-68FE-4FD1-8DA9-16B9423FC302}"/>
              </a:ext>
            </a:extLst>
          </p:cNvPr>
          <p:cNvSpPr>
            <a:spLocks xmlns:a="http://schemas.openxmlformats.org/drawingml/2006/main" noGrp="1"/>
          </p:cNvSpPr>
          <p:nvPr/>
        </p:nvSpPr>
        <p:spPr>
          <a:xfrm xmlns:a="http://schemas.openxmlformats.org/drawingml/2006/main">
            <a:off x="3219450" y="5143500"/>
            <a:ext cx="2781300" cy="1276350"/>
          </a:xfrm>
          <a:prstGeom xmlns:a="http://schemas.openxmlformats.org/drawingml/2006/main" prst="roundRect">
            <a:avLst>
              <a:gd name="adj" fmla="val 5970"/>
            </a:avLst>
          </a:prstGeom>
          <a:solidFill xmlns:a="http://schemas.openxmlformats.org/drawingml/2006/main">
            <a:srgbClr val="0C2A50"/>
          </a:solidFill>
          <a:ln xmlns:a="http://schemas.openxmlformats.org/drawingml/2006/main" w="11430">
            <a:solidFill>
              <a:srgbClr val="F5C33B"/>
            </a:solidFill>
            <a:prstDash val="solid"/>
          </a:ln>
        </p:spPr>
      </p:sp>
      <p:sp>
        <p:nvSpPr>
          <p:cNvPr id="45" name="">
            <a:extLst xmlns:a="http://schemas.openxmlformats.org/drawingml/2006/main">
              <a:ext uri="{FF2B5EF4-FFF2-40B4-BE49-F238E27FC236}">
                <a16:creationId xmlns:a16="http://schemas.microsoft.com/office/drawing/2014/main" id="{A623EF92-60FC-408B-A675-818C42C61BB7}"/>
              </a:ext>
            </a:extLst>
          </p:cNvPr>
          <p:cNvSpPr>
            <a:spLocks xmlns:a="http://schemas.openxmlformats.org/drawingml/2006/main" noGrp="1"/>
          </p:cNvSpPr>
          <p:nvPr/>
        </p:nvSpPr>
        <p:spPr>
          <a:xfrm xmlns:a="http://schemas.openxmlformats.org/drawingml/2006/main">
            <a:off x="3390900" y="5257800"/>
            <a:ext cx="2457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F5C33B"/>
                </a:solidFill>
                <a:latin typeface="微软雅黑"/>
                <a:ea typeface="微软雅黑"/>
                <a:cs typeface="微软雅黑"/>
              </a:defRPr>
            </a:pPr>
            <a:r>
              <a:rPr sz="975" b="1">
                <a:solidFill>
                  <a:srgbClr val="F5C33B"/>
                </a:solidFill>
                <a:latin typeface="微软雅黑"/>
                <a:ea typeface="微软雅黑"/>
                <a:cs typeface="微软雅黑"/>
              </a:rPr>
              <a:t>费用账 · 核算口径</a:t>
            </a:r>
          </a:p>
        </p:txBody>
      </p:sp>
      <p:sp>
        <p:nvSpPr>
          <p:cNvPr id="46" name="">
            <a:extLst xmlns:a="http://schemas.openxmlformats.org/drawingml/2006/main">
              <a:ext uri="{FF2B5EF4-FFF2-40B4-BE49-F238E27FC236}">
                <a16:creationId xmlns:a16="http://schemas.microsoft.com/office/drawing/2014/main" id="{88EEC01C-2A41-48CF-838C-8BD109071741}"/>
              </a:ext>
            </a:extLst>
          </p:cNvPr>
          <p:cNvSpPr>
            <a:spLocks xmlns:a="http://schemas.openxmlformats.org/drawingml/2006/main" noGrp="1"/>
          </p:cNvSpPr>
          <p:nvPr/>
        </p:nvSpPr>
        <p:spPr>
          <a:xfrm xmlns:a="http://schemas.openxmlformats.org/drawingml/2006/main">
            <a:off x="3390900" y="5543550"/>
            <a:ext cx="247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转岗 / 招聘 / 外委单价 × 实际人数（外委按月计）</a:t>
            </a:r>
          </a:p>
        </p:txBody>
      </p:sp>
      <p:sp>
        <p:nvSpPr>
          <p:cNvPr id="47" name="">
            <a:extLst xmlns:a="http://schemas.openxmlformats.org/drawingml/2006/main">
              <a:ext uri="{FF2B5EF4-FFF2-40B4-BE49-F238E27FC236}">
                <a16:creationId xmlns:a16="http://schemas.microsoft.com/office/drawing/2014/main" id="{BA1F2438-D98C-4B91-B39D-CCE73A7C82BE}"/>
              </a:ext>
            </a:extLst>
          </p:cNvPr>
          <p:cNvSpPr>
            <a:spLocks xmlns:a="http://schemas.openxmlformats.org/drawingml/2006/main" noGrp="1"/>
          </p:cNvSpPr>
          <p:nvPr/>
        </p:nvSpPr>
        <p:spPr>
          <a:xfrm xmlns:a="http://schemas.openxmlformats.org/drawingml/2006/main">
            <a:off x="6153150" y="5143500"/>
            <a:ext cx="2781300" cy="1276350"/>
          </a:xfrm>
          <a:prstGeom xmlns:a="http://schemas.openxmlformats.org/drawingml/2006/main" prst="roundRect">
            <a:avLst>
              <a:gd name="adj" fmla="val 5970"/>
            </a:avLst>
          </a:prstGeom>
          <a:solidFill xmlns:a="http://schemas.openxmlformats.org/drawingml/2006/main">
            <a:srgbClr val="0C2A50"/>
          </a:solidFill>
          <a:ln xmlns:a="http://schemas.openxmlformats.org/drawingml/2006/main" w="11430">
            <a:solidFill>
              <a:srgbClr val="F2705E"/>
            </a:solidFill>
            <a:prstDash val="solid"/>
          </a:ln>
        </p:spPr>
      </p:sp>
      <p:sp>
        <p:nvSpPr>
          <p:cNvPr id="48" name="">
            <a:extLst xmlns:a="http://schemas.openxmlformats.org/drawingml/2006/main">
              <a:ext uri="{FF2B5EF4-FFF2-40B4-BE49-F238E27FC236}">
                <a16:creationId xmlns:a16="http://schemas.microsoft.com/office/drawing/2014/main" id="{B73530F5-1023-417F-ABCE-58F309373904}"/>
              </a:ext>
            </a:extLst>
          </p:cNvPr>
          <p:cNvSpPr>
            <a:spLocks xmlns:a="http://schemas.openxmlformats.org/drawingml/2006/main" noGrp="1"/>
          </p:cNvSpPr>
          <p:nvPr/>
        </p:nvSpPr>
        <p:spPr>
          <a:xfrm xmlns:a="http://schemas.openxmlformats.org/drawingml/2006/main">
            <a:off x="6324600" y="5257800"/>
            <a:ext cx="2457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F2705E"/>
                </a:solidFill>
                <a:latin typeface="微软雅黑"/>
                <a:ea typeface="微软雅黑"/>
                <a:cs typeface="微软雅黑"/>
              </a:defRPr>
            </a:pPr>
            <a:r>
              <a:rPr sz="975" b="1">
                <a:solidFill>
                  <a:srgbClr val="F2705E"/>
                </a:solidFill>
                <a:latin typeface="微软雅黑"/>
                <a:ea typeface="微软雅黑"/>
                <a:cs typeface="微软雅黑"/>
              </a:rPr>
              <a:t>风险账 · 核算口径</a:t>
            </a:r>
          </a:p>
        </p:txBody>
      </p:sp>
      <p:sp>
        <p:nvSpPr>
          <p:cNvPr id="49" name="">
            <a:extLst xmlns:a="http://schemas.openxmlformats.org/drawingml/2006/main">
              <a:ext uri="{FF2B5EF4-FFF2-40B4-BE49-F238E27FC236}">
                <a16:creationId xmlns:a16="http://schemas.microsoft.com/office/drawing/2014/main" id="{0CD5FDDC-E67A-4BB1-9A10-750DB6C2931A}"/>
              </a:ext>
            </a:extLst>
          </p:cNvPr>
          <p:cNvSpPr>
            <a:spLocks xmlns:a="http://schemas.openxmlformats.org/drawingml/2006/main" noGrp="1"/>
          </p:cNvSpPr>
          <p:nvPr/>
        </p:nvSpPr>
        <p:spPr>
          <a:xfrm xmlns:a="http://schemas.openxmlformats.org/drawingml/2006/main">
            <a:off x="6324600" y="5543550"/>
            <a:ext cx="247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关键岗位备份人数 &lt; 2 即预警，按岗位逐个核</a:t>
            </a:r>
          </a:p>
        </p:txBody>
      </p:sp>
      <p:sp>
        <p:nvSpPr>
          <p:cNvPr id="50" name="">
            <a:extLst xmlns:a="http://schemas.openxmlformats.org/drawingml/2006/main">
              <a:ext uri="{FF2B5EF4-FFF2-40B4-BE49-F238E27FC236}">
                <a16:creationId xmlns:a16="http://schemas.microsoft.com/office/drawing/2014/main" id="{0DCD2B37-B013-4A31-85DC-86DCA13F9E47}"/>
              </a:ext>
            </a:extLst>
          </p:cNvPr>
          <p:cNvSpPr>
            <a:spLocks xmlns:a="http://schemas.openxmlformats.org/drawingml/2006/main" noGrp="1"/>
          </p:cNvSpPr>
          <p:nvPr/>
        </p:nvSpPr>
        <p:spPr>
          <a:xfrm xmlns:a="http://schemas.openxmlformats.org/drawingml/2006/main">
            <a:off x="9086850" y="5143500"/>
            <a:ext cx="2781300" cy="1276350"/>
          </a:xfrm>
          <a:prstGeom xmlns:a="http://schemas.openxmlformats.org/drawingml/2006/main" prst="roundRect">
            <a:avLst>
              <a:gd name="adj" fmla="val 5970"/>
            </a:avLst>
          </a:prstGeom>
          <a:solidFill xmlns:a="http://schemas.openxmlformats.org/drawingml/2006/main">
            <a:srgbClr val="0C2A50"/>
          </a:solidFill>
          <a:ln xmlns:a="http://schemas.openxmlformats.org/drawingml/2006/main" w="11430">
            <a:solidFill>
              <a:srgbClr val="3FD08A"/>
            </a:solidFill>
            <a:prstDash val="solid"/>
          </a:ln>
        </p:spPr>
      </p:sp>
      <p:sp>
        <p:nvSpPr>
          <p:cNvPr id="51" name="">
            <a:extLst xmlns:a="http://schemas.openxmlformats.org/drawingml/2006/main">
              <a:ext uri="{FF2B5EF4-FFF2-40B4-BE49-F238E27FC236}">
                <a16:creationId xmlns:a16="http://schemas.microsoft.com/office/drawing/2014/main" id="{40B6F8D7-3C4C-4F38-966B-D8DCECF48DD0}"/>
              </a:ext>
            </a:extLst>
          </p:cNvPr>
          <p:cNvSpPr>
            <a:spLocks xmlns:a="http://schemas.openxmlformats.org/drawingml/2006/main" noGrp="1"/>
          </p:cNvSpPr>
          <p:nvPr/>
        </p:nvSpPr>
        <p:spPr>
          <a:xfrm xmlns:a="http://schemas.openxmlformats.org/drawingml/2006/main">
            <a:off x="9258300" y="5257800"/>
            <a:ext cx="2457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3FD08A"/>
                </a:solidFill>
                <a:latin typeface="微软雅黑"/>
                <a:ea typeface="微软雅黑"/>
                <a:cs typeface="微软雅黑"/>
              </a:defRPr>
            </a:pPr>
            <a:r>
              <a:rPr sz="975" b="1">
                <a:solidFill>
                  <a:srgbClr val="3FD08A"/>
                </a:solidFill>
                <a:latin typeface="微软雅黑"/>
                <a:ea typeface="微软雅黑"/>
                <a:cs typeface="微软雅黑"/>
              </a:rPr>
              <a:t>合规账 · 核算口径</a:t>
            </a:r>
          </a:p>
        </p:txBody>
      </p:sp>
      <p:sp>
        <p:nvSpPr>
          <p:cNvPr id="52" name="">
            <a:extLst xmlns:a="http://schemas.openxmlformats.org/drawingml/2006/main">
              <a:ext uri="{FF2B5EF4-FFF2-40B4-BE49-F238E27FC236}">
                <a16:creationId xmlns:a16="http://schemas.microsoft.com/office/drawing/2014/main" id="{5D06D65C-710F-45E2-B3A9-03FE741B2388}"/>
              </a:ext>
            </a:extLst>
          </p:cNvPr>
          <p:cNvSpPr>
            <a:spLocks xmlns:a="http://schemas.openxmlformats.org/drawingml/2006/main" noGrp="1"/>
          </p:cNvSpPr>
          <p:nvPr/>
        </p:nvSpPr>
        <p:spPr>
          <a:xfrm xmlns:a="http://schemas.openxmlformats.org/drawingml/2006/main">
            <a:off x="9258300" y="5543550"/>
            <a:ext cx="247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证书有效期与台账一键导出，错漏数可复核</a:t>
            </a:r>
          </a:p>
        </p:txBody>
      </p:sp>
      <p:sp>
        <p:nvSpPr>
          <p:cNvPr id="53" name="">
            <a:extLst xmlns:a="http://schemas.openxmlformats.org/drawingml/2006/main">
              <a:ext uri="{FF2B5EF4-FFF2-40B4-BE49-F238E27FC236}">
                <a16:creationId xmlns:a16="http://schemas.microsoft.com/office/drawing/2014/main" id="{C667EBB2-5122-458F-A8C8-51DA33C39B95}"/>
              </a:ext>
            </a:extLst>
          </p:cNvPr>
          <p:cNvSpPr>
            <a:spLocks xmlns:a="http://schemas.openxmlformats.org/drawingml/2006/main" noGrp="1"/>
          </p:cNvSpPr>
          <p:nvPr/>
        </p:nvSpPr>
        <p:spPr>
          <a:xfrm xmlns:a="http://schemas.openxmlformats.org/drawingml/2006/main">
            <a:off x="285750" y="4924425"/>
            <a:ext cx="1162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3FD08A"/>
                </a:solidFill>
                <a:latin typeface="微软雅黑"/>
                <a:ea typeface="微软雅黑"/>
                <a:cs typeface="微软雅黑"/>
              </a:defRPr>
            </a:pPr>
            <a:r>
              <a:rPr sz="1013" b="1">
                <a:solidFill>
                  <a:srgbClr val="3FD08A"/>
                </a:solidFill>
                <a:latin typeface="微软雅黑"/>
                <a:ea typeface="微软雅黑"/>
                <a:cs typeface="微软雅黑"/>
              </a:rPr>
              <a:t>四本账落到可核算的口径上（口径来源见表注，全部可复算）</a:t>
            </a:r>
          </a:p>
        </p:txBody>
      </p:sp>
      <p:sp>
        <p:nvSpPr>
          <p:cNvPr id="54" name="">
            <a:extLst xmlns:a="http://schemas.openxmlformats.org/drawingml/2006/main">
              <a:ext uri="{FF2B5EF4-FFF2-40B4-BE49-F238E27FC236}">
                <a16:creationId xmlns:a16="http://schemas.microsoft.com/office/drawing/2014/main" id="{C52C4D14-8CC6-4DED-B5B6-021A2F380D7A}"/>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7EC30A18-C3CD-4987-B2F4-59E528688209}"/>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56" name="">
            <a:extLst xmlns:a="http://schemas.openxmlformats.org/drawingml/2006/main">
              <a:ext uri="{FF2B5EF4-FFF2-40B4-BE49-F238E27FC236}">
                <a16:creationId xmlns:a16="http://schemas.microsoft.com/office/drawing/2014/main" id="{944EAA85-08E4-4295-8EFB-1B90DBEFC59F}"/>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05</a:t>
            </a:r>
          </a:p>
        </p:txBody>
      </p:sp>
    </p:spTree>
    <p:extLst>
      <p:ext uri="{BB962C8B-B14F-4D97-AF65-F5344CB8AC3E}">
        <p14:creationId xmlns:p14="http://schemas.microsoft.com/office/powerpoint/2010/main" val="1979162479"/>
      </p:ext>
    </p:extLst>
  </p:cSld>
</p:sld>
</file>

<file path=ppt/slides/slide6.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3E1A703B-672F-4869-832F-26D148ABFBD1}"/>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4986CEF-3C7D-4EF7-9629-0416FC6BC1B1}"/>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29C5FDB-7F33-4CBA-9CD3-C2364083474A}"/>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91C9348-9548-42F3-8A40-2BF005D086E3}"/>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E499659-9816-4BE3-8063-901FE47953CB}"/>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60F3DF33-2B0D-447E-9E7E-C1F928D753E1}"/>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项目背景</a:t>
            </a:r>
          </a:p>
        </p:txBody>
      </p:sp>
      <p:sp>
        <p:nvSpPr>
          <p:cNvPr id="7" name="">
            <a:extLst xmlns:a="http://schemas.openxmlformats.org/drawingml/2006/main">
              <a:ext uri="{FF2B5EF4-FFF2-40B4-BE49-F238E27FC236}">
                <a16:creationId xmlns:a16="http://schemas.microsoft.com/office/drawing/2014/main" id="{D70C9AA2-0D9C-407C-8BA9-2091012C3A89}"/>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009DF02-F50B-4570-9264-695051C6232F}"/>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典型行业场景</a:t>
            </a:r>
          </a:p>
        </p:txBody>
      </p:sp>
      <p:sp>
        <p:nvSpPr>
          <p:cNvPr id="9" name="">
            <a:extLst xmlns:a="http://schemas.openxmlformats.org/drawingml/2006/main">
              <a:ext uri="{FF2B5EF4-FFF2-40B4-BE49-F238E27FC236}">
                <a16:creationId xmlns:a16="http://schemas.microsoft.com/office/drawing/2014/main" id="{07502C89-CE9C-4385-B985-EF37713DEE9A}"/>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6D90521D-1CA6-40B8-A7A1-A9F7E130C8FC}"/>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三类场景的共同点是——「人的能力数据」不在系统里，所以培训、用人、归因只能靠经验。</a:t>
            </a:r>
          </a:p>
        </p:txBody>
      </p:sp>
      <p:sp>
        <p:nvSpPr>
          <p:cNvPr id="11" name="">
            <a:extLst xmlns:a="http://schemas.openxmlformats.org/drawingml/2006/main">
              <a:ext uri="{FF2B5EF4-FFF2-40B4-BE49-F238E27FC236}">
                <a16:creationId xmlns:a16="http://schemas.microsoft.com/office/drawing/2014/main" id="{2DBAE919-CEC4-4B8D-9C8A-82616BF1D55D}"/>
              </a:ext>
            </a:extLst>
          </p:cNvPr>
          <p:cNvSpPr>
            <a:spLocks xmlns:a="http://schemas.openxmlformats.org/drawingml/2006/main" noGrp="1"/>
          </p:cNvSpPr>
          <p:nvPr/>
        </p:nvSpPr>
        <p:spPr>
          <a:xfrm xmlns:a="http://schemas.openxmlformats.org/drawingml/2006/main">
            <a:off x="285750" y="1333500"/>
            <a:ext cx="11620500" cy="1524000"/>
          </a:xfrm>
          <a:prstGeom xmlns:a="http://schemas.openxmlformats.org/drawingml/2006/main" prst="roundRect">
            <a:avLst>
              <a:gd name="adj" fmla="val 5000"/>
            </a:avLst>
          </a:prstGeom>
          <a:solidFill xmlns:a="http://schemas.openxmlformats.org/drawingml/2006/main">
            <a:srgbClr val="0F3159"/>
          </a:solidFill>
          <a:ln xmlns:a="http://schemas.openxmlformats.org/drawingml/2006/main" w="9525">
            <a:solidFill>
              <a:srgbClr val="3FD08A"/>
            </a:solidFill>
            <a:prstDash val="solid"/>
          </a:ln>
        </p:spPr>
      </p:sp>
      <p:sp>
        <p:nvSpPr>
          <p:cNvPr id="12" name="">
            <a:extLst xmlns:a="http://schemas.openxmlformats.org/drawingml/2006/main">
              <a:ext uri="{FF2B5EF4-FFF2-40B4-BE49-F238E27FC236}">
                <a16:creationId xmlns:a16="http://schemas.microsoft.com/office/drawing/2014/main" id="{ABAFB5BA-C2E5-433B-8D4D-100834B9AB5B}"/>
              </a:ext>
            </a:extLst>
          </p:cNvPr>
          <p:cNvSpPr>
            <a:spLocks xmlns:a="http://schemas.openxmlformats.org/drawingml/2006/main" noGrp="1"/>
          </p:cNvSpPr>
          <p:nvPr/>
        </p:nvSpPr>
        <p:spPr>
          <a:xfrm xmlns:a="http://schemas.openxmlformats.org/drawingml/2006/main">
            <a:off x="285750" y="1333500"/>
            <a:ext cx="47625" cy="1524000"/>
          </a:xfrm>
          <a:prstGeom xmlns:a="http://schemas.openxmlformats.org/drawingml/2006/main" prst="rect">
            <a:avLst/>
          </a:prstGeom>
          <a:solidFill xmlns:a="http://schemas.openxmlformats.org/drawingml/2006/main">
            <a:srgbClr val="3FD08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7DD40F8-BCEA-43DA-9A9E-A5FCE4133F5F}"/>
              </a:ext>
            </a:extLst>
          </p:cNvPr>
          <p:cNvSpPr>
            <a:spLocks xmlns:a="http://schemas.openxmlformats.org/drawingml/2006/main" noGrp="1"/>
          </p:cNvSpPr>
          <p:nvPr/>
        </p:nvSpPr>
        <p:spPr>
          <a:xfrm xmlns:a="http://schemas.openxmlformats.org/drawingml/2006/main">
            <a:off x="476250" y="1466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Arial"/>
                <a:ea typeface="Arial"/>
                <a:cs typeface="Arial"/>
              </a:defRPr>
            </a:pPr>
            <a:r>
              <a:rPr sz="975" b="0">
                <a:solidFill>
                  <a:srgbClr val="7A9CC4"/>
                </a:solidFill>
                <a:latin typeface="Arial"/>
                <a:ea typeface="Arial"/>
                <a:cs typeface="Arial"/>
              </a:rPr>
              <a:t>场景一</a:t>
            </a:r>
          </a:p>
        </p:txBody>
      </p:sp>
      <p:sp>
        <p:nvSpPr>
          <p:cNvPr id="14" name="">
            <a:extLst xmlns:a="http://schemas.openxmlformats.org/drawingml/2006/main">
              <a:ext uri="{FF2B5EF4-FFF2-40B4-BE49-F238E27FC236}">
                <a16:creationId xmlns:a16="http://schemas.microsoft.com/office/drawing/2014/main" id="{F1D7272A-5B8C-4368-9291-A6A478320A51}"/>
              </a:ext>
            </a:extLst>
          </p:cNvPr>
          <p:cNvSpPr>
            <a:spLocks xmlns:a="http://schemas.openxmlformats.org/drawingml/2006/main" noGrp="1"/>
          </p:cNvSpPr>
          <p:nvPr/>
        </p:nvSpPr>
        <p:spPr>
          <a:xfrm xmlns:a="http://schemas.openxmlformats.org/drawingml/2006/main">
            <a:off x="476250" y="17145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725" b="1">
                <a:solidFill>
                  <a:srgbClr val="FFFFFF"/>
                </a:solidFill>
                <a:latin typeface="微软雅黑"/>
                <a:ea typeface="微软雅黑"/>
                <a:cs typeface="微软雅黑"/>
              </a:defRPr>
            </a:pPr>
            <a:r>
              <a:rPr sz="1725" b="1">
                <a:solidFill>
                  <a:srgbClr val="FFFFFF"/>
                </a:solidFill>
                <a:latin typeface="微软雅黑"/>
                <a:ea typeface="微软雅黑"/>
                <a:cs typeface="微软雅黑"/>
              </a:rPr>
              <a:t>电网变电运维</a:t>
            </a:r>
          </a:p>
        </p:txBody>
      </p:sp>
      <p:sp>
        <p:nvSpPr>
          <p:cNvPr id="15" name="">
            <a:extLst xmlns:a="http://schemas.openxmlformats.org/drawingml/2006/main">
              <a:ext uri="{FF2B5EF4-FFF2-40B4-BE49-F238E27FC236}">
                <a16:creationId xmlns:a16="http://schemas.microsoft.com/office/drawing/2014/main" id="{BE8B9236-4822-441A-8A0B-CA5B517D5E38}"/>
              </a:ext>
            </a:extLst>
          </p:cNvPr>
          <p:cNvSpPr>
            <a:spLocks xmlns:a="http://schemas.openxmlformats.org/drawingml/2006/main" noGrp="1"/>
          </p:cNvSpPr>
          <p:nvPr/>
        </p:nvSpPr>
        <p:spPr>
          <a:xfrm xmlns:a="http://schemas.openxmlformats.org/drawingml/2006/main">
            <a:off x="476250" y="2190750"/>
            <a:ext cx="8001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3FD08A"/>
            </a:solidFill>
            <a:prstDash val="solid"/>
          </a:ln>
        </p:spPr>
      </p:sp>
      <p:sp>
        <p:nvSpPr>
          <p:cNvPr id="16" name="">
            <a:extLst xmlns:a="http://schemas.openxmlformats.org/drawingml/2006/main">
              <a:ext uri="{FF2B5EF4-FFF2-40B4-BE49-F238E27FC236}">
                <a16:creationId xmlns:a16="http://schemas.microsoft.com/office/drawing/2014/main" id="{F4F426DC-0064-4F99-9BB6-6C98407E1E5F}"/>
              </a:ext>
            </a:extLst>
          </p:cNvPr>
          <p:cNvSpPr>
            <a:spLocks xmlns:a="http://schemas.openxmlformats.org/drawingml/2006/main" noGrp="1"/>
          </p:cNvSpPr>
          <p:nvPr/>
        </p:nvSpPr>
        <p:spPr>
          <a:xfrm xmlns:a="http://schemas.openxmlformats.org/drawingml/2006/main">
            <a:off x="476250" y="2190750"/>
            <a:ext cx="800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3FD08A"/>
                </a:solidFill>
                <a:latin typeface="微软雅黑"/>
                <a:ea typeface="微软雅黑"/>
                <a:cs typeface="微软雅黑"/>
              </a:defRPr>
            </a:pPr>
            <a:r>
              <a:rPr sz="938" b="1">
                <a:solidFill>
                  <a:srgbClr val="3FD08A"/>
                </a:solidFill>
                <a:latin typeface="微软雅黑"/>
                <a:ea typeface="微软雅黑"/>
                <a:cs typeface="微软雅黑"/>
              </a:rPr>
              <a:t>已落地</a:t>
            </a:r>
          </a:p>
        </p:txBody>
      </p:sp>
      <p:sp>
        <p:nvSpPr>
          <p:cNvPr id="17" name="">
            <a:extLst xmlns:a="http://schemas.openxmlformats.org/drawingml/2006/main">
              <a:ext uri="{FF2B5EF4-FFF2-40B4-BE49-F238E27FC236}">
                <a16:creationId xmlns:a16="http://schemas.microsoft.com/office/drawing/2014/main" id="{0A46D6B7-51CF-438E-8FEB-B35DDDD9B24F}"/>
              </a:ext>
            </a:extLst>
          </p:cNvPr>
          <p:cNvSpPr>
            <a:spLocks xmlns:a="http://schemas.openxmlformats.org/drawingml/2006/main" noGrp="1"/>
          </p:cNvSpPr>
          <p:nvPr/>
        </p:nvSpPr>
        <p:spPr>
          <a:xfrm xmlns:a="http://schemas.openxmlformats.org/drawingml/2006/main">
            <a:off x="3238500" y="1524000"/>
            <a:ext cx="8477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110kV 城北变电所 1 号检查井，氧气实测 18.2 %VOL / 阈值 19.5 %VOL</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作业人员出现头晕、胸闷，已撤出通风；本次未按 SOP 执行</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系统输出：严重度「高」+ 原因 + 处置措施 + 规则编号，人工确认后留痕</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判定阈值全部来自国家标准，换站、换气体、换档位仍然适用</a:t>
            </a:r>
          </a:p>
        </p:txBody>
      </p:sp>
      <p:sp>
        <p:nvSpPr>
          <p:cNvPr id="18" name="">
            <a:extLst xmlns:a="http://schemas.openxmlformats.org/drawingml/2006/main">
              <a:ext uri="{FF2B5EF4-FFF2-40B4-BE49-F238E27FC236}">
                <a16:creationId xmlns:a16="http://schemas.microsoft.com/office/drawing/2014/main" id="{531510CB-D6E5-4AB9-8013-4D13EB2B0C80}"/>
              </a:ext>
            </a:extLst>
          </p:cNvPr>
          <p:cNvSpPr>
            <a:spLocks xmlns:a="http://schemas.openxmlformats.org/drawingml/2006/main" noGrp="1"/>
          </p:cNvSpPr>
          <p:nvPr/>
        </p:nvSpPr>
        <p:spPr>
          <a:xfrm xmlns:a="http://schemas.openxmlformats.org/drawingml/2006/main">
            <a:off x="285750" y="2933700"/>
            <a:ext cx="11620500" cy="1524000"/>
          </a:xfrm>
          <a:prstGeom xmlns:a="http://schemas.openxmlformats.org/drawingml/2006/main" prst="roundRect">
            <a:avLst>
              <a:gd name="adj" fmla="val 5000"/>
            </a:avLst>
          </a:prstGeom>
          <a:solidFill xmlns:a="http://schemas.openxmlformats.org/drawingml/2006/main">
            <a:srgbClr val="0D2748"/>
          </a:solidFill>
          <a:ln xmlns:a="http://schemas.openxmlformats.org/drawingml/2006/main" w="9525">
            <a:solidFill>
              <a:srgbClr val="1B4C8A"/>
            </a:solidFill>
            <a:prstDash val="solid"/>
          </a:ln>
        </p:spPr>
      </p:sp>
      <p:sp>
        <p:nvSpPr>
          <p:cNvPr id="19" name="">
            <a:extLst xmlns:a="http://schemas.openxmlformats.org/drawingml/2006/main">
              <a:ext uri="{FF2B5EF4-FFF2-40B4-BE49-F238E27FC236}">
                <a16:creationId xmlns:a16="http://schemas.microsoft.com/office/drawing/2014/main" id="{B58ABFF3-7D67-41B2-B187-782B9F13BD2A}"/>
              </a:ext>
            </a:extLst>
          </p:cNvPr>
          <p:cNvSpPr>
            <a:spLocks xmlns:a="http://schemas.openxmlformats.org/drawingml/2006/main" noGrp="1"/>
          </p:cNvSpPr>
          <p:nvPr/>
        </p:nvSpPr>
        <p:spPr>
          <a:xfrm xmlns:a="http://schemas.openxmlformats.org/drawingml/2006/main">
            <a:off x="285750" y="2933700"/>
            <a:ext cx="47625" cy="152400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228F9BE-19C8-421F-B87E-136559094825}"/>
              </a:ext>
            </a:extLst>
          </p:cNvPr>
          <p:cNvSpPr>
            <a:spLocks xmlns:a="http://schemas.openxmlformats.org/drawingml/2006/main" noGrp="1"/>
          </p:cNvSpPr>
          <p:nvPr/>
        </p:nvSpPr>
        <p:spPr>
          <a:xfrm xmlns:a="http://schemas.openxmlformats.org/drawingml/2006/main">
            <a:off x="476250" y="30670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Arial"/>
                <a:ea typeface="Arial"/>
                <a:cs typeface="Arial"/>
              </a:defRPr>
            </a:pPr>
            <a:r>
              <a:rPr sz="975" b="0">
                <a:solidFill>
                  <a:srgbClr val="7A9CC4"/>
                </a:solidFill>
                <a:latin typeface="Arial"/>
                <a:ea typeface="Arial"/>
                <a:cs typeface="Arial"/>
              </a:rPr>
              <a:t>场景二</a:t>
            </a:r>
          </a:p>
        </p:txBody>
      </p:sp>
      <p:sp>
        <p:nvSpPr>
          <p:cNvPr id="21" name="">
            <a:extLst xmlns:a="http://schemas.openxmlformats.org/drawingml/2006/main">
              <a:ext uri="{FF2B5EF4-FFF2-40B4-BE49-F238E27FC236}">
                <a16:creationId xmlns:a16="http://schemas.microsoft.com/office/drawing/2014/main" id="{D0F654D6-AB17-4F1D-AF06-3E39FB9D41DE}"/>
              </a:ext>
            </a:extLst>
          </p:cNvPr>
          <p:cNvSpPr>
            <a:spLocks xmlns:a="http://schemas.openxmlformats.org/drawingml/2006/main" noGrp="1"/>
          </p:cNvSpPr>
          <p:nvPr/>
        </p:nvSpPr>
        <p:spPr>
          <a:xfrm xmlns:a="http://schemas.openxmlformats.org/drawingml/2006/main">
            <a:off x="476250" y="33147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725" b="1">
                <a:solidFill>
                  <a:srgbClr val="FFFFFF"/>
                </a:solidFill>
                <a:latin typeface="微软雅黑"/>
                <a:ea typeface="微软雅黑"/>
                <a:cs typeface="微软雅黑"/>
              </a:defRPr>
            </a:pPr>
            <a:r>
              <a:rPr sz="1725" b="1">
                <a:solidFill>
                  <a:srgbClr val="FFFFFF"/>
                </a:solidFill>
                <a:latin typeface="微软雅黑"/>
                <a:ea typeface="微软雅黑"/>
                <a:cs typeface="微软雅黑"/>
              </a:rPr>
              <a:t>新能源场站</a:t>
            </a:r>
          </a:p>
        </p:txBody>
      </p:sp>
      <p:sp>
        <p:nvSpPr>
          <p:cNvPr id="22" name="">
            <a:extLst xmlns:a="http://schemas.openxmlformats.org/drawingml/2006/main">
              <a:ext uri="{FF2B5EF4-FFF2-40B4-BE49-F238E27FC236}">
                <a16:creationId xmlns:a16="http://schemas.microsoft.com/office/drawing/2014/main" id="{BCD843B3-0069-4E83-9388-BBD8E5F9BAFD}"/>
              </a:ext>
            </a:extLst>
          </p:cNvPr>
          <p:cNvSpPr>
            <a:spLocks xmlns:a="http://schemas.openxmlformats.org/drawingml/2006/main" noGrp="1"/>
          </p:cNvSpPr>
          <p:nvPr/>
        </p:nvSpPr>
        <p:spPr>
          <a:xfrm xmlns:a="http://schemas.openxmlformats.org/drawingml/2006/main">
            <a:off x="476250" y="3790950"/>
            <a:ext cx="8001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F5C33B"/>
            </a:solidFill>
            <a:prstDash val="solid"/>
          </a:ln>
        </p:spPr>
      </p:sp>
      <p:sp>
        <p:nvSpPr>
          <p:cNvPr id="23" name="">
            <a:extLst xmlns:a="http://schemas.openxmlformats.org/drawingml/2006/main">
              <a:ext uri="{FF2B5EF4-FFF2-40B4-BE49-F238E27FC236}">
                <a16:creationId xmlns:a16="http://schemas.microsoft.com/office/drawing/2014/main" id="{5C968821-9E59-4927-9DC7-0023F7F8F435}"/>
              </a:ext>
            </a:extLst>
          </p:cNvPr>
          <p:cNvSpPr>
            <a:spLocks xmlns:a="http://schemas.openxmlformats.org/drawingml/2006/main" noGrp="1"/>
          </p:cNvSpPr>
          <p:nvPr/>
        </p:nvSpPr>
        <p:spPr>
          <a:xfrm xmlns:a="http://schemas.openxmlformats.org/drawingml/2006/main">
            <a:off x="476250" y="3790950"/>
            <a:ext cx="800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待试点</a:t>
            </a:r>
          </a:p>
        </p:txBody>
      </p:sp>
      <p:sp>
        <p:nvSpPr>
          <p:cNvPr id="24" name="">
            <a:extLst xmlns:a="http://schemas.openxmlformats.org/drawingml/2006/main">
              <a:ext uri="{FF2B5EF4-FFF2-40B4-BE49-F238E27FC236}">
                <a16:creationId xmlns:a16="http://schemas.microsoft.com/office/drawing/2014/main" id="{EDFBBA90-6C89-4B59-984A-4812D7173D00}"/>
              </a:ext>
            </a:extLst>
          </p:cNvPr>
          <p:cNvSpPr>
            <a:spLocks xmlns:a="http://schemas.openxmlformats.org/drawingml/2006/main" noGrp="1"/>
          </p:cNvSpPr>
          <p:nvPr/>
        </p:nvSpPr>
        <p:spPr>
          <a:xfrm xmlns:a="http://schemas.openxmlformats.org/drawingml/2006/main">
            <a:off x="3238500" y="3124200"/>
            <a:ext cx="8477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站点分散、值守人员少，集中培训与复训窗口难以安排</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需要离线可运行、结论可审计的培训与考核证据链</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同一套引擎可迁移：证书到期预警 + 按缺口定向补训</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迁移成本低：换的是岗位与课程数据，不是引擎与接口</a:t>
            </a:r>
          </a:p>
        </p:txBody>
      </p:sp>
      <p:sp>
        <p:nvSpPr>
          <p:cNvPr id="25" name="">
            <a:extLst xmlns:a="http://schemas.openxmlformats.org/drawingml/2006/main">
              <a:ext uri="{FF2B5EF4-FFF2-40B4-BE49-F238E27FC236}">
                <a16:creationId xmlns:a16="http://schemas.microsoft.com/office/drawing/2014/main" id="{AACEE592-1EB3-4BF7-82F0-4999127DC713}"/>
              </a:ext>
            </a:extLst>
          </p:cNvPr>
          <p:cNvSpPr>
            <a:spLocks xmlns:a="http://schemas.openxmlformats.org/drawingml/2006/main" noGrp="1"/>
          </p:cNvSpPr>
          <p:nvPr/>
        </p:nvSpPr>
        <p:spPr>
          <a:xfrm xmlns:a="http://schemas.openxmlformats.org/drawingml/2006/main">
            <a:off x="285750" y="4533900"/>
            <a:ext cx="11620500" cy="1524000"/>
          </a:xfrm>
          <a:prstGeom xmlns:a="http://schemas.openxmlformats.org/drawingml/2006/main" prst="roundRect">
            <a:avLst>
              <a:gd name="adj" fmla="val 5000"/>
            </a:avLst>
          </a:prstGeom>
          <a:solidFill xmlns:a="http://schemas.openxmlformats.org/drawingml/2006/main">
            <a:srgbClr val="0D2748"/>
          </a:solidFill>
          <a:ln xmlns:a="http://schemas.openxmlformats.org/drawingml/2006/main" w="9525">
            <a:solidFill>
              <a:srgbClr val="1B4C8A"/>
            </a:solidFill>
            <a:prstDash val="solid"/>
          </a:ln>
        </p:spPr>
      </p:sp>
      <p:sp>
        <p:nvSpPr>
          <p:cNvPr id="26" name="">
            <a:extLst xmlns:a="http://schemas.openxmlformats.org/drawingml/2006/main">
              <a:ext uri="{FF2B5EF4-FFF2-40B4-BE49-F238E27FC236}">
                <a16:creationId xmlns:a16="http://schemas.microsoft.com/office/drawing/2014/main" id="{23DC237B-86FC-49ED-8098-E032B5E767CC}"/>
              </a:ext>
            </a:extLst>
          </p:cNvPr>
          <p:cNvSpPr>
            <a:spLocks xmlns:a="http://schemas.openxmlformats.org/drawingml/2006/main" noGrp="1"/>
          </p:cNvSpPr>
          <p:nvPr/>
        </p:nvSpPr>
        <p:spPr>
          <a:xfrm xmlns:a="http://schemas.openxmlformats.org/drawingml/2006/main">
            <a:off x="285750" y="4533900"/>
            <a:ext cx="47625" cy="152400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7392C5C-147B-4057-916E-61AAEB71F651}"/>
              </a:ext>
            </a:extLst>
          </p:cNvPr>
          <p:cNvSpPr>
            <a:spLocks xmlns:a="http://schemas.openxmlformats.org/drawingml/2006/main" noGrp="1"/>
          </p:cNvSpPr>
          <p:nvPr/>
        </p:nvSpPr>
        <p:spPr>
          <a:xfrm xmlns:a="http://schemas.openxmlformats.org/drawingml/2006/main">
            <a:off x="476250" y="46672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Arial"/>
                <a:ea typeface="Arial"/>
                <a:cs typeface="Arial"/>
              </a:defRPr>
            </a:pPr>
            <a:r>
              <a:rPr sz="975" b="0">
                <a:solidFill>
                  <a:srgbClr val="7A9CC4"/>
                </a:solidFill>
                <a:latin typeface="Arial"/>
                <a:ea typeface="Arial"/>
                <a:cs typeface="Arial"/>
              </a:rPr>
              <a:t>场景三</a:t>
            </a:r>
          </a:p>
        </p:txBody>
      </p:sp>
      <p:sp>
        <p:nvSpPr>
          <p:cNvPr id="28" name="">
            <a:extLst xmlns:a="http://schemas.openxmlformats.org/drawingml/2006/main">
              <a:ext uri="{FF2B5EF4-FFF2-40B4-BE49-F238E27FC236}">
                <a16:creationId xmlns:a16="http://schemas.microsoft.com/office/drawing/2014/main" id="{BDC683B2-EC21-4C32-874F-86764FCE6C38}"/>
              </a:ext>
            </a:extLst>
          </p:cNvPr>
          <p:cNvSpPr>
            <a:spLocks xmlns:a="http://schemas.openxmlformats.org/drawingml/2006/main" noGrp="1"/>
          </p:cNvSpPr>
          <p:nvPr/>
        </p:nvSpPr>
        <p:spPr>
          <a:xfrm xmlns:a="http://schemas.openxmlformats.org/drawingml/2006/main">
            <a:off x="476250" y="49149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725" b="1">
                <a:solidFill>
                  <a:srgbClr val="FFFFFF"/>
                </a:solidFill>
                <a:latin typeface="微软雅黑"/>
                <a:ea typeface="微软雅黑"/>
                <a:cs typeface="微软雅黑"/>
              </a:defRPr>
            </a:pPr>
            <a:r>
              <a:rPr sz="1725" b="1">
                <a:solidFill>
                  <a:srgbClr val="FFFFFF"/>
                </a:solidFill>
                <a:latin typeface="微软雅黑"/>
                <a:ea typeface="微软雅黑"/>
                <a:cs typeface="微软雅黑"/>
              </a:rPr>
              <a:t>智能制造产线</a:t>
            </a:r>
          </a:p>
        </p:txBody>
      </p:sp>
      <p:sp>
        <p:nvSpPr>
          <p:cNvPr id="29" name="">
            <a:extLst xmlns:a="http://schemas.openxmlformats.org/drawingml/2006/main">
              <a:ext uri="{FF2B5EF4-FFF2-40B4-BE49-F238E27FC236}">
                <a16:creationId xmlns:a16="http://schemas.microsoft.com/office/drawing/2014/main" id="{14AD9C78-0115-4F8C-9E12-FE890267DA12}"/>
              </a:ext>
            </a:extLst>
          </p:cNvPr>
          <p:cNvSpPr>
            <a:spLocks xmlns:a="http://schemas.openxmlformats.org/drawingml/2006/main" noGrp="1"/>
          </p:cNvSpPr>
          <p:nvPr/>
        </p:nvSpPr>
        <p:spPr>
          <a:xfrm xmlns:a="http://schemas.openxmlformats.org/drawingml/2006/main">
            <a:off x="476250" y="5391150"/>
            <a:ext cx="8001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F5C33B"/>
            </a:solidFill>
            <a:prstDash val="solid"/>
          </a:ln>
        </p:spPr>
      </p:sp>
      <p:sp>
        <p:nvSpPr>
          <p:cNvPr id="30" name="">
            <a:extLst xmlns:a="http://schemas.openxmlformats.org/drawingml/2006/main">
              <a:ext uri="{FF2B5EF4-FFF2-40B4-BE49-F238E27FC236}">
                <a16:creationId xmlns:a16="http://schemas.microsoft.com/office/drawing/2014/main" id="{102EC282-286F-49E4-B3C9-444975107377}"/>
              </a:ext>
            </a:extLst>
          </p:cNvPr>
          <p:cNvSpPr>
            <a:spLocks xmlns:a="http://schemas.openxmlformats.org/drawingml/2006/main" noGrp="1"/>
          </p:cNvSpPr>
          <p:nvPr/>
        </p:nvSpPr>
        <p:spPr>
          <a:xfrm xmlns:a="http://schemas.openxmlformats.org/drawingml/2006/main">
            <a:off x="476250" y="5391150"/>
            <a:ext cx="800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待试点</a:t>
            </a:r>
          </a:p>
        </p:txBody>
      </p:sp>
      <p:sp>
        <p:nvSpPr>
          <p:cNvPr id="31" name="">
            <a:extLst xmlns:a="http://schemas.openxmlformats.org/drawingml/2006/main">
              <a:ext uri="{FF2B5EF4-FFF2-40B4-BE49-F238E27FC236}">
                <a16:creationId xmlns:a16="http://schemas.microsoft.com/office/drawing/2014/main" id="{9E6B1AD9-CD39-43F2-940A-4CB4D1F9DAF2}"/>
              </a:ext>
            </a:extLst>
          </p:cNvPr>
          <p:cNvSpPr>
            <a:spLocks xmlns:a="http://schemas.openxmlformats.org/drawingml/2006/main" noGrp="1"/>
          </p:cNvSpPr>
          <p:nvPr/>
        </p:nvSpPr>
        <p:spPr>
          <a:xfrm xmlns:a="http://schemas.openxmlformats.org/drawingml/2006/main">
            <a:off x="3238500" y="4724400"/>
            <a:ext cx="8477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多工种、多班次，停机培训的直接成本高</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需要按能力缺口精准补训，并让培训排期不与生产冲突</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同一套引擎可迁移：岗位技能矩阵 + 关键岗位备份预警</a:t>
            </a:r>
          </a:p>
          <a:p xmlns:a="http://schemas.openxmlformats.org/drawingml/2006/main">
            <a:pPr algn="l">
              <a:lnSpc>
                <a:spcPct val="160000"/>
              </a:lnSpc>
              <a:buNone/>
              <a:defRPr sz="1013">
                <a:solidFill>
                  <a:srgbClr val="D6E6F7"/>
                </a:solidFill>
                <a:latin typeface="微软雅黑"/>
                <a:ea typeface="微软雅黑"/>
                <a:cs typeface="微软雅黑"/>
              </a:defRPr>
            </a:pPr>
            <a:r>
              <a:rPr sz="1013">
                <a:solidFill>
                  <a:srgbClr val="D6E6F7"/>
                </a:solidFill>
                <a:latin typeface="微软雅黑"/>
                <a:ea typeface="微软雅黑"/>
                <a:cs typeface="微软雅黑"/>
              </a:rPr>
              <a:t>· </a:t>
            </a:r>
            <a:r>
              <a:rPr sz="1013">
                <a:solidFill>
                  <a:srgbClr val="D6E6F7"/>
                </a:solidFill>
                <a:latin typeface="微软雅黑"/>
                <a:ea typeface="微软雅黑"/>
                <a:cs typeface="微软雅黑"/>
              </a:rPr>
              <a:t>迁移成本低：技能矩阵与培训排期复用同一套规则与角色</a:t>
            </a:r>
          </a:p>
        </p:txBody>
      </p:sp>
      <p:sp>
        <p:nvSpPr>
          <p:cNvPr id="32" name="">
            <a:extLst xmlns:a="http://schemas.openxmlformats.org/drawingml/2006/main">
              <a:ext uri="{FF2B5EF4-FFF2-40B4-BE49-F238E27FC236}">
                <a16:creationId xmlns:a16="http://schemas.microsoft.com/office/drawing/2014/main" id="{668C778F-2F4E-4863-B67E-A1CAF86CC64D}"/>
              </a:ext>
            </a:extLst>
          </p:cNvPr>
          <p:cNvSpPr>
            <a:spLocks xmlns:a="http://schemas.openxmlformats.org/drawingml/2006/main" noGrp="1"/>
          </p:cNvSpPr>
          <p:nvPr/>
        </p:nvSpPr>
        <p:spPr>
          <a:xfrm xmlns:a="http://schemas.openxmlformats.org/drawingml/2006/main">
            <a:off x="285750" y="6172200"/>
            <a:ext cx="1162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7A9CC4"/>
                </a:solidFill>
                <a:latin typeface="微软雅黑"/>
                <a:ea typeface="微软雅黑"/>
                <a:cs typeface="微软雅黑"/>
              </a:defRPr>
            </a:pPr>
            <a:r>
              <a:rPr sz="900" b="0">
                <a:solidFill>
                  <a:srgbClr val="7A9CC4"/>
                </a:solidFill>
                <a:latin typeface="微软雅黑"/>
                <a:ea typeface="微软雅黑"/>
                <a:cs typeface="微软雅黑"/>
              </a:rPr>
              <a:t>注：场景一为当前已落地并已验收的场景；场景二、三为同一套规则引擎与角色体系的场景迁移方向，尚未开展试点，此处如实标注。</a:t>
            </a:r>
          </a:p>
        </p:txBody>
      </p:sp>
      <p:sp>
        <p:nvSpPr>
          <p:cNvPr id="33" name="">
            <a:extLst xmlns:a="http://schemas.openxmlformats.org/drawingml/2006/main">
              <a:ext uri="{FF2B5EF4-FFF2-40B4-BE49-F238E27FC236}">
                <a16:creationId xmlns:a16="http://schemas.microsoft.com/office/drawing/2014/main" id="{92A871A3-2B7C-4787-8D59-36AC09E2030A}"/>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70CE4D7F-6538-480C-90AE-23FB46C919E5}"/>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35" name="">
            <a:extLst xmlns:a="http://schemas.openxmlformats.org/drawingml/2006/main">
              <a:ext uri="{FF2B5EF4-FFF2-40B4-BE49-F238E27FC236}">
                <a16:creationId xmlns:a16="http://schemas.microsoft.com/office/drawing/2014/main" id="{4D49D16E-E469-4485-9006-370D6B7DDB04}"/>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06</a:t>
            </a:r>
          </a:p>
        </p:txBody>
      </p:sp>
    </p:spTree>
    <p:extLst>
      <p:ext uri="{BB962C8B-B14F-4D97-AF65-F5344CB8AC3E}">
        <p14:creationId xmlns:p14="http://schemas.microsoft.com/office/powerpoint/2010/main" val="1903754403"/>
      </p:ext>
    </p:extLst>
  </p:cSld>
</p:sld>
</file>

<file path=ppt/slides/slide7.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B883BD90-84D6-4BF4-8DC1-9C1F3DA06AD4}"/>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BDE9990-3DCB-4816-87E7-30EF4EB2BE82}"/>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929ECC5-BBAA-4BC6-8E33-0CF842782F4A}"/>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F0D102B-7190-412D-BC3C-DCE63221886B}"/>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BF756C0-C095-4CFC-87F9-F0299C3A462B}"/>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A5A2CBBE-C680-46C1-99F4-D4D3EEF6FDAA}"/>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项目背景</a:t>
            </a:r>
          </a:p>
        </p:txBody>
      </p:sp>
      <p:sp>
        <p:nvSpPr>
          <p:cNvPr id="7" name="">
            <a:extLst xmlns:a="http://schemas.openxmlformats.org/drawingml/2006/main">
              <a:ext uri="{FF2B5EF4-FFF2-40B4-BE49-F238E27FC236}">
                <a16:creationId xmlns:a16="http://schemas.microsoft.com/office/drawing/2014/main" id="{B45A0FA6-ADA9-4F5F-AD39-8317B97E7CA5}"/>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28C0C58-6B63-4263-9414-B9883965E64F}"/>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三条高精度痛点</a:t>
            </a:r>
          </a:p>
        </p:txBody>
      </p:sp>
      <p:sp>
        <p:nvSpPr>
          <p:cNvPr id="9" name="">
            <a:extLst xmlns:a="http://schemas.openxmlformats.org/drawingml/2006/main">
              <a:ext uri="{FF2B5EF4-FFF2-40B4-BE49-F238E27FC236}">
                <a16:creationId xmlns:a16="http://schemas.microsoft.com/office/drawing/2014/main" id="{F2DD6219-3A92-4559-A37A-2EA3EF09EEEB}"/>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A0CEFFF7-26F9-420A-BDAC-FCBDDB1A9ABD}"/>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痛点不是「没有系统」，而是三条价值缺口：能力看不清、结论不可信、过程不可审。</a:t>
            </a:r>
          </a:p>
        </p:txBody>
      </p:sp>
      <p:sp>
        <p:nvSpPr>
          <p:cNvPr id="11" name="">
            <a:extLst xmlns:a="http://schemas.openxmlformats.org/drawingml/2006/main">
              <a:ext uri="{FF2B5EF4-FFF2-40B4-BE49-F238E27FC236}">
                <a16:creationId xmlns:a16="http://schemas.microsoft.com/office/drawing/2014/main" id="{9FE83A9A-58A8-4060-A54E-8064BA36AD8A}"/>
              </a:ext>
            </a:extLst>
          </p:cNvPr>
          <p:cNvSpPr>
            <a:spLocks xmlns:a="http://schemas.openxmlformats.org/drawingml/2006/main" noGrp="1"/>
          </p:cNvSpPr>
          <p:nvPr/>
        </p:nvSpPr>
        <p:spPr>
          <a:xfrm xmlns:a="http://schemas.openxmlformats.org/drawingml/2006/main">
            <a:off x="285750" y="1333500"/>
            <a:ext cx="3771900" cy="4876800"/>
          </a:xfrm>
          <a:prstGeom xmlns:a="http://schemas.openxmlformats.org/drawingml/2006/main" prst="roundRect">
            <a:avLst>
              <a:gd name="adj" fmla="val 2020"/>
            </a:avLst>
          </a:prstGeom>
          <a:solidFill xmlns:a="http://schemas.openxmlformats.org/drawingml/2006/main">
            <a:srgbClr val="0D2748"/>
          </a:solidFill>
          <a:ln xmlns:a="http://schemas.openxmlformats.org/drawingml/2006/main" w="9525">
            <a:solidFill>
              <a:srgbClr val="1B4C8A"/>
            </a:solidFill>
            <a:prstDash val="solid"/>
          </a:ln>
        </p:spPr>
      </p:sp>
      <p:sp>
        <p:nvSpPr>
          <p:cNvPr id="12" name="">
            <a:extLst xmlns:a="http://schemas.openxmlformats.org/drawingml/2006/main">
              <a:ext uri="{FF2B5EF4-FFF2-40B4-BE49-F238E27FC236}">
                <a16:creationId xmlns:a16="http://schemas.microsoft.com/office/drawing/2014/main" id="{34A014C3-9D42-4B3F-8F3B-9E09A79007FA}"/>
              </a:ext>
            </a:extLst>
          </p:cNvPr>
          <p:cNvSpPr>
            <a:spLocks xmlns:a="http://schemas.openxmlformats.org/drawingml/2006/main" noGrp="1"/>
          </p:cNvSpPr>
          <p:nvPr/>
        </p:nvSpPr>
        <p:spPr>
          <a:xfrm xmlns:a="http://schemas.openxmlformats.org/drawingml/2006/main">
            <a:off x="285750" y="1333500"/>
            <a:ext cx="3771900" cy="57150"/>
          </a:xfrm>
          <a:prstGeom xmlns:a="http://schemas.openxmlformats.org/drawingml/2006/main" prst="rect">
            <a:avLst/>
          </a:prstGeom>
          <a:solidFill xmlns:a="http://schemas.openxmlformats.org/drawingml/2006/main">
            <a:srgbClr val="31C7F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577040B-7C38-4A38-86A0-A0AE866F166F}"/>
              </a:ext>
            </a:extLst>
          </p:cNvPr>
          <p:cNvSpPr>
            <a:spLocks xmlns:a="http://schemas.openxmlformats.org/drawingml/2006/main" noGrp="1"/>
          </p:cNvSpPr>
          <p:nvPr/>
        </p:nvSpPr>
        <p:spPr>
          <a:xfrm xmlns:a="http://schemas.openxmlformats.org/drawingml/2006/main">
            <a:off x="495300" y="1524000"/>
            <a:ext cx="3390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31C7F0"/>
                </a:solidFill>
                <a:latin typeface="微软雅黑"/>
                <a:ea typeface="微软雅黑"/>
                <a:cs typeface="微软雅黑"/>
              </a:defRPr>
            </a:pPr>
            <a:r>
              <a:rPr sz="1425" b="1">
                <a:solidFill>
                  <a:srgbClr val="31C7F0"/>
                </a:solidFill>
                <a:latin typeface="微软雅黑"/>
                <a:ea typeface="微软雅黑"/>
                <a:cs typeface="微软雅黑"/>
              </a:rPr>
              <a:t>痛点一 · 能力看不清</a:t>
            </a:r>
          </a:p>
        </p:txBody>
      </p:sp>
      <p:sp>
        <p:nvSpPr>
          <p:cNvPr id="14" name="">
            <a:extLst xmlns:a="http://schemas.openxmlformats.org/drawingml/2006/main">
              <a:ext uri="{FF2B5EF4-FFF2-40B4-BE49-F238E27FC236}">
                <a16:creationId xmlns:a16="http://schemas.microsoft.com/office/drawing/2014/main" id="{D8DA26B2-CA87-4C84-BD88-A7BF220A5FAB}"/>
              </a:ext>
            </a:extLst>
          </p:cNvPr>
          <p:cNvSpPr>
            <a:spLocks xmlns:a="http://schemas.openxmlformats.org/drawingml/2006/main" noGrp="1"/>
          </p:cNvSpPr>
          <p:nvPr/>
        </p:nvSpPr>
        <p:spPr>
          <a:xfrm xmlns:a="http://schemas.openxmlformats.org/drawingml/2006/main">
            <a:off x="495300" y="1866900"/>
            <a:ext cx="3390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1050" b="0">
                <a:solidFill>
                  <a:srgbClr val="FFFFFF"/>
                </a:solidFill>
                <a:latin typeface="微软雅黑"/>
                <a:ea typeface="微软雅黑"/>
                <a:cs typeface="微软雅黑"/>
              </a:defRPr>
            </a:pPr>
            <a:r>
              <a:rPr sz="1050" b="0">
                <a:solidFill>
                  <a:srgbClr val="FFFFFF"/>
                </a:solidFill>
                <a:latin typeface="微软雅黑"/>
                <a:ea typeface="微软雅黑"/>
                <a:cs typeface="微软雅黑"/>
              </a:rPr>
              <a:t>能力数据孤岛，培训投入难量化</a:t>
            </a:r>
          </a:p>
        </p:txBody>
      </p:sp>
      <p:sp>
        <p:nvSpPr>
          <p:cNvPr id="15" name="">
            <a:extLst xmlns:a="http://schemas.openxmlformats.org/drawingml/2006/main">
              <a:ext uri="{FF2B5EF4-FFF2-40B4-BE49-F238E27FC236}">
                <a16:creationId xmlns:a16="http://schemas.microsoft.com/office/drawing/2014/main" id="{83AB79AB-1D18-4D3B-90E4-A1CAE929D675}"/>
              </a:ext>
            </a:extLst>
          </p:cNvPr>
          <p:cNvSpPr>
            <a:spLocks xmlns:a="http://schemas.openxmlformats.org/drawingml/2006/main" noGrp="1"/>
          </p:cNvSpPr>
          <p:nvPr/>
        </p:nvSpPr>
        <p:spPr>
          <a:xfrm xmlns:a="http://schemas.openxmlformats.org/drawingml/2006/main">
            <a:off x="495300" y="2419350"/>
            <a:ext cx="3390900" cy="1123950"/>
          </a:xfrm>
          <a:prstGeom xmlns:a="http://schemas.openxmlformats.org/drawingml/2006/main" prst="roundRect">
            <a:avLst>
              <a:gd name="adj" fmla="val 6780"/>
            </a:avLst>
          </a:prstGeom>
          <a:solidFill xmlns:a="http://schemas.openxmlformats.org/drawingml/2006/main">
            <a:srgbClr val="0B2B52"/>
          </a:solidFill>
          <a:ln xmlns:a="http://schemas.openxmlformats.org/drawingml/2006/main" w="9525">
            <a:solidFill>
              <a:srgbClr val="173D68"/>
            </a:solidFill>
            <a:prstDash val="solid"/>
          </a:ln>
        </p:spPr>
      </p:sp>
      <p:sp>
        <p:nvSpPr>
          <p:cNvPr id="16" name="">
            <a:extLst xmlns:a="http://schemas.openxmlformats.org/drawingml/2006/main">
              <a:ext uri="{FF2B5EF4-FFF2-40B4-BE49-F238E27FC236}">
                <a16:creationId xmlns:a16="http://schemas.microsoft.com/office/drawing/2014/main" id="{FD321C62-D258-4929-8E05-8488F2386168}"/>
              </a:ext>
            </a:extLst>
          </p:cNvPr>
          <p:cNvSpPr>
            <a:spLocks xmlns:a="http://schemas.openxmlformats.org/drawingml/2006/main" noGrp="1"/>
          </p:cNvSpPr>
          <p:nvPr/>
        </p:nvSpPr>
        <p:spPr>
          <a:xfrm xmlns:a="http://schemas.openxmlformats.org/drawingml/2006/main">
            <a:off x="628650" y="25146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9FC2E8"/>
                </a:solidFill>
                <a:latin typeface="微软雅黑"/>
                <a:ea typeface="微软雅黑"/>
                <a:cs typeface="微软雅黑"/>
              </a:defRPr>
            </a:pPr>
            <a:r>
              <a:rPr sz="938" b="1">
                <a:solidFill>
                  <a:srgbClr val="9FC2E8"/>
                </a:solidFill>
                <a:latin typeface="微软雅黑"/>
                <a:ea typeface="微软雅黑"/>
                <a:cs typeface="微软雅黑"/>
              </a:rPr>
              <a:t>业务损失</a:t>
            </a:r>
          </a:p>
        </p:txBody>
      </p:sp>
      <p:sp>
        <p:nvSpPr>
          <p:cNvPr id="17" name="">
            <a:extLst xmlns:a="http://schemas.openxmlformats.org/drawingml/2006/main">
              <a:ext uri="{FF2B5EF4-FFF2-40B4-BE49-F238E27FC236}">
                <a16:creationId xmlns:a16="http://schemas.microsoft.com/office/drawing/2014/main" id="{5C52326D-C3EA-496B-8C3A-E17A5D690FB6}"/>
              </a:ext>
            </a:extLst>
          </p:cNvPr>
          <p:cNvSpPr>
            <a:spLocks xmlns:a="http://schemas.openxmlformats.org/drawingml/2006/main" noGrp="1"/>
          </p:cNvSpPr>
          <p:nvPr/>
        </p:nvSpPr>
        <p:spPr>
          <a:xfrm xmlns:a="http://schemas.openxmlformats.org/drawingml/2006/main">
            <a:off x="628650" y="2743200"/>
            <a:ext cx="314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培训年年做，却说不清「谁补上了什么能力」，投入与产出无法对应</a:t>
            </a:r>
          </a:p>
        </p:txBody>
      </p:sp>
      <p:sp>
        <p:nvSpPr>
          <p:cNvPr id="18" name="">
            <a:extLst xmlns:a="http://schemas.openxmlformats.org/drawingml/2006/main">
              <a:ext uri="{FF2B5EF4-FFF2-40B4-BE49-F238E27FC236}">
                <a16:creationId xmlns:a16="http://schemas.microsoft.com/office/drawing/2014/main" id="{A55BFF5F-21FA-43FA-ABB1-42CF4E8889DB}"/>
              </a:ext>
            </a:extLst>
          </p:cNvPr>
          <p:cNvSpPr>
            <a:spLocks xmlns:a="http://schemas.openxmlformats.org/drawingml/2006/main" noGrp="1"/>
          </p:cNvSpPr>
          <p:nvPr/>
        </p:nvSpPr>
        <p:spPr>
          <a:xfrm xmlns:a="http://schemas.openxmlformats.org/drawingml/2006/main">
            <a:off x="495300" y="3657600"/>
            <a:ext cx="3390900" cy="1123950"/>
          </a:xfrm>
          <a:prstGeom xmlns:a="http://schemas.openxmlformats.org/drawingml/2006/main" prst="roundRect">
            <a:avLst>
              <a:gd name="adj" fmla="val 6780"/>
            </a:avLst>
          </a:prstGeom>
          <a:solidFill xmlns:a="http://schemas.openxmlformats.org/drawingml/2006/main">
            <a:srgbClr val="0B2B52"/>
          </a:solidFill>
          <a:ln xmlns:a="http://schemas.openxmlformats.org/drawingml/2006/main" w="9525">
            <a:solidFill>
              <a:srgbClr val="173D68"/>
            </a:solidFill>
            <a:prstDash val="solid"/>
          </a:ln>
        </p:spPr>
      </p:sp>
      <p:sp>
        <p:nvSpPr>
          <p:cNvPr id="19" name="">
            <a:extLst xmlns:a="http://schemas.openxmlformats.org/drawingml/2006/main">
              <a:ext uri="{FF2B5EF4-FFF2-40B4-BE49-F238E27FC236}">
                <a16:creationId xmlns:a16="http://schemas.microsoft.com/office/drawing/2014/main" id="{0BD63E50-9B6B-4F61-AEBF-A65DE044EB5E}"/>
              </a:ext>
            </a:extLst>
          </p:cNvPr>
          <p:cNvSpPr>
            <a:spLocks xmlns:a="http://schemas.openxmlformats.org/drawingml/2006/main" noGrp="1"/>
          </p:cNvSpPr>
          <p:nvPr/>
        </p:nvSpPr>
        <p:spPr>
          <a:xfrm xmlns:a="http://schemas.openxmlformats.org/drawingml/2006/main">
            <a:off x="628650" y="37528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9FC2E8"/>
                </a:solidFill>
                <a:latin typeface="微软雅黑"/>
                <a:ea typeface="微软雅黑"/>
                <a:cs typeface="微软雅黑"/>
              </a:defRPr>
            </a:pPr>
            <a:r>
              <a:rPr sz="938" b="1">
                <a:solidFill>
                  <a:srgbClr val="9FC2E8"/>
                </a:solidFill>
                <a:latin typeface="微软雅黑"/>
                <a:ea typeface="微软雅黑"/>
                <a:cs typeface="微软雅黑"/>
              </a:rPr>
              <a:t>管理风险</a:t>
            </a:r>
          </a:p>
        </p:txBody>
      </p:sp>
      <p:sp>
        <p:nvSpPr>
          <p:cNvPr id="20" name="">
            <a:extLst xmlns:a="http://schemas.openxmlformats.org/drawingml/2006/main">
              <a:ext uri="{FF2B5EF4-FFF2-40B4-BE49-F238E27FC236}">
                <a16:creationId xmlns:a16="http://schemas.microsoft.com/office/drawing/2014/main" id="{71E486BE-6379-4368-AE1D-A1C38D4DB773}"/>
              </a:ext>
            </a:extLst>
          </p:cNvPr>
          <p:cNvSpPr>
            <a:spLocks xmlns:a="http://schemas.openxmlformats.org/drawingml/2006/main" noGrp="1"/>
          </p:cNvSpPr>
          <p:nvPr/>
        </p:nvSpPr>
        <p:spPr>
          <a:xfrm xmlns:a="http://schemas.openxmlformats.org/drawingml/2006/main">
            <a:off x="628650" y="3981450"/>
            <a:ext cx="314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排课靠印象、用人靠点名，关键岗位是否有备份无人能答</a:t>
            </a:r>
          </a:p>
        </p:txBody>
      </p:sp>
      <p:sp>
        <p:nvSpPr>
          <p:cNvPr id="21" name="">
            <a:extLst xmlns:a="http://schemas.openxmlformats.org/drawingml/2006/main">
              <a:ext uri="{FF2B5EF4-FFF2-40B4-BE49-F238E27FC236}">
                <a16:creationId xmlns:a16="http://schemas.microsoft.com/office/drawing/2014/main" id="{4EC37F00-4970-42E6-BBFB-DD5B7BEC1417}"/>
              </a:ext>
            </a:extLst>
          </p:cNvPr>
          <p:cNvSpPr>
            <a:spLocks xmlns:a="http://schemas.openxmlformats.org/drawingml/2006/main" noGrp="1"/>
          </p:cNvSpPr>
          <p:nvPr/>
        </p:nvSpPr>
        <p:spPr>
          <a:xfrm xmlns:a="http://schemas.openxmlformats.org/drawingml/2006/main">
            <a:off x="495300" y="4895850"/>
            <a:ext cx="3390900" cy="1123950"/>
          </a:xfrm>
          <a:prstGeom xmlns:a="http://schemas.openxmlformats.org/drawingml/2006/main" prst="roundRect">
            <a:avLst>
              <a:gd name="adj" fmla="val 6780"/>
            </a:avLst>
          </a:prstGeom>
          <a:solidFill xmlns:a="http://schemas.openxmlformats.org/drawingml/2006/main">
            <a:srgbClr val="0B2B52"/>
          </a:solidFill>
          <a:ln xmlns:a="http://schemas.openxmlformats.org/drawingml/2006/main" w="9525">
            <a:solidFill>
              <a:srgbClr val="173D68"/>
            </a:solidFill>
            <a:prstDash val="solid"/>
          </a:ln>
        </p:spPr>
      </p:sp>
      <p:sp>
        <p:nvSpPr>
          <p:cNvPr id="22" name="">
            <a:extLst xmlns:a="http://schemas.openxmlformats.org/drawingml/2006/main">
              <a:ext uri="{FF2B5EF4-FFF2-40B4-BE49-F238E27FC236}">
                <a16:creationId xmlns:a16="http://schemas.microsoft.com/office/drawing/2014/main" id="{6C57D2E3-9ED3-4F3F-AA6B-06CF826C4DD4}"/>
              </a:ext>
            </a:extLst>
          </p:cNvPr>
          <p:cNvSpPr>
            <a:spLocks xmlns:a="http://schemas.openxmlformats.org/drawingml/2006/main" noGrp="1"/>
          </p:cNvSpPr>
          <p:nvPr/>
        </p:nvSpPr>
        <p:spPr>
          <a:xfrm xmlns:a="http://schemas.openxmlformats.org/drawingml/2006/main">
            <a:off x="628650" y="49911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FD08A"/>
                </a:solidFill>
                <a:latin typeface="微软雅黑"/>
                <a:ea typeface="微软雅黑"/>
                <a:cs typeface="微软雅黑"/>
              </a:defRPr>
            </a:pPr>
            <a:r>
              <a:rPr sz="938" b="1">
                <a:solidFill>
                  <a:srgbClr val="3FD08A"/>
                </a:solidFill>
                <a:latin typeface="微软雅黑"/>
                <a:ea typeface="微软雅黑"/>
                <a:cs typeface="微软雅黑"/>
              </a:rPr>
              <a:t>智能化机会</a:t>
            </a:r>
          </a:p>
        </p:txBody>
      </p:sp>
      <p:sp>
        <p:nvSpPr>
          <p:cNvPr id="23" name="">
            <a:extLst xmlns:a="http://schemas.openxmlformats.org/drawingml/2006/main">
              <a:ext uri="{FF2B5EF4-FFF2-40B4-BE49-F238E27FC236}">
                <a16:creationId xmlns:a16="http://schemas.microsoft.com/office/drawing/2014/main" id="{CB1E760F-F67A-4D95-AD4E-599ADE6B4B6A}"/>
              </a:ext>
            </a:extLst>
          </p:cNvPr>
          <p:cNvSpPr>
            <a:spLocks xmlns:a="http://schemas.openxmlformats.org/drawingml/2006/main" noGrp="1"/>
          </p:cNvSpPr>
          <p:nvPr/>
        </p:nvSpPr>
        <p:spPr>
          <a:xfrm xmlns:a="http://schemas.openxmlformats.org/drawingml/2006/main">
            <a:off x="628650" y="5219700"/>
            <a:ext cx="314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把考试、实操、证书、工单统一成结构化能力数据，让培训可量化</a:t>
            </a:r>
          </a:p>
        </p:txBody>
      </p:sp>
      <p:sp>
        <p:nvSpPr>
          <p:cNvPr id="24" name="">
            <a:extLst xmlns:a="http://schemas.openxmlformats.org/drawingml/2006/main">
              <a:ext uri="{FF2B5EF4-FFF2-40B4-BE49-F238E27FC236}">
                <a16:creationId xmlns:a16="http://schemas.microsoft.com/office/drawing/2014/main" id="{BF9F94F7-AE47-4A9F-BA96-9CF87E2521BE}"/>
              </a:ext>
            </a:extLst>
          </p:cNvPr>
          <p:cNvSpPr>
            <a:spLocks xmlns:a="http://schemas.openxmlformats.org/drawingml/2006/main" noGrp="1"/>
          </p:cNvSpPr>
          <p:nvPr/>
        </p:nvSpPr>
        <p:spPr>
          <a:xfrm xmlns:a="http://schemas.openxmlformats.org/drawingml/2006/main">
            <a:off x="4229100" y="1333500"/>
            <a:ext cx="3771900" cy="4876800"/>
          </a:xfrm>
          <a:prstGeom xmlns:a="http://schemas.openxmlformats.org/drawingml/2006/main" prst="roundRect">
            <a:avLst>
              <a:gd name="adj" fmla="val 2020"/>
            </a:avLst>
          </a:prstGeom>
          <a:solidFill xmlns:a="http://schemas.openxmlformats.org/drawingml/2006/main">
            <a:srgbClr val="0D2748"/>
          </a:solidFill>
          <a:ln xmlns:a="http://schemas.openxmlformats.org/drawingml/2006/main" w="9525">
            <a:solidFill>
              <a:srgbClr val="1B4C8A"/>
            </a:solidFill>
            <a:prstDash val="solid"/>
          </a:ln>
        </p:spPr>
      </p:sp>
      <p:sp>
        <p:nvSpPr>
          <p:cNvPr id="25" name="">
            <a:extLst xmlns:a="http://schemas.openxmlformats.org/drawingml/2006/main">
              <a:ext uri="{FF2B5EF4-FFF2-40B4-BE49-F238E27FC236}">
                <a16:creationId xmlns:a16="http://schemas.microsoft.com/office/drawing/2014/main" id="{7E2CC81A-94AA-4F7B-AA4F-DE911AD3E9C6}"/>
              </a:ext>
            </a:extLst>
          </p:cNvPr>
          <p:cNvSpPr>
            <a:spLocks xmlns:a="http://schemas.openxmlformats.org/drawingml/2006/main" noGrp="1"/>
          </p:cNvSpPr>
          <p:nvPr/>
        </p:nvSpPr>
        <p:spPr>
          <a:xfrm xmlns:a="http://schemas.openxmlformats.org/drawingml/2006/main">
            <a:off x="4229100" y="1333500"/>
            <a:ext cx="3771900" cy="571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D64E8D0-B0C7-4E78-850D-43343905904E}"/>
              </a:ext>
            </a:extLst>
          </p:cNvPr>
          <p:cNvSpPr>
            <a:spLocks xmlns:a="http://schemas.openxmlformats.org/drawingml/2006/main" noGrp="1"/>
          </p:cNvSpPr>
          <p:nvPr/>
        </p:nvSpPr>
        <p:spPr>
          <a:xfrm xmlns:a="http://schemas.openxmlformats.org/drawingml/2006/main">
            <a:off x="4438650" y="1524000"/>
            <a:ext cx="3390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5C33B"/>
                </a:solidFill>
                <a:latin typeface="微软雅黑"/>
                <a:ea typeface="微软雅黑"/>
                <a:cs typeface="微软雅黑"/>
              </a:defRPr>
            </a:pPr>
            <a:r>
              <a:rPr sz="1425" b="1">
                <a:solidFill>
                  <a:srgbClr val="F5C33B"/>
                </a:solidFill>
                <a:latin typeface="微软雅黑"/>
                <a:ea typeface="微软雅黑"/>
                <a:cs typeface="微软雅黑"/>
              </a:rPr>
              <a:t>痛点二 · 结论不可信</a:t>
            </a:r>
          </a:p>
        </p:txBody>
      </p:sp>
      <p:sp>
        <p:nvSpPr>
          <p:cNvPr id="27" name="">
            <a:extLst xmlns:a="http://schemas.openxmlformats.org/drawingml/2006/main">
              <a:ext uri="{FF2B5EF4-FFF2-40B4-BE49-F238E27FC236}">
                <a16:creationId xmlns:a16="http://schemas.microsoft.com/office/drawing/2014/main" id="{26B85E98-DC94-4FB2-9E23-970041F4CB03}"/>
              </a:ext>
            </a:extLst>
          </p:cNvPr>
          <p:cNvSpPr>
            <a:spLocks xmlns:a="http://schemas.openxmlformats.org/drawingml/2006/main" noGrp="1"/>
          </p:cNvSpPr>
          <p:nvPr/>
        </p:nvSpPr>
        <p:spPr>
          <a:xfrm xmlns:a="http://schemas.openxmlformats.org/drawingml/2006/main">
            <a:off x="4438650" y="1866900"/>
            <a:ext cx="3390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1050" b="0">
                <a:solidFill>
                  <a:srgbClr val="FFFFFF"/>
                </a:solidFill>
                <a:latin typeface="微软雅黑"/>
                <a:ea typeface="微软雅黑"/>
                <a:cs typeface="微软雅黑"/>
              </a:defRPr>
            </a:pPr>
            <a:r>
              <a:rPr sz="1050" b="0">
                <a:solidFill>
                  <a:srgbClr val="FFFFFF"/>
                </a:solidFill>
                <a:latin typeface="微软雅黑"/>
                <a:ea typeface="微软雅黑"/>
                <a:cs typeface="微软雅黑"/>
              </a:rPr>
              <a:t>通用大模型结论不可复算、断网即失效</a:t>
            </a:r>
          </a:p>
        </p:txBody>
      </p:sp>
      <p:sp>
        <p:nvSpPr>
          <p:cNvPr id="28" name="">
            <a:extLst xmlns:a="http://schemas.openxmlformats.org/drawingml/2006/main">
              <a:ext uri="{FF2B5EF4-FFF2-40B4-BE49-F238E27FC236}">
                <a16:creationId xmlns:a16="http://schemas.microsoft.com/office/drawing/2014/main" id="{4839A5A2-D930-48E1-912A-4D19D7C41831}"/>
              </a:ext>
            </a:extLst>
          </p:cNvPr>
          <p:cNvSpPr>
            <a:spLocks xmlns:a="http://schemas.openxmlformats.org/drawingml/2006/main" noGrp="1"/>
          </p:cNvSpPr>
          <p:nvPr/>
        </p:nvSpPr>
        <p:spPr>
          <a:xfrm xmlns:a="http://schemas.openxmlformats.org/drawingml/2006/main">
            <a:off x="4438650" y="2419350"/>
            <a:ext cx="3390900" cy="1123950"/>
          </a:xfrm>
          <a:prstGeom xmlns:a="http://schemas.openxmlformats.org/drawingml/2006/main" prst="roundRect">
            <a:avLst>
              <a:gd name="adj" fmla="val 6780"/>
            </a:avLst>
          </a:prstGeom>
          <a:solidFill xmlns:a="http://schemas.openxmlformats.org/drawingml/2006/main">
            <a:srgbClr val="0B2B52"/>
          </a:solidFill>
          <a:ln xmlns:a="http://schemas.openxmlformats.org/drawingml/2006/main" w="9525">
            <a:solidFill>
              <a:srgbClr val="173D68"/>
            </a:solidFill>
            <a:prstDash val="solid"/>
          </a:ln>
        </p:spPr>
      </p:sp>
      <p:sp>
        <p:nvSpPr>
          <p:cNvPr id="29" name="">
            <a:extLst xmlns:a="http://schemas.openxmlformats.org/drawingml/2006/main">
              <a:ext uri="{FF2B5EF4-FFF2-40B4-BE49-F238E27FC236}">
                <a16:creationId xmlns:a16="http://schemas.microsoft.com/office/drawing/2014/main" id="{B0491446-1CE1-47EA-9253-86DF465228EB}"/>
              </a:ext>
            </a:extLst>
          </p:cNvPr>
          <p:cNvSpPr>
            <a:spLocks xmlns:a="http://schemas.openxmlformats.org/drawingml/2006/main" noGrp="1"/>
          </p:cNvSpPr>
          <p:nvPr/>
        </p:nvSpPr>
        <p:spPr>
          <a:xfrm xmlns:a="http://schemas.openxmlformats.org/drawingml/2006/main">
            <a:off x="4572000" y="25146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9FC2E8"/>
                </a:solidFill>
                <a:latin typeface="微软雅黑"/>
                <a:ea typeface="微软雅黑"/>
                <a:cs typeface="微软雅黑"/>
              </a:defRPr>
            </a:pPr>
            <a:r>
              <a:rPr sz="938" b="1">
                <a:solidFill>
                  <a:srgbClr val="9FC2E8"/>
                </a:solidFill>
                <a:latin typeface="微软雅黑"/>
                <a:ea typeface="微软雅黑"/>
                <a:cs typeface="微软雅黑"/>
              </a:rPr>
              <a:t>业务损失</a:t>
            </a:r>
          </a:p>
        </p:txBody>
      </p:sp>
      <p:sp>
        <p:nvSpPr>
          <p:cNvPr id="30" name="">
            <a:extLst xmlns:a="http://schemas.openxmlformats.org/drawingml/2006/main">
              <a:ext uri="{FF2B5EF4-FFF2-40B4-BE49-F238E27FC236}">
                <a16:creationId xmlns:a16="http://schemas.microsoft.com/office/drawing/2014/main" id="{98B89A8E-A908-4098-BA9D-637CD5526518}"/>
              </a:ext>
            </a:extLst>
          </p:cNvPr>
          <p:cNvSpPr>
            <a:spLocks xmlns:a="http://schemas.openxmlformats.org/drawingml/2006/main" noGrp="1"/>
          </p:cNvSpPr>
          <p:nvPr/>
        </p:nvSpPr>
        <p:spPr>
          <a:xfrm xmlns:a="http://schemas.openxmlformats.org/drawingml/2006/main">
            <a:off x="4572000" y="2743200"/>
            <a:ext cx="314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结论无法复算，答辩或审计时讲不清「为什么是这个人」</a:t>
            </a:r>
          </a:p>
        </p:txBody>
      </p:sp>
      <p:sp>
        <p:nvSpPr>
          <p:cNvPr id="31" name="">
            <a:extLst xmlns:a="http://schemas.openxmlformats.org/drawingml/2006/main">
              <a:ext uri="{FF2B5EF4-FFF2-40B4-BE49-F238E27FC236}">
                <a16:creationId xmlns:a16="http://schemas.microsoft.com/office/drawing/2014/main" id="{BB1C95C0-4D2D-4F74-A76B-E59E9DD1C563}"/>
              </a:ext>
            </a:extLst>
          </p:cNvPr>
          <p:cNvSpPr>
            <a:spLocks xmlns:a="http://schemas.openxmlformats.org/drawingml/2006/main" noGrp="1"/>
          </p:cNvSpPr>
          <p:nvPr/>
        </p:nvSpPr>
        <p:spPr>
          <a:xfrm xmlns:a="http://schemas.openxmlformats.org/drawingml/2006/main">
            <a:off x="4438650" y="3657600"/>
            <a:ext cx="3390900" cy="1123950"/>
          </a:xfrm>
          <a:prstGeom xmlns:a="http://schemas.openxmlformats.org/drawingml/2006/main" prst="roundRect">
            <a:avLst>
              <a:gd name="adj" fmla="val 6780"/>
            </a:avLst>
          </a:prstGeom>
          <a:solidFill xmlns:a="http://schemas.openxmlformats.org/drawingml/2006/main">
            <a:srgbClr val="0B2B52"/>
          </a:solidFill>
          <a:ln xmlns:a="http://schemas.openxmlformats.org/drawingml/2006/main" w="9525">
            <a:solidFill>
              <a:srgbClr val="173D68"/>
            </a:solidFill>
            <a:prstDash val="solid"/>
          </a:ln>
        </p:spPr>
      </p:sp>
      <p:sp>
        <p:nvSpPr>
          <p:cNvPr id="32" name="">
            <a:extLst xmlns:a="http://schemas.openxmlformats.org/drawingml/2006/main">
              <a:ext uri="{FF2B5EF4-FFF2-40B4-BE49-F238E27FC236}">
                <a16:creationId xmlns:a16="http://schemas.microsoft.com/office/drawing/2014/main" id="{70F29E15-6F02-4ED7-BED0-712926D84D98}"/>
              </a:ext>
            </a:extLst>
          </p:cNvPr>
          <p:cNvSpPr>
            <a:spLocks xmlns:a="http://schemas.openxmlformats.org/drawingml/2006/main" noGrp="1"/>
          </p:cNvSpPr>
          <p:nvPr/>
        </p:nvSpPr>
        <p:spPr>
          <a:xfrm xmlns:a="http://schemas.openxmlformats.org/drawingml/2006/main">
            <a:off x="4572000" y="37528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9FC2E8"/>
                </a:solidFill>
                <a:latin typeface="微软雅黑"/>
                <a:ea typeface="微软雅黑"/>
                <a:cs typeface="微软雅黑"/>
              </a:defRPr>
            </a:pPr>
            <a:r>
              <a:rPr sz="938" b="1">
                <a:solidFill>
                  <a:srgbClr val="9FC2E8"/>
                </a:solidFill>
                <a:latin typeface="微软雅黑"/>
                <a:ea typeface="微软雅黑"/>
                <a:cs typeface="微软雅黑"/>
              </a:rPr>
              <a:t>管理风险</a:t>
            </a:r>
          </a:p>
        </p:txBody>
      </p:sp>
      <p:sp>
        <p:nvSpPr>
          <p:cNvPr id="33" name="">
            <a:extLst xmlns:a="http://schemas.openxmlformats.org/drawingml/2006/main">
              <a:ext uri="{FF2B5EF4-FFF2-40B4-BE49-F238E27FC236}">
                <a16:creationId xmlns:a16="http://schemas.microsoft.com/office/drawing/2014/main" id="{690B7282-A3BF-465D-94E3-922D9BCCDD29}"/>
              </a:ext>
            </a:extLst>
          </p:cNvPr>
          <p:cNvSpPr>
            <a:spLocks xmlns:a="http://schemas.openxmlformats.org/drawingml/2006/main" noGrp="1"/>
          </p:cNvSpPr>
          <p:nvPr/>
        </p:nvSpPr>
        <p:spPr>
          <a:xfrm xmlns:a="http://schemas.openxmlformats.org/drawingml/2006/main">
            <a:off x="4572000" y="3981450"/>
            <a:ext cx="314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依赖外网模型，断网即瘫痪；输出不稳定，无法上岗使用</a:t>
            </a:r>
          </a:p>
        </p:txBody>
      </p:sp>
      <p:sp>
        <p:nvSpPr>
          <p:cNvPr id="34" name="">
            <a:extLst xmlns:a="http://schemas.openxmlformats.org/drawingml/2006/main">
              <a:ext uri="{FF2B5EF4-FFF2-40B4-BE49-F238E27FC236}">
                <a16:creationId xmlns:a16="http://schemas.microsoft.com/office/drawing/2014/main" id="{AFA701D9-B683-4B57-B2E3-41694F0C2F91}"/>
              </a:ext>
            </a:extLst>
          </p:cNvPr>
          <p:cNvSpPr>
            <a:spLocks xmlns:a="http://schemas.openxmlformats.org/drawingml/2006/main" noGrp="1"/>
          </p:cNvSpPr>
          <p:nvPr/>
        </p:nvSpPr>
        <p:spPr>
          <a:xfrm xmlns:a="http://schemas.openxmlformats.org/drawingml/2006/main">
            <a:off x="4438650" y="4895850"/>
            <a:ext cx="3390900" cy="1123950"/>
          </a:xfrm>
          <a:prstGeom xmlns:a="http://schemas.openxmlformats.org/drawingml/2006/main" prst="roundRect">
            <a:avLst>
              <a:gd name="adj" fmla="val 6780"/>
            </a:avLst>
          </a:prstGeom>
          <a:solidFill xmlns:a="http://schemas.openxmlformats.org/drawingml/2006/main">
            <a:srgbClr val="0B2B52"/>
          </a:solidFill>
          <a:ln xmlns:a="http://schemas.openxmlformats.org/drawingml/2006/main" w="9525">
            <a:solidFill>
              <a:srgbClr val="173D68"/>
            </a:solidFill>
            <a:prstDash val="solid"/>
          </a:ln>
        </p:spPr>
      </p:sp>
      <p:sp>
        <p:nvSpPr>
          <p:cNvPr id="35" name="">
            <a:extLst xmlns:a="http://schemas.openxmlformats.org/drawingml/2006/main">
              <a:ext uri="{FF2B5EF4-FFF2-40B4-BE49-F238E27FC236}">
                <a16:creationId xmlns:a16="http://schemas.microsoft.com/office/drawing/2014/main" id="{E3654D62-6FB0-4333-83B2-EBBE899E4E53}"/>
              </a:ext>
            </a:extLst>
          </p:cNvPr>
          <p:cNvSpPr>
            <a:spLocks xmlns:a="http://schemas.openxmlformats.org/drawingml/2006/main" noGrp="1"/>
          </p:cNvSpPr>
          <p:nvPr/>
        </p:nvSpPr>
        <p:spPr>
          <a:xfrm xmlns:a="http://schemas.openxmlformats.org/drawingml/2006/main">
            <a:off x="4572000" y="49911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FD08A"/>
                </a:solidFill>
                <a:latin typeface="微软雅黑"/>
                <a:ea typeface="微软雅黑"/>
                <a:cs typeface="微软雅黑"/>
              </a:defRPr>
            </a:pPr>
            <a:r>
              <a:rPr sz="938" b="1">
                <a:solidFill>
                  <a:srgbClr val="3FD08A"/>
                </a:solidFill>
                <a:latin typeface="微软雅黑"/>
                <a:ea typeface="微软雅黑"/>
                <a:cs typeface="微软雅黑"/>
              </a:rPr>
              <a:t>智能化机会</a:t>
            </a:r>
          </a:p>
        </p:txBody>
      </p:sp>
      <p:sp>
        <p:nvSpPr>
          <p:cNvPr id="36" name="">
            <a:extLst xmlns:a="http://schemas.openxmlformats.org/drawingml/2006/main">
              <a:ext uri="{FF2B5EF4-FFF2-40B4-BE49-F238E27FC236}">
                <a16:creationId xmlns:a16="http://schemas.microsoft.com/office/drawing/2014/main" id="{443A9813-DE38-430D-9C56-23B87EF86BD9}"/>
              </a:ext>
            </a:extLst>
          </p:cNvPr>
          <p:cNvSpPr>
            <a:spLocks xmlns:a="http://schemas.openxmlformats.org/drawingml/2006/main" noGrp="1"/>
          </p:cNvSpPr>
          <p:nvPr/>
        </p:nvSpPr>
        <p:spPr>
          <a:xfrm xmlns:a="http://schemas.openxmlformats.org/drawingml/2006/main">
            <a:off x="4572000" y="5219700"/>
            <a:ext cx="314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规则进数据库、算子白名单求值，结论带 rule_code 与依据事实，可复算</a:t>
            </a:r>
          </a:p>
        </p:txBody>
      </p:sp>
      <p:sp>
        <p:nvSpPr>
          <p:cNvPr id="37" name="">
            <a:extLst xmlns:a="http://schemas.openxmlformats.org/drawingml/2006/main">
              <a:ext uri="{FF2B5EF4-FFF2-40B4-BE49-F238E27FC236}">
                <a16:creationId xmlns:a16="http://schemas.microsoft.com/office/drawing/2014/main" id="{352F8AA7-9AF2-4EE3-B1ED-966DC2653BCB}"/>
              </a:ext>
            </a:extLst>
          </p:cNvPr>
          <p:cNvSpPr>
            <a:spLocks xmlns:a="http://schemas.openxmlformats.org/drawingml/2006/main" noGrp="1"/>
          </p:cNvSpPr>
          <p:nvPr/>
        </p:nvSpPr>
        <p:spPr>
          <a:xfrm xmlns:a="http://schemas.openxmlformats.org/drawingml/2006/main">
            <a:off x="8172450" y="1333500"/>
            <a:ext cx="3771900" cy="4876800"/>
          </a:xfrm>
          <a:prstGeom xmlns:a="http://schemas.openxmlformats.org/drawingml/2006/main" prst="roundRect">
            <a:avLst>
              <a:gd name="adj" fmla="val 2020"/>
            </a:avLst>
          </a:prstGeom>
          <a:solidFill xmlns:a="http://schemas.openxmlformats.org/drawingml/2006/main">
            <a:srgbClr val="0D2748"/>
          </a:solidFill>
          <a:ln xmlns:a="http://schemas.openxmlformats.org/drawingml/2006/main" w="9525">
            <a:solidFill>
              <a:srgbClr val="1B4C8A"/>
            </a:solidFill>
            <a:prstDash val="solid"/>
          </a:ln>
        </p:spPr>
      </p:sp>
      <p:sp>
        <p:nvSpPr>
          <p:cNvPr id="38" name="">
            <a:extLst xmlns:a="http://schemas.openxmlformats.org/drawingml/2006/main">
              <a:ext uri="{FF2B5EF4-FFF2-40B4-BE49-F238E27FC236}">
                <a16:creationId xmlns:a16="http://schemas.microsoft.com/office/drawing/2014/main" id="{B8661C0C-6E68-40F6-9523-0DC89864982B}"/>
              </a:ext>
            </a:extLst>
          </p:cNvPr>
          <p:cNvSpPr>
            <a:spLocks xmlns:a="http://schemas.openxmlformats.org/drawingml/2006/main" noGrp="1"/>
          </p:cNvSpPr>
          <p:nvPr/>
        </p:nvSpPr>
        <p:spPr>
          <a:xfrm xmlns:a="http://schemas.openxmlformats.org/drawingml/2006/main">
            <a:off x="8172450" y="1333500"/>
            <a:ext cx="3771900" cy="57150"/>
          </a:xfrm>
          <a:prstGeom xmlns:a="http://schemas.openxmlformats.org/drawingml/2006/main" prst="rect">
            <a:avLst/>
          </a:prstGeom>
          <a:solidFill xmlns:a="http://schemas.openxmlformats.org/drawingml/2006/main">
            <a:srgbClr val="9B8CFF"/>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E10F66AF-A1A0-41DE-ADFE-9E832A14D2B4}"/>
              </a:ext>
            </a:extLst>
          </p:cNvPr>
          <p:cNvSpPr>
            <a:spLocks xmlns:a="http://schemas.openxmlformats.org/drawingml/2006/main" noGrp="1"/>
          </p:cNvSpPr>
          <p:nvPr/>
        </p:nvSpPr>
        <p:spPr>
          <a:xfrm xmlns:a="http://schemas.openxmlformats.org/drawingml/2006/main">
            <a:off x="8382000" y="1524000"/>
            <a:ext cx="3390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9B8CFF"/>
                </a:solidFill>
                <a:latin typeface="微软雅黑"/>
                <a:ea typeface="微软雅黑"/>
                <a:cs typeface="微软雅黑"/>
              </a:defRPr>
            </a:pPr>
            <a:r>
              <a:rPr sz="1425" b="1">
                <a:solidFill>
                  <a:srgbClr val="9B8CFF"/>
                </a:solidFill>
                <a:latin typeface="微软雅黑"/>
                <a:ea typeface="微软雅黑"/>
                <a:cs typeface="微软雅黑"/>
              </a:rPr>
              <a:t>痛点三 · 过程不可审</a:t>
            </a:r>
          </a:p>
        </p:txBody>
      </p:sp>
      <p:sp>
        <p:nvSpPr>
          <p:cNvPr id="40" name="">
            <a:extLst xmlns:a="http://schemas.openxmlformats.org/drawingml/2006/main">
              <a:ext uri="{FF2B5EF4-FFF2-40B4-BE49-F238E27FC236}">
                <a16:creationId xmlns:a16="http://schemas.microsoft.com/office/drawing/2014/main" id="{FB394EDF-AF03-41F8-BFEF-1CC99A827106}"/>
              </a:ext>
            </a:extLst>
          </p:cNvPr>
          <p:cNvSpPr>
            <a:spLocks xmlns:a="http://schemas.openxmlformats.org/drawingml/2006/main" noGrp="1"/>
          </p:cNvSpPr>
          <p:nvPr/>
        </p:nvSpPr>
        <p:spPr>
          <a:xfrm xmlns:a="http://schemas.openxmlformats.org/drawingml/2006/main">
            <a:off x="8382000" y="1866900"/>
            <a:ext cx="3390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1050" b="0">
                <a:solidFill>
                  <a:srgbClr val="FFFFFF"/>
                </a:solidFill>
                <a:latin typeface="微软雅黑"/>
                <a:ea typeface="微软雅黑"/>
                <a:cs typeface="微软雅黑"/>
              </a:defRPr>
            </a:pPr>
            <a:r>
              <a:rPr sz="1050" b="0">
                <a:solidFill>
                  <a:srgbClr val="FFFFFF"/>
                </a:solidFill>
                <a:latin typeface="微软雅黑"/>
                <a:ea typeface="微软雅黑"/>
                <a:cs typeface="微软雅黑"/>
              </a:rPr>
              <a:t>建议、确认、执行、回滚没有留痕</a:t>
            </a:r>
          </a:p>
        </p:txBody>
      </p:sp>
      <p:sp>
        <p:nvSpPr>
          <p:cNvPr id="41" name="">
            <a:extLst xmlns:a="http://schemas.openxmlformats.org/drawingml/2006/main">
              <a:ext uri="{FF2B5EF4-FFF2-40B4-BE49-F238E27FC236}">
                <a16:creationId xmlns:a16="http://schemas.microsoft.com/office/drawing/2014/main" id="{0A85EB58-40F7-4CC5-A953-E8949FFCF7ED}"/>
              </a:ext>
            </a:extLst>
          </p:cNvPr>
          <p:cNvSpPr>
            <a:spLocks xmlns:a="http://schemas.openxmlformats.org/drawingml/2006/main" noGrp="1"/>
          </p:cNvSpPr>
          <p:nvPr/>
        </p:nvSpPr>
        <p:spPr>
          <a:xfrm xmlns:a="http://schemas.openxmlformats.org/drawingml/2006/main">
            <a:off x="8382000" y="2419350"/>
            <a:ext cx="3390900" cy="1123950"/>
          </a:xfrm>
          <a:prstGeom xmlns:a="http://schemas.openxmlformats.org/drawingml/2006/main" prst="roundRect">
            <a:avLst>
              <a:gd name="adj" fmla="val 6780"/>
            </a:avLst>
          </a:prstGeom>
          <a:solidFill xmlns:a="http://schemas.openxmlformats.org/drawingml/2006/main">
            <a:srgbClr val="0B2B52"/>
          </a:solidFill>
          <a:ln xmlns:a="http://schemas.openxmlformats.org/drawingml/2006/main" w="9525">
            <a:solidFill>
              <a:srgbClr val="173D68"/>
            </a:solidFill>
            <a:prstDash val="solid"/>
          </a:ln>
        </p:spPr>
      </p:sp>
      <p:sp>
        <p:nvSpPr>
          <p:cNvPr id="42" name="">
            <a:extLst xmlns:a="http://schemas.openxmlformats.org/drawingml/2006/main">
              <a:ext uri="{FF2B5EF4-FFF2-40B4-BE49-F238E27FC236}">
                <a16:creationId xmlns:a16="http://schemas.microsoft.com/office/drawing/2014/main" id="{C75435CB-D24A-4229-895C-FC94D44F72A7}"/>
              </a:ext>
            </a:extLst>
          </p:cNvPr>
          <p:cNvSpPr>
            <a:spLocks xmlns:a="http://schemas.openxmlformats.org/drawingml/2006/main" noGrp="1"/>
          </p:cNvSpPr>
          <p:nvPr/>
        </p:nvSpPr>
        <p:spPr>
          <a:xfrm xmlns:a="http://schemas.openxmlformats.org/drawingml/2006/main">
            <a:off x="8515350" y="25146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9FC2E8"/>
                </a:solidFill>
                <a:latin typeface="微软雅黑"/>
                <a:ea typeface="微软雅黑"/>
                <a:cs typeface="微软雅黑"/>
              </a:defRPr>
            </a:pPr>
            <a:r>
              <a:rPr sz="938" b="1">
                <a:solidFill>
                  <a:srgbClr val="9FC2E8"/>
                </a:solidFill>
                <a:latin typeface="微软雅黑"/>
                <a:ea typeface="微软雅黑"/>
                <a:cs typeface="微软雅黑"/>
              </a:rPr>
              <a:t>业务损失</a:t>
            </a:r>
          </a:p>
        </p:txBody>
      </p:sp>
      <p:sp>
        <p:nvSpPr>
          <p:cNvPr id="43" name="">
            <a:extLst xmlns:a="http://schemas.openxmlformats.org/drawingml/2006/main">
              <a:ext uri="{FF2B5EF4-FFF2-40B4-BE49-F238E27FC236}">
                <a16:creationId xmlns:a16="http://schemas.microsoft.com/office/drawing/2014/main" id="{1F8D0882-27AB-422F-B610-F1CB34BE7A5F}"/>
              </a:ext>
            </a:extLst>
          </p:cNvPr>
          <p:cNvSpPr>
            <a:spLocks xmlns:a="http://schemas.openxmlformats.org/drawingml/2006/main" noGrp="1"/>
          </p:cNvSpPr>
          <p:nvPr/>
        </p:nvSpPr>
        <p:spPr>
          <a:xfrm xmlns:a="http://schemas.openxmlformats.org/drawingml/2006/main">
            <a:off x="8515350" y="2743200"/>
            <a:ext cx="314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建议由谁提出、谁采纳、谁执行，事后无法界定责任</a:t>
            </a:r>
          </a:p>
        </p:txBody>
      </p:sp>
      <p:sp>
        <p:nvSpPr>
          <p:cNvPr id="44" name="">
            <a:extLst xmlns:a="http://schemas.openxmlformats.org/drawingml/2006/main">
              <a:ext uri="{FF2B5EF4-FFF2-40B4-BE49-F238E27FC236}">
                <a16:creationId xmlns:a16="http://schemas.microsoft.com/office/drawing/2014/main" id="{49E730A8-29D6-4693-98B3-3B8DE16050E6}"/>
              </a:ext>
            </a:extLst>
          </p:cNvPr>
          <p:cNvSpPr>
            <a:spLocks xmlns:a="http://schemas.openxmlformats.org/drawingml/2006/main" noGrp="1"/>
          </p:cNvSpPr>
          <p:nvPr/>
        </p:nvSpPr>
        <p:spPr>
          <a:xfrm xmlns:a="http://schemas.openxmlformats.org/drawingml/2006/main">
            <a:off x="8382000" y="3657600"/>
            <a:ext cx="3390900" cy="1123950"/>
          </a:xfrm>
          <a:prstGeom xmlns:a="http://schemas.openxmlformats.org/drawingml/2006/main" prst="roundRect">
            <a:avLst>
              <a:gd name="adj" fmla="val 6780"/>
            </a:avLst>
          </a:prstGeom>
          <a:solidFill xmlns:a="http://schemas.openxmlformats.org/drawingml/2006/main">
            <a:srgbClr val="0B2B52"/>
          </a:solidFill>
          <a:ln xmlns:a="http://schemas.openxmlformats.org/drawingml/2006/main" w="9525">
            <a:solidFill>
              <a:srgbClr val="173D68"/>
            </a:solidFill>
            <a:prstDash val="solid"/>
          </a:ln>
        </p:spPr>
      </p:sp>
      <p:sp>
        <p:nvSpPr>
          <p:cNvPr id="45" name="">
            <a:extLst xmlns:a="http://schemas.openxmlformats.org/drawingml/2006/main">
              <a:ext uri="{FF2B5EF4-FFF2-40B4-BE49-F238E27FC236}">
                <a16:creationId xmlns:a16="http://schemas.microsoft.com/office/drawing/2014/main" id="{A33FF652-2EC1-4ACA-9699-DA95CBCE643C}"/>
              </a:ext>
            </a:extLst>
          </p:cNvPr>
          <p:cNvSpPr>
            <a:spLocks xmlns:a="http://schemas.openxmlformats.org/drawingml/2006/main" noGrp="1"/>
          </p:cNvSpPr>
          <p:nvPr/>
        </p:nvSpPr>
        <p:spPr>
          <a:xfrm xmlns:a="http://schemas.openxmlformats.org/drawingml/2006/main">
            <a:off x="8515350" y="37528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9FC2E8"/>
                </a:solidFill>
                <a:latin typeface="微软雅黑"/>
                <a:ea typeface="微软雅黑"/>
                <a:cs typeface="微软雅黑"/>
              </a:defRPr>
            </a:pPr>
            <a:r>
              <a:rPr sz="938" b="1">
                <a:solidFill>
                  <a:srgbClr val="9FC2E8"/>
                </a:solidFill>
                <a:latin typeface="微软雅黑"/>
                <a:ea typeface="微软雅黑"/>
                <a:cs typeface="微软雅黑"/>
              </a:rPr>
              <a:t>管理风险</a:t>
            </a:r>
          </a:p>
        </p:txBody>
      </p:sp>
      <p:sp>
        <p:nvSpPr>
          <p:cNvPr id="46" name="">
            <a:extLst xmlns:a="http://schemas.openxmlformats.org/drawingml/2006/main">
              <a:ext uri="{FF2B5EF4-FFF2-40B4-BE49-F238E27FC236}">
                <a16:creationId xmlns:a16="http://schemas.microsoft.com/office/drawing/2014/main" id="{4F1B5E31-2201-4C94-926D-741300B8AB4A}"/>
              </a:ext>
            </a:extLst>
          </p:cNvPr>
          <p:cNvSpPr>
            <a:spLocks xmlns:a="http://schemas.openxmlformats.org/drawingml/2006/main" noGrp="1"/>
          </p:cNvSpPr>
          <p:nvPr/>
        </p:nvSpPr>
        <p:spPr>
          <a:xfrm xmlns:a="http://schemas.openxmlformats.org/drawingml/2006/main">
            <a:off x="8515350" y="3981450"/>
            <a:ext cx="314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缺乏审计链，心理与关怀数据也无隔离手段</a:t>
            </a:r>
          </a:p>
        </p:txBody>
      </p:sp>
      <p:sp>
        <p:nvSpPr>
          <p:cNvPr id="47" name="">
            <a:extLst xmlns:a="http://schemas.openxmlformats.org/drawingml/2006/main">
              <a:ext uri="{FF2B5EF4-FFF2-40B4-BE49-F238E27FC236}">
                <a16:creationId xmlns:a16="http://schemas.microsoft.com/office/drawing/2014/main" id="{B7CCD8A5-024E-4620-8462-5EE722DAB9E7}"/>
              </a:ext>
            </a:extLst>
          </p:cNvPr>
          <p:cNvSpPr>
            <a:spLocks xmlns:a="http://schemas.openxmlformats.org/drawingml/2006/main" noGrp="1"/>
          </p:cNvSpPr>
          <p:nvPr/>
        </p:nvSpPr>
        <p:spPr>
          <a:xfrm xmlns:a="http://schemas.openxmlformats.org/drawingml/2006/main">
            <a:off x="8382000" y="4895850"/>
            <a:ext cx="3390900" cy="1123950"/>
          </a:xfrm>
          <a:prstGeom xmlns:a="http://schemas.openxmlformats.org/drawingml/2006/main" prst="roundRect">
            <a:avLst>
              <a:gd name="adj" fmla="val 6780"/>
            </a:avLst>
          </a:prstGeom>
          <a:solidFill xmlns:a="http://schemas.openxmlformats.org/drawingml/2006/main">
            <a:srgbClr val="0B2B52"/>
          </a:solidFill>
          <a:ln xmlns:a="http://schemas.openxmlformats.org/drawingml/2006/main" w="9525">
            <a:solidFill>
              <a:srgbClr val="173D68"/>
            </a:solidFill>
            <a:prstDash val="solid"/>
          </a:ln>
        </p:spPr>
      </p:sp>
      <p:sp>
        <p:nvSpPr>
          <p:cNvPr id="48" name="">
            <a:extLst xmlns:a="http://schemas.openxmlformats.org/drawingml/2006/main">
              <a:ext uri="{FF2B5EF4-FFF2-40B4-BE49-F238E27FC236}">
                <a16:creationId xmlns:a16="http://schemas.microsoft.com/office/drawing/2014/main" id="{CF5DB491-5D2C-48D3-910B-717ABA9310DE}"/>
              </a:ext>
            </a:extLst>
          </p:cNvPr>
          <p:cNvSpPr>
            <a:spLocks xmlns:a="http://schemas.openxmlformats.org/drawingml/2006/main" noGrp="1"/>
          </p:cNvSpPr>
          <p:nvPr/>
        </p:nvSpPr>
        <p:spPr>
          <a:xfrm xmlns:a="http://schemas.openxmlformats.org/drawingml/2006/main">
            <a:off x="8515350" y="49911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FD08A"/>
                </a:solidFill>
                <a:latin typeface="微软雅黑"/>
                <a:ea typeface="微软雅黑"/>
                <a:cs typeface="微软雅黑"/>
              </a:defRPr>
            </a:pPr>
            <a:r>
              <a:rPr sz="938" b="1">
                <a:solidFill>
                  <a:srgbClr val="3FD08A"/>
                </a:solidFill>
                <a:latin typeface="微软雅黑"/>
                <a:ea typeface="微软雅黑"/>
                <a:cs typeface="微软雅黑"/>
              </a:rPr>
              <a:t>智能化机会</a:t>
            </a:r>
          </a:p>
        </p:txBody>
      </p:sp>
      <p:sp>
        <p:nvSpPr>
          <p:cNvPr id="49" name="">
            <a:extLst xmlns:a="http://schemas.openxmlformats.org/drawingml/2006/main">
              <a:ext uri="{FF2B5EF4-FFF2-40B4-BE49-F238E27FC236}">
                <a16:creationId xmlns:a16="http://schemas.microsoft.com/office/drawing/2014/main" id="{7AF99614-70F1-42B8-A371-30810094D182}"/>
              </a:ext>
            </a:extLst>
          </p:cNvPr>
          <p:cNvSpPr>
            <a:spLocks xmlns:a="http://schemas.openxmlformats.org/drawingml/2006/main" noGrp="1"/>
          </p:cNvSpPr>
          <p:nvPr/>
        </p:nvSpPr>
        <p:spPr>
          <a:xfrm xmlns:a="http://schemas.openxmlformats.org/drawingml/2006/main">
            <a:off x="8515350" y="5219700"/>
            <a:ext cx="314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建议写 agent_suggestion、确认写 decision_log，三表用同一 run_id 串起</a:t>
            </a:r>
          </a:p>
        </p:txBody>
      </p:sp>
      <p:sp>
        <p:nvSpPr>
          <p:cNvPr id="50" name="">
            <a:extLst xmlns:a="http://schemas.openxmlformats.org/drawingml/2006/main">
              <a:ext uri="{FF2B5EF4-FFF2-40B4-BE49-F238E27FC236}">
                <a16:creationId xmlns:a16="http://schemas.microsoft.com/office/drawing/2014/main" id="{C23BD85F-5172-45C6-B9D3-4D12A1263B9E}"/>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9F47A492-9617-4902-8EC4-50ED72623790}"/>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52" name="">
            <a:extLst xmlns:a="http://schemas.openxmlformats.org/drawingml/2006/main">
              <a:ext uri="{FF2B5EF4-FFF2-40B4-BE49-F238E27FC236}">
                <a16:creationId xmlns:a16="http://schemas.microsoft.com/office/drawing/2014/main" id="{23750788-CAD8-42EC-A651-C97FA7D5738C}"/>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07</a:t>
            </a:r>
          </a:p>
        </p:txBody>
      </p:sp>
    </p:spTree>
    <p:extLst>
      <p:ext uri="{BB962C8B-B14F-4D97-AF65-F5344CB8AC3E}">
        <p14:creationId xmlns:p14="http://schemas.microsoft.com/office/powerpoint/2010/main" val="652622148"/>
      </p:ext>
    </p:extLst>
  </p:cSld>
</p:sld>
</file>

<file path=ppt/slides/slide8.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2E3346B-AF31-4EDC-8B46-0CCF6908D9C1}"/>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5B1417B-6CC7-4A5C-8D99-891D4CD1982A}"/>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015400F-B349-472C-AE4B-6699D396A2E9}"/>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A94FA17-3D89-4CD0-9F4C-3C9C06C42D94}"/>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8ABC78D-5486-400F-925E-2CFBDA496ECA}"/>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AEB324C1-07CD-4DAD-BAA8-F44A350A1A94}"/>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项目背景</a:t>
            </a:r>
          </a:p>
        </p:txBody>
      </p:sp>
      <p:sp>
        <p:nvSpPr>
          <p:cNvPr id="7" name="">
            <a:extLst xmlns:a="http://schemas.openxmlformats.org/drawingml/2006/main">
              <a:ext uri="{FF2B5EF4-FFF2-40B4-BE49-F238E27FC236}">
                <a16:creationId xmlns:a16="http://schemas.microsoft.com/office/drawing/2014/main" id="{8C987B62-CC43-40E5-BE1F-FD4EDC8A5BD9}"/>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018EA90-8BCC-4D93-8929-E73AD3DA3593}"/>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现有方案对标</a:t>
            </a:r>
          </a:p>
        </p:txBody>
      </p:sp>
      <p:sp>
        <p:nvSpPr>
          <p:cNvPr id="9" name="">
            <a:extLst xmlns:a="http://schemas.openxmlformats.org/drawingml/2006/main">
              <a:ext uri="{FF2B5EF4-FFF2-40B4-BE49-F238E27FC236}">
                <a16:creationId xmlns:a16="http://schemas.microsoft.com/office/drawing/2014/main" id="{230723B7-AC9B-46C8-8E49-413D2E0F5C18}"/>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E1039605-E74D-42AD-9F7F-EC66E4F4C912}"/>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通用 LMS 只有总分、通用大模型只有文本；我们要的是「可复算的能力结论」。</a:t>
            </a:r>
          </a:p>
        </p:txBody>
      </p:sp>
      <p:graphicFrame>
        <p:nvGraphicFramePr>
          <p:cNvPr id="25" name=""/>
          <p:cNvGraphicFramePr/>
          <p:nvPr/>
        </p:nvGraphicFramePr>
        <p:xfrm>
          <a:off xmlns:a="http://schemas.openxmlformats.org/drawingml/2006/main" x="285750" y="1333500"/>
          <a:ext xmlns:a="http://schemas.openxmlformats.org/drawingml/2006/main" cx="11620500" cy="4953000"/>
        </p:xfrm>
        <a:graphic xmlns:a="http://schemas.openxmlformats.org/drawingml/2006/main">
          <a:graphicData uri="http://schemas.openxmlformats.org/drawingml/2006/table">
            <a:tbl>
              <a:tblPr/>
              <a:tblGrid>
                <a:gridCol w="2515778"/>
                <a:gridCol w="2755376"/>
                <a:gridCol w="2755376"/>
                <a:gridCol w="3593969"/>
              </a:tblGrid>
              <a:tr h="381000">
                <a:tc>
                  <a:txBody>
                    <a:bodyPr/>
                    <a:lstStyle/>
                    <a:p>
                      <a:r>
                        <a:rPr sz="1050" b="1">
                          <a:solidFill>
                            <a:srgbClr val="FFFFFF"/>
                          </a:solidFill>
                          <a:latin typeface="微软雅黑"/>
                          <a:ea typeface="微软雅黑"/>
                          <a:cs typeface="微软雅黑"/>
                        </a:rPr>
                        <a:t>对比维度</a:t>
                      </a:r>
                    </a:p>
                  </a:txBody>
                  <a:tcPr marL="91440" marR="91440" marT="45720" marB="45720">
                    <a:solidFill>
                      <a:srgbClr val="14406F"/>
                    </a:solidFill>
                  </a:tcPr>
                </a:tc>
                <a:tc>
                  <a:txBody>
                    <a:bodyPr/>
                    <a:lstStyle/>
                    <a:p>
                      <a:r>
                        <a:rPr sz="1050" b="1">
                          <a:solidFill>
                            <a:srgbClr val="FFFFFF"/>
                          </a:solidFill>
                          <a:latin typeface="微软雅黑"/>
                          <a:ea typeface="微软雅黑"/>
                          <a:cs typeface="微软雅黑"/>
                        </a:rPr>
                        <a:t>传统 LMS / 线下培训</a:t>
                      </a:r>
                    </a:p>
                  </a:txBody>
                  <a:tcPr marL="91440" marR="91440" marT="45720" marB="45720">
                    <a:solidFill>
                      <a:srgbClr val="14406F"/>
                    </a:solidFill>
                  </a:tcPr>
                </a:tc>
                <a:tc>
                  <a:txBody>
                    <a:bodyPr/>
                    <a:lstStyle/>
                    <a:p>
                      <a:r>
                        <a:rPr sz="1050" b="1">
                          <a:solidFill>
                            <a:srgbClr val="FFFFFF"/>
                          </a:solidFill>
                          <a:latin typeface="微软雅黑"/>
                          <a:ea typeface="微软雅黑"/>
                          <a:cs typeface="微软雅黑"/>
                        </a:rPr>
                        <a:t>通用大模型直接出结论</a:t>
                      </a:r>
                    </a:p>
                  </a:txBody>
                  <a:tcPr marL="91440" marR="91440" marT="45720" marB="45720">
                    <a:solidFill>
                      <a:srgbClr val="14406F"/>
                    </a:solidFill>
                  </a:tcPr>
                </a:tc>
                <a:tc>
                  <a:txBody>
                    <a:bodyPr/>
                    <a:lstStyle/>
                    <a:p>
                      <a:r>
                        <a:rPr sz="1050" b="1">
                          <a:solidFill>
                            <a:srgbClr val="FFFFFF"/>
                          </a:solidFill>
                          <a:latin typeface="微软雅黑"/>
                          <a:ea typeface="微软雅黑"/>
                          <a:cs typeface="微软雅黑"/>
                        </a:rPr>
                        <a:t>工业智训（本系统）</a:t>
                      </a:r>
                    </a:p>
                  </a:txBody>
                  <a:tcPr marL="91440" marR="91440" marT="45720" marB="45720">
                    <a:solidFill>
                      <a:srgbClr val="14406F"/>
                    </a:solidFill>
                  </a:tcPr>
                </a:tc>
              </a:tr>
              <a:tr h="495300">
                <a:tc>
                  <a:txBody>
                    <a:bodyPr/>
                    <a:lstStyle/>
                    <a:p>
                      <a:r>
                        <a:rPr sz="938" b="1">
                          <a:solidFill>
                            <a:srgbClr val="31C7F0"/>
                          </a:solidFill>
                          <a:latin typeface="微软雅黑"/>
                          <a:ea typeface="微软雅黑"/>
                          <a:cs typeface="微软雅黑"/>
                        </a:rPr>
                        <a:t>数据结构</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只有总分与进度，没有能力项</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只有自然语言，结论不可落库</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53 张表，能力项 / 事实 / 结论全部结构化</a:t>
                      </a:r>
                    </a:p>
                  </a:txBody>
                  <a:tcPr marL="91440" marR="91440" marT="45720" marB="45720">
                    <a:solidFill>
                      <a:srgbClr val="0F3159"/>
                    </a:solidFill>
                  </a:tcPr>
                </a:tc>
              </a:tr>
              <a:tr h="495300">
                <a:tc>
                  <a:txBody>
                    <a:bodyPr/>
                    <a:lstStyle/>
                    <a:p>
                      <a:r>
                        <a:rPr sz="938" b="1">
                          <a:solidFill>
                            <a:srgbClr val="31C7F0"/>
                          </a:solidFill>
                          <a:latin typeface="微软雅黑"/>
                          <a:ea typeface="微软雅黑"/>
                          <a:cs typeface="微软雅黑"/>
                        </a:rPr>
                        <a:t>决策方式</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靠人读数据再拍板</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由模型直接生成结论</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规则引擎确定性匹配，同输入必同输出</a:t>
                      </a:r>
                    </a:p>
                  </a:txBody>
                  <a:tcPr marL="91440" marR="91440" marT="45720" marB="45720">
                    <a:solidFill>
                      <a:srgbClr val="0F3159"/>
                    </a:solidFill>
                  </a:tcPr>
                </a:tc>
              </a:tr>
              <a:tr h="495300">
                <a:tc>
                  <a:txBody>
                    <a:bodyPr/>
                    <a:lstStyle/>
                    <a:p>
                      <a:r>
                        <a:rPr sz="938" b="1">
                          <a:solidFill>
                            <a:srgbClr val="31C7F0"/>
                          </a:solidFill>
                          <a:latin typeface="微软雅黑"/>
                          <a:ea typeface="微软雅黑"/>
                          <a:cs typeface="微软雅黑"/>
                        </a:rPr>
                        <a:t>结论可解释</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无法说明依据</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无法说明依据，易编造</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每条结论带 rule_code、依据事实与置信度</a:t>
                      </a:r>
                    </a:p>
                  </a:txBody>
                  <a:tcPr marL="91440" marR="91440" marT="45720" marB="45720">
                    <a:solidFill>
                      <a:srgbClr val="0F3159"/>
                    </a:solidFill>
                  </a:tcPr>
                </a:tc>
              </a:tr>
              <a:tr h="495300">
                <a:tc>
                  <a:txBody>
                    <a:bodyPr/>
                    <a:lstStyle/>
                    <a:p>
                      <a:r>
                        <a:rPr sz="938" b="1">
                          <a:solidFill>
                            <a:srgbClr val="31C7F0"/>
                          </a:solidFill>
                          <a:latin typeface="微软雅黑"/>
                          <a:ea typeface="微软雅黑"/>
                          <a:cs typeface="微软雅黑"/>
                        </a:rPr>
                        <a:t>可复算</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不可复算</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不可复算（随机性）</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同输入连续 200 次，rule_refs 100% 一致</a:t>
                      </a:r>
                    </a:p>
                  </a:txBody>
                  <a:tcPr marL="91440" marR="91440" marT="45720" marB="45720">
                    <a:solidFill>
                      <a:srgbClr val="0F3159"/>
                    </a:solidFill>
                  </a:tcPr>
                </a:tc>
              </a:tr>
              <a:tr h="495300">
                <a:tc>
                  <a:txBody>
                    <a:bodyPr/>
                    <a:lstStyle/>
                    <a:p>
                      <a:r>
                        <a:rPr sz="938" b="1">
                          <a:solidFill>
                            <a:srgbClr val="31C7F0"/>
                          </a:solidFill>
                          <a:latin typeface="微软雅黑"/>
                          <a:ea typeface="微软雅黑"/>
                          <a:cs typeface="微软雅黑"/>
                        </a:rPr>
                        <a:t>可离线</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可离线但无智能</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断网即失效</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AI_ENABLED=false 时全链路仍可运行</a:t>
                      </a:r>
                    </a:p>
                  </a:txBody>
                  <a:tcPr marL="91440" marR="91440" marT="45720" marB="45720">
                    <a:solidFill>
                      <a:srgbClr val="0F3159"/>
                    </a:solidFill>
                  </a:tcPr>
                </a:tc>
              </a:tr>
              <a:tr h="495300">
                <a:tc>
                  <a:txBody>
                    <a:bodyPr/>
                    <a:lstStyle/>
                    <a:p>
                      <a:r>
                        <a:rPr sz="938" b="1">
                          <a:solidFill>
                            <a:srgbClr val="31C7F0"/>
                          </a:solidFill>
                          <a:latin typeface="微软雅黑"/>
                          <a:ea typeface="微软雅黑"/>
                          <a:cs typeface="微软雅黑"/>
                        </a:rPr>
                        <a:t>可审计</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纸质台账，难追溯</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无留痕</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建议 / 确认 / 执行 / 回滚三表同号留痕</a:t>
                      </a:r>
                    </a:p>
                  </a:txBody>
                  <a:tcPr marL="91440" marR="91440" marT="45720" marB="45720">
                    <a:solidFill>
                      <a:srgbClr val="0F3159"/>
                    </a:solidFill>
                  </a:tcPr>
                </a:tc>
              </a:tr>
              <a:tr h="495300">
                <a:tc>
                  <a:txBody>
                    <a:bodyPr/>
                    <a:lstStyle/>
                    <a:p>
                      <a:r>
                        <a:rPr sz="938" b="1">
                          <a:solidFill>
                            <a:srgbClr val="31C7F0"/>
                          </a:solidFill>
                          <a:latin typeface="微软雅黑"/>
                          <a:ea typeface="微软雅黑"/>
                          <a:cs typeface="微软雅黑"/>
                        </a:rPr>
                        <a:t>人工确认</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无</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无</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need_human_confirm=true，人工决定写入 decision_log</a:t>
                      </a:r>
                    </a:p>
                  </a:txBody>
                  <a:tcPr marL="91440" marR="91440" marT="45720" marB="45720">
                    <a:solidFill>
                      <a:srgbClr val="0F3159"/>
                    </a:solidFill>
                  </a:tcPr>
                </a:tc>
              </a:tr>
              <a:tr h="495300">
                <a:tc>
                  <a:txBody>
                    <a:bodyPr/>
                    <a:lstStyle/>
                    <a:p>
                      <a:r>
                        <a:rPr sz="938" b="1">
                          <a:solidFill>
                            <a:srgbClr val="31C7F0"/>
                          </a:solidFill>
                          <a:latin typeface="微软雅黑"/>
                          <a:ea typeface="微软雅黑"/>
                          <a:cs typeface="微软雅黑"/>
                        </a:rPr>
                        <a:t>岗位适配</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通用课程，与岗位脱节</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与岗位体系脱节</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岗位—技能—课程—考试—实操全链路打通</a:t>
                      </a:r>
                    </a:p>
                  </a:txBody>
                  <a:tcPr marL="91440" marR="91440" marT="45720" marB="45720">
                    <a:solidFill>
                      <a:srgbClr val="0F3159"/>
                    </a:solidFill>
                  </a:tcPr>
                </a:tc>
              </a:tr>
            </a:tbl>
          </a:graphicData>
        </a:graphic>
      </p:graphicFrame>
      <p:sp>
        <p:nvSpPr>
          <p:cNvPr id="12" name="">
            <a:extLst xmlns:a="http://schemas.openxmlformats.org/drawingml/2006/main">
              <a:ext uri="{FF2B5EF4-FFF2-40B4-BE49-F238E27FC236}">
                <a16:creationId xmlns:a16="http://schemas.microsoft.com/office/drawing/2014/main" id="{B8F940C9-CFED-4042-86DE-6CBE903EBA5A}"/>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7F9D8E7-ACEB-43EB-A5E6-D6E5A5A9C672}"/>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14" name="">
            <a:extLst xmlns:a="http://schemas.openxmlformats.org/drawingml/2006/main">
              <a:ext uri="{FF2B5EF4-FFF2-40B4-BE49-F238E27FC236}">
                <a16:creationId xmlns:a16="http://schemas.microsoft.com/office/drawing/2014/main" id="{EA4D3C4F-3031-41BD-AFAF-57052834F70A}"/>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08</a:t>
            </a:r>
          </a:p>
        </p:txBody>
      </p:sp>
    </p:spTree>
    <p:extLst>
      <p:ext uri="{BB962C8B-B14F-4D97-AF65-F5344CB8AC3E}">
        <p14:creationId xmlns:p14="http://schemas.microsoft.com/office/powerpoint/2010/main" val="355853189"/>
      </p:ext>
    </p:extLst>
  </p:cSld>
</p:sld>
</file>

<file path=ppt/slides/slide9.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BD6D90-3A6A-45D2-9A6D-C0141304AD18}"/>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8D67BB5-254F-44E6-9B40-E0B95B8C8AE4}"/>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B16B503-885D-4937-8034-C3B0CFCBC4EA}"/>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F1277DF-00C3-44C6-BA6C-DB06023F8E4C}"/>
              </a:ext>
            </a:extLst>
          </p:cNvPr>
          <p:cNvSpPr>
            <a:spLocks xmlns:a="http://schemas.openxmlformats.org/drawingml/2006/main" noGrp="1"/>
          </p:cNvSpPr>
          <p:nvPr/>
        </p:nvSpPr>
        <p:spPr>
          <a:xfrm xmlns:a="http://schemas.openxmlformats.org/drawingml/2006/main">
            <a:off x="857250" y="1866900"/>
            <a:ext cx="3810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0" b="1">
                <a:solidFill>
                  <a:srgbClr val="12365F"/>
                </a:solidFill>
                <a:latin typeface="Arial"/>
                <a:ea typeface="Arial"/>
                <a:cs typeface="Arial"/>
              </a:defRPr>
            </a:pPr>
            <a:r>
              <a:rPr sz="9000" b="1">
                <a:solidFill>
                  <a:srgbClr val="12365F"/>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0BF690F2-3D8D-4284-B270-865A5574F7F7}"/>
              </a:ext>
            </a:extLst>
          </p:cNvPr>
          <p:cNvSpPr>
            <a:spLocks xmlns:a="http://schemas.openxmlformats.org/drawingml/2006/main" noGrp="1"/>
          </p:cNvSpPr>
          <p:nvPr/>
        </p:nvSpPr>
        <p:spPr>
          <a:xfrm xmlns:a="http://schemas.openxmlformats.org/drawingml/2006/main">
            <a:off x="914400" y="2857500"/>
            <a:ext cx="666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3300" b="1">
                <a:solidFill>
                  <a:srgbClr val="FFFFFF"/>
                </a:solidFill>
                <a:latin typeface="微软雅黑"/>
                <a:ea typeface="微软雅黑"/>
                <a:cs typeface="微软雅黑"/>
              </a:defRPr>
            </a:pPr>
            <a:r>
              <a:rPr sz="3300" b="1">
                <a:solidFill>
                  <a:srgbClr val="FFFFFF"/>
                </a:solidFill>
                <a:latin typeface="微软雅黑"/>
                <a:ea typeface="微软雅黑"/>
                <a:cs typeface="微软雅黑"/>
              </a:rPr>
              <a:t>总体方案</a:t>
            </a:r>
          </a:p>
        </p:txBody>
      </p:sp>
      <p:sp>
        <p:nvSpPr>
          <p:cNvPr id="6" name="">
            <a:extLst xmlns:a="http://schemas.openxmlformats.org/drawingml/2006/main">
              <a:ext uri="{FF2B5EF4-FFF2-40B4-BE49-F238E27FC236}">
                <a16:creationId xmlns:a16="http://schemas.microsoft.com/office/drawing/2014/main" id="{A5F01911-F91A-4371-B6AC-6040FB81BD55}"/>
              </a:ext>
            </a:extLst>
          </p:cNvPr>
          <p:cNvSpPr>
            <a:spLocks xmlns:a="http://schemas.openxmlformats.org/drawingml/2006/main" noGrp="1"/>
          </p:cNvSpPr>
          <p:nvPr/>
        </p:nvSpPr>
        <p:spPr>
          <a:xfrm xmlns:a="http://schemas.openxmlformats.org/drawingml/2006/main">
            <a:off x="952500" y="348615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050" b="0">
                <a:solidFill>
                  <a:srgbClr val="31C7F0"/>
                </a:solidFill>
                <a:latin typeface="Arial"/>
                <a:ea typeface="Arial"/>
                <a:cs typeface="Arial"/>
              </a:defRPr>
            </a:pPr>
            <a:r>
              <a:rPr sz="1050" b="0">
                <a:solidFill>
                  <a:srgbClr val="31C7F0"/>
                </a:solidFill>
                <a:latin typeface="Arial"/>
                <a:ea typeface="Arial"/>
                <a:cs typeface="Arial"/>
              </a:rPr>
              <a:t>SOLUTION · ARCHITECTURE &amp; ROADMAP</a:t>
            </a:r>
          </a:p>
        </p:txBody>
      </p:sp>
      <p:sp>
        <p:nvSpPr>
          <p:cNvPr id="7" name="">
            <a:extLst xmlns:a="http://schemas.openxmlformats.org/drawingml/2006/main">
              <a:ext uri="{FF2B5EF4-FFF2-40B4-BE49-F238E27FC236}">
                <a16:creationId xmlns:a16="http://schemas.microsoft.com/office/drawing/2014/main" id="{26D9C1FD-B699-4E88-BEFC-FF4334A36518}"/>
              </a:ext>
            </a:extLst>
          </p:cNvPr>
          <p:cNvSpPr>
            <a:spLocks xmlns:a="http://schemas.openxmlformats.org/drawingml/2006/main" noGrp="1"/>
          </p:cNvSpPr>
          <p:nvPr/>
        </p:nvSpPr>
        <p:spPr>
          <a:xfrm xmlns:a="http://schemas.openxmlformats.org/drawingml/2006/main">
            <a:off x="952500" y="3905250"/>
            <a:ext cx="857250" cy="28575"/>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752B674-5EEF-4382-B86B-78A8E59E5E1C}"/>
              </a:ext>
            </a:extLst>
          </p:cNvPr>
          <p:cNvSpPr>
            <a:spLocks xmlns:a="http://schemas.openxmlformats.org/drawingml/2006/main" noGrp="1"/>
          </p:cNvSpPr>
          <p:nvPr/>
        </p:nvSpPr>
        <p:spPr>
          <a:xfrm xmlns:a="http://schemas.openxmlformats.org/drawingml/2006/main">
            <a:off x="952500" y="4152900"/>
            <a:ext cx="590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90000"/>
              </a:lnSpc>
              <a:buNone/>
              <a:defRPr sz="1125">
                <a:solidFill>
                  <a:srgbClr val="9FC2E8"/>
                </a:solidFill>
                <a:latin typeface="微软雅黑"/>
                <a:ea typeface="微软雅黑"/>
                <a:cs typeface="微软雅黑"/>
              </a:defRPr>
            </a:pPr>
            <a:r>
              <a:rPr sz="1125">
                <a:solidFill>
                  <a:srgbClr val="9FC2E8"/>
                </a:solidFill>
                <a:latin typeface="微软雅黑"/>
                <a:ea typeface="微软雅黑"/>
                <a:cs typeface="微软雅黑"/>
              </a:rPr>
              <a:t>先给出系统边界与总体框架，再谈算法细节</a:t>
            </a:r>
          </a:p>
          <a:p xmlns:a="http://schemas.openxmlformats.org/drawingml/2006/main">
            <a:pPr algn="l">
              <a:lnSpc>
                <a:spcPct val="190000"/>
              </a:lnSpc>
              <a:buNone/>
              <a:defRPr sz="1125">
                <a:solidFill>
                  <a:srgbClr val="9FC2E8"/>
                </a:solidFill>
                <a:latin typeface="微软雅黑"/>
                <a:ea typeface="微软雅黑"/>
                <a:cs typeface="微软雅黑"/>
              </a:defRPr>
            </a:pPr>
            <a:r>
              <a:rPr sz="1125">
                <a:solidFill>
                  <a:srgbClr val="9FC2E8"/>
                </a:solidFill>
                <a:latin typeface="微软雅黑"/>
                <a:ea typeface="微软雅黑"/>
                <a:cs typeface="微软雅黑"/>
              </a:rPr>
              <a:t>五层架构：应用层 / 智能层 / 数据层 / 留痕层 / 部署层</a:t>
            </a:r>
          </a:p>
          <a:p xmlns:a="http://schemas.openxmlformats.org/drawingml/2006/main">
            <a:pPr algn="l">
              <a:lnSpc>
                <a:spcPct val="190000"/>
              </a:lnSpc>
              <a:buNone/>
              <a:defRPr sz="1125">
                <a:solidFill>
                  <a:srgbClr val="9FC2E8"/>
                </a:solidFill>
                <a:latin typeface="微软雅黑"/>
                <a:ea typeface="微软雅黑"/>
                <a:cs typeface="微软雅黑"/>
              </a:defRPr>
            </a:pPr>
            <a:r>
              <a:rPr sz="1125">
                <a:solidFill>
                  <a:srgbClr val="9FC2E8"/>
                </a:solidFill>
                <a:latin typeface="微软雅黑"/>
                <a:ea typeface="微软雅黑"/>
                <a:cs typeface="微软雅黑"/>
              </a:rPr>
              <a:t>四项核心创新点，构成与通用方案的本质差异</a:t>
            </a:r>
          </a:p>
        </p:txBody>
      </p:sp>
    </p:spTree>
    <p:extLst>
      <p:ext uri="{BB962C8B-B14F-4D97-AF65-F5344CB8AC3E}">
        <p14:creationId xmlns:p14="http://schemas.microsoft.com/office/powerpoint/2010/main" val="206078335"/>
      </p:ext>
    </p:extLst>
  </p:cSld>
</p:sld>
</file>

<file path=ppt/slides/slide10.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BE31E61E-0308-4A5C-8A90-7AE31A8F16DE}"/>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F78AAA0-BFB8-484D-B6AC-3CB690B73698}"/>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8DFFD9E-60D9-44A9-A908-A961D9D6D7CD}"/>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E732688-0C60-4FD3-8543-D0C152311A1E}"/>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4289730-5E40-4073-B74C-58FC862F90B5}"/>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5FB3E1B8-AB9C-45C8-AAA9-2218A69AE82C}"/>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总体方案</a:t>
            </a:r>
          </a:p>
        </p:txBody>
      </p:sp>
      <p:sp>
        <p:nvSpPr>
          <p:cNvPr id="7" name="">
            <a:extLst xmlns:a="http://schemas.openxmlformats.org/drawingml/2006/main">
              <a:ext uri="{FF2B5EF4-FFF2-40B4-BE49-F238E27FC236}">
                <a16:creationId xmlns:a16="http://schemas.microsoft.com/office/drawing/2014/main" id="{17CAF103-BD47-4B94-825C-96804BC20479}"/>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03DFB74-3C2C-4950-ACB6-850B0CD347E8}"/>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系统总体框架</a:t>
            </a:r>
          </a:p>
        </p:txBody>
      </p:sp>
      <p:sp>
        <p:nvSpPr>
          <p:cNvPr id="9" name="">
            <a:extLst xmlns:a="http://schemas.openxmlformats.org/drawingml/2006/main">
              <a:ext uri="{FF2B5EF4-FFF2-40B4-BE49-F238E27FC236}">
                <a16:creationId xmlns:a16="http://schemas.microsoft.com/office/drawing/2014/main" id="{4DC1130D-3BF4-4F9A-BC3F-2074CA0BBED8}"/>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8AB01D82-294B-42EF-ADE0-4AEE1BDF812E}"/>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一套 MySQL 数据底座 + 规则 / 模型 / 人工三层分离，让系统边界清晰、结论可替换。</a:t>
            </a:r>
          </a:p>
        </p:txBody>
      </p:sp>
      <p:sp>
        <p:nvSpPr>
          <p:cNvPr id="11" name="">
            <a:extLst xmlns:a="http://schemas.openxmlformats.org/drawingml/2006/main">
              <a:ext uri="{FF2B5EF4-FFF2-40B4-BE49-F238E27FC236}">
                <a16:creationId xmlns:a16="http://schemas.microsoft.com/office/drawing/2014/main" id="{9E8EEFA8-1169-4154-A5DF-7DFBD64B1A8A}"/>
              </a:ext>
            </a:extLst>
          </p:cNvPr>
          <p:cNvSpPr>
            <a:spLocks xmlns:a="http://schemas.openxmlformats.org/drawingml/2006/main" noGrp="1"/>
          </p:cNvSpPr>
          <p:nvPr/>
        </p:nvSpPr>
        <p:spPr>
          <a:xfrm xmlns:a="http://schemas.openxmlformats.org/drawingml/2006/main">
            <a:off x="285750" y="1333500"/>
            <a:ext cx="11620500" cy="838200"/>
          </a:xfrm>
          <a:prstGeom xmlns:a="http://schemas.openxmlformats.org/drawingml/2006/main" prst="roundRect">
            <a:avLst>
              <a:gd name="adj" fmla="val 9091"/>
            </a:avLst>
          </a:prstGeom>
          <a:solidFill xmlns:a="http://schemas.openxmlformats.org/drawingml/2006/main">
            <a:srgbClr val="0F3159"/>
          </a:solidFill>
          <a:ln xmlns:a="http://schemas.openxmlformats.org/drawingml/2006/main" w="9525">
            <a:solidFill>
              <a:srgbClr val="1B4C8A"/>
            </a:solidFill>
            <a:prstDash val="solid"/>
          </a:ln>
        </p:spPr>
      </p:sp>
      <p:sp>
        <p:nvSpPr>
          <p:cNvPr id="12" name="">
            <a:extLst xmlns:a="http://schemas.openxmlformats.org/drawingml/2006/main">
              <a:ext uri="{FF2B5EF4-FFF2-40B4-BE49-F238E27FC236}">
                <a16:creationId xmlns:a16="http://schemas.microsoft.com/office/drawing/2014/main" id="{69BA9521-0457-4F36-A2E0-8625AD0971F0}"/>
              </a:ext>
            </a:extLst>
          </p:cNvPr>
          <p:cNvSpPr>
            <a:spLocks xmlns:a="http://schemas.openxmlformats.org/drawingml/2006/main" noGrp="1"/>
          </p:cNvSpPr>
          <p:nvPr/>
        </p:nvSpPr>
        <p:spPr>
          <a:xfrm xmlns:a="http://schemas.openxmlformats.org/drawingml/2006/main">
            <a:off x="285750" y="1333500"/>
            <a:ext cx="47625" cy="838200"/>
          </a:xfrm>
          <a:prstGeom xmlns:a="http://schemas.openxmlformats.org/drawingml/2006/main" prst="rect">
            <a:avLst/>
          </a:prstGeom>
          <a:solidFill xmlns:a="http://schemas.openxmlformats.org/drawingml/2006/main">
            <a:srgbClr val="31C7F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170A897-A4E5-4A88-AB3E-CAA7A24220AD}"/>
              </a:ext>
            </a:extLst>
          </p:cNvPr>
          <p:cNvSpPr>
            <a:spLocks xmlns:a="http://schemas.openxmlformats.org/drawingml/2006/main" noGrp="1"/>
          </p:cNvSpPr>
          <p:nvPr/>
        </p:nvSpPr>
        <p:spPr>
          <a:xfrm xmlns:a="http://schemas.openxmlformats.org/drawingml/2006/main">
            <a:off x="457200" y="1600200"/>
            <a:ext cx="1028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31C7F0"/>
                </a:solidFill>
                <a:latin typeface="微软雅黑"/>
                <a:ea typeface="微软雅黑"/>
                <a:cs typeface="微软雅黑"/>
              </a:defRPr>
            </a:pPr>
            <a:r>
              <a:rPr sz="1275" b="1">
                <a:solidFill>
                  <a:srgbClr val="31C7F0"/>
                </a:solidFill>
                <a:latin typeface="微软雅黑"/>
                <a:ea typeface="微软雅黑"/>
                <a:cs typeface="微软雅黑"/>
              </a:rPr>
              <a:t>应用层</a:t>
            </a:r>
          </a:p>
        </p:txBody>
      </p:sp>
      <p:sp>
        <p:nvSpPr>
          <p:cNvPr id="14" name="">
            <a:extLst xmlns:a="http://schemas.openxmlformats.org/drawingml/2006/main">
              <a:ext uri="{FF2B5EF4-FFF2-40B4-BE49-F238E27FC236}">
                <a16:creationId xmlns:a16="http://schemas.microsoft.com/office/drawing/2014/main" id="{5BE1D83D-2A65-4091-B738-173BC402E899}"/>
              </a:ext>
            </a:extLst>
          </p:cNvPr>
          <p:cNvSpPr>
            <a:spLocks xmlns:a="http://schemas.openxmlformats.org/drawingml/2006/main" noGrp="1"/>
          </p:cNvSpPr>
          <p:nvPr/>
        </p:nvSpPr>
        <p:spPr>
          <a:xfrm xmlns:a="http://schemas.openxmlformats.org/drawingml/2006/main">
            <a:off x="1600200" y="1466850"/>
            <a:ext cx="1924050" cy="342900"/>
          </a:xfrm>
          <a:prstGeom xmlns:a="http://schemas.openxmlformats.org/drawingml/2006/main" prst="roundRect">
            <a:avLst>
              <a:gd name="adj" fmla="val 16667"/>
            </a:avLst>
          </a:prstGeom>
          <a:solidFill xmlns:a="http://schemas.openxmlformats.org/drawingml/2006/main">
            <a:srgbClr val="0A2244"/>
          </a:solidFill>
          <a:ln xmlns:a="http://schemas.openxmlformats.org/drawingml/2006/main" w="9525">
            <a:solidFill>
              <a:srgbClr val="1A4478"/>
            </a:solidFill>
            <a:prstDash val="solid"/>
          </a:ln>
        </p:spPr>
      </p:sp>
      <p:sp>
        <p:nvSpPr>
          <p:cNvPr id="15" name="">
            <a:extLst xmlns:a="http://schemas.openxmlformats.org/drawingml/2006/main">
              <a:ext uri="{FF2B5EF4-FFF2-40B4-BE49-F238E27FC236}">
                <a16:creationId xmlns:a16="http://schemas.microsoft.com/office/drawing/2014/main" id="{D939B1DF-E963-4F60-9FF2-27CFB5891910}"/>
              </a:ext>
            </a:extLst>
          </p:cNvPr>
          <p:cNvSpPr>
            <a:spLocks xmlns:a="http://schemas.openxmlformats.org/drawingml/2006/main" noGrp="1"/>
          </p:cNvSpPr>
          <p:nvPr/>
        </p:nvSpPr>
        <p:spPr>
          <a:xfrm xmlns:a="http://schemas.openxmlformats.org/drawingml/2006/main">
            <a:off x="1600200" y="1466850"/>
            <a:ext cx="1924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个人系统</a:t>
            </a:r>
          </a:p>
        </p:txBody>
      </p:sp>
      <p:sp>
        <p:nvSpPr>
          <p:cNvPr id="16" name="">
            <a:extLst xmlns:a="http://schemas.openxmlformats.org/drawingml/2006/main">
              <a:ext uri="{FF2B5EF4-FFF2-40B4-BE49-F238E27FC236}">
                <a16:creationId xmlns:a16="http://schemas.microsoft.com/office/drawing/2014/main" id="{D28AEC7F-E818-4D5A-A7FC-07D83F094DAE}"/>
              </a:ext>
            </a:extLst>
          </p:cNvPr>
          <p:cNvSpPr>
            <a:spLocks xmlns:a="http://schemas.openxmlformats.org/drawingml/2006/main" noGrp="1"/>
          </p:cNvSpPr>
          <p:nvPr/>
        </p:nvSpPr>
        <p:spPr>
          <a:xfrm xmlns:a="http://schemas.openxmlformats.org/drawingml/2006/main">
            <a:off x="3638550" y="1466850"/>
            <a:ext cx="1924050" cy="342900"/>
          </a:xfrm>
          <a:prstGeom xmlns:a="http://schemas.openxmlformats.org/drawingml/2006/main" prst="roundRect">
            <a:avLst>
              <a:gd name="adj" fmla="val 16667"/>
            </a:avLst>
          </a:prstGeom>
          <a:solidFill xmlns:a="http://schemas.openxmlformats.org/drawingml/2006/main">
            <a:srgbClr val="0A2244"/>
          </a:solidFill>
          <a:ln xmlns:a="http://schemas.openxmlformats.org/drawingml/2006/main" w="9525">
            <a:solidFill>
              <a:srgbClr val="1A4478"/>
            </a:solidFill>
            <a:prstDash val="solid"/>
          </a:ln>
        </p:spPr>
      </p:sp>
      <p:sp>
        <p:nvSpPr>
          <p:cNvPr id="17" name="">
            <a:extLst xmlns:a="http://schemas.openxmlformats.org/drawingml/2006/main">
              <a:ext uri="{FF2B5EF4-FFF2-40B4-BE49-F238E27FC236}">
                <a16:creationId xmlns:a16="http://schemas.microsoft.com/office/drawing/2014/main" id="{5F399262-03FF-4E4F-AA46-ED4F6696EB7B}"/>
              </a:ext>
            </a:extLst>
          </p:cNvPr>
          <p:cNvSpPr>
            <a:spLocks xmlns:a="http://schemas.openxmlformats.org/drawingml/2006/main" noGrp="1"/>
          </p:cNvSpPr>
          <p:nvPr/>
        </p:nvSpPr>
        <p:spPr>
          <a:xfrm xmlns:a="http://schemas.openxmlformats.org/drawingml/2006/main">
            <a:off x="3638550" y="1466850"/>
            <a:ext cx="1924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考试系统</a:t>
            </a:r>
          </a:p>
        </p:txBody>
      </p:sp>
      <p:sp>
        <p:nvSpPr>
          <p:cNvPr id="18" name="">
            <a:extLst xmlns:a="http://schemas.openxmlformats.org/drawingml/2006/main">
              <a:ext uri="{FF2B5EF4-FFF2-40B4-BE49-F238E27FC236}">
                <a16:creationId xmlns:a16="http://schemas.microsoft.com/office/drawing/2014/main" id="{A8D7A8F8-0AF7-42AB-80D8-4BF6004AC80E}"/>
              </a:ext>
            </a:extLst>
          </p:cNvPr>
          <p:cNvSpPr>
            <a:spLocks xmlns:a="http://schemas.openxmlformats.org/drawingml/2006/main" noGrp="1"/>
          </p:cNvSpPr>
          <p:nvPr/>
        </p:nvSpPr>
        <p:spPr>
          <a:xfrm xmlns:a="http://schemas.openxmlformats.org/drawingml/2006/main">
            <a:off x="5676900" y="1466850"/>
            <a:ext cx="1924050" cy="342900"/>
          </a:xfrm>
          <a:prstGeom xmlns:a="http://schemas.openxmlformats.org/drawingml/2006/main" prst="roundRect">
            <a:avLst>
              <a:gd name="adj" fmla="val 16667"/>
            </a:avLst>
          </a:prstGeom>
          <a:solidFill xmlns:a="http://schemas.openxmlformats.org/drawingml/2006/main">
            <a:srgbClr val="0A2244"/>
          </a:solidFill>
          <a:ln xmlns:a="http://schemas.openxmlformats.org/drawingml/2006/main" w="9525">
            <a:solidFill>
              <a:srgbClr val="1A4478"/>
            </a:solidFill>
            <a:prstDash val="solid"/>
          </a:ln>
        </p:spPr>
      </p:sp>
      <p:sp>
        <p:nvSpPr>
          <p:cNvPr id="19" name="">
            <a:extLst xmlns:a="http://schemas.openxmlformats.org/drawingml/2006/main">
              <a:ext uri="{FF2B5EF4-FFF2-40B4-BE49-F238E27FC236}">
                <a16:creationId xmlns:a16="http://schemas.microsoft.com/office/drawing/2014/main" id="{569C3508-2A05-4B9B-B44F-548FE431ECF4}"/>
              </a:ext>
            </a:extLst>
          </p:cNvPr>
          <p:cNvSpPr>
            <a:spLocks xmlns:a="http://schemas.openxmlformats.org/drawingml/2006/main" noGrp="1"/>
          </p:cNvSpPr>
          <p:nvPr/>
        </p:nvSpPr>
        <p:spPr>
          <a:xfrm xmlns:a="http://schemas.openxmlformats.org/drawingml/2006/main">
            <a:off x="5676900" y="1466850"/>
            <a:ext cx="1924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老总管理板块</a:t>
            </a:r>
          </a:p>
        </p:txBody>
      </p:sp>
      <p:sp>
        <p:nvSpPr>
          <p:cNvPr id="20" name="">
            <a:extLst xmlns:a="http://schemas.openxmlformats.org/drawingml/2006/main">
              <a:ext uri="{FF2B5EF4-FFF2-40B4-BE49-F238E27FC236}">
                <a16:creationId xmlns:a16="http://schemas.microsoft.com/office/drawing/2014/main" id="{5712400D-1139-4FEA-87D3-422EBD95E875}"/>
              </a:ext>
            </a:extLst>
          </p:cNvPr>
          <p:cNvSpPr>
            <a:spLocks xmlns:a="http://schemas.openxmlformats.org/drawingml/2006/main" noGrp="1"/>
          </p:cNvSpPr>
          <p:nvPr/>
        </p:nvSpPr>
        <p:spPr>
          <a:xfrm xmlns:a="http://schemas.openxmlformats.org/drawingml/2006/main">
            <a:off x="7715250" y="1466850"/>
            <a:ext cx="1924050" cy="342900"/>
          </a:xfrm>
          <a:prstGeom xmlns:a="http://schemas.openxmlformats.org/drawingml/2006/main" prst="roundRect">
            <a:avLst>
              <a:gd name="adj" fmla="val 16667"/>
            </a:avLst>
          </a:prstGeom>
          <a:solidFill xmlns:a="http://schemas.openxmlformats.org/drawingml/2006/main">
            <a:srgbClr val="0A2244"/>
          </a:solidFill>
          <a:ln xmlns:a="http://schemas.openxmlformats.org/drawingml/2006/main" w="9525">
            <a:solidFill>
              <a:srgbClr val="1A4478"/>
            </a:solidFill>
            <a:prstDash val="solid"/>
          </a:ln>
        </p:spPr>
      </p:sp>
      <p:sp>
        <p:nvSpPr>
          <p:cNvPr id="21" name="">
            <a:extLst xmlns:a="http://schemas.openxmlformats.org/drawingml/2006/main">
              <a:ext uri="{FF2B5EF4-FFF2-40B4-BE49-F238E27FC236}">
                <a16:creationId xmlns:a16="http://schemas.microsoft.com/office/drawing/2014/main" id="{CCE82A10-2237-4801-8582-237DE2850E33}"/>
              </a:ext>
            </a:extLst>
          </p:cNvPr>
          <p:cNvSpPr>
            <a:spLocks xmlns:a="http://schemas.openxmlformats.org/drawingml/2006/main" noGrp="1"/>
          </p:cNvSpPr>
          <p:nvPr/>
        </p:nvSpPr>
        <p:spPr>
          <a:xfrm xmlns:a="http://schemas.openxmlformats.org/drawingml/2006/main">
            <a:off x="7715250" y="1466850"/>
            <a:ext cx="1924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管理员后台</a:t>
            </a:r>
          </a:p>
        </p:txBody>
      </p:sp>
      <p:sp>
        <p:nvSpPr>
          <p:cNvPr id="22" name="">
            <a:extLst xmlns:a="http://schemas.openxmlformats.org/drawingml/2006/main">
              <a:ext uri="{FF2B5EF4-FFF2-40B4-BE49-F238E27FC236}">
                <a16:creationId xmlns:a16="http://schemas.microsoft.com/office/drawing/2014/main" id="{2D339DEB-5828-45C8-A9F5-AEF2477D0263}"/>
              </a:ext>
            </a:extLst>
          </p:cNvPr>
          <p:cNvSpPr>
            <a:spLocks xmlns:a="http://schemas.openxmlformats.org/drawingml/2006/main" noGrp="1"/>
          </p:cNvSpPr>
          <p:nvPr/>
        </p:nvSpPr>
        <p:spPr>
          <a:xfrm xmlns:a="http://schemas.openxmlformats.org/drawingml/2006/main">
            <a:off x="1600200" y="18859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员工看短板 · 统一开考评卷 · 高层看缺口 · 管理员配规则</a:t>
            </a:r>
          </a:p>
        </p:txBody>
      </p:sp>
      <p:sp>
        <p:nvSpPr>
          <p:cNvPr id="23" name="">
            <a:extLst xmlns:a="http://schemas.openxmlformats.org/drawingml/2006/main">
              <a:ext uri="{FF2B5EF4-FFF2-40B4-BE49-F238E27FC236}">
                <a16:creationId xmlns:a16="http://schemas.microsoft.com/office/drawing/2014/main" id="{4F74EF23-E325-47D6-8E0A-EF0D74640AF5}"/>
              </a:ext>
            </a:extLst>
          </p:cNvPr>
          <p:cNvSpPr>
            <a:spLocks xmlns:a="http://schemas.openxmlformats.org/drawingml/2006/main" noGrp="1"/>
          </p:cNvSpPr>
          <p:nvPr/>
        </p:nvSpPr>
        <p:spPr>
          <a:xfrm xmlns:a="http://schemas.openxmlformats.org/drawingml/2006/main">
            <a:off x="285750" y="2286000"/>
            <a:ext cx="11620500" cy="838200"/>
          </a:xfrm>
          <a:prstGeom xmlns:a="http://schemas.openxmlformats.org/drawingml/2006/main" prst="roundRect">
            <a:avLst>
              <a:gd name="adj" fmla="val 9091"/>
            </a:avLst>
          </a:prstGeom>
          <a:solidFill xmlns:a="http://schemas.openxmlformats.org/drawingml/2006/main">
            <a:srgbClr val="0C2A50"/>
          </a:solidFill>
          <a:ln xmlns:a="http://schemas.openxmlformats.org/drawingml/2006/main" w="9525">
            <a:solidFill>
              <a:srgbClr val="1B4C8A"/>
            </a:solidFill>
            <a:prstDash val="solid"/>
          </a:ln>
        </p:spPr>
      </p:sp>
      <p:sp>
        <p:nvSpPr>
          <p:cNvPr id="24" name="">
            <a:extLst xmlns:a="http://schemas.openxmlformats.org/drawingml/2006/main">
              <a:ext uri="{FF2B5EF4-FFF2-40B4-BE49-F238E27FC236}">
                <a16:creationId xmlns:a16="http://schemas.microsoft.com/office/drawing/2014/main" id="{05CE02EE-9620-47CE-93BE-9AB3EE3CE178}"/>
              </a:ext>
            </a:extLst>
          </p:cNvPr>
          <p:cNvSpPr>
            <a:spLocks xmlns:a="http://schemas.openxmlformats.org/drawingml/2006/main" noGrp="1"/>
          </p:cNvSpPr>
          <p:nvPr/>
        </p:nvSpPr>
        <p:spPr>
          <a:xfrm xmlns:a="http://schemas.openxmlformats.org/drawingml/2006/main">
            <a:off x="285750" y="2286000"/>
            <a:ext cx="47625" cy="838200"/>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A7D4E70-AFC6-4743-97E7-1A976542B710}"/>
              </a:ext>
            </a:extLst>
          </p:cNvPr>
          <p:cNvSpPr>
            <a:spLocks xmlns:a="http://schemas.openxmlformats.org/drawingml/2006/main" noGrp="1"/>
          </p:cNvSpPr>
          <p:nvPr/>
        </p:nvSpPr>
        <p:spPr>
          <a:xfrm xmlns:a="http://schemas.openxmlformats.org/drawingml/2006/main">
            <a:off x="457200" y="2552700"/>
            <a:ext cx="1028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2E86E8"/>
                </a:solidFill>
                <a:latin typeface="微软雅黑"/>
                <a:ea typeface="微软雅黑"/>
                <a:cs typeface="微软雅黑"/>
              </a:defRPr>
            </a:pPr>
            <a:r>
              <a:rPr sz="1275" b="1">
                <a:solidFill>
                  <a:srgbClr val="2E86E8"/>
                </a:solidFill>
                <a:latin typeface="微软雅黑"/>
                <a:ea typeface="微软雅黑"/>
                <a:cs typeface="微软雅黑"/>
              </a:rPr>
              <a:t>智能层</a:t>
            </a:r>
          </a:p>
        </p:txBody>
      </p:sp>
      <p:sp>
        <p:nvSpPr>
          <p:cNvPr id="26" name="">
            <a:extLst xmlns:a="http://schemas.openxmlformats.org/drawingml/2006/main">
              <a:ext uri="{FF2B5EF4-FFF2-40B4-BE49-F238E27FC236}">
                <a16:creationId xmlns:a16="http://schemas.microsoft.com/office/drawing/2014/main" id="{1AE1A662-2BFB-4EAE-A360-20E06579DA00}"/>
              </a:ext>
            </a:extLst>
          </p:cNvPr>
          <p:cNvSpPr>
            <a:spLocks xmlns:a="http://schemas.openxmlformats.org/drawingml/2006/main" noGrp="1"/>
          </p:cNvSpPr>
          <p:nvPr/>
        </p:nvSpPr>
        <p:spPr>
          <a:xfrm xmlns:a="http://schemas.openxmlformats.org/drawingml/2006/main">
            <a:off x="1600200" y="2419350"/>
            <a:ext cx="1924050" cy="342900"/>
          </a:xfrm>
          <a:prstGeom xmlns:a="http://schemas.openxmlformats.org/drawingml/2006/main" prst="roundRect">
            <a:avLst>
              <a:gd name="adj" fmla="val 16667"/>
            </a:avLst>
          </a:prstGeom>
          <a:solidFill xmlns:a="http://schemas.openxmlformats.org/drawingml/2006/main">
            <a:srgbClr val="0A2244"/>
          </a:solidFill>
          <a:ln xmlns:a="http://schemas.openxmlformats.org/drawingml/2006/main" w="9525">
            <a:solidFill>
              <a:srgbClr val="1A4478"/>
            </a:solidFill>
            <a:prstDash val="solid"/>
          </a:ln>
        </p:spPr>
      </p:sp>
      <p:sp>
        <p:nvSpPr>
          <p:cNvPr id="27" name="">
            <a:extLst xmlns:a="http://schemas.openxmlformats.org/drawingml/2006/main">
              <a:ext uri="{FF2B5EF4-FFF2-40B4-BE49-F238E27FC236}">
                <a16:creationId xmlns:a16="http://schemas.microsoft.com/office/drawing/2014/main" id="{6F68F5BF-CADD-4116-907C-9600DDE0A244}"/>
              </a:ext>
            </a:extLst>
          </p:cNvPr>
          <p:cNvSpPr>
            <a:spLocks xmlns:a="http://schemas.openxmlformats.org/drawingml/2006/main" noGrp="1"/>
          </p:cNvSpPr>
          <p:nvPr/>
        </p:nvSpPr>
        <p:spPr>
          <a:xfrm xmlns:a="http://schemas.openxmlformats.org/drawingml/2006/main">
            <a:off x="1600200" y="2419350"/>
            <a:ext cx="1924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规则引擎 RuleEngine</a:t>
            </a:r>
          </a:p>
        </p:txBody>
      </p:sp>
      <p:sp>
        <p:nvSpPr>
          <p:cNvPr id="28" name="">
            <a:extLst xmlns:a="http://schemas.openxmlformats.org/drawingml/2006/main">
              <a:ext uri="{FF2B5EF4-FFF2-40B4-BE49-F238E27FC236}">
                <a16:creationId xmlns:a16="http://schemas.microsoft.com/office/drawing/2014/main" id="{E64FE276-FED6-455C-9C12-E3BC9BA34755}"/>
              </a:ext>
            </a:extLst>
          </p:cNvPr>
          <p:cNvSpPr>
            <a:spLocks xmlns:a="http://schemas.openxmlformats.org/drawingml/2006/main" noGrp="1"/>
          </p:cNvSpPr>
          <p:nvPr/>
        </p:nvSpPr>
        <p:spPr>
          <a:xfrm xmlns:a="http://schemas.openxmlformats.org/drawingml/2006/main">
            <a:off x="3638550" y="2419350"/>
            <a:ext cx="1924050" cy="342900"/>
          </a:xfrm>
          <a:prstGeom xmlns:a="http://schemas.openxmlformats.org/drawingml/2006/main" prst="roundRect">
            <a:avLst>
              <a:gd name="adj" fmla="val 16667"/>
            </a:avLst>
          </a:prstGeom>
          <a:solidFill xmlns:a="http://schemas.openxmlformats.org/drawingml/2006/main">
            <a:srgbClr val="0A2244"/>
          </a:solidFill>
          <a:ln xmlns:a="http://schemas.openxmlformats.org/drawingml/2006/main" w="9525">
            <a:solidFill>
              <a:srgbClr val="1A4478"/>
            </a:solidFill>
            <a:prstDash val="solid"/>
          </a:ln>
        </p:spPr>
      </p:sp>
      <p:sp>
        <p:nvSpPr>
          <p:cNvPr id="29" name="">
            <a:extLst xmlns:a="http://schemas.openxmlformats.org/drawingml/2006/main">
              <a:ext uri="{FF2B5EF4-FFF2-40B4-BE49-F238E27FC236}">
                <a16:creationId xmlns:a16="http://schemas.microsoft.com/office/drawing/2014/main" id="{2B313ECD-02A2-4205-A1DE-B328306AA432}"/>
              </a:ext>
            </a:extLst>
          </p:cNvPr>
          <p:cNvSpPr>
            <a:spLocks xmlns:a="http://schemas.openxmlformats.org/drawingml/2006/main" noGrp="1"/>
          </p:cNvSpPr>
          <p:nvPr/>
        </p:nvSpPr>
        <p:spPr>
          <a:xfrm xmlns:a="http://schemas.openxmlformats.org/drawingml/2006/main">
            <a:off x="3638550" y="2419350"/>
            <a:ext cx="1924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三个 Agent 接口桩</a:t>
            </a:r>
          </a:p>
        </p:txBody>
      </p:sp>
      <p:sp>
        <p:nvSpPr>
          <p:cNvPr id="30" name="">
            <a:extLst xmlns:a="http://schemas.openxmlformats.org/drawingml/2006/main">
              <a:ext uri="{FF2B5EF4-FFF2-40B4-BE49-F238E27FC236}">
                <a16:creationId xmlns:a16="http://schemas.microsoft.com/office/drawing/2014/main" id="{89CF46F5-124B-444D-AE47-9624FF03C15B}"/>
              </a:ext>
            </a:extLst>
          </p:cNvPr>
          <p:cNvSpPr>
            <a:spLocks xmlns:a="http://schemas.openxmlformats.org/drawingml/2006/main" noGrp="1"/>
          </p:cNvSpPr>
          <p:nvPr/>
        </p:nvSpPr>
        <p:spPr>
          <a:xfrm xmlns:a="http://schemas.openxmlformats.org/drawingml/2006/main">
            <a:off x="5676900" y="2419350"/>
            <a:ext cx="1924050" cy="342900"/>
          </a:xfrm>
          <a:prstGeom xmlns:a="http://schemas.openxmlformats.org/drawingml/2006/main" prst="roundRect">
            <a:avLst>
              <a:gd name="adj" fmla="val 16667"/>
            </a:avLst>
          </a:prstGeom>
          <a:solidFill xmlns:a="http://schemas.openxmlformats.org/drawingml/2006/main">
            <a:srgbClr val="0A2244"/>
          </a:solidFill>
          <a:ln xmlns:a="http://schemas.openxmlformats.org/drawingml/2006/main" w="9525">
            <a:solidFill>
              <a:srgbClr val="1A4478"/>
            </a:solidFill>
            <a:prstDash val="solid"/>
          </a:ln>
        </p:spPr>
      </p:sp>
      <p:sp>
        <p:nvSpPr>
          <p:cNvPr id="31" name="">
            <a:extLst xmlns:a="http://schemas.openxmlformats.org/drawingml/2006/main">
              <a:ext uri="{FF2B5EF4-FFF2-40B4-BE49-F238E27FC236}">
                <a16:creationId xmlns:a16="http://schemas.microsoft.com/office/drawing/2014/main" id="{B445F9E4-CBAA-4856-90C0-381B9CA34FC3}"/>
              </a:ext>
            </a:extLst>
          </p:cNvPr>
          <p:cNvSpPr>
            <a:spLocks xmlns:a="http://schemas.openxmlformats.org/drawingml/2006/main" noGrp="1"/>
          </p:cNvSpPr>
          <p:nvPr/>
        </p:nvSpPr>
        <p:spPr>
          <a:xfrm xmlns:a="http://schemas.openxmlformats.org/drawingml/2006/main">
            <a:off x="5676900" y="2419350"/>
            <a:ext cx="1924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source=rule → model</a:t>
            </a:r>
          </a:p>
        </p:txBody>
      </p:sp>
      <p:sp>
        <p:nvSpPr>
          <p:cNvPr id="32" name="">
            <a:extLst xmlns:a="http://schemas.openxmlformats.org/drawingml/2006/main">
              <a:ext uri="{FF2B5EF4-FFF2-40B4-BE49-F238E27FC236}">
                <a16:creationId xmlns:a16="http://schemas.microsoft.com/office/drawing/2014/main" id="{E98D82E2-E448-4A35-A99C-4334F09DC7F1}"/>
              </a:ext>
            </a:extLst>
          </p:cNvPr>
          <p:cNvSpPr>
            <a:spLocks xmlns:a="http://schemas.openxmlformats.org/drawingml/2006/main" noGrp="1"/>
          </p:cNvSpPr>
          <p:nvPr/>
        </p:nvSpPr>
        <p:spPr>
          <a:xfrm xmlns:a="http://schemas.openxmlformats.org/drawingml/2006/main">
            <a:off x="1600200" y="28384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只换 Service 实现，Controller / DTO / 接口路径与前端全部不动</a:t>
            </a:r>
          </a:p>
        </p:txBody>
      </p:sp>
      <p:sp>
        <p:nvSpPr>
          <p:cNvPr id="33" name="">
            <a:extLst xmlns:a="http://schemas.openxmlformats.org/drawingml/2006/main">
              <a:ext uri="{FF2B5EF4-FFF2-40B4-BE49-F238E27FC236}">
                <a16:creationId xmlns:a16="http://schemas.microsoft.com/office/drawing/2014/main" id="{24EE8B54-5FDC-4BBC-98DE-C24AD47FDD5B}"/>
              </a:ext>
            </a:extLst>
          </p:cNvPr>
          <p:cNvSpPr>
            <a:spLocks xmlns:a="http://schemas.openxmlformats.org/drawingml/2006/main" noGrp="1"/>
          </p:cNvSpPr>
          <p:nvPr/>
        </p:nvSpPr>
        <p:spPr>
          <a:xfrm xmlns:a="http://schemas.openxmlformats.org/drawingml/2006/main">
            <a:off x="285750" y="3238500"/>
            <a:ext cx="11620500" cy="838200"/>
          </a:xfrm>
          <a:prstGeom xmlns:a="http://schemas.openxmlformats.org/drawingml/2006/main" prst="roundRect">
            <a:avLst>
              <a:gd name="adj" fmla="val 9091"/>
            </a:avLst>
          </a:prstGeom>
          <a:solidFill xmlns:a="http://schemas.openxmlformats.org/drawingml/2006/main">
            <a:srgbClr val="0F3159"/>
          </a:solidFill>
          <a:ln xmlns:a="http://schemas.openxmlformats.org/drawingml/2006/main" w="9525">
            <a:solidFill>
              <a:srgbClr val="1B4C8A"/>
            </a:solidFill>
            <a:prstDash val="solid"/>
          </a:ln>
        </p:spPr>
      </p:sp>
      <p:sp>
        <p:nvSpPr>
          <p:cNvPr id="34" name="">
            <a:extLst xmlns:a="http://schemas.openxmlformats.org/drawingml/2006/main">
              <a:ext uri="{FF2B5EF4-FFF2-40B4-BE49-F238E27FC236}">
                <a16:creationId xmlns:a16="http://schemas.microsoft.com/office/drawing/2014/main" id="{CDA8BB15-AA7B-4224-A5A5-4CA3E74A3A8F}"/>
              </a:ext>
            </a:extLst>
          </p:cNvPr>
          <p:cNvSpPr>
            <a:spLocks xmlns:a="http://schemas.openxmlformats.org/drawingml/2006/main" noGrp="1"/>
          </p:cNvSpPr>
          <p:nvPr/>
        </p:nvSpPr>
        <p:spPr>
          <a:xfrm xmlns:a="http://schemas.openxmlformats.org/drawingml/2006/main">
            <a:off x="285750" y="3238500"/>
            <a:ext cx="47625" cy="838200"/>
          </a:xfrm>
          <a:prstGeom xmlns:a="http://schemas.openxmlformats.org/drawingml/2006/main" prst="rect">
            <a:avLst/>
          </a:prstGeom>
          <a:solidFill xmlns:a="http://schemas.openxmlformats.org/drawingml/2006/main">
            <a:srgbClr val="3FD08A"/>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E794F349-5C9C-49CB-9DFD-C80A9EB5AE1D}"/>
              </a:ext>
            </a:extLst>
          </p:cNvPr>
          <p:cNvSpPr>
            <a:spLocks xmlns:a="http://schemas.openxmlformats.org/drawingml/2006/main" noGrp="1"/>
          </p:cNvSpPr>
          <p:nvPr/>
        </p:nvSpPr>
        <p:spPr>
          <a:xfrm xmlns:a="http://schemas.openxmlformats.org/drawingml/2006/main">
            <a:off x="457200" y="3505200"/>
            <a:ext cx="1028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3FD08A"/>
                </a:solidFill>
                <a:latin typeface="微软雅黑"/>
                <a:ea typeface="微软雅黑"/>
                <a:cs typeface="微软雅黑"/>
              </a:defRPr>
            </a:pPr>
            <a:r>
              <a:rPr sz="1275" b="1">
                <a:solidFill>
                  <a:srgbClr val="3FD08A"/>
                </a:solidFill>
                <a:latin typeface="微软雅黑"/>
                <a:ea typeface="微软雅黑"/>
                <a:cs typeface="微软雅黑"/>
              </a:rPr>
              <a:t>数据层</a:t>
            </a:r>
          </a:p>
        </p:txBody>
      </p:sp>
      <p:sp>
        <p:nvSpPr>
          <p:cNvPr id="36" name="">
            <a:extLst xmlns:a="http://schemas.openxmlformats.org/drawingml/2006/main">
              <a:ext uri="{FF2B5EF4-FFF2-40B4-BE49-F238E27FC236}">
                <a16:creationId xmlns:a16="http://schemas.microsoft.com/office/drawing/2014/main" id="{1613C88B-D3F5-48B5-B4E7-BA5454D887B2}"/>
              </a:ext>
            </a:extLst>
          </p:cNvPr>
          <p:cNvSpPr>
            <a:spLocks xmlns:a="http://schemas.openxmlformats.org/drawingml/2006/main" noGrp="1"/>
          </p:cNvSpPr>
          <p:nvPr/>
        </p:nvSpPr>
        <p:spPr>
          <a:xfrm xmlns:a="http://schemas.openxmlformats.org/drawingml/2006/main">
            <a:off x="1600200" y="3371850"/>
            <a:ext cx="1924050" cy="342900"/>
          </a:xfrm>
          <a:prstGeom xmlns:a="http://schemas.openxmlformats.org/drawingml/2006/main" prst="roundRect">
            <a:avLst>
              <a:gd name="adj" fmla="val 16667"/>
            </a:avLst>
          </a:prstGeom>
          <a:solidFill xmlns:a="http://schemas.openxmlformats.org/drawingml/2006/main">
            <a:srgbClr val="0A2244"/>
          </a:solidFill>
          <a:ln xmlns:a="http://schemas.openxmlformats.org/drawingml/2006/main" w="9525">
            <a:solidFill>
              <a:srgbClr val="1A4478"/>
            </a:solidFill>
            <a:prstDash val="solid"/>
          </a:ln>
        </p:spPr>
      </p:sp>
      <p:sp>
        <p:nvSpPr>
          <p:cNvPr id="37" name="">
            <a:extLst xmlns:a="http://schemas.openxmlformats.org/drawingml/2006/main">
              <a:ext uri="{FF2B5EF4-FFF2-40B4-BE49-F238E27FC236}">
                <a16:creationId xmlns:a16="http://schemas.microsoft.com/office/drawing/2014/main" id="{CE0EE070-E38F-4405-99B8-D602AB10FEEB}"/>
              </a:ext>
            </a:extLst>
          </p:cNvPr>
          <p:cNvSpPr>
            <a:spLocks xmlns:a="http://schemas.openxmlformats.org/drawingml/2006/main" noGrp="1"/>
          </p:cNvSpPr>
          <p:nvPr/>
        </p:nvSpPr>
        <p:spPr>
          <a:xfrm xmlns:a="http://schemas.openxmlformats.org/drawingml/2006/main">
            <a:off x="1600200" y="3371850"/>
            <a:ext cx="1924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MySQL 8 一套库</a:t>
            </a:r>
          </a:p>
        </p:txBody>
      </p:sp>
      <p:sp>
        <p:nvSpPr>
          <p:cNvPr id="38" name="">
            <a:extLst xmlns:a="http://schemas.openxmlformats.org/drawingml/2006/main">
              <a:ext uri="{FF2B5EF4-FFF2-40B4-BE49-F238E27FC236}">
                <a16:creationId xmlns:a16="http://schemas.microsoft.com/office/drawing/2014/main" id="{9ECED93E-3661-4F97-B51A-A80D4FAE9799}"/>
              </a:ext>
            </a:extLst>
          </p:cNvPr>
          <p:cNvSpPr>
            <a:spLocks xmlns:a="http://schemas.openxmlformats.org/drawingml/2006/main" noGrp="1"/>
          </p:cNvSpPr>
          <p:nvPr/>
        </p:nvSpPr>
        <p:spPr>
          <a:xfrm xmlns:a="http://schemas.openxmlformats.org/drawingml/2006/main">
            <a:off x="3638550" y="3371850"/>
            <a:ext cx="1924050" cy="342900"/>
          </a:xfrm>
          <a:prstGeom xmlns:a="http://schemas.openxmlformats.org/drawingml/2006/main" prst="roundRect">
            <a:avLst>
              <a:gd name="adj" fmla="val 16667"/>
            </a:avLst>
          </a:prstGeom>
          <a:solidFill xmlns:a="http://schemas.openxmlformats.org/drawingml/2006/main">
            <a:srgbClr val="0A2244"/>
          </a:solidFill>
          <a:ln xmlns:a="http://schemas.openxmlformats.org/drawingml/2006/main" w="9525">
            <a:solidFill>
              <a:srgbClr val="1A4478"/>
            </a:solidFill>
            <a:prstDash val="solid"/>
          </a:ln>
        </p:spPr>
      </p:sp>
      <p:sp>
        <p:nvSpPr>
          <p:cNvPr id="39" name="">
            <a:extLst xmlns:a="http://schemas.openxmlformats.org/drawingml/2006/main">
              <a:ext uri="{FF2B5EF4-FFF2-40B4-BE49-F238E27FC236}">
                <a16:creationId xmlns:a16="http://schemas.microsoft.com/office/drawing/2014/main" id="{0DA182A2-335C-43D4-BBBF-91DBBFC045F2}"/>
              </a:ext>
            </a:extLst>
          </p:cNvPr>
          <p:cNvSpPr>
            <a:spLocks xmlns:a="http://schemas.openxmlformats.org/drawingml/2006/main" noGrp="1"/>
          </p:cNvSpPr>
          <p:nvPr/>
        </p:nvSpPr>
        <p:spPr>
          <a:xfrm xmlns:a="http://schemas.openxmlformats.org/drawingml/2006/main">
            <a:off x="3638550" y="3371850"/>
            <a:ext cx="1924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53 张表 / 7 组</a:t>
            </a:r>
          </a:p>
        </p:txBody>
      </p:sp>
      <p:sp>
        <p:nvSpPr>
          <p:cNvPr id="40" name="">
            <a:extLst xmlns:a="http://schemas.openxmlformats.org/drawingml/2006/main">
              <a:ext uri="{FF2B5EF4-FFF2-40B4-BE49-F238E27FC236}">
                <a16:creationId xmlns:a16="http://schemas.microsoft.com/office/drawing/2014/main" id="{8DC6450D-15E7-4B62-9CA6-C1895AA025B5}"/>
              </a:ext>
            </a:extLst>
          </p:cNvPr>
          <p:cNvSpPr>
            <a:spLocks xmlns:a="http://schemas.openxmlformats.org/drawingml/2006/main" noGrp="1"/>
          </p:cNvSpPr>
          <p:nvPr/>
        </p:nvSpPr>
        <p:spPr>
          <a:xfrm xmlns:a="http://schemas.openxmlformats.org/drawingml/2006/main">
            <a:off x="5676900" y="3371850"/>
            <a:ext cx="1924050" cy="342900"/>
          </a:xfrm>
          <a:prstGeom xmlns:a="http://schemas.openxmlformats.org/drawingml/2006/main" prst="roundRect">
            <a:avLst>
              <a:gd name="adj" fmla="val 16667"/>
            </a:avLst>
          </a:prstGeom>
          <a:solidFill xmlns:a="http://schemas.openxmlformats.org/drawingml/2006/main">
            <a:srgbClr val="0A2244"/>
          </a:solidFill>
          <a:ln xmlns:a="http://schemas.openxmlformats.org/drawingml/2006/main" w="9525">
            <a:solidFill>
              <a:srgbClr val="1A4478"/>
            </a:solidFill>
            <a:prstDash val="solid"/>
          </a:ln>
        </p:spPr>
      </p:sp>
      <p:sp>
        <p:nvSpPr>
          <p:cNvPr id="41" name="">
            <a:extLst xmlns:a="http://schemas.openxmlformats.org/drawingml/2006/main">
              <a:ext uri="{FF2B5EF4-FFF2-40B4-BE49-F238E27FC236}">
                <a16:creationId xmlns:a16="http://schemas.microsoft.com/office/drawing/2014/main" id="{06565D53-524A-4A3C-A3AD-FF07BB32D1A7}"/>
              </a:ext>
            </a:extLst>
          </p:cNvPr>
          <p:cNvSpPr>
            <a:spLocks xmlns:a="http://schemas.openxmlformats.org/drawingml/2006/main" noGrp="1"/>
          </p:cNvSpPr>
          <p:nvPr/>
        </p:nvSpPr>
        <p:spPr>
          <a:xfrm xmlns:a="http://schemas.openxmlformats.org/drawingml/2006/main">
            <a:off x="5676900" y="3371850"/>
            <a:ext cx="1924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主数据 · 业务 · Agent 结论 · 审计</a:t>
            </a:r>
          </a:p>
        </p:txBody>
      </p:sp>
      <p:sp>
        <p:nvSpPr>
          <p:cNvPr id="42" name="">
            <a:extLst xmlns:a="http://schemas.openxmlformats.org/drawingml/2006/main">
              <a:ext uri="{FF2B5EF4-FFF2-40B4-BE49-F238E27FC236}">
                <a16:creationId xmlns:a16="http://schemas.microsoft.com/office/drawing/2014/main" id="{7D8DC1F3-F590-48ED-A95F-188C0C31D9B8}"/>
              </a:ext>
            </a:extLst>
          </p:cNvPr>
          <p:cNvSpPr>
            <a:spLocks xmlns:a="http://schemas.openxmlformats.org/drawingml/2006/main" noGrp="1"/>
          </p:cNvSpPr>
          <p:nvPr/>
        </p:nvSpPr>
        <p:spPr>
          <a:xfrm xmlns:a="http://schemas.openxmlformats.org/drawingml/2006/main">
            <a:off x="1600200" y="37909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规则与结论全部落库，改规则只动数据库，不碰代码</a:t>
            </a:r>
          </a:p>
        </p:txBody>
      </p:sp>
      <p:sp>
        <p:nvSpPr>
          <p:cNvPr id="43" name="">
            <a:extLst xmlns:a="http://schemas.openxmlformats.org/drawingml/2006/main">
              <a:ext uri="{FF2B5EF4-FFF2-40B4-BE49-F238E27FC236}">
                <a16:creationId xmlns:a16="http://schemas.microsoft.com/office/drawing/2014/main" id="{433CAB8D-3332-4301-ADA5-DAC4D4A31341}"/>
              </a:ext>
            </a:extLst>
          </p:cNvPr>
          <p:cNvSpPr>
            <a:spLocks xmlns:a="http://schemas.openxmlformats.org/drawingml/2006/main" noGrp="1"/>
          </p:cNvSpPr>
          <p:nvPr/>
        </p:nvSpPr>
        <p:spPr>
          <a:xfrm xmlns:a="http://schemas.openxmlformats.org/drawingml/2006/main">
            <a:off x="285750" y="4191000"/>
            <a:ext cx="11620500" cy="838200"/>
          </a:xfrm>
          <a:prstGeom xmlns:a="http://schemas.openxmlformats.org/drawingml/2006/main" prst="roundRect">
            <a:avLst>
              <a:gd name="adj" fmla="val 9091"/>
            </a:avLst>
          </a:prstGeom>
          <a:solidFill xmlns:a="http://schemas.openxmlformats.org/drawingml/2006/main">
            <a:srgbClr val="0C2A50"/>
          </a:solidFill>
          <a:ln xmlns:a="http://schemas.openxmlformats.org/drawingml/2006/main" w="9525">
            <a:solidFill>
              <a:srgbClr val="1B4C8A"/>
            </a:solidFill>
            <a:prstDash val="solid"/>
          </a:ln>
        </p:spPr>
      </p:sp>
      <p:sp>
        <p:nvSpPr>
          <p:cNvPr id="44" name="">
            <a:extLst xmlns:a="http://schemas.openxmlformats.org/drawingml/2006/main">
              <a:ext uri="{FF2B5EF4-FFF2-40B4-BE49-F238E27FC236}">
                <a16:creationId xmlns:a16="http://schemas.microsoft.com/office/drawing/2014/main" id="{01FE20A0-36FA-47C6-87EB-C1D341F8F40F}"/>
              </a:ext>
            </a:extLst>
          </p:cNvPr>
          <p:cNvSpPr>
            <a:spLocks xmlns:a="http://schemas.openxmlformats.org/drawingml/2006/main" noGrp="1"/>
          </p:cNvSpPr>
          <p:nvPr/>
        </p:nvSpPr>
        <p:spPr>
          <a:xfrm xmlns:a="http://schemas.openxmlformats.org/drawingml/2006/main">
            <a:off x="285750" y="4191000"/>
            <a:ext cx="47625" cy="83820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F41432EF-5DE6-493C-97DE-E1826D76C76A}"/>
              </a:ext>
            </a:extLst>
          </p:cNvPr>
          <p:cNvSpPr>
            <a:spLocks xmlns:a="http://schemas.openxmlformats.org/drawingml/2006/main" noGrp="1"/>
          </p:cNvSpPr>
          <p:nvPr/>
        </p:nvSpPr>
        <p:spPr>
          <a:xfrm xmlns:a="http://schemas.openxmlformats.org/drawingml/2006/main">
            <a:off x="457200" y="4457700"/>
            <a:ext cx="1028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5C33B"/>
                </a:solidFill>
                <a:latin typeface="微软雅黑"/>
                <a:ea typeface="微软雅黑"/>
                <a:cs typeface="微软雅黑"/>
              </a:defRPr>
            </a:pPr>
            <a:r>
              <a:rPr sz="1275" b="1">
                <a:solidFill>
                  <a:srgbClr val="F5C33B"/>
                </a:solidFill>
                <a:latin typeface="微软雅黑"/>
                <a:ea typeface="微软雅黑"/>
                <a:cs typeface="微软雅黑"/>
              </a:rPr>
              <a:t>留痕层</a:t>
            </a:r>
          </a:p>
        </p:txBody>
      </p:sp>
      <p:sp>
        <p:nvSpPr>
          <p:cNvPr id="46" name="">
            <a:extLst xmlns:a="http://schemas.openxmlformats.org/drawingml/2006/main">
              <a:ext uri="{FF2B5EF4-FFF2-40B4-BE49-F238E27FC236}">
                <a16:creationId xmlns:a16="http://schemas.microsoft.com/office/drawing/2014/main" id="{A8CA94EC-32D3-41A8-8B48-545457F568CD}"/>
              </a:ext>
            </a:extLst>
          </p:cNvPr>
          <p:cNvSpPr>
            <a:spLocks xmlns:a="http://schemas.openxmlformats.org/drawingml/2006/main" noGrp="1"/>
          </p:cNvSpPr>
          <p:nvPr/>
        </p:nvSpPr>
        <p:spPr>
          <a:xfrm xmlns:a="http://schemas.openxmlformats.org/drawingml/2006/main">
            <a:off x="1600200" y="4324350"/>
            <a:ext cx="1924050" cy="342900"/>
          </a:xfrm>
          <a:prstGeom xmlns:a="http://schemas.openxmlformats.org/drawingml/2006/main" prst="roundRect">
            <a:avLst>
              <a:gd name="adj" fmla="val 16667"/>
            </a:avLst>
          </a:prstGeom>
          <a:solidFill xmlns:a="http://schemas.openxmlformats.org/drawingml/2006/main">
            <a:srgbClr val="0A2244"/>
          </a:solidFill>
          <a:ln xmlns:a="http://schemas.openxmlformats.org/drawingml/2006/main" w="9525">
            <a:solidFill>
              <a:srgbClr val="1A4478"/>
            </a:solidFill>
            <a:prstDash val="solid"/>
          </a:ln>
        </p:spPr>
      </p:sp>
      <p:sp>
        <p:nvSpPr>
          <p:cNvPr id="47" name="">
            <a:extLst xmlns:a="http://schemas.openxmlformats.org/drawingml/2006/main">
              <a:ext uri="{FF2B5EF4-FFF2-40B4-BE49-F238E27FC236}">
                <a16:creationId xmlns:a16="http://schemas.microsoft.com/office/drawing/2014/main" id="{B9EDD28D-0EE0-445A-9D4E-D805D8FFBAF5}"/>
              </a:ext>
            </a:extLst>
          </p:cNvPr>
          <p:cNvSpPr>
            <a:spLocks xmlns:a="http://schemas.openxmlformats.org/drawingml/2006/main" noGrp="1"/>
          </p:cNvSpPr>
          <p:nvPr/>
        </p:nvSpPr>
        <p:spPr>
          <a:xfrm xmlns:a="http://schemas.openxmlformats.org/drawingml/2006/main">
            <a:off x="1600200" y="4324350"/>
            <a:ext cx="1924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rule_result 执行留痕</a:t>
            </a:r>
          </a:p>
        </p:txBody>
      </p:sp>
      <p:sp>
        <p:nvSpPr>
          <p:cNvPr id="48" name="">
            <a:extLst xmlns:a="http://schemas.openxmlformats.org/drawingml/2006/main">
              <a:ext uri="{FF2B5EF4-FFF2-40B4-BE49-F238E27FC236}">
                <a16:creationId xmlns:a16="http://schemas.microsoft.com/office/drawing/2014/main" id="{45F54B97-C37D-429B-B0AA-4E501446CB89}"/>
              </a:ext>
            </a:extLst>
          </p:cNvPr>
          <p:cNvSpPr>
            <a:spLocks xmlns:a="http://schemas.openxmlformats.org/drawingml/2006/main" noGrp="1"/>
          </p:cNvSpPr>
          <p:nvPr/>
        </p:nvSpPr>
        <p:spPr>
          <a:xfrm xmlns:a="http://schemas.openxmlformats.org/drawingml/2006/main">
            <a:off x="3638550" y="4324350"/>
            <a:ext cx="1924050" cy="342900"/>
          </a:xfrm>
          <a:prstGeom xmlns:a="http://schemas.openxmlformats.org/drawingml/2006/main" prst="roundRect">
            <a:avLst>
              <a:gd name="adj" fmla="val 16667"/>
            </a:avLst>
          </a:prstGeom>
          <a:solidFill xmlns:a="http://schemas.openxmlformats.org/drawingml/2006/main">
            <a:srgbClr val="0A2244"/>
          </a:solidFill>
          <a:ln xmlns:a="http://schemas.openxmlformats.org/drawingml/2006/main" w="9525">
            <a:solidFill>
              <a:srgbClr val="1A4478"/>
            </a:solidFill>
            <a:prstDash val="solid"/>
          </a:ln>
        </p:spPr>
      </p:sp>
      <p:sp>
        <p:nvSpPr>
          <p:cNvPr id="49" name="">
            <a:extLst xmlns:a="http://schemas.openxmlformats.org/drawingml/2006/main">
              <a:ext uri="{FF2B5EF4-FFF2-40B4-BE49-F238E27FC236}">
                <a16:creationId xmlns:a16="http://schemas.microsoft.com/office/drawing/2014/main" id="{3AA8A1B1-A11C-4BD7-A066-29BD2846F353}"/>
              </a:ext>
            </a:extLst>
          </p:cNvPr>
          <p:cNvSpPr>
            <a:spLocks xmlns:a="http://schemas.openxmlformats.org/drawingml/2006/main" noGrp="1"/>
          </p:cNvSpPr>
          <p:nvPr/>
        </p:nvSpPr>
        <p:spPr>
          <a:xfrm xmlns:a="http://schemas.openxmlformats.org/drawingml/2006/main">
            <a:off x="3638550" y="4324350"/>
            <a:ext cx="1924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agent_suggestion 建议</a:t>
            </a:r>
          </a:p>
        </p:txBody>
      </p:sp>
      <p:sp>
        <p:nvSpPr>
          <p:cNvPr id="50" name="">
            <a:extLst xmlns:a="http://schemas.openxmlformats.org/drawingml/2006/main">
              <a:ext uri="{FF2B5EF4-FFF2-40B4-BE49-F238E27FC236}">
                <a16:creationId xmlns:a16="http://schemas.microsoft.com/office/drawing/2014/main" id="{C3CB3B0A-2EB3-45E9-8BFB-1B29FA824CD3}"/>
              </a:ext>
            </a:extLst>
          </p:cNvPr>
          <p:cNvSpPr>
            <a:spLocks xmlns:a="http://schemas.openxmlformats.org/drawingml/2006/main" noGrp="1"/>
          </p:cNvSpPr>
          <p:nvPr/>
        </p:nvSpPr>
        <p:spPr>
          <a:xfrm xmlns:a="http://schemas.openxmlformats.org/drawingml/2006/main">
            <a:off x="5676900" y="4324350"/>
            <a:ext cx="1924050" cy="342900"/>
          </a:xfrm>
          <a:prstGeom xmlns:a="http://schemas.openxmlformats.org/drawingml/2006/main" prst="roundRect">
            <a:avLst>
              <a:gd name="adj" fmla="val 16667"/>
            </a:avLst>
          </a:prstGeom>
          <a:solidFill xmlns:a="http://schemas.openxmlformats.org/drawingml/2006/main">
            <a:srgbClr val="0A2244"/>
          </a:solidFill>
          <a:ln xmlns:a="http://schemas.openxmlformats.org/drawingml/2006/main" w="9525">
            <a:solidFill>
              <a:srgbClr val="1A4478"/>
            </a:solidFill>
            <a:prstDash val="solid"/>
          </a:ln>
        </p:spPr>
      </p:sp>
      <p:sp>
        <p:nvSpPr>
          <p:cNvPr id="51" name="">
            <a:extLst xmlns:a="http://schemas.openxmlformats.org/drawingml/2006/main">
              <a:ext uri="{FF2B5EF4-FFF2-40B4-BE49-F238E27FC236}">
                <a16:creationId xmlns:a16="http://schemas.microsoft.com/office/drawing/2014/main" id="{B36C5BBA-787A-4369-89EA-72361F1D155B}"/>
              </a:ext>
            </a:extLst>
          </p:cNvPr>
          <p:cNvSpPr>
            <a:spLocks xmlns:a="http://schemas.openxmlformats.org/drawingml/2006/main" noGrp="1"/>
          </p:cNvSpPr>
          <p:nvPr/>
        </p:nvSpPr>
        <p:spPr>
          <a:xfrm xmlns:a="http://schemas.openxmlformats.org/drawingml/2006/main">
            <a:off x="5676900" y="4324350"/>
            <a:ext cx="1924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decision_log 人工决定</a:t>
            </a:r>
          </a:p>
        </p:txBody>
      </p:sp>
      <p:sp>
        <p:nvSpPr>
          <p:cNvPr id="52" name="">
            <a:extLst xmlns:a="http://schemas.openxmlformats.org/drawingml/2006/main">
              <a:ext uri="{FF2B5EF4-FFF2-40B4-BE49-F238E27FC236}">
                <a16:creationId xmlns:a16="http://schemas.microsoft.com/office/drawing/2014/main" id="{EAA24677-567D-4738-8C86-FE731668BF99}"/>
              </a:ext>
            </a:extLst>
          </p:cNvPr>
          <p:cNvSpPr>
            <a:spLocks xmlns:a="http://schemas.openxmlformats.org/drawingml/2006/main" noGrp="1"/>
          </p:cNvSpPr>
          <p:nvPr/>
        </p:nvSpPr>
        <p:spPr>
          <a:xfrm xmlns:a="http://schemas.openxmlformats.org/drawingml/2006/main">
            <a:off x="1600200" y="47434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一次归因 = 一个 run_id，三张表串成完整证据链</a:t>
            </a:r>
          </a:p>
        </p:txBody>
      </p:sp>
      <p:sp>
        <p:nvSpPr>
          <p:cNvPr id="53" name="">
            <a:extLst xmlns:a="http://schemas.openxmlformats.org/drawingml/2006/main">
              <a:ext uri="{FF2B5EF4-FFF2-40B4-BE49-F238E27FC236}">
                <a16:creationId xmlns:a16="http://schemas.microsoft.com/office/drawing/2014/main" id="{54BA1F20-9292-43C7-B640-E8DFC896C006}"/>
              </a:ext>
            </a:extLst>
          </p:cNvPr>
          <p:cNvSpPr>
            <a:spLocks xmlns:a="http://schemas.openxmlformats.org/drawingml/2006/main" noGrp="1"/>
          </p:cNvSpPr>
          <p:nvPr/>
        </p:nvSpPr>
        <p:spPr>
          <a:xfrm xmlns:a="http://schemas.openxmlformats.org/drawingml/2006/main">
            <a:off x="285750" y="5143500"/>
            <a:ext cx="11620500" cy="838200"/>
          </a:xfrm>
          <a:prstGeom xmlns:a="http://schemas.openxmlformats.org/drawingml/2006/main" prst="roundRect">
            <a:avLst>
              <a:gd name="adj" fmla="val 9091"/>
            </a:avLst>
          </a:prstGeom>
          <a:solidFill xmlns:a="http://schemas.openxmlformats.org/drawingml/2006/main">
            <a:srgbClr val="0F3159"/>
          </a:solidFill>
          <a:ln xmlns:a="http://schemas.openxmlformats.org/drawingml/2006/main" w="9525">
            <a:solidFill>
              <a:srgbClr val="1B4C8A"/>
            </a:solidFill>
            <a:prstDash val="solid"/>
          </a:ln>
        </p:spPr>
      </p:sp>
      <p:sp>
        <p:nvSpPr>
          <p:cNvPr id="54" name="">
            <a:extLst xmlns:a="http://schemas.openxmlformats.org/drawingml/2006/main">
              <a:ext uri="{FF2B5EF4-FFF2-40B4-BE49-F238E27FC236}">
                <a16:creationId xmlns:a16="http://schemas.microsoft.com/office/drawing/2014/main" id="{98989FB0-7C99-4AE2-935E-26E61F2B29A4}"/>
              </a:ext>
            </a:extLst>
          </p:cNvPr>
          <p:cNvSpPr>
            <a:spLocks xmlns:a="http://schemas.openxmlformats.org/drawingml/2006/main" noGrp="1"/>
          </p:cNvSpPr>
          <p:nvPr/>
        </p:nvSpPr>
        <p:spPr>
          <a:xfrm xmlns:a="http://schemas.openxmlformats.org/drawingml/2006/main">
            <a:off x="285750" y="5143500"/>
            <a:ext cx="47625" cy="838200"/>
          </a:xfrm>
          <a:prstGeom xmlns:a="http://schemas.openxmlformats.org/drawingml/2006/main" prst="rect">
            <a:avLst/>
          </a:prstGeom>
          <a:solidFill xmlns:a="http://schemas.openxmlformats.org/drawingml/2006/main">
            <a:srgbClr val="9B8CFF"/>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EAC7A8FA-2A8E-4EAF-8395-24CF62BFA41E}"/>
              </a:ext>
            </a:extLst>
          </p:cNvPr>
          <p:cNvSpPr>
            <a:spLocks xmlns:a="http://schemas.openxmlformats.org/drawingml/2006/main" noGrp="1"/>
          </p:cNvSpPr>
          <p:nvPr/>
        </p:nvSpPr>
        <p:spPr>
          <a:xfrm xmlns:a="http://schemas.openxmlformats.org/drawingml/2006/main">
            <a:off x="457200" y="5410200"/>
            <a:ext cx="1028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9B8CFF"/>
                </a:solidFill>
                <a:latin typeface="微软雅黑"/>
                <a:ea typeface="微软雅黑"/>
                <a:cs typeface="微软雅黑"/>
              </a:defRPr>
            </a:pPr>
            <a:r>
              <a:rPr sz="1275" b="1">
                <a:solidFill>
                  <a:srgbClr val="9B8CFF"/>
                </a:solidFill>
                <a:latin typeface="微软雅黑"/>
                <a:ea typeface="微软雅黑"/>
                <a:cs typeface="微软雅黑"/>
              </a:rPr>
              <a:t>部署层</a:t>
            </a:r>
          </a:p>
        </p:txBody>
      </p:sp>
      <p:sp>
        <p:nvSpPr>
          <p:cNvPr id="56" name="">
            <a:extLst xmlns:a="http://schemas.openxmlformats.org/drawingml/2006/main">
              <a:ext uri="{FF2B5EF4-FFF2-40B4-BE49-F238E27FC236}">
                <a16:creationId xmlns:a16="http://schemas.microsoft.com/office/drawing/2014/main" id="{4B6E2DD7-D3BE-4667-9F17-AD93AD728A11}"/>
              </a:ext>
            </a:extLst>
          </p:cNvPr>
          <p:cNvSpPr>
            <a:spLocks xmlns:a="http://schemas.openxmlformats.org/drawingml/2006/main" noGrp="1"/>
          </p:cNvSpPr>
          <p:nvPr/>
        </p:nvSpPr>
        <p:spPr>
          <a:xfrm xmlns:a="http://schemas.openxmlformats.org/drawingml/2006/main">
            <a:off x="1600200" y="5276850"/>
            <a:ext cx="1924050" cy="342900"/>
          </a:xfrm>
          <a:prstGeom xmlns:a="http://schemas.openxmlformats.org/drawingml/2006/main" prst="roundRect">
            <a:avLst>
              <a:gd name="adj" fmla="val 16667"/>
            </a:avLst>
          </a:prstGeom>
          <a:solidFill xmlns:a="http://schemas.openxmlformats.org/drawingml/2006/main">
            <a:srgbClr val="0A2244"/>
          </a:solidFill>
          <a:ln xmlns:a="http://schemas.openxmlformats.org/drawingml/2006/main" w="9525">
            <a:solidFill>
              <a:srgbClr val="1A4478"/>
            </a:solidFill>
            <a:prstDash val="solid"/>
          </a:ln>
        </p:spPr>
      </p:sp>
      <p:sp>
        <p:nvSpPr>
          <p:cNvPr id="57" name="">
            <a:extLst xmlns:a="http://schemas.openxmlformats.org/drawingml/2006/main">
              <a:ext uri="{FF2B5EF4-FFF2-40B4-BE49-F238E27FC236}">
                <a16:creationId xmlns:a16="http://schemas.microsoft.com/office/drawing/2014/main" id="{A138DD3B-8715-4934-A773-E53BD9573DF9}"/>
              </a:ext>
            </a:extLst>
          </p:cNvPr>
          <p:cNvSpPr>
            <a:spLocks xmlns:a="http://schemas.openxmlformats.org/drawingml/2006/main" noGrp="1"/>
          </p:cNvSpPr>
          <p:nvPr/>
        </p:nvSpPr>
        <p:spPr>
          <a:xfrm xmlns:a="http://schemas.openxmlformats.org/drawingml/2006/main">
            <a:off x="1600200" y="5276850"/>
            <a:ext cx="1924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Docker Compose</a:t>
            </a:r>
          </a:p>
        </p:txBody>
      </p:sp>
      <p:sp>
        <p:nvSpPr>
          <p:cNvPr id="58" name="">
            <a:extLst xmlns:a="http://schemas.openxmlformats.org/drawingml/2006/main">
              <a:ext uri="{FF2B5EF4-FFF2-40B4-BE49-F238E27FC236}">
                <a16:creationId xmlns:a16="http://schemas.microsoft.com/office/drawing/2014/main" id="{075B87DF-5FD5-404D-948A-DC07E2F9D9C3}"/>
              </a:ext>
            </a:extLst>
          </p:cNvPr>
          <p:cNvSpPr>
            <a:spLocks xmlns:a="http://schemas.openxmlformats.org/drawingml/2006/main" noGrp="1"/>
          </p:cNvSpPr>
          <p:nvPr/>
        </p:nvSpPr>
        <p:spPr>
          <a:xfrm xmlns:a="http://schemas.openxmlformats.org/drawingml/2006/main">
            <a:off x="3638550" y="5276850"/>
            <a:ext cx="1924050" cy="342900"/>
          </a:xfrm>
          <a:prstGeom xmlns:a="http://schemas.openxmlformats.org/drawingml/2006/main" prst="roundRect">
            <a:avLst>
              <a:gd name="adj" fmla="val 16667"/>
            </a:avLst>
          </a:prstGeom>
          <a:solidFill xmlns:a="http://schemas.openxmlformats.org/drawingml/2006/main">
            <a:srgbClr val="0A2244"/>
          </a:solidFill>
          <a:ln xmlns:a="http://schemas.openxmlformats.org/drawingml/2006/main" w="9525">
            <a:solidFill>
              <a:srgbClr val="1A4478"/>
            </a:solidFill>
            <a:prstDash val="solid"/>
          </a:ln>
        </p:spPr>
      </p:sp>
      <p:sp>
        <p:nvSpPr>
          <p:cNvPr id="59" name="">
            <a:extLst xmlns:a="http://schemas.openxmlformats.org/drawingml/2006/main">
              <a:ext uri="{FF2B5EF4-FFF2-40B4-BE49-F238E27FC236}">
                <a16:creationId xmlns:a16="http://schemas.microsoft.com/office/drawing/2014/main" id="{C99FA58A-D0FA-4275-B914-5D5626A50AF9}"/>
              </a:ext>
            </a:extLst>
          </p:cNvPr>
          <p:cNvSpPr>
            <a:spLocks xmlns:a="http://schemas.openxmlformats.org/drawingml/2006/main" noGrp="1"/>
          </p:cNvSpPr>
          <p:nvPr/>
        </p:nvSpPr>
        <p:spPr>
          <a:xfrm xmlns:a="http://schemas.openxmlformats.org/drawingml/2006/main">
            <a:off x="3638550" y="5276850"/>
            <a:ext cx="1924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MySQL + API + Web</a:t>
            </a:r>
          </a:p>
        </p:txBody>
      </p:sp>
      <p:sp>
        <p:nvSpPr>
          <p:cNvPr id="60" name="">
            <a:extLst xmlns:a="http://schemas.openxmlformats.org/drawingml/2006/main">
              <a:ext uri="{FF2B5EF4-FFF2-40B4-BE49-F238E27FC236}">
                <a16:creationId xmlns:a16="http://schemas.microsoft.com/office/drawing/2014/main" id="{A9C6E3F3-1AF9-4680-B784-D14623BF2C22}"/>
              </a:ext>
            </a:extLst>
          </p:cNvPr>
          <p:cNvSpPr>
            <a:spLocks xmlns:a="http://schemas.openxmlformats.org/drawingml/2006/main" noGrp="1"/>
          </p:cNvSpPr>
          <p:nvPr/>
        </p:nvSpPr>
        <p:spPr>
          <a:xfrm xmlns:a="http://schemas.openxmlformats.org/drawingml/2006/main">
            <a:off x="5676900" y="5276850"/>
            <a:ext cx="1924050" cy="342900"/>
          </a:xfrm>
          <a:prstGeom xmlns:a="http://schemas.openxmlformats.org/drawingml/2006/main" prst="roundRect">
            <a:avLst>
              <a:gd name="adj" fmla="val 16667"/>
            </a:avLst>
          </a:prstGeom>
          <a:solidFill xmlns:a="http://schemas.openxmlformats.org/drawingml/2006/main">
            <a:srgbClr val="0A2244"/>
          </a:solidFill>
          <a:ln xmlns:a="http://schemas.openxmlformats.org/drawingml/2006/main" w="9525">
            <a:solidFill>
              <a:srgbClr val="1A4478"/>
            </a:solidFill>
            <a:prstDash val="solid"/>
          </a:ln>
        </p:spPr>
      </p:sp>
      <p:sp>
        <p:nvSpPr>
          <p:cNvPr id="61" name="">
            <a:extLst xmlns:a="http://schemas.openxmlformats.org/drawingml/2006/main">
              <a:ext uri="{FF2B5EF4-FFF2-40B4-BE49-F238E27FC236}">
                <a16:creationId xmlns:a16="http://schemas.microsoft.com/office/drawing/2014/main" id="{A9ED7554-6CA9-4861-AD5B-0746546B7599}"/>
              </a:ext>
            </a:extLst>
          </p:cNvPr>
          <p:cNvSpPr>
            <a:spLocks xmlns:a="http://schemas.openxmlformats.org/drawingml/2006/main" noGrp="1"/>
          </p:cNvSpPr>
          <p:nvPr/>
        </p:nvSpPr>
        <p:spPr>
          <a:xfrm xmlns:a="http://schemas.openxmlformats.org/drawingml/2006/main">
            <a:off x="5676900" y="5276850"/>
            <a:ext cx="1924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内网 / 离线可运行</a:t>
            </a:r>
          </a:p>
        </p:txBody>
      </p:sp>
      <p:sp>
        <p:nvSpPr>
          <p:cNvPr id="62" name="">
            <a:extLst xmlns:a="http://schemas.openxmlformats.org/drawingml/2006/main">
              <a:ext uri="{FF2B5EF4-FFF2-40B4-BE49-F238E27FC236}">
                <a16:creationId xmlns:a16="http://schemas.microsoft.com/office/drawing/2014/main" id="{31AD30CB-76C1-470C-BFAE-7DC963D286DC}"/>
              </a:ext>
            </a:extLst>
          </p:cNvPr>
          <p:cNvSpPr>
            <a:spLocks xmlns:a="http://schemas.openxmlformats.org/drawingml/2006/main" noGrp="1"/>
          </p:cNvSpPr>
          <p:nvPr/>
        </p:nvSpPr>
        <p:spPr>
          <a:xfrm xmlns:a="http://schemas.openxmlformats.org/drawingml/2006/main">
            <a:off x="1600200" y="56959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AI_ENABLED 默认 false，规则链路不依赖任何外部模型</a:t>
            </a:r>
          </a:p>
        </p:txBody>
      </p:sp>
      <p:sp>
        <p:nvSpPr>
          <p:cNvPr id="63" name="">
            <a:extLst xmlns:a="http://schemas.openxmlformats.org/drawingml/2006/main">
              <a:ext uri="{FF2B5EF4-FFF2-40B4-BE49-F238E27FC236}">
                <a16:creationId xmlns:a16="http://schemas.microsoft.com/office/drawing/2014/main" id="{7074AF1B-4FF1-4E76-BADA-8E7F6F186531}"/>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0645D090-EA1A-4167-82CB-FF84955E337D}"/>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65" name="">
            <a:extLst xmlns:a="http://schemas.openxmlformats.org/drawingml/2006/main">
              <a:ext uri="{FF2B5EF4-FFF2-40B4-BE49-F238E27FC236}">
                <a16:creationId xmlns:a16="http://schemas.microsoft.com/office/drawing/2014/main" id="{D041E1E1-65BB-4BE8-B38F-18DC07BADDEC}"/>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10</a:t>
            </a:r>
          </a:p>
        </p:txBody>
      </p:sp>
    </p:spTree>
    <p:extLst>
      <p:ext uri="{BB962C8B-B14F-4D97-AF65-F5344CB8AC3E}">
        <p14:creationId xmlns:p14="http://schemas.microsoft.com/office/powerpoint/2010/main" val="760086632"/>
      </p:ext>
    </p:extLst>
  </p:cSld>
</p:sld>
</file>

<file path=ppt/slides/slide11.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83" name="">
            <a:extLst xmlns:a="http://schemas.openxmlformats.org/drawingml/2006/main">
              <a:ext uri="{FF2B5EF4-FFF2-40B4-BE49-F238E27FC236}">
                <a16:creationId xmlns:a16="http://schemas.microsoft.com/office/drawing/2014/main" id="{DF8FAAD3-8B36-45C0-8FF6-88A2BBA44A04}"/>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E716BF3-EA05-44A0-9E70-B676C1E2F506}"/>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29E78B7-A041-485F-89B7-E709372222A8}"/>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99F2A6C-33F2-40A9-98A1-0721D2730335}"/>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CA7B1AB-DE6D-4B4C-B909-2538A67E708B}"/>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777933E8-BCFC-46FA-8A19-019DC74E09A6}"/>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总体方案</a:t>
            </a:r>
          </a:p>
        </p:txBody>
      </p:sp>
      <p:sp>
        <p:nvSpPr>
          <p:cNvPr id="7" name="">
            <a:extLst xmlns:a="http://schemas.openxmlformats.org/drawingml/2006/main">
              <a:ext uri="{FF2B5EF4-FFF2-40B4-BE49-F238E27FC236}">
                <a16:creationId xmlns:a16="http://schemas.microsoft.com/office/drawing/2014/main" id="{6AB5DC98-FE83-4CE8-9237-BDBFD23BC47E}"/>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4246E7B-CD8B-485F-8FDE-2502A113F56A}"/>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技术路线与数据流</a:t>
            </a:r>
          </a:p>
        </p:txBody>
      </p:sp>
      <p:sp>
        <p:nvSpPr>
          <p:cNvPr id="9" name="">
            <a:extLst xmlns:a="http://schemas.openxmlformats.org/drawingml/2006/main">
              <a:ext uri="{FF2B5EF4-FFF2-40B4-BE49-F238E27FC236}">
                <a16:creationId xmlns:a16="http://schemas.microsoft.com/office/drawing/2014/main" id="{E6A23B80-358C-41D7-8D3C-9497EFE5AEC6}"/>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3FE7C238-71C9-4518-B9DD-B0F5908ECC9C}"/>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从「业务问题」到「省下的成本」，中间每一步都由可复算的规则完成并留痕。</a:t>
            </a:r>
          </a:p>
        </p:txBody>
      </p:sp>
      <p:sp>
        <p:nvSpPr>
          <p:cNvPr id="11" name="">
            <a:extLst xmlns:a="http://schemas.openxmlformats.org/drawingml/2006/main">
              <a:ext uri="{FF2B5EF4-FFF2-40B4-BE49-F238E27FC236}">
                <a16:creationId xmlns:a16="http://schemas.microsoft.com/office/drawing/2014/main" id="{D99CD826-C2D5-4DBE-88D2-05743D660C2A}"/>
              </a:ext>
            </a:extLst>
          </p:cNvPr>
          <p:cNvSpPr>
            <a:spLocks xmlns:a="http://schemas.openxmlformats.org/drawingml/2006/main" noGrp="1"/>
          </p:cNvSpPr>
          <p:nvPr/>
        </p:nvSpPr>
        <p:spPr>
          <a:xfrm xmlns:a="http://schemas.openxmlformats.org/drawingml/2006/main">
            <a:off x="285750" y="1428750"/>
            <a:ext cx="1790700" cy="1809750"/>
          </a:xfrm>
          <a:prstGeom xmlns:a="http://schemas.openxmlformats.org/drawingml/2006/main" prst="roundRect">
            <a:avLst>
              <a:gd name="adj" fmla="val 4255"/>
            </a:avLst>
          </a:prstGeom>
          <a:solidFill xmlns:a="http://schemas.openxmlformats.org/drawingml/2006/main">
            <a:srgbClr val="0D2748"/>
          </a:solidFill>
          <a:ln xmlns:a="http://schemas.openxmlformats.org/drawingml/2006/main" w="9525">
            <a:solidFill>
              <a:srgbClr val="1B4C8A"/>
            </a:solidFill>
            <a:prstDash val="solid"/>
          </a:ln>
        </p:spPr>
      </p:sp>
      <p:sp>
        <p:nvSpPr>
          <p:cNvPr id="12" name="">
            <a:extLst xmlns:a="http://schemas.openxmlformats.org/drawingml/2006/main">
              <a:ext uri="{FF2B5EF4-FFF2-40B4-BE49-F238E27FC236}">
                <a16:creationId xmlns:a16="http://schemas.microsoft.com/office/drawing/2014/main" id="{068BF757-6A6C-4089-83E8-2892E8291AA7}"/>
              </a:ext>
            </a:extLst>
          </p:cNvPr>
          <p:cNvSpPr>
            <a:spLocks xmlns:a="http://schemas.openxmlformats.org/drawingml/2006/main" noGrp="1"/>
          </p:cNvSpPr>
          <p:nvPr/>
        </p:nvSpPr>
        <p:spPr>
          <a:xfrm xmlns:a="http://schemas.openxmlformats.org/drawingml/2006/main">
            <a:off x="285750" y="1428750"/>
            <a:ext cx="1790700" cy="38100"/>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BC187B0-1998-495D-96F2-B531EB28CF59}"/>
              </a:ext>
            </a:extLst>
          </p:cNvPr>
          <p:cNvSpPr>
            <a:spLocks xmlns:a="http://schemas.openxmlformats.org/drawingml/2006/main" noGrp="1"/>
          </p:cNvSpPr>
          <p:nvPr/>
        </p:nvSpPr>
        <p:spPr>
          <a:xfrm xmlns:a="http://schemas.openxmlformats.org/drawingml/2006/main">
            <a:off x="438150" y="15621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7A9CC4"/>
                </a:solidFill>
                <a:latin typeface="Arial"/>
                <a:ea typeface="Arial"/>
                <a:cs typeface="Arial"/>
              </a:defRPr>
            </a:pPr>
            <a:r>
              <a:rPr sz="1125" b="1">
                <a:solidFill>
                  <a:srgbClr val="7A9CC4"/>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5C216687-6187-4138-A93D-BC0DD4A3C1E5}"/>
              </a:ext>
            </a:extLst>
          </p:cNvPr>
          <p:cNvSpPr>
            <a:spLocks xmlns:a="http://schemas.openxmlformats.org/drawingml/2006/main" noGrp="1"/>
          </p:cNvSpPr>
          <p:nvPr/>
        </p:nvSpPr>
        <p:spPr>
          <a:xfrm xmlns:a="http://schemas.openxmlformats.org/drawingml/2006/main">
            <a:off x="438150" y="18288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业务问题</a:t>
            </a:r>
          </a:p>
        </p:txBody>
      </p:sp>
      <p:sp>
        <p:nvSpPr>
          <p:cNvPr id="15" name="">
            <a:extLst xmlns:a="http://schemas.openxmlformats.org/drawingml/2006/main">
              <a:ext uri="{FF2B5EF4-FFF2-40B4-BE49-F238E27FC236}">
                <a16:creationId xmlns:a16="http://schemas.microsoft.com/office/drawing/2014/main" id="{6A69180C-C636-4889-A73A-31FF65A11489}"/>
              </a:ext>
            </a:extLst>
          </p:cNvPr>
          <p:cNvSpPr>
            <a:spLocks xmlns:a="http://schemas.openxmlformats.org/drawingml/2006/main" noGrp="1"/>
          </p:cNvSpPr>
          <p:nvPr/>
        </p:nvSpPr>
        <p:spPr>
          <a:xfrm xmlns:a="http://schemas.openxmlformats.org/drawingml/2006/main">
            <a:off x="438150" y="21336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缺人还是缺技能？</a:t>
            </a:r>
          </a:p>
        </p:txBody>
      </p:sp>
      <p:sp>
        <p:nvSpPr>
          <p:cNvPr id="16" name="">
            <a:extLst xmlns:a="http://schemas.openxmlformats.org/drawingml/2006/main">
              <a:ext uri="{FF2B5EF4-FFF2-40B4-BE49-F238E27FC236}">
                <a16:creationId xmlns:a16="http://schemas.microsoft.com/office/drawing/2014/main" id="{C97FAF32-DDE7-4907-A5D5-911DDF3E6DAF}"/>
              </a:ext>
            </a:extLst>
          </p:cNvPr>
          <p:cNvSpPr>
            <a:spLocks xmlns:a="http://schemas.openxmlformats.org/drawingml/2006/main" noGrp="1"/>
          </p:cNvSpPr>
          <p:nvPr/>
        </p:nvSpPr>
        <p:spPr>
          <a:xfrm xmlns:a="http://schemas.openxmlformats.org/drawingml/2006/main">
            <a:off x="438150" y="2400300"/>
            <a:ext cx="3429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6B43E0D-5FAE-4873-A619-1018CA1D0C30}"/>
              </a:ext>
            </a:extLst>
          </p:cNvPr>
          <p:cNvSpPr>
            <a:spLocks xmlns:a="http://schemas.openxmlformats.org/drawingml/2006/main" noGrp="1"/>
          </p:cNvSpPr>
          <p:nvPr/>
        </p:nvSpPr>
        <p:spPr>
          <a:xfrm xmlns:a="http://schemas.openxmlformats.org/drawingml/2006/main">
            <a:off x="438150" y="2495550"/>
            <a:ext cx="152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岗位要求、未来需求、关键岗位备份</a:t>
            </a:r>
          </a:p>
        </p:txBody>
      </p:sp>
      <p:sp>
        <p:nvSpPr>
          <p:cNvPr id="18" name="">
            <a:extLst xmlns:a="http://schemas.openxmlformats.org/drawingml/2006/main">
              <a:ext uri="{FF2B5EF4-FFF2-40B4-BE49-F238E27FC236}">
                <a16:creationId xmlns:a16="http://schemas.microsoft.com/office/drawing/2014/main" id="{5223D353-3B41-4628-8180-8F8B01FB5BA2}"/>
              </a:ext>
            </a:extLst>
          </p:cNvPr>
          <p:cNvSpPr>
            <a:spLocks xmlns:a="http://schemas.openxmlformats.org/drawingml/2006/main" noGrp="1"/>
          </p:cNvSpPr>
          <p:nvPr/>
        </p:nvSpPr>
        <p:spPr>
          <a:xfrm xmlns:a="http://schemas.openxmlformats.org/drawingml/2006/main">
            <a:off x="2095500" y="2209800"/>
            <a:ext cx="152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75" b="0">
                <a:solidFill>
                  <a:srgbClr val="F5C33B"/>
                </a:solidFill>
                <a:latin typeface="微软雅黑"/>
                <a:ea typeface="微软雅黑"/>
                <a:cs typeface="微软雅黑"/>
              </a:defRPr>
            </a:pPr>
            <a:r>
              <a:rPr sz="975" b="0">
                <a:solidFill>
                  <a:srgbClr val="F5C33B"/>
                </a:solidFill>
                <a:latin typeface="微软雅黑"/>
                <a:ea typeface="微软雅黑"/>
                <a:cs typeface="微软雅黑"/>
              </a:rPr>
              <a:t>▶</a:t>
            </a:r>
          </a:p>
        </p:txBody>
      </p:sp>
      <p:sp>
        <p:nvSpPr>
          <p:cNvPr id="19" name="">
            <a:extLst xmlns:a="http://schemas.openxmlformats.org/drawingml/2006/main">
              <a:ext uri="{FF2B5EF4-FFF2-40B4-BE49-F238E27FC236}">
                <a16:creationId xmlns:a16="http://schemas.microsoft.com/office/drawing/2014/main" id="{3BDF3DD5-374B-4ED9-AB3D-3DFB6701EE76}"/>
              </a:ext>
            </a:extLst>
          </p:cNvPr>
          <p:cNvSpPr>
            <a:spLocks xmlns:a="http://schemas.openxmlformats.org/drawingml/2006/main" noGrp="1"/>
          </p:cNvSpPr>
          <p:nvPr/>
        </p:nvSpPr>
        <p:spPr>
          <a:xfrm xmlns:a="http://schemas.openxmlformats.org/drawingml/2006/main">
            <a:off x="2266950" y="1428750"/>
            <a:ext cx="1790700" cy="1809750"/>
          </a:xfrm>
          <a:prstGeom xmlns:a="http://schemas.openxmlformats.org/drawingml/2006/main" prst="roundRect">
            <a:avLst>
              <a:gd name="adj" fmla="val 4255"/>
            </a:avLst>
          </a:prstGeom>
          <a:solidFill xmlns:a="http://schemas.openxmlformats.org/drawingml/2006/main">
            <a:srgbClr val="0D2748"/>
          </a:solidFill>
          <a:ln xmlns:a="http://schemas.openxmlformats.org/drawingml/2006/main" w="9525">
            <a:solidFill>
              <a:srgbClr val="1B4C8A"/>
            </a:solidFill>
            <a:prstDash val="solid"/>
          </a:ln>
        </p:spPr>
      </p:sp>
      <p:sp>
        <p:nvSpPr>
          <p:cNvPr id="20" name="">
            <a:extLst xmlns:a="http://schemas.openxmlformats.org/drawingml/2006/main">
              <a:ext uri="{FF2B5EF4-FFF2-40B4-BE49-F238E27FC236}">
                <a16:creationId xmlns:a16="http://schemas.microsoft.com/office/drawing/2014/main" id="{EB008769-CDC5-49E7-898A-2F8C3AC843B8}"/>
              </a:ext>
            </a:extLst>
          </p:cNvPr>
          <p:cNvSpPr>
            <a:spLocks xmlns:a="http://schemas.openxmlformats.org/drawingml/2006/main" noGrp="1"/>
          </p:cNvSpPr>
          <p:nvPr/>
        </p:nvSpPr>
        <p:spPr>
          <a:xfrm xmlns:a="http://schemas.openxmlformats.org/drawingml/2006/main">
            <a:off x="2266950" y="1428750"/>
            <a:ext cx="1790700" cy="3810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0216DC7-1000-4C41-928F-283FECEEE28F}"/>
              </a:ext>
            </a:extLst>
          </p:cNvPr>
          <p:cNvSpPr>
            <a:spLocks xmlns:a="http://schemas.openxmlformats.org/drawingml/2006/main" noGrp="1"/>
          </p:cNvSpPr>
          <p:nvPr/>
        </p:nvSpPr>
        <p:spPr>
          <a:xfrm xmlns:a="http://schemas.openxmlformats.org/drawingml/2006/main">
            <a:off x="2419350" y="15621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7A9CC4"/>
                </a:solidFill>
                <a:latin typeface="Arial"/>
                <a:ea typeface="Arial"/>
                <a:cs typeface="Arial"/>
              </a:defRPr>
            </a:pPr>
            <a:r>
              <a:rPr sz="1125" b="1">
                <a:solidFill>
                  <a:srgbClr val="7A9CC4"/>
                </a:solidFill>
                <a:latin typeface="Arial"/>
                <a:ea typeface="Arial"/>
                <a:cs typeface="Arial"/>
              </a:rPr>
              <a:t>02</a:t>
            </a:r>
          </a:p>
        </p:txBody>
      </p:sp>
      <p:sp>
        <p:nvSpPr>
          <p:cNvPr id="22" name="">
            <a:extLst xmlns:a="http://schemas.openxmlformats.org/drawingml/2006/main">
              <a:ext uri="{FF2B5EF4-FFF2-40B4-BE49-F238E27FC236}">
                <a16:creationId xmlns:a16="http://schemas.microsoft.com/office/drawing/2014/main" id="{60948238-1686-4544-B1E8-1812CC329DA2}"/>
              </a:ext>
            </a:extLst>
          </p:cNvPr>
          <p:cNvSpPr>
            <a:spLocks xmlns:a="http://schemas.openxmlformats.org/drawingml/2006/main" noGrp="1"/>
          </p:cNvSpPr>
          <p:nvPr/>
        </p:nvSpPr>
        <p:spPr>
          <a:xfrm xmlns:a="http://schemas.openxmlformats.org/drawingml/2006/main">
            <a:off x="2419350" y="18288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数据入库</a:t>
            </a:r>
          </a:p>
        </p:txBody>
      </p:sp>
      <p:sp>
        <p:nvSpPr>
          <p:cNvPr id="23" name="">
            <a:extLst xmlns:a="http://schemas.openxmlformats.org/drawingml/2006/main">
              <a:ext uri="{FF2B5EF4-FFF2-40B4-BE49-F238E27FC236}">
                <a16:creationId xmlns:a16="http://schemas.microsoft.com/office/drawing/2014/main" id="{294F9FA1-D260-4339-A471-B4E6FF18032E}"/>
              </a:ext>
            </a:extLst>
          </p:cNvPr>
          <p:cNvSpPr>
            <a:spLocks xmlns:a="http://schemas.openxmlformats.org/drawingml/2006/main" noGrp="1"/>
          </p:cNvSpPr>
          <p:nvPr/>
        </p:nvSpPr>
        <p:spPr>
          <a:xfrm xmlns:a="http://schemas.openxmlformats.org/drawingml/2006/main">
            <a:off x="2419350" y="21336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结构化事实</a:t>
            </a:r>
          </a:p>
        </p:txBody>
      </p:sp>
      <p:sp>
        <p:nvSpPr>
          <p:cNvPr id="24" name="">
            <a:extLst xmlns:a="http://schemas.openxmlformats.org/drawingml/2006/main">
              <a:ext uri="{FF2B5EF4-FFF2-40B4-BE49-F238E27FC236}">
                <a16:creationId xmlns:a16="http://schemas.microsoft.com/office/drawing/2014/main" id="{242E8F29-081E-410E-9F8A-72C600D3DBF7}"/>
              </a:ext>
            </a:extLst>
          </p:cNvPr>
          <p:cNvSpPr>
            <a:spLocks xmlns:a="http://schemas.openxmlformats.org/drawingml/2006/main" noGrp="1"/>
          </p:cNvSpPr>
          <p:nvPr/>
        </p:nvSpPr>
        <p:spPr>
          <a:xfrm xmlns:a="http://schemas.openxmlformats.org/drawingml/2006/main">
            <a:off x="2419350" y="2400300"/>
            <a:ext cx="3429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B2FEAEC-D975-433B-97E6-000491377EA0}"/>
              </a:ext>
            </a:extLst>
          </p:cNvPr>
          <p:cNvSpPr>
            <a:spLocks xmlns:a="http://schemas.openxmlformats.org/drawingml/2006/main" noGrp="1"/>
          </p:cNvSpPr>
          <p:nvPr/>
        </p:nvSpPr>
        <p:spPr>
          <a:xfrm xmlns:a="http://schemas.openxmlformats.org/drawingml/2006/main">
            <a:off x="2419350" y="2495550"/>
            <a:ext cx="152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考试分 / 技能等级 / 检测值 / 报告文本 / 工时</a:t>
            </a:r>
          </a:p>
        </p:txBody>
      </p:sp>
      <p:sp>
        <p:nvSpPr>
          <p:cNvPr id="26" name="">
            <a:extLst xmlns:a="http://schemas.openxmlformats.org/drawingml/2006/main">
              <a:ext uri="{FF2B5EF4-FFF2-40B4-BE49-F238E27FC236}">
                <a16:creationId xmlns:a16="http://schemas.microsoft.com/office/drawing/2014/main" id="{B48FCB44-3B65-413D-8188-5DAB7BD8B71C}"/>
              </a:ext>
            </a:extLst>
          </p:cNvPr>
          <p:cNvSpPr>
            <a:spLocks xmlns:a="http://schemas.openxmlformats.org/drawingml/2006/main" noGrp="1"/>
          </p:cNvSpPr>
          <p:nvPr/>
        </p:nvSpPr>
        <p:spPr>
          <a:xfrm xmlns:a="http://schemas.openxmlformats.org/drawingml/2006/main">
            <a:off x="4076700" y="2209800"/>
            <a:ext cx="152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75" b="0">
                <a:solidFill>
                  <a:srgbClr val="F5C33B"/>
                </a:solidFill>
                <a:latin typeface="微软雅黑"/>
                <a:ea typeface="微软雅黑"/>
                <a:cs typeface="微软雅黑"/>
              </a:defRPr>
            </a:pPr>
            <a:r>
              <a:rPr sz="975" b="0">
                <a:solidFill>
                  <a:srgbClr val="F5C33B"/>
                </a:solidFill>
                <a:latin typeface="微软雅黑"/>
                <a:ea typeface="微软雅黑"/>
                <a:cs typeface="微软雅黑"/>
              </a:rPr>
              <a:t>▶</a:t>
            </a:r>
          </a:p>
        </p:txBody>
      </p:sp>
      <p:sp>
        <p:nvSpPr>
          <p:cNvPr id="27" name="">
            <a:extLst xmlns:a="http://schemas.openxmlformats.org/drawingml/2006/main">
              <a:ext uri="{FF2B5EF4-FFF2-40B4-BE49-F238E27FC236}">
                <a16:creationId xmlns:a16="http://schemas.microsoft.com/office/drawing/2014/main" id="{624BEFB8-3E21-4460-8EE8-89E891825388}"/>
              </a:ext>
            </a:extLst>
          </p:cNvPr>
          <p:cNvSpPr>
            <a:spLocks xmlns:a="http://schemas.openxmlformats.org/drawingml/2006/main" noGrp="1"/>
          </p:cNvSpPr>
          <p:nvPr/>
        </p:nvSpPr>
        <p:spPr>
          <a:xfrm xmlns:a="http://schemas.openxmlformats.org/drawingml/2006/main">
            <a:off x="4248150" y="1428750"/>
            <a:ext cx="1790700" cy="1809750"/>
          </a:xfrm>
          <a:prstGeom xmlns:a="http://schemas.openxmlformats.org/drawingml/2006/main" prst="roundRect">
            <a:avLst>
              <a:gd name="adj" fmla="val 4255"/>
            </a:avLst>
          </a:prstGeom>
          <a:solidFill xmlns:a="http://schemas.openxmlformats.org/drawingml/2006/main">
            <a:srgbClr val="0D2748"/>
          </a:solidFill>
          <a:ln xmlns:a="http://schemas.openxmlformats.org/drawingml/2006/main" w="9525">
            <a:solidFill>
              <a:srgbClr val="1B4C8A"/>
            </a:solidFill>
            <a:prstDash val="solid"/>
          </a:ln>
        </p:spPr>
      </p:sp>
      <p:sp>
        <p:nvSpPr>
          <p:cNvPr id="28" name="">
            <a:extLst xmlns:a="http://schemas.openxmlformats.org/drawingml/2006/main">
              <a:ext uri="{FF2B5EF4-FFF2-40B4-BE49-F238E27FC236}">
                <a16:creationId xmlns:a16="http://schemas.microsoft.com/office/drawing/2014/main" id="{6DAF192B-B80E-4A8F-8047-D568B8FFE756}"/>
              </a:ext>
            </a:extLst>
          </p:cNvPr>
          <p:cNvSpPr>
            <a:spLocks xmlns:a="http://schemas.openxmlformats.org/drawingml/2006/main" noGrp="1"/>
          </p:cNvSpPr>
          <p:nvPr/>
        </p:nvSpPr>
        <p:spPr>
          <a:xfrm xmlns:a="http://schemas.openxmlformats.org/drawingml/2006/main">
            <a:off x="4248150" y="1428750"/>
            <a:ext cx="1790700" cy="38100"/>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88E125E-22C3-4521-9F73-2E0006D75050}"/>
              </a:ext>
            </a:extLst>
          </p:cNvPr>
          <p:cNvSpPr>
            <a:spLocks xmlns:a="http://schemas.openxmlformats.org/drawingml/2006/main" noGrp="1"/>
          </p:cNvSpPr>
          <p:nvPr/>
        </p:nvSpPr>
        <p:spPr>
          <a:xfrm xmlns:a="http://schemas.openxmlformats.org/drawingml/2006/main">
            <a:off x="4400550" y="15621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7A9CC4"/>
                </a:solidFill>
                <a:latin typeface="Arial"/>
                <a:ea typeface="Arial"/>
                <a:cs typeface="Arial"/>
              </a:defRPr>
            </a:pPr>
            <a:r>
              <a:rPr sz="1125" b="1">
                <a:solidFill>
                  <a:srgbClr val="7A9CC4"/>
                </a:solidFill>
                <a:latin typeface="Arial"/>
                <a:ea typeface="Arial"/>
                <a:cs typeface="Arial"/>
              </a:rPr>
              <a:t>03</a:t>
            </a:r>
          </a:p>
        </p:txBody>
      </p:sp>
      <p:sp>
        <p:nvSpPr>
          <p:cNvPr id="30" name="">
            <a:extLst xmlns:a="http://schemas.openxmlformats.org/drawingml/2006/main">
              <a:ext uri="{FF2B5EF4-FFF2-40B4-BE49-F238E27FC236}">
                <a16:creationId xmlns:a16="http://schemas.microsoft.com/office/drawing/2014/main" id="{1CEEED60-34EA-49A8-8366-2EF452CF94CE}"/>
              </a:ext>
            </a:extLst>
          </p:cNvPr>
          <p:cNvSpPr>
            <a:spLocks xmlns:a="http://schemas.openxmlformats.org/drawingml/2006/main" noGrp="1"/>
          </p:cNvSpPr>
          <p:nvPr/>
        </p:nvSpPr>
        <p:spPr>
          <a:xfrm xmlns:a="http://schemas.openxmlformats.org/drawingml/2006/main">
            <a:off x="4400550" y="18288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规则匹配</a:t>
            </a:r>
          </a:p>
        </p:txBody>
      </p:sp>
      <p:sp>
        <p:nvSpPr>
          <p:cNvPr id="31" name="">
            <a:extLst xmlns:a="http://schemas.openxmlformats.org/drawingml/2006/main">
              <a:ext uri="{FF2B5EF4-FFF2-40B4-BE49-F238E27FC236}">
                <a16:creationId xmlns:a16="http://schemas.microsoft.com/office/drawing/2014/main" id="{6FF762CF-200A-4FCE-AD2F-2CF572D99D15}"/>
              </a:ext>
            </a:extLst>
          </p:cNvPr>
          <p:cNvSpPr>
            <a:spLocks xmlns:a="http://schemas.openxmlformats.org/drawingml/2006/main" noGrp="1"/>
          </p:cNvSpPr>
          <p:nvPr/>
        </p:nvSpPr>
        <p:spPr>
          <a:xfrm xmlns:a="http://schemas.openxmlformats.org/drawingml/2006/main">
            <a:off x="4400550" y="21336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确定性求值</a:t>
            </a:r>
          </a:p>
        </p:txBody>
      </p:sp>
      <p:sp>
        <p:nvSpPr>
          <p:cNvPr id="32" name="">
            <a:extLst xmlns:a="http://schemas.openxmlformats.org/drawingml/2006/main">
              <a:ext uri="{FF2B5EF4-FFF2-40B4-BE49-F238E27FC236}">
                <a16:creationId xmlns:a16="http://schemas.microsoft.com/office/drawing/2014/main" id="{8235F3A1-8B01-4117-9CF6-11F6FE3B4FF7}"/>
              </a:ext>
            </a:extLst>
          </p:cNvPr>
          <p:cNvSpPr>
            <a:spLocks xmlns:a="http://schemas.openxmlformats.org/drawingml/2006/main" noGrp="1"/>
          </p:cNvSpPr>
          <p:nvPr/>
        </p:nvSpPr>
        <p:spPr>
          <a:xfrm xmlns:a="http://schemas.openxmlformats.org/drawingml/2006/main">
            <a:off x="4400550" y="2400300"/>
            <a:ext cx="3429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0EB7902-A25F-435E-8CF2-23822AB8C379}"/>
              </a:ext>
            </a:extLst>
          </p:cNvPr>
          <p:cNvSpPr>
            <a:spLocks xmlns:a="http://schemas.openxmlformats.org/drawingml/2006/main" noGrp="1"/>
          </p:cNvSpPr>
          <p:nvPr/>
        </p:nvSpPr>
        <p:spPr>
          <a:xfrm xmlns:a="http://schemas.openxmlformats.org/drawingml/2006/main">
            <a:off x="4400550" y="2495550"/>
            <a:ext cx="152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按场景取规则 → priority 降序 → 白名单算子</a:t>
            </a:r>
          </a:p>
        </p:txBody>
      </p:sp>
      <p:sp>
        <p:nvSpPr>
          <p:cNvPr id="34" name="">
            <a:extLst xmlns:a="http://schemas.openxmlformats.org/drawingml/2006/main">
              <a:ext uri="{FF2B5EF4-FFF2-40B4-BE49-F238E27FC236}">
                <a16:creationId xmlns:a16="http://schemas.microsoft.com/office/drawing/2014/main" id="{A3A04E33-AC2A-463B-9CE3-652287F657CB}"/>
              </a:ext>
            </a:extLst>
          </p:cNvPr>
          <p:cNvSpPr>
            <a:spLocks xmlns:a="http://schemas.openxmlformats.org/drawingml/2006/main" noGrp="1"/>
          </p:cNvSpPr>
          <p:nvPr/>
        </p:nvSpPr>
        <p:spPr>
          <a:xfrm xmlns:a="http://schemas.openxmlformats.org/drawingml/2006/main">
            <a:off x="6057900" y="2209800"/>
            <a:ext cx="152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75" b="0">
                <a:solidFill>
                  <a:srgbClr val="F5C33B"/>
                </a:solidFill>
                <a:latin typeface="微软雅黑"/>
                <a:ea typeface="微软雅黑"/>
                <a:cs typeface="微软雅黑"/>
              </a:defRPr>
            </a:pPr>
            <a:r>
              <a:rPr sz="975" b="0">
                <a:solidFill>
                  <a:srgbClr val="F5C33B"/>
                </a:solidFill>
                <a:latin typeface="微软雅黑"/>
                <a:ea typeface="微软雅黑"/>
                <a:cs typeface="微软雅黑"/>
              </a:rPr>
              <a:t>▶</a:t>
            </a:r>
          </a:p>
        </p:txBody>
      </p:sp>
      <p:sp>
        <p:nvSpPr>
          <p:cNvPr id="35" name="">
            <a:extLst xmlns:a="http://schemas.openxmlformats.org/drawingml/2006/main">
              <a:ext uri="{FF2B5EF4-FFF2-40B4-BE49-F238E27FC236}">
                <a16:creationId xmlns:a16="http://schemas.microsoft.com/office/drawing/2014/main" id="{EBD6DFF7-7BDC-46E5-AA0F-4FA7707B91B9}"/>
              </a:ext>
            </a:extLst>
          </p:cNvPr>
          <p:cNvSpPr>
            <a:spLocks xmlns:a="http://schemas.openxmlformats.org/drawingml/2006/main" noGrp="1"/>
          </p:cNvSpPr>
          <p:nvPr/>
        </p:nvSpPr>
        <p:spPr>
          <a:xfrm xmlns:a="http://schemas.openxmlformats.org/drawingml/2006/main">
            <a:off x="6229350" y="1428750"/>
            <a:ext cx="1790700" cy="1809750"/>
          </a:xfrm>
          <a:prstGeom xmlns:a="http://schemas.openxmlformats.org/drawingml/2006/main" prst="roundRect">
            <a:avLst>
              <a:gd name="adj" fmla="val 4255"/>
            </a:avLst>
          </a:prstGeom>
          <a:solidFill xmlns:a="http://schemas.openxmlformats.org/drawingml/2006/main">
            <a:srgbClr val="0D2748"/>
          </a:solidFill>
          <a:ln xmlns:a="http://schemas.openxmlformats.org/drawingml/2006/main" w="9525">
            <a:solidFill>
              <a:srgbClr val="1B4C8A"/>
            </a:solidFill>
            <a:prstDash val="solid"/>
          </a:ln>
        </p:spPr>
      </p:sp>
      <p:sp>
        <p:nvSpPr>
          <p:cNvPr id="36" name="">
            <a:extLst xmlns:a="http://schemas.openxmlformats.org/drawingml/2006/main">
              <a:ext uri="{FF2B5EF4-FFF2-40B4-BE49-F238E27FC236}">
                <a16:creationId xmlns:a16="http://schemas.microsoft.com/office/drawing/2014/main" id="{C1347DA3-9811-4DC6-BC76-7B3A616BA3B6}"/>
              </a:ext>
            </a:extLst>
          </p:cNvPr>
          <p:cNvSpPr>
            <a:spLocks xmlns:a="http://schemas.openxmlformats.org/drawingml/2006/main" noGrp="1"/>
          </p:cNvSpPr>
          <p:nvPr/>
        </p:nvSpPr>
        <p:spPr>
          <a:xfrm xmlns:a="http://schemas.openxmlformats.org/drawingml/2006/main">
            <a:off x="6229350" y="1428750"/>
            <a:ext cx="1790700" cy="3810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5371204A-AEE0-4CE3-AB1B-7AEE072508AB}"/>
              </a:ext>
            </a:extLst>
          </p:cNvPr>
          <p:cNvSpPr>
            <a:spLocks xmlns:a="http://schemas.openxmlformats.org/drawingml/2006/main" noGrp="1"/>
          </p:cNvSpPr>
          <p:nvPr/>
        </p:nvSpPr>
        <p:spPr>
          <a:xfrm xmlns:a="http://schemas.openxmlformats.org/drawingml/2006/main">
            <a:off x="6381750" y="15621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7A9CC4"/>
                </a:solidFill>
                <a:latin typeface="Arial"/>
                <a:ea typeface="Arial"/>
                <a:cs typeface="Arial"/>
              </a:defRPr>
            </a:pPr>
            <a:r>
              <a:rPr sz="1125" b="1">
                <a:solidFill>
                  <a:srgbClr val="7A9CC4"/>
                </a:solidFill>
                <a:latin typeface="Arial"/>
                <a:ea typeface="Arial"/>
                <a:cs typeface="Arial"/>
              </a:rPr>
              <a:t>04</a:t>
            </a:r>
          </a:p>
        </p:txBody>
      </p:sp>
      <p:sp>
        <p:nvSpPr>
          <p:cNvPr id="38" name="">
            <a:extLst xmlns:a="http://schemas.openxmlformats.org/drawingml/2006/main">
              <a:ext uri="{FF2B5EF4-FFF2-40B4-BE49-F238E27FC236}">
                <a16:creationId xmlns:a16="http://schemas.microsoft.com/office/drawing/2014/main" id="{6DC6EA3E-70FD-499C-BFD8-7C9834E05D3D}"/>
              </a:ext>
            </a:extLst>
          </p:cNvPr>
          <p:cNvSpPr>
            <a:spLocks xmlns:a="http://schemas.openxmlformats.org/drawingml/2006/main" noGrp="1"/>
          </p:cNvSpPr>
          <p:nvPr/>
        </p:nvSpPr>
        <p:spPr>
          <a:xfrm xmlns:a="http://schemas.openxmlformats.org/drawingml/2006/main">
            <a:off x="6381750" y="18288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结论生成</a:t>
            </a:r>
          </a:p>
        </p:txBody>
      </p:sp>
      <p:sp>
        <p:nvSpPr>
          <p:cNvPr id="39" name="">
            <a:extLst xmlns:a="http://schemas.openxmlformats.org/drawingml/2006/main">
              <a:ext uri="{FF2B5EF4-FFF2-40B4-BE49-F238E27FC236}">
                <a16:creationId xmlns:a16="http://schemas.microsoft.com/office/drawing/2014/main" id="{9A2C589E-302D-4DE3-A0F5-1FEFB1CAFA4D}"/>
              </a:ext>
            </a:extLst>
          </p:cNvPr>
          <p:cNvSpPr>
            <a:spLocks xmlns:a="http://schemas.openxmlformats.org/drawingml/2006/main" noGrp="1"/>
          </p:cNvSpPr>
          <p:nvPr/>
        </p:nvSpPr>
        <p:spPr>
          <a:xfrm xmlns:a="http://schemas.openxmlformats.org/drawingml/2006/main">
            <a:off x="6381750" y="21336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带依据的判定</a:t>
            </a:r>
          </a:p>
        </p:txBody>
      </p:sp>
      <p:sp>
        <p:nvSpPr>
          <p:cNvPr id="40" name="">
            <a:extLst xmlns:a="http://schemas.openxmlformats.org/drawingml/2006/main">
              <a:ext uri="{FF2B5EF4-FFF2-40B4-BE49-F238E27FC236}">
                <a16:creationId xmlns:a16="http://schemas.microsoft.com/office/drawing/2014/main" id="{CFF65573-5025-4ED5-9D0D-06BFC8AA1FF3}"/>
              </a:ext>
            </a:extLst>
          </p:cNvPr>
          <p:cNvSpPr>
            <a:spLocks xmlns:a="http://schemas.openxmlformats.org/drawingml/2006/main" noGrp="1"/>
          </p:cNvSpPr>
          <p:nvPr/>
        </p:nvSpPr>
        <p:spPr>
          <a:xfrm xmlns:a="http://schemas.openxmlformats.org/drawingml/2006/main">
            <a:off x="6381750" y="2400300"/>
            <a:ext cx="3429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10269A91-EAC8-4385-8FC3-9D6F93FD41A8}"/>
              </a:ext>
            </a:extLst>
          </p:cNvPr>
          <p:cNvSpPr>
            <a:spLocks xmlns:a="http://schemas.openxmlformats.org/drawingml/2006/main" noGrp="1"/>
          </p:cNvSpPr>
          <p:nvPr/>
        </p:nvSpPr>
        <p:spPr>
          <a:xfrm xmlns:a="http://schemas.openxmlformats.org/drawingml/2006/main">
            <a:off x="6381750" y="2495550"/>
            <a:ext cx="152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verdict：动作 / 原因 / 严重度 / rule_refs / 置信度</a:t>
            </a:r>
          </a:p>
        </p:txBody>
      </p:sp>
      <p:sp>
        <p:nvSpPr>
          <p:cNvPr id="42" name="">
            <a:extLst xmlns:a="http://schemas.openxmlformats.org/drawingml/2006/main">
              <a:ext uri="{FF2B5EF4-FFF2-40B4-BE49-F238E27FC236}">
                <a16:creationId xmlns:a16="http://schemas.microsoft.com/office/drawing/2014/main" id="{AD8D65B6-D59A-47D8-8BA4-A011D8317960}"/>
              </a:ext>
            </a:extLst>
          </p:cNvPr>
          <p:cNvSpPr>
            <a:spLocks xmlns:a="http://schemas.openxmlformats.org/drawingml/2006/main" noGrp="1"/>
          </p:cNvSpPr>
          <p:nvPr/>
        </p:nvSpPr>
        <p:spPr>
          <a:xfrm xmlns:a="http://schemas.openxmlformats.org/drawingml/2006/main">
            <a:off x="8039100" y="2209800"/>
            <a:ext cx="152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75" b="0">
                <a:solidFill>
                  <a:srgbClr val="F5C33B"/>
                </a:solidFill>
                <a:latin typeface="微软雅黑"/>
                <a:ea typeface="微软雅黑"/>
                <a:cs typeface="微软雅黑"/>
              </a:defRPr>
            </a:pPr>
            <a:r>
              <a:rPr sz="975" b="0">
                <a:solidFill>
                  <a:srgbClr val="F5C33B"/>
                </a:solidFill>
                <a:latin typeface="微软雅黑"/>
                <a:ea typeface="微软雅黑"/>
                <a:cs typeface="微软雅黑"/>
              </a:rPr>
              <a:t>▶</a:t>
            </a:r>
          </a:p>
        </p:txBody>
      </p:sp>
      <p:sp>
        <p:nvSpPr>
          <p:cNvPr id="43" name="">
            <a:extLst xmlns:a="http://schemas.openxmlformats.org/drawingml/2006/main">
              <a:ext uri="{FF2B5EF4-FFF2-40B4-BE49-F238E27FC236}">
                <a16:creationId xmlns:a16="http://schemas.microsoft.com/office/drawing/2014/main" id="{4FB2CDD6-9EB5-4AA0-87BB-9729E611CCAF}"/>
              </a:ext>
            </a:extLst>
          </p:cNvPr>
          <p:cNvSpPr>
            <a:spLocks xmlns:a="http://schemas.openxmlformats.org/drawingml/2006/main" noGrp="1"/>
          </p:cNvSpPr>
          <p:nvPr/>
        </p:nvSpPr>
        <p:spPr>
          <a:xfrm xmlns:a="http://schemas.openxmlformats.org/drawingml/2006/main">
            <a:off x="8210550" y="1428750"/>
            <a:ext cx="1790700" cy="1809750"/>
          </a:xfrm>
          <a:prstGeom xmlns:a="http://schemas.openxmlformats.org/drawingml/2006/main" prst="roundRect">
            <a:avLst>
              <a:gd name="adj" fmla="val 4255"/>
            </a:avLst>
          </a:prstGeom>
          <a:solidFill xmlns:a="http://schemas.openxmlformats.org/drawingml/2006/main">
            <a:srgbClr val="0D2748"/>
          </a:solidFill>
          <a:ln xmlns:a="http://schemas.openxmlformats.org/drawingml/2006/main" w="9525">
            <a:solidFill>
              <a:srgbClr val="1B4C8A"/>
            </a:solidFill>
            <a:prstDash val="solid"/>
          </a:ln>
        </p:spPr>
      </p:sp>
      <p:sp>
        <p:nvSpPr>
          <p:cNvPr id="44" name="">
            <a:extLst xmlns:a="http://schemas.openxmlformats.org/drawingml/2006/main">
              <a:ext uri="{FF2B5EF4-FFF2-40B4-BE49-F238E27FC236}">
                <a16:creationId xmlns:a16="http://schemas.microsoft.com/office/drawing/2014/main" id="{E06536C5-DBEF-43BF-9317-7B8099732062}"/>
              </a:ext>
            </a:extLst>
          </p:cNvPr>
          <p:cNvSpPr>
            <a:spLocks xmlns:a="http://schemas.openxmlformats.org/drawingml/2006/main" noGrp="1"/>
          </p:cNvSpPr>
          <p:nvPr/>
        </p:nvSpPr>
        <p:spPr>
          <a:xfrm xmlns:a="http://schemas.openxmlformats.org/drawingml/2006/main">
            <a:off x="8210550" y="1428750"/>
            <a:ext cx="1790700" cy="38100"/>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A1A651A0-217E-4FD2-96A6-83042C9275ED}"/>
              </a:ext>
            </a:extLst>
          </p:cNvPr>
          <p:cNvSpPr>
            <a:spLocks xmlns:a="http://schemas.openxmlformats.org/drawingml/2006/main" noGrp="1"/>
          </p:cNvSpPr>
          <p:nvPr/>
        </p:nvSpPr>
        <p:spPr>
          <a:xfrm xmlns:a="http://schemas.openxmlformats.org/drawingml/2006/main">
            <a:off x="8362950" y="15621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7A9CC4"/>
                </a:solidFill>
                <a:latin typeface="Arial"/>
                <a:ea typeface="Arial"/>
                <a:cs typeface="Arial"/>
              </a:defRPr>
            </a:pPr>
            <a:r>
              <a:rPr sz="1125" b="1">
                <a:solidFill>
                  <a:srgbClr val="7A9CC4"/>
                </a:solidFill>
                <a:latin typeface="Arial"/>
                <a:ea typeface="Arial"/>
                <a:cs typeface="Arial"/>
              </a:rPr>
              <a:t>05</a:t>
            </a:r>
          </a:p>
        </p:txBody>
      </p:sp>
      <p:sp>
        <p:nvSpPr>
          <p:cNvPr id="46" name="">
            <a:extLst xmlns:a="http://schemas.openxmlformats.org/drawingml/2006/main">
              <a:ext uri="{FF2B5EF4-FFF2-40B4-BE49-F238E27FC236}">
                <a16:creationId xmlns:a16="http://schemas.microsoft.com/office/drawing/2014/main" id="{972B2B24-46B1-4EF2-A7E5-E16024B5FCBD}"/>
              </a:ext>
            </a:extLst>
          </p:cNvPr>
          <p:cNvSpPr>
            <a:spLocks xmlns:a="http://schemas.openxmlformats.org/drawingml/2006/main" noGrp="1"/>
          </p:cNvSpPr>
          <p:nvPr/>
        </p:nvSpPr>
        <p:spPr>
          <a:xfrm xmlns:a="http://schemas.openxmlformats.org/drawingml/2006/main">
            <a:off x="8362950" y="18288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人工确认</a:t>
            </a:r>
          </a:p>
        </p:txBody>
      </p:sp>
      <p:sp>
        <p:nvSpPr>
          <p:cNvPr id="47" name="">
            <a:extLst xmlns:a="http://schemas.openxmlformats.org/drawingml/2006/main">
              <a:ext uri="{FF2B5EF4-FFF2-40B4-BE49-F238E27FC236}">
                <a16:creationId xmlns:a16="http://schemas.microsoft.com/office/drawing/2014/main" id="{F19D9BFB-73AE-462F-A38D-242C607E9FF3}"/>
              </a:ext>
            </a:extLst>
          </p:cNvPr>
          <p:cNvSpPr>
            <a:spLocks xmlns:a="http://schemas.openxmlformats.org/drawingml/2006/main" noGrp="1"/>
          </p:cNvSpPr>
          <p:nvPr/>
        </p:nvSpPr>
        <p:spPr>
          <a:xfrm xmlns:a="http://schemas.openxmlformats.org/drawingml/2006/main">
            <a:off x="8362950" y="21336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角色把关</a:t>
            </a:r>
          </a:p>
        </p:txBody>
      </p:sp>
      <p:sp>
        <p:nvSpPr>
          <p:cNvPr id="48" name="">
            <a:extLst xmlns:a="http://schemas.openxmlformats.org/drawingml/2006/main">
              <a:ext uri="{FF2B5EF4-FFF2-40B4-BE49-F238E27FC236}">
                <a16:creationId xmlns:a16="http://schemas.microsoft.com/office/drawing/2014/main" id="{D15D320A-1317-4836-93C0-12BD5DA660D2}"/>
              </a:ext>
            </a:extLst>
          </p:cNvPr>
          <p:cNvSpPr>
            <a:spLocks xmlns:a="http://schemas.openxmlformats.org/drawingml/2006/main" noGrp="1"/>
          </p:cNvSpPr>
          <p:nvPr/>
        </p:nvSpPr>
        <p:spPr>
          <a:xfrm xmlns:a="http://schemas.openxmlformats.org/drawingml/2006/main">
            <a:off x="8362950" y="2400300"/>
            <a:ext cx="3429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60E00707-9BA3-4907-A9AC-9903E17AB7ED}"/>
              </a:ext>
            </a:extLst>
          </p:cNvPr>
          <p:cNvSpPr>
            <a:spLocks xmlns:a="http://schemas.openxmlformats.org/drawingml/2006/main" noGrp="1"/>
          </p:cNvSpPr>
          <p:nvPr/>
        </p:nvSpPr>
        <p:spPr>
          <a:xfrm xmlns:a="http://schemas.openxmlformats.org/drawingml/2006/main">
            <a:off x="8362950" y="2495550"/>
            <a:ext cx="152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员工 / 班组长 / 老总三端确认，采纳、驳回或修改</a:t>
            </a:r>
          </a:p>
        </p:txBody>
      </p:sp>
      <p:sp>
        <p:nvSpPr>
          <p:cNvPr id="50" name="">
            <a:extLst xmlns:a="http://schemas.openxmlformats.org/drawingml/2006/main">
              <a:ext uri="{FF2B5EF4-FFF2-40B4-BE49-F238E27FC236}">
                <a16:creationId xmlns:a16="http://schemas.microsoft.com/office/drawing/2014/main" id="{5EA7B7CF-D36C-4FD1-9C95-D68801E6EF73}"/>
              </a:ext>
            </a:extLst>
          </p:cNvPr>
          <p:cNvSpPr>
            <a:spLocks xmlns:a="http://schemas.openxmlformats.org/drawingml/2006/main" noGrp="1"/>
          </p:cNvSpPr>
          <p:nvPr/>
        </p:nvSpPr>
        <p:spPr>
          <a:xfrm xmlns:a="http://schemas.openxmlformats.org/drawingml/2006/main">
            <a:off x="10020300" y="2209800"/>
            <a:ext cx="152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75" b="0">
                <a:solidFill>
                  <a:srgbClr val="F5C33B"/>
                </a:solidFill>
                <a:latin typeface="微软雅黑"/>
                <a:ea typeface="微软雅黑"/>
                <a:cs typeface="微软雅黑"/>
              </a:defRPr>
            </a:pPr>
            <a:r>
              <a:rPr sz="975" b="0">
                <a:solidFill>
                  <a:srgbClr val="F5C33B"/>
                </a:solidFill>
                <a:latin typeface="微软雅黑"/>
                <a:ea typeface="微软雅黑"/>
                <a:cs typeface="微软雅黑"/>
              </a:rPr>
              <a:t>▶</a:t>
            </a:r>
          </a:p>
        </p:txBody>
      </p:sp>
      <p:sp>
        <p:nvSpPr>
          <p:cNvPr id="51" name="">
            <a:extLst xmlns:a="http://schemas.openxmlformats.org/drawingml/2006/main">
              <a:ext uri="{FF2B5EF4-FFF2-40B4-BE49-F238E27FC236}">
                <a16:creationId xmlns:a16="http://schemas.microsoft.com/office/drawing/2014/main" id="{04444738-6F4B-4B3F-AFD7-2B5ABAF1BBA7}"/>
              </a:ext>
            </a:extLst>
          </p:cNvPr>
          <p:cNvSpPr>
            <a:spLocks xmlns:a="http://schemas.openxmlformats.org/drawingml/2006/main" noGrp="1"/>
          </p:cNvSpPr>
          <p:nvPr/>
        </p:nvSpPr>
        <p:spPr>
          <a:xfrm xmlns:a="http://schemas.openxmlformats.org/drawingml/2006/main">
            <a:off x="10191750" y="1428750"/>
            <a:ext cx="1790700" cy="1809750"/>
          </a:xfrm>
          <a:prstGeom xmlns:a="http://schemas.openxmlformats.org/drawingml/2006/main" prst="roundRect">
            <a:avLst>
              <a:gd name="adj" fmla="val 4255"/>
            </a:avLst>
          </a:prstGeom>
          <a:solidFill xmlns:a="http://schemas.openxmlformats.org/drawingml/2006/main">
            <a:srgbClr val="0D2748"/>
          </a:solidFill>
          <a:ln xmlns:a="http://schemas.openxmlformats.org/drawingml/2006/main" w="9525">
            <a:solidFill>
              <a:srgbClr val="1B4C8A"/>
            </a:solidFill>
            <a:prstDash val="solid"/>
          </a:ln>
        </p:spPr>
      </p:sp>
      <p:sp>
        <p:nvSpPr>
          <p:cNvPr id="52" name="">
            <a:extLst xmlns:a="http://schemas.openxmlformats.org/drawingml/2006/main">
              <a:ext uri="{FF2B5EF4-FFF2-40B4-BE49-F238E27FC236}">
                <a16:creationId xmlns:a16="http://schemas.microsoft.com/office/drawing/2014/main" id="{2866C5E9-BE75-4588-8886-0E3926E219ED}"/>
              </a:ext>
            </a:extLst>
          </p:cNvPr>
          <p:cNvSpPr>
            <a:spLocks xmlns:a="http://schemas.openxmlformats.org/drawingml/2006/main" noGrp="1"/>
          </p:cNvSpPr>
          <p:nvPr/>
        </p:nvSpPr>
        <p:spPr>
          <a:xfrm xmlns:a="http://schemas.openxmlformats.org/drawingml/2006/main">
            <a:off x="10191750" y="1428750"/>
            <a:ext cx="1790700" cy="3810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72E892DD-4E44-4628-9C60-82B0744866ED}"/>
              </a:ext>
            </a:extLst>
          </p:cNvPr>
          <p:cNvSpPr>
            <a:spLocks xmlns:a="http://schemas.openxmlformats.org/drawingml/2006/main" noGrp="1"/>
          </p:cNvSpPr>
          <p:nvPr/>
        </p:nvSpPr>
        <p:spPr>
          <a:xfrm xmlns:a="http://schemas.openxmlformats.org/drawingml/2006/main">
            <a:off x="10344150" y="15621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7A9CC4"/>
                </a:solidFill>
                <a:latin typeface="Arial"/>
                <a:ea typeface="Arial"/>
                <a:cs typeface="Arial"/>
              </a:defRPr>
            </a:pPr>
            <a:r>
              <a:rPr sz="1125" b="1">
                <a:solidFill>
                  <a:srgbClr val="7A9CC4"/>
                </a:solidFill>
                <a:latin typeface="Arial"/>
                <a:ea typeface="Arial"/>
                <a:cs typeface="Arial"/>
              </a:rPr>
              <a:t>06</a:t>
            </a:r>
          </a:p>
        </p:txBody>
      </p:sp>
      <p:sp>
        <p:nvSpPr>
          <p:cNvPr id="54" name="">
            <a:extLst xmlns:a="http://schemas.openxmlformats.org/drawingml/2006/main">
              <a:ext uri="{FF2B5EF4-FFF2-40B4-BE49-F238E27FC236}">
                <a16:creationId xmlns:a16="http://schemas.microsoft.com/office/drawing/2014/main" id="{FBA65F75-8891-46F7-8529-D15824056DB9}"/>
              </a:ext>
            </a:extLst>
          </p:cNvPr>
          <p:cNvSpPr>
            <a:spLocks xmlns:a="http://schemas.openxmlformats.org/drawingml/2006/main" noGrp="1"/>
          </p:cNvSpPr>
          <p:nvPr/>
        </p:nvSpPr>
        <p:spPr>
          <a:xfrm xmlns:a="http://schemas.openxmlformats.org/drawingml/2006/main">
            <a:off x="10344150" y="18288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决策留痕</a:t>
            </a:r>
          </a:p>
        </p:txBody>
      </p:sp>
      <p:sp>
        <p:nvSpPr>
          <p:cNvPr id="55" name="">
            <a:extLst xmlns:a="http://schemas.openxmlformats.org/drawingml/2006/main">
              <a:ext uri="{FF2B5EF4-FFF2-40B4-BE49-F238E27FC236}">
                <a16:creationId xmlns:a16="http://schemas.microsoft.com/office/drawing/2014/main" id="{39073726-AA78-4C0E-80D8-47344F322EA1}"/>
              </a:ext>
            </a:extLst>
          </p:cNvPr>
          <p:cNvSpPr>
            <a:spLocks xmlns:a="http://schemas.openxmlformats.org/drawingml/2006/main" noGrp="1"/>
          </p:cNvSpPr>
          <p:nvPr/>
        </p:nvSpPr>
        <p:spPr>
          <a:xfrm xmlns:a="http://schemas.openxmlformats.org/drawingml/2006/main">
            <a:off x="10344150" y="21336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可审计闭环</a:t>
            </a:r>
          </a:p>
        </p:txBody>
      </p:sp>
      <p:sp>
        <p:nvSpPr>
          <p:cNvPr id="56" name="">
            <a:extLst xmlns:a="http://schemas.openxmlformats.org/drawingml/2006/main">
              <a:ext uri="{FF2B5EF4-FFF2-40B4-BE49-F238E27FC236}">
                <a16:creationId xmlns:a16="http://schemas.microsoft.com/office/drawing/2014/main" id="{B4E8075C-79B3-4906-A156-5679F87F7DF3}"/>
              </a:ext>
            </a:extLst>
          </p:cNvPr>
          <p:cNvSpPr>
            <a:spLocks xmlns:a="http://schemas.openxmlformats.org/drawingml/2006/main" noGrp="1"/>
          </p:cNvSpPr>
          <p:nvPr/>
        </p:nvSpPr>
        <p:spPr>
          <a:xfrm xmlns:a="http://schemas.openxmlformats.org/drawingml/2006/main">
            <a:off x="10344150" y="2400300"/>
            <a:ext cx="3429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6C25E939-E83C-4E06-8F64-D63DAA2CCD77}"/>
              </a:ext>
            </a:extLst>
          </p:cNvPr>
          <p:cNvSpPr>
            <a:spLocks xmlns:a="http://schemas.openxmlformats.org/drawingml/2006/main" noGrp="1"/>
          </p:cNvSpPr>
          <p:nvPr/>
        </p:nvSpPr>
        <p:spPr>
          <a:xfrm xmlns:a="http://schemas.openxmlformats.org/drawingml/2006/main">
            <a:off x="10344150" y="2495550"/>
            <a:ext cx="152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run_id 串起 rule_result / agent_suggestion / decision_log</a:t>
            </a:r>
          </a:p>
        </p:txBody>
      </p:sp>
      <p:sp>
        <p:nvSpPr>
          <p:cNvPr id="58" name="">
            <a:extLst xmlns:a="http://schemas.openxmlformats.org/drawingml/2006/main">
              <a:ext uri="{FF2B5EF4-FFF2-40B4-BE49-F238E27FC236}">
                <a16:creationId xmlns:a16="http://schemas.microsoft.com/office/drawing/2014/main" id="{92657CE2-AE48-4F37-9D57-1322C88739D3}"/>
              </a:ext>
            </a:extLst>
          </p:cNvPr>
          <p:cNvSpPr>
            <a:spLocks xmlns:a="http://schemas.openxmlformats.org/drawingml/2006/main" noGrp="1"/>
          </p:cNvSpPr>
          <p:nvPr/>
        </p:nvSpPr>
        <p:spPr>
          <a:xfrm xmlns:a="http://schemas.openxmlformats.org/drawingml/2006/main">
            <a:off x="285750" y="3429000"/>
            <a:ext cx="11620500" cy="1143000"/>
          </a:xfrm>
          <a:prstGeom xmlns:a="http://schemas.openxmlformats.org/drawingml/2006/main" prst="roundRect">
            <a:avLst>
              <a:gd name="adj" fmla="val 6667"/>
            </a:avLst>
          </a:prstGeom>
          <a:solidFill xmlns:a="http://schemas.openxmlformats.org/drawingml/2006/main">
            <a:srgbClr val="0A2547"/>
          </a:solidFill>
          <a:ln xmlns:a="http://schemas.openxmlformats.org/drawingml/2006/main" w="9525">
            <a:solidFill>
              <a:srgbClr val="2A6BAE"/>
            </a:solidFill>
            <a:prstDash val="solid"/>
          </a:ln>
        </p:spPr>
      </p:sp>
      <p:sp>
        <p:nvSpPr>
          <p:cNvPr id="59" name="">
            <a:extLst xmlns:a="http://schemas.openxmlformats.org/drawingml/2006/main">
              <a:ext uri="{FF2B5EF4-FFF2-40B4-BE49-F238E27FC236}">
                <a16:creationId xmlns:a16="http://schemas.microsoft.com/office/drawing/2014/main" id="{43BF803D-CE54-4CE2-AD37-2056889D121D}"/>
              </a:ext>
            </a:extLst>
          </p:cNvPr>
          <p:cNvSpPr>
            <a:spLocks xmlns:a="http://schemas.openxmlformats.org/drawingml/2006/main" noGrp="1"/>
          </p:cNvSpPr>
          <p:nvPr/>
        </p:nvSpPr>
        <p:spPr>
          <a:xfrm xmlns:a="http://schemas.openxmlformats.org/drawingml/2006/main">
            <a:off x="495300" y="35623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5C33B"/>
                </a:solidFill>
                <a:latin typeface="微软雅黑"/>
                <a:ea typeface="微软雅黑"/>
                <a:cs typeface="微软雅黑"/>
              </a:defRPr>
            </a:pPr>
            <a:r>
              <a:rPr sz="1125" b="1">
                <a:solidFill>
                  <a:srgbClr val="F5C33B"/>
                </a:solidFill>
                <a:latin typeface="微软雅黑"/>
                <a:ea typeface="微软雅黑"/>
                <a:cs typeface="微软雅黑"/>
              </a:rPr>
              <a:t>两条不可违背的铁律（决定接口与前端不改动）</a:t>
            </a:r>
          </a:p>
        </p:txBody>
      </p:sp>
      <p:sp>
        <p:nvSpPr>
          <p:cNvPr id="60" name="">
            <a:extLst xmlns:a="http://schemas.openxmlformats.org/drawingml/2006/main">
              <a:ext uri="{FF2B5EF4-FFF2-40B4-BE49-F238E27FC236}">
                <a16:creationId xmlns:a16="http://schemas.microsoft.com/office/drawing/2014/main" id="{618D1620-4C56-4C42-A1F3-F5BEAA5C49AA}"/>
              </a:ext>
            </a:extLst>
          </p:cNvPr>
          <p:cNvSpPr>
            <a:spLocks xmlns:a="http://schemas.openxmlformats.org/drawingml/2006/main" noGrp="1"/>
          </p:cNvSpPr>
          <p:nvPr/>
        </p:nvSpPr>
        <p:spPr>
          <a:xfrm xmlns:a="http://schemas.openxmlformats.org/drawingml/2006/main">
            <a:off x="495300" y="3848100"/>
            <a:ext cx="11239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75">
                <a:solidFill>
                  <a:srgbClr val="D6E6F7"/>
                </a:solidFill>
                <a:latin typeface="微软雅黑"/>
                <a:ea typeface="微软雅黑"/>
                <a:cs typeface="微软雅黑"/>
              </a:defRPr>
            </a:pPr>
            <a:r>
              <a:rPr sz="975" b="1">
                <a:solidFill>
                  <a:srgbClr val="D6E6F7"/>
                </a:solidFill>
                <a:latin typeface="微软雅黑"/>
                <a:ea typeface="微软雅黑"/>
                <a:cs typeface="微软雅黑"/>
              </a:rPr>
              <a:t>铁律一　source=rule 现在，source=model 将来：</a:t>
            </a:r>
            <a:r>
              <a:rPr sz="975">
                <a:solidFill>
                  <a:srgbClr val="D6E6F7"/>
                </a:solidFill>
                <a:latin typeface="微软雅黑"/>
                <a:ea typeface="微软雅黑"/>
                <a:cs typeface="微软雅黑"/>
              </a:rPr>
              <a:t>替换 Agent 模型时只换 Service 实现，Controller、DTO、接口路径与前端全部不动。</a:t>
            </a:r>
          </a:p>
          <a:p xmlns:a="http://schemas.openxmlformats.org/drawingml/2006/main">
            <a:pPr algn="l">
              <a:lnSpc>
                <a:spcPct val="160000"/>
              </a:lnSpc>
              <a:buNone/>
              <a:defRPr sz="975">
                <a:solidFill>
                  <a:srgbClr val="D6E6F7"/>
                </a:solidFill>
                <a:latin typeface="微软雅黑"/>
                <a:ea typeface="微软雅黑"/>
                <a:cs typeface="微软雅黑"/>
              </a:defRPr>
            </a:pPr>
            <a:r>
              <a:rPr sz="975" b="1">
                <a:solidFill>
                  <a:srgbClr val="D6E6F7"/>
                </a:solidFill>
                <a:latin typeface="微软雅黑"/>
                <a:ea typeface="微软雅黑"/>
                <a:cs typeface="微软雅黑"/>
              </a:rPr>
              <a:t>铁律二　Agent 只出建议，绝不直接改业务数据：</a:t>
            </a:r>
            <a:r>
              <a:rPr sz="975">
                <a:solidFill>
                  <a:srgbClr val="D6E6F7"/>
                </a:solidFill>
                <a:latin typeface="微软雅黑"/>
                <a:ea typeface="微软雅黑"/>
                <a:cs typeface="微软雅黑"/>
              </a:rPr>
              <a:t>建议写 agent_suggestion，人工确认写 decision_log，采纳 / 驳回 / 修改 / 执行 / 回滚全部留痕。</a:t>
            </a:r>
          </a:p>
        </p:txBody>
      </p:sp>
      <p:sp>
        <p:nvSpPr>
          <p:cNvPr id="61" name="">
            <a:extLst xmlns:a="http://schemas.openxmlformats.org/drawingml/2006/main">
              <a:ext uri="{FF2B5EF4-FFF2-40B4-BE49-F238E27FC236}">
                <a16:creationId xmlns:a16="http://schemas.microsoft.com/office/drawing/2014/main" id="{81BD73AC-6D63-4922-B52D-4E42F9F03B16}"/>
              </a:ext>
            </a:extLst>
          </p:cNvPr>
          <p:cNvSpPr>
            <a:spLocks xmlns:a="http://schemas.openxmlformats.org/drawingml/2006/main" noGrp="1"/>
          </p:cNvSpPr>
          <p:nvPr/>
        </p:nvSpPr>
        <p:spPr>
          <a:xfrm xmlns:a="http://schemas.openxmlformats.org/drawingml/2006/main">
            <a:off x="285750" y="468630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31C7F0"/>
                </a:solidFill>
                <a:latin typeface="微软雅黑"/>
                <a:ea typeface="微软雅黑"/>
                <a:cs typeface="微软雅黑"/>
              </a:defRPr>
            </a:pPr>
            <a:r>
              <a:rPr sz="1125" b="1">
                <a:solidFill>
                  <a:srgbClr val="31C7F0"/>
                </a:solidFill>
                <a:latin typeface="微软雅黑"/>
                <a:ea typeface="微软雅黑"/>
                <a:cs typeface="微软雅黑"/>
              </a:rPr>
              <a:t>三个典型角色的规则命中示例</a:t>
            </a:r>
          </a:p>
        </p:txBody>
      </p:sp>
      <p:sp>
        <p:nvSpPr>
          <p:cNvPr id="62" name="">
            <a:extLst xmlns:a="http://schemas.openxmlformats.org/drawingml/2006/main">
              <a:ext uri="{FF2B5EF4-FFF2-40B4-BE49-F238E27FC236}">
                <a16:creationId xmlns:a16="http://schemas.microsoft.com/office/drawing/2014/main" id="{C4361CF1-415A-47DF-BA21-947529FC944F}"/>
              </a:ext>
            </a:extLst>
          </p:cNvPr>
          <p:cNvSpPr>
            <a:spLocks xmlns:a="http://schemas.openxmlformats.org/drawingml/2006/main" noGrp="1"/>
          </p:cNvSpPr>
          <p:nvPr/>
        </p:nvSpPr>
        <p:spPr>
          <a:xfrm xmlns:a="http://schemas.openxmlformats.org/drawingml/2006/main">
            <a:off x="285750" y="4972050"/>
            <a:ext cx="11620500" cy="419100"/>
          </a:xfrm>
          <a:prstGeom xmlns:a="http://schemas.openxmlformats.org/drawingml/2006/main" prst="roundRect">
            <a:avLst>
              <a:gd name="adj" fmla="val 18182"/>
            </a:avLst>
          </a:prstGeom>
          <a:solidFill xmlns:a="http://schemas.openxmlformats.org/drawingml/2006/main">
            <a:srgbClr val="0F3159"/>
          </a:solidFill>
          <a:ln xmlns:a="http://schemas.openxmlformats.org/drawingml/2006/main" w="9525">
            <a:solidFill>
              <a:srgbClr val="1B4C8A"/>
            </a:solidFill>
            <a:prstDash val="solid"/>
          </a:ln>
        </p:spPr>
      </p:sp>
      <p:sp>
        <p:nvSpPr>
          <p:cNvPr id="63" name="">
            <a:extLst xmlns:a="http://schemas.openxmlformats.org/drawingml/2006/main">
              <a:ext uri="{FF2B5EF4-FFF2-40B4-BE49-F238E27FC236}">
                <a16:creationId xmlns:a16="http://schemas.microsoft.com/office/drawing/2014/main" id="{13CC55DA-B588-4741-A985-8C30681A2AE8}"/>
              </a:ext>
            </a:extLst>
          </p:cNvPr>
          <p:cNvSpPr>
            <a:spLocks xmlns:a="http://schemas.openxmlformats.org/drawingml/2006/main" noGrp="1"/>
          </p:cNvSpPr>
          <p:nvPr/>
        </p:nvSpPr>
        <p:spPr>
          <a:xfrm xmlns:a="http://schemas.openxmlformats.org/drawingml/2006/main">
            <a:off x="438150" y="50673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个人</a:t>
            </a:r>
          </a:p>
        </p:txBody>
      </p:sp>
      <p:sp>
        <p:nvSpPr>
          <p:cNvPr id="64" name="">
            <a:extLst xmlns:a="http://schemas.openxmlformats.org/drawingml/2006/main">
              <a:ext uri="{FF2B5EF4-FFF2-40B4-BE49-F238E27FC236}">
                <a16:creationId xmlns:a16="http://schemas.microsoft.com/office/drawing/2014/main" id="{136DBBE4-9A37-4DD1-87F7-D69DDFAF455E}"/>
              </a:ext>
            </a:extLst>
          </p:cNvPr>
          <p:cNvSpPr>
            <a:spLocks xmlns:a="http://schemas.openxmlformats.org/drawingml/2006/main" noGrp="1"/>
          </p:cNvSpPr>
          <p:nvPr/>
        </p:nvSpPr>
        <p:spPr>
          <a:xfrm xmlns:a="http://schemas.openxmlformats.org/drawingml/2006/main">
            <a:off x="1066800" y="50673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FFFFFF"/>
                </a:solidFill>
                <a:latin typeface="微软雅黑"/>
                <a:ea typeface="微软雅黑"/>
                <a:cs typeface="微软雅黑"/>
              </a:defRPr>
            </a:pPr>
            <a:r>
              <a:rPr sz="938" b="0">
                <a:solidFill>
                  <a:srgbClr val="FFFFFF"/>
                </a:solidFill>
                <a:latin typeface="微软雅黑"/>
                <a:ea typeface="微软雅黑"/>
                <a:cs typeface="微软雅黑"/>
              </a:rPr>
              <a:t>员工 / 张伟</a:t>
            </a:r>
          </a:p>
        </p:txBody>
      </p:sp>
      <p:sp>
        <p:nvSpPr>
          <p:cNvPr id="65" name="">
            <a:extLst xmlns:a="http://schemas.openxmlformats.org/drawingml/2006/main">
              <a:ext uri="{FF2B5EF4-FFF2-40B4-BE49-F238E27FC236}">
                <a16:creationId xmlns:a16="http://schemas.microsoft.com/office/drawing/2014/main" id="{DBA00AFD-BED2-49C1-A924-AD0B9E5BF9A3}"/>
              </a:ext>
            </a:extLst>
          </p:cNvPr>
          <p:cNvSpPr>
            <a:spLocks xmlns:a="http://schemas.openxmlformats.org/drawingml/2006/main" noGrp="1"/>
          </p:cNvSpPr>
          <p:nvPr/>
        </p:nvSpPr>
        <p:spPr>
          <a:xfrm xmlns:a="http://schemas.openxmlformats.org/drawingml/2006/main">
            <a:off x="3143250" y="506730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当前 L1 ＜ 岗位要求 L3</a:t>
            </a:r>
          </a:p>
        </p:txBody>
      </p:sp>
      <p:sp>
        <p:nvSpPr>
          <p:cNvPr id="66" name="">
            <a:extLst xmlns:a="http://schemas.openxmlformats.org/drawingml/2006/main">
              <a:ext uri="{FF2B5EF4-FFF2-40B4-BE49-F238E27FC236}">
                <a16:creationId xmlns:a16="http://schemas.microsoft.com/office/drawing/2014/main" id="{A90EDE78-C53F-410C-B2FF-03167A0F24AD}"/>
              </a:ext>
            </a:extLst>
          </p:cNvPr>
          <p:cNvSpPr>
            <a:spLocks xmlns:a="http://schemas.openxmlformats.org/drawingml/2006/main" noGrp="1"/>
          </p:cNvSpPr>
          <p:nvPr/>
        </p:nvSpPr>
        <p:spPr>
          <a:xfrm xmlns:a="http://schemas.openxmlformats.org/drawingml/2006/main">
            <a:off x="5886450" y="50673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1C7F0"/>
                </a:solidFill>
                <a:latin typeface="Arial"/>
                <a:ea typeface="Arial"/>
                <a:cs typeface="Arial"/>
              </a:defRPr>
            </a:pPr>
            <a:r>
              <a:rPr sz="900" b="1">
                <a:solidFill>
                  <a:srgbClr val="31C7F0"/>
                </a:solidFill>
                <a:latin typeface="Arial"/>
                <a:ea typeface="Arial"/>
                <a:cs typeface="Arial"/>
              </a:rPr>
              <a:t>SKILL_GAP_L3</a:t>
            </a:r>
          </a:p>
        </p:txBody>
      </p:sp>
      <p:sp>
        <p:nvSpPr>
          <p:cNvPr id="67" name="">
            <a:extLst xmlns:a="http://schemas.openxmlformats.org/drawingml/2006/main">
              <a:ext uri="{FF2B5EF4-FFF2-40B4-BE49-F238E27FC236}">
                <a16:creationId xmlns:a16="http://schemas.microsoft.com/office/drawing/2014/main" id="{2DB753A5-1892-45F7-B272-EA527CFC6F0C}"/>
              </a:ext>
            </a:extLst>
          </p:cNvPr>
          <p:cNvSpPr>
            <a:spLocks xmlns:a="http://schemas.openxmlformats.org/drawingml/2006/main" noGrp="1"/>
          </p:cNvSpPr>
          <p:nvPr/>
        </p:nvSpPr>
        <p:spPr>
          <a:xfrm xmlns:a="http://schemas.openxmlformats.org/drawingml/2006/main">
            <a:off x="9582150" y="50673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推荐课程 + 带教 + 模拟考</a:t>
            </a:r>
          </a:p>
        </p:txBody>
      </p:sp>
      <p:sp>
        <p:nvSpPr>
          <p:cNvPr id="68" name="">
            <a:extLst xmlns:a="http://schemas.openxmlformats.org/drawingml/2006/main">
              <a:ext uri="{FF2B5EF4-FFF2-40B4-BE49-F238E27FC236}">
                <a16:creationId xmlns:a16="http://schemas.microsoft.com/office/drawing/2014/main" id="{95EE9C3B-F3D5-4F5D-9CD6-501E2579C891}"/>
              </a:ext>
            </a:extLst>
          </p:cNvPr>
          <p:cNvSpPr>
            <a:spLocks xmlns:a="http://schemas.openxmlformats.org/drawingml/2006/main" noGrp="1"/>
          </p:cNvSpPr>
          <p:nvPr/>
        </p:nvSpPr>
        <p:spPr>
          <a:xfrm xmlns:a="http://schemas.openxmlformats.org/drawingml/2006/main">
            <a:off x="285750" y="5467350"/>
            <a:ext cx="11620500" cy="419100"/>
          </a:xfrm>
          <a:prstGeom xmlns:a="http://schemas.openxmlformats.org/drawingml/2006/main" prst="roundRect">
            <a:avLst>
              <a:gd name="adj" fmla="val 18182"/>
            </a:avLst>
          </a:prstGeom>
          <a:solidFill xmlns:a="http://schemas.openxmlformats.org/drawingml/2006/main">
            <a:srgbClr val="0C2A50"/>
          </a:solidFill>
          <a:ln xmlns:a="http://schemas.openxmlformats.org/drawingml/2006/main" w="9525">
            <a:solidFill>
              <a:srgbClr val="1B4C8A"/>
            </a:solidFill>
            <a:prstDash val="solid"/>
          </a:ln>
        </p:spPr>
      </p:sp>
      <p:sp>
        <p:nvSpPr>
          <p:cNvPr id="69" name="">
            <a:extLst xmlns:a="http://schemas.openxmlformats.org/drawingml/2006/main">
              <a:ext uri="{FF2B5EF4-FFF2-40B4-BE49-F238E27FC236}">
                <a16:creationId xmlns:a16="http://schemas.microsoft.com/office/drawing/2014/main" id="{88524163-5198-4CA7-9DC1-CD9C2E8A3D35}"/>
              </a:ext>
            </a:extLst>
          </p:cNvPr>
          <p:cNvSpPr>
            <a:spLocks xmlns:a="http://schemas.openxmlformats.org/drawingml/2006/main" noGrp="1"/>
          </p:cNvSpPr>
          <p:nvPr/>
        </p:nvSpPr>
        <p:spPr>
          <a:xfrm xmlns:a="http://schemas.openxmlformats.org/drawingml/2006/main">
            <a:off x="438150" y="55626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实操</a:t>
            </a:r>
          </a:p>
        </p:txBody>
      </p:sp>
      <p:sp>
        <p:nvSpPr>
          <p:cNvPr id="70" name="">
            <a:extLst xmlns:a="http://schemas.openxmlformats.org/drawingml/2006/main">
              <a:ext uri="{FF2B5EF4-FFF2-40B4-BE49-F238E27FC236}">
                <a16:creationId xmlns:a16="http://schemas.microsoft.com/office/drawing/2014/main" id="{A1D61F3B-7855-495E-9914-3B83A3369F7C}"/>
              </a:ext>
            </a:extLst>
          </p:cNvPr>
          <p:cNvSpPr>
            <a:spLocks xmlns:a="http://schemas.openxmlformats.org/drawingml/2006/main" noGrp="1"/>
          </p:cNvSpPr>
          <p:nvPr/>
        </p:nvSpPr>
        <p:spPr>
          <a:xfrm xmlns:a="http://schemas.openxmlformats.org/drawingml/2006/main">
            <a:off x="1066800" y="55626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FFFFFF"/>
                </a:solidFill>
                <a:latin typeface="微软雅黑"/>
                <a:ea typeface="微软雅黑"/>
                <a:cs typeface="微软雅黑"/>
              </a:defRPr>
            </a:pPr>
            <a:r>
              <a:rPr sz="938" b="0">
                <a:solidFill>
                  <a:srgbClr val="FFFFFF"/>
                </a:solidFill>
                <a:latin typeface="微软雅黑"/>
                <a:ea typeface="微软雅黑"/>
                <a:cs typeface="微软雅黑"/>
              </a:rPr>
              <a:t>班组长 / 李民</a:t>
            </a:r>
          </a:p>
        </p:txBody>
      </p:sp>
      <p:sp>
        <p:nvSpPr>
          <p:cNvPr id="71" name="">
            <a:extLst xmlns:a="http://schemas.openxmlformats.org/drawingml/2006/main">
              <a:ext uri="{FF2B5EF4-FFF2-40B4-BE49-F238E27FC236}">
                <a16:creationId xmlns:a16="http://schemas.microsoft.com/office/drawing/2014/main" id="{39B6688E-C614-4F8D-BB24-2DE3B4822B7A}"/>
              </a:ext>
            </a:extLst>
          </p:cNvPr>
          <p:cNvSpPr>
            <a:spLocks xmlns:a="http://schemas.openxmlformats.org/drawingml/2006/main" noGrp="1"/>
          </p:cNvSpPr>
          <p:nvPr/>
        </p:nvSpPr>
        <p:spPr>
          <a:xfrm xmlns:a="http://schemas.openxmlformats.org/drawingml/2006/main">
            <a:off x="3143250" y="556260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O2 18.2 %VOL ＜ 阈值 19.5</a:t>
            </a:r>
          </a:p>
        </p:txBody>
      </p:sp>
      <p:sp>
        <p:nvSpPr>
          <p:cNvPr id="72" name="">
            <a:extLst xmlns:a="http://schemas.openxmlformats.org/drawingml/2006/main">
              <a:ext uri="{FF2B5EF4-FFF2-40B4-BE49-F238E27FC236}">
                <a16:creationId xmlns:a16="http://schemas.microsoft.com/office/drawing/2014/main" id="{270B759F-8A61-44AF-B844-CAD6576C9B27}"/>
              </a:ext>
            </a:extLst>
          </p:cNvPr>
          <p:cNvSpPr>
            <a:spLocks xmlns:a="http://schemas.openxmlformats.org/drawingml/2006/main" noGrp="1"/>
          </p:cNvSpPr>
          <p:nvPr/>
        </p:nvSpPr>
        <p:spPr>
          <a:xfrm xmlns:a="http://schemas.openxmlformats.org/drawingml/2006/main">
            <a:off x="5886450" y="55626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1C7F0"/>
                </a:solidFill>
                <a:latin typeface="Arial"/>
                <a:ea typeface="Arial"/>
                <a:cs typeface="Arial"/>
              </a:defRPr>
            </a:pPr>
            <a:r>
              <a:rPr sz="900" b="1">
                <a:solidFill>
                  <a:srgbClr val="31C7F0"/>
                </a:solidFill>
                <a:latin typeface="Arial"/>
                <a:ea typeface="Arial"/>
                <a:cs typeface="Arial"/>
              </a:rPr>
              <a:t>REPORT_GAS_OVER_MARGIN_MID + RULE-KW-HEALTH</a:t>
            </a:r>
          </a:p>
        </p:txBody>
      </p:sp>
      <p:sp>
        <p:nvSpPr>
          <p:cNvPr id="73" name="">
            <a:extLst xmlns:a="http://schemas.openxmlformats.org/drawingml/2006/main">
              <a:ext uri="{FF2B5EF4-FFF2-40B4-BE49-F238E27FC236}">
                <a16:creationId xmlns:a16="http://schemas.microsoft.com/office/drawing/2014/main" id="{9F7C1B1A-298C-4577-9B1C-1E5D71F7EBC0}"/>
              </a:ext>
            </a:extLst>
          </p:cNvPr>
          <p:cNvSpPr>
            <a:spLocks xmlns:a="http://schemas.openxmlformats.org/drawingml/2006/main" noGrp="1"/>
          </p:cNvSpPr>
          <p:nvPr/>
        </p:nvSpPr>
        <p:spPr>
          <a:xfrm xmlns:a="http://schemas.openxmlformats.org/drawingml/2006/main">
            <a:off x="9582150" y="55626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严重度「高」+ 原因 + 处置措施</a:t>
            </a:r>
          </a:p>
        </p:txBody>
      </p:sp>
      <p:sp>
        <p:nvSpPr>
          <p:cNvPr id="74" name="">
            <a:extLst xmlns:a="http://schemas.openxmlformats.org/drawingml/2006/main">
              <a:ext uri="{FF2B5EF4-FFF2-40B4-BE49-F238E27FC236}">
                <a16:creationId xmlns:a16="http://schemas.microsoft.com/office/drawing/2014/main" id="{8513E35F-C39B-462D-B7B5-CBF54FD9C0FA}"/>
              </a:ext>
            </a:extLst>
          </p:cNvPr>
          <p:cNvSpPr>
            <a:spLocks xmlns:a="http://schemas.openxmlformats.org/drawingml/2006/main" noGrp="1"/>
          </p:cNvSpPr>
          <p:nvPr/>
        </p:nvSpPr>
        <p:spPr>
          <a:xfrm xmlns:a="http://schemas.openxmlformats.org/drawingml/2006/main">
            <a:off x="285750" y="5962650"/>
            <a:ext cx="11620500" cy="419100"/>
          </a:xfrm>
          <a:prstGeom xmlns:a="http://schemas.openxmlformats.org/drawingml/2006/main" prst="roundRect">
            <a:avLst>
              <a:gd name="adj" fmla="val 18182"/>
            </a:avLst>
          </a:prstGeom>
          <a:solidFill xmlns:a="http://schemas.openxmlformats.org/drawingml/2006/main">
            <a:srgbClr val="0F3159"/>
          </a:solidFill>
          <a:ln xmlns:a="http://schemas.openxmlformats.org/drawingml/2006/main" w="9525">
            <a:solidFill>
              <a:srgbClr val="1B4C8A"/>
            </a:solidFill>
            <a:prstDash val="solid"/>
          </a:ln>
        </p:spPr>
      </p:sp>
      <p:sp>
        <p:nvSpPr>
          <p:cNvPr id="75" name="">
            <a:extLst xmlns:a="http://schemas.openxmlformats.org/drawingml/2006/main">
              <a:ext uri="{FF2B5EF4-FFF2-40B4-BE49-F238E27FC236}">
                <a16:creationId xmlns:a16="http://schemas.microsoft.com/office/drawing/2014/main" id="{E18C803E-6A4A-4296-8F17-95AB2906D3B3}"/>
              </a:ext>
            </a:extLst>
          </p:cNvPr>
          <p:cNvSpPr>
            <a:spLocks xmlns:a="http://schemas.openxmlformats.org/drawingml/2006/main" noGrp="1"/>
          </p:cNvSpPr>
          <p:nvPr/>
        </p:nvSpPr>
        <p:spPr>
          <a:xfrm xmlns:a="http://schemas.openxmlformats.org/drawingml/2006/main">
            <a:off x="438150" y="60579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人才</a:t>
            </a:r>
          </a:p>
        </p:txBody>
      </p:sp>
      <p:sp>
        <p:nvSpPr>
          <p:cNvPr id="76" name="">
            <a:extLst xmlns:a="http://schemas.openxmlformats.org/drawingml/2006/main">
              <a:ext uri="{FF2B5EF4-FFF2-40B4-BE49-F238E27FC236}">
                <a16:creationId xmlns:a16="http://schemas.microsoft.com/office/drawing/2014/main" id="{46C57F47-5F71-4CE7-9B4D-A26C4BC6BBFF}"/>
              </a:ext>
            </a:extLst>
          </p:cNvPr>
          <p:cNvSpPr>
            <a:spLocks xmlns:a="http://schemas.openxmlformats.org/drawingml/2006/main" noGrp="1"/>
          </p:cNvSpPr>
          <p:nvPr/>
        </p:nvSpPr>
        <p:spPr>
          <a:xfrm xmlns:a="http://schemas.openxmlformats.org/drawingml/2006/main">
            <a:off x="1066800" y="60579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FFFFFF"/>
                </a:solidFill>
                <a:latin typeface="微软雅黑"/>
                <a:ea typeface="微软雅黑"/>
                <a:cs typeface="微软雅黑"/>
              </a:defRPr>
            </a:pPr>
            <a:r>
              <a:rPr sz="938" b="0">
                <a:solidFill>
                  <a:srgbClr val="FFFFFF"/>
                </a:solidFill>
                <a:latin typeface="微软雅黑"/>
                <a:ea typeface="微软雅黑"/>
                <a:cs typeface="微软雅黑"/>
              </a:rPr>
              <a:t>老总 / 王总</a:t>
            </a:r>
          </a:p>
        </p:txBody>
      </p:sp>
      <p:sp>
        <p:nvSpPr>
          <p:cNvPr id="77" name="">
            <a:extLst xmlns:a="http://schemas.openxmlformats.org/drawingml/2006/main">
              <a:ext uri="{FF2B5EF4-FFF2-40B4-BE49-F238E27FC236}">
                <a16:creationId xmlns:a16="http://schemas.microsoft.com/office/drawing/2014/main" id="{B188AD81-F639-466B-8A53-133968B47BCF}"/>
              </a:ext>
            </a:extLst>
          </p:cNvPr>
          <p:cNvSpPr>
            <a:spLocks xmlns:a="http://schemas.openxmlformats.org/drawingml/2006/main" noGrp="1"/>
          </p:cNvSpPr>
          <p:nvPr/>
        </p:nvSpPr>
        <p:spPr>
          <a:xfrm xmlns:a="http://schemas.openxmlformats.org/drawingml/2006/main">
            <a:off x="3143250" y="605790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备份不足 + 未来需求 &gt; 现有供给</a:t>
            </a:r>
          </a:p>
        </p:txBody>
      </p:sp>
      <p:sp>
        <p:nvSpPr>
          <p:cNvPr id="78" name="">
            <a:extLst xmlns:a="http://schemas.openxmlformats.org/drawingml/2006/main">
              <a:ext uri="{FF2B5EF4-FFF2-40B4-BE49-F238E27FC236}">
                <a16:creationId xmlns:a16="http://schemas.microsoft.com/office/drawing/2014/main" id="{7D393D3B-842D-439F-A5C8-C5E08E1771A4}"/>
              </a:ext>
            </a:extLst>
          </p:cNvPr>
          <p:cNvSpPr>
            <a:spLocks xmlns:a="http://schemas.openxmlformats.org/drawingml/2006/main" noGrp="1"/>
          </p:cNvSpPr>
          <p:nvPr/>
        </p:nvSpPr>
        <p:spPr>
          <a:xfrm xmlns:a="http://schemas.openxmlformats.org/drawingml/2006/main">
            <a:off x="5886450" y="60579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1C7F0"/>
                </a:solidFill>
                <a:latin typeface="Arial"/>
                <a:ea typeface="Arial"/>
                <a:cs typeface="Arial"/>
              </a:defRPr>
            </a:pPr>
            <a:r>
              <a:rPr sz="900" b="1">
                <a:solidFill>
                  <a:srgbClr val="31C7F0"/>
                </a:solidFill>
                <a:latin typeface="Arial"/>
                <a:ea typeface="Arial"/>
                <a:cs typeface="Arial"/>
              </a:rPr>
              <a:t>BACKUP_SHORTAGE + FUTURE_DEMAND_GAP</a:t>
            </a:r>
          </a:p>
        </p:txBody>
      </p:sp>
      <p:sp>
        <p:nvSpPr>
          <p:cNvPr id="79" name="">
            <a:extLst xmlns:a="http://schemas.openxmlformats.org/drawingml/2006/main">
              <a:ext uri="{FF2B5EF4-FFF2-40B4-BE49-F238E27FC236}">
                <a16:creationId xmlns:a16="http://schemas.microsoft.com/office/drawing/2014/main" id="{08945903-A787-4D8C-8009-18369E114F93}"/>
              </a:ext>
            </a:extLst>
          </p:cNvPr>
          <p:cNvSpPr>
            <a:spLocks xmlns:a="http://schemas.openxmlformats.org/drawingml/2006/main" noGrp="1"/>
          </p:cNvSpPr>
          <p:nvPr/>
        </p:nvSpPr>
        <p:spPr>
          <a:xfrm xmlns:a="http://schemas.openxmlformats.org/drawingml/2006/main">
            <a:off x="9582150" y="60579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风险预警 + 转岗 + 招聘 + 外委</a:t>
            </a:r>
          </a:p>
        </p:txBody>
      </p:sp>
      <p:sp>
        <p:nvSpPr>
          <p:cNvPr id="80" name="">
            <a:extLst xmlns:a="http://schemas.openxmlformats.org/drawingml/2006/main">
              <a:ext uri="{FF2B5EF4-FFF2-40B4-BE49-F238E27FC236}">
                <a16:creationId xmlns:a16="http://schemas.microsoft.com/office/drawing/2014/main" id="{4BB931C1-DC5C-473D-A033-1E8B81279115}"/>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5BE40D68-7C3A-4547-BA93-54C8997F8C44}"/>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82" name="">
            <a:extLst xmlns:a="http://schemas.openxmlformats.org/drawingml/2006/main">
              <a:ext uri="{FF2B5EF4-FFF2-40B4-BE49-F238E27FC236}">
                <a16:creationId xmlns:a16="http://schemas.microsoft.com/office/drawing/2014/main" id="{4022B5DC-F590-49B1-B3E9-EB520BE9E755}"/>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11</a:t>
            </a:r>
          </a:p>
        </p:txBody>
      </p:sp>
    </p:spTree>
    <p:extLst>
      <p:ext uri="{BB962C8B-B14F-4D97-AF65-F5344CB8AC3E}">
        <p14:creationId xmlns:p14="http://schemas.microsoft.com/office/powerpoint/2010/main" val="1067014716"/>
      </p:ext>
    </p:extLst>
  </p:cSld>
</p:sld>
</file>

<file path=ppt/slides/slide12.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2957F197-7597-49A1-AE27-32C88DA1ED7E}"/>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9990A4D-7A6B-4255-B2FA-C8D3581C733D}"/>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2F3E5CD-CC5D-4CDE-9470-5DC0BC827859}"/>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5BACA22-0CBB-4970-8157-D2145F29DD4A}"/>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CE86654-0E41-46B3-8E78-0BC3E8375667}"/>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FA3A4099-F29B-466E-83A6-10C20935AF2D}"/>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总体方案</a:t>
            </a:r>
          </a:p>
        </p:txBody>
      </p:sp>
      <p:sp>
        <p:nvSpPr>
          <p:cNvPr id="7" name="">
            <a:extLst xmlns:a="http://schemas.openxmlformats.org/drawingml/2006/main">
              <a:ext uri="{FF2B5EF4-FFF2-40B4-BE49-F238E27FC236}">
                <a16:creationId xmlns:a16="http://schemas.microsoft.com/office/drawing/2014/main" id="{A355C388-84B5-40EA-808F-54ABDB308B42}"/>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8BF1A97-1BB1-49C6-8015-79E0156E439B}"/>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四项核心创新点</a:t>
            </a:r>
          </a:p>
        </p:txBody>
      </p:sp>
      <p:sp>
        <p:nvSpPr>
          <p:cNvPr id="9" name="">
            <a:extLst xmlns:a="http://schemas.openxmlformats.org/drawingml/2006/main">
              <a:ext uri="{FF2B5EF4-FFF2-40B4-BE49-F238E27FC236}">
                <a16:creationId xmlns:a16="http://schemas.microsoft.com/office/drawing/2014/main" id="{92C5D2AF-AA8E-4C8B-AF10-26935E0DB04E}"/>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13623002-420B-4A73-A6EA-D2C56A343FAB}"/>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把判断逻辑从代码搬进数据库，再把结论落成可复算、可审计的证据链——这是与通用方案的本质差异。</a:t>
            </a:r>
          </a:p>
        </p:txBody>
      </p:sp>
      <p:sp>
        <p:nvSpPr>
          <p:cNvPr id="11" name="">
            <a:extLst xmlns:a="http://schemas.openxmlformats.org/drawingml/2006/main">
              <a:ext uri="{FF2B5EF4-FFF2-40B4-BE49-F238E27FC236}">
                <a16:creationId xmlns:a16="http://schemas.microsoft.com/office/drawing/2014/main" id="{0BEBB886-8D48-4631-BCC7-C204C2B9D8EB}"/>
              </a:ext>
            </a:extLst>
          </p:cNvPr>
          <p:cNvSpPr>
            <a:spLocks xmlns:a="http://schemas.openxmlformats.org/drawingml/2006/main" noGrp="1"/>
          </p:cNvSpPr>
          <p:nvPr/>
        </p:nvSpPr>
        <p:spPr>
          <a:xfrm xmlns:a="http://schemas.openxmlformats.org/drawingml/2006/main">
            <a:off x="285750" y="1333500"/>
            <a:ext cx="5695950" cy="2343150"/>
          </a:xfrm>
          <a:prstGeom xmlns:a="http://schemas.openxmlformats.org/drawingml/2006/main" prst="roundRect">
            <a:avLst>
              <a:gd name="adj" fmla="val 3252"/>
            </a:avLst>
          </a:prstGeom>
          <a:solidFill xmlns:a="http://schemas.openxmlformats.org/drawingml/2006/main">
            <a:srgbClr val="0D2748"/>
          </a:solidFill>
          <a:ln xmlns:a="http://schemas.openxmlformats.org/drawingml/2006/main" w="9525">
            <a:solidFill>
              <a:srgbClr val="1B4C8A"/>
            </a:solidFill>
            <a:prstDash val="solid"/>
          </a:ln>
        </p:spPr>
      </p:sp>
      <p:sp>
        <p:nvSpPr>
          <p:cNvPr id="12" name="">
            <a:extLst xmlns:a="http://schemas.openxmlformats.org/drawingml/2006/main">
              <a:ext uri="{FF2B5EF4-FFF2-40B4-BE49-F238E27FC236}">
                <a16:creationId xmlns:a16="http://schemas.microsoft.com/office/drawing/2014/main" id="{2CF333EF-8FC7-4C0E-BBAB-7055BDD1A9FB}"/>
              </a:ext>
            </a:extLst>
          </p:cNvPr>
          <p:cNvSpPr>
            <a:spLocks xmlns:a="http://schemas.openxmlformats.org/drawingml/2006/main" noGrp="1"/>
          </p:cNvSpPr>
          <p:nvPr/>
        </p:nvSpPr>
        <p:spPr>
          <a:xfrm xmlns:a="http://schemas.openxmlformats.org/drawingml/2006/main">
            <a:off x="285750" y="1333500"/>
            <a:ext cx="5695950" cy="47625"/>
          </a:xfrm>
          <a:prstGeom xmlns:a="http://schemas.openxmlformats.org/drawingml/2006/main" prst="rect">
            <a:avLst/>
          </a:prstGeom>
          <a:solidFill xmlns:a="http://schemas.openxmlformats.org/drawingml/2006/main">
            <a:srgbClr val="31C7F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6F82DC6-1043-4423-BA8F-601BAC417D7B}"/>
              </a:ext>
            </a:extLst>
          </p:cNvPr>
          <p:cNvSpPr>
            <a:spLocks xmlns:a="http://schemas.openxmlformats.org/drawingml/2006/main" noGrp="1"/>
          </p:cNvSpPr>
          <p:nvPr/>
        </p:nvSpPr>
        <p:spPr>
          <a:xfrm xmlns:a="http://schemas.openxmlformats.org/drawingml/2006/main">
            <a:off x="514350" y="15240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创新点一</a:t>
            </a:r>
          </a:p>
        </p:txBody>
      </p:sp>
      <p:sp>
        <p:nvSpPr>
          <p:cNvPr id="14" name="">
            <a:extLst xmlns:a="http://schemas.openxmlformats.org/drawingml/2006/main">
              <a:ext uri="{FF2B5EF4-FFF2-40B4-BE49-F238E27FC236}">
                <a16:creationId xmlns:a16="http://schemas.microsoft.com/office/drawing/2014/main" id="{4E4BCF26-EFD1-45ED-9325-75BC9BA42880}"/>
              </a:ext>
            </a:extLst>
          </p:cNvPr>
          <p:cNvSpPr>
            <a:spLocks xmlns:a="http://schemas.openxmlformats.org/drawingml/2006/main" noGrp="1"/>
          </p:cNvSpPr>
          <p:nvPr/>
        </p:nvSpPr>
        <p:spPr>
          <a:xfrm xmlns:a="http://schemas.openxmlformats.org/drawingml/2006/main">
            <a:off x="514350" y="1790700"/>
            <a:ext cx="5257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规则进数据库（改库即改规则）</a:t>
            </a:r>
          </a:p>
        </p:txBody>
      </p:sp>
      <p:sp>
        <p:nvSpPr>
          <p:cNvPr id="15" name="">
            <a:extLst xmlns:a="http://schemas.openxmlformats.org/drawingml/2006/main">
              <a:ext uri="{FF2B5EF4-FFF2-40B4-BE49-F238E27FC236}">
                <a16:creationId xmlns:a16="http://schemas.microsoft.com/office/drawing/2014/main" id="{9BAA3B22-C676-4787-88B7-9B9AC20952AA}"/>
              </a:ext>
            </a:extLst>
          </p:cNvPr>
          <p:cNvSpPr>
            <a:spLocks xmlns:a="http://schemas.openxmlformats.org/drawingml/2006/main" noGrp="1"/>
          </p:cNvSpPr>
          <p:nvPr/>
        </p:nvSpPr>
        <p:spPr>
          <a:xfrm xmlns:a="http://schemas.openxmlformats.org/drawingml/2006/main">
            <a:off x="514350" y="2228850"/>
            <a:ext cx="457200" cy="19050"/>
          </a:xfrm>
          <a:prstGeom xmlns:a="http://schemas.openxmlformats.org/drawingml/2006/main" prst="rect">
            <a:avLst/>
          </a:prstGeom>
          <a:solidFill xmlns:a="http://schemas.openxmlformats.org/drawingml/2006/main">
            <a:srgbClr val="31C7F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FFB58EB-1891-45C7-ACF9-8D99271B8E96}"/>
              </a:ext>
            </a:extLst>
          </p:cNvPr>
          <p:cNvSpPr>
            <a:spLocks xmlns:a="http://schemas.openxmlformats.org/drawingml/2006/main" noGrp="1"/>
          </p:cNvSpPr>
          <p:nvPr/>
        </p:nvSpPr>
        <p:spPr>
          <a:xfrm xmlns:a="http://schemas.openxmlformats.org/drawingml/2006/main">
            <a:off x="514350" y="2381250"/>
            <a:ext cx="5295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条件 JSON + 动作 JSON + 优先级 + 分组 + 启停全部落库</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改规则无需重新编译或发布，管理员可在后台试算</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算子白名单求值，绝不使用 SpEL / eval / 拼 SQL，规则当不可信输入</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规则表由 RuleEngine 读库驱动，rule_result 落执行留痕</a:t>
            </a:r>
          </a:p>
        </p:txBody>
      </p:sp>
      <p:sp>
        <p:nvSpPr>
          <p:cNvPr id="17" name="">
            <a:extLst xmlns:a="http://schemas.openxmlformats.org/drawingml/2006/main">
              <a:ext uri="{FF2B5EF4-FFF2-40B4-BE49-F238E27FC236}">
                <a16:creationId xmlns:a16="http://schemas.microsoft.com/office/drawing/2014/main" id="{A1A82037-6455-4203-B733-E1D7909A5BD3}"/>
              </a:ext>
            </a:extLst>
          </p:cNvPr>
          <p:cNvSpPr>
            <a:spLocks xmlns:a="http://schemas.openxmlformats.org/drawingml/2006/main" noGrp="1"/>
          </p:cNvSpPr>
          <p:nvPr/>
        </p:nvSpPr>
        <p:spPr>
          <a:xfrm xmlns:a="http://schemas.openxmlformats.org/drawingml/2006/main">
            <a:off x="6210300" y="1333500"/>
            <a:ext cx="5695950" cy="2343150"/>
          </a:xfrm>
          <a:prstGeom xmlns:a="http://schemas.openxmlformats.org/drawingml/2006/main" prst="roundRect">
            <a:avLst>
              <a:gd name="adj" fmla="val 3252"/>
            </a:avLst>
          </a:prstGeom>
          <a:solidFill xmlns:a="http://schemas.openxmlformats.org/drawingml/2006/main">
            <a:srgbClr val="0D2748"/>
          </a:solidFill>
          <a:ln xmlns:a="http://schemas.openxmlformats.org/drawingml/2006/main" w="9525">
            <a:solidFill>
              <a:srgbClr val="1B4C8A"/>
            </a:solidFill>
            <a:prstDash val="solid"/>
          </a:ln>
        </p:spPr>
      </p:sp>
      <p:sp>
        <p:nvSpPr>
          <p:cNvPr id="18" name="">
            <a:extLst xmlns:a="http://schemas.openxmlformats.org/drawingml/2006/main">
              <a:ext uri="{FF2B5EF4-FFF2-40B4-BE49-F238E27FC236}">
                <a16:creationId xmlns:a16="http://schemas.microsoft.com/office/drawing/2014/main" id="{218BCCE1-1B11-40C3-BC07-04C0E71F0193}"/>
              </a:ext>
            </a:extLst>
          </p:cNvPr>
          <p:cNvSpPr>
            <a:spLocks xmlns:a="http://schemas.openxmlformats.org/drawingml/2006/main" noGrp="1"/>
          </p:cNvSpPr>
          <p:nvPr/>
        </p:nvSpPr>
        <p:spPr>
          <a:xfrm xmlns:a="http://schemas.openxmlformats.org/drawingml/2006/main">
            <a:off x="6210300" y="1333500"/>
            <a:ext cx="5695950" cy="4762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3FE4873-C1DE-4AD5-A429-8EE466988D15}"/>
              </a:ext>
            </a:extLst>
          </p:cNvPr>
          <p:cNvSpPr>
            <a:spLocks xmlns:a="http://schemas.openxmlformats.org/drawingml/2006/main" noGrp="1"/>
          </p:cNvSpPr>
          <p:nvPr/>
        </p:nvSpPr>
        <p:spPr>
          <a:xfrm xmlns:a="http://schemas.openxmlformats.org/drawingml/2006/main">
            <a:off x="6438900" y="15240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2E86E8"/>
                </a:solidFill>
                <a:latin typeface="微软雅黑"/>
                <a:ea typeface="微软雅黑"/>
                <a:cs typeface="微软雅黑"/>
              </a:defRPr>
            </a:pPr>
            <a:r>
              <a:rPr sz="938" b="1">
                <a:solidFill>
                  <a:srgbClr val="2E86E8"/>
                </a:solidFill>
                <a:latin typeface="微软雅黑"/>
                <a:ea typeface="微软雅黑"/>
                <a:cs typeface="微软雅黑"/>
              </a:rPr>
              <a:t>创新点二</a:t>
            </a:r>
          </a:p>
        </p:txBody>
      </p:sp>
      <p:sp>
        <p:nvSpPr>
          <p:cNvPr id="20" name="">
            <a:extLst xmlns:a="http://schemas.openxmlformats.org/drawingml/2006/main">
              <a:ext uri="{FF2B5EF4-FFF2-40B4-BE49-F238E27FC236}">
                <a16:creationId xmlns:a16="http://schemas.microsoft.com/office/drawing/2014/main" id="{D470AECD-EDD2-4AF9-A73D-36DF5423DEB5}"/>
              </a:ext>
            </a:extLst>
          </p:cNvPr>
          <p:cNvSpPr>
            <a:spLocks xmlns:a="http://schemas.openxmlformats.org/drawingml/2006/main" noGrp="1"/>
          </p:cNvSpPr>
          <p:nvPr/>
        </p:nvSpPr>
        <p:spPr>
          <a:xfrm xmlns:a="http://schemas.openxmlformats.org/drawingml/2006/main">
            <a:off x="6438900" y="1790700"/>
            <a:ext cx="5257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双组匹配 + 引用事实</a:t>
            </a:r>
          </a:p>
        </p:txBody>
      </p:sp>
      <p:sp>
        <p:nvSpPr>
          <p:cNvPr id="21" name="">
            <a:extLst xmlns:a="http://schemas.openxmlformats.org/drawingml/2006/main">
              <a:ext uri="{FF2B5EF4-FFF2-40B4-BE49-F238E27FC236}">
                <a16:creationId xmlns:a16="http://schemas.microsoft.com/office/drawing/2014/main" id="{FA802E97-9296-4A33-ACE3-E848749CA4A9}"/>
              </a:ext>
            </a:extLst>
          </p:cNvPr>
          <p:cNvSpPr>
            <a:spLocks xmlns:a="http://schemas.openxmlformats.org/drawingml/2006/main" noGrp="1"/>
          </p:cNvSpPr>
          <p:nvPr/>
        </p:nvSpPr>
        <p:spPr>
          <a:xfrm xmlns:a="http://schemas.openxmlformats.org/drawingml/2006/main">
            <a:off x="6438900" y="2228850"/>
            <a:ext cx="457200" cy="19050"/>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B0DE291-1101-46B2-8377-7EB2B399BA0C}"/>
              </a:ext>
            </a:extLst>
          </p:cNvPr>
          <p:cNvSpPr>
            <a:spLocks xmlns:a="http://schemas.openxmlformats.org/drawingml/2006/main" noGrp="1"/>
          </p:cNvSpPr>
          <p:nvPr/>
        </p:nvSpPr>
        <p:spPr>
          <a:xfrm xmlns:a="http://schemas.openxmlformats.org/drawingml/2006/main">
            <a:off x="6438900" y="2381250"/>
            <a:ext cx="5295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rule_group 把「定档」与「关键词补充」分成两组，各判各的</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stop_on_match 只结束本组，max_hits 只限制本组命中条数</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action_json 中以 _from 结尾的字段引用事实，一条规则服务所有气体与档位</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同一场景多条规则按 priority 从高到低稳定匹配，同优先级按 rule_code 排序</a:t>
            </a:r>
          </a:p>
        </p:txBody>
      </p:sp>
      <p:sp>
        <p:nvSpPr>
          <p:cNvPr id="23" name="">
            <a:extLst xmlns:a="http://schemas.openxmlformats.org/drawingml/2006/main">
              <a:ext uri="{FF2B5EF4-FFF2-40B4-BE49-F238E27FC236}">
                <a16:creationId xmlns:a16="http://schemas.microsoft.com/office/drawing/2014/main" id="{D7EABB8B-A57A-487B-987F-2B2ED43C6192}"/>
              </a:ext>
            </a:extLst>
          </p:cNvPr>
          <p:cNvSpPr>
            <a:spLocks xmlns:a="http://schemas.openxmlformats.org/drawingml/2006/main" noGrp="1"/>
          </p:cNvSpPr>
          <p:nvPr/>
        </p:nvSpPr>
        <p:spPr>
          <a:xfrm xmlns:a="http://schemas.openxmlformats.org/drawingml/2006/main">
            <a:off x="285750" y="3829050"/>
            <a:ext cx="5695950" cy="2343150"/>
          </a:xfrm>
          <a:prstGeom xmlns:a="http://schemas.openxmlformats.org/drawingml/2006/main" prst="roundRect">
            <a:avLst>
              <a:gd name="adj" fmla="val 3252"/>
            </a:avLst>
          </a:prstGeom>
          <a:solidFill xmlns:a="http://schemas.openxmlformats.org/drawingml/2006/main">
            <a:srgbClr val="0D2748"/>
          </a:solidFill>
          <a:ln xmlns:a="http://schemas.openxmlformats.org/drawingml/2006/main" w="9525">
            <a:solidFill>
              <a:srgbClr val="1B4C8A"/>
            </a:solidFill>
            <a:prstDash val="solid"/>
          </a:ln>
        </p:spPr>
      </p:sp>
      <p:sp>
        <p:nvSpPr>
          <p:cNvPr id="24" name="">
            <a:extLst xmlns:a="http://schemas.openxmlformats.org/drawingml/2006/main">
              <a:ext uri="{FF2B5EF4-FFF2-40B4-BE49-F238E27FC236}">
                <a16:creationId xmlns:a16="http://schemas.microsoft.com/office/drawing/2014/main" id="{5B09F189-33B5-4D95-B821-337978D968A6}"/>
              </a:ext>
            </a:extLst>
          </p:cNvPr>
          <p:cNvSpPr>
            <a:spLocks xmlns:a="http://schemas.openxmlformats.org/drawingml/2006/main" noGrp="1"/>
          </p:cNvSpPr>
          <p:nvPr/>
        </p:nvSpPr>
        <p:spPr>
          <a:xfrm xmlns:a="http://schemas.openxmlformats.org/drawingml/2006/main">
            <a:off x="285750" y="3829050"/>
            <a:ext cx="5695950" cy="47625"/>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1F28CA2-BA0E-457F-AC50-D02B0003F320}"/>
              </a:ext>
            </a:extLst>
          </p:cNvPr>
          <p:cNvSpPr>
            <a:spLocks xmlns:a="http://schemas.openxmlformats.org/drawingml/2006/main" noGrp="1"/>
          </p:cNvSpPr>
          <p:nvPr/>
        </p:nvSpPr>
        <p:spPr>
          <a:xfrm xmlns:a="http://schemas.openxmlformats.org/drawingml/2006/main">
            <a:off x="514350" y="40195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创新点三</a:t>
            </a:r>
          </a:p>
        </p:txBody>
      </p:sp>
      <p:sp>
        <p:nvSpPr>
          <p:cNvPr id="26" name="">
            <a:extLst xmlns:a="http://schemas.openxmlformats.org/drawingml/2006/main">
              <a:ext uri="{FF2B5EF4-FFF2-40B4-BE49-F238E27FC236}">
                <a16:creationId xmlns:a16="http://schemas.microsoft.com/office/drawing/2014/main" id="{8FF7A8EC-3ED5-488C-BC81-CEAB81055F56}"/>
              </a:ext>
            </a:extLst>
          </p:cNvPr>
          <p:cNvSpPr>
            <a:spLocks xmlns:a="http://schemas.openxmlformats.org/drawingml/2006/main" noGrp="1"/>
          </p:cNvSpPr>
          <p:nvPr/>
        </p:nvSpPr>
        <p:spPr>
          <a:xfrm xmlns:a="http://schemas.openxmlformats.org/drawingml/2006/main">
            <a:off x="514350" y="4286250"/>
            <a:ext cx="5257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结论可解释到数据点</a:t>
            </a:r>
          </a:p>
        </p:txBody>
      </p:sp>
      <p:sp>
        <p:nvSpPr>
          <p:cNvPr id="27" name="">
            <a:extLst xmlns:a="http://schemas.openxmlformats.org/drawingml/2006/main">
              <a:ext uri="{FF2B5EF4-FFF2-40B4-BE49-F238E27FC236}">
                <a16:creationId xmlns:a16="http://schemas.microsoft.com/office/drawing/2014/main" id="{CE8AA491-73C2-4BC7-8CD2-B6D8EE28F47C}"/>
              </a:ext>
            </a:extLst>
          </p:cNvPr>
          <p:cNvSpPr>
            <a:spLocks xmlns:a="http://schemas.openxmlformats.org/drawingml/2006/main" noGrp="1"/>
          </p:cNvSpPr>
          <p:nvPr/>
        </p:nvSpPr>
        <p:spPr>
          <a:xfrm xmlns:a="http://schemas.openxmlformats.org/drawingml/2006/main">
            <a:off x="514350" y="4724400"/>
            <a:ext cx="4572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B0F936F-0FAE-4866-8F33-A4504C7587ED}"/>
              </a:ext>
            </a:extLst>
          </p:cNvPr>
          <p:cNvSpPr>
            <a:spLocks xmlns:a="http://schemas.openxmlformats.org/drawingml/2006/main" noGrp="1"/>
          </p:cNvSpPr>
          <p:nvPr/>
        </p:nvSpPr>
        <p:spPr>
          <a:xfrm xmlns:a="http://schemas.openxmlformats.org/drawingml/2006/main">
            <a:off x="514350" y="4876800"/>
            <a:ext cx="5295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每条结论携带 rule_code、命中条件、依据事实与置信度</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severity 取命中里最严重的一档，actions / causes 去重保序</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同一份报告连续归因两次，rule_refs 必须完全一致（回灌自验）</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结论可下钻到「哪几个人、哪几份报告、哪几条记录」</a:t>
            </a:r>
          </a:p>
        </p:txBody>
      </p:sp>
      <p:sp>
        <p:nvSpPr>
          <p:cNvPr id="29" name="">
            <a:extLst xmlns:a="http://schemas.openxmlformats.org/drawingml/2006/main">
              <a:ext uri="{FF2B5EF4-FFF2-40B4-BE49-F238E27FC236}">
                <a16:creationId xmlns:a16="http://schemas.microsoft.com/office/drawing/2014/main" id="{62FD9066-78E0-43BD-8316-1A6878652BB0}"/>
              </a:ext>
            </a:extLst>
          </p:cNvPr>
          <p:cNvSpPr>
            <a:spLocks xmlns:a="http://schemas.openxmlformats.org/drawingml/2006/main" noGrp="1"/>
          </p:cNvSpPr>
          <p:nvPr/>
        </p:nvSpPr>
        <p:spPr>
          <a:xfrm xmlns:a="http://schemas.openxmlformats.org/drawingml/2006/main">
            <a:off x="6210300" y="3829050"/>
            <a:ext cx="5695950" cy="2343150"/>
          </a:xfrm>
          <a:prstGeom xmlns:a="http://schemas.openxmlformats.org/drawingml/2006/main" prst="roundRect">
            <a:avLst>
              <a:gd name="adj" fmla="val 3252"/>
            </a:avLst>
          </a:prstGeom>
          <a:solidFill xmlns:a="http://schemas.openxmlformats.org/drawingml/2006/main">
            <a:srgbClr val="0D2748"/>
          </a:solidFill>
          <a:ln xmlns:a="http://schemas.openxmlformats.org/drawingml/2006/main" w="9525">
            <a:solidFill>
              <a:srgbClr val="1B4C8A"/>
            </a:solidFill>
            <a:prstDash val="solid"/>
          </a:ln>
        </p:spPr>
      </p:sp>
      <p:sp>
        <p:nvSpPr>
          <p:cNvPr id="30" name="">
            <a:extLst xmlns:a="http://schemas.openxmlformats.org/drawingml/2006/main">
              <a:ext uri="{FF2B5EF4-FFF2-40B4-BE49-F238E27FC236}">
                <a16:creationId xmlns:a16="http://schemas.microsoft.com/office/drawing/2014/main" id="{4CFDEDCA-85BE-474C-A535-9EEBC981B8B6}"/>
              </a:ext>
            </a:extLst>
          </p:cNvPr>
          <p:cNvSpPr>
            <a:spLocks xmlns:a="http://schemas.openxmlformats.org/drawingml/2006/main" noGrp="1"/>
          </p:cNvSpPr>
          <p:nvPr/>
        </p:nvSpPr>
        <p:spPr>
          <a:xfrm xmlns:a="http://schemas.openxmlformats.org/drawingml/2006/main">
            <a:off x="6210300" y="3829050"/>
            <a:ext cx="5695950" cy="47625"/>
          </a:xfrm>
          <a:prstGeom xmlns:a="http://schemas.openxmlformats.org/drawingml/2006/main" prst="rect">
            <a:avLst/>
          </a:prstGeom>
          <a:solidFill xmlns:a="http://schemas.openxmlformats.org/drawingml/2006/main">
            <a:srgbClr val="9B8CFF"/>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213864E-B231-43F8-939B-5659266DF695}"/>
              </a:ext>
            </a:extLst>
          </p:cNvPr>
          <p:cNvSpPr>
            <a:spLocks xmlns:a="http://schemas.openxmlformats.org/drawingml/2006/main" noGrp="1"/>
          </p:cNvSpPr>
          <p:nvPr/>
        </p:nvSpPr>
        <p:spPr>
          <a:xfrm xmlns:a="http://schemas.openxmlformats.org/drawingml/2006/main">
            <a:off x="6438900" y="40195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9B8CFF"/>
                </a:solidFill>
                <a:latin typeface="微软雅黑"/>
                <a:ea typeface="微软雅黑"/>
                <a:cs typeface="微软雅黑"/>
              </a:defRPr>
            </a:pPr>
            <a:r>
              <a:rPr sz="938" b="1">
                <a:solidFill>
                  <a:srgbClr val="9B8CFF"/>
                </a:solidFill>
                <a:latin typeface="微软雅黑"/>
                <a:ea typeface="微软雅黑"/>
                <a:cs typeface="微软雅黑"/>
              </a:rPr>
              <a:t>创新点四</a:t>
            </a:r>
          </a:p>
        </p:txBody>
      </p:sp>
      <p:sp>
        <p:nvSpPr>
          <p:cNvPr id="32" name="">
            <a:extLst xmlns:a="http://schemas.openxmlformats.org/drawingml/2006/main">
              <a:ext uri="{FF2B5EF4-FFF2-40B4-BE49-F238E27FC236}">
                <a16:creationId xmlns:a16="http://schemas.microsoft.com/office/drawing/2014/main" id="{1C357E96-F690-49D2-8E65-EFFEFF17A4C1}"/>
              </a:ext>
            </a:extLst>
          </p:cNvPr>
          <p:cNvSpPr>
            <a:spLocks xmlns:a="http://schemas.openxmlformats.org/drawingml/2006/main" noGrp="1"/>
          </p:cNvSpPr>
          <p:nvPr/>
        </p:nvSpPr>
        <p:spPr>
          <a:xfrm xmlns:a="http://schemas.openxmlformats.org/drawingml/2006/main">
            <a:off x="6438900" y="4286250"/>
            <a:ext cx="5257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建议与人工决定全程留痕</a:t>
            </a:r>
          </a:p>
        </p:txBody>
      </p:sp>
      <p:sp>
        <p:nvSpPr>
          <p:cNvPr id="33" name="">
            <a:extLst xmlns:a="http://schemas.openxmlformats.org/drawingml/2006/main">
              <a:ext uri="{FF2B5EF4-FFF2-40B4-BE49-F238E27FC236}">
                <a16:creationId xmlns:a16="http://schemas.microsoft.com/office/drawing/2014/main" id="{EB003987-9475-47D3-AE11-042903FFD857}"/>
              </a:ext>
            </a:extLst>
          </p:cNvPr>
          <p:cNvSpPr>
            <a:spLocks xmlns:a="http://schemas.openxmlformats.org/drawingml/2006/main" noGrp="1"/>
          </p:cNvSpPr>
          <p:nvPr/>
        </p:nvSpPr>
        <p:spPr>
          <a:xfrm xmlns:a="http://schemas.openxmlformats.org/drawingml/2006/main">
            <a:off x="6438900" y="4724400"/>
            <a:ext cx="457200" cy="19050"/>
          </a:xfrm>
          <a:prstGeom xmlns:a="http://schemas.openxmlformats.org/drawingml/2006/main" prst="rect">
            <a:avLst/>
          </a:prstGeom>
          <a:solidFill xmlns:a="http://schemas.openxmlformats.org/drawingml/2006/main">
            <a:srgbClr val="9B8CFF"/>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F293564-CACD-4D8C-9A29-FDFFA45AB510}"/>
              </a:ext>
            </a:extLst>
          </p:cNvPr>
          <p:cNvSpPr>
            <a:spLocks xmlns:a="http://schemas.openxmlformats.org/drawingml/2006/main" noGrp="1"/>
          </p:cNvSpPr>
          <p:nvPr/>
        </p:nvSpPr>
        <p:spPr>
          <a:xfrm xmlns:a="http://schemas.openxmlformats.org/drawingml/2006/main">
            <a:off x="6438900" y="4876800"/>
            <a:ext cx="5295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一次归因 = 一个 run_id，串起三张留痕表</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确认接口只改建议状态，不改任何业务数据</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采纳、驳回、修改、执行、回滚全部可追溯，责任归属清楚</a:t>
            </a:r>
          </a:p>
          <a:p xmlns:a="http://schemas.openxmlformats.org/drawingml/2006/main">
            <a:pPr algn="l">
              <a:lnSpc>
                <a:spcPct val="17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 </a:t>
            </a:r>
            <a:r>
              <a:rPr sz="975">
                <a:solidFill>
                  <a:srgbClr val="D6E6F7"/>
                </a:solidFill>
                <a:latin typeface="微软雅黑"/>
                <a:ea typeface="微软雅黑"/>
                <a:cs typeface="微软雅黑"/>
              </a:rPr>
              <a:t>老总、班组长、员工三端均可确认，决定统一写入 decision_log</a:t>
            </a:r>
          </a:p>
        </p:txBody>
      </p:sp>
      <p:sp>
        <p:nvSpPr>
          <p:cNvPr id="35" name="">
            <a:extLst xmlns:a="http://schemas.openxmlformats.org/drawingml/2006/main">
              <a:ext uri="{FF2B5EF4-FFF2-40B4-BE49-F238E27FC236}">
                <a16:creationId xmlns:a16="http://schemas.microsoft.com/office/drawing/2014/main" id="{3ECC2384-C757-47C9-B375-9B9EDE230CFE}"/>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28AEA2E8-394D-42CD-8477-6DD274A26A81}"/>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37" name="">
            <a:extLst xmlns:a="http://schemas.openxmlformats.org/drawingml/2006/main">
              <a:ext uri="{FF2B5EF4-FFF2-40B4-BE49-F238E27FC236}">
                <a16:creationId xmlns:a16="http://schemas.microsoft.com/office/drawing/2014/main" id="{7E8892C9-E5EC-40A0-BE93-053E32D3ED50}"/>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12</a:t>
            </a:r>
          </a:p>
        </p:txBody>
      </p:sp>
    </p:spTree>
    <p:extLst>
      <p:ext uri="{BB962C8B-B14F-4D97-AF65-F5344CB8AC3E}">
        <p14:creationId xmlns:p14="http://schemas.microsoft.com/office/powerpoint/2010/main" val="1303687614"/>
      </p:ext>
    </p:extLst>
  </p:cSld>
</p:sld>
</file>

<file path=ppt/slides/slide13.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F7572F6-3C4A-47DA-95A4-1A88D04E9796}"/>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61C7AEF-8E80-42F6-B147-C998FF13B2BA}"/>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C9EB198-E24A-4082-B9CF-1EB518DA9AF2}"/>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E72747C-0020-4746-9BE3-F58C023B2123}"/>
              </a:ext>
            </a:extLst>
          </p:cNvPr>
          <p:cNvSpPr>
            <a:spLocks xmlns:a="http://schemas.openxmlformats.org/drawingml/2006/main" noGrp="1"/>
          </p:cNvSpPr>
          <p:nvPr/>
        </p:nvSpPr>
        <p:spPr>
          <a:xfrm xmlns:a="http://schemas.openxmlformats.org/drawingml/2006/main">
            <a:off x="857250" y="1866900"/>
            <a:ext cx="3810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0" b="1">
                <a:solidFill>
                  <a:srgbClr val="12365F"/>
                </a:solidFill>
                <a:latin typeface="Arial"/>
                <a:ea typeface="Arial"/>
                <a:cs typeface="Arial"/>
              </a:defRPr>
            </a:pPr>
            <a:r>
              <a:rPr sz="9000" b="1">
                <a:solidFill>
                  <a:srgbClr val="12365F"/>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D544DB70-F2CC-4AF2-9489-8714E739D2D3}"/>
              </a:ext>
            </a:extLst>
          </p:cNvPr>
          <p:cNvSpPr>
            <a:spLocks xmlns:a="http://schemas.openxmlformats.org/drawingml/2006/main" noGrp="1"/>
          </p:cNvSpPr>
          <p:nvPr/>
        </p:nvSpPr>
        <p:spPr>
          <a:xfrm xmlns:a="http://schemas.openxmlformats.org/drawingml/2006/main">
            <a:off x="914400" y="2857500"/>
            <a:ext cx="666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3300" b="1">
                <a:solidFill>
                  <a:srgbClr val="FFFFFF"/>
                </a:solidFill>
                <a:latin typeface="微软雅黑"/>
                <a:ea typeface="微软雅黑"/>
                <a:cs typeface="微软雅黑"/>
              </a:defRPr>
            </a:pPr>
            <a:r>
              <a:rPr sz="3300" b="1">
                <a:solidFill>
                  <a:srgbClr val="FFFFFF"/>
                </a:solidFill>
                <a:latin typeface="微软雅黑"/>
                <a:ea typeface="微软雅黑"/>
                <a:cs typeface="微软雅黑"/>
              </a:rPr>
              <a:t>核心算法</a:t>
            </a:r>
          </a:p>
        </p:txBody>
      </p:sp>
      <p:sp>
        <p:nvSpPr>
          <p:cNvPr id="6" name="">
            <a:extLst xmlns:a="http://schemas.openxmlformats.org/drawingml/2006/main">
              <a:ext uri="{FF2B5EF4-FFF2-40B4-BE49-F238E27FC236}">
                <a16:creationId xmlns:a16="http://schemas.microsoft.com/office/drawing/2014/main" id="{7A00CFEE-8519-46C1-933B-F3CCDE984A55}"/>
              </a:ext>
            </a:extLst>
          </p:cNvPr>
          <p:cNvSpPr>
            <a:spLocks xmlns:a="http://schemas.openxmlformats.org/drawingml/2006/main" noGrp="1"/>
          </p:cNvSpPr>
          <p:nvPr/>
        </p:nvSpPr>
        <p:spPr>
          <a:xfrm xmlns:a="http://schemas.openxmlformats.org/drawingml/2006/main">
            <a:off x="952500" y="348615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050" b="0">
                <a:solidFill>
                  <a:srgbClr val="31C7F0"/>
                </a:solidFill>
                <a:latin typeface="Arial"/>
                <a:ea typeface="Arial"/>
                <a:cs typeface="Arial"/>
              </a:defRPr>
            </a:pPr>
            <a:r>
              <a:rPr sz="1050" b="0">
                <a:solidFill>
                  <a:srgbClr val="31C7F0"/>
                </a:solidFill>
                <a:latin typeface="Arial"/>
                <a:ea typeface="Arial"/>
                <a:cs typeface="Arial"/>
              </a:rPr>
              <a:t>ALGORITHMS · RULE ENGINE &amp; RECOMMENDATION</a:t>
            </a:r>
          </a:p>
        </p:txBody>
      </p:sp>
      <p:sp>
        <p:nvSpPr>
          <p:cNvPr id="7" name="">
            <a:extLst xmlns:a="http://schemas.openxmlformats.org/drawingml/2006/main">
              <a:ext uri="{FF2B5EF4-FFF2-40B4-BE49-F238E27FC236}">
                <a16:creationId xmlns:a16="http://schemas.microsoft.com/office/drawing/2014/main" id="{AA56B6D2-9D4C-4F29-B055-3456BF32BD80}"/>
              </a:ext>
            </a:extLst>
          </p:cNvPr>
          <p:cNvSpPr>
            <a:spLocks xmlns:a="http://schemas.openxmlformats.org/drawingml/2006/main" noGrp="1"/>
          </p:cNvSpPr>
          <p:nvPr/>
        </p:nvSpPr>
        <p:spPr>
          <a:xfrm xmlns:a="http://schemas.openxmlformats.org/drawingml/2006/main">
            <a:off x="952500" y="3905250"/>
            <a:ext cx="857250" cy="28575"/>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9A237C5-E0BD-4BD6-9D3F-3592B2DCAC3B}"/>
              </a:ext>
            </a:extLst>
          </p:cNvPr>
          <p:cNvSpPr>
            <a:spLocks xmlns:a="http://schemas.openxmlformats.org/drawingml/2006/main" noGrp="1"/>
          </p:cNvSpPr>
          <p:nvPr/>
        </p:nvSpPr>
        <p:spPr>
          <a:xfrm xmlns:a="http://schemas.openxmlformats.org/drawingml/2006/main">
            <a:off x="952500" y="4152900"/>
            <a:ext cx="590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90000"/>
              </a:lnSpc>
              <a:buNone/>
              <a:defRPr sz="1125">
                <a:solidFill>
                  <a:srgbClr val="9FC2E8"/>
                </a:solidFill>
                <a:latin typeface="微软雅黑"/>
                <a:ea typeface="微软雅黑"/>
                <a:cs typeface="微软雅黑"/>
              </a:defRPr>
            </a:pPr>
            <a:r>
              <a:rPr sz="1125">
                <a:solidFill>
                  <a:srgbClr val="9FC2E8"/>
                </a:solidFill>
                <a:latin typeface="微软雅黑"/>
                <a:ea typeface="微软雅黑"/>
                <a:cs typeface="微软雅黑"/>
              </a:rPr>
              <a:t>四个算法：规则引擎、气体检测归因、个性化组卷、课程匹配</a:t>
            </a:r>
          </a:p>
          <a:p xmlns:a="http://schemas.openxmlformats.org/drawingml/2006/main">
            <a:pPr algn="l">
              <a:lnSpc>
                <a:spcPct val="190000"/>
              </a:lnSpc>
              <a:buNone/>
              <a:defRPr sz="1125">
                <a:solidFill>
                  <a:srgbClr val="9FC2E8"/>
                </a:solidFill>
                <a:latin typeface="微软雅黑"/>
                <a:ea typeface="微软雅黑"/>
                <a:cs typeface="微软雅黑"/>
              </a:defRPr>
            </a:pPr>
            <a:r>
              <a:rPr sz="1125">
                <a:solidFill>
                  <a:srgbClr val="9FC2E8"/>
                </a:solidFill>
                <a:latin typeface="微软雅黑"/>
                <a:ea typeface="微软雅黑"/>
                <a:cs typeface="微软雅黑"/>
              </a:rPr>
              <a:t>每个算法给出公式、流程图、具体案例与输入 / 约束 / 输出</a:t>
            </a:r>
          </a:p>
          <a:p xmlns:a="http://schemas.openxmlformats.org/drawingml/2006/main">
            <a:pPr algn="l">
              <a:lnSpc>
                <a:spcPct val="190000"/>
              </a:lnSpc>
              <a:buNone/>
              <a:defRPr sz="1125">
                <a:solidFill>
                  <a:srgbClr val="9FC2E8"/>
                </a:solidFill>
                <a:latin typeface="微软雅黑"/>
                <a:ea typeface="微软雅黑"/>
                <a:cs typeface="微软雅黑"/>
              </a:defRPr>
            </a:pPr>
            <a:r>
              <a:rPr sz="1125">
                <a:solidFill>
                  <a:srgbClr val="9FC2E8"/>
                </a:solidFill>
                <a:latin typeface="微软雅黑"/>
                <a:ea typeface="微软雅黑"/>
                <a:cs typeface="微软雅黑"/>
              </a:rPr>
              <a:t>并说明相比「纯规则」或「纯大模型」单用的优势</a:t>
            </a:r>
          </a:p>
        </p:txBody>
      </p:sp>
    </p:spTree>
    <p:extLst>
      <p:ext uri="{BB962C8B-B14F-4D97-AF65-F5344CB8AC3E}">
        <p14:creationId xmlns:p14="http://schemas.microsoft.com/office/powerpoint/2010/main" val="1940581378"/>
      </p:ext>
    </p:extLst>
  </p:cSld>
</p:sld>
</file>

<file path=ppt/slides/slide14.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7EB66A26-94AE-4945-9C37-3AB41D5E97F2}"/>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7D0EEFD-64CE-440A-8C23-A967A1189ABC}"/>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9861F9F-2916-4D08-8FA3-AB4C5B2849EA}"/>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097BE44-AAFF-49CA-A818-1654DA3439AE}"/>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F3933AA-CC6D-4A2B-AB9D-24D36A0201AA}"/>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F4B2D166-4C01-42D0-A55C-07784CFFAA05}"/>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核心算法</a:t>
            </a:r>
          </a:p>
        </p:txBody>
      </p:sp>
      <p:sp>
        <p:nvSpPr>
          <p:cNvPr id="7" name="">
            <a:extLst xmlns:a="http://schemas.openxmlformats.org/drawingml/2006/main">
              <a:ext uri="{FF2B5EF4-FFF2-40B4-BE49-F238E27FC236}">
                <a16:creationId xmlns:a16="http://schemas.microsoft.com/office/drawing/2014/main" id="{86144CA6-EA26-4EC1-AD20-8041C63E4F26}"/>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85ECA6D-E56B-4E25-8A12-20F61BFDCC1D}"/>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算法一 · 规则引擎：确定性匹配、可复算输出</a:t>
            </a:r>
          </a:p>
        </p:txBody>
      </p:sp>
      <p:sp>
        <p:nvSpPr>
          <p:cNvPr id="9" name="">
            <a:extLst xmlns:a="http://schemas.openxmlformats.org/drawingml/2006/main">
              <a:ext uri="{FF2B5EF4-FFF2-40B4-BE49-F238E27FC236}">
                <a16:creationId xmlns:a16="http://schemas.microsoft.com/office/drawing/2014/main" id="{15C96116-C229-45D1-BF3B-D7FE4FE21E08}"/>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FDCA5260-757F-4B33-A0E3-FA5E939A566E}"/>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同一输入必然得到同一输出——这是「可复算」的前提，也是规则引擎相对大模型的根本优势。</a:t>
            </a:r>
          </a:p>
        </p:txBody>
      </p:sp>
      <p:sp>
        <p:nvSpPr>
          <p:cNvPr id="11" name="">
            <a:extLst xmlns:a="http://schemas.openxmlformats.org/drawingml/2006/main">
              <a:ext uri="{FF2B5EF4-FFF2-40B4-BE49-F238E27FC236}">
                <a16:creationId xmlns:a16="http://schemas.microsoft.com/office/drawing/2014/main" id="{76BBCB59-1C77-4FB7-88F4-F7CDE134AA85}"/>
              </a:ext>
            </a:extLst>
          </p:cNvPr>
          <p:cNvSpPr>
            <a:spLocks xmlns:a="http://schemas.openxmlformats.org/drawingml/2006/main" noGrp="1"/>
          </p:cNvSpPr>
          <p:nvPr/>
        </p:nvSpPr>
        <p:spPr>
          <a:xfrm xmlns:a="http://schemas.openxmlformats.org/drawingml/2006/main">
            <a:off x="285750" y="1333500"/>
            <a:ext cx="5715000" cy="1123950"/>
          </a:xfrm>
          <a:prstGeom xmlns:a="http://schemas.openxmlformats.org/drawingml/2006/main" prst="roundRect">
            <a:avLst>
              <a:gd name="adj" fmla="val 6780"/>
            </a:avLst>
          </a:prstGeom>
          <a:solidFill xmlns:a="http://schemas.openxmlformats.org/drawingml/2006/main">
            <a:srgbClr val="0A2547"/>
          </a:solidFill>
          <a:ln xmlns:a="http://schemas.openxmlformats.org/drawingml/2006/main" w="13335">
            <a:solidFill>
              <a:srgbClr val="F5C33B"/>
            </a:solidFill>
            <a:prstDash val="solid"/>
          </a:ln>
        </p:spPr>
      </p:sp>
      <p:sp>
        <p:nvSpPr>
          <p:cNvPr id="12" name="">
            <a:extLst xmlns:a="http://schemas.openxmlformats.org/drawingml/2006/main">
              <a:ext uri="{FF2B5EF4-FFF2-40B4-BE49-F238E27FC236}">
                <a16:creationId xmlns:a16="http://schemas.microsoft.com/office/drawing/2014/main" id="{232CF2B2-6473-453E-9393-9755205050E3}"/>
              </a:ext>
            </a:extLst>
          </p:cNvPr>
          <p:cNvSpPr>
            <a:spLocks xmlns:a="http://schemas.openxmlformats.org/drawingml/2006/main" noGrp="1"/>
          </p:cNvSpPr>
          <p:nvPr/>
        </p:nvSpPr>
        <p:spPr>
          <a:xfrm xmlns:a="http://schemas.openxmlformats.org/drawingml/2006/main">
            <a:off x="457200" y="1447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核心公式</a:t>
            </a:r>
          </a:p>
        </p:txBody>
      </p:sp>
      <p:sp>
        <p:nvSpPr>
          <p:cNvPr id="13" name="">
            <a:extLst xmlns:a="http://schemas.openxmlformats.org/drawingml/2006/main">
              <a:ext uri="{FF2B5EF4-FFF2-40B4-BE49-F238E27FC236}">
                <a16:creationId xmlns:a16="http://schemas.microsoft.com/office/drawing/2014/main" id="{575BC783-C6C6-4429-9784-B5B953E974B1}"/>
              </a:ext>
            </a:extLst>
          </p:cNvPr>
          <p:cNvSpPr>
            <a:spLocks xmlns:a="http://schemas.openxmlformats.org/drawingml/2006/main" noGrp="1"/>
          </p:cNvSpPr>
          <p:nvPr/>
        </p:nvSpPr>
        <p:spPr>
          <a:xfrm xmlns:a="http://schemas.openxmlformats.org/drawingml/2006/main">
            <a:off x="457200" y="1714500"/>
            <a:ext cx="53911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verdict.actions = unique(concat(actions_i))　　</a:t>
            </a:r>
          </a:p>
          <a:p xmlns:a="http://schemas.openxmlformats.org/drawingml/2006/main">
            <a:pPr algn="l">
              <a:lnSpc>
                <a:spcPct val="155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verdict.severity = max_severity(severity_i)　　</a:t>
            </a:r>
          </a:p>
          <a:p xmlns:a="http://schemas.openxmlformats.org/drawingml/2006/main">
            <a:pPr algn="l">
              <a:lnSpc>
                <a:spcPct val="155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其中 i ∈ hits(rule)，hits 按 priority 降序、同优先级按 rule_code 稳定排序。</a:t>
            </a:r>
          </a:p>
        </p:txBody>
      </p:sp>
      <p:sp>
        <p:nvSpPr>
          <p:cNvPr id="14" name="">
            <a:extLst xmlns:a="http://schemas.openxmlformats.org/drawingml/2006/main">
              <a:ext uri="{FF2B5EF4-FFF2-40B4-BE49-F238E27FC236}">
                <a16:creationId xmlns:a16="http://schemas.microsoft.com/office/drawing/2014/main" id="{810412CE-AB21-43CF-BD8C-EA1E22153CA3}"/>
              </a:ext>
            </a:extLst>
          </p:cNvPr>
          <p:cNvSpPr>
            <a:spLocks xmlns:a="http://schemas.openxmlformats.org/drawingml/2006/main" noGrp="1"/>
          </p:cNvSpPr>
          <p:nvPr/>
        </p:nvSpPr>
        <p:spPr>
          <a:xfrm xmlns:a="http://schemas.openxmlformats.org/drawingml/2006/main">
            <a:off x="285750" y="2590800"/>
            <a:ext cx="5715000" cy="1676400"/>
          </a:xfrm>
          <a:prstGeom xmlns:a="http://schemas.openxmlformats.org/drawingml/2006/main" prst="roundRect">
            <a:avLst>
              <a:gd name="adj" fmla="val 4545"/>
            </a:avLst>
          </a:prstGeom>
          <a:solidFill xmlns:a="http://schemas.openxmlformats.org/drawingml/2006/main">
            <a:srgbClr val="0D2748"/>
          </a:solidFill>
          <a:ln xmlns:a="http://schemas.openxmlformats.org/drawingml/2006/main" w="9525">
            <a:solidFill>
              <a:srgbClr val="1B4C8A"/>
            </a:solidFill>
            <a:prstDash val="solid"/>
          </a:ln>
        </p:spPr>
      </p:sp>
      <p:sp>
        <p:nvSpPr>
          <p:cNvPr id="15" name="">
            <a:extLst xmlns:a="http://schemas.openxmlformats.org/drawingml/2006/main">
              <a:ext uri="{FF2B5EF4-FFF2-40B4-BE49-F238E27FC236}">
                <a16:creationId xmlns:a16="http://schemas.microsoft.com/office/drawing/2014/main" id="{59145BCF-0E67-423E-B4B5-2E165B8EB885}"/>
              </a:ext>
            </a:extLst>
          </p:cNvPr>
          <p:cNvSpPr>
            <a:spLocks xmlns:a="http://schemas.openxmlformats.org/drawingml/2006/main" noGrp="1"/>
          </p:cNvSpPr>
          <p:nvPr/>
        </p:nvSpPr>
        <p:spPr>
          <a:xfrm xmlns:a="http://schemas.openxmlformats.org/drawingml/2006/main">
            <a:off x="457200" y="27051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匹配顺序（决定结果可复现）</a:t>
            </a:r>
          </a:p>
        </p:txBody>
      </p:sp>
      <p:sp>
        <p:nvSpPr>
          <p:cNvPr id="16" name="">
            <a:extLst xmlns:a="http://schemas.openxmlformats.org/drawingml/2006/main">
              <a:ext uri="{FF2B5EF4-FFF2-40B4-BE49-F238E27FC236}">
                <a16:creationId xmlns:a16="http://schemas.microsoft.com/office/drawing/2014/main" id="{3A9E8B6C-C583-4E0E-84C8-29AB2EB96BC8}"/>
              </a:ext>
            </a:extLst>
          </p:cNvPr>
          <p:cNvSpPr>
            <a:spLocks xmlns:a="http://schemas.openxmlformats.org/drawingml/2006/main" noGrp="1"/>
          </p:cNvSpPr>
          <p:nvPr/>
        </p:nvSpPr>
        <p:spPr>
          <a:xfrm xmlns:a="http://schemas.openxmlformats.org/drawingml/2006/main">
            <a:off x="457200" y="2990850"/>
            <a:ext cx="53911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1　</a:t>
            </a:r>
            <a:r>
              <a:rPr sz="938">
                <a:solidFill>
                  <a:srgbClr val="D6E6F7"/>
                </a:solidFill>
                <a:latin typeface="微软雅黑"/>
                <a:ea typeface="微软雅黑"/>
                <a:cs typeface="微软雅黑"/>
              </a:rPr>
              <a:t>按 scene 读取 enabled=1 的规则；</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2　</a:t>
            </a:r>
            <a:r>
              <a:rPr sz="938">
                <a:solidFill>
                  <a:srgbClr val="D6E6F7"/>
                </a:solidFill>
                <a:latin typeface="微软雅黑"/>
                <a:ea typeface="微软雅黑"/>
                <a:cs typeface="微软雅黑"/>
              </a:rPr>
              <a:t>按 priority 从高到低排序；</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3　</a:t>
            </a:r>
            <a:r>
              <a:rPr sz="938">
                <a:solidFill>
                  <a:srgbClr val="D6E6F7"/>
                </a:solidFill>
                <a:latin typeface="微软雅黑"/>
                <a:ea typeface="微软雅黑"/>
                <a:cs typeface="微软雅黑"/>
              </a:rPr>
              <a:t>对条件树做白名单算子求值（and / or / not + 20 个算子）；</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4　</a:t>
            </a:r>
            <a:r>
              <a:rPr sz="938">
                <a:solidFill>
                  <a:srgbClr val="D6E6F7"/>
                </a:solidFill>
                <a:latin typeface="微软雅黑"/>
                <a:ea typeface="微软雅黑"/>
                <a:cs typeface="微软雅黑"/>
              </a:rPr>
              <a:t>按 rule_group 分别处理 stop_on_match 与 max_hits；</a:t>
            </a:r>
          </a:p>
          <a:p xmlns:a="http://schemas.openxmlformats.org/drawingml/2006/main">
            <a:pPr algn="l">
              <a:lnSpc>
                <a:spcPct val="16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5　</a:t>
            </a:r>
            <a:r>
              <a:rPr sz="938">
                <a:solidFill>
                  <a:srgbClr val="D6E6F7"/>
                </a:solidFill>
                <a:latin typeface="微软雅黑"/>
                <a:ea typeface="微软雅黑"/>
                <a:cs typeface="微软雅黑"/>
              </a:rPr>
              <a:t>合并 actions / causes / rule_refs，严重度取最高档。</a:t>
            </a:r>
          </a:p>
        </p:txBody>
      </p:sp>
      <p:sp>
        <p:nvSpPr>
          <p:cNvPr id="17" name="">
            <a:extLst xmlns:a="http://schemas.openxmlformats.org/drawingml/2006/main">
              <a:ext uri="{FF2B5EF4-FFF2-40B4-BE49-F238E27FC236}">
                <a16:creationId xmlns:a16="http://schemas.microsoft.com/office/drawing/2014/main" id="{22F9895A-5F44-49C8-BEC9-BC983EDB6E6B}"/>
              </a:ext>
            </a:extLst>
          </p:cNvPr>
          <p:cNvSpPr>
            <a:spLocks xmlns:a="http://schemas.openxmlformats.org/drawingml/2006/main" noGrp="1"/>
          </p:cNvSpPr>
          <p:nvPr/>
        </p:nvSpPr>
        <p:spPr>
          <a:xfrm xmlns:a="http://schemas.openxmlformats.org/drawingml/2006/main">
            <a:off x="285750" y="4381500"/>
            <a:ext cx="5715000" cy="1866900"/>
          </a:xfrm>
          <a:prstGeom xmlns:a="http://schemas.openxmlformats.org/drawingml/2006/main" prst="roundRect">
            <a:avLst>
              <a:gd name="adj" fmla="val 4082"/>
            </a:avLst>
          </a:prstGeom>
          <a:solidFill xmlns:a="http://schemas.openxmlformats.org/drawingml/2006/main">
            <a:srgbClr val="0F3159"/>
          </a:solidFill>
          <a:ln xmlns:a="http://schemas.openxmlformats.org/drawingml/2006/main" w="9525">
            <a:solidFill>
              <a:srgbClr val="1B4C8A"/>
            </a:solidFill>
            <a:prstDash val="solid"/>
          </a:ln>
        </p:spPr>
      </p:sp>
      <p:sp>
        <p:nvSpPr>
          <p:cNvPr id="18" name="">
            <a:extLst xmlns:a="http://schemas.openxmlformats.org/drawingml/2006/main">
              <a:ext uri="{FF2B5EF4-FFF2-40B4-BE49-F238E27FC236}">
                <a16:creationId xmlns:a16="http://schemas.microsoft.com/office/drawing/2014/main" id="{5FD0CA29-62ED-4F33-B51A-2C0DCC966CB4}"/>
              </a:ext>
            </a:extLst>
          </p:cNvPr>
          <p:cNvSpPr>
            <a:spLocks xmlns:a="http://schemas.openxmlformats.org/drawingml/2006/main" noGrp="1"/>
          </p:cNvSpPr>
          <p:nvPr/>
        </p:nvSpPr>
        <p:spPr>
          <a:xfrm xmlns:a="http://schemas.openxmlformats.org/drawingml/2006/main">
            <a:off x="457200" y="4495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算子白名单（规则内容当不可信输入）</a:t>
            </a:r>
          </a:p>
        </p:txBody>
      </p:sp>
      <p:sp>
        <p:nvSpPr>
          <p:cNvPr id="19" name="">
            <a:extLst xmlns:a="http://schemas.openxmlformats.org/drawingml/2006/main">
              <a:ext uri="{FF2B5EF4-FFF2-40B4-BE49-F238E27FC236}">
                <a16:creationId xmlns:a16="http://schemas.microsoft.com/office/drawing/2014/main" id="{FB5E6FD6-7FD0-4C30-B4BF-670E9B2306C1}"/>
              </a:ext>
            </a:extLst>
          </p:cNvPr>
          <p:cNvSpPr>
            <a:spLocks xmlns:a="http://schemas.openxmlformats.org/drawingml/2006/main" noGrp="1"/>
          </p:cNvSpPr>
          <p:nvPr/>
        </p:nvSpPr>
        <p:spPr>
          <a:xfrm xmlns:a="http://schemas.openxmlformats.org/drawingml/2006/main">
            <a:off x="457200" y="4800600"/>
            <a:ext cx="1695450" cy="304800"/>
          </a:xfrm>
          <a:prstGeom xmlns:a="http://schemas.openxmlformats.org/drawingml/2006/main" prst="roundRect">
            <a:avLst>
              <a:gd name="adj" fmla="val 18750"/>
            </a:avLst>
          </a:prstGeom>
          <a:solidFill xmlns:a="http://schemas.openxmlformats.org/drawingml/2006/main">
            <a:srgbClr val="0A2244"/>
          </a:solidFill>
          <a:ln xmlns:a="http://schemas.openxmlformats.org/drawingml/2006/main" w="9525">
            <a:solidFill>
              <a:srgbClr val="1A4478"/>
            </a:solidFill>
            <a:prstDash val="solid"/>
          </a:ln>
        </p:spPr>
      </p:sp>
      <p:sp>
        <p:nvSpPr>
          <p:cNvPr id="20" name="">
            <a:extLst xmlns:a="http://schemas.openxmlformats.org/drawingml/2006/main">
              <a:ext uri="{FF2B5EF4-FFF2-40B4-BE49-F238E27FC236}">
                <a16:creationId xmlns:a16="http://schemas.microsoft.com/office/drawing/2014/main" id="{D05839F6-0676-41A0-B0A3-5FFA244D261D}"/>
              </a:ext>
            </a:extLst>
          </p:cNvPr>
          <p:cNvSpPr>
            <a:spLocks xmlns:a="http://schemas.openxmlformats.org/drawingml/2006/main" noGrp="1"/>
          </p:cNvSpPr>
          <p:nvPr/>
        </p:nvSpPr>
        <p:spPr>
          <a:xfrm xmlns:a="http://schemas.openxmlformats.org/drawingml/2006/main">
            <a:off x="457200" y="4800600"/>
            <a:ext cx="1695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eq / ne</a:t>
            </a:r>
          </a:p>
        </p:txBody>
      </p:sp>
      <p:sp>
        <p:nvSpPr>
          <p:cNvPr id="21" name="">
            <a:extLst xmlns:a="http://schemas.openxmlformats.org/drawingml/2006/main">
              <a:ext uri="{FF2B5EF4-FFF2-40B4-BE49-F238E27FC236}">
                <a16:creationId xmlns:a16="http://schemas.microsoft.com/office/drawing/2014/main" id="{29B856E1-544A-4126-97DA-4352FFECAA0C}"/>
              </a:ext>
            </a:extLst>
          </p:cNvPr>
          <p:cNvSpPr>
            <a:spLocks xmlns:a="http://schemas.openxmlformats.org/drawingml/2006/main" noGrp="1"/>
          </p:cNvSpPr>
          <p:nvPr/>
        </p:nvSpPr>
        <p:spPr>
          <a:xfrm xmlns:a="http://schemas.openxmlformats.org/drawingml/2006/main">
            <a:off x="2266950" y="4800600"/>
            <a:ext cx="1695450" cy="304800"/>
          </a:xfrm>
          <a:prstGeom xmlns:a="http://schemas.openxmlformats.org/drawingml/2006/main" prst="roundRect">
            <a:avLst>
              <a:gd name="adj" fmla="val 18750"/>
            </a:avLst>
          </a:prstGeom>
          <a:solidFill xmlns:a="http://schemas.openxmlformats.org/drawingml/2006/main">
            <a:srgbClr val="0A2244"/>
          </a:solidFill>
          <a:ln xmlns:a="http://schemas.openxmlformats.org/drawingml/2006/main" w="9525">
            <a:solidFill>
              <a:srgbClr val="1A4478"/>
            </a:solidFill>
            <a:prstDash val="solid"/>
          </a:ln>
        </p:spPr>
      </p:sp>
      <p:sp>
        <p:nvSpPr>
          <p:cNvPr id="22" name="">
            <a:extLst xmlns:a="http://schemas.openxmlformats.org/drawingml/2006/main">
              <a:ext uri="{FF2B5EF4-FFF2-40B4-BE49-F238E27FC236}">
                <a16:creationId xmlns:a16="http://schemas.microsoft.com/office/drawing/2014/main" id="{08A0558B-B59A-49C2-8150-08A9772A1BC6}"/>
              </a:ext>
            </a:extLst>
          </p:cNvPr>
          <p:cNvSpPr>
            <a:spLocks xmlns:a="http://schemas.openxmlformats.org/drawingml/2006/main" noGrp="1"/>
          </p:cNvSpPr>
          <p:nvPr/>
        </p:nvSpPr>
        <p:spPr>
          <a:xfrm xmlns:a="http://schemas.openxmlformats.org/drawingml/2006/main">
            <a:off x="2266950" y="4800600"/>
            <a:ext cx="1695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gt / gte / lt / lte</a:t>
            </a:r>
          </a:p>
        </p:txBody>
      </p:sp>
      <p:sp>
        <p:nvSpPr>
          <p:cNvPr id="23" name="">
            <a:extLst xmlns:a="http://schemas.openxmlformats.org/drawingml/2006/main">
              <a:ext uri="{FF2B5EF4-FFF2-40B4-BE49-F238E27FC236}">
                <a16:creationId xmlns:a16="http://schemas.microsoft.com/office/drawing/2014/main" id="{5F0BB9B2-F47F-4671-93D7-8CEA60931686}"/>
              </a:ext>
            </a:extLst>
          </p:cNvPr>
          <p:cNvSpPr>
            <a:spLocks xmlns:a="http://schemas.openxmlformats.org/drawingml/2006/main" noGrp="1"/>
          </p:cNvSpPr>
          <p:nvPr/>
        </p:nvSpPr>
        <p:spPr>
          <a:xfrm xmlns:a="http://schemas.openxmlformats.org/drawingml/2006/main">
            <a:off x="4076700" y="4800600"/>
            <a:ext cx="1695450" cy="304800"/>
          </a:xfrm>
          <a:prstGeom xmlns:a="http://schemas.openxmlformats.org/drawingml/2006/main" prst="roundRect">
            <a:avLst>
              <a:gd name="adj" fmla="val 18750"/>
            </a:avLst>
          </a:prstGeom>
          <a:solidFill xmlns:a="http://schemas.openxmlformats.org/drawingml/2006/main">
            <a:srgbClr val="0A2244"/>
          </a:solidFill>
          <a:ln xmlns:a="http://schemas.openxmlformats.org/drawingml/2006/main" w="9525">
            <a:solidFill>
              <a:srgbClr val="1A4478"/>
            </a:solidFill>
            <a:prstDash val="solid"/>
          </a:ln>
        </p:spPr>
      </p:sp>
      <p:sp>
        <p:nvSpPr>
          <p:cNvPr id="24" name="">
            <a:extLst xmlns:a="http://schemas.openxmlformats.org/drawingml/2006/main">
              <a:ext uri="{FF2B5EF4-FFF2-40B4-BE49-F238E27FC236}">
                <a16:creationId xmlns:a16="http://schemas.microsoft.com/office/drawing/2014/main" id="{08C5539B-9DA7-4405-BDCA-0F0EC7469987}"/>
              </a:ext>
            </a:extLst>
          </p:cNvPr>
          <p:cNvSpPr>
            <a:spLocks xmlns:a="http://schemas.openxmlformats.org/drawingml/2006/main" noGrp="1"/>
          </p:cNvSpPr>
          <p:nvPr/>
        </p:nvSpPr>
        <p:spPr>
          <a:xfrm xmlns:a="http://schemas.openxmlformats.org/drawingml/2006/main">
            <a:off x="4076700" y="4800600"/>
            <a:ext cx="1695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between</a:t>
            </a:r>
          </a:p>
        </p:txBody>
      </p:sp>
      <p:sp>
        <p:nvSpPr>
          <p:cNvPr id="25" name="">
            <a:extLst xmlns:a="http://schemas.openxmlformats.org/drawingml/2006/main">
              <a:ext uri="{FF2B5EF4-FFF2-40B4-BE49-F238E27FC236}">
                <a16:creationId xmlns:a16="http://schemas.microsoft.com/office/drawing/2014/main" id="{2E52773D-5FB4-4D9C-8100-3B738F9B3317}"/>
              </a:ext>
            </a:extLst>
          </p:cNvPr>
          <p:cNvSpPr>
            <a:spLocks xmlns:a="http://schemas.openxmlformats.org/drawingml/2006/main" noGrp="1"/>
          </p:cNvSpPr>
          <p:nvPr/>
        </p:nvSpPr>
        <p:spPr>
          <a:xfrm xmlns:a="http://schemas.openxmlformats.org/drawingml/2006/main">
            <a:off x="457200" y="5200650"/>
            <a:ext cx="1695450" cy="304800"/>
          </a:xfrm>
          <a:prstGeom xmlns:a="http://schemas.openxmlformats.org/drawingml/2006/main" prst="roundRect">
            <a:avLst>
              <a:gd name="adj" fmla="val 18750"/>
            </a:avLst>
          </a:prstGeom>
          <a:solidFill xmlns:a="http://schemas.openxmlformats.org/drawingml/2006/main">
            <a:srgbClr val="0A2244"/>
          </a:solidFill>
          <a:ln xmlns:a="http://schemas.openxmlformats.org/drawingml/2006/main" w="9525">
            <a:solidFill>
              <a:srgbClr val="1A4478"/>
            </a:solidFill>
            <a:prstDash val="solid"/>
          </a:ln>
        </p:spPr>
      </p:sp>
      <p:sp>
        <p:nvSpPr>
          <p:cNvPr id="26" name="">
            <a:extLst xmlns:a="http://schemas.openxmlformats.org/drawingml/2006/main">
              <a:ext uri="{FF2B5EF4-FFF2-40B4-BE49-F238E27FC236}">
                <a16:creationId xmlns:a16="http://schemas.microsoft.com/office/drawing/2014/main" id="{E699E683-53F2-487B-96DA-BA74F004F87F}"/>
              </a:ext>
            </a:extLst>
          </p:cNvPr>
          <p:cNvSpPr>
            <a:spLocks xmlns:a="http://schemas.openxmlformats.org/drawingml/2006/main" noGrp="1"/>
          </p:cNvSpPr>
          <p:nvPr/>
        </p:nvSpPr>
        <p:spPr>
          <a:xfrm xmlns:a="http://schemas.openxmlformats.org/drawingml/2006/main">
            <a:off x="457200" y="5200650"/>
            <a:ext cx="1695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in / not_in</a:t>
            </a:r>
          </a:p>
        </p:txBody>
      </p:sp>
      <p:sp>
        <p:nvSpPr>
          <p:cNvPr id="27" name="">
            <a:extLst xmlns:a="http://schemas.openxmlformats.org/drawingml/2006/main">
              <a:ext uri="{FF2B5EF4-FFF2-40B4-BE49-F238E27FC236}">
                <a16:creationId xmlns:a16="http://schemas.microsoft.com/office/drawing/2014/main" id="{99878703-B373-4635-9CFF-388821554FFE}"/>
              </a:ext>
            </a:extLst>
          </p:cNvPr>
          <p:cNvSpPr>
            <a:spLocks xmlns:a="http://schemas.openxmlformats.org/drawingml/2006/main" noGrp="1"/>
          </p:cNvSpPr>
          <p:nvPr/>
        </p:nvSpPr>
        <p:spPr>
          <a:xfrm xmlns:a="http://schemas.openxmlformats.org/drawingml/2006/main">
            <a:off x="2266950" y="5200650"/>
            <a:ext cx="1695450" cy="304800"/>
          </a:xfrm>
          <a:prstGeom xmlns:a="http://schemas.openxmlformats.org/drawingml/2006/main" prst="roundRect">
            <a:avLst>
              <a:gd name="adj" fmla="val 18750"/>
            </a:avLst>
          </a:prstGeom>
          <a:solidFill xmlns:a="http://schemas.openxmlformats.org/drawingml/2006/main">
            <a:srgbClr val="0A2244"/>
          </a:solidFill>
          <a:ln xmlns:a="http://schemas.openxmlformats.org/drawingml/2006/main" w="9525">
            <a:solidFill>
              <a:srgbClr val="1A4478"/>
            </a:solidFill>
            <a:prstDash val="solid"/>
          </a:ln>
        </p:spPr>
      </p:sp>
      <p:sp>
        <p:nvSpPr>
          <p:cNvPr id="28" name="">
            <a:extLst xmlns:a="http://schemas.openxmlformats.org/drawingml/2006/main">
              <a:ext uri="{FF2B5EF4-FFF2-40B4-BE49-F238E27FC236}">
                <a16:creationId xmlns:a16="http://schemas.microsoft.com/office/drawing/2014/main" id="{51138E1C-4D3D-405D-AF11-D706535A7752}"/>
              </a:ext>
            </a:extLst>
          </p:cNvPr>
          <p:cNvSpPr>
            <a:spLocks xmlns:a="http://schemas.openxmlformats.org/drawingml/2006/main" noGrp="1"/>
          </p:cNvSpPr>
          <p:nvPr/>
        </p:nvSpPr>
        <p:spPr>
          <a:xfrm xmlns:a="http://schemas.openxmlformats.org/drawingml/2006/main">
            <a:off x="2266950" y="5200650"/>
            <a:ext cx="1695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contains / not_contains</a:t>
            </a:r>
          </a:p>
        </p:txBody>
      </p:sp>
      <p:sp>
        <p:nvSpPr>
          <p:cNvPr id="29" name="">
            <a:extLst xmlns:a="http://schemas.openxmlformats.org/drawingml/2006/main">
              <a:ext uri="{FF2B5EF4-FFF2-40B4-BE49-F238E27FC236}">
                <a16:creationId xmlns:a16="http://schemas.microsoft.com/office/drawing/2014/main" id="{85C7C79A-5C8C-4A8F-A840-CC357E093913}"/>
              </a:ext>
            </a:extLst>
          </p:cNvPr>
          <p:cNvSpPr>
            <a:spLocks xmlns:a="http://schemas.openxmlformats.org/drawingml/2006/main" noGrp="1"/>
          </p:cNvSpPr>
          <p:nvPr/>
        </p:nvSpPr>
        <p:spPr>
          <a:xfrm xmlns:a="http://schemas.openxmlformats.org/drawingml/2006/main">
            <a:off x="4076700" y="5200650"/>
            <a:ext cx="1695450" cy="304800"/>
          </a:xfrm>
          <a:prstGeom xmlns:a="http://schemas.openxmlformats.org/drawingml/2006/main" prst="roundRect">
            <a:avLst>
              <a:gd name="adj" fmla="val 18750"/>
            </a:avLst>
          </a:prstGeom>
          <a:solidFill xmlns:a="http://schemas.openxmlformats.org/drawingml/2006/main">
            <a:srgbClr val="0A2244"/>
          </a:solidFill>
          <a:ln xmlns:a="http://schemas.openxmlformats.org/drawingml/2006/main" w="9525">
            <a:solidFill>
              <a:srgbClr val="1A4478"/>
            </a:solidFill>
            <a:prstDash val="solid"/>
          </a:ln>
        </p:spPr>
      </p:sp>
      <p:sp>
        <p:nvSpPr>
          <p:cNvPr id="30" name="">
            <a:extLst xmlns:a="http://schemas.openxmlformats.org/drawingml/2006/main">
              <a:ext uri="{FF2B5EF4-FFF2-40B4-BE49-F238E27FC236}">
                <a16:creationId xmlns:a16="http://schemas.microsoft.com/office/drawing/2014/main" id="{12BAEC2B-C4A5-485F-878E-6A9A3FA18697}"/>
              </a:ext>
            </a:extLst>
          </p:cNvPr>
          <p:cNvSpPr>
            <a:spLocks xmlns:a="http://schemas.openxmlformats.org/drawingml/2006/main" noGrp="1"/>
          </p:cNvSpPr>
          <p:nvPr/>
        </p:nvSpPr>
        <p:spPr>
          <a:xfrm xmlns:a="http://schemas.openxmlformats.org/drawingml/2006/main">
            <a:off x="4076700" y="5200650"/>
            <a:ext cx="1695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contains_any</a:t>
            </a:r>
          </a:p>
        </p:txBody>
      </p:sp>
      <p:sp>
        <p:nvSpPr>
          <p:cNvPr id="31" name="">
            <a:extLst xmlns:a="http://schemas.openxmlformats.org/drawingml/2006/main">
              <a:ext uri="{FF2B5EF4-FFF2-40B4-BE49-F238E27FC236}">
                <a16:creationId xmlns:a16="http://schemas.microsoft.com/office/drawing/2014/main" id="{73C30200-5B88-42D3-BFBA-868523CE0B98}"/>
              </a:ext>
            </a:extLst>
          </p:cNvPr>
          <p:cNvSpPr>
            <a:spLocks xmlns:a="http://schemas.openxmlformats.org/drawingml/2006/main" noGrp="1"/>
          </p:cNvSpPr>
          <p:nvPr/>
        </p:nvSpPr>
        <p:spPr>
          <a:xfrm xmlns:a="http://schemas.openxmlformats.org/drawingml/2006/main">
            <a:off x="457200" y="5600700"/>
            <a:ext cx="1695450" cy="304800"/>
          </a:xfrm>
          <a:prstGeom xmlns:a="http://schemas.openxmlformats.org/drawingml/2006/main" prst="roundRect">
            <a:avLst>
              <a:gd name="adj" fmla="val 18750"/>
            </a:avLst>
          </a:prstGeom>
          <a:solidFill xmlns:a="http://schemas.openxmlformats.org/drawingml/2006/main">
            <a:srgbClr val="0A2244"/>
          </a:solidFill>
          <a:ln xmlns:a="http://schemas.openxmlformats.org/drawingml/2006/main" w="9525">
            <a:solidFill>
              <a:srgbClr val="1A4478"/>
            </a:solidFill>
            <a:prstDash val="solid"/>
          </a:ln>
        </p:spPr>
      </p:sp>
      <p:sp>
        <p:nvSpPr>
          <p:cNvPr id="32" name="">
            <a:extLst xmlns:a="http://schemas.openxmlformats.org/drawingml/2006/main">
              <a:ext uri="{FF2B5EF4-FFF2-40B4-BE49-F238E27FC236}">
                <a16:creationId xmlns:a16="http://schemas.microsoft.com/office/drawing/2014/main" id="{08127AD4-B7F9-46F7-BF33-635B6595666B}"/>
              </a:ext>
            </a:extLst>
          </p:cNvPr>
          <p:cNvSpPr>
            <a:spLocks xmlns:a="http://schemas.openxmlformats.org/drawingml/2006/main" noGrp="1"/>
          </p:cNvSpPr>
          <p:nvPr/>
        </p:nvSpPr>
        <p:spPr>
          <a:xfrm xmlns:a="http://schemas.openxmlformats.org/drawingml/2006/main">
            <a:off x="457200" y="5600700"/>
            <a:ext cx="1695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starts_with / ends_with</a:t>
            </a:r>
          </a:p>
        </p:txBody>
      </p:sp>
      <p:sp>
        <p:nvSpPr>
          <p:cNvPr id="33" name="">
            <a:extLst xmlns:a="http://schemas.openxmlformats.org/drawingml/2006/main">
              <a:ext uri="{FF2B5EF4-FFF2-40B4-BE49-F238E27FC236}">
                <a16:creationId xmlns:a16="http://schemas.microsoft.com/office/drawing/2014/main" id="{6480CE8C-08CA-49A8-85D7-A90CCBDF34B7}"/>
              </a:ext>
            </a:extLst>
          </p:cNvPr>
          <p:cNvSpPr>
            <a:spLocks xmlns:a="http://schemas.openxmlformats.org/drawingml/2006/main" noGrp="1"/>
          </p:cNvSpPr>
          <p:nvPr/>
        </p:nvSpPr>
        <p:spPr>
          <a:xfrm xmlns:a="http://schemas.openxmlformats.org/drawingml/2006/main">
            <a:off x="2266950" y="5600700"/>
            <a:ext cx="1695450" cy="304800"/>
          </a:xfrm>
          <a:prstGeom xmlns:a="http://schemas.openxmlformats.org/drawingml/2006/main" prst="roundRect">
            <a:avLst>
              <a:gd name="adj" fmla="val 18750"/>
            </a:avLst>
          </a:prstGeom>
          <a:solidFill xmlns:a="http://schemas.openxmlformats.org/drawingml/2006/main">
            <a:srgbClr val="0A2244"/>
          </a:solidFill>
          <a:ln xmlns:a="http://schemas.openxmlformats.org/drawingml/2006/main" w="9525">
            <a:solidFill>
              <a:srgbClr val="1A4478"/>
            </a:solidFill>
            <a:prstDash val="solid"/>
          </a:ln>
        </p:spPr>
      </p:sp>
      <p:sp>
        <p:nvSpPr>
          <p:cNvPr id="34" name="">
            <a:extLst xmlns:a="http://schemas.openxmlformats.org/drawingml/2006/main">
              <a:ext uri="{FF2B5EF4-FFF2-40B4-BE49-F238E27FC236}">
                <a16:creationId xmlns:a16="http://schemas.microsoft.com/office/drawing/2014/main" id="{EA1E27DD-B9C3-4662-9B56-B3075ACDE8E5}"/>
              </a:ext>
            </a:extLst>
          </p:cNvPr>
          <p:cNvSpPr>
            <a:spLocks xmlns:a="http://schemas.openxmlformats.org/drawingml/2006/main" noGrp="1"/>
          </p:cNvSpPr>
          <p:nvPr/>
        </p:nvSpPr>
        <p:spPr>
          <a:xfrm xmlns:a="http://schemas.openxmlformats.org/drawingml/2006/main">
            <a:off x="2266950" y="5600700"/>
            <a:ext cx="1695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is_true / is_false</a:t>
            </a:r>
          </a:p>
        </p:txBody>
      </p:sp>
      <p:sp>
        <p:nvSpPr>
          <p:cNvPr id="35" name="">
            <a:extLst xmlns:a="http://schemas.openxmlformats.org/drawingml/2006/main">
              <a:ext uri="{FF2B5EF4-FFF2-40B4-BE49-F238E27FC236}">
                <a16:creationId xmlns:a16="http://schemas.microsoft.com/office/drawing/2014/main" id="{9586390E-059F-44C6-91F4-6E9156E26AD7}"/>
              </a:ext>
            </a:extLst>
          </p:cNvPr>
          <p:cNvSpPr>
            <a:spLocks xmlns:a="http://schemas.openxmlformats.org/drawingml/2006/main" noGrp="1"/>
          </p:cNvSpPr>
          <p:nvPr/>
        </p:nvSpPr>
        <p:spPr>
          <a:xfrm xmlns:a="http://schemas.openxmlformats.org/drawingml/2006/main">
            <a:off x="4076700" y="5600700"/>
            <a:ext cx="1695450" cy="304800"/>
          </a:xfrm>
          <a:prstGeom xmlns:a="http://schemas.openxmlformats.org/drawingml/2006/main" prst="roundRect">
            <a:avLst>
              <a:gd name="adj" fmla="val 18750"/>
            </a:avLst>
          </a:prstGeom>
          <a:solidFill xmlns:a="http://schemas.openxmlformats.org/drawingml/2006/main">
            <a:srgbClr val="0A2244"/>
          </a:solidFill>
          <a:ln xmlns:a="http://schemas.openxmlformats.org/drawingml/2006/main" w="9525">
            <a:solidFill>
              <a:srgbClr val="1A4478"/>
            </a:solidFill>
            <a:prstDash val="solid"/>
          </a:ln>
        </p:spPr>
      </p:sp>
      <p:sp>
        <p:nvSpPr>
          <p:cNvPr id="36" name="">
            <a:extLst xmlns:a="http://schemas.openxmlformats.org/drawingml/2006/main">
              <a:ext uri="{FF2B5EF4-FFF2-40B4-BE49-F238E27FC236}">
                <a16:creationId xmlns:a16="http://schemas.microsoft.com/office/drawing/2014/main" id="{A65D49F4-6813-448E-8AEC-4AE4FCAB2092}"/>
              </a:ext>
            </a:extLst>
          </p:cNvPr>
          <p:cNvSpPr>
            <a:spLocks xmlns:a="http://schemas.openxmlformats.org/drawingml/2006/main" noGrp="1"/>
          </p:cNvSpPr>
          <p:nvPr/>
        </p:nvSpPr>
        <p:spPr>
          <a:xfrm xmlns:a="http://schemas.openxmlformats.org/drawingml/2006/main">
            <a:off x="4076700" y="5600700"/>
            <a:ext cx="1695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exists / missing</a:t>
            </a:r>
          </a:p>
        </p:txBody>
      </p:sp>
      <p:sp>
        <p:nvSpPr>
          <p:cNvPr id="37" name="">
            <a:extLst xmlns:a="http://schemas.openxmlformats.org/drawingml/2006/main">
              <a:ext uri="{FF2B5EF4-FFF2-40B4-BE49-F238E27FC236}">
                <a16:creationId xmlns:a16="http://schemas.microsoft.com/office/drawing/2014/main" id="{0DB60A32-E672-49CC-9F52-3A454036D3CF}"/>
              </a:ext>
            </a:extLst>
          </p:cNvPr>
          <p:cNvSpPr>
            <a:spLocks xmlns:a="http://schemas.openxmlformats.org/drawingml/2006/main" noGrp="1"/>
          </p:cNvSpPr>
          <p:nvPr/>
        </p:nvSpPr>
        <p:spPr>
          <a:xfrm xmlns:a="http://schemas.openxmlformats.org/drawingml/2006/main">
            <a:off x="457200" y="6038850"/>
            <a:ext cx="539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F2705E"/>
                </a:solidFill>
                <a:latin typeface="微软雅黑"/>
                <a:ea typeface="微软雅黑"/>
                <a:cs typeface="微软雅黑"/>
              </a:defRPr>
            </a:pPr>
            <a:r>
              <a:rPr sz="863" b="0">
                <a:solidFill>
                  <a:srgbClr val="F2705E"/>
                </a:solidFill>
                <a:latin typeface="微软雅黑"/>
                <a:ea typeface="微软雅黑"/>
                <a:cs typeface="微软雅黑"/>
              </a:rPr>
              <a:t>全程不使用 SpEL / eval / 脚本引擎 / 拼 SQL。</a:t>
            </a:r>
          </a:p>
        </p:txBody>
      </p:sp>
      <p:sp>
        <p:nvSpPr>
          <p:cNvPr id="38" name="">
            <a:extLst xmlns:a="http://schemas.openxmlformats.org/drawingml/2006/main">
              <a:ext uri="{FF2B5EF4-FFF2-40B4-BE49-F238E27FC236}">
                <a16:creationId xmlns:a16="http://schemas.microsoft.com/office/drawing/2014/main" id="{710F794E-334F-40A8-8431-F76AF83B1C95}"/>
              </a:ext>
            </a:extLst>
          </p:cNvPr>
          <p:cNvSpPr>
            <a:spLocks xmlns:a="http://schemas.openxmlformats.org/drawingml/2006/main" noGrp="1"/>
          </p:cNvSpPr>
          <p:nvPr/>
        </p:nvSpPr>
        <p:spPr>
          <a:xfrm xmlns:a="http://schemas.openxmlformats.org/drawingml/2006/main">
            <a:off x="6229350" y="13335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输入 → 匹配 → 求值 → 分组 → 合并 → 输出</a:t>
            </a:r>
          </a:p>
        </p:txBody>
      </p:sp>
      <p:sp>
        <p:nvSpPr>
          <p:cNvPr id="39" name="">
            <a:extLst xmlns:a="http://schemas.openxmlformats.org/drawingml/2006/main">
              <a:ext uri="{FF2B5EF4-FFF2-40B4-BE49-F238E27FC236}">
                <a16:creationId xmlns:a16="http://schemas.microsoft.com/office/drawing/2014/main" id="{D78EF91A-392E-4570-9091-87696C7DBAAA}"/>
              </a:ext>
            </a:extLst>
          </p:cNvPr>
          <p:cNvSpPr>
            <a:spLocks xmlns:a="http://schemas.openxmlformats.org/drawingml/2006/main" noGrp="1"/>
          </p:cNvSpPr>
          <p:nvPr/>
        </p:nvSpPr>
        <p:spPr>
          <a:xfrm xmlns:a="http://schemas.openxmlformats.org/drawingml/2006/main">
            <a:off x="6229350" y="1619250"/>
            <a:ext cx="5676900" cy="571500"/>
          </a:xfrm>
          <a:prstGeom xmlns:a="http://schemas.openxmlformats.org/drawingml/2006/main" prst="roundRect">
            <a:avLst>
              <a:gd name="adj" fmla="val 13333"/>
            </a:avLst>
          </a:prstGeom>
          <a:solidFill xmlns:a="http://schemas.openxmlformats.org/drawingml/2006/main">
            <a:srgbClr val="0D2748"/>
          </a:solidFill>
          <a:ln xmlns:a="http://schemas.openxmlformats.org/drawingml/2006/main" w="9525">
            <a:solidFill>
              <a:srgbClr val="1B4C8A"/>
            </a:solidFill>
            <a:prstDash val="solid"/>
          </a:ln>
        </p:spPr>
      </p:sp>
      <p:sp>
        <p:nvSpPr>
          <p:cNvPr id="40" name="">
            <a:extLst xmlns:a="http://schemas.openxmlformats.org/drawingml/2006/main">
              <a:ext uri="{FF2B5EF4-FFF2-40B4-BE49-F238E27FC236}">
                <a16:creationId xmlns:a16="http://schemas.microsoft.com/office/drawing/2014/main" id="{A50732D4-3B88-43FA-BB37-D00C79F3840C}"/>
              </a:ext>
            </a:extLst>
          </p:cNvPr>
          <p:cNvSpPr>
            <a:spLocks xmlns:a="http://schemas.openxmlformats.org/drawingml/2006/main" noGrp="1"/>
          </p:cNvSpPr>
          <p:nvPr/>
        </p:nvSpPr>
        <p:spPr>
          <a:xfrm xmlns:a="http://schemas.openxmlformats.org/drawingml/2006/main">
            <a:off x="6362700" y="167640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输入</a:t>
            </a:r>
          </a:p>
        </p:txBody>
      </p:sp>
      <p:sp>
        <p:nvSpPr>
          <p:cNvPr id="41" name="">
            <a:extLst xmlns:a="http://schemas.openxmlformats.org/drawingml/2006/main">
              <a:ext uri="{FF2B5EF4-FFF2-40B4-BE49-F238E27FC236}">
                <a16:creationId xmlns:a16="http://schemas.microsoft.com/office/drawing/2014/main" id="{9EC17C3F-9374-4F66-8DF8-E93E5905E5EC}"/>
              </a:ext>
            </a:extLst>
          </p:cNvPr>
          <p:cNvSpPr>
            <a:spLocks xmlns:a="http://schemas.openxmlformats.org/drawingml/2006/main" noGrp="1"/>
          </p:cNvSpPr>
          <p:nvPr/>
        </p:nvSpPr>
        <p:spPr>
          <a:xfrm xmlns:a="http://schemas.openxmlformats.org/drawingml/2006/main">
            <a:off x="6362700" y="1866900"/>
            <a:ext cx="5448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场景 PERSONAL_GAP / EXAM_RESULT / TALENT_GAP / REPORT_GAS / REPORT_ANALYSIS；事实：考试分、技能等级、岗位要求、检测值、报告文本</a:t>
            </a:r>
          </a:p>
        </p:txBody>
      </p:sp>
      <p:sp>
        <p:nvSpPr>
          <p:cNvPr id="42" name="">
            <a:extLst xmlns:a="http://schemas.openxmlformats.org/drawingml/2006/main">
              <a:ext uri="{FF2B5EF4-FFF2-40B4-BE49-F238E27FC236}">
                <a16:creationId xmlns:a16="http://schemas.microsoft.com/office/drawing/2014/main" id="{94CF0F24-36F0-4C12-BD65-5C3BF57B2A3E}"/>
              </a:ext>
            </a:extLst>
          </p:cNvPr>
          <p:cNvSpPr>
            <a:spLocks xmlns:a="http://schemas.openxmlformats.org/drawingml/2006/main" noGrp="1"/>
          </p:cNvSpPr>
          <p:nvPr/>
        </p:nvSpPr>
        <p:spPr>
          <a:xfrm xmlns:a="http://schemas.openxmlformats.org/drawingml/2006/main">
            <a:off x="6229350" y="2266950"/>
            <a:ext cx="5676900" cy="571500"/>
          </a:xfrm>
          <a:prstGeom xmlns:a="http://schemas.openxmlformats.org/drawingml/2006/main" prst="roundRect">
            <a:avLst>
              <a:gd name="adj" fmla="val 13333"/>
            </a:avLst>
          </a:prstGeom>
          <a:solidFill xmlns:a="http://schemas.openxmlformats.org/drawingml/2006/main">
            <a:srgbClr val="0D2748"/>
          </a:solidFill>
          <a:ln xmlns:a="http://schemas.openxmlformats.org/drawingml/2006/main" w="9525">
            <a:solidFill>
              <a:srgbClr val="1B4C8A"/>
            </a:solidFill>
            <a:prstDash val="solid"/>
          </a:ln>
        </p:spPr>
      </p:sp>
      <p:sp>
        <p:nvSpPr>
          <p:cNvPr id="43" name="">
            <a:extLst xmlns:a="http://schemas.openxmlformats.org/drawingml/2006/main">
              <a:ext uri="{FF2B5EF4-FFF2-40B4-BE49-F238E27FC236}">
                <a16:creationId xmlns:a16="http://schemas.microsoft.com/office/drawing/2014/main" id="{40DF53C8-E06C-442D-A13B-1C7FF06EC697}"/>
              </a:ext>
            </a:extLst>
          </p:cNvPr>
          <p:cNvSpPr>
            <a:spLocks xmlns:a="http://schemas.openxmlformats.org/drawingml/2006/main" noGrp="1"/>
          </p:cNvSpPr>
          <p:nvPr/>
        </p:nvSpPr>
        <p:spPr>
          <a:xfrm xmlns:a="http://schemas.openxmlformats.org/drawingml/2006/main">
            <a:off x="6362700" y="232410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匹配</a:t>
            </a:r>
          </a:p>
        </p:txBody>
      </p:sp>
      <p:sp>
        <p:nvSpPr>
          <p:cNvPr id="44" name="">
            <a:extLst xmlns:a="http://schemas.openxmlformats.org/drawingml/2006/main">
              <a:ext uri="{FF2B5EF4-FFF2-40B4-BE49-F238E27FC236}">
                <a16:creationId xmlns:a16="http://schemas.microsoft.com/office/drawing/2014/main" id="{F92B3FE7-0271-491D-9A44-3A1B8DD3DF1B}"/>
              </a:ext>
            </a:extLst>
          </p:cNvPr>
          <p:cNvSpPr>
            <a:spLocks xmlns:a="http://schemas.openxmlformats.org/drawingml/2006/main" noGrp="1"/>
          </p:cNvSpPr>
          <p:nvPr/>
        </p:nvSpPr>
        <p:spPr>
          <a:xfrm xmlns:a="http://schemas.openxmlformats.org/drawingml/2006/main">
            <a:off x="6362700" y="2514600"/>
            <a:ext cx="5448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取启用规则 → priority 降序 → rule_code 稳定排序</a:t>
            </a:r>
          </a:p>
        </p:txBody>
      </p:sp>
      <p:sp>
        <p:nvSpPr>
          <p:cNvPr id="45" name="">
            <a:extLst xmlns:a="http://schemas.openxmlformats.org/drawingml/2006/main">
              <a:ext uri="{FF2B5EF4-FFF2-40B4-BE49-F238E27FC236}">
                <a16:creationId xmlns:a16="http://schemas.microsoft.com/office/drawing/2014/main" id="{CFF8DF61-CF7B-4A15-B933-F93343B63152}"/>
              </a:ext>
            </a:extLst>
          </p:cNvPr>
          <p:cNvSpPr>
            <a:spLocks xmlns:a="http://schemas.openxmlformats.org/drawingml/2006/main" noGrp="1"/>
          </p:cNvSpPr>
          <p:nvPr/>
        </p:nvSpPr>
        <p:spPr>
          <a:xfrm xmlns:a="http://schemas.openxmlformats.org/drawingml/2006/main">
            <a:off x="6229350" y="2914650"/>
            <a:ext cx="5676900" cy="571500"/>
          </a:xfrm>
          <a:prstGeom xmlns:a="http://schemas.openxmlformats.org/drawingml/2006/main" prst="roundRect">
            <a:avLst>
              <a:gd name="adj" fmla="val 13333"/>
            </a:avLst>
          </a:prstGeom>
          <a:solidFill xmlns:a="http://schemas.openxmlformats.org/drawingml/2006/main">
            <a:srgbClr val="0D2748"/>
          </a:solidFill>
          <a:ln xmlns:a="http://schemas.openxmlformats.org/drawingml/2006/main" w="9525">
            <a:solidFill>
              <a:srgbClr val="1B4C8A"/>
            </a:solidFill>
            <a:prstDash val="solid"/>
          </a:ln>
        </p:spPr>
      </p:sp>
      <p:sp>
        <p:nvSpPr>
          <p:cNvPr id="46" name="">
            <a:extLst xmlns:a="http://schemas.openxmlformats.org/drawingml/2006/main">
              <a:ext uri="{FF2B5EF4-FFF2-40B4-BE49-F238E27FC236}">
                <a16:creationId xmlns:a16="http://schemas.microsoft.com/office/drawing/2014/main" id="{E72A9F8E-0D90-460B-8DE1-02ABE053DE13}"/>
              </a:ext>
            </a:extLst>
          </p:cNvPr>
          <p:cNvSpPr>
            <a:spLocks xmlns:a="http://schemas.openxmlformats.org/drawingml/2006/main" noGrp="1"/>
          </p:cNvSpPr>
          <p:nvPr/>
        </p:nvSpPr>
        <p:spPr>
          <a:xfrm xmlns:a="http://schemas.openxmlformats.org/drawingml/2006/main">
            <a:off x="6362700" y="297180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求值</a:t>
            </a:r>
          </a:p>
        </p:txBody>
      </p:sp>
      <p:sp>
        <p:nvSpPr>
          <p:cNvPr id="47" name="">
            <a:extLst xmlns:a="http://schemas.openxmlformats.org/drawingml/2006/main">
              <a:ext uri="{FF2B5EF4-FFF2-40B4-BE49-F238E27FC236}">
                <a16:creationId xmlns:a16="http://schemas.microsoft.com/office/drawing/2014/main" id="{D66D3A2E-8716-4B32-A503-66FA487A913D}"/>
              </a:ext>
            </a:extLst>
          </p:cNvPr>
          <p:cNvSpPr>
            <a:spLocks xmlns:a="http://schemas.openxmlformats.org/drawingml/2006/main" noGrp="1"/>
          </p:cNvSpPr>
          <p:nvPr/>
        </p:nvSpPr>
        <p:spPr>
          <a:xfrm xmlns:a="http://schemas.openxmlformats.org/drawingml/2006/main">
            <a:off x="6362700" y="3162300"/>
            <a:ext cx="5448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条件树逐节点求值，缺失字段或类型不符不抛错，计入 skipped 并给出原因</a:t>
            </a:r>
          </a:p>
        </p:txBody>
      </p:sp>
      <p:sp>
        <p:nvSpPr>
          <p:cNvPr id="48" name="">
            <a:extLst xmlns:a="http://schemas.openxmlformats.org/drawingml/2006/main">
              <a:ext uri="{FF2B5EF4-FFF2-40B4-BE49-F238E27FC236}">
                <a16:creationId xmlns:a16="http://schemas.microsoft.com/office/drawing/2014/main" id="{33966FA9-A98C-4A8B-BE3F-18B0714FBA07}"/>
              </a:ext>
            </a:extLst>
          </p:cNvPr>
          <p:cNvSpPr>
            <a:spLocks xmlns:a="http://schemas.openxmlformats.org/drawingml/2006/main" noGrp="1"/>
          </p:cNvSpPr>
          <p:nvPr/>
        </p:nvSpPr>
        <p:spPr>
          <a:xfrm xmlns:a="http://schemas.openxmlformats.org/drawingml/2006/main">
            <a:off x="6229350" y="3562350"/>
            <a:ext cx="5676900" cy="571500"/>
          </a:xfrm>
          <a:prstGeom xmlns:a="http://schemas.openxmlformats.org/drawingml/2006/main" prst="roundRect">
            <a:avLst>
              <a:gd name="adj" fmla="val 13333"/>
            </a:avLst>
          </a:prstGeom>
          <a:solidFill xmlns:a="http://schemas.openxmlformats.org/drawingml/2006/main">
            <a:srgbClr val="0D2748"/>
          </a:solidFill>
          <a:ln xmlns:a="http://schemas.openxmlformats.org/drawingml/2006/main" w="9525">
            <a:solidFill>
              <a:srgbClr val="1B4C8A"/>
            </a:solidFill>
            <a:prstDash val="solid"/>
          </a:ln>
        </p:spPr>
      </p:sp>
      <p:sp>
        <p:nvSpPr>
          <p:cNvPr id="49" name="">
            <a:extLst xmlns:a="http://schemas.openxmlformats.org/drawingml/2006/main">
              <a:ext uri="{FF2B5EF4-FFF2-40B4-BE49-F238E27FC236}">
                <a16:creationId xmlns:a16="http://schemas.microsoft.com/office/drawing/2014/main" id="{E62BBAAB-B6A0-4F06-8FEF-B7F45C9F912D}"/>
              </a:ext>
            </a:extLst>
          </p:cNvPr>
          <p:cNvSpPr>
            <a:spLocks xmlns:a="http://schemas.openxmlformats.org/drawingml/2006/main" noGrp="1"/>
          </p:cNvSpPr>
          <p:nvPr/>
        </p:nvSpPr>
        <p:spPr>
          <a:xfrm xmlns:a="http://schemas.openxmlformats.org/drawingml/2006/main">
            <a:off x="6362700" y="361950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分组</a:t>
            </a:r>
          </a:p>
        </p:txBody>
      </p:sp>
      <p:sp>
        <p:nvSpPr>
          <p:cNvPr id="50" name="">
            <a:extLst xmlns:a="http://schemas.openxmlformats.org/drawingml/2006/main">
              <a:ext uri="{FF2B5EF4-FFF2-40B4-BE49-F238E27FC236}">
                <a16:creationId xmlns:a16="http://schemas.microsoft.com/office/drawing/2014/main" id="{01E3C215-62C6-4DE9-8731-430B6420089A}"/>
              </a:ext>
            </a:extLst>
          </p:cNvPr>
          <p:cNvSpPr>
            <a:spLocks xmlns:a="http://schemas.openxmlformats.org/drawingml/2006/main" noGrp="1"/>
          </p:cNvSpPr>
          <p:nvPr/>
        </p:nvSpPr>
        <p:spPr>
          <a:xfrm xmlns:a="http://schemas.openxmlformats.org/drawingml/2006/main">
            <a:off x="6362700" y="3810000"/>
            <a:ext cx="5448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VALUE 组定严重度、KEYWORD 组补原因，两组独立，互不阻断</a:t>
            </a:r>
          </a:p>
        </p:txBody>
      </p:sp>
      <p:sp>
        <p:nvSpPr>
          <p:cNvPr id="51" name="">
            <a:extLst xmlns:a="http://schemas.openxmlformats.org/drawingml/2006/main">
              <a:ext uri="{FF2B5EF4-FFF2-40B4-BE49-F238E27FC236}">
                <a16:creationId xmlns:a16="http://schemas.microsoft.com/office/drawing/2014/main" id="{001495EC-FD7F-4B80-A5F3-B1F8F287B81B}"/>
              </a:ext>
            </a:extLst>
          </p:cNvPr>
          <p:cNvSpPr>
            <a:spLocks xmlns:a="http://schemas.openxmlformats.org/drawingml/2006/main" noGrp="1"/>
          </p:cNvSpPr>
          <p:nvPr/>
        </p:nvSpPr>
        <p:spPr>
          <a:xfrm xmlns:a="http://schemas.openxmlformats.org/drawingml/2006/main">
            <a:off x="6229350" y="4210050"/>
            <a:ext cx="5676900" cy="571500"/>
          </a:xfrm>
          <a:prstGeom xmlns:a="http://schemas.openxmlformats.org/drawingml/2006/main" prst="roundRect">
            <a:avLst>
              <a:gd name="adj" fmla="val 13333"/>
            </a:avLst>
          </a:prstGeom>
          <a:solidFill xmlns:a="http://schemas.openxmlformats.org/drawingml/2006/main">
            <a:srgbClr val="0F3159"/>
          </a:solidFill>
          <a:ln xmlns:a="http://schemas.openxmlformats.org/drawingml/2006/main" w="9525">
            <a:solidFill>
              <a:srgbClr val="F5C33B"/>
            </a:solidFill>
            <a:prstDash val="solid"/>
          </a:ln>
        </p:spPr>
      </p:sp>
      <p:sp>
        <p:nvSpPr>
          <p:cNvPr id="52" name="">
            <a:extLst xmlns:a="http://schemas.openxmlformats.org/drawingml/2006/main">
              <a:ext uri="{FF2B5EF4-FFF2-40B4-BE49-F238E27FC236}">
                <a16:creationId xmlns:a16="http://schemas.microsoft.com/office/drawing/2014/main" id="{652B20C8-630A-42C6-B181-8CCFC758D6AA}"/>
              </a:ext>
            </a:extLst>
          </p:cNvPr>
          <p:cNvSpPr>
            <a:spLocks xmlns:a="http://schemas.openxmlformats.org/drawingml/2006/main" noGrp="1"/>
          </p:cNvSpPr>
          <p:nvPr/>
        </p:nvSpPr>
        <p:spPr>
          <a:xfrm xmlns:a="http://schemas.openxmlformats.org/drawingml/2006/main">
            <a:off x="6362700" y="426720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输出</a:t>
            </a:r>
          </a:p>
        </p:txBody>
      </p:sp>
      <p:sp>
        <p:nvSpPr>
          <p:cNvPr id="53" name="">
            <a:extLst xmlns:a="http://schemas.openxmlformats.org/drawingml/2006/main">
              <a:ext uri="{FF2B5EF4-FFF2-40B4-BE49-F238E27FC236}">
                <a16:creationId xmlns:a16="http://schemas.microsoft.com/office/drawing/2014/main" id="{C4A5EE37-032C-49BE-9982-A9516578E399}"/>
              </a:ext>
            </a:extLst>
          </p:cNvPr>
          <p:cNvSpPr>
            <a:spLocks xmlns:a="http://schemas.openxmlformats.org/drawingml/2006/main" noGrp="1"/>
          </p:cNvSpPr>
          <p:nvPr/>
        </p:nvSpPr>
        <p:spPr>
          <a:xfrm xmlns:a="http://schemas.openxmlformats.org/drawingml/2006/main">
            <a:off x="6362700" y="4457700"/>
            <a:ext cx="5448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matched / hits（命中规则与解释）/ skipped（无法判定及原因）/ verdict（动作、原因、严重度、rule_code、置信度）</a:t>
            </a:r>
          </a:p>
        </p:txBody>
      </p:sp>
      <p:sp>
        <p:nvSpPr>
          <p:cNvPr id="54" name="">
            <a:extLst xmlns:a="http://schemas.openxmlformats.org/drawingml/2006/main">
              <a:ext uri="{FF2B5EF4-FFF2-40B4-BE49-F238E27FC236}">
                <a16:creationId xmlns:a16="http://schemas.microsoft.com/office/drawing/2014/main" id="{3AEF8B8A-5E92-495B-AF1F-C4606191F2F1}"/>
              </a:ext>
            </a:extLst>
          </p:cNvPr>
          <p:cNvSpPr>
            <a:spLocks xmlns:a="http://schemas.openxmlformats.org/drawingml/2006/main" noGrp="1"/>
          </p:cNvSpPr>
          <p:nvPr/>
        </p:nvSpPr>
        <p:spPr>
          <a:xfrm xmlns:a="http://schemas.openxmlformats.org/drawingml/2006/main">
            <a:off x="6229350" y="4914900"/>
            <a:ext cx="5676900" cy="1333500"/>
          </a:xfrm>
          <a:prstGeom xmlns:a="http://schemas.openxmlformats.org/drawingml/2006/main" prst="roundRect">
            <a:avLst>
              <a:gd name="adj" fmla="val 5714"/>
            </a:avLst>
          </a:prstGeom>
          <a:solidFill xmlns:a="http://schemas.openxmlformats.org/drawingml/2006/main">
            <a:srgbClr val="0A2547"/>
          </a:solidFill>
          <a:ln xmlns:a="http://schemas.openxmlformats.org/drawingml/2006/main" w="9525">
            <a:solidFill>
              <a:srgbClr val="2A6BAE"/>
            </a:solidFill>
            <a:prstDash val="solid"/>
          </a:ln>
        </p:spPr>
      </p:sp>
      <p:sp>
        <p:nvSpPr>
          <p:cNvPr id="55" name="">
            <a:extLst xmlns:a="http://schemas.openxmlformats.org/drawingml/2006/main">
              <a:ext uri="{FF2B5EF4-FFF2-40B4-BE49-F238E27FC236}">
                <a16:creationId xmlns:a16="http://schemas.microsoft.com/office/drawing/2014/main" id="{E65603D0-C73F-4EF3-8387-A53B11266E8E}"/>
              </a:ext>
            </a:extLst>
          </p:cNvPr>
          <p:cNvSpPr>
            <a:spLocks xmlns:a="http://schemas.openxmlformats.org/drawingml/2006/main" noGrp="1"/>
          </p:cNvSpPr>
          <p:nvPr/>
        </p:nvSpPr>
        <p:spPr>
          <a:xfrm xmlns:a="http://schemas.openxmlformats.org/drawingml/2006/main">
            <a:off x="6400800" y="50292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FD08A"/>
                </a:solidFill>
                <a:latin typeface="微软雅黑"/>
                <a:ea typeface="微软雅黑"/>
                <a:cs typeface="微软雅黑"/>
              </a:defRPr>
            </a:pPr>
            <a:r>
              <a:rPr sz="1050" b="1">
                <a:solidFill>
                  <a:srgbClr val="3FD08A"/>
                </a:solidFill>
                <a:latin typeface="微软雅黑"/>
                <a:ea typeface="微软雅黑"/>
                <a:cs typeface="微软雅黑"/>
              </a:rPr>
              <a:t>实测数据（演示数据集口径）</a:t>
            </a:r>
          </a:p>
        </p:txBody>
      </p:sp>
      <p:sp>
        <p:nvSpPr>
          <p:cNvPr id="56" name="">
            <a:extLst xmlns:a="http://schemas.openxmlformats.org/drawingml/2006/main">
              <a:ext uri="{FF2B5EF4-FFF2-40B4-BE49-F238E27FC236}">
                <a16:creationId xmlns:a16="http://schemas.microsoft.com/office/drawing/2014/main" id="{97CC3753-31A7-4367-948F-097EB18D767D}"/>
              </a:ext>
            </a:extLst>
          </p:cNvPr>
          <p:cNvSpPr>
            <a:spLocks xmlns:a="http://schemas.openxmlformats.org/drawingml/2006/main" noGrp="1"/>
          </p:cNvSpPr>
          <p:nvPr/>
        </p:nvSpPr>
        <p:spPr>
          <a:xfrm xmlns:a="http://schemas.openxmlformats.org/drawingml/2006/main">
            <a:off x="6400800" y="5314950"/>
            <a:ext cx="102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5C33B"/>
                </a:solidFill>
                <a:latin typeface="Arial"/>
                <a:ea typeface="Arial"/>
                <a:cs typeface="Arial"/>
              </a:defRPr>
            </a:pPr>
            <a:r>
              <a:rPr sz="1425" b="1">
                <a:solidFill>
                  <a:srgbClr val="F5C33B"/>
                </a:solidFill>
                <a:latin typeface="Arial"/>
                <a:ea typeface="Arial"/>
                <a:cs typeface="Arial"/>
              </a:rPr>
              <a:t>18 条</a:t>
            </a:r>
          </a:p>
        </p:txBody>
      </p:sp>
      <p:sp>
        <p:nvSpPr>
          <p:cNvPr id="57" name="">
            <a:extLst xmlns:a="http://schemas.openxmlformats.org/drawingml/2006/main">
              <a:ext uri="{FF2B5EF4-FFF2-40B4-BE49-F238E27FC236}">
                <a16:creationId xmlns:a16="http://schemas.microsoft.com/office/drawing/2014/main" id="{B8756B81-99B9-4C45-8C11-54C63D874EF0}"/>
              </a:ext>
            </a:extLst>
          </p:cNvPr>
          <p:cNvSpPr>
            <a:spLocks xmlns:a="http://schemas.openxmlformats.org/drawingml/2006/main" noGrp="1"/>
          </p:cNvSpPr>
          <p:nvPr/>
        </p:nvSpPr>
        <p:spPr>
          <a:xfrm xmlns:a="http://schemas.openxmlformats.org/drawingml/2006/main">
            <a:off x="6400800" y="5619750"/>
            <a:ext cx="1028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规则总数</a:t>
            </a:r>
          </a:p>
        </p:txBody>
      </p:sp>
      <p:sp>
        <p:nvSpPr>
          <p:cNvPr id="58" name="">
            <a:extLst xmlns:a="http://schemas.openxmlformats.org/drawingml/2006/main">
              <a:ext uri="{FF2B5EF4-FFF2-40B4-BE49-F238E27FC236}">
                <a16:creationId xmlns:a16="http://schemas.microsoft.com/office/drawing/2014/main" id="{832EA737-336F-47B5-ADCD-7B29C3362C43}"/>
              </a:ext>
            </a:extLst>
          </p:cNvPr>
          <p:cNvSpPr>
            <a:spLocks xmlns:a="http://schemas.openxmlformats.org/drawingml/2006/main" noGrp="1"/>
          </p:cNvSpPr>
          <p:nvPr/>
        </p:nvSpPr>
        <p:spPr>
          <a:xfrm xmlns:a="http://schemas.openxmlformats.org/drawingml/2006/main">
            <a:off x="7486650" y="5314950"/>
            <a:ext cx="102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5C33B"/>
                </a:solidFill>
                <a:latin typeface="Arial"/>
                <a:ea typeface="Arial"/>
                <a:cs typeface="Arial"/>
              </a:defRPr>
            </a:pPr>
            <a:r>
              <a:rPr sz="1425" b="1">
                <a:solidFill>
                  <a:srgbClr val="F5C33B"/>
                </a:solidFill>
                <a:latin typeface="Arial"/>
                <a:ea typeface="Arial"/>
                <a:cs typeface="Arial"/>
              </a:rPr>
              <a:t>5 个</a:t>
            </a:r>
          </a:p>
        </p:txBody>
      </p:sp>
      <p:sp>
        <p:nvSpPr>
          <p:cNvPr id="59" name="">
            <a:extLst xmlns:a="http://schemas.openxmlformats.org/drawingml/2006/main">
              <a:ext uri="{FF2B5EF4-FFF2-40B4-BE49-F238E27FC236}">
                <a16:creationId xmlns:a16="http://schemas.microsoft.com/office/drawing/2014/main" id="{BA5300E7-3D38-44E7-8AF0-893F96E8BC6D}"/>
              </a:ext>
            </a:extLst>
          </p:cNvPr>
          <p:cNvSpPr>
            <a:spLocks xmlns:a="http://schemas.openxmlformats.org/drawingml/2006/main" noGrp="1"/>
          </p:cNvSpPr>
          <p:nvPr/>
        </p:nvSpPr>
        <p:spPr>
          <a:xfrm xmlns:a="http://schemas.openxmlformats.org/drawingml/2006/main">
            <a:off x="7486650" y="5619750"/>
            <a:ext cx="1028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覆盖场景</a:t>
            </a:r>
          </a:p>
        </p:txBody>
      </p:sp>
      <p:sp>
        <p:nvSpPr>
          <p:cNvPr id="60" name="">
            <a:extLst xmlns:a="http://schemas.openxmlformats.org/drawingml/2006/main">
              <a:ext uri="{FF2B5EF4-FFF2-40B4-BE49-F238E27FC236}">
                <a16:creationId xmlns:a16="http://schemas.microsoft.com/office/drawing/2014/main" id="{7BC7CE04-2FD3-42EB-84F2-3398CCBF9857}"/>
              </a:ext>
            </a:extLst>
          </p:cNvPr>
          <p:cNvSpPr>
            <a:spLocks xmlns:a="http://schemas.openxmlformats.org/drawingml/2006/main" noGrp="1"/>
          </p:cNvSpPr>
          <p:nvPr/>
        </p:nvSpPr>
        <p:spPr>
          <a:xfrm xmlns:a="http://schemas.openxmlformats.org/drawingml/2006/main">
            <a:off x="8572500" y="5314950"/>
            <a:ext cx="102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5C33B"/>
                </a:solidFill>
                <a:latin typeface="Arial"/>
                <a:ea typeface="Arial"/>
                <a:cs typeface="Arial"/>
              </a:defRPr>
            </a:pPr>
            <a:r>
              <a:rPr sz="1425" b="1">
                <a:solidFill>
                  <a:srgbClr val="F5C33B"/>
                </a:solidFill>
                <a:latin typeface="Arial"/>
                <a:ea typeface="Arial"/>
                <a:cs typeface="Arial"/>
              </a:rPr>
              <a:t>3 组</a:t>
            </a:r>
          </a:p>
        </p:txBody>
      </p:sp>
      <p:sp>
        <p:nvSpPr>
          <p:cNvPr id="61" name="">
            <a:extLst xmlns:a="http://schemas.openxmlformats.org/drawingml/2006/main">
              <a:ext uri="{FF2B5EF4-FFF2-40B4-BE49-F238E27FC236}">
                <a16:creationId xmlns:a16="http://schemas.microsoft.com/office/drawing/2014/main" id="{E9E3CD22-3FEE-4171-BEA9-68446A8B5C4A}"/>
              </a:ext>
            </a:extLst>
          </p:cNvPr>
          <p:cNvSpPr>
            <a:spLocks xmlns:a="http://schemas.openxmlformats.org/drawingml/2006/main" noGrp="1"/>
          </p:cNvSpPr>
          <p:nvPr/>
        </p:nvSpPr>
        <p:spPr>
          <a:xfrm xmlns:a="http://schemas.openxmlformats.org/drawingml/2006/main">
            <a:off x="8572500" y="5619750"/>
            <a:ext cx="1028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匹配分组</a:t>
            </a:r>
          </a:p>
        </p:txBody>
      </p:sp>
      <p:sp>
        <p:nvSpPr>
          <p:cNvPr id="62" name="">
            <a:extLst xmlns:a="http://schemas.openxmlformats.org/drawingml/2006/main">
              <a:ext uri="{FF2B5EF4-FFF2-40B4-BE49-F238E27FC236}">
                <a16:creationId xmlns:a16="http://schemas.microsoft.com/office/drawing/2014/main" id="{6A3829A3-65BF-4AD6-8CDB-74D6482617BB}"/>
              </a:ext>
            </a:extLst>
          </p:cNvPr>
          <p:cNvSpPr>
            <a:spLocks xmlns:a="http://schemas.openxmlformats.org/drawingml/2006/main" noGrp="1"/>
          </p:cNvSpPr>
          <p:nvPr/>
        </p:nvSpPr>
        <p:spPr>
          <a:xfrm xmlns:a="http://schemas.openxmlformats.org/drawingml/2006/main">
            <a:off x="9658350" y="5314950"/>
            <a:ext cx="102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5C33B"/>
                </a:solidFill>
                <a:latin typeface="Arial"/>
                <a:ea typeface="Arial"/>
                <a:cs typeface="Arial"/>
              </a:defRPr>
            </a:pPr>
            <a:r>
              <a:rPr sz="1425" b="1">
                <a:solidFill>
                  <a:srgbClr val="F5C33B"/>
                </a:solidFill>
                <a:latin typeface="Arial"/>
                <a:ea typeface="Arial"/>
                <a:cs typeface="Arial"/>
              </a:rPr>
              <a:t>200 次</a:t>
            </a:r>
          </a:p>
        </p:txBody>
      </p:sp>
      <p:sp>
        <p:nvSpPr>
          <p:cNvPr id="63" name="">
            <a:extLst xmlns:a="http://schemas.openxmlformats.org/drawingml/2006/main">
              <a:ext uri="{FF2B5EF4-FFF2-40B4-BE49-F238E27FC236}">
                <a16:creationId xmlns:a16="http://schemas.microsoft.com/office/drawing/2014/main" id="{74503471-D555-4610-9959-EA59F9BC5AB5}"/>
              </a:ext>
            </a:extLst>
          </p:cNvPr>
          <p:cNvSpPr>
            <a:spLocks xmlns:a="http://schemas.openxmlformats.org/drawingml/2006/main" noGrp="1"/>
          </p:cNvSpPr>
          <p:nvPr/>
        </p:nvSpPr>
        <p:spPr>
          <a:xfrm xmlns:a="http://schemas.openxmlformats.org/drawingml/2006/main">
            <a:off x="9658350" y="5619750"/>
            <a:ext cx="1028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重复一致性 100%</a:t>
            </a:r>
          </a:p>
        </p:txBody>
      </p:sp>
      <p:sp>
        <p:nvSpPr>
          <p:cNvPr id="64" name="">
            <a:extLst xmlns:a="http://schemas.openxmlformats.org/drawingml/2006/main">
              <a:ext uri="{FF2B5EF4-FFF2-40B4-BE49-F238E27FC236}">
                <a16:creationId xmlns:a16="http://schemas.microsoft.com/office/drawing/2014/main" id="{C1FC3925-7819-42F9-B2ED-5CB3407C2B4E}"/>
              </a:ext>
            </a:extLst>
          </p:cNvPr>
          <p:cNvSpPr>
            <a:spLocks xmlns:a="http://schemas.openxmlformats.org/drawingml/2006/main" noGrp="1"/>
          </p:cNvSpPr>
          <p:nvPr/>
        </p:nvSpPr>
        <p:spPr>
          <a:xfrm xmlns:a="http://schemas.openxmlformats.org/drawingml/2006/main">
            <a:off x="10744200" y="5314950"/>
            <a:ext cx="102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5C33B"/>
                </a:solidFill>
                <a:latin typeface="Arial"/>
                <a:ea typeface="Arial"/>
                <a:cs typeface="Arial"/>
              </a:defRPr>
            </a:pPr>
            <a:r>
              <a:rPr sz="1425" b="1">
                <a:solidFill>
                  <a:srgbClr val="F5C33B"/>
                </a:solidFill>
                <a:latin typeface="Arial"/>
                <a:ea typeface="Arial"/>
                <a:cs typeface="Arial"/>
              </a:rPr>
              <a:t>11 项</a:t>
            </a:r>
          </a:p>
        </p:txBody>
      </p:sp>
      <p:sp>
        <p:nvSpPr>
          <p:cNvPr id="65" name="">
            <a:extLst xmlns:a="http://schemas.openxmlformats.org/drawingml/2006/main">
              <a:ext uri="{FF2B5EF4-FFF2-40B4-BE49-F238E27FC236}">
                <a16:creationId xmlns:a16="http://schemas.microsoft.com/office/drawing/2014/main" id="{E0DA9ABA-DBF8-4F63-9A68-40DDBD8EDFB3}"/>
              </a:ext>
            </a:extLst>
          </p:cNvPr>
          <p:cNvSpPr>
            <a:spLocks xmlns:a="http://schemas.openxmlformats.org/drawingml/2006/main" noGrp="1"/>
          </p:cNvSpPr>
          <p:nvPr/>
        </p:nvSpPr>
        <p:spPr>
          <a:xfrm xmlns:a="http://schemas.openxmlformats.org/drawingml/2006/main">
            <a:off x="10744200" y="5619750"/>
            <a:ext cx="1028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规则测试场景通过</a:t>
            </a:r>
          </a:p>
        </p:txBody>
      </p:sp>
      <p:sp>
        <p:nvSpPr>
          <p:cNvPr id="66" name="">
            <a:extLst xmlns:a="http://schemas.openxmlformats.org/drawingml/2006/main">
              <a:ext uri="{FF2B5EF4-FFF2-40B4-BE49-F238E27FC236}">
                <a16:creationId xmlns:a16="http://schemas.microsoft.com/office/drawing/2014/main" id="{01B05138-5142-49A4-9901-54207896F444}"/>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DBC388BA-8231-4F43-8CA9-BACF4B43A600}"/>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68" name="">
            <a:extLst xmlns:a="http://schemas.openxmlformats.org/drawingml/2006/main">
              <a:ext uri="{FF2B5EF4-FFF2-40B4-BE49-F238E27FC236}">
                <a16:creationId xmlns:a16="http://schemas.microsoft.com/office/drawing/2014/main" id="{7F34EE08-FD5C-4E9D-A3E3-565E59505511}"/>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14</a:t>
            </a:r>
          </a:p>
        </p:txBody>
      </p:sp>
    </p:spTree>
    <p:extLst>
      <p:ext uri="{BB962C8B-B14F-4D97-AF65-F5344CB8AC3E}">
        <p14:creationId xmlns:p14="http://schemas.microsoft.com/office/powerpoint/2010/main" val="1815382179"/>
      </p:ext>
    </p:extLst>
  </p:cSld>
</p:sld>
</file>

<file path=ppt/slides/slide15.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AE165A98-787A-4D53-A8F2-2AAAA6FCD958}"/>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C4C6A56-E075-4EE8-B47A-B42F07E7D71C}"/>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945CD47-A44E-498B-9454-779BDCCBEB05}"/>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6221F91-A285-4B9E-A541-F508FE8623E4}"/>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9CA4671-7B51-42A8-8C44-91274B3B9370}"/>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AB2EA77C-EA51-4486-9B09-1576296AA6EF}"/>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核心算法</a:t>
            </a:r>
          </a:p>
        </p:txBody>
      </p:sp>
      <p:sp>
        <p:nvSpPr>
          <p:cNvPr id="7" name="">
            <a:extLst xmlns:a="http://schemas.openxmlformats.org/drawingml/2006/main">
              <a:ext uri="{FF2B5EF4-FFF2-40B4-BE49-F238E27FC236}">
                <a16:creationId xmlns:a16="http://schemas.microsoft.com/office/drawing/2014/main" id="{399DC3B3-012C-4258-9E00-ED033A2B1F15}"/>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3D419EE-DE94-49A9-A99B-5497CEA908BE}"/>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算法二 · 气体检测报告双组匹配与引用事实</a:t>
            </a:r>
          </a:p>
        </p:txBody>
      </p:sp>
      <p:sp>
        <p:nvSpPr>
          <p:cNvPr id="9" name="">
            <a:extLst xmlns:a="http://schemas.openxmlformats.org/drawingml/2006/main">
              <a:ext uri="{FF2B5EF4-FFF2-40B4-BE49-F238E27FC236}">
                <a16:creationId xmlns:a16="http://schemas.microsoft.com/office/drawing/2014/main" id="{59510044-CB00-404B-B3C0-45996E952F2C}"/>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1569D5E0-D17B-417F-B173-8C0A54BEE069}"/>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用「双组匹配 + 引用事实」把规则条数从「气体 × 档位 × 现象」压到 12 条，且两组互不阻断。</a:t>
            </a:r>
          </a:p>
        </p:txBody>
      </p:sp>
      <p:sp>
        <p:nvSpPr>
          <p:cNvPr id="11" name="">
            <a:extLst xmlns:a="http://schemas.openxmlformats.org/drawingml/2006/main">
              <a:ext uri="{FF2B5EF4-FFF2-40B4-BE49-F238E27FC236}">
                <a16:creationId xmlns:a16="http://schemas.microsoft.com/office/drawing/2014/main" id="{DC3E5C02-9006-4F73-8CD0-C1F5AEC31168}"/>
              </a:ext>
            </a:extLst>
          </p:cNvPr>
          <p:cNvSpPr>
            <a:spLocks xmlns:a="http://schemas.openxmlformats.org/drawingml/2006/main" noGrp="1"/>
          </p:cNvSpPr>
          <p:nvPr/>
        </p:nvSpPr>
        <p:spPr>
          <a:xfrm xmlns:a="http://schemas.openxmlformats.org/drawingml/2006/main">
            <a:off x="285750" y="1333500"/>
            <a:ext cx="3771900" cy="2381250"/>
          </a:xfrm>
          <a:prstGeom xmlns:a="http://schemas.openxmlformats.org/drawingml/2006/main" prst="roundRect">
            <a:avLst>
              <a:gd name="adj" fmla="val 3200"/>
            </a:avLst>
          </a:prstGeom>
          <a:solidFill xmlns:a="http://schemas.openxmlformats.org/drawingml/2006/main">
            <a:srgbClr val="0F3159"/>
          </a:solidFill>
          <a:ln xmlns:a="http://schemas.openxmlformats.org/drawingml/2006/main" w="9525">
            <a:solidFill>
              <a:srgbClr val="1B4C8A"/>
            </a:solidFill>
            <a:prstDash val="solid"/>
          </a:ln>
        </p:spPr>
      </p:sp>
      <p:sp>
        <p:nvSpPr>
          <p:cNvPr id="12" name="">
            <a:extLst xmlns:a="http://schemas.openxmlformats.org/drawingml/2006/main">
              <a:ext uri="{FF2B5EF4-FFF2-40B4-BE49-F238E27FC236}">
                <a16:creationId xmlns:a16="http://schemas.microsoft.com/office/drawing/2014/main" id="{C9AA665E-BA43-4028-A892-682B5436CDA7}"/>
              </a:ext>
            </a:extLst>
          </p:cNvPr>
          <p:cNvSpPr>
            <a:spLocks xmlns:a="http://schemas.openxmlformats.org/drawingml/2006/main" noGrp="1"/>
          </p:cNvSpPr>
          <p:nvPr/>
        </p:nvSpPr>
        <p:spPr>
          <a:xfrm xmlns:a="http://schemas.openxmlformats.org/drawingml/2006/main">
            <a:off x="457200" y="1447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输入：一份真实填报的报告</a:t>
            </a:r>
          </a:p>
        </p:txBody>
      </p:sp>
      <p:sp>
        <p:nvSpPr>
          <p:cNvPr id="13" name="">
            <a:extLst xmlns:a="http://schemas.openxmlformats.org/drawingml/2006/main">
              <a:ext uri="{FF2B5EF4-FFF2-40B4-BE49-F238E27FC236}">
                <a16:creationId xmlns:a16="http://schemas.microsoft.com/office/drawing/2014/main" id="{30C1798F-FF85-40A1-B6D0-7D77A6D1D1BA}"/>
              </a:ext>
            </a:extLst>
          </p:cNvPr>
          <p:cNvSpPr>
            <a:spLocks xmlns:a="http://schemas.openxmlformats.org/drawingml/2006/main" noGrp="1"/>
          </p:cNvSpPr>
          <p:nvPr/>
        </p:nvSpPr>
        <p:spPr>
          <a:xfrm xmlns:a="http://schemas.openxmlformats.org/drawingml/2006/main">
            <a:off x="457200" y="1733550"/>
            <a:ext cx="344805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报告编号　</a:t>
            </a:r>
            <a:r>
              <a:rPr sz="938">
                <a:solidFill>
                  <a:srgbClr val="D6E6F7"/>
                </a:solidFill>
                <a:latin typeface="微软雅黑"/>
                <a:ea typeface="微软雅黑"/>
                <a:cs typeface="微软雅黑"/>
              </a:rPr>
              <a:t>RPT-20260919-0003</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检测地点　</a:t>
            </a:r>
            <a:r>
              <a:rPr sz="938">
                <a:solidFill>
                  <a:srgbClr val="D6E6F7"/>
                </a:solidFill>
                <a:latin typeface="微软雅黑"/>
                <a:ea typeface="微软雅黑"/>
                <a:cs typeface="微软雅黑"/>
              </a:rPr>
              <a:t>110kV 城北变电所电缆沟 A 段 #1 检查井</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气体类型　</a:t>
            </a:r>
            <a:r>
              <a:rPr sz="938">
                <a:solidFill>
                  <a:srgbClr val="D6E6F7"/>
                </a:solidFill>
                <a:latin typeface="微软雅黑"/>
                <a:ea typeface="微软雅黑"/>
                <a:cs typeface="微软雅黑"/>
              </a:rPr>
              <a:t>氧气 O2</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检测值 / 阈值　</a:t>
            </a:r>
            <a:r>
              <a:rPr sz="938" b="1">
                <a:solidFill>
                  <a:srgbClr val="D6E6F7"/>
                </a:solidFill>
                <a:latin typeface="微软雅黑"/>
                <a:ea typeface="微软雅黑"/>
                <a:cs typeface="微软雅黑"/>
              </a:rPr>
              <a:t>18.2 %VOL / 19.5 %VOL</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异常现象　</a:t>
            </a:r>
            <a:r>
              <a:rPr sz="938">
                <a:solidFill>
                  <a:srgbClr val="D6E6F7"/>
                </a:solidFill>
                <a:latin typeface="微软雅黑"/>
                <a:ea typeface="微软雅黑"/>
                <a:cs typeface="微软雅黑"/>
              </a:rPr>
              <a:t>作业人员出现头晕、胸闷不适，已撤出并通风</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SOP 执行　</a:t>
            </a:r>
            <a:r>
              <a:rPr sz="938" b="1">
                <a:solidFill>
                  <a:srgbClr val="D6E6F7"/>
                </a:solidFill>
                <a:latin typeface="微软雅黑"/>
                <a:ea typeface="微软雅黑"/>
                <a:cs typeface="微软雅黑"/>
              </a:rPr>
              <a:t>未按 SOP 执行</a:t>
            </a:r>
          </a:p>
        </p:txBody>
      </p:sp>
      <p:sp>
        <p:nvSpPr>
          <p:cNvPr id="14" name="">
            <a:extLst xmlns:a="http://schemas.openxmlformats.org/drawingml/2006/main">
              <a:ext uri="{FF2B5EF4-FFF2-40B4-BE49-F238E27FC236}">
                <a16:creationId xmlns:a16="http://schemas.microsoft.com/office/drawing/2014/main" id="{6BF14448-7F6C-4A4B-B607-9510F7EF0AAF}"/>
              </a:ext>
            </a:extLst>
          </p:cNvPr>
          <p:cNvSpPr>
            <a:spLocks xmlns:a="http://schemas.openxmlformats.org/drawingml/2006/main" noGrp="1"/>
          </p:cNvSpPr>
          <p:nvPr/>
        </p:nvSpPr>
        <p:spPr>
          <a:xfrm xmlns:a="http://schemas.openxmlformats.org/drawingml/2006/main">
            <a:off x="285750" y="3848100"/>
            <a:ext cx="3771900" cy="2400300"/>
          </a:xfrm>
          <a:prstGeom xmlns:a="http://schemas.openxmlformats.org/drawingml/2006/main" prst="roundRect">
            <a:avLst>
              <a:gd name="adj" fmla="val 3175"/>
            </a:avLst>
          </a:prstGeom>
          <a:solidFill xmlns:a="http://schemas.openxmlformats.org/drawingml/2006/main">
            <a:srgbClr val="0D2748"/>
          </a:solidFill>
          <a:ln xmlns:a="http://schemas.openxmlformats.org/drawingml/2006/main" w="9525">
            <a:solidFill>
              <a:srgbClr val="1B4C8A"/>
            </a:solidFill>
            <a:prstDash val="solid"/>
          </a:ln>
        </p:spPr>
      </p:sp>
      <p:sp>
        <p:nvSpPr>
          <p:cNvPr id="15" name="">
            <a:extLst xmlns:a="http://schemas.openxmlformats.org/drawingml/2006/main">
              <a:ext uri="{FF2B5EF4-FFF2-40B4-BE49-F238E27FC236}">
                <a16:creationId xmlns:a16="http://schemas.microsoft.com/office/drawing/2014/main" id="{1FACAF81-0D98-4238-8D49-C6C2D00EFA9C}"/>
              </a:ext>
            </a:extLst>
          </p:cNvPr>
          <p:cNvSpPr>
            <a:spLocks xmlns:a="http://schemas.openxmlformats.org/drawingml/2006/main" noGrp="1"/>
          </p:cNvSpPr>
          <p:nvPr/>
        </p:nvSpPr>
        <p:spPr>
          <a:xfrm xmlns:a="http://schemas.openxmlformats.org/drawingml/2006/main">
            <a:off x="457200" y="39624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设计要点：为什么只写一条</a:t>
            </a:r>
          </a:p>
        </p:txBody>
      </p:sp>
      <p:sp>
        <p:nvSpPr>
          <p:cNvPr id="16" name="">
            <a:extLst xmlns:a="http://schemas.openxmlformats.org/drawingml/2006/main">
              <a:ext uri="{FF2B5EF4-FFF2-40B4-BE49-F238E27FC236}">
                <a16:creationId xmlns:a16="http://schemas.microsoft.com/office/drawing/2014/main" id="{D0B43615-7A11-4B6A-8F08-AC5285ED640B}"/>
              </a:ext>
            </a:extLst>
          </p:cNvPr>
          <p:cNvSpPr>
            <a:spLocks xmlns:a="http://schemas.openxmlformats.org/drawingml/2006/main" noGrp="1"/>
          </p:cNvSpPr>
          <p:nvPr/>
        </p:nvSpPr>
        <p:spPr>
          <a:xfrm xmlns:a="http://schemas.openxmlformats.org/drawingml/2006/main">
            <a:off x="457200" y="4248150"/>
            <a:ext cx="34480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D6E6F7"/>
                </a:solidFill>
                <a:latin typeface="微软雅黑"/>
                <a:ea typeface="微软雅黑"/>
                <a:cs typeface="微软雅黑"/>
              </a:defRPr>
            </a:pPr>
            <a:r>
              <a:rPr sz="938" b="1">
                <a:solidFill>
                  <a:srgbClr val="D6E6F7"/>
                </a:solidFill>
                <a:latin typeface="微软雅黑"/>
                <a:ea typeface="微软雅黑"/>
                <a:cs typeface="微软雅黑"/>
              </a:rPr>
              <a:t>问题　</a:t>
            </a:r>
            <a:r>
              <a:rPr sz="938">
                <a:solidFill>
                  <a:srgbClr val="D6E6F7"/>
                </a:solidFill>
                <a:latin typeface="微软雅黑"/>
                <a:ea typeface="微软雅黑"/>
                <a:cs typeface="微软雅黑"/>
              </a:rPr>
              <a:t>每种气体 × 每个档位 × 每条现象都写规则，规则库会迅速膨胀。</a:t>
            </a:r>
          </a:p>
          <a:p xmlns:a="http://schemas.openxmlformats.org/drawingml/2006/main">
            <a:pPr algn="l">
              <a:lnSpc>
                <a:spcPct val="160000"/>
              </a:lnSpc>
              <a:buNone/>
              <a:defRPr sz="938">
                <a:solidFill>
                  <a:srgbClr val="D6E6F7"/>
                </a:solidFill>
                <a:latin typeface="微软雅黑"/>
                <a:ea typeface="微软雅黑"/>
                <a:cs typeface="微软雅黑"/>
              </a:defRPr>
            </a:pPr>
            <a:r>
              <a:rPr sz="938" b="1">
                <a:solidFill>
                  <a:srgbClr val="D6E6F7"/>
                </a:solidFill>
                <a:latin typeface="微软雅黑"/>
                <a:ea typeface="微软雅黑"/>
                <a:cs typeface="微软雅黑"/>
              </a:rPr>
              <a:t>做法一　</a:t>
            </a:r>
            <a:r>
              <a:rPr sz="938">
                <a:solidFill>
                  <a:srgbClr val="D6E6F7"/>
                </a:solidFill>
                <a:latin typeface="微软雅黑"/>
                <a:ea typeface="微软雅黑"/>
                <a:cs typeface="微软雅黑"/>
              </a:rPr>
              <a:t>VALUE 组只判「超没超、余量多少」，一套规则服务全部 5 类气体。</a:t>
            </a:r>
          </a:p>
          <a:p xmlns:a="http://schemas.openxmlformats.org/drawingml/2006/main">
            <a:pPr algn="l">
              <a:lnSpc>
                <a:spcPct val="160000"/>
              </a:lnSpc>
              <a:buNone/>
              <a:defRPr sz="938">
                <a:solidFill>
                  <a:srgbClr val="D6E6F7"/>
                </a:solidFill>
                <a:latin typeface="微软雅黑"/>
                <a:ea typeface="微软雅黑"/>
                <a:cs typeface="微软雅黑"/>
              </a:defRPr>
            </a:pPr>
            <a:r>
              <a:rPr sz="938" b="1">
                <a:solidFill>
                  <a:srgbClr val="D6E6F7"/>
                </a:solidFill>
                <a:latin typeface="微软雅黑"/>
                <a:ea typeface="微软雅黑"/>
                <a:cs typeface="微软雅黑"/>
              </a:rPr>
              <a:t>做法二　</a:t>
            </a:r>
            <a:r>
              <a:rPr sz="938">
                <a:solidFill>
                  <a:srgbClr val="D6E6F7"/>
                </a:solidFill>
                <a:latin typeface="微软雅黑"/>
                <a:ea typeface="微软雅黑"/>
                <a:cs typeface="微软雅黑"/>
              </a:rPr>
              <a:t>KEYWORD 组只判现象文本，7 条规则覆盖 7 类典型缺陷。</a:t>
            </a:r>
          </a:p>
          <a:p xmlns:a="http://schemas.openxmlformats.org/drawingml/2006/main">
            <a:pPr algn="l">
              <a:lnSpc>
                <a:spcPct val="160000"/>
              </a:lnSpc>
              <a:buNone/>
              <a:defRPr sz="938">
                <a:solidFill>
                  <a:srgbClr val="D6E6F7"/>
                </a:solidFill>
                <a:latin typeface="微软雅黑"/>
                <a:ea typeface="微软雅黑"/>
                <a:cs typeface="微软雅黑"/>
              </a:defRPr>
            </a:pPr>
            <a:r>
              <a:rPr sz="938" b="1">
                <a:solidFill>
                  <a:srgbClr val="D6E6F7"/>
                </a:solidFill>
                <a:latin typeface="微软雅黑"/>
                <a:ea typeface="微软雅黑"/>
                <a:cs typeface="微软雅黑"/>
              </a:rPr>
              <a:t>做法三　</a:t>
            </a:r>
            <a:r>
              <a:rPr sz="938">
                <a:solidFill>
                  <a:srgbClr val="D6E6F7"/>
                </a:solidFill>
                <a:latin typeface="微软雅黑"/>
                <a:ea typeface="微软雅黑"/>
                <a:cs typeface="微软雅黑"/>
              </a:rPr>
              <a:t>action_json 用 *_from 引用事实（如 cause_from=gas_attribution），输出时替换为当前值。</a:t>
            </a:r>
          </a:p>
        </p:txBody>
      </p:sp>
      <p:sp>
        <p:nvSpPr>
          <p:cNvPr id="17" name="">
            <a:extLst xmlns:a="http://schemas.openxmlformats.org/drawingml/2006/main">
              <a:ext uri="{FF2B5EF4-FFF2-40B4-BE49-F238E27FC236}">
                <a16:creationId xmlns:a16="http://schemas.microsoft.com/office/drawing/2014/main" id="{76DA9518-9888-406E-98C4-3A930879A973}"/>
              </a:ext>
            </a:extLst>
          </p:cNvPr>
          <p:cNvSpPr>
            <a:spLocks xmlns:a="http://schemas.openxmlformats.org/drawingml/2006/main" noGrp="1"/>
          </p:cNvSpPr>
          <p:nvPr/>
        </p:nvSpPr>
        <p:spPr>
          <a:xfrm xmlns:a="http://schemas.openxmlformats.org/drawingml/2006/main">
            <a:off x="4286250" y="13335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双组匹配结果</a:t>
            </a:r>
          </a:p>
        </p:txBody>
      </p:sp>
      <p:sp>
        <p:nvSpPr>
          <p:cNvPr id="18" name="">
            <a:extLst xmlns:a="http://schemas.openxmlformats.org/drawingml/2006/main">
              <a:ext uri="{FF2B5EF4-FFF2-40B4-BE49-F238E27FC236}">
                <a16:creationId xmlns:a16="http://schemas.microsoft.com/office/drawing/2014/main" id="{A6D7E9F3-E1B1-4E79-A95E-3F46F1C911AA}"/>
              </a:ext>
            </a:extLst>
          </p:cNvPr>
          <p:cNvSpPr>
            <a:spLocks xmlns:a="http://schemas.openxmlformats.org/drawingml/2006/main" noGrp="1"/>
          </p:cNvSpPr>
          <p:nvPr/>
        </p:nvSpPr>
        <p:spPr>
          <a:xfrm xmlns:a="http://schemas.openxmlformats.org/drawingml/2006/main">
            <a:off x="4286250" y="1619250"/>
            <a:ext cx="3676650" cy="1485900"/>
          </a:xfrm>
          <a:prstGeom xmlns:a="http://schemas.openxmlformats.org/drawingml/2006/main" prst="roundRect">
            <a:avLst>
              <a:gd name="adj" fmla="val 5128"/>
            </a:avLst>
          </a:prstGeom>
          <a:solidFill xmlns:a="http://schemas.openxmlformats.org/drawingml/2006/main">
            <a:srgbClr val="0D2748"/>
          </a:solidFill>
          <a:ln xmlns:a="http://schemas.openxmlformats.org/drawingml/2006/main" w="9525">
            <a:solidFill>
              <a:srgbClr val="2E86E8"/>
            </a:solidFill>
            <a:prstDash val="solid"/>
          </a:ln>
        </p:spPr>
      </p:sp>
      <p:sp>
        <p:nvSpPr>
          <p:cNvPr id="19" name="">
            <a:extLst xmlns:a="http://schemas.openxmlformats.org/drawingml/2006/main">
              <a:ext uri="{FF2B5EF4-FFF2-40B4-BE49-F238E27FC236}">
                <a16:creationId xmlns:a16="http://schemas.microsoft.com/office/drawing/2014/main" id="{3155F34A-94E9-43BC-9BCA-0F7B258FFB14}"/>
              </a:ext>
            </a:extLst>
          </p:cNvPr>
          <p:cNvSpPr>
            <a:spLocks xmlns:a="http://schemas.openxmlformats.org/drawingml/2006/main" noGrp="1"/>
          </p:cNvSpPr>
          <p:nvPr/>
        </p:nvSpPr>
        <p:spPr>
          <a:xfrm xmlns:a="http://schemas.openxmlformats.org/drawingml/2006/main">
            <a:off x="4286250" y="1619250"/>
            <a:ext cx="3676650" cy="38100"/>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1A18E4A-C986-4AC8-A6EC-0B1B09BAD201}"/>
              </a:ext>
            </a:extLst>
          </p:cNvPr>
          <p:cNvSpPr>
            <a:spLocks xmlns:a="http://schemas.openxmlformats.org/drawingml/2006/main" noGrp="1"/>
          </p:cNvSpPr>
          <p:nvPr/>
        </p:nvSpPr>
        <p:spPr>
          <a:xfrm xmlns:a="http://schemas.openxmlformats.org/drawingml/2006/main">
            <a:off x="4438650" y="17526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2E86E8"/>
                </a:solidFill>
                <a:latin typeface="微软雅黑"/>
                <a:ea typeface="微软雅黑"/>
                <a:cs typeface="微软雅黑"/>
              </a:defRPr>
            </a:pPr>
            <a:r>
              <a:rPr sz="1050" b="1">
                <a:solidFill>
                  <a:srgbClr val="2E86E8"/>
                </a:solidFill>
                <a:latin typeface="微软雅黑"/>
                <a:ea typeface="微软雅黑"/>
                <a:cs typeface="微软雅黑"/>
              </a:rPr>
              <a:t>VALUE 组 · 定档</a:t>
            </a:r>
          </a:p>
        </p:txBody>
      </p:sp>
      <p:sp>
        <p:nvSpPr>
          <p:cNvPr id="21" name="">
            <a:extLst xmlns:a="http://schemas.openxmlformats.org/drawingml/2006/main">
              <a:ext uri="{FF2B5EF4-FFF2-40B4-BE49-F238E27FC236}">
                <a16:creationId xmlns:a16="http://schemas.microsoft.com/office/drawing/2014/main" id="{CF5707B3-1DE1-47B2-B9C4-6DD03E07E9BA}"/>
              </a:ext>
            </a:extLst>
          </p:cNvPr>
          <p:cNvSpPr>
            <a:spLocks xmlns:a="http://schemas.openxmlformats.org/drawingml/2006/main" noGrp="1"/>
          </p:cNvSpPr>
          <p:nvPr/>
        </p:nvSpPr>
        <p:spPr>
          <a:xfrm xmlns:a="http://schemas.openxmlformats.org/drawingml/2006/main">
            <a:off x="4438650" y="2019300"/>
            <a:ext cx="66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命中规则</a:t>
            </a:r>
          </a:p>
        </p:txBody>
      </p:sp>
      <p:sp>
        <p:nvSpPr>
          <p:cNvPr id="22" name="">
            <a:extLst xmlns:a="http://schemas.openxmlformats.org/drawingml/2006/main">
              <a:ext uri="{FF2B5EF4-FFF2-40B4-BE49-F238E27FC236}">
                <a16:creationId xmlns:a16="http://schemas.microsoft.com/office/drawing/2014/main" id="{32CF3D55-4837-46C5-BFA0-CD04DDA0514D}"/>
              </a:ext>
            </a:extLst>
          </p:cNvPr>
          <p:cNvSpPr>
            <a:spLocks xmlns:a="http://schemas.openxmlformats.org/drawingml/2006/main" noGrp="1"/>
          </p:cNvSpPr>
          <p:nvPr/>
        </p:nvSpPr>
        <p:spPr>
          <a:xfrm xmlns:a="http://schemas.openxmlformats.org/drawingml/2006/main">
            <a:off x="5124450" y="201930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Arial"/>
                <a:ea typeface="Arial"/>
                <a:cs typeface="Arial"/>
              </a:defRPr>
            </a:pPr>
            <a:r>
              <a:rPr sz="825" b="0">
                <a:solidFill>
                  <a:srgbClr val="FFFFFF"/>
                </a:solidFill>
                <a:latin typeface="Arial"/>
                <a:ea typeface="Arial"/>
                <a:cs typeface="Arial"/>
              </a:rPr>
              <a:t>REPORT_GAS_OVER_MARGIN_MID（优先级 140）</a:t>
            </a:r>
          </a:p>
        </p:txBody>
      </p:sp>
      <p:sp>
        <p:nvSpPr>
          <p:cNvPr id="23" name="">
            <a:extLst xmlns:a="http://schemas.openxmlformats.org/drawingml/2006/main">
              <a:ext uri="{FF2B5EF4-FFF2-40B4-BE49-F238E27FC236}">
                <a16:creationId xmlns:a16="http://schemas.microsoft.com/office/drawing/2014/main" id="{849D8077-5110-4E3E-A428-3AAB40759007}"/>
              </a:ext>
            </a:extLst>
          </p:cNvPr>
          <p:cNvSpPr>
            <a:spLocks xmlns:a="http://schemas.openxmlformats.org/drawingml/2006/main" noGrp="1"/>
          </p:cNvSpPr>
          <p:nvPr/>
        </p:nvSpPr>
        <p:spPr>
          <a:xfrm xmlns:a="http://schemas.openxmlformats.org/drawingml/2006/main">
            <a:off x="4438650" y="2362200"/>
            <a:ext cx="66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判定依据</a:t>
            </a:r>
          </a:p>
        </p:txBody>
      </p:sp>
      <p:sp>
        <p:nvSpPr>
          <p:cNvPr id="24" name="">
            <a:extLst xmlns:a="http://schemas.openxmlformats.org/drawingml/2006/main">
              <a:ext uri="{FF2B5EF4-FFF2-40B4-BE49-F238E27FC236}">
                <a16:creationId xmlns:a16="http://schemas.microsoft.com/office/drawing/2014/main" id="{5B792309-97D0-4D1D-888D-19607AB52E3F}"/>
              </a:ext>
            </a:extLst>
          </p:cNvPr>
          <p:cNvSpPr>
            <a:spLocks xmlns:a="http://schemas.openxmlformats.org/drawingml/2006/main" noGrp="1"/>
          </p:cNvSpPr>
          <p:nvPr/>
        </p:nvSpPr>
        <p:spPr>
          <a:xfrm xmlns:a="http://schemas.openxmlformats.org/drawingml/2006/main">
            <a:off x="5124450" y="236220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微软雅黑"/>
                <a:ea typeface="微软雅黑"/>
                <a:cs typeface="微软雅黑"/>
              </a:defRPr>
            </a:pPr>
            <a:r>
              <a:rPr sz="825" b="0">
                <a:solidFill>
                  <a:srgbClr val="FFFFFF"/>
                </a:solidFill>
                <a:latin typeface="微软雅黑"/>
                <a:ea typeface="微软雅黑"/>
                <a:cs typeface="微软雅黑"/>
              </a:rPr>
              <a:t>over_threshold = true → is_true；ratio = 0.0667 → gte 0.05</a:t>
            </a:r>
          </a:p>
        </p:txBody>
      </p:sp>
      <p:sp>
        <p:nvSpPr>
          <p:cNvPr id="25" name="">
            <a:extLst xmlns:a="http://schemas.openxmlformats.org/drawingml/2006/main">
              <a:ext uri="{FF2B5EF4-FFF2-40B4-BE49-F238E27FC236}">
                <a16:creationId xmlns:a16="http://schemas.microsoft.com/office/drawing/2014/main" id="{F4798FC5-8C00-41E2-9A22-D3E4309246E0}"/>
              </a:ext>
            </a:extLst>
          </p:cNvPr>
          <p:cNvSpPr>
            <a:spLocks xmlns:a="http://schemas.openxmlformats.org/drawingml/2006/main" noGrp="1"/>
          </p:cNvSpPr>
          <p:nvPr/>
        </p:nvSpPr>
        <p:spPr>
          <a:xfrm xmlns:a="http://schemas.openxmlformats.org/drawingml/2006/main">
            <a:off x="4438650" y="2705100"/>
            <a:ext cx="66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命中条数</a:t>
            </a:r>
          </a:p>
        </p:txBody>
      </p:sp>
      <p:sp>
        <p:nvSpPr>
          <p:cNvPr id="26" name="">
            <a:extLst xmlns:a="http://schemas.openxmlformats.org/drawingml/2006/main">
              <a:ext uri="{FF2B5EF4-FFF2-40B4-BE49-F238E27FC236}">
                <a16:creationId xmlns:a16="http://schemas.microsoft.com/office/drawing/2014/main" id="{81E3C959-E617-4B4C-B8F4-EBF67CA686C0}"/>
              </a:ext>
            </a:extLst>
          </p:cNvPr>
          <p:cNvSpPr>
            <a:spLocks xmlns:a="http://schemas.openxmlformats.org/drawingml/2006/main" noGrp="1"/>
          </p:cNvSpPr>
          <p:nvPr/>
        </p:nvSpPr>
        <p:spPr>
          <a:xfrm xmlns:a="http://schemas.openxmlformats.org/drawingml/2006/main">
            <a:off x="5124450" y="270510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微软雅黑"/>
                <a:ea typeface="微软雅黑"/>
                <a:cs typeface="微软雅黑"/>
              </a:defRPr>
            </a:pPr>
            <a:r>
              <a:rPr sz="825" b="0">
                <a:solidFill>
                  <a:srgbClr val="FFFFFF"/>
                </a:solidFill>
                <a:latin typeface="微软雅黑"/>
                <a:ea typeface="微软雅黑"/>
                <a:cs typeface="微软雅黑"/>
              </a:rPr>
              <a:t>1 条</a:t>
            </a:r>
          </a:p>
        </p:txBody>
      </p:sp>
      <p:sp>
        <p:nvSpPr>
          <p:cNvPr id="27" name="">
            <a:extLst xmlns:a="http://schemas.openxmlformats.org/drawingml/2006/main">
              <a:ext uri="{FF2B5EF4-FFF2-40B4-BE49-F238E27FC236}">
                <a16:creationId xmlns:a16="http://schemas.microsoft.com/office/drawing/2014/main" id="{B4A8F538-4774-4D56-AE06-455FBE997593}"/>
              </a:ext>
            </a:extLst>
          </p:cNvPr>
          <p:cNvSpPr>
            <a:spLocks xmlns:a="http://schemas.openxmlformats.org/drawingml/2006/main" noGrp="1"/>
          </p:cNvSpPr>
          <p:nvPr/>
        </p:nvSpPr>
        <p:spPr>
          <a:xfrm xmlns:a="http://schemas.openxmlformats.org/drawingml/2006/main">
            <a:off x="4286250" y="3181350"/>
            <a:ext cx="3676650" cy="1485900"/>
          </a:xfrm>
          <a:prstGeom xmlns:a="http://schemas.openxmlformats.org/drawingml/2006/main" prst="roundRect">
            <a:avLst>
              <a:gd name="adj" fmla="val 5128"/>
            </a:avLst>
          </a:prstGeom>
          <a:solidFill xmlns:a="http://schemas.openxmlformats.org/drawingml/2006/main">
            <a:srgbClr val="0D2748"/>
          </a:solidFill>
          <a:ln xmlns:a="http://schemas.openxmlformats.org/drawingml/2006/main" w="9525">
            <a:solidFill>
              <a:srgbClr val="31C7F0"/>
            </a:solidFill>
            <a:prstDash val="solid"/>
          </a:ln>
        </p:spPr>
      </p:sp>
      <p:sp>
        <p:nvSpPr>
          <p:cNvPr id="28" name="">
            <a:extLst xmlns:a="http://schemas.openxmlformats.org/drawingml/2006/main">
              <a:ext uri="{FF2B5EF4-FFF2-40B4-BE49-F238E27FC236}">
                <a16:creationId xmlns:a16="http://schemas.microsoft.com/office/drawing/2014/main" id="{562A1A9B-0A14-443D-8B81-4EA66E8069DA}"/>
              </a:ext>
            </a:extLst>
          </p:cNvPr>
          <p:cNvSpPr>
            <a:spLocks xmlns:a="http://schemas.openxmlformats.org/drawingml/2006/main" noGrp="1"/>
          </p:cNvSpPr>
          <p:nvPr/>
        </p:nvSpPr>
        <p:spPr>
          <a:xfrm xmlns:a="http://schemas.openxmlformats.org/drawingml/2006/main">
            <a:off x="4286250" y="3181350"/>
            <a:ext cx="3676650" cy="38100"/>
          </a:xfrm>
          <a:prstGeom xmlns:a="http://schemas.openxmlformats.org/drawingml/2006/main" prst="rect">
            <a:avLst/>
          </a:prstGeom>
          <a:solidFill xmlns:a="http://schemas.openxmlformats.org/drawingml/2006/main">
            <a:srgbClr val="31C7F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5D3E6A6-11DF-489D-A49E-214091ED2B39}"/>
              </a:ext>
            </a:extLst>
          </p:cNvPr>
          <p:cNvSpPr>
            <a:spLocks xmlns:a="http://schemas.openxmlformats.org/drawingml/2006/main" noGrp="1"/>
          </p:cNvSpPr>
          <p:nvPr/>
        </p:nvSpPr>
        <p:spPr>
          <a:xfrm xmlns:a="http://schemas.openxmlformats.org/drawingml/2006/main">
            <a:off x="4438650" y="3314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KEYWORD 组 · 补充</a:t>
            </a:r>
          </a:p>
        </p:txBody>
      </p:sp>
      <p:sp>
        <p:nvSpPr>
          <p:cNvPr id="30" name="">
            <a:extLst xmlns:a="http://schemas.openxmlformats.org/drawingml/2006/main">
              <a:ext uri="{FF2B5EF4-FFF2-40B4-BE49-F238E27FC236}">
                <a16:creationId xmlns:a16="http://schemas.microsoft.com/office/drawing/2014/main" id="{7937E2FF-B03A-4315-AD7F-4CB274C6C6DD}"/>
              </a:ext>
            </a:extLst>
          </p:cNvPr>
          <p:cNvSpPr>
            <a:spLocks xmlns:a="http://schemas.openxmlformats.org/drawingml/2006/main" noGrp="1"/>
          </p:cNvSpPr>
          <p:nvPr/>
        </p:nvSpPr>
        <p:spPr>
          <a:xfrm xmlns:a="http://schemas.openxmlformats.org/drawingml/2006/main">
            <a:off x="4438650" y="3581400"/>
            <a:ext cx="66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命中规则</a:t>
            </a:r>
          </a:p>
        </p:txBody>
      </p:sp>
      <p:sp>
        <p:nvSpPr>
          <p:cNvPr id="31" name="">
            <a:extLst xmlns:a="http://schemas.openxmlformats.org/drawingml/2006/main">
              <a:ext uri="{FF2B5EF4-FFF2-40B4-BE49-F238E27FC236}">
                <a16:creationId xmlns:a16="http://schemas.microsoft.com/office/drawing/2014/main" id="{50E32E93-4293-4A3C-A987-350A9240AEC7}"/>
              </a:ext>
            </a:extLst>
          </p:cNvPr>
          <p:cNvSpPr>
            <a:spLocks xmlns:a="http://schemas.openxmlformats.org/drawingml/2006/main" noGrp="1"/>
          </p:cNvSpPr>
          <p:nvPr/>
        </p:nvSpPr>
        <p:spPr>
          <a:xfrm xmlns:a="http://schemas.openxmlformats.org/drawingml/2006/main">
            <a:off x="5124450" y="358140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Arial"/>
                <a:ea typeface="Arial"/>
                <a:cs typeface="Arial"/>
              </a:defRPr>
            </a:pPr>
            <a:r>
              <a:rPr sz="825" b="0">
                <a:solidFill>
                  <a:srgbClr val="FFFFFF"/>
                </a:solidFill>
                <a:latin typeface="Arial"/>
                <a:ea typeface="Arial"/>
                <a:cs typeface="Arial"/>
              </a:rPr>
              <a:t>RULE-KW-HEALTH（优先级 95）</a:t>
            </a:r>
          </a:p>
        </p:txBody>
      </p:sp>
      <p:sp>
        <p:nvSpPr>
          <p:cNvPr id="32" name="">
            <a:extLst xmlns:a="http://schemas.openxmlformats.org/drawingml/2006/main">
              <a:ext uri="{FF2B5EF4-FFF2-40B4-BE49-F238E27FC236}">
                <a16:creationId xmlns:a16="http://schemas.microsoft.com/office/drawing/2014/main" id="{238B66C4-6286-4937-B3C8-86AFA9C669FC}"/>
              </a:ext>
            </a:extLst>
          </p:cNvPr>
          <p:cNvSpPr>
            <a:spLocks xmlns:a="http://schemas.openxmlformats.org/drawingml/2006/main" noGrp="1"/>
          </p:cNvSpPr>
          <p:nvPr/>
        </p:nvSpPr>
        <p:spPr>
          <a:xfrm xmlns:a="http://schemas.openxmlformats.org/drawingml/2006/main">
            <a:off x="4438650" y="3924300"/>
            <a:ext cx="66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判定依据</a:t>
            </a:r>
          </a:p>
        </p:txBody>
      </p:sp>
      <p:sp>
        <p:nvSpPr>
          <p:cNvPr id="33" name="">
            <a:extLst xmlns:a="http://schemas.openxmlformats.org/drawingml/2006/main">
              <a:ext uri="{FF2B5EF4-FFF2-40B4-BE49-F238E27FC236}">
                <a16:creationId xmlns:a16="http://schemas.microsoft.com/office/drawing/2014/main" id="{34A5910B-156B-4945-AA35-599E35F007F6}"/>
              </a:ext>
            </a:extLst>
          </p:cNvPr>
          <p:cNvSpPr>
            <a:spLocks xmlns:a="http://schemas.openxmlformats.org/drawingml/2006/main" noGrp="1"/>
          </p:cNvSpPr>
          <p:nvPr/>
        </p:nvSpPr>
        <p:spPr>
          <a:xfrm xmlns:a="http://schemas.openxmlformats.org/drawingml/2006/main">
            <a:off x="5124450" y="392430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微软雅黑"/>
                <a:ea typeface="微软雅黑"/>
                <a:cs typeface="微软雅黑"/>
              </a:defRPr>
            </a:pPr>
            <a:r>
              <a:rPr sz="825" b="0">
                <a:solidFill>
                  <a:srgbClr val="FFFFFF"/>
                </a:solidFill>
                <a:latin typeface="微软雅黑"/>
                <a:ea typeface="微软雅黑"/>
                <a:cs typeface="微软雅黑"/>
              </a:rPr>
              <a:t>报告正文包含「头晕、胸闷、不适」</a:t>
            </a:r>
          </a:p>
        </p:txBody>
      </p:sp>
      <p:sp>
        <p:nvSpPr>
          <p:cNvPr id="34" name="">
            <a:extLst xmlns:a="http://schemas.openxmlformats.org/drawingml/2006/main">
              <a:ext uri="{FF2B5EF4-FFF2-40B4-BE49-F238E27FC236}">
                <a16:creationId xmlns:a16="http://schemas.microsoft.com/office/drawing/2014/main" id="{18C6C28B-2462-41E1-8291-09779D61C0F9}"/>
              </a:ext>
            </a:extLst>
          </p:cNvPr>
          <p:cNvSpPr>
            <a:spLocks xmlns:a="http://schemas.openxmlformats.org/drawingml/2006/main" noGrp="1"/>
          </p:cNvSpPr>
          <p:nvPr/>
        </p:nvSpPr>
        <p:spPr>
          <a:xfrm xmlns:a="http://schemas.openxmlformats.org/drawingml/2006/main">
            <a:off x="4438650" y="4267200"/>
            <a:ext cx="66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命中条数</a:t>
            </a:r>
          </a:p>
        </p:txBody>
      </p:sp>
      <p:sp>
        <p:nvSpPr>
          <p:cNvPr id="35" name="">
            <a:extLst xmlns:a="http://schemas.openxmlformats.org/drawingml/2006/main">
              <a:ext uri="{FF2B5EF4-FFF2-40B4-BE49-F238E27FC236}">
                <a16:creationId xmlns:a16="http://schemas.microsoft.com/office/drawing/2014/main" id="{9AAEB4F2-3FD4-4062-9C54-D9A3E98019F1}"/>
              </a:ext>
            </a:extLst>
          </p:cNvPr>
          <p:cNvSpPr>
            <a:spLocks xmlns:a="http://schemas.openxmlformats.org/drawingml/2006/main" noGrp="1"/>
          </p:cNvSpPr>
          <p:nvPr/>
        </p:nvSpPr>
        <p:spPr>
          <a:xfrm xmlns:a="http://schemas.openxmlformats.org/drawingml/2006/main">
            <a:off x="5124450" y="426720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微软雅黑"/>
                <a:ea typeface="微软雅黑"/>
                <a:cs typeface="微软雅黑"/>
              </a:defRPr>
            </a:pPr>
            <a:r>
              <a:rPr sz="825" b="0">
                <a:solidFill>
                  <a:srgbClr val="FFFFFF"/>
                </a:solidFill>
                <a:latin typeface="微软雅黑"/>
                <a:ea typeface="微软雅黑"/>
                <a:cs typeface="微软雅黑"/>
              </a:rPr>
              <a:t>1 条（max_hits 限本组）</a:t>
            </a:r>
          </a:p>
        </p:txBody>
      </p:sp>
      <p:sp>
        <p:nvSpPr>
          <p:cNvPr id="36" name="">
            <a:extLst xmlns:a="http://schemas.openxmlformats.org/drawingml/2006/main">
              <a:ext uri="{FF2B5EF4-FFF2-40B4-BE49-F238E27FC236}">
                <a16:creationId xmlns:a16="http://schemas.microsoft.com/office/drawing/2014/main" id="{F26724DE-D070-4950-88FE-0B73F10BDE66}"/>
              </a:ext>
            </a:extLst>
          </p:cNvPr>
          <p:cNvSpPr>
            <a:spLocks xmlns:a="http://schemas.openxmlformats.org/drawingml/2006/main" noGrp="1"/>
          </p:cNvSpPr>
          <p:nvPr/>
        </p:nvSpPr>
        <p:spPr>
          <a:xfrm xmlns:a="http://schemas.openxmlformats.org/drawingml/2006/main">
            <a:off x="4286250" y="4724400"/>
            <a:ext cx="3676650" cy="1524000"/>
          </a:xfrm>
          <a:prstGeom xmlns:a="http://schemas.openxmlformats.org/drawingml/2006/main" prst="roundRect">
            <a:avLst>
              <a:gd name="adj" fmla="val 5000"/>
            </a:avLst>
          </a:prstGeom>
          <a:solidFill xmlns:a="http://schemas.openxmlformats.org/drawingml/2006/main">
            <a:srgbClr val="0A2547"/>
          </a:solidFill>
          <a:ln xmlns:a="http://schemas.openxmlformats.org/drawingml/2006/main" w="9525">
            <a:solidFill>
              <a:srgbClr val="3FD08A"/>
            </a:solidFill>
            <a:prstDash val="solid"/>
          </a:ln>
        </p:spPr>
      </p:sp>
      <p:sp>
        <p:nvSpPr>
          <p:cNvPr id="37" name="">
            <a:extLst xmlns:a="http://schemas.openxmlformats.org/drawingml/2006/main">
              <a:ext uri="{FF2B5EF4-FFF2-40B4-BE49-F238E27FC236}">
                <a16:creationId xmlns:a16="http://schemas.microsoft.com/office/drawing/2014/main" id="{54643C55-11C3-4409-86C8-BCC51794BBA2}"/>
              </a:ext>
            </a:extLst>
          </p:cNvPr>
          <p:cNvSpPr>
            <a:spLocks xmlns:a="http://schemas.openxmlformats.org/drawingml/2006/main" noGrp="1"/>
          </p:cNvSpPr>
          <p:nvPr/>
        </p:nvSpPr>
        <p:spPr>
          <a:xfrm xmlns:a="http://schemas.openxmlformats.org/drawingml/2006/main">
            <a:off x="4438650" y="4838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FD08A"/>
                </a:solidFill>
                <a:latin typeface="微软雅黑"/>
                <a:ea typeface="微软雅黑"/>
                <a:cs typeface="微软雅黑"/>
              </a:defRPr>
            </a:pPr>
            <a:r>
              <a:rPr sz="938" b="1">
                <a:solidFill>
                  <a:srgbClr val="3FD08A"/>
                </a:solidFill>
                <a:latin typeface="微软雅黑"/>
                <a:ea typeface="微软雅黑"/>
                <a:cs typeface="微软雅黑"/>
              </a:rPr>
              <a:t>两组独立：一组命中不会阻断另一组</a:t>
            </a:r>
          </a:p>
        </p:txBody>
      </p:sp>
      <p:sp>
        <p:nvSpPr>
          <p:cNvPr id="38" name="">
            <a:extLst xmlns:a="http://schemas.openxmlformats.org/drawingml/2006/main">
              <a:ext uri="{FF2B5EF4-FFF2-40B4-BE49-F238E27FC236}">
                <a16:creationId xmlns:a16="http://schemas.microsoft.com/office/drawing/2014/main" id="{204C4AFA-8ECA-4941-A48C-56CA93F4939C}"/>
              </a:ext>
            </a:extLst>
          </p:cNvPr>
          <p:cNvSpPr>
            <a:spLocks xmlns:a="http://schemas.openxmlformats.org/drawingml/2006/main" noGrp="1"/>
          </p:cNvSpPr>
          <p:nvPr/>
        </p:nvSpPr>
        <p:spPr>
          <a:xfrm xmlns:a="http://schemas.openxmlformats.org/drawingml/2006/main">
            <a:off x="4438650" y="5105400"/>
            <a:ext cx="3429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旧实现用 Java 拼出 RULE-GAS-ABOVE 这类【假规则编号】，无法与数据库对应；改造后 rule_refs 输出的是真实存在的 rule_code，可直接回表核对。</a:t>
            </a:r>
          </a:p>
        </p:txBody>
      </p:sp>
      <p:sp>
        <p:nvSpPr>
          <p:cNvPr id="39" name="">
            <a:extLst xmlns:a="http://schemas.openxmlformats.org/drawingml/2006/main">
              <a:ext uri="{FF2B5EF4-FFF2-40B4-BE49-F238E27FC236}">
                <a16:creationId xmlns:a16="http://schemas.microsoft.com/office/drawing/2014/main" id="{54C222BD-3B6C-4CAF-AB59-05E266532B17}"/>
              </a:ext>
            </a:extLst>
          </p:cNvPr>
          <p:cNvSpPr>
            <a:spLocks xmlns:a="http://schemas.openxmlformats.org/drawingml/2006/main" noGrp="1"/>
          </p:cNvSpPr>
          <p:nvPr/>
        </p:nvSpPr>
        <p:spPr>
          <a:xfrm xmlns:a="http://schemas.openxmlformats.org/drawingml/2006/main">
            <a:off x="8172450" y="1333500"/>
            <a:ext cx="3733800" cy="2857500"/>
          </a:xfrm>
          <a:prstGeom xmlns:a="http://schemas.openxmlformats.org/drawingml/2006/main" prst="roundRect">
            <a:avLst>
              <a:gd name="adj" fmla="val 2667"/>
            </a:avLst>
          </a:prstGeom>
          <a:solidFill xmlns:a="http://schemas.openxmlformats.org/drawingml/2006/main">
            <a:srgbClr val="0F3159"/>
          </a:solidFill>
          <a:ln xmlns:a="http://schemas.openxmlformats.org/drawingml/2006/main" w="13335">
            <a:solidFill>
              <a:srgbClr val="F5C33B"/>
            </a:solidFill>
            <a:prstDash val="solid"/>
          </a:ln>
        </p:spPr>
      </p:sp>
      <p:sp>
        <p:nvSpPr>
          <p:cNvPr id="40" name="">
            <a:extLst xmlns:a="http://schemas.openxmlformats.org/drawingml/2006/main">
              <a:ext uri="{FF2B5EF4-FFF2-40B4-BE49-F238E27FC236}">
                <a16:creationId xmlns:a16="http://schemas.microsoft.com/office/drawing/2014/main" id="{1C6C5853-5F15-46A7-B972-9698B4819AB8}"/>
              </a:ext>
            </a:extLst>
          </p:cNvPr>
          <p:cNvSpPr>
            <a:spLocks xmlns:a="http://schemas.openxmlformats.org/drawingml/2006/main" noGrp="1"/>
          </p:cNvSpPr>
          <p:nvPr/>
        </p:nvSpPr>
        <p:spPr>
          <a:xfrm xmlns:a="http://schemas.openxmlformats.org/drawingml/2006/main">
            <a:off x="8343900" y="1447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输出：一次归因的完整结论</a:t>
            </a:r>
          </a:p>
        </p:txBody>
      </p:sp>
      <p:sp>
        <p:nvSpPr>
          <p:cNvPr id="41" name="">
            <a:extLst xmlns:a="http://schemas.openxmlformats.org/drawingml/2006/main">
              <a:ext uri="{FF2B5EF4-FFF2-40B4-BE49-F238E27FC236}">
                <a16:creationId xmlns:a16="http://schemas.microsoft.com/office/drawing/2014/main" id="{04DEF8D2-2FA6-4BE3-830A-713F36EC7C52}"/>
              </a:ext>
            </a:extLst>
          </p:cNvPr>
          <p:cNvSpPr>
            <a:spLocks xmlns:a="http://schemas.openxmlformats.org/drawingml/2006/main" noGrp="1"/>
          </p:cNvSpPr>
          <p:nvPr/>
        </p:nvSpPr>
        <p:spPr>
          <a:xfrm xmlns:a="http://schemas.openxmlformats.org/drawingml/2006/main">
            <a:off x="8343900" y="175260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最终严重度</a:t>
            </a:r>
          </a:p>
        </p:txBody>
      </p:sp>
      <p:sp>
        <p:nvSpPr>
          <p:cNvPr id="42" name="">
            <a:extLst xmlns:a="http://schemas.openxmlformats.org/drawingml/2006/main">
              <a:ext uri="{FF2B5EF4-FFF2-40B4-BE49-F238E27FC236}">
                <a16:creationId xmlns:a16="http://schemas.microsoft.com/office/drawing/2014/main" id="{DB07035D-111F-454F-A45B-369D722F37EE}"/>
              </a:ext>
            </a:extLst>
          </p:cNvPr>
          <p:cNvSpPr>
            <a:spLocks xmlns:a="http://schemas.openxmlformats.org/drawingml/2006/main" noGrp="1"/>
          </p:cNvSpPr>
          <p:nvPr/>
        </p:nvSpPr>
        <p:spPr>
          <a:xfrm xmlns:a="http://schemas.openxmlformats.org/drawingml/2006/main">
            <a:off x="9296400" y="1676400"/>
            <a:ext cx="255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1">
                <a:solidFill>
                  <a:srgbClr val="F2705E"/>
                </a:solidFill>
                <a:latin typeface="微软雅黑"/>
                <a:ea typeface="微软雅黑"/>
                <a:cs typeface="微软雅黑"/>
              </a:defRPr>
            </a:pPr>
            <a:r>
              <a:rPr sz="900" b="1">
                <a:solidFill>
                  <a:srgbClr val="F2705E"/>
                </a:solidFill>
                <a:latin typeface="微软雅黑"/>
                <a:ea typeface="微软雅黑"/>
                <a:cs typeface="微软雅黑"/>
              </a:rPr>
              <a:t>高</a:t>
            </a:r>
          </a:p>
        </p:txBody>
      </p:sp>
      <p:sp>
        <p:nvSpPr>
          <p:cNvPr id="43" name="">
            <a:extLst xmlns:a="http://schemas.openxmlformats.org/drawingml/2006/main">
              <a:ext uri="{FF2B5EF4-FFF2-40B4-BE49-F238E27FC236}">
                <a16:creationId xmlns:a16="http://schemas.microsoft.com/office/drawing/2014/main" id="{1972C201-F7CD-4A79-8B7C-67716014AD5D}"/>
              </a:ext>
            </a:extLst>
          </p:cNvPr>
          <p:cNvSpPr>
            <a:spLocks xmlns:a="http://schemas.openxmlformats.org/drawingml/2006/main" noGrp="1"/>
          </p:cNvSpPr>
          <p:nvPr/>
        </p:nvSpPr>
        <p:spPr>
          <a:xfrm xmlns:a="http://schemas.openxmlformats.org/drawingml/2006/main">
            <a:off x="8343900" y="22669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综合原因</a:t>
            </a:r>
          </a:p>
        </p:txBody>
      </p:sp>
      <p:sp>
        <p:nvSpPr>
          <p:cNvPr id="44" name="">
            <a:extLst xmlns:a="http://schemas.openxmlformats.org/drawingml/2006/main">
              <a:ext uri="{FF2B5EF4-FFF2-40B4-BE49-F238E27FC236}">
                <a16:creationId xmlns:a16="http://schemas.microsoft.com/office/drawing/2014/main" id="{49E573BC-3170-4421-95F4-57AA6E6D840B}"/>
              </a:ext>
            </a:extLst>
          </p:cNvPr>
          <p:cNvSpPr>
            <a:spLocks xmlns:a="http://schemas.openxmlformats.org/drawingml/2006/main" noGrp="1"/>
          </p:cNvSpPr>
          <p:nvPr/>
        </p:nvSpPr>
        <p:spPr>
          <a:xfrm xmlns:a="http://schemas.openxmlformats.org/drawingml/2006/main">
            <a:off x="9296400" y="2190750"/>
            <a:ext cx="255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通风不足或 SF6 聚集导致氧含量下降，人员出现身体不适</a:t>
            </a:r>
          </a:p>
        </p:txBody>
      </p:sp>
      <p:sp>
        <p:nvSpPr>
          <p:cNvPr id="45" name="">
            <a:extLst xmlns:a="http://schemas.openxmlformats.org/drawingml/2006/main">
              <a:ext uri="{FF2B5EF4-FFF2-40B4-BE49-F238E27FC236}">
                <a16:creationId xmlns:a16="http://schemas.microsoft.com/office/drawing/2014/main" id="{89DF64CF-E7E3-4D6F-A927-F65839362FC3}"/>
              </a:ext>
            </a:extLst>
          </p:cNvPr>
          <p:cNvSpPr>
            <a:spLocks xmlns:a="http://schemas.openxmlformats.org/drawingml/2006/main" noGrp="1"/>
          </p:cNvSpPr>
          <p:nvPr/>
        </p:nvSpPr>
        <p:spPr>
          <a:xfrm xmlns:a="http://schemas.openxmlformats.org/drawingml/2006/main">
            <a:off x="8343900" y="278130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建议措施</a:t>
            </a:r>
          </a:p>
        </p:txBody>
      </p:sp>
      <p:sp>
        <p:nvSpPr>
          <p:cNvPr id="46" name="">
            <a:extLst xmlns:a="http://schemas.openxmlformats.org/drawingml/2006/main">
              <a:ext uri="{FF2B5EF4-FFF2-40B4-BE49-F238E27FC236}">
                <a16:creationId xmlns:a16="http://schemas.microsoft.com/office/drawing/2014/main" id="{8C3A9918-0EF5-40C9-A6AC-DE1035A142E6}"/>
              </a:ext>
            </a:extLst>
          </p:cNvPr>
          <p:cNvSpPr>
            <a:spLocks xmlns:a="http://schemas.openxmlformats.org/drawingml/2006/main" noGrp="1"/>
          </p:cNvSpPr>
          <p:nvPr/>
        </p:nvSpPr>
        <p:spPr>
          <a:xfrm xmlns:a="http://schemas.openxmlformats.org/drawingml/2006/main">
            <a:off x="9296400" y="2705100"/>
            <a:ext cx="255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停止作业、撤出人员、强制通风、复测合格后再进入</a:t>
            </a:r>
          </a:p>
        </p:txBody>
      </p:sp>
      <p:sp>
        <p:nvSpPr>
          <p:cNvPr id="47" name="">
            <a:extLst xmlns:a="http://schemas.openxmlformats.org/drawingml/2006/main">
              <a:ext uri="{FF2B5EF4-FFF2-40B4-BE49-F238E27FC236}">
                <a16:creationId xmlns:a16="http://schemas.microsoft.com/office/drawing/2014/main" id="{4B7D214F-253E-42D7-AE68-00AA05F0DC84}"/>
              </a:ext>
            </a:extLst>
          </p:cNvPr>
          <p:cNvSpPr>
            <a:spLocks xmlns:a="http://schemas.openxmlformats.org/drawingml/2006/main" noGrp="1"/>
          </p:cNvSpPr>
          <p:nvPr/>
        </p:nvSpPr>
        <p:spPr>
          <a:xfrm xmlns:a="http://schemas.openxmlformats.org/drawingml/2006/main">
            <a:off x="8343900" y="32956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规则编号</a:t>
            </a:r>
          </a:p>
        </p:txBody>
      </p:sp>
      <p:sp>
        <p:nvSpPr>
          <p:cNvPr id="48" name="">
            <a:extLst xmlns:a="http://schemas.openxmlformats.org/drawingml/2006/main">
              <a:ext uri="{FF2B5EF4-FFF2-40B4-BE49-F238E27FC236}">
                <a16:creationId xmlns:a16="http://schemas.microsoft.com/office/drawing/2014/main" id="{4850F1A9-3246-4644-B081-D2CF59427886}"/>
              </a:ext>
            </a:extLst>
          </p:cNvPr>
          <p:cNvSpPr>
            <a:spLocks xmlns:a="http://schemas.openxmlformats.org/drawingml/2006/main" noGrp="1"/>
          </p:cNvSpPr>
          <p:nvPr/>
        </p:nvSpPr>
        <p:spPr>
          <a:xfrm xmlns:a="http://schemas.openxmlformats.org/drawingml/2006/main">
            <a:off x="9296400" y="3219450"/>
            <a:ext cx="255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31C7F0"/>
                </a:solidFill>
                <a:latin typeface="微软雅黑"/>
                <a:ea typeface="微软雅黑"/>
                <a:cs typeface="微软雅黑"/>
              </a:defRPr>
            </a:pPr>
            <a:r>
              <a:rPr sz="900" b="0">
                <a:solidFill>
                  <a:srgbClr val="31C7F0"/>
                </a:solidFill>
                <a:latin typeface="微软雅黑"/>
                <a:ea typeface="微软雅黑"/>
                <a:cs typeface="微软雅黑"/>
              </a:rPr>
              <a:t>REPORT_GAS_OVER_MARGIN_MID、RULE-KW-HEALTH</a:t>
            </a:r>
          </a:p>
        </p:txBody>
      </p:sp>
      <p:sp>
        <p:nvSpPr>
          <p:cNvPr id="49" name="">
            <a:extLst xmlns:a="http://schemas.openxmlformats.org/drawingml/2006/main">
              <a:ext uri="{FF2B5EF4-FFF2-40B4-BE49-F238E27FC236}">
                <a16:creationId xmlns:a16="http://schemas.microsoft.com/office/drawing/2014/main" id="{9F2ED36B-2FA1-45E5-9B7D-C3740C5BDF2E}"/>
              </a:ext>
            </a:extLst>
          </p:cNvPr>
          <p:cNvSpPr>
            <a:spLocks xmlns:a="http://schemas.openxmlformats.org/drawingml/2006/main" noGrp="1"/>
          </p:cNvSpPr>
          <p:nvPr/>
        </p:nvSpPr>
        <p:spPr>
          <a:xfrm xmlns:a="http://schemas.openxmlformats.org/drawingml/2006/main">
            <a:off x="8343900" y="381000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7A9CC4"/>
                </a:solidFill>
                <a:latin typeface="微软雅黑"/>
                <a:ea typeface="微软雅黑"/>
                <a:cs typeface="微软雅黑"/>
              </a:defRPr>
            </a:pPr>
            <a:r>
              <a:rPr sz="863" b="0">
                <a:solidFill>
                  <a:srgbClr val="7A9CC4"/>
                </a:solidFill>
                <a:latin typeface="微软雅黑"/>
                <a:ea typeface="微软雅黑"/>
                <a:cs typeface="微软雅黑"/>
              </a:rPr>
              <a:t>置信度 / 来源</a:t>
            </a:r>
          </a:p>
        </p:txBody>
      </p:sp>
      <p:sp>
        <p:nvSpPr>
          <p:cNvPr id="50" name="">
            <a:extLst xmlns:a="http://schemas.openxmlformats.org/drawingml/2006/main">
              <a:ext uri="{FF2B5EF4-FFF2-40B4-BE49-F238E27FC236}">
                <a16:creationId xmlns:a16="http://schemas.microsoft.com/office/drawing/2014/main" id="{CF678D8B-D871-4C2B-B6D5-F48FB89F62DB}"/>
              </a:ext>
            </a:extLst>
          </p:cNvPr>
          <p:cNvSpPr>
            <a:spLocks xmlns:a="http://schemas.openxmlformats.org/drawingml/2006/main" noGrp="1"/>
          </p:cNvSpPr>
          <p:nvPr/>
        </p:nvSpPr>
        <p:spPr>
          <a:xfrm xmlns:a="http://schemas.openxmlformats.org/drawingml/2006/main">
            <a:off x="9296400" y="3733800"/>
            <a:ext cx="255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FFFFFF"/>
                </a:solidFill>
                <a:latin typeface="微软雅黑"/>
                <a:ea typeface="微软雅黑"/>
                <a:cs typeface="微软雅黑"/>
              </a:defRPr>
            </a:pPr>
            <a:r>
              <a:rPr sz="900" b="0">
                <a:solidFill>
                  <a:srgbClr val="FFFFFF"/>
                </a:solidFill>
                <a:latin typeface="微软雅黑"/>
                <a:ea typeface="微软雅黑"/>
                <a:cs typeface="微软雅黑"/>
              </a:rPr>
              <a:t>0.8 / rule</a:t>
            </a:r>
          </a:p>
        </p:txBody>
      </p:sp>
      <p:sp>
        <p:nvSpPr>
          <p:cNvPr id="51" name="">
            <a:extLst xmlns:a="http://schemas.openxmlformats.org/drawingml/2006/main">
              <a:ext uri="{FF2B5EF4-FFF2-40B4-BE49-F238E27FC236}">
                <a16:creationId xmlns:a16="http://schemas.microsoft.com/office/drawing/2014/main" id="{FD131112-2413-4ED6-B19E-99BCF2700A6E}"/>
              </a:ext>
            </a:extLst>
          </p:cNvPr>
          <p:cNvSpPr>
            <a:spLocks xmlns:a="http://schemas.openxmlformats.org/drawingml/2006/main" noGrp="1"/>
          </p:cNvSpPr>
          <p:nvPr/>
        </p:nvSpPr>
        <p:spPr>
          <a:xfrm xmlns:a="http://schemas.openxmlformats.org/drawingml/2006/main">
            <a:off x="8172450" y="4343400"/>
            <a:ext cx="3733800" cy="1905000"/>
          </a:xfrm>
          <a:prstGeom xmlns:a="http://schemas.openxmlformats.org/drawingml/2006/main" prst="roundRect">
            <a:avLst>
              <a:gd name="adj" fmla="val 4000"/>
            </a:avLst>
          </a:prstGeom>
          <a:solidFill xmlns:a="http://schemas.openxmlformats.org/drawingml/2006/main">
            <a:srgbClr val="0D2748"/>
          </a:solidFill>
          <a:ln xmlns:a="http://schemas.openxmlformats.org/drawingml/2006/main" w="9525">
            <a:solidFill>
              <a:srgbClr val="1B4C8A"/>
            </a:solidFill>
            <a:prstDash val="solid"/>
          </a:ln>
        </p:spPr>
      </p:sp>
      <p:sp>
        <p:nvSpPr>
          <p:cNvPr id="52" name="">
            <a:extLst xmlns:a="http://schemas.openxmlformats.org/drawingml/2006/main">
              <a:ext uri="{FF2B5EF4-FFF2-40B4-BE49-F238E27FC236}">
                <a16:creationId xmlns:a16="http://schemas.microsoft.com/office/drawing/2014/main" id="{3A86F570-B150-498C-9BF2-742EB081CFC0}"/>
              </a:ext>
            </a:extLst>
          </p:cNvPr>
          <p:cNvSpPr>
            <a:spLocks xmlns:a="http://schemas.openxmlformats.org/drawingml/2006/main" noGrp="1"/>
          </p:cNvSpPr>
          <p:nvPr/>
        </p:nvSpPr>
        <p:spPr>
          <a:xfrm xmlns:a="http://schemas.openxmlformats.org/drawingml/2006/main">
            <a:off x="8343900" y="4457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9B8CFF"/>
                </a:solidFill>
                <a:latin typeface="微软雅黑"/>
                <a:ea typeface="微软雅黑"/>
                <a:cs typeface="微软雅黑"/>
              </a:defRPr>
            </a:pPr>
            <a:r>
              <a:rPr sz="1013" b="1">
                <a:solidFill>
                  <a:srgbClr val="9B8CFF"/>
                </a:solidFill>
                <a:latin typeface="微软雅黑"/>
                <a:ea typeface="微软雅黑"/>
                <a:cs typeface="微软雅黑"/>
              </a:rPr>
              <a:t>人工确认（need_human_confirm = true）</a:t>
            </a:r>
          </a:p>
        </p:txBody>
      </p:sp>
      <p:sp>
        <p:nvSpPr>
          <p:cNvPr id="53" name="">
            <a:extLst xmlns:a="http://schemas.openxmlformats.org/drawingml/2006/main">
              <a:ext uri="{FF2B5EF4-FFF2-40B4-BE49-F238E27FC236}">
                <a16:creationId xmlns:a16="http://schemas.microsoft.com/office/drawing/2014/main" id="{998692AD-B426-40A1-8F7E-FB0566BF5EC7}"/>
              </a:ext>
            </a:extLst>
          </p:cNvPr>
          <p:cNvSpPr>
            <a:spLocks xmlns:a="http://schemas.openxmlformats.org/drawingml/2006/main" noGrp="1"/>
          </p:cNvSpPr>
          <p:nvPr/>
        </p:nvSpPr>
        <p:spPr>
          <a:xfrm xmlns:a="http://schemas.openxmlformats.org/drawingml/2006/main">
            <a:off x="8343900" y="4762500"/>
            <a:ext cx="34480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确认人　</a:t>
            </a:r>
            <a:r>
              <a:rPr sz="900">
                <a:solidFill>
                  <a:srgbClr val="D6E6F7"/>
                </a:solidFill>
                <a:latin typeface="微软雅黑"/>
                <a:ea typeface="微软雅黑"/>
                <a:cs typeface="微软雅黑"/>
              </a:rPr>
              <a:t>limin（班组长）</a:t>
            </a:r>
          </a:p>
          <a:p xmlns:a="http://schemas.openxmlformats.org/drawingml/2006/main">
            <a:pPr algn="l">
              <a:lnSpc>
                <a:spcPct val="15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决定　</a:t>
            </a:r>
            <a:r>
              <a:rPr sz="900" b="1">
                <a:solidFill>
                  <a:srgbClr val="D6E6F7"/>
                </a:solidFill>
                <a:latin typeface="微软雅黑"/>
                <a:ea typeface="微软雅黑"/>
                <a:cs typeface="微软雅黑"/>
              </a:rPr>
              <a:t>ACCEPTED（采纳）</a:t>
            </a:r>
          </a:p>
          <a:p xmlns:a="http://schemas.openxmlformats.org/drawingml/2006/main">
            <a:pPr algn="l">
              <a:lnSpc>
                <a:spcPct val="15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理由　</a:t>
            </a:r>
            <a:r>
              <a:rPr sz="900">
                <a:solidFill>
                  <a:srgbClr val="D6E6F7"/>
                </a:solidFill>
                <a:latin typeface="微软雅黑"/>
                <a:ea typeface="微软雅黑"/>
                <a:cs typeface="微软雅黑"/>
              </a:rPr>
              <a:t>结论与现场情况一致，按建议补充 SOP 卡并跟踪隐患</a:t>
            </a:r>
          </a:p>
          <a:p xmlns:a="http://schemas.openxmlformats.org/drawingml/2006/main">
            <a:pPr algn="l">
              <a:lnSpc>
                <a:spcPct val="15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说明　</a:t>
            </a:r>
            <a:r>
              <a:rPr sz="900">
                <a:solidFill>
                  <a:srgbClr val="D6E6F7"/>
                </a:solidFill>
                <a:latin typeface="微软雅黑"/>
                <a:ea typeface="微软雅黑"/>
                <a:cs typeface="微软雅黑"/>
              </a:rPr>
              <a:t>确认接口只改建议状态，不改任何业务数据。</a:t>
            </a:r>
          </a:p>
        </p:txBody>
      </p:sp>
      <p:sp>
        <p:nvSpPr>
          <p:cNvPr id="54" name="">
            <a:extLst xmlns:a="http://schemas.openxmlformats.org/drawingml/2006/main">
              <a:ext uri="{FF2B5EF4-FFF2-40B4-BE49-F238E27FC236}">
                <a16:creationId xmlns:a16="http://schemas.microsoft.com/office/drawing/2014/main" id="{AF3A1D2C-3080-49EA-990D-9297D36D6EE7}"/>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1A0710BC-C994-4F77-BB63-06676FA7CDC1}"/>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56" name="">
            <a:extLst xmlns:a="http://schemas.openxmlformats.org/drawingml/2006/main">
              <a:ext uri="{FF2B5EF4-FFF2-40B4-BE49-F238E27FC236}">
                <a16:creationId xmlns:a16="http://schemas.microsoft.com/office/drawing/2014/main" id="{68919653-05C0-4B95-9087-17347E85A307}"/>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15</a:t>
            </a:r>
          </a:p>
        </p:txBody>
      </p:sp>
    </p:spTree>
    <p:extLst>
      <p:ext uri="{BB962C8B-B14F-4D97-AF65-F5344CB8AC3E}">
        <p14:creationId xmlns:p14="http://schemas.microsoft.com/office/powerpoint/2010/main" val="127275568"/>
      </p:ext>
    </p:extLst>
  </p:cSld>
</p:sld>
</file>

<file path=ppt/slides/slide16.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C3E1B2C6-C466-4765-954B-DB6060DC545A}"/>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30810B3-74C9-48A0-A78D-1398078D551B}"/>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7C6F1F8-A704-49E3-8FC8-68B998D31382}"/>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53EA8A6-895A-4329-89FA-06348CE52BEF}"/>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7807FD1-38EE-4E07-A867-D81F14A54912}"/>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53F2A16E-96EF-4FD7-8852-7ACCBB1A7B78}"/>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核心算法</a:t>
            </a:r>
          </a:p>
        </p:txBody>
      </p:sp>
      <p:sp>
        <p:nvSpPr>
          <p:cNvPr id="7" name="">
            <a:extLst xmlns:a="http://schemas.openxmlformats.org/drawingml/2006/main">
              <a:ext uri="{FF2B5EF4-FFF2-40B4-BE49-F238E27FC236}">
                <a16:creationId xmlns:a16="http://schemas.microsoft.com/office/drawing/2014/main" id="{B8E63736-5981-4D21-A0FE-888A7FC3B8F2}"/>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F0B63E6-7798-4443-89B4-E5F8E654ADD9}"/>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算法三 · 个性化组卷与题量分配</a:t>
            </a:r>
          </a:p>
        </p:txBody>
      </p:sp>
      <p:sp>
        <p:nvSpPr>
          <p:cNvPr id="9" name="">
            <a:extLst xmlns:a="http://schemas.openxmlformats.org/drawingml/2006/main">
              <a:ext uri="{FF2B5EF4-FFF2-40B4-BE49-F238E27FC236}">
                <a16:creationId xmlns:a16="http://schemas.microsoft.com/office/drawing/2014/main" id="{E4607A48-924D-4A57-859A-E735421A4E16}"/>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01C23A3E-4968-4340-8175-835B50C3C915}"/>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题目按「缺口 × 历史正确率」分配，练完回流正确率——让每一道题都打在当前的短板上。</a:t>
            </a:r>
          </a:p>
        </p:txBody>
      </p:sp>
      <p:sp>
        <p:nvSpPr>
          <p:cNvPr id="11" name="">
            <a:extLst xmlns:a="http://schemas.openxmlformats.org/drawingml/2006/main">
              <a:ext uri="{FF2B5EF4-FFF2-40B4-BE49-F238E27FC236}">
                <a16:creationId xmlns:a16="http://schemas.microsoft.com/office/drawing/2014/main" id="{9A49769D-E476-41C4-87E3-C058768D01BD}"/>
              </a:ext>
            </a:extLst>
          </p:cNvPr>
          <p:cNvSpPr>
            <a:spLocks xmlns:a="http://schemas.openxmlformats.org/drawingml/2006/main" noGrp="1"/>
          </p:cNvSpPr>
          <p:nvPr/>
        </p:nvSpPr>
        <p:spPr>
          <a:xfrm xmlns:a="http://schemas.openxmlformats.org/drawingml/2006/main">
            <a:off x="285750" y="1333500"/>
            <a:ext cx="5905500" cy="1238250"/>
          </a:xfrm>
          <a:prstGeom xmlns:a="http://schemas.openxmlformats.org/drawingml/2006/main" prst="roundRect">
            <a:avLst>
              <a:gd name="adj" fmla="val 6154"/>
            </a:avLst>
          </a:prstGeom>
          <a:solidFill xmlns:a="http://schemas.openxmlformats.org/drawingml/2006/main">
            <a:srgbClr val="0A2547"/>
          </a:solidFill>
          <a:ln xmlns:a="http://schemas.openxmlformats.org/drawingml/2006/main" w="13335">
            <a:solidFill>
              <a:srgbClr val="F5C33B"/>
            </a:solidFill>
            <a:prstDash val="solid"/>
          </a:ln>
        </p:spPr>
      </p:sp>
      <p:sp>
        <p:nvSpPr>
          <p:cNvPr id="12" name="">
            <a:extLst xmlns:a="http://schemas.openxmlformats.org/drawingml/2006/main">
              <a:ext uri="{FF2B5EF4-FFF2-40B4-BE49-F238E27FC236}">
                <a16:creationId xmlns:a16="http://schemas.microsoft.com/office/drawing/2014/main" id="{D599E8CB-1A1B-4BAC-A33F-35CE625AA80C}"/>
              </a:ext>
            </a:extLst>
          </p:cNvPr>
          <p:cNvSpPr>
            <a:spLocks xmlns:a="http://schemas.openxmlformats.org/drawingml/2006/main" noGrp="1"/>
          </p:cNvSpPr>
          <p:nvPr/>
        </p:nvSpPr>
        <p:spPr>
          <a:xfrm xmlns:a="http://schemas.openxmlformats.org/drawingml/2006/main">
            <a:off x="457200" y="1447800"/>
            <a:ext cx="552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核心公式</a:t>
            </a:r>
          </a:p>
        </p:txBody>
      </p:sp>
      <p:sp>
        <p:nvSpPr>
          <p:cNvPr id="13" name="">
            <a:extLst xmlns:a="http://schemas.openxmlformats.org/drawingml/2006/main">
              <a:ext uri="{FF2B5EF4-FFF2-40B4-BE49-F238E27FC236}">
                <a16:creationId xmlns:a16="http://schemas.microsoft.com/office/drawing/2014/main" id="{3741BE16-954F-43CD-89D3-7F3A2E67D334}"/>
              </a:ext>
            </a:extLst>
          </p:cNvPr>
          <p:cNvSpPr>
            <a:spLocks xmlns:a="http://schemas.openxmlformats.org/drawingml/2006/main" noGrp="1"/>
          </p:cNvSpPr>
          <p:nvPr/>
        </p:nvSpPr>
        <p:spPr>
          <a:xfrm xmlns:a="http://schemas.openxmlformats.org/drawingml/2006/main">
            <a:off x="457200" y="1733550"/>
            <a:ext cx="55816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75">
                <a:solidFill>
                  <a:srgbClr val="D6E6F7"/>
                </a:solidFill>
                <a:latin typeface="微软雅黑"/>
                <a:ea typeface="微软雅黑"/>
                <a:cs typeface="微软雅黑"/>
              </a:defRPr>
            </a:pPr>
            <a:r>
              <a:rPr sz="975" b="1">
                <a:solidFill>
                  <a:srgbClr val="D6E6F7"/>
                </a:solidFill>
                <a:latin typeface="微软雅黑"/>
                <a:ea typeface="微软雅黑"/>
                <a:cs typeface="微软雅黑"/>
              </a:rPr>
              <a:t>effort(技能) = 缺口权重 × max(0.2, 1.6 − 历史正确率)</a:t>
            </a:r>
          </a:p>
          <a:p xmlns:a="http://schemas.openxmlformats.org/drawingml/2006/main">
            <a:pPr algn="l">
              <a:lnSpc>
                <a:spcPct val="160000"/>
              </a:lnSpc>
              <a:buNone/>
              <a:defRPr sz="975">
                <a:solidFill>
                  <a:srgbClr val="D6E6F7"/>
                </a:solidFill>
                <a:latin typeface="微软雅黑"/>
                <a:ea typeface="微软雅黑"/>
                <a:cs typeface="微软雅黑"/>
              </a:defRPr>
            </a:pPr>
            <a:r>
              <a:rPr sz="975">
                <a:solidFill>
                  <a:srgbClr val="D6E6F7"/>
                </a:solidFill>
                <a:latin typeface="微软雅黑"/>
                <a:ea typeface="微软雅黑"/>
                <a:cs typeface="微软雅黑"/>
              </a:rPr>
              <a:t>题量分配量 = 总题量 × effort / Σ effort；实际分配 = 向下取整 + 余量按 effort 补足</a:t>
            </a:r>
          </a:p>
        </p:txBody>
      </p:sp>
      <p:sp>
        <p:nvSpPr>
          <p:cNvPr id="14" name="">
            <a:extLst xmlns:a="http://schemas.openxmlformats.org/drawingml/2006/main">
              <a:ext uri="{FF2B5EF4-FFF2-40B4-BE49-F238E27FC236}">
                <a16:creationId xmlns:a16="http://schemas.microsoft.com/office/drawing/2014/main" id="{93EFE982-58C6-4EA8-A78C-1DB86A517943}"/>
              </a:ext>
            </a:extLst>
          </p:cNvPr>
          <p:cNvSpPr>
            <a:spLocks xmlns:a="http://schemas.openxmlformats.org/drawingml/2006/main" noGrp="1"/>
          </p:cNvSpPr>
          <p:nvPr/>
        </p:nvSpPr>
        <p:spPr>
          <a:xfrm xmlns:a="http://schemas.openxmlformats.org/drawingml/2006/main">
            <a:off x="285750" y="2705100"/>
            <a:ext cx="5905500" cy="1504950"/>
          </a:xfrm>
          <a:prstGeom xmlns:a="http://schemas.openxmlformats.org/drawingml/2006/main" prst="roundRect">
            <a:avLst>
              <a:gd name="adj" fmla="val 5063"/>
            </a:avLst>
          </a:prstGeom>
          <a:solidFill xmlns:a="http://schemas.openxmlformats.org/drawingml/2006/main">
            <a:srgbClr val="0D2748"/>
          </a:solidFill>
          <a:ln xmlns:a="http://schemas.openxmlformats.org/drawingml/2006/main" w="9525">
            <a:solidFill>
              <a:srgbClr val="1B4C8A"/>
            </a:solidFill>
            <a:prstDash val="solid"/>
          </a:ln>
        </p:spPr>
      </p:sp>
      <p:sp>
        <p:nvSpPr>
          <p:cNvPr id="15" name="">
            <a:extLst xmlns:a="http://schemas.openxmlformats.org/drawingml/2006/main">
              <a:ext uri="{FF2B5EF4-FFF2-40B4-BE49-F238E27FC236}">
                <a16:creationId xmlns:a16="http://schemas.microsoft.com/office/drawing/2014/main" id="{617DFBB1-F0A3-4E86-A19A-DB4325EF47FE}"/>
              </a:ext>
            </a:extLst>
          </p:cNvPr>
          <p:cNvSpPr>
            <a:spLocks xmlns:a="http://schemas.openxmlformats.org/drawingml/2006/main" noGrp="1"/>
          </p:cNvSpPr>
          <p:nvPr/>
        </p:nvSpPr>
        <p:spPr>
          <a:xfrm xmlns:a="http://schemas.openxmlformats.org/drawingml/2006/main">
            <a:off x="457200" y="2819400"/>
            <a:ext cx="552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算法流程（5 步）</a:t>
            </a:r>
          </a:p>
        </p:txBody>
      </p:sp>
      <p:sp>
        <p:nvSpPr>
          <p:cNvPr id="16" name="">
            <a:extLst xmlns:a="http://schemas.openxmlformats.org/drawingml/2006/main">
              <a:ext uri="{FF2B5EF4-FFF2-40B4-BE49-F238E27FC236}">
                <a16:creationId xmlns:a16="http://schemas.microsoft.com/office/drawing/2014/main" id="{D564E8CE-1E09-4DFD-82EA-63D12F221270}"/>
              </a:ext>
            </a:extLst>
          </p:cNvPr>
          <p:cNvSpPr>
            <a:spLocks xmlns:a="http://schemas.openxmlformats.org/drawingml/2006/main" noGrp="1"/>
          </p:cNvSpPr>
          <p:nvPr/>
        </p:nvSpPr>
        <p:spPr>
          <a:xfrm xmlns:a="http://schemas.openxmlformats.org/drawingml/2006/main">
            <a:off x="457200" y="3105150"/>
            <a:ext cx="55816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1　</a:t>
            </a:r>
            <a:r>
              <a:rPr sz="938">
                <a:solidFill>
                  <a:srgbClr val="D6E6F7"/>
                </a:solidFill>
                <a:latin typeface="微软雅黑"/>
                <a:ea typeface="微软雅黑"/>
                <a:cs typeface="微软雅黑"/>
              </a:rPr>
              <a:t>计算每个技能的 effort = 缺口权重 × max(0.2, 1.6 − 历史正确率)；</a:t>
            </a:r>
          </a:p>
          <a:p xmlns:a="http://schemas.openxmlformats.org/drawingml/2006/main">
            <a:pPr algn="l">
              <a:lnSpc>
                <a:spcPct val="15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2　</a:t>
            </a:r>
            <a:r>
              <a:rPr sz="938">
                <a:solidFill>
                  <a:srgbClr val="D6E6F7"/>
                </a:solidFill>
                <a:latin typeface="微软雅黑"/>
                <a:ea typeface="微软雅黑"/>
                <a:cs typeface="微软雅黑"/>
              </a:rPr>
              <a:t>按 effort 降序排列，并按权重占比把本次题量分配到各技能；</a:t>
            </a:r>
          </a:p>
          <a:p xmlns:a="http://schemas.openxmlformats.org/drawingml/2006/main">
            <a:pPr algn="l">
              <a:lnSpc>
                <a:spcPct val="15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3　</a:t>
            </a:r>
            <a:r>
              <a:rPr sz="938">
                <a:solidFill>
                  <a:srgbClr val="D6E6F7"/>
                </a:solidFill>
                <a:latin typeface="微软雅黑"/>
                <a:ea typeface="微软雅黑"/>
                <a:cs typeface="微软雅黑"/>
              </a:rPr>
              <a:t>每个实际分配到的技能至少 1 题，且不超过题库存量与本次剩余题量，题量耗尽后不再分配；</a:t>
            </a:r>
          </a:p>
          <a:p xmlns:a="http://schemas.openxmlformats.org/drawingml/2006/main">
            <a:pPr algn="l">
              <a:lnSpc>
                <a:spcPct val="15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4　</a:t>
            </a:r>
            <a:r>
              <a:rPr sz="938">
                <a:solidFill>
                  <a:srgbClr val="D6E6F7"/>
                </a:solidFill>
                <a:latin typeface="微软雅黑"/>
                <a:ea typeface="微软雅黑"/>
                <a:cs typeface="微软雅黑"/>
              </a:rPr>
              <a:t>技能内部按 used_count 升序、题目等级升序取题；</a:t>
            </a:r>
          </a:p>
          <a:p xmlns:a="http://schemas.openxmlformats.org/drawingml/2006/main">
            <a:pPr algn="l">
              <a:lnSpc>
                <a:spcPct val="15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5　</a:t>
            </a:r>
            <a:r>
              <a:rPr sz="938">
                <a:solidFill>
                  <a:srgbClr val="D6E6F7"/>
                </a:solidFill>
                <a:latin typeface="微软雅黑"/>
                <a:ea typeface="微软雅黑"/>
                <a:cs typeface="微软雅黑"/>
              </a:rPr>
              <a:t>交卷后更新 practice_stat，错题写入 memory_item，由历史正确率影响后续组卷权重。</a:t>
            </a:r>
          </a:p>
        </p:txBody>
      </p:sp>
      <p:sp>
        <p:nvSpPr>
          <p:cNvPr id="17" name="">
            <a:extLst xmlns:a="http://schemas.openxmlformats.org/drawingml/2006/main">
              <a:ext uri="{FF2B5EF4-FFF2-40B4-BE49-F238E27FC236}">
                <a16:creationId xmlns:a16="http://schemas.microsoft.com/office/drawing/2014/main" id="{C2838CDD-A01D-4C94-B835-8FFB5D2A9018}"/>
              </a:ext>
            </a:extLst>
          </p:cNvPr>
          <p:cNvSpPr>
            <a:spLocks xmlns:a="http://schemas.openxmlformats.org/drawingml/2006/main" noGrp="1"/>
          </p:cNvSpPr>
          <p:nvPr/>
        </p:nvSpPr>
        <p:spPr>
          <a:xfrm xmlns:a="http://schemas.openxmlformats.org/drawingml/2006/main">
            <a:off x="285750" y="4343400"/>
            <a:ext cx="5905500" cy="1905000"/>
          </a:xfrm>
          <a:prstGeom xmlns:a="http://schemas.openxmlformats.org/drawingml/2006/main" prst="roundRect">
            <a:avLst>
              <a:gd name="adj" fmla="val 4000"/>
            </a:avLst>
          </a:prstGeom>
          <a:solidFill xmlns:a="http://schemas.openxmlformats.org/drawingml/2006/main">
            <a:srgbClr val="0F3159"/>
          </a:solidFill>
          <a:ln xmlns:a="http://schemas.openxmlformats.org/drawingml/2006/main" w="9525">
            <a:solidFill>
              <a:srgbClr val="1B4C8A"/>
            </a:solidFill>
            <a:prstDash val="solid"/>
          </a:ln>
        </p:spPr>
      </p:sp>
      <p:sp>
        <p:nvSpPr>
          <p:cNvPr id="18" name="">
            <a:extLst xmlns:a="http://schemas.openxmlformats.org/drawingml/2006/main">
              <a:ext uri="{FF2B5EF4-FFF2-40B4-BE49-F238E27FC236}">
                <a16:creationId xmlns:a16="http://schemas.microsoft.com/office/drawing/2014/main" id="{7A4736F6-8181-4A65-8444-89F4412865DA}"/>
              </a:ext>
            </a:extLst>
          </p:cNvPr>
          <p:cNvSpPr>
            <a:spLocks xmlns:a="http://schemas.openxmlformats.org/drawingml/2006/main" noGrp="1"/>
          </p:cNvSpPr>
          <p:nvPr/>
        </p:nvSpPr>
        <p:spPr>
          <a:xfrm xmlns:a="http://schemas.openxmlformats.org/drawingml/2006/main">
            <a:off x="457200" y="4457700"/>
            <a:ext cx="552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输入参数（演示数据口径）</a:t>
            </a:r>
          </a:p>
        </p:txBody>
      </p:sp>
      <p:sp>
        <p:nvSpPr>
          <p:cNvPr id="19" name="">
            <a:extLst xmlns:a="http://schemas.openxmlformats.org/drawingml/2006/main">
              <a:ext uri="{FF2B5EF4-FFF2-40B4-BE49-F238E27FC236}">
                <a16:creationId xmlns:a16="http://schemas.microsoft.com/office/drawing/2014/main" id="{C3F2F751-58F7-4F8F-B307-4B4DF3F79491}"/>
              </a:ext>
            </a:extLst>
          </p:cNvPr>
          <p:cNvSpPr>
            <a:spLocks xmlns:a="http://schemas.openxmlformats.org/drawingml/2006/main" noGrp="1"/>
          </p:cNvSpPr>
          <p:nvPr/>
        </p:nvSpPr>
        <p:spPr>
          <a:xfrm xmlns:a="http://schemas.openxmlformats.org/drawingml/2006/main">
            <a:off x="457200" y="478155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缺口权重</a:t>
            </a:r>
          </a:p>
        </p:txBody>
      </p:sp>
      <p:sp>
        <p:nvSpPr>
          <p:cNvPr id="20" name="">
            <a:extLst xmlns:a="http://schemas.openxmlformats.org/drawingml/2006/main">
              <a:ext uri="{FF2B5EF4-FFF2-40B4-BE49-F238E27FC236}">
                <a16:creationId xmlns:a16="http://schemas.microsoft.com/office/drawing/2014/main" id="{36FF14E1-BE3B-4DC1-875A-C8E8C670E6BB}"/>
              </a:ext>
            </a:extLst>
          </p:cNvPr>
          <p:cNvSpPr>
            <a:spLocks xmlns:a="http://schemas.openxmlformats.org/drawingml/2006/main" noGrp="1"/>
          </p:cNvSpPr>
          <p:nvPr/>
        </p:nvSpPr>
        <p:spPr>
          <a:xfrm xmlns:a="http://schemas.openxmlformats.org/drawingml/2006/main">
            <a:off x="1447800" y="4781550"/>
            <a:ext cx="459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继电保护 3.0 / 高压试验 2.0 / 故障录波 2.0 / 倒闸操作 1.0 / 安全规程 1.0</a:t>
            </a:r>
          </a:p>
        </p:txBody>
      </p:sp>
      <p:sp>
        <p:nvSpPr>
          <p:cNvPr id="21" name="">
            <a:extLst xmlns:a="http://schemas.openxmlformats.org/drawingml/2006/main">
              <a:ext uri="{FF2B5EF4-FFF2-40B4-BE49-F238E27FC236}">
                <a16:creationId xmlns:a16="http://schemas.microsoft.com/office/drawing/2014/main" id="{5A3A60DB-F434-4445-AB18-A80D61FDBB79}"/>
              </a:ext>
            </a:extLst>
          </p:cNvPr>
          <p:cNvSpPr>
            <a:spLocks xmlns:a="http://schemas.openxmlformats.org/drawingml/2006/main" noGrp="1"/>
          </p:cNvSpPr>
          <p:nvPr/>
        </p:nvSpPr>
        <p:spPr>
          <a:xfrm xmlns:a="http://schemas.openxmlformats.org/drawingml/2006/main">
            <a:off x="457200" y="514350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历史正确率</a:t>
            </a:r>
          </a:p>
        </p:txBody>
      </p:sp>
      <p:sp>
        <p:nvSpPr>
          <p:cNvPr id="22" name="">
            <a:extLst xmlns:a="http://schemas.openxmlformats.org/drawingml/2006/main">
              <a:ext uri="{FF2B5EF4-FFF2-40B4-BE49-F238E27FC236}">
                <a16:creationId xmlns:a16="http://schemas.microsoft.com/office/drawing/2014/main" id="{43A1DC5E-2123-4FBE-AC20-C73180B3CE3F}"/>
              </a:ext>
            </a:extLst>
          </p:cNvPr>
          <p:cNvSpPr>
            <a:spLocks xmlns:a="http://schemas.openxmlformats.org/drawingml/2006/main" noGrp="1"/>
          </p:cNvSpPr>
          <p:nvPr/>
        </p:nvSpPr>
        <p:spPr>
          <a:xfrm xmlns:a="http://schemas.openxmlformats.org/drawingml/2006/main">
            <a:off x="1447800" y="5143500"/>
            <a:ext cx="459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正确题数 ÷ 已答题数；没有练习记录时按 0.70 冷启动</a:t>
            </a:r>
          </a:p>
        </p:txBody>
      </p:sp>
      <p:sp>
        <p:nvSpPr>
          <p:cNvPr id="23" name="">
            <a:extLst xmlns:a="http://schemas.openxmlformats.org/drawingml/2006/main">
              <a:ext uri="{FF2B5EF4-FFF2-40B4-BE49-F238E27FC236}">
                <a16:creationId xmlns:a16="http://schemas.microsoft.com/office/drawing/2014/main" id="{72D66F2C-C144-46F1-9637-79DF4262C488}"/>
              </a:ext>
            </a:extLst>
          </p:cNvPr>
          <p:cNvSpPr>
            <a:spLocks xmlns:a="http://schemas.openxmlformats.org/drawingml/2006/main" noGrp="1"/>
          </p:cNvSpPr>
          <p:nvPr/>
        </p:nvSpPr>
        <p:spPr>
          <a:xfrm xmlns:a="http://schemas.openxmlformats.org/drawingml/2006/main">
            <a:off x="457200" y="550545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题库存量</a:t>
            </a:r>
          </a:p>
        </p:txBody>
      </p:sp>
      <p:sp>
        <p:nvSpPr>
          <p:cNvPr id="24" name="">
            <a:extLst xmlns:a="http://schemas.openxmlformats.org/drawingml/2006/main">
              <a:ext uri="{FF2B5EF4-FFF2-40B4-BE49-F238E27FC236}">
                <a16:creationId xmlns:a16="http://schemas.microsoft.com/office/drawing/2014/main" id="{F734F1D2-93E8-4C15-8133-F305F36DE677}"/>
              </a:ext>
            </a:extLst>
          </p:cNvPr>
          <p:cNvSpPr>
            <a:spLocks xmlns:a="http://schemas.openxmlformats.org/drawingml/2006/main" noGrp="1"/>
          </p:cNvSpPr>
          <p:nvPr/>
        </p:nvSpPr>
        <p:spPr>
          <a:xfrm xmlns:a="http://schemas.openxmlformats.org/drawingml/2006/main">
            <a:off x="1447800" y="5505450"/>
            <a:ext cx="459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按技能统计可抽题数，并从 used_count 少的题开始选，避免反复抽同一题</a:t>
            </a:r>
          </a:p>
        </p:txBody>
      </p:sp>
      <p:sp>
        <p:nvSpPr>
          <p:cNvPr id="25" name="">
            <a:extLst xmlns:a="http://schemas.openxmlformats.org/drawingml/2006/main">
              <a:ext uri="{FF2B5EF4-FFF2-40B4-BE49-F238E27FC236}">
                <a16:creationId xmlns:a16="http://schemas.microsoft.com/office/drawing/2014/main" id="{B88C0939-AF22-4343-8AC5-5C85E43817FE}"/>
              </a:ext>
            </a:extLst>
          </p:cNvPr>
          <p:cNvSpPr>
            <a:spLocks xmlns:a="http://schemas.openxmlformats.org/drawingml/2006/main" noGrp="1"/>
          </p:cNvSpPr>
          <p:nvPr/>
        </p:nvSpPr>
        <p:spPr>
          <a:xfrm xmlns:a="http://schemas.openxmlformats.org/drawingml/2006/main">
            <a:off x="457200" y="586740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已实现入口</a:t>
            </a:r>
          </a:p>
        </p:txBody>
      </p:sp>
      <p:sp>
        <p:nvSpPr>
          <p:cNvPr id="26" name="">
            <a:extLst xmlns:a="http://schemas.openxmlformats.org/drawingml/2006/main">
              <a:ext uri="{FF2B5EF4-FFF2-40B4-BE49-F238E27FC236}">
                <a16:creationId xmlns:a16="http://schemas.microsoft.com/office/drawing/2014/main" id="{94DEF1B6-4355-46F1-A7DB-A490B93CB9DB}"/>
              </a:ext>
            </a:extLst>
          </p:cNvPr>
          <p:cNvSpPr>
            <a:spLocks xmlns:a="http://schemas.openxmlformats.org/drawingml/2006/main" noGrp="1"/>
          </p:cNvSpPr>
          <p:nvPr/>
        </p:nvSpPr>
        <p:spPr>
          <a:xfrm xmlns:a="http://schemas.openxmlformats.org/drawingml/2006/main">
            <a:off x="1447800" y="5867400"/>
            <a:ext cx="459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员工端 → 学习与考试 → 练习题；已落库：缺口权重、逐技能正确率、题目使用次数、抽题与练习记录</a:t>
            </a:r>
          </a:p>
        </p:txBody>
      </p:sp>
      <p:sp>
        <p:nvSpPr>
          <p:cNvPr id="27" name="">
            <a:extLst xmlns:a="http://schemas.openxmlformats.org/drawingml/2006/main">
              <a:ext uri="{FF2B5EF4-FFF2-40B4-BE49-F238E27FC236}">
                <a16:creationId xmlns:a16="http://schemas.microsoft.com/office/drawing/2014/main" id="{B75DD387-623C-41E1-A984-0D134662745E}"/>
              </a:ext>
            </a:extLst>
          </p:cNvPr>
          <p:cNvSpPr>
            <a:spLocks xmlns:a="http://schemas.openxmlformats.org/drawingml/2006/main" noGrp="1"/>
          </p:cNvSpPr>
          <p:nvPr/>
        </p:nvSpPr>
        <p:spPr>
          <a:xfrm xmlns:a="http://schemas.openxmlformats.org/drawingml/2006/main">
            <a:off x="6419850" y="1333500"/>
            <a:ext cx="552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闭环：抽题 → 作答 → 正确率更新 → 错题入记忆 → 重新分配题量</a:t>
            </a:r>
          </a:p>
        </p:txBody>
      </p:sp>
      <p:sp>
        <p:nvSpPr>
          <p:cNvPr id="28" name="">
            <a:extLst xmlns:a="http://schemas.openxmlformats.org/drawingml/2006/main">
              <a:ext uri="{FF2B5EF4-FFF2-40B4-BE49-F238E27FC236}">
                <a16:creationId xmlns:a16="http://schemas.microsoft.com/office/drawing/2014/main" id="{AED46E20-2FD7-497E-9D0C-96E022BCFE5C}"/>
              </a:ext>
            </a:extLst>
          </p:cNvPr>
          <p:cNvSpPr>
            <a:spLocks xmlns:a="http://schemas.openxmlformats.org/drawingml/2006/main" noGrp="1"/>
          </p:cNvSpPr>
          <p:nvPr/>
        </p:nvSpPr>
        <p:spPr>
          <a:xfrm xmlns:a="http://schemas.openxmlformats.org/drawingml/2006/main">
            <a:off x="6419850" y="1638300"/>
            <a:ext cx="5486400" cy="609600"/>
          </a:xfrm>
          <a:prstGeom xmlns:a="http://schemas.openxmlformats.org/drawingml/2006/main" prst="roundRect">
            <a:avLst>
              <a:gd name="adj" fmla="val 12500"/>
            </a:avLst>
          </a:prstGeom>
          <a:solidFill xmlns:a="http://schemas.openxmlformats.org/drawingml/2006/main">
            <a:srgbClr val="0D2748"/>
          </a:solidFill>
          <a:ln xmlns:a="http://schemas.openxmlformats.org/drawingml/2006/main" w="9525">
            <a:solidFill>
              <a:srgbClr val="1B4C8A"/>
            </a:solidFill>
            <a:prstDash val="solid"/>
          </a:ln>
        </p:spPr>
      </p:sp>
      <p:sp>
        <p:nvSpPr>
          <p:cNvPr id="29" name="">
            <a:extLst xmlns:a="http://schemas.openxmlformats.org/drawingml/2006/main">
              <a:ext uri="{FF2B5EF4-FFF2-40B4-BE49-F238E27FC236}">
                <a16:creationId xmlns:a16="http://schemas.microsoft.com/office/drawing/2014/main" id="{DF71A820-5EC5-4A52-94E4-932A336A1EFE}"/>
              </a:ext>
            </a:extLst>
          </p:cNvPr>
          <p:cNvSpPr>
            <a:spLocks xmlns:a="http://schemas.openxmlformats.org/drawingml/2006/main" noGrp="1"/>
          </p:cNvSpPr>
          <p:nvPr/>
        </p:nvSpPr>
        <p:spPr>
          <a:xfrm xmlns:a="http://schemas.openxmlformats.org/drawingml/2006/main">
            <a:off x="6572250" y="1828800"/>
            <a:ext cx="228600" cy="228600"/>
          </a:xfrm>
          <a:prstGeom xmlns:a="http://schemas.openxmlformats.org/drawingml/2006/main" prst="ellipse">
            <a:avLst/>
          </a:prstGeom>
          <a:solidFill xmlns:a="http://schemas.openxmlformats.org/drawingml/2006/main">
            <a:srgbClr val="2E86E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F71FACE-0D6B-4A08-9932-4273293823B7}"/>
              </a:ext>
            </a:extLst>
          </p:cNvPr>
          <p:cNvSpPr>
            <a:spLocks xmlns:a="http://schemas.openxmlformats.org/drawingml/2006/main" noGrp="1"/>
          </p:cNvSpPr>
          <p:nvPr/>
        </p:nvSpPr>
        <p:spPr>
          <a:xfrm xmlns:a="http://schemas.openxmlformats.org/drawingml/2006/main">
            <a:off x="6572250" y="18288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31" name="">
            <a:extLst xmlns:a="http://schemas.openxmlformats.org/drawingml/2006/main">
              <a:ext uri="{FF2B5EF4-FFF2-40B4-BE49-F238E27FC236}">
                <a16:creationId xmlns:a16="http://schemas.microsoft.com/office/drawing/2014/main" id="{BE26CBF2-47B4-4DA0-8042-C02FD9BA36C7}"/>
              </a:ext>
            </a:extLst>
          </p:cNvPr>
          <p:cNvSpPr>
            <a:spLocks xmlns:a="http://schemas.openxmlformats.org/drawingml/2006/main" noGrp="1"/>
          </p:cNvSpPr>
          <p:nvPr/>
        </p:nvSpPr>
        <p:spPr>
          <a:xfrm xmlns:a="http://schemas.openxmlformats.org/drawingml/2006/main">
            <a:off x="6915150" y="17335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抽题</a:t>
            </a:r>
          </a:p>
        </p:txBody>
      </p:sp>
      <p:sp>
        <p:nvSpPr>
          <p:cNvPr id="32" name="">
            <a:extLst xmlns:a="http://schemas.openxmlformats.org/drawingml/2006/main">
              <a:ext uri="{FF2B5EF4-FFF2-40B4-BE49-F238E27FC236}">
                <a16:creationId xmlns:a16="http://schemas.microsoft.com/office/drawing/2014/main" id="{A360ED2A-1679-4183-A0C7-E6E031FF512E}"/>
              </a:ext>
            </a:extLst>
          </p:cNvPr>
          <p:cNvSpPr>
            <a:spLocks xmlns:a="http://schemas.openxmlformats.org/drawingml/2006/main" noGrp="1"/>
          </p:cNvSpPr>
          <p:nvPr/>
        </p:nvSpPr>
        <p:spPr>
          <a:xfrm xmlns:a="http://schemas.openxmlformats.org/drawingml/2006/main">
            <a:off x="6915150" y="1962150"/>
            <a:ext cx="487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按 effort 分配题量，used_count 少的题优先</a:t>
            </a:r>
          </a:p>
        </p:txBody>
      </p:sp>
      <p:sp>
        <p:nvSpPr>
          <p:cNvPr id="33" name="">
            <a:extLst xmlns:a="http://schemas.openxmlformats.org/drawingml/2006/main">
              <a:ext uri="{FF2B5EF4-FFF2-40B4-BE49-F238E27FC236}">
                <a16:creationId xmlns:a16="http://schemas.microsoft.com/office/drawing/2014/main" id="{62E387DB-10F7-4EDA-9FB7-5196335186A2}"/>
              </a:ext>
            </a:extLst>
          </p:cNvPr>
          <p:cNvSpPr>
            <a:spLocks xmlns:a="http://schemas.openxmlformats.org/drawingml/2006/main" noGrp="1"/>
          </p:cNvSpPr>
          <p:nvPr/>
        </p:nvSpPr>
        <p:spPr>
          <a:xfrm xmlns:a="http://schemas.openxmlformats.org/drawingml/2006/main">
            <a:off x="6610350" y="2266950"/>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50" b="0">
                <a:solidFill>
                  <a:srgbClr val="F5C33B"/>
                </a:solidFill>
                <a:latin typeface="微软雅黑"/>
                <a:ea typeface="微软雅黑"/>
                <a:cs typeface="微软雅黑"/>
              </a:defRPr>
            </a:pPr>
            <a:r>
              <a:rPr sz="750" b="0">
                <a:solidFill>
                  <a:srgbClr val="F5C33B"/>
                </a:solidFill>
                <a:latin typeface="微软雅黑"/>
                <a:ea typeface="微软雅黑"/>
                <a:cs typeface="微软雅黑"/>
              </a:rPr>
              <a:t>▼</a:t>
            </a:r>
          </a:p>
        </p:txBody>
      </p:sp>
      <p:sp>
        <p:nvSpPr>
          <p:cNvPr id="34" name="">
            <a:extLst xmlns:a="http://schemas.openxmlformats.org/drawingml/2006/main">
              <a:ext uri="{FF2B5EF4-FFF2-40B4-BE49-F238E27FC236}">
                <a16:creationId xmlns:a16="http://schemas.microsoft.com/office/drawing/2014/main" id="{EF1BB0DA-8F00-4864-8066-8327C2410FCA}"/>
              </a:ext>
            </a:extLst>
          </p:cNvPr>
          <p:cNvSpPr>
            <a:spLocks xmlns:a="http://schemas.openxmlformats.org/drawingml/2006/main" noGrp="1"/>
          </p:cNvSpPr>
          <p:nvPr/>
        </p:nvSpPr>
        <p:spPr>
          <a:xfrm xmlns:a="http://schemas.openxmlformats.org/drawingml/2006/main">
            <a:off x="6419850" y="2362200"/>
            <a:ext cx="5486400" cy="609600"/>
          </a:xfrm>
          <a:prstGeom xmlns:a="http://schemas.openxmlformats.org/drawingml/2006/main" prst="roundRect">
            <a:avLst>
              <a:gd name="adj" fmla="val 12500"/>
            </a:avLst>
          </a:prstGeom>
          <a:solidFill xmlns:a="http://schemas.openxmlformats.org/drawingml/2006/main">
            <a:srgbClr val="0D2748"/>
          </a:solidFill>
          <a:ln xmlns:a="http://schemas.openxmlformats.org/drawingml/2006/main" w="9525">
            <a:solidFill>
              <a:srgbClr val="1B4C8A"/>
            </a:solidFill>
            <a:prstDash val="solid"/>
          </a:ln>
        </p:spPr>
      </p:sp>
      <p:sp>
        <p:nvSpPr>
          <p:cNvPr id="35" name="">
            <a:extLst xmlns:a="http://schemas.openxmlformats.org/drawingml/2006/main">
              <a:ext uri="{FF2B5EF4-FFF2-40B4-BE49-F238E27FC236}">
                <a16:creationId xmlns:a16="http://schemas.microsoft.com/office/drawing/2014/main" id="{7C3F7658-7090-4027-916D-001FABC419BD}"/>
              </a:ext>
            </a:extLst>
          </p:cNvPr>
          <p:cNvSpPr>
            <a:spLocks xmlns:a="http://schemas.openxmlformats.org/drawingml/2006/main" noGrp="1"/>
          </p:cNvSpPr>
          <p:nvPr/>
        </p:nvSpPr>
        <p:spPr>
          <a:xfrm xmlns:a="http://schemas.openxmlformats.org/drawingml/2006/main">
            <a:off x="6572250" y="2552700"/>
            <a:ext cx="228600" cy="228600"/>
          </a:xfrm>
          <a:prstGeom xmlns:a="http://schemas.openxmlformats.org/drawingml/2006/main" prst="ellipse">
            <a:avLst/>
          </a:prstGeom>
          <a:solidFill xmlns:a="http://schemas.openxmlformats.org/drawingml/2006/main">
            <a:srgbClr val="2E86E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58F734EB-2589-49DB-A290-EC09614A6B31}"/>
              </a:ext>
            </a:extLst>
          </p:cNvPr>
          <p:cNvSpPr>
            <a:spLocks xmlns:a="http://schemas.openxmlformats.org/drawingml/2006/main" noGrp="1"/>
          </p:cNvSpPr>
          <p:nvPr/>
        </p:nvSpPr>
        <p:spPr>
          <a:xfrm xmlns:a="http://schemas.openxmlformats.org/drawingml/2006/main">
            <a:off x="6572250" y="25527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37" name="">
            <a:extLst xmlns:a="http://schemas.openxmlformats.org/drawingml/2006/main">
              <a:ext uri="{FF2B5EF4-FFF2-40B4-BE49-F238E27FC236}">
                <a16:creationId xmlns:a16="http://schemas.microsoft.com/office/drawing/2014/main" id="{730741ED-6193-4C87-AA0A-7E86FC4B7388}"/>
              </a:ext>
            </a:extLst>
          </p:cNvPr>
          <p:cNvSpPr>
            <a:spLocks xmlns:a="http://schemas.openxmlformats.org/drawingml/2006/main" noGrp="1"/>
          </p:cNvSpPr>
          <p:nvPr/>
        </p:nvSpPr>
        <p:spPr>
          <a:xfrm xmlns:a="http://schemas.openxmlformats.org/drawingml/2006/main">
            <a:off x="6915150" y="24574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作答</a:t>
            </a:r>
          </a:p>
        </p:txBody>
      </p:sp>
      <p:sp>
        <p:nvSpPr>
          <p:cNvPr id="38" name="">
            <a:extLst xmlns:a="http://schemas.openxmlformats.org/drawingml/2006/main">
              <a:ext uri="{FF2B5EF4-FFF2-40B4-BE49-F238E27FC236}">
                <a16:creationId xmlns:a16="http://schemas.microsoft.com/office/drawing/2014/main" id="{14564F15-BA36-43F6-8FF0-0115D4818E78}"/>
              </a:ext>
            </a:extLst>
          </p:cNvPr>
          <p:cNvSpPr>
            <a:spLocks xmlns:a="http://schemas.openxmlformats.org/drawingml/2006/main" noGrp="1"/>
          </p:cNvSpPr>
          <p:nvPr/>
        </p:nvSpPr>
        <p:spPr>
          <a:xfrm xmlns:a="http://schemas.openxmlformats.org/drawingml/2006/main">
            <a:off x="6915150" y="2686050"/>
            <a:ext cx="487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员工端在线作答，客观题自动判分</a:t>
            </a:r>
          </a:p>
        </p:txBody>
      </p:sp>
      <p:sp>
        <p:nvSpPr>
          <p:cNvPr id="39" name="">
            <a:extLst xmlns:a="http://schemas.openxmlformats.org/drawingml/2006/main">
              <a:ext uri="{FF2B5EF4-FFF2-40B4-BE49-F238E27FC236}">
                <a16:creationId xmlns:a16="http://schemas.microsoft.com/office/drawing/2014/main" id="{AF26A1E9-8213-4D7F-AE7C-D25D525E5BDA}"/>
              </a:ext>
            </a:extLst>
          </p:cNvPr>
          <p:cNvSpPr>
            <a:spLocks xmlns:a="http://schemas.openxmlformats.org/drawingml/2006/main" noGrp="1"/>
          </p:cNvSpPr>
          <p:nvPr/>
        </p:nvSpPr>
        <p:spPr>
          <a:xfrm xmlns:a="http://schemas.openxmlformats.org/drawingml/2006/main">
            <a:off x="6610350" y="2990850"/>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50" b="0">
                <a:solidFill>
                  <a:srgbClr val="F5C33B"/>
                </a:solidFill>
                <a:latin typeface="微软雅黑"/>
                <a:ea typeface="微软雅黑"/>
                <a:cs typeface="微软雅黑"/>
              </a:defRPr>
            </a:pPr>
            <a:r>
              <a:rPr sz="750" b="0">
                <a:solidFill>
                  <a:srgbClr val="F5C33B"/>
                </a:solidFill>
                <a:latin typeface="微软雅黑"/>
                <a:ea typeface="微软雅黑"/>
                <a:cs typeface="微软雅黑"/>
              </a:rPr>
              <a:t>▼</a:t>
            </a:r>
          </a:p>
        </p:txBody>
      </p:sp>
      <p:sp>
        <p:nvSpPr>
          <p:cNvPr id="40" name="">
            <a:extLst xmlns:a="http://schemas.openxmlformats.org/drawingml/2006/main">
              <a:ext uri="{FF2B5EF4-FFF2-40B4-BE49-F238E27FC236}">
                <a16:creationId xmlns:a16="http://schemas.microsoft.com/office/drawing/2014/main" id="{1B627F52-4E34-49A7-90E9-4F86AE59573E}"/>
              </a:ext>
            </a:extLst>
          </p:cNvPr>
          <p:cNvSpPr>
            <a:spLocks xmlns:a="http://schemas.openxmlformats.org/drawingml/2006/main" noGrp="1"/>
          </p:cNvSpPr>
          <p:nvPr/>
        </p:nvSpPr>
        <p:spPr>
          <a:xfrm xmlns:a="http://schemas.openxmlformats.org/drawingml/2006/main">
            <a:off x="6419850" y="3086100"/>
            <a:ext cx="5486400" cy="609600"/>
          </a:xfrm>
          <a:prstGeom xmlns:a="http://schemas.openxmlformats.org/drawingml/2006/main" prst="roundRect">
            <a:avLst>
              <a:gd name="adj" fmla="val 12500"/>
            </a:avLst>
          </a:prstGeom>
          <a:solidFill xmlns:a="http://schemas.openxmlformats.org/drawingml/2006/main">
            <a:srgbClr val="0D2748"/>
          </a:solidFill>
          <a:ln xmlns:a="http://schemas.openxmlformats.org/drawingml/2006/main" w="9525">
            <a:solidFill>
              <a:srgbClr val="1B4C8A"/>
            </a:solidFill>
            <a:prstDash val="solid"/>
          </a:ln>
        </p:spPr>
      </p:sp>
      <p:sp>
        <p:nvSpPr>
          <p:cNvPr id="41" name="">
            <a:extLst xmlns:a="http://schemas.openxmlformats.org/drawingml/2006/main">
              <a:ext uri="{FF2B5EF4-FFF2-40B4-BE49-F238E27FC236}">
                <a16:creationId xmlns:a16="http://schemas.microsoft.com/office/drawing/2014/main" id="{7CD05BEB-B650-46F1-9732-9A30D68C71BE}"/>
              </a:ext>
            </a:extLst>
          </p:cNvPr>
          <p:cNvSpPr>
            <a:spLocks xmlns:a="http://schemas.openxmlformats.org/drawingml/2006/main" noGrp="1"/>
          </p:cNvSpPr>
          <p:nvPr/>
        </p:nvSpPr>
        <p:spPr>
          <a:xfrm xmlns:a="http://schemas.openxmlformats.org/drawingml/2006/main">
            <a:off x="6572250" y="3276600"/>
            <a:ext cx="228600" cy="228600"/>
          </a:xfrm>
          <a:prstGeom xmlns:a="http://schemas.openxmlformats.org/drawingml/2006/main" prst="ellipse">
            <a:avLst/>
          </a:prstGeom>
          <a:solidFill xmlns:a="http://schemas.openxmlformats.org/drawingml/2006/main">
            <a:srgbClr val="2E86E8"/>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F11508D9-1877-4F15-B508-AB86B8285FC7}"/>
              </a:ext>
            </a:extLst>
          </p:cNvPr>
          <p:cNvSpPr>
            <a:spLocks xmlns:a="http://schemas.openxmlformats.org/drawingml/2006/main" noGrp="1"/>
          </p:cNvSpPr>
          <p:nvPr/>
        </p:nvSpPr>
        <p:spPr>
          <a:xfrm xmlns:a="http://schemas.openxmlformats.org/drawingml/2006/main">
            <a:off x="6572250" y="32766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43" name="">
            <a:extLst xmlns:a="http://schemas.openxmlformats.org/drawingml/2006/main">
              <a:ext uri="{FF2B5EF4-FFF2-40B4-BE49-F238E27FC236}">
                <a16:creationId xmlns:a16="http://schemas.microsoft.com/office/drawing/2014/main" id="{EA912900-7073-4770-BAF2-EC7E669BC254}"/>
              </a:ext>
            </a:extLst>
          </p:cNvPr>
          <p:cNvSpPr>
            <a:spLocks xmlns:a="http://schemas.openxmlformats.org/drawingml/2006/main" noGrp="1"/>
          </p:cNvSpPr>
          <p:nvPr/>
        </p:nvSpPr>
        <p:spPr>
          <a:xfrm xmlns:a="http://schemas.openxmlformats.org/drawingml/2006/main">
            <a:off x="6915150" y="31813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正确率更新</a:t>
            </a:r>
          </a:p>
        </p:txBody>
      </p:sp>
      <p:sp>
        <p:nvSpPr>
          <p:cNvPr id="44" name="">
            <a:extLst xmlns:a="http://schemas.openxmlformats.org/drawingml/2006/main">
              <a:ext uri="{FF2B5EF4-FFF2-40B4-BE49-F238E27FC236}">
                <a16:creationId xmlns:a16="http://schemas.microsoft.com/office/drawing/2014/main" id="{0F7AE719-1A60-4704-970A-CF622F760CBA}"/>
              </a:ext>
            </a:extLst>
          </p:cNvPr>
          <p:cNvSpPr>
            <a:spLocks xmlns:a="http://schemas.openxmlformats.org/drawingml/2006/main" noGrp="1"/>
          </p:cNvSpPr>
          <p:nvPr/>
        </p:nvSpPr>
        <p:spPr>
          <a:xfrm xmlns:a="http://schemas.openxmlformats.org/drawingml/2006/main">
            <a:off x="6915150" y="3409950"/>
            <a:ext cx="487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写回 practice_stat，形成逐技能正确率</a:t>
            </a:r>
          </a:p>
        </p:txBody>
      </p:sp>
      <p:sp>
        <p:nvSpPr>
          <p:cNvPr id="45" name="">
            <a:extLst xmlns:a="http://schemas.openxmlformats.org/drawingml/2006/main">
              <a:ext uri="{FF2B5EF4-FFF2-40B4-BE49-F238E27FC236}">
                <a16:creationId xmlns:a16="http://schemas.microsoft.com/office/drawing/2014/main" id="{080B542D-0937-4680-9B1A-D1384E522B1B}"/>
              </a:ext>
            </a:extLst>
          </p:cNvPr>
          <p:cNvSpPr>
            <a:spLocks xmlns:a="http://schemas.openxmlformats.org/drawingml/2006/main" noGrp="1"/>
          </p:cNvSpPr>
          <p:nvPr/>
        </p:nvSpPr>
        <p:spPr>
          <a:xfrm xmlns:a="http://schemas.openxmlformats.org/drawingml/2006/main">
            <a:off x="6610350" y="3714750"/>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50" b="0">
                <a:solidFill>
                  <a:srgbClr val="F5C33B"/>
                </a:solidFill>
                <a:latin typeface="微软雅黑"/>
                <a:ea typeface="微软雅黑"/>
                <a:cs typeface="微软雅黑"/>
              </a:defRPr>
            </a:pPr>
            <a:r>
              <a:rPr sz="750" b="0">
                <a:solidFill>
                  <a:srgbClr val="F5C33B"/>
                </a:solidFill>
                <a:latin typeface="微软雅黑"/>
                <a:ea typeface="微软雅黑"/>
                <a:cs typeface="微软雅黑"/>
              </a:rPr>
              <a:t>▼</a:t>
            </a:r>
          </a:p>
        </p:txBody>
      </p:sp>
      <p:sp>
        <p:nvSpPr>
          <p:cNvPr id="46" name="">
            <a:extLst xmlns:a="http://schemas.openxmlformats.org/drawingml/2006/main">
              <a:ext uri="{FF2B5EF4-FFF2-40B4-BE49-F238E27FC236}">
                <a16:creationId xmlns:a16="http://schemas.microsoft.com/office/drawing/2014/main" id="{6B0EF7C4-DF0D-4CEA-93BC-9673C8F6A2C5}"/>
              </a:ext>
            </a:extLst>
          </p:cNvPr>
          <p:cNvSpPr>
            <a:spLocks xmlns:a="http://schemas.openxmlformats.org/drawingml/2006/main" noGrp="1"/>
          </p:cNvSpPr>
          <p:nvPr/>
        </p:nvSpPr>
        <p:spPr>
          <a:xfrm xmlns:a="http://schemas.openxmlformats.org/drawingml/2006/main">
            <a:off x="6419850" y="3810000"/>
            <a:ext cx="5486400" cy="609600"/>
          </a:xfrm>
          <a:prstGeom xmlns:a="http://schemas.openxmlformats.org/drawingml/2006/main" prst="roundRect">
            <a:avLst>
              <a:gd name="adj" fmla="val 12500"/>
            </a:avLst>
          </a:prstGeom>
          <a:solidFill xmlns:a="http://schemas.openxmlformats.org/drawingml/2006/main">
            <a:srgbClr val="0D2748"/>
          </a:solidFill>
          <a:ln xmlns:a="http://schemas.openxmlformats.org/drawingml/2006/main" w="9525">
            <a:solidFill>
              <a:srgbClr val="1B4C8A"/>
            </a:solidFill>
            <a:prstDash val="solid"/>
          </a:ln>
        </p:spPr>
      </p:sp>
      <p:sp>
        <p:nvSpPr>
          <p:cNvPr id="47" name="">
            <a:extLst xmlns:a="http://schemas.openxmlformats.org/drawingml/2006/main">
              <a:ext uri="{FF2B5EF4-FFF2-40B4-BE49-F238E27FC236}">
                <a16:creationId xmlns:a16="http://schemas.microsoft.com/office/drawing/2014/main" id="{0F0FE033-3A1A-4009-BB0D-F146EA6948BB}"/>
              </a:ext>
            </a:extLst>
          </p:cNvPr>
          <p:cNvSpPr>
            <a:spLocks xmlns:a="http://schemas.openxmlformats.org/drawingml/2006/main" noGrp="1"/>
          </p:cNvSpPr>
          <p:nvPr/>
        </p:nvSpPr>
        <p:spPr>
          <a:xfrm xmlns:a="http://schemas.openxmlformats.org/drawingml/2006/main">
            <a:off x="6572250" y="4000500"/>
            <a:ext cx="228600" cy="228600"/>
          </a:xfrm>
          <a:prstGeom xmlns:a="http://schemas.openxmlformats.org/drawingml/2006/main" prst="ellipse">
            <a:avLst/>
          </a:prstGeom>
          <a:solidFill xmlns:a="http://schemas.openxmlformats.org/drawingml/2006/main">
            <a:srgbClr val="2E86E8"/>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8B2F96C1-E819-467F-AA82-BCD79EDCD1F8}"/>
              </a:ext>
            </a:extLst>
          </p:cNvPr>
          <p:cNvSpPr>
            <a:spLocks xmlns:a="http://schemas.openxmlformats.org/drawingml/2006/main" noGrp="1"/>
          </p:cNvSpPr>
          <p:nvPr/>
        </p:nvSpPr>
        <p:spPr>
          <a:xfrm xmlns:a="http://schemas.openxmlformats.org/drawingml/2006/main">
            <a:off x="6572250" y="40005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49" name="">
            <a:extLst xmlns:a="http://schemas.openxmlformats.org/drawingml/2006/main">
              <a:ext uri="{FF2B5EF4-FFF2-40B4-BE49-F238E27FC236}">
                <a16:creationId xmlns:a16="http://schemas.microsoft.com/office/drawing/2014/main" id="{B758574C-709C-4D78-B6B7-CB7FADC0ABFF}"/>
              </a:ext>
            </a:extLst>
          </p:cNvPr>
          <p:cNvSpPr>
            <a:spLocks xmlns:a="http://schemas.openxmlformats.org/drawingml/2006/main" noGrp="1"/>
          </p:cNvSpPr>
          <p:nvPr/>
        </p:nvSpPr>
        <p:spPr>
          <a:xfrm xmlns:a="http://schemas.openxmlformats.org/drawingml/2006/main">
            <a:off x="6915150" y="39052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错题入记忆</a:t>
            </a:r>
          </a:p>
        </p:txBody>
      </p:sp>
      <p:sp>
        <p:nvSpPr>
          <p:cNvPr id="50" name="">
            <a:extLst xmlns:a="http://schemas.openxmlformats.org/drawingml/2006/main">
              <a:ext uri="{FF2B5EF4-FFF2-40B4-BE49-F238E27FC236}">
                <a16:creationId xmlns:a16="http://schemas.microsoft.com/office/drawing/2014/main" id="{53D72E1B-CA5A-4B2E-9D3C-6D9CF2595C50}"/>
              </a:ext>
            </a:extLst>
          </p:cNvPr>
          <p:cNvSpPr>
            <a:spLocks xmlns:a="http://schemas.openxmlformats.org/drawingml/2006/main" noGrp="1"/>
          </p:cNvSpPr>
          <p:nvPr/>
        </p:nvSpPr>
        <p:spPr>
          <a:xfrm xmlns:a="http://schemas.openxmlformats.org/drawingml/2006/main">
            <a:off x="6915150" y="4133850"/>
            <a:ext cx="487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错题写 memory_item，归因到知识点与技能</a:t>
            </a:r>
          </a:p>
        </p:txBody>
      </p:sp>
      <p:sp>
        <p:nvSpPr>
          <p:cNvPr id="51" name="">
            <a:extLst xmlns:a="http://schemas.openxmlformats.org/drawingml/2006/main">
              <a:ext uri="{FF2B5EF4-FFF2-40B4-BE49-F238E27FC236}">
                <a16:creationId xmlns:a16="http://schemas.microsoft.com/office/drawing/2014/main" id="{4D0DDBF4-8155-4C42-8C9A-84DC3D5B93B5}"/>
              </a:ext>
            </a:extLst>
          </p:cNvPr>
          <p:cNvSpPr>
            <a:spLocks xmlns:a="http://schemas.openxmlformats.org/drawingml/2006/main" noGrp="1"/>
          </p:cNvSpPr>
          <p:nvPr/>
        </p:nvSpPr>
        <p:spPr>
          <a:xfrm xmlns:a="http://schemas.openxmlformats.org/drawingml/2006/main">
            <a:off x="6610350" y="4438650"/>
            <a:ext cx="2286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50" b="0">
                <a:solidFill>
                  <a:srgbClr val="F5C33B"/>
                </a:solidFill>
                <a:latin typeface="微软雅黑"/>
                <a:ea typeface="微软雅黑"/>
                <a:cs typeface="微软雅黑"/>
              </a:defRPr>
            </a:pPr>
            <a:r>
              <a:rPr sz="750" b="0">
                <a:solidFill>
                  <a:srgbClr val="F5C33B"/>
                </a:solidFill>
                <a:latin typeface="微软雅黑"/>
                <a:ea typeface="微软雅黑"/>
                <a:cs typeface="微软雅黑"/>
              </a:rPr>
              <a:t>▼</a:t>
            </a:r>
          </a:p>
        </p:txBody>
      </p:sp>
      <p:sp>
        <p:nvSpPr>
          <p:cNvPr id="52" name="">
            <a:extLst xmlns:a="http://schemas.openxmlformats.org/drawingml/2006/main">
              <a:ext uri="{FF2B5EF4-FFF2-40B4-BE49-F238E27FC236}">
                <a16:creationId xmlns:a16="http://schemas.microsoft.com/office/drawing/2014/main" id="{AB73908B-91F7-479D-912F-747371E297F1}"/>
              </a:ext>
            </a:extLst>
          </p:cNvPr>
          <p:cNvSpPr>
            <a:spLocks xmlns:a="http://schemas.openxmlformats.org/drawingml/2006/main" noGrp="1"/>
          </p:cNvSpPr>
          <p:nvPr/>
        </p:nvSpPr>
        <p:spPr>
          <a:xfrm xmlns:a="http://schemas.openxmlformats.org/drawingml/2006/main">
            <a:off x="6419850" y="4533900"/>
            <a:ext cx="5486400" cy="609600"/>
          </a:xfrm>
          <a:prstGeom xmlns:a="http://schemas.openxmlformats.org/drawingml/2006/main" prst="roundRect">
            <a:avLst>
              <a:gd name="adj" fmla="val 12500"/>
            </a:avLst>
          </a:prstGeom>
          <a:solidFill xmlns:a="http://schemas.openxmlformats.org/drawingml/2006/main">
            <a:srgbClr val="0F3159"/>
          </a:solidFill>
          <a:ln xmlns:a="http://schemas.openxmlformats.org/drawingml/2006/main" w="9525">
            <a:solidFill>
              <a:srgbClr val="F5C33B"/>
            </a:solidFill>
            <a:prstDash val="solid"/>
          </a:ln>
        </p:spPr>
      </p:sp>
      <p:sp>
        <p:nvSpPr>
          <p:cNvPr id="53" name="">
            <a:extLst xmlns:a="http://schemas.openxmlformats.org/drawingml/2006/main">
              <a:ext uri="{FF2B5EF4-FFF2-40B4-BE49-F238E27FC236}">
                <a16:creationId xmlns:a16="http://schemas.microsoft.com/office/drawing/2014/main" id="{74FC285E-6645-4F89-9DE1-150681F6E25E}"/>
              </a:ext>
            </a:extLst>
          </p:cNvPr>
          <p:cNvSpPr>
            <a:spLocks xmlns:a="http://schemas.openxmlformats.org/drawingml/2006/main" noGrp="1"/>
          </p:cNvSpPr>
          <p:nvPr/>
        </p:nvSpPr>
        <p:spPr>
          <a:xfrm xmlns:a="http://schemas.openxmlformats.org/drawingml/2006/main">
            <a:off x="6572250" y="4724400"/>
            <a:ext cx="228600" cy="228600"/>
          </a:xfrm>
          <a:prstGeom xmlns:a="http://schemas.openxmlformats.org/drawingml/2006/main" prst="ellipse">
            <a:avLst/>
          </a:prstGeom>
          <a:solidFill xmlns:a="http://schemas.openxmlformats.org/drawingml/2006/main">
            <a:srgbClr val="F5C33B"/>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3AFCAFBF-D8C2-4CDF-B8EB-8ACF2906AF57}"/>
              </a:ext>
            </a:extLst>
          </p:cNvPr>
          <p:cNvSpPr>
            <a:spLocks xmlns:a="http://schemas.openxmlformats.org/drawingml/2006/main" noGrp="1"/>
          </p:cNvSpPr>
          <p:nvPr/>
        </p:nvSpPr>
        <p:spPr>
          <a:xfrm xmlns:a="http://schemas.openxmlformats.org/drawingml/2006/main">
            <a:off x="6572250" y="47244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08243F"/>
                </a:solidFill>
                <a:latin typeface="Arial"/>
                <a:ea typeface="Arial"/>
                <a:cs typeface="Arial"/>
              </a:defRPr>
            </a:pPr>
            <a:r>
              <a:rPr sz="900" b="1">
                <a:solidFill>
                  <a:srgbClr val="08243F"/>
                </a:solidFill>
                <a:latin typeface="Arial"/>
                <a:ea typeface="Arial"/>
                <a:cs typeface="Arial"/>
              </a:rPr>
              <a:t>5</a:t>
            </a:r>
          </a:p>
        </p:txBody>
      </p:sp>
      <p:sp>
        <p:nvSpPr>
          <p:cNvPr id="55" name="">
            <a:extLst xmlns:a="http://schemas.openxmlformats.org/drawingml/2006/main">
              <a:ext uri="{FF2B5EF4-FFF2-40B4-BE49-F238E27FC236}">
                <a16:creationId xmlns:a16="http://schemas.microsoft.com/office/drawing/2014/main" id="{8F63BAA1-10CE-43E2-8931-1070021EB257}"/>
              </a:ext>
            </a:extLst>
          </p:cNvPr>
          <p:cNvSpPr>
            <a:spLocks xmlns:a="http://schemas.openxmlformats.org/drawingml/2006/main" noGrp="1"/>
          </p:cNvSpPr>
          <p:nvPr/>
        </p:nvSpPr>
        <p:spPr>
          <a:xfrm xmlns:a="http://schemas.openxmlformats.org/drawingml/2006/main">
            <a:off x="6915150" y="46291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5C33B"/>
                </a:solidFill>
                <a:latin typeface="微软雅黑"/>
                <a:ea typeface="微软雅黑"/>
                <a:cs typeface="微软雅黑"/>
              </a:defRPr>
            </a:pPr>
            <a:r>
              <a:rPr sz="1013" b="1">
                <a:solidFill>
                  <a:srgbClr val="F5C33B"/>
                </a:solidFill>
                <a:latin typeface="微软雅黑"/>
                <a:ea typeface="微软雅黑"/>
                <a:cs typeface="微软雅黑"/>
              </a:rPr>
              <a:t>重新分配题量</a:t>
            </a:r>
          </a:p>
        </p:txBody>
      </p:sp>
      <p:sp>
        <p:nvSpPr>
          <p:cNvPr id="56" name="">
            <a:extLst xmlns:a="http://schemas.openxmlformats.org/drawingml/2006/main">
              <a:ext uri="{FF2B5EF4-FFF2-40B4-BE49-F238E27FC236}">
                <a16:creationId xmlns:a16="http://schemas.microsoft.com/office/drawing/2014/main" id="{C56A54A3-60F1-4967-87B1-8B1AA7C9F2C3}"/>
              </a:ext>
            </a:extLst>
          </p:cNvPr>
          <p:cNvSpPr>
            <a:spLocks xmlns:a="http://schemas.openxmlformats.org/drawingml/2006/main" noGrp="1"/>
          </p:cNvSpPr>
          <p:nvPr/>
        </p:nvSpPr>
        <p:spPr>
          <a:xfrm xmlns:a="http://schemas.openxmlformats.org/drawingml/2006/main">
            <a:off x="6915150" y="4857750"/>
            <a:ext cx="487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下一轮组卷按新的正确率重新计算 effort</a:t>
            </a:r>
          </a:p>
        </p:txBody>
      </p:sp>
      <p:sp>
        <p:nvSpPr>
          <p:cNvPr id="57" name="">
            <a:extLst xmlns:a="http://schemas.openxmlformats.org/drawingml/2006/main">
              <a:ext uri="{FF2B5EF4-FFF2-40B4-BE49-F238E27FC236}">
                <a16:creationId xmlns:a16="http://schemas.microsoft.com/office/drawing/2014/main" id="{997C4A6F-1942-4D38-BD96-B0C9D26989DE}"/>
              </a:ext>
            </a:extLst>
          </p:cNvPr>
          <p:cNvSpPr>
            <a:spLocks xmlns:a="http://schemas.openxmlformats.org/drawingml/2006/main" noGrp="1"/>
          </p:cNvSpPr>
          <p:nvPr/>
        </p:nvSpPr>
        <p:spPr>
          <a:xfrm xmlns:a="http://schemas.openxmlformats.org/drawingml/2006/main">
            <a:off x="6419850" y="5257800"/>
            <a:ext cx="5486400" cy="990600"/>
          </a:xfrm>
          <a:prstGeom xmlns:a="http://schemas.openxmlformats.org/drawingml/2006/main" prst="roundRect">
            <a:avLst>
              <a:gd name="adj" fmla="val 7692"/>
            </a:avLst>
          </a:prstGeom>
          <a:solidFill xmlns:a="http://schemas.openxmlformats.org/drawingml/2006/main">
            <a:srgbClr val="0A2547"/>
          </a:solidFill>
          <a:ln xmlns:a="http://schemas.openxmlformats.org/drawingml/2006/main" w="9525">
            <a:solidFill>
              <a:srgbClr val="2A6BAE"/>
            </a:solidFill>
            <a:prstDash val="solid"/>
          </a:ln>
        </p:spPr>
      </p:sp>
      <p:sp>
        <p:nvSpPr>
          <p:cNvPr id="58" name="">
            <a:extLst xmlns:a="http://schemas.openxmlformats.org/drawingml/2006/main">
              <a:ext uri="{FF2B5EF4-FFF2-40B4-BE49-F238E27FC236}">
                <a16:creationId xmlns:a16="http://schemas.microsoft.com/office/drawing/2014/main" id="{B1035449-E753-410B-AED8-DDE1140B5F6A}"/>
              </a:ext>
            </a:extLst>
          </p:cNvPr>
          <p:cNvSpPr>
            <a:spLocks xmlns:a="http://schemas.openxmlformats.org/drawingml/2006/main" noGrp="1"/>
          </p:cNvSpPr>
          <p:nvPr/>
        </p:nvSpPr>
        <p:spPr>
          <a:xfrm xmlns:a="http://schemas.openxmlformats.org/drawingml/2006/main">
            <a:off x="6591300" y="537210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3FD08A"/>
                </a:solidFill>
                <a:latin typeface="微软雅黑"/>
                <a:ea typeface="微软雅黑"/>
                <a:cs typeface="微软雅黑"/>
              </a:defRPr>
            </a:pPr>
            <a:r>
              <a:rPr sz="1013" b="1">
                <a:solidFill>
                  <a:srgbClr val="3FD08A"/>
                </a:solidFill>
                <a:latin typeface="微软雅黑"/>
                <a:ea typeface="微软雅黑"/>
                <a:cs typeface="微软雅黑"/>
              </a:rPr>
              <a:t>与「固定套卷」的差异</a:t>
            </a:r>
          </a:p>
        </p:txBody>
      </p:sp>
      <p:sp>
        <p:nvSpPr>
          <p:cNvPr id="59" name="">
            <a:extLst xmlns:a="http://schemas.openxmlformats.org/drawingml/2006/main">
              <a:ext uri="{FF2B5EF4-FFF2-40B4-BE49-F238E27FC236}">
                <a16:creationId xmlns:a16="http://schemas.microsoft.com/office/drawing/2014/main" id="{5E8E5DE9-188D-43B9-95C8-743BE2148D8D}"/>
              </a:ext>
            </a:extLst>
          </p:cNvPr>
          <p:cNvSpPr>
            <a:spLocks xmlns:a="http://schemas.openxmlformats.org/drawingml/2006/main" noGrp="1"/>
          </p:cNvSpPr>
          <p:nvPr/>
        </p:nvSpPr>
        <p:spPr>
          <a:xfrm xmlns:a="http://schemas.openxmlformats.org/drawingml/2006/main">
            <a:off x="6591300" y="5638800"/>
            <a:ext cx="5162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900">
                <a:solidFill>
                  <a:srgbClr val="D6E6F7"/>
                </a:solidFill>
                <a:latin typeface="微软雅黑"/>
                <a:ea typeface="微软雅黑"/>
                <a:cs typeface="微软雅黑"/>
              </a:defRPr>
            </a:pPr>
            <a:r>
              <a:rPr sz="900" b="1">
                <a:solidFill>
                  <a:srgbClr val="D6E6F7"/>
                </a:solidFill>
                <a:latin typeface="微软雅黑"/>
                <a:ea typeface="微软雅黑"/>
                <a:cs typeface="微软雅黑"/>
              </a:rPr>
              <a:t>固定套卷：</a:t>
            </a:r>
            <a:r>
              <a:rPr sz="900">
                <a:solidFill>
                  <a:srgbClr val="D6E6F7"/>
                </a:solidFill>
                <a:latin typeface="微软雅黑"/>
                <a:ea typeface="微软雅黑"/>
                <a:cs typeface="微软雅黑"/>
              </a:rPr>
              <a:t>所有人做同一套题，会的人重复做、不会的人永远练不到。</a:t>
            </a:r>
          </a:p>
          <a:p xmlns:a="http://schemas.openxmlformats.org/drawingml/2006/main">
            <a:pPr algn="l">
              <a:lnSpc>
                <a:spcPct val="145000"/>
              </a:lnSpc>
              <a:buNone/>
              <a:defRPr sz="900">
                <a:solidFill>
                  <a:srgbClr val="D6E6F7"/>
                </a:solidFill>
                <a:latin typeface="微软雅黑"/>
                <a:ea typeface="微软雅黑"/>
                <a:cs typeface="微软雅黑"/>
              </a:defRPr>
            </a:pPr>
            <a:r>
              <a:rPr sz="900" b="1">
                <a:solidFill>
                  <a:srgbClr val="D6E6F7"/>
                </a:solidFill>
                <a:latin typeface="微软雅黑"/>
                <a:ea typeface="微软雅黑"/>
                <a:cs typeface="微软雅黑"/>
              </a:rPr>
              <a:t>本算法：</a:t>
            </a:r>
            <a:r>
              <a:rPr sz="900">
                <a:solidFill>
                  <a:srgbClr val="D6E6F7"/>
                </a:solidFill>
                <a:latin typeface="微软雅黑"/>
                <a:ea typeface="微软雅黑"/>
                <a:cs typeface="微软雅黑"/>
              </a:rPr>
              <a:t>题量随缺口与正确率动态变化，一次交卷即改变下一轮权重。</a:t>
            </a:r>
          </a:p>
        </p:txBody>
      </p:sp>
      <p:sp>
        <p:nvSpPr>
          <p:cNvPr id="60" name="">
            <a:extLst xmlns:a="http://schemas.openxmlformats.org/drawingml/2006/main">
              <a:ext uri="{FF2B5EF4-FFF2-40B4-BE49-F238E27FC236}">
                <a16:creationId xmlns:a16="http://schemas.microsoft.com/office/drawing/2014/main" id="{F6CD0878-97DC-48C1-89A0-22D2C07AD122}"/>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690E3BF4-EDAF-4BE7-A42D-BC1820635AF4}"/>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62" name="">
            <a:extLst xmlns:a="http://schemas.openxmlformats.org/drawingml/2006/main">
              <a:ext uri="{FF2B5EF4-FFF2-40B4-BE49-F238E27FC236}">
                <a16:creationId xmlns:a16="http://schemas.microsoft.com/office/drawing/2014/main" id="{917DB31F-0BB9-4299-9EEA-5C1382CEBA8D}"/>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16</a:t>
            </a:r>
          </a:p>
        </p:txBody>
      </p:sp>
    </p:spTree>
    <p:extLst>
      <p:ext uri="{BB962C8B-B14F-4D97-AF65-F5344CB8AC3E}">
        <p14:creationId xmlns:p14="http://schemas.microsoft.com/office/powerpoint/2010/main" val="2071027303"/>
      </p:ext>
    </p:extLst>
  </p:cSld>
</p:sld>
</file>

<file path=ppt/slides/slide17.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A30312FC-18E6-4BB3-8CF5-61AE7E6FD865}"/>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C29C798-A30F-42AF-A0B8-27C0619BC991}"/>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33C6B25-BBD1-43DD-BBFC-81CC291B38CC}"/>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778AA6A-1F71-469E-840E-CED2D52E90DC}"/>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5405102-9CBE-4622-B42F-BA238674A1A1}"/>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3A699369-67D9-46CD-A1D8-ADCE98F25E5E}"/>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核心算法</a:t>
            </a:r>
          </a:p>
        </p:txBody>
      </p:sp>
      <p:sp>
        <p:nvSpPr>
          <p:cNvPr id="7" name="">
            <a:extLst xmlns:a="http://schemas.openxmlformats.org/drawingml/2006/main">
              <a:ext uri="{FF2B5EF4-FFF2-40B4-BE49-F238E27FC236}">
                <a16:creationId xmlns:a16="http://schemas.microsoft.com/office/drawing/2014/main" id="{EBE02E02-477B-4194-9A53-82ADD1478FD1}"/>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5825797-D0EE-42A8-9AAC-31EC79310AC1}"/>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算法四 · 课程内容匹配与缺口优先排序</a:t>
            </a:r>
          </a:p>
        </p:txBody>
      </p:sp>
      <p:sp>
        <p:nvSpPr>
          <p:cNvPr id="9" name="">
            <a:extLst xmlns:a="http://schemas.openxmlformats.org/drawingml/2006/main">
              <a:ext uri="{FF2B5EF4-FFF2-40B4-BE49-F238E27FC236}">
                <a16:creationId xmlns:a16="http://schemas.microsoft.com/office/drawing/2014/main" id="{70E35E9D-D6C7-41C7-B583-4AFE2C321764}"/>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93DE536B-2C26-44CB-81AB-94E2606E31E9}"/>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「搜到课程」不等于「该学这门课」——先算内容命中分，再用岗位缺口做二次排序。</a:t>
            </a:r>
          </a:p>
        </p:txBody>
      </p:sp>
      <p:sp>
        <p:nvSpPr>
          <p:cNvPr id="11" name="">
            <a:extLst xmlns:a="http://schemas.openxmlformats.org/drawingml/2006/main">
              <a:ext uri="{FF2B5EF4-FFF2-40B4-BE49-F238E27FC236}">
                <a16:creationId xmlns:a16="http://schemas.microsoft.com/office/drawing/2014/main" id="{C6F97060-5759-427C-80D4-180D712F3ABB}"/>
              </a:ext>
            </a:extLst>
          </p:cNvPr>
          <p:cNvSpPr>
            <a:spLocks xmlns:a="http://schemas.openxmlformats.org/drawingml/2006/main" noGrp="1"/>
          </p:cNvSpPr>
          <p:nvPr/>
        </p:nvSpPr>
        <p:spPr>
          <a:xfrm xmlns:a="http://schemas.openxmlformats.org/drawingml/2006/main">
            <a:off x="285750" y="1333500"/>
            <a:ext cx="5905500" cy="952500"/>
          </a:xfrm>
          <a:prstGeom xmlns:a="http://schemas.openxmlformats.org/drawingml/2006/main" prst="roundRect">
            <a:avLst>
              <a:gd name="adj" fmla="val 8000"/>
            </a:avLst>
          </a:prstGeom>
          <a:solidFill xmlns:a="http://schemas.openxmlformats.org/drawingml/2006/main">
            <a:srgbClr val="0A2547"/>
          </a:solidFill>
          <a:ln xmlns:a="http://schemas.openxmlformats.org/drawingml/2006/main" w="13335">
            <a:solidFill>
              <a:srgbClr val="F5C33B"/>
            </a:solidFill>
            <a:prstDash val="solid"/>
          </a:ln>
        </p:spPr>
      </p:sp>
      <p:sp>
        <p:nvSpPr>
          <p:cNvPr id="12" name="">
            <a:extLst xmlns:a="http://schemas.openxmlformats.org/drawingml/2006/main">
              <a:ext uri="{FF2B5EF4-FFF2-40B4-BE49-F238E27FC236}">
                <a16:creationId xmlns:a16="http://schemas.microsoft.com/office/drawing/2014/main" id="{617204E0-9186-4B1E-B28A-B6C2FCF86614}"/>
              </a:ext>
            </a:extLst>
          </p:cNvPr>
          <p:cNvSpPr>
            <a:spLocks xmlns:a="http://schemas.openxmlformats.org/drawingml/2006/main" noGrp="1"/>
          </p:cNvSpPr>
          <p:nvPr/>
        </p:nvSpPr>
        <p:spPr>
          <a:xfrm xmlns:a="http://schemas.openxmlformats.org/drawingml/2006/main">
            <a:off x="457200" y="1447800"/>
            <a:ext cx="552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问题定义</a:t>
            </a:r>
          </a:p>
        </p:txBody>
      </p:sp>
      <p:sp>
        <p:nvSpPr>
          <p:cNvPr id="13" name="">
            <a:extLst xmlns:a="http://schemas.openxmlformats.org/drawingml/2006/main">
              <a:ext uri="{FF2B5EF4-FFF2-40B4-BE49-F238E27FC236}">
                <a16:creationId xmlns:a16="http://schemas.microsoft.com/office/drawing/2014/main" id="{E025D01A-9A06-4830-AE73-FC9551D04BD4}"/>
              </a:ext>
            </a:extLst>
          </p:cNvPr>
          <p:cNvSpPr>
            <a:spLocks xmlns:a="http://schemas.openxmlformats.org/drawingml/2006/main" noGrp="1"/>
          </p:cNvSpPr>
          <p:nvPr/>
        </p:nvSpPr>
        <p:spPr>
          <a:xfrm xmlns:a="http://schemas.openxmlformats.org/drawingml/2006/main">
            <a:off x="457200" y="1714500"/>
            <a:ext cx="5581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外网课程数量多，关键词出现不代表课程对当前员工有价值。系统同时判断「内容与检索词匹配得多准」和「课程技能是否对应该员工的岗位缺口」。</a:t>
            </a:r>
          </a:p>
        </p:txBody>
      </p:sp>
      <p:sp>
        <p:nvSpPr>
          <p:cNvPr id="14" name="">
            <a:extLst xmlns:a="http://schemas.openxmlformats.org/drawingml/2006/main">
              <a:ext uri="{FF2B5EF4-FFF2-40B4-BE49-F238E27FC236}">
                <a16:creationId xmlns:a16="http://schemas.microsoft.com/office/drawing/2014/main" id="{7BCBB42F-0803-40D8-8092-837BEC0F9B4F}"/>
              </a:ext>
            </a:extLst>
          </p:cNvPr>
          <p:cNvSpPr>
            <a:spLocks xmlns:a="http://schemas.openxmlformats.org/drawingml/2006/main" noGrp="1"/>
          </p:cNvSpPr>
          <p:nvPr/>
        </p:nvSpPr>
        <p:spPr>
          <a:xfrm xmlns:a="http://schemas.openxmlformats.org/drawingml/2006/main">
            <a:off x="285750" y="2419350"/>
            <a:ext cx="5905500" cy="2019300"/>
          </a:xfrm>
          <a:prstGeom xmlns:a="http://schemas.openxmlformats.org/drawingml/2006/main" prst="roundRect">
            <a:avLst>
              <a:gd name="adj" fmla="val 3774"/>
            </a:avLst>
          </a:prstGeom>
          <a:solidFill xmlns:a="http://schemas.openxmlformats.org/drawingml/2006/main">
            <a:srgbClr val="0D2748"/>
          </a:solidFill>
          <a:ln xmlns:a="http://schemas.openxmlformats.org/drawingml/2006/main" w="9525">
            <a:solidFill>
              <a:srgbClr val="1B4C8A"/>
            </a:solidFill>
            <a:prstDash val="solid"/>
          </a:ln>
        </p:spPr>
      </p:sp>
      <p:sp>
        <p:nvSpPr>
          <p:cNvPr id="15" name="">
            <a:extLst xmlns:a="http://schemas.openxmlformats.org/drawingml/2006/main">
              <a:ext uri="{FF2B5EF4-FFF2-40B4-BE49-F238E27FC236}">
                <a16:creationId xmlns:a16="http://schemas.microsoft.com/office/drawing/2014/main" id="{9CCD1952-AC43-4059-93F1-133E4DB8F887}"/>
              </a:ext>
            </a:extLst>
          </p:cNvPr>
          <p:cNvSpPr>
            <a:spLocks xmlns:a="http://schemas.openxmlformats.org/drawingml/2006/main" noGrp="1"/>
          </p:cNvSpPr>
          <p:nvPr/>
        </p:nvSpPr>
        <p:spPr>
          <a:xfrm xmlns:a="http://schemas.openxmlformats.org/drawingml/2006/main">
            <a:off x="457200" y="2533650"/>
            <a:ext cx="552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打分公式（命中即加分，可叠加）</a:t>
            </a:r>
          </a:p>
        </p:txBody>
      </p:sp>
      <p:sp>
        <p:nvSpPr>
          <p:cNvPr id="16" name="">
            <a:extLst xmlns:a="http://schemas.openxmlformats.org/drawingml/2006/main">
              <a:ext uri="{FF2B5EF4-FFF2-40B4-BE49-F238E27FC236}">
                <a16:creationId xmlns:a16="http://schemas.microsoft.com/office/drawing/2014/main" id="{54A44CBD-6B06-496B-B5F9-95A4A5824F62}"/>
              </a:ext>
            </a:extLst>
          </p:cNvPr>
          <p:cNvSpPr>
            <a:spLocks xmlns:a="http://schemas.openxmlformats.org/drawingml/2006/main" noGrp="1"/>
          </p:cNvSpPr>
          <p:nvPr/>
        </p:nvSpPr>
        <p:spPr>
          <a:xfrm xmlns:a="http://schemas.openxmlformats.org/drawingml/2006/main">
            <a:off x="457200" y="28194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标题命中</a:t>
            </a:r>
          </a:p>
        </p:txBody>
      </p:sp>
      <p:sp>
        <p:nvSpPr>
          <p:cNvPr id="17" name="">
            <a:extLst xmlns:a="http://schemas.openxmlformats.org/drawingml/2006/main">
              <a:ext uri="{FF2B5EF4-FFF2-40B4-BE49-F238E27FC236}">
                <a16:creationId xmlns:a16="http://schemas.microsoft.com/office/drawing/2014/main" id="{DB3FFAB5-731B-4D7E-B793-293FE50413BD}"/>
              </a:ext>
            </a:extLst>
          </p:cNvPr>
          <p:cNvSpPr>
            <a:spLocks xmlns:a="http://schemas.openxmlformats.org/drawingml/2006/main" noGrp="1"/>
          </p:cNvSpPr>
          <p:nvPr/>
        </p:nvSpPr>
        <p:spPr>
          <a:xfrm xmlns:a="http://schemas.openxmlformats.org/drawingml/2006/main">
            <a:off x="1733550" y="2819400"/>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+6 / 每个检索词</a:t>
            </a:r>
          </a:p>
        </p:txBody>
      </p:sp>
      <p:sp>
        <p:nvSpPr>
          <p:cNvPr id="18" name="">
            <a:extLst xmlns:a="http://schemas.openxmlformats.org/drawingml/2006/main">
              <a:ext uri="{FF2B5EF4-FFF2-40B4-BE49-F238E27FC236}">
                <a16:creationId xmlns:a16="http://schemas.microsoft.com/office/drawing/2014/main" id="{CA100DA7-2033-4D80-A239-3BC8E43E59B5}"/>
              </a:ext>
            </a:extLst>
          </p:cNvPr>
          <p:cNvSpPr>
            <a:spLocks xmlns:a="http://schemas.openxmlformats.org/drawingml/2006/main" noGrp="1"/>
          </p:cNvSpPr>
          <p:nvPr/>
        </p:nvSpPr>
        <p:spPr>
          <a:xfrm xmlns:a="http://schemas.openxmlformats.org/drawingml/2006/main">
            <a:off x="3143250" y="2819400"/>
            <a:ext cx="2914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最高权重，标题最能代表课程主题</a:t>
            </a:r>
          </a:p>
        </p:txBody>
      </p:sp>
      <p:sp>
        <p:nvSpPr>
          <p:cNvPr id="19" name="">
            <a:extLst xmlns:a="http://schemas.openxmlformats.org/drawingml/2006/main">
              <a:ext uri="{FF2B5EF4-FFF2-40B4-BE49-F238E27FC236}">
                <a16:creationId xmlns:a16="http://schemas.microsoft.com/office/drawing/2014/main" id="{118728C0-0FDA-422D-A9CC-BE7C398A2BBA}"/>
              </a:ext>
            </a:extLst>
          </p:cNvPr>
          <p:cNvSpPr>
            <a:spLocks xmlns:a="http://schemas.openxmlformats.org/drawingml/2006/main" noGrp="1"/>
          </p:cNvSpPr>
          <p:nvPr/>
        </p:nvSpPr>
        <p:spPr>
          <a:xfrm xmlns:a="http://schemas.openxmlformats.org/drawingml/2006/main">
            <a:off x="457200" y="3133725"/>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平台检索词命中</a:t>
            </a:r>
          </a:p>
        </p:txBody>
      </p:sp>
      <p:sp>
        <p:nvSpPr>
          <p:cNvPr id="20" name="">
            <a:extLst xmlns:a="http://schemas.openxmlformats.org/drawingml/2006/main">
              <a:ext uri="{FF2B5EF4-FFF2-40B4-BE49-F238E27FC236}">
                <a16:creationId xmlns:a16="http://schemas.microsoft.com/office/drawing/2014/main" id="{5EF82AE1-59D4-4200-B7B1-F43DED2D499A}"/>
              </a:ext>
            </a:extLst>
          </p:cNvPr>
          <p:cNvSpPr>
            <a:spLocks xmlns:a="http://schemas.openxmlformats.org/drawingml/2006/main" noGrp="1"/>
          </p:cNvSpPr>
          <p:nvPr/>
        </p:nvSpPr>
        <p:spPr>
          <a:xfrm xmlns:a="http://schemas.openxmlformats.org/drawingml/2006/main">
            <a:off x="1733550" y="3133725"/>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+4 / 每个检索词</a:t>
            </a:r>
          </a:p>
        </p:txBody>
      </p:sp>
      <p:sp>
        <p:nvSpPr>
          <p:cNvPr id="21" name="">
            <a:extLst xmlns:a="http://schemas.openxmlformats.org/drawingml/2006/main">
              <a:ext uri="{FF2B5EF4-FFF2-40B4-BE49-F238E27FC236}">
                <a16:creationId xmlns:a16="http://schemas.microsoft.com/office/drawing/2014/main" id="{0C23BB15-7DA2-47B3-8966-EE7CF1F55757}"/>
              </a:ext>
            </a:extLst>
          </p:cNvPr>
          <p:cNvSpPr>
            <a:spLocks xmlns:a="http://schemas.openxmlformats.org/drawingml/2006/main" noGrp="1"/>
          </p:cNvSpPr>
          <p:nvPr/>
        </p:nvSpPr>
        <p:spPr>
          <a:xfrm xmlns:a="http://schemas.openxmlformats.org/drawingml/2006/main">
            <a:off x="3143250" y="3133725"/>
            <a:ext cx="2914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课程在各平台的实际检索入口</a:t>
            </a:r>
          </a:p>
        </p:txBody>
      </p:sp>
      <p:sp>
        <p:nvSpPr>
          <p:cNvPr id="22" name="">
            <a:extLst xmlns:a="http://schemas.openxmlformats.org/drawingml/2006/main">
              <a:ext uri="{FF2B5EF4-FFF2-40B4-BE49-F238E27FC236}">
                <a16:creationId xmlns:a16="http://schemas.microsoft.com/office/drawing/2014/main" id="{82F18BD5-C927-495F-A313-27DB936B9C04}"/>
              </a:ext>
            </a:extLst>
          </p:cNvPr>
          <p:cNvSpPr>
            <a:spLocks xmlns:a="http://schemas.openxmlformats.org/drawingml/2006/main" noGrp="1"/>
          </p:cNvSpPr>
          <p:nvPr/>
        </p:nvSpPr>
        <p:spPr>
          <a:xfrm xmlns:a="http://schemas.openxmlformats.org/drawingml/2006/main">
            <a:off x="457200" y="344805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标签命中</a:t>
            </a:r>
          </a:p>
        </p:txBody>
      </p:sp>
      <p:sp>
        <p:nvSpPr>
          <p:cNvPr id="23" name="">
            <a:extLst xmlns:a="http://schemas.openxmlformats.org/drawingml/2006/main">
              <a:ext uri="{FF2B5EF4-FFF2-40B4-BE49-F238E27FC236}">
                <a16:creationId xmlns:a16="http://schemas.microsoft.com/office/drawing/2014/main" id="{4BEAE56D-9AF1-41B2-B5AC-AB8CE98122CF}"/>
              </a:ext>
            </a:extLst>
          </p:cNvPr>
          <p:cNvSpPr>
            <a:spLocks xmlns:a="http://schemas.openxmlformats.org/drawingml/2006/main" noGrp="1"/>
          </p:cNvSpPr>
          <p:nvPr/>
        </p:nvSpPr>
        <p:spPr>
          <a:xfrm xmlns:a="http://schemas.openxmlformats.org/drawingml/2006/main">
            <a:off x="1733550" y="3448050"/>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+3 / 每个检索词</a:t>
            </a:r>
          </a:p>
        </p:txBody>
      </p:sp>
      <p:sp>
        <p:nvSpPr>
          <p:cNvPr id="24" name="">
            <a:extLst xmlns:a="http://schemas.openxmlformats.org/drawingml/2006/main">
              <a:ext uri="{FF2B5EF4-FFF2-40B4-BE49-F238E27FC236}">
                <a16:creationId xmlns:a16="http://schemas.microsoft.com/office/drawing/2014/main" id="{CA51D9F1-E0AC-4657-989E-758B8F0B0721}"/>
              </a:ext>
            </a:extLst>
          </p:cNvPr>
          <p:cNvSpPr>
            <a:spLocks xmlns:a="http://schemas.openxmlformats.org/drawingml/2006/main" noGrp="1"/>
          </p:cNvSpPr>
          <p:nvPr/>
        </p:nvSpPr>
        <p:spPr>
          <a:xfrm xmlns:a="http://schemas.openxmlformats.org/drawingml/2006/main">
            <a:off x="3143250" y="3448050"/>
            <a:ext cx="2914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技能命中再加 +3</a:t>
            </a:r>
          </a:p>
        </p:txBody>
      </p:sp>
      <p:sp>
        <p:nvSpPr>
          <p:cNvPr id="25" name="">
            <a:extLst xmlns:a="http://schemas.openxmlformats.org/drawingml/2006/main">
              <a:ext uri="{FF2B5EF4-FFF2-40B4-BE49-F238E27FC236}">
                <a16:creationId xmlns:a16="http://schemas.microsoft.com/office/drawing/2014/main" id="{214FC3B2-E3DF-43FA-B03C-25822A8A06DB}"/>
              </a:ext>
            </a:extLst>
          </p:cNvPr>
          <p:cNvSpPr>
            <a:spLocks xmlns:a="http://schemas.openxmlformats.org/drawingml/2006/main" noGrp="1"/>
          </p:cNvSpPr>
          <p:nvPr/>
        </p:nvSpPr>
        <p:spPr>
          <a:xfrm xmlns:a="http://schemas.openxmlformats.org/drawingml/2006/main">
            <a:off x="457200" y="3762375"/>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机构命中</a:t>
            </a:r>
          </a:p>
        </p:txBody>
      </p:sp>
      <p:sp>
        <p:nvSpPr>
          <p:cNvPr id="26" name="">
            <a:extLst xmlns:a="http://schemas.openxmlformats.org/drawingml/2006/main">
              <a:ext uri="{FF2B5EF4-FFF2-40B4-BE49-F238E27FC236}">
                <a16:creationId xmlns:a16="http://schemas.microsoft.com/office/drawing/2014/main" id="{E63472B4-E8FB-4617-BB39-8ED7327AD75D}"/>
              </a:ext>
            </a:extLst>
          </p:cNvPr>
          <p:cNvSpPr>
            <a:spLocks xmlns:a="http://schemas.openxmlformats.org/drawingml/2006/main" noGrp="1"/>
          </p:cNvSpPr>
          <p:nvPr/>
        </p:nvSpPr>
        <p:spPr>
          <a:xfrm xmlns:a="http://schemas.openxmlformats.org/drawingml/2006/main">
            <a:off x="1733550" y="3762375"/>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+2</a:t>
            </a:r>
          </a:p>
        </p:txBody>
      </p:sp>
      <p:sp>
        <p:nvSpPr>
          <p:cNvPr id="27" name="">
            <a:extLst xmlns:a="http://schemas.openxmlformats.org/drawingml/2006/main">
              <a:ext uri="{FF2B5EF4-FFF2-40B4-BE49-F238E27FC236}">
                <a16:creationId xmlns:a16="http://schemas.microsoft.com/office/drawing/2014/main" id="{33BB0D4F-AD63-45E2-B492-1DDBC175A6D4}"/>
              </a:ext>
            </a:extLst>
          </p:cNvPr>
          <p:cNvSpPr>
            <a:spLocks xmlns:a="http://schemas.openxmlformats.org/drawingml/2006/main" noGrp="1"/>
          </p:cNvSpPr>
          <p:nvPr/>
        </p:nvSpPr>
        <p:spPr>
          <a:xfrm xmlns:a="http://schemas.openxmlformats.org/drawingml/2006/main">
            <a:off x="3143250" y="3762375"/>
            <a:ext cx="2914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机构权威度作为弱信号</a:t>
            </a:r>
          </a:p>
        </p:txBody>
      </p:sp>
      <p:sp>
        <p:nvSpPr>
          <p:cNvPr id="28" name="">
            <a:extLst xmlns:a="http://schemas.openxmlformats.org/drawingml/2006/main">
              <a:ext uri="{FF2B5EF4-FFF2-40B4-BE49-F238E27FC236}">
                <a16:creationId xmlns:a16="http://schemas.microsoft.com/office/drawing/2014/main" id="{74523CD9-EF83-4ECB-AD95-28ACD81D30A5}"/>
              </a:ext>
            </a:extLst>
          </p:cNvPr>
          <p:cNvSpPr>
            <a:spLocks xmlns:a="http://schemas.openxmlformats.org/drawingml/2006/main" noGrp="1"/>
          </p:cNvSpPr>
          <p:nvPr/>
        </p:nvSpPr>
        <p:spPr>
          <a:xfrm xmlns:a="http://schemas.openxmlformats.org/drawingml/2006/main">
            <a:off x="457200" y="40767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匹配理由命中</a:t>
            </a:r>
          </a:p>
        </p:txBody>
      </p:sp>
      <p:sp>
        <p:nvSpPr>
          <p:cNvPr id="29" name="">
            <a:extLst xmlns:a="http://schemas.openxmlformats.org/drawingml/2006/main">
              <a:ext uri="{FF2B5EF4-FFF2-40B4-BE49-F238E27FC236}">
                <a16:creationId xmlns:a16="http://schemas.microsoft.com/office/drawing/2014/main" id="{5702B7AB-031A-4664-B6A6-90183AF3DBFC}"/>
              </a:ext>
            </a:extLst>
          </p:cNvPr>
          <p:cNvSpPr>
            <a:spLocks xmlns:a="http://schemas.openxmlformats.org/drawingml/2006/main" noGrp="1"/>
          </p:cNvSpPr>
          <p:nvPr/>
        </p:nvSpPr>
        <p:spPr>
          <a:xfrm xmlns:a="http://schemas.openxmlformats.org/drawingml/2006/main">
            <a:off x="1733550" y="4076700"/>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+1</a:t>
            </a:r>
          </a:p>
        </p:txBody>
      </p:sp>
      <p:sp>
        <p:nvSpPr>
          <p:cNvPr id="30" name="">
            <a:extLst xmlns:a="http://schemas.openxmlformats.org/drawingml/2006/main">
              <a:ext uri="{FF2B5EF4-FFF2-40B4-BE49-F238E27FC236}">
                <a16:creationId xmlns:a16="http://schemas.microsoft.com/office/drawing/2014/main" id="{FAB6D26E-BDA2-4332-8155-BFC02FFE9EF9}"/>
              </a:ext>
            </a:extLst>
          </p:cNvPr>
          <p:cNvSpPr>
            <a:spLocks xmlns:a="http://schemas.openxmlformats.org/drawingml/2006/main" noGrp="1"/>
          </p:cNvSpPr>
          <p:nvPr/>
        </p:nvSpPr>
        <p:spPr>
          <a:xfrm xmlns:a="http://schemas.openxmlformats.org/drawingml/2006/main">
            <a:off x="3143250" y="4076700"/>
            <a:ext cx="2914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课程自带的匹配理由文本</a:t>
            </a:r>
          </a:p>
        </p:txBody>
      </p:sp>
      <p:sp>
        <p:nvSpPr>
          <p:cNvPr id="31" name="">
            <a:extLst xmlns:a="http://schemas.openxmlformats.org/drawingml/2006/main">
              <a:ext uri="{FF2B5EF4-FFF2-40B4-BE49-F238E27FC236}">
                <a16:creationId xmlns:a16="http://schemas.microsoft.com/office/drawing/2014/main" id="{6C38AEFB-339A-4423-82A3-9FB7C8D0B4B3}"/>
              </a:ext>
            </a:extLst>
          </p:cNvPr>
          <p:cNvSpPr>
            <a:spLocks xmlns:a="http://schemas.openxmlformats.org/drawingml/2006/main" noGrp="1"/>
          </p:cNvSpPr>
          <p:nvPr/>
        </p:nvSpPr>
        <p:spPr>
          <a:xfrm xmlns:a="http://schemas.openxmlformats.org/drawingml/2006/main">
            <a:off x="285750" y="4572000"/>
            <a:ext cx="5905500" cy="1771650"/>
          </a:xfrm>
          <a:prstGeom xmlns:a="http://schemas.openxmlformats.org/drawingml/2006/main" prst="roundRect">
            <a:avLst>
              <a:gd name="adj" fmla="val 4301"/>
            </a:avLst>
          </a:prstGeom>
          <a:solidFill xmlns:a="http://schemas.openxmlformats.org/drawingml/2006/main">
            <a:srgbClr val="0F3159"/>
          </a:solidFill>
          <a:ln xmlns:a="http://schemas.openxmlformats.org/drawingml/2006/main" w="9525">
            <a:solidFill>
              <a:srgbClr val="1B4C8A"/>
            </a:solidFill>
            <a:prstDash val="solid"/>
          </a:ln>
        </p:spPr>
      </p:sp>
      <p:sp>
        <p:nvSpPr>
          <p:cNvPr id="32" name="">
            <a:extLst xmlns:a="http://schemas.openxmlformats.org/drawingml/2006/main">
              <a:ext uri="{FF2B5EF4-FFF2-40B4-BE49-F238E27FC236}">
                <a16:creationId xmlns:a16="http://schemas.microsoft.com/office/drawing/2014/main" id="{77947B95-EC9C-438C-8B6E-6EC20B1FC2B9}"/>
              </a:ext>
            </a:extLst>
          </p:cNvPr>
          <p:cNvSpPr>
            <a:spLocks xmlns:a="http://schemas.openxmlformats.org/drawingml/2006/main" noGrp="1"/>
          </p:cNvSpPr>
          <p:nvPr/>
        </p:nvSpPr>
        <p:spPr>
          <a:xfrm xmlns:a="http://schemas.openxmlformats.org/drawingml/2006/main">
            <a:off x="457200" y="4686300"/>
            <a:ext cx="552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输入与输出</a:t>
            </a:r>
          </a:p>
        </p:txBody>
      </p:sp>
      <p:sp>
        <p:nvSpPr>
          <p:cNvPr id="33" name="">
            <a:extLst xmlns:a="http://schemas.openxmlformats.org/drawingml/2006/main">
              <a:ext uri="{FF2B5EF4-FFF2-40B4-BE49-F238E27FC236}">
                <a16:creationId xmlns:a16="http://schemas.microsoft.com/office/drawing/2014/main" id="{88C1DDE2-3B4D-459E-95FD-4F330E1B0BF9}"/>
              </a:ext>
            </a:extLst>
          </p:cNvPr>
          <p:cNvSpPr>
            <a:spLocks xmlns:a="http://schemas.openxmlformats.org/drawingml/2006/main" noGrp="1"/>
          </p:cNvSpPr>
          <p:nvPr/>
        </p:nvSpPr>
        <p:spPr>
          <a:xfrm xmlns:a="http://schemas.openxmlformats.org/drawingml/2006/main">
            <a:off x="457200" y="4972050"/>
            <a:ext cx="55816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a:solidFill>
                  <a:srgbClr val="D6E6F7"/>
                </a:solidFill>
                <a:latin typeface="微软雅黑"/>
                <a:ea typeface="微软雅黑"/>
                <a:cs typeface="微软雅黑"/>
              </a:defRPr>
            </a:pPr>
            <a:r>
              <a:rPr sz="900" b="1">
                <a:solidFill>
                  <a:srgbClr val="D6E6F7"/>
                </a:solidFill>
                <a:latin typeface="微软雅黑"/>
                <a:ea typeface="微软雅黑"/>
                <a:cs typeface="微软雅黑"/>
              </a:rPr>
              <a:t>输入　</a:t>
            </a:r>
            <a:r>
              <a:rPr sz="900">
                <a:solidFill>
                  <a:srgbClr val="D6E6F7"/>
                </a:solidFill>
                <a:latin typeface="微软雅黑"/>
                <a:ea typeface="微软雅黑"/>
                <a:cs typeface="微软雅黑"/>
              </a:rPr>
              <a:t>检索词（按空格 / 逗号拆分去重）；课程字段（标题、平台检索词、标签、技能、机构、匹配理由）；个人缺口（employee_skill.level 与 required_level）。</a:t>
            </a:r>
          </a:p>
          <a:p xmlns:a="http://schemas.openxmlformats.org/drawingml/2006/main">
            <a:pPr algn="l">
              <a:lnSpc>
                <a:spcPct val="150000"/>
              </a:lnSpc>
              <a:buNone/>
              <a:defRPr sz="900">
                <a:solidFill>
                  <a:srgbClr val="D6E6F7"/>
                </a:solidFill>
                <a:latin typeface="微软雅黑"/>
                <a:ea typeface="微软雅黑"/>
                <a:cs typeface="微软雅黑"/>
              </a:defRPr>
            </a:pPr>
            <a:r>
              <a:rPr sz="900" b="1">
                <a:solidFill>
                  <a:srgbClr val="D6E6F7"/>
                </a:solidFill>
                <a:latin typeface="微软雅黑"/>
                <a:ea typeface="微软雅黑"/>
                <a:cs typeface="微软雅黑"/>
              </a:rPr>
              <a:t>输出　</a:t>
            </a:r>
            <a:r>
              <a:rPr sz="900">
                <a:solidFill>
                  <a:srgbClr val="D6E6F7"/>
                </a:solidFill>
                <a:latin typeface="微软雅黑"/>
                <a:ea typeface="微软雅黑"/>
                <a:cs typeface="微软雅黑"/>
              </a:rPr>
              <a:t>按内容命中分降序的课程列表；内容分相同时，对口个人缺口的课程再加 5 分并优先排列。</a:t>
            </a:r>
          </a:p>
          <a:p xmlns:a="http://schemas.openxmlformats.org/drawingml/2006/main">
            <a:pPr algn="l">
              <a:lnSpc>
                <a:spcPct val="150000"/>
              </a:lnSpc>
              <a:buNone/>
              <a:defRPr sz="900">
                <a:solidFill>
                  <a:srgbClr val="D6E6F7"/>
                </a:solidFill>
                <a:latin typeface="微软雅黑"/>
                <a:ea typeface="微软雅黑"/>
                <a:cs typeface="微软雅黑"/>
              </a:defRPr>
            </a:pPr>
            <a:r>
              <a:rPr sz="900" b="1">
                <a:solidFill>
                  <a:srgbClr val="D6E6F7"/>
                </a:solidFill>
                <a:latin typeface="微软雅黑"/>
                <a:ea typeface="微软雅黑"/>
                <a:cs typeface="微软雅黑"/>
              </a:rPr>
              <a:t>落库　</a:t>
            </a:r>
            <a:r>
              <a:rPr sz="900">
                <a:solidFill>
                  <a:srgbClr val="D6E6F7"/>
                </a:solidFill>
                <a:latin typeface="微软雅黑"/>
                <a:ea typeface="微软雅黑"/>
                <a:cs typeface="微软雅黑"/>
              </a:rPr>
              <a:t>external_course、external_course_source、employee_skill 三张表。</a:t>
            </a:r>
          </a:p>
        </p:txBody>
      </p:sp>
      <p:sp>
        <p:nvSpPr>
          <p:cNvPr id="34" name="">
            <a:extLst xmlns:a="http://schemas.openxmlformats.org/drawingml/2006/main">
              <a:ext uri="{FF2B5EF4-FFF2-40B4-BE49-F238E27FC236}">
                <a16:creationId xmlns:a16="http://schemas.microsoft.com/office/drawing/2014/main" id="{15EC21A4-8EB4-4100-BE14-25EFF6163C19}"/>
              </a:ext>
            </a:extLst>
          </p:cNvPr>
          <p:cNvSpPr>
            <a:spLocks xmlns:a="http://schemas.openxmlformats.org/drawingml/2006/main" noGrp="1"/>
          </p:cNvSpPr>
          <p:nvPr/>
        </p:nvSpPr>
        <p:spPr>
          <a:xfrm xmlns:a="http://schemas.openxmlformats.org/drawingml/2006/main">
            <a:off x="6419850" y="1333500"/>
            <a:ext cx="5486400" cy="5010150"/>
          </a:xfrm>
          <a:prstGeom xmlns:a="http://schemas.openxmlformats.org/drawingml/2006/main" prst="roundRect">
            <a:avLst>
              <a:gd name="adj" fmla="val 1521"/>
            </a:avLst>
          </a:prstGeom>
          <a:solidFill xmlns:a="http://schemas.openxmlformats.org/drawingml/2006/main">
            <a:srgbClr val="0D2748"/>
          </a:solidFill>
          <a:ln xmlns:a="http://schemas.openxmlformats.org/drawingml/2006/main" w="9525">
            <a:solidFill>
              <a:srgbClr val="1B4C8A"/>
            </a:solidFill>
            <a:prstDash val="solid"/>
          </a:ln>
        </p:spPr>
      </p:sp>
      <p:sp>
        <p:nvSpPr>
          <p:cNvPr id="35" name="">
            <a:extLst xmlns:a="http://schemas.openxmlformats.org/drawingml/2006/main">
              <a:ext uri="{FF2B5EF4-FFF2-40B4-BE49-F238E27FC236}">
                <a16:creationId xmlns:a16="http://schemas.microsoft.com/office/drawing/2014/main" id="{E449ED93-4A6D-45B8-B2F9-6B4A88C8C48F}"/>
              </a:ext>
            </a:extLst>
          </p:cNvPr>
          <p:cNvSpPr>
            <a:spLocks xmlns:a="http://schemas.openxmlformats.org/drawingml/2006/main" noGrp="1"/>
          </p:cNvSpPr>
          <p:nvPr/>
        </p:nvSpPr>
        <p:spPr>
          <a:xfrm xmlns:a="http://schemas.openxmlformats.org/drawingml/2006/main">
            <a:off x="6591300" y="144780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5C33B"/>
                </a:solidFill>
                <a:latin typeface="微软雅黑"/>
                <a:ea typeface="微软雅黑"/>
                <a:cs typeface="微软雅黑"/>
              </a:defRPr>
            </a:pPr>
            <a:r>
              <a:rPr sz="1013" b="1">
                <a:solidFill>
                  <a:srgbClr val="F5C33B"/>
                </a:solidFill>
                <a:latin typeface="微软雅黑"/>
                <a:ea typeface="微软雅黑"/>
                <a:cs typeface="微软雅黑"/>
              </a:rPr>
              <a:t>案例：继电保护 L1 → 要求 L3 的员工检索「软压板」</a:t>
            </a:r>
          </a:p>
        </p:txBody>
      </p:sp>
      <p:sp>
        <p:nvSpPr>
          <p:cNvPr id="36" name="">
            <a:extLst xmlns:a="http://schemas.openxmlformats.org/drawingml/2006/main">
              <a:ext uri="{FF2B5EF4-FFF2-40B4-BE49-F238E27FC236}">
                <a16:creationId xmlns:a16="http://schemas.microsoft.com/office/drawing/2014/main" id="{0DFBC6E7-3179-4DB8-B8AD-0566B68A67E1}"/>
              </a:ext>
            </a:extLst>
          </p:cNvPr>
          <p:cNvSpPr>
            <a:spLocks xmlns:a="http://schemas.openxmlformats.org/drawingml/2006/main" noGrp="1"/>
          </p:cNvSpPr>
          <p:nvPr/>
        </p:nvSpPr>
        <p:spPr>
          <a:xfrm xmlns:a="http://schemas.openxmlformats.org/drawingml/2006/main">
            <a:off x="6591300" y="1809750"/>
            <a:ext cx="5143500" cy="685800"/>
          </a:xfrm>
          <a:prstGeom xmlns:a="http://schemas.openxmlformats.org/drawingml/2006/main" prst="roundRect">
            <a:avLst>
              <a:gd name="adj" fmla="val 11111"/>
            </a:avLst>
          </a:prstGeom>
          <a:solidFill xmlns:a="http://schemas.openxmlformats.org/drawingml/2006/main">
            <a:srgbClr val="0F3159"/>
          </a:solidFill>
          <a:ln xmlns:a="http://schemas.openxmlformats.org/drawingml/2006/main" w="9525">
            <a:solidFill>
              <a:srgbClr val="3FD08A"/>
            </a:solidFill>
            <a:prstDash val="solid"/>
          </a:ln>
        </p:spPr>
      </p:sp>
      <p:sp>
        <p:nvSpPr>
          <p:cNvPr id="37" name="">
            <a:extLst xmlns:a="http://schemas.openxmlformats.org/drawingml/2006/main">
              <a:ext uri="{FF2B5EF4-FFF2-40B4-BE49-F238E27FC236}">
                <a16:creationId xmlns:a16="http://schemas.microsoft.com/office/drawing/2014/main" id="{DEFC9047-4426-401F-8934-B84F51E531E9}"/>
              </a:ext>
            </a:extLst>
          </p:cNvPr>
          <p:cNvSpPr>
            <a:spLocks xmlns:a="http://schemas.openxmlformats.org/drawingml/2006/main" noGrp="1"/>
          </p:cNvSpPr>
          <p:nvPr/>
        </p:nvSpPr>
        <p:spPr>
          <a:xfrm xmlns:a="http://schemas.openxmlformats.org/drawingml/2006/main">
            <a:off x="6724650" y="2009775"/>
            <a:ext cx="285750" cy="285750"/>
          </a:xfrm>
          <a:prstGeom xmlns:a="http://schemas.openxmlformats.org/drawingml/2006/main" prst="ellipse">
            <a:avLst/>
          </a:prstGeom>
          <a:solidFill xmlns:a="http://schemas.openxmlformats.org/drawingml/2006/main">
            <a:srgbClr val="3FD08A"/>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376B2ECA-B5B4-43CE-9804-31935E0C912A}"/>
              </a:ext>
            </a:extLst>
          </p:cNvPr>
          <p:cNvSpPr>
            <a:spLocks xmlns:a="http://schemas.openxmlformats.org/drawingml/2006/main" noGrp="1"/>
          </p:cNvSpPr>
          <p:nvPr/>
        </p:nvSpPr>
        <p:spPr>
          <a:xfrm xmlns:a="http://schemas.openxmlformats.org/drawingml/2006/main">
            <a:off x="6724650" y="20097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75" b="1">
                <a:solidFill>
                  <a:srgbClr val="08243F"/>
                </a:solidFill>
                <a:latin typeface="Arial"/>
                <a:ea typeface="Arial"/>
                <a:cs typeface="Arial"/>
              </a:defRPr>
            </a:pPr>
            <a:r>
              <a:rPr sz="975" b="1">
                <a:solidFill>
                  <a:srgbClr val="08243F"/>
                </a:solidFill>
                <a:latin typeface="Arial"/>
                <a:ea typeface="Arial"/>
                <a:cs typeface="Arial"/>
              </a:rPr>
              <a:t>1</a:t>
            </a:r>
          </a:p>
        </p:txBody>
      </p:sp>
      <p:sp>
        <p:nvSpPr>
          <p:cNvPr id="39" name="">
            <a:extLst xmlns:a="http://schemas.openxmlformats.org/drawingml/2006/main">
              <a:ext uri="{FF2B5EF4-FFF2-40B4-BE49-F238E27FC236}">
                <a16:creationId xmlns:a16="http://schemas.microsoft.com/office/drawing/2014/main" id="{4B3272D7-D610-420E-B363-F3F86D103401}"/>
              </a:ext>
            </a:extLst>
          </p:cNvPr>
          <p:cNvSpPr>
            <a:spLocks xmlns:a="http://schemas.openxmlformats.org/drawingml/2006/main" noGrp="1"/>
          </p:cNvSpPr>
          <p:nvPr/>
        </p:nvSpPr>
        <p:spPr>
          <a:xfrm xmlns:a="http://schemas.openxmlformats.org/drawingml/2006/main">
            <a:off x="7124700" y="191452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《继电保护软压板投退与定值核对》</a:t>
            </a:r>
          </a:p>
        </p:txBody>
      </p:sp>
      <p:sp>
        <p:nvSpPr>
          <p:cNvPr id="40" name="">
            <a:extLst xmlns:a="http://schemas.openxmlformats.org/drawingml/2006/main">
              <a:ext uri="{FF2B5EF4-FFF2-40B4-BE49-F238E27FC236}">
                <a16:creationId xmlns:a16="http://schemas.microsoft.com/office/drawing/2014/main" id="{8B168FA5-BC9D-404B-9293-703D1DB85960}"/>
              </a:ext>
            </a:extLst>
          </p:cNvPr>
          <p:cNvSpPr>
            <a:spLocks xmlns:a="http://schemas.openxmlformats.org/drawingml/2006/main" noGrp="1"/>
          </p:cNvSpPr>
          <p:nvPr/>
        </p:nvSpPr>
        <p:spPr>
          <a:xfrm xmlns:a="http://schemas.openxmlformats.org/drawingml/2006/main">
            <a:off x="7124700" y="21526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标题 +6 · 技能 +3 · 缺口 +5</a:t>
            </a:r>
          </a:p>
        </p:txBody>
      </p:sp>
      <p:sp>
        <p:nvSpPr>
          <p:cNvPr id="41" name="">
            <a:extLst xmlns:a="http://schemas.openxmlformats.org/drawingml/2006/main">
              <a:ext uri="{FF2B5EF4-FFF2-40B4-BE49-F238E27FC236}">
                <a16:creationId xmlns:a16="http://schemas.microsoft.com/office/drawing/2014/main" id="{1D3FC5DD-F87B-4668-A126-6845684EECEE}"/>
              </a:ext>
            </a:extLst>
          </p:cNvPr>
          <p:cNvSpPr>
            <a:spLocks xmlns:a="http://schemas.openxmlformats.org/drawingml/2006/main" noGrp="1"/>
          </p:cNvSpPr>
          <p:nvPr/>
        </p:nvSpPr>
        <p:spPr>
          <a:xfrm xmlns:a="http://schemas.openxmlformats.org/drawingml/2006/main">
            <a:off x="10477500" y="199072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1200" b="1">
                <a:solidFill>
                  <a:srgbClr val="3FD08A"/>
                </a:solidFill>
                <a:latin typeface="Arial"/>
                <a:ea typeface="Arial"/>
                <a:cs typeface="Arial"/>
              </a:defRPr>
            </a:pPr>
            <a:r>
              <a:rPr sz="1200" b="1">
                <a:solidFill>
                  <a:srgbClr val="3FD08A"/>
                </a:solidFill>
                <a:latin typeface="Arial"/>
                <a:ea typeface="Arial"/>
                <a:cs typeface="Arial"/>
              </a:rPr>
              <a:t>14 分</a:t>
            </a:r>
          </a:p>
        </p:txBody>
      </p:sp>
      <p:sp>
        <p:nvSpPr>
          <p:cNvPr id="42" name="">
            <a:extLst xmlns:a="http://schemas.openxmlformats.org/drawingml/2006/main">
              <a:ext uri="{FF2B5EF4-FFF2-40B4-BE49-F238E27FC236}">
                <a16:creationId xmlns:a16="http://schemas.microsoft.com/office/drawing/2014/main" id="{D06B8E77-CDCD-4B12-90A4-766B1072D730}"/>
              </a:ext>
            </a:extLst>
          </p:cNvPr>
          <p:cNvSpPr>
            <a:spLocks xmlns:a="http://schemas.openxmlformats.org/drawingml/2006/main" noGrp="1"/>
          </p:cNvSpPr>
          <p:nvPr/>
        </p:nvSpPr>
        <p:spPr>
          <a:xfrm xmlns:a="http://schemas.openxmlformats.org/drawingml/2006/main">
            <a:off x="6591300" y="2609850"/>
            <a:ext cx="5143500" cy="685800"/>
          </a:xfrm>
          <a:prstGeom xmlns:a="http://schemas.openxmlformats.org/drawingml/2006/main" prst="roundRect">
            <a:avLst>
              <a:gd name="adj" fmla="val 11111"/>
            </a:avLst>
          </a:prstGeom>
          <a:solidFill xmlns:a="http://schemas.openxmlformats.org/drawingml/2006/main">
            <a:srgbClr val="0F3159"/>
          </a:solidFill>
          <a:ln xmlns:a="http://schemas.openxmlformats.org/drawingml/2006/main" w="9525">
            <a:solidFill>
              <a:srgbClr val="3FD08A"/>
            </a:solidFill>
            <a:prstDash val="solid"/>
          </a:ln>
        </p:spPr>
      </p:sp>
      <p:sp>
        <p:nvSpPr>
          <p:cNvPr id="43" name="">
            <a:extLst xmlns:a="http://schemas.openxmlformats.org/drawingml/2006/main">
              <a:ext uri="{FF2B5EF4-FFF2-40B4-BE49-F238E27FC236}">
                <a16:creationId xmlns:a16="http://schemas.microsoft.com/office/drawing/2014/main" id="{D02995F2-F5B1-455A-8DD4-1BF13B7AC4E9}"/>
              </a:ext>
            </a:extLst>
          </p:cNvPr>
          <p:cNvSpPr>
            <a:spLocks xmlns:a="http://schemas.openxmlformats.org/drawingml/2006/main" noGrp="1"/>
          </p:cNvSpPr>
          <p:nvPr/>
        </p:nvSpPr>
        <p:spPr>
          <a:xfrm xmlns:a="http://schemas.openxmlformats.org/drawingml/2006/main">
            <a:off x="6724650" y="2809875"/>
            <a:ext cx="285750" cy="285750"/>
          </a:xfrm>
          <a:prstGeom xmlns:a="http://schemas.openxmlformats.org/drawingml/2006/main" prst="ellipse">
            <a:avLst/>
          </a:prstGeom>
          <a:solidFill xmlns:a="http://schemas.openxmlformats.org/drawingml/2006/main">
            <a:srgbClr val="3FD08A"/>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F648B35A-857C-4556-9372-FFD61307A5E4}"/>
              </a:ext>
            </a:extLst>
          </p:cNvPr>
          <p:cNvSpPr>
            <a:spLocks xmlns:a="http://schemas.openxmlformats.org/drawingml/2006/main" noGrp="1"/>
          </p:cNvSpPr>
          <p:nvPr/>
        </p:nvSpPr>
        <p:spPr>
          <a:xfrm xmlns:a="http://schemas.openxmlformats.org/drawingml/2006/main">
            <a:off x="6724650" y="28098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75" b="1">
                <a:solidFill>
                  <a:srgbClr val="08243F"/>
                </a:solidFill>
                <a:latin typeface="Arial"/>
                <a:ea typeface="Arial"/>
                <a:cs typeface="Arial"/>
              </a:defRPr>
            </a:pPr>
            <a:r>
              <a:rPr sz="975" b="1">
                <a:solidFill>
                  <a:srgbClr val="08243F"/>
                </a:solidFill>
                <a:latin typeface="Arial"/>
                <a:ea typeface="Arial"/>
                <a:cs typeface="Arial"/>
              </a:rPr>
              <a:t>2</a:t>
            </a:r>
          </a:p>
        </p:txBody>
      </p:sp>
      <p:sp>
        <p:nvSpPr>
          <p:cNvPr id="45" name="">
            <a:extLst xmlns:a="http://schemas.openxmlformats.org/drawingml/2006/main">
              <a:ext uri="{FF2B5EF4-FFF2-40B4-BE49-F238E27FC236}">
                <a16:creationId xmlns:a16="http://schemas.microsoft.com/office/drawing/2014/main" id="{26E5C19E-479D-4089-B6A6-933AD1156B32}"/>
              </a:ext>
            </a:extLst>
          </p:cNvPr>
          <p:cNvSpPr>
            <a:spLocks xmlns:a="http://schemas.openxmlformats.org/drawingml/2006/main" noGrp="1"/>
          </p:cNvSpPr>
          <p:nvPr/>
        </p:nvSpPr>
        <p:spPr>
          <a:xfrm xmlns:a="http://schemas.openxmlformats.org/drawingml/2006/main">
            <a:off x="7124700" y="271462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《软压板逻辑与保护定值整定》</a:t>
            </a:r>
          </a:p>
        </p:txBody>
      </p:sp>
      <p:sp>
        <p:nvSpPr>
          <p:cNvPr id="46" name="">
            <a:extLst xmlns:a="http://schemas.openxmlformats.org/drawingml/2006/main">
              <a:ext uri="{FF2B5EF4-FFF2-40B4-BE49-F238E27FC236}">
                <a16:creationId xmlns:a16="http://schemas.microsoft.com/office/drawing/2014/main" id="{60F13F10-A99A-4805-B2F1-FCE1F1F1B413}"/>
              </a:ext>
            </a:extLst>
          </p:cNvPr>
          <p:cNvSpPr>
            <a:spLocks xmlns:a="http://schemas.openxmlformats.org/drawingml/2006/main" noGrp="1"/>
          </p:cNvSpPr>
          <p:nvPr/>
        </p:nvSpPr>
        <p:spPr>
          <a:xfrm xmlns:a="http://schemas.openxmlformats.org/drawingml/2006/main">
            <a:off x="7124700" y="29527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标题 +6 · 平台词 +4</a:t>
            </a:r>
          </a:p>
        </p:txBody>
      </p:sp>
      <p:sp>
        <p:nvSpPr>
          <p:cNvPr id="47" name="">
            <a:extLst xmlns:a="http://schemas.openxmlformats.org/drawingml/2006/main">
              <a:ext uri="{FF2B5EF4-FFF2-40B4-BE49-F238E27FC236}">
                <a16:creationId xmlns:a16="http://schemas.microsoft.com/office/drawing/2014/main" id="{E31D764D-44AD-4CBC-B2F3-0A0F92299BA3}"/>
              </a:ext>
            </a:extLst>
          </p:cNvPr>
          <p:cNvSpPr>
            <a:spLocks xmlns:a="http://schemas.openxmlformats.org/drawingml/2006/main" noGrp="1"/>
          </p:cNvSpPr>
          <p:nvPr/>
        </p:nvSpPr>
        <p:spPr>
          <a:xfrm xmlns:a="http://schemas.openxmlformats.org/drawingml/2006/main">
            <a:off x="10477500" y="279082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1200" b="1">
                <a:solidFill>
                  <a:srgbClr val="3FD08A"/>
                </a:solidFill>
                <a:latin typeface="Arial"/>
                <a:ea typeface="Arial"/>
                <a:cs typeface="Arial"/>
              </a:defRPr>
            </a:pPr>
            <a:r>
              <a:rPr sz="1200" b="1">
                <a:solidFill>
                  <a:srgbClr val="3FD08A"/>
                </a:solidFill>
                <a:latin typeface="Arial"/>
                <a:ea typeface="Arial"/>
                <a:cs typeface="Arial"/>
              </a:rPr>
              <a:t>10 分</a:t>
            </a:r>
          </a:p>
        </p:txBody>
      </p:sp>
      <p:sp>
        <p:nvSpPr>
          <p:cNvPr id="48" name="">
            <a:extLst xmlns:a="http://schemas.openxmlformats.org/drawingml/2006/main">
              <a:ext uri="{FF2B5EF4-FFF2-40B4-BE49-F238E27FC236}">
                <a16:creationId xmlns:a16="http://schemas.microsoft.com/office/drawing/2014/main" id="{CF62583D-3383-4D38-BF78-525AA1223FA0}"/>
              </a:ext>
            </a:extLst>
          </p:cNvPr>
          <p:cNvSpPr>
            <a:spLocks xmlns:a="http://schemas.openxmlformats.org/drawingml/2006/main" noGrp="1"/>
          </p:cNvSpPr>
          <p:nvPr/>
        </p:nvSpPr>
        <p:spPr>
          <a:xfrm xmlns:a="http://schemas.openxmlformats.org/drawingml/2006/main">
            <a:off x="6591300" y="3409950"/>
            <a:ext cx="5143500" cy="685800"/>
          </a:xfrm>
          <a:prstGeom xmlns:a="http://schemas.openxmlformats.org/drawingml/2006/main" prst="roundRect">
            <a:avLst>
              <a:gd name="adj" fmla="val 11111"/>
            </a:avLst>
          </a:prstGeom>
          <a:solidFill xmlns:a="http://schemas.openxmlformats.org/drawingml/2006/main">
            <a:srgbClr val="0A2444"/>
          </a:solidFill>
          <a:ln xmlns:a="http://schemas.openxmlformats.org/drawingml/2006/main" w="9525">
            <a:solidFill>
              <a:srgbClr val="173D68"/>
            </a:solidFill>
            <a:prstDash val="solid"/>
          </a:ln>
        </p:spPr>
      </p:sp>
      <p:sp>
        <p:nvSpPr>
          <p:cNvPr id="49" name="">
            <a:extLst xmlns:a="http://schemas.openxmlformats.org/drawingml/2006/main">
              <a:ext uri="{FF2B5EF4-FFF2-40B4-BE49-F238E27FC236}">
                <a16:creationId xmlns:a16="http://schemas.microsoft.com/office/drawing/2014/main" id="{311B39B2-5323-4BD1-8119-4EF0F5A26A97}"/>
              </a:ext>
            </a:extLst>
          </p:cNvPr>
          <p:cNvSpPr>
            <a:spLocks xmlns:a="http://schemas.openxmlformats.org/drawingml/2006/main" noGrp="1"/>
          </p:cNvSpPr>
          <p:nvPr/>
        </p:nvSpPr>
        <p:spPr>
          <a:xfrm xmlns:a="http://schemas.openxmlformats.org/drawingml/2006/main">
            <a:off x="6724650" y="3609975"/>
            <a:ext cx="285750" cy="285750"/>
          </a:xfrm>
          <a:prstGeom xmlns:a="http://schemas.openxmlformats.org/drawingml/2006/main" prst="ellipse">
            <a:avLst/>
          </a:prstGeom>
          <a:solidFill xmlns:a="http://schemas.openxmlformats.org/drawingml/2006/main">
            <a:srgbClr val="1B4C8A"/>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9E82C74C-ACF6-403B-BF9F-3653CB95C801}"/>
              </a:ext>
            </a:extLst>
          </p:cNvPr>
          <p:cNvSpPr>
            <a:spLocks xmlns:a="http://schemas.openxmlformats.org/drawingml/2006/main" noGrp="1"/>
          </p:cNvSpPr>
          <p:nvPr/>
        </p:nvSpPr>
        <p:spPr>
          <a:xfrm xmlns:a="http://schemas.openxmlformats.org/drawingml/2006/main">
            <a:off x="6724650" y="36099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75" b="1">
                <a:solidFill>
                  <a:srgbClr val="08243F"/>
                </a:solidFill>
                <a:latin typeface="Arial"/>
                <a:ea typeface="Arial"/>
                <a:cs typeface="Arial"/>
              </a:defRPr>
            </a:pPr>
            <a:r>
              <a:rPr sz="975" b="1">
                <a:solidFill>
                  <a:srgbClr val="08243F"/>
                </a:solidFill>
                <a:latin typeface="Arial"/>
                <a:ea typeface="Arial"/>
                <a:cs typeface="Arial"/>
              </a:rPr>
              <a:t>3</a:t>
            </a:r>
          </a:p>
        </p:txBody>
      </p:sp>
      <p:sp>
        <p:nvSpPr>
          <p:cNvPr id="51" name="">
            <a:extLst xmlns:a="http://schemas.openxmlformats.org/drawingml/2006/main">
              <a:ext uri="{FF2B5EF4-FFF2-40B4-BE49-F238E27FC236}">
                <a16:creationId xmlns:a16="http://schemas.microsoft.com/office/drawing/2014/main" id="{39236D77-84D6-48DD-9FAA-D1C6C2CEBFF4}"/>
              </a:ext>
            </a:extLst>
          </p:cNvPr>
          <p:cNvSpPr>
            <a:spLocks xmlns:a="http://schemas.openxmlformats.org/drawingml/2006/main" noGrp="1"/>
          </p:cNvSpPr>
          <p:nvPr/>
        </p:nvSpPr>
        <p:spPr>
          <a:xfrm xmlns:a="http://schemas.openxmlformats.org/drawingml/2006/main">
            <a:off x="7124700" y="351472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《变电站二次回路识图》</a:t>
            </a:r>
          </a:p>
        </p:txBody>
      </p:sp>
      <p:sp>
        <p:nvSpPr>
          <p:cNvPr id="52" name="">
            <a:extLst xmlns:a="http://schemas.openxmlformats.org/drawingml/2006/main">
              <a:ext uri="{FF2B5EF4-FFF2-40B4-BE49-F238E27FC236}">
                <a16:creationId xmlns:a16="http://schemas.microsoft.com/office/drawing/2014/main" id="{1078C140-6BB6-4822-8C00-9BD7875986C1}"/>
              </a:ext>
            </a:extLst>
          </p:cNvPr>
          <p:cNvSpPr>
            <a:spLocks xmlns:a="http://schemas.openxmlformats.org/drawingml/2006/main" noGrp="1"/>
          </p:cNvSpPr>
          <p:nvPr/>
        </p:nvSpPr>
        <p:spPr>
          <a:xfrm xmlns:a="http://schemas.openxmlformats.org/drawingml/2006/main">
            <a:off x="7124700" y="37528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标签 +3 · 机构 +2</a:t>
            </a:r>
          </a:p>
        </p:txBody>
      </p:sp>
      <p:sp>
        <p:nvSpPr>
          <p:cNvPr id="53" name="">
            <a:extLst xmlns:a="http://schemas.openxmlformats.org/drawingml/2006/main">
              <a:ext uri="{FF2B5EF4-FFF2-40B4-BE49-F238E27FC236}">
                <a16:creationId xmlns:a16="http://schemas.microsoft.com/office/drawing/2014/main" id="{9BD2B8B3-2366-450F-A971-C55059DC012E}"/>
              </a:ext>
            </a:extLst>
          </p:cNvPr>
          <p:cNvSpPr>
            <a:spLocks xmlns:a="http://schemas.openxmlformats.org/drawingml/2006/main" noGrp="1"/>
          </p:cNvSpPr>
          <p:nvPr/>
        </p:nvSpPr>
        <p:spPr>
          <a:xfrm xmlns:a="http://schemas.openxmlformats.org/drawingml/2006/main">
            <a:off x="10477500" y="359092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1200" b="1">
                <a:solidFill>
                  <a:srgbClr val="7A9CC4"/>
                </a:solidFill>
                <a:latin typeface="Arial"/>
                <a:ea typeface="Arial"/>
                <a:cs typeface="Arial"/>
              </a:defRPr>
            </a:pPr>
            <a:r>
              <a:rPr sz="1200" b="1">
                <a:solidFill>
                  <a:srgbClr val="7A9CC4"/>
                </a:solidFill>
                <a:latin typeface="Arial"/>
                <a:ea typeface="Arial"/>
                <a:cs typeface="Arial"/>
              </a:rPr>
              <a:t>5 分</a:t>
            </a:r>
          </a:p>
        </p:txBody>
      </p:sp>
      <p:sp>
        <p:nvSpPr>
          <p:cNvPr id="54" name="">
            <a:extLst xmlns:a="http://schemas.openxmlformats.org/drawingml/2006/main">
              <a:ext uri="{FF2B5EF4-FFF2-40B4-BE49-F238E27FC236}">
                <a16:creationId xmlns:a16="http://schemas.microsoft.com/office/drawing/2014/main" id="{5F3F37A8-9D13-40B3-B3EE-2D5B7BB900A0}"/>
              </a:ext>
            </a:extLst>
          </p:cNvPr>
          <p:cNvSpPr>
            <a:spLocks xmlns:a="http://schemas.openxmlformats.org/drawingml/2006/main" noGrp="1"/>
          </p:cNvSpPr>
          <p:nvPr/>
        </p:nvSpPr>
        <p:spPr>
          <a:xfrm xmlns:a="http://schemas.openxmlformats.org/drawingml/2006/main">
            <a:off x="6591300" y="4210050"/>
            <a:ext cx="5143500" cy="685800"/>
          </a:xfrm>
          <a:prstGeom xmlns:a="http://schemas.openxmlformats.org/drawingml/2006/main" prst="roundRect">
            <a:avLst>
              <a:gd name="adj" fmla="val 11111"/>
            </a:avLst>
          </a:prstGeom>
          <a:solidFill xmlns:a="http://schemas.openxmlformats.org/drawingml/2006/main">
            <a:srgbClr val="0A2444"/>
          </a:solidFill>
          <a:ln xmlns:a="http://schemas.openxmlformats.org/drawingml/2006/main" w="9525">
            <a:solidFill>
              <a:srgbClr val="173D68"/>
            </a:solidFill>
            <a:prstDash val="solid"/>
          </a:ln>
        </p:spPr>
      </p:sp>
      <p:sp>
        <p:nvSpPr>
          <p:cNvPr id="55" name="">
            <a:extLst xmlns:a="http://schemas.openxmlformats.org/drawingml/2006/main">
              <a:ext uri="{FF2B5EF4-FFF2-40B4-BE49-F238E27FC236}">
                <a16:creationId xmlns:a16="http://schemas.microsoft.com/office/drawing/2014/main" id="{94835F47-222D-43EF-97E4-285C2AE08A70}"/>
              </a:ext>
            </a:extLst>
          </p:cNvPr>
          <p:cNvSpPr>
            <a:spLocks xmlns:a="http://schemas.openxmlformats.org/drawingml/2006/main" noGrp="1"/>
          </p:cNvSpPr>
          <p:nvPr/>
        </p:nvSpPr>
        <p:spPr>
          <a:xfrm xmlns:a="http://schemas.openxmlformats.org/drawingml/2006/main">
            <a:off x="6724650" y="4410075"/>
            <a:ext cx="285750" cy="285750"/>
          </a:xfrm>
          <a:prstGeom xmlns:a="http://schemas.openxmlformats.org/drawingml/2006/main" prst="ellipse">
            <a:avLst/>
          </a:prstGeom>
          <a:solidFill xmlns:a="http://schemas.openxmlformats.org/drawingml/2006/main">
            <a:srgbClr val="1B4C8A"/>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6E365809-BCDE-4635-B26D-1111EBA9D150}"/>
              </a:ext>
            </a:extLst>
          </p:cNvPr>
          <p:cNvSpPr>
            <a:spLocks xmlns:a="http://schemas.openxmlformats.org/drawingml/2006/main" noGrp="1"/>
          </p:cNvSpPr>
          <p:nvPr/>
        </p:nvSpPr>
        <p:spPr>
          <a:xfrm xmlns:a="http://schemas.openxmlformats.org/drawingml/2006/main">
            <a:off x="6724650" y="44100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75" b="1">
                <a:solidFill>
                  <a:srgbClr val="08243F"/>
                </a:solidFill>
                <a:latin typeface="Arial"/>
                <a:ea typeface="Arial"/>
                <a:cs typeface="Arial"/>
              </a:defRPr>
            </a:pPr>
            <a:r>
              <a:rPr sz="975" b="1">
                <a:solidFill>
                  <a:srgbClr val="08243F"/>
                </a:solidFill>
                <a:latin typeface="Arial"/>
                <a:ea typeface="Arial"/>
                <a:cs typeface="Arial"/>
              </a:rPr>
              <a:t>4</a:t>
            </a:r>
          </a:p>
        </p:txBody>
      </p:sp>
      <p:sp>
        <p:nvSpPr>
          <p:cNvPr id="57" name="">
            <a:extLst xmlns:a="http://schemas.openxmlformats.org/drawingml/2006/main">
              <a:ext uri="{FF2B5EF4-FFF2-40B4-BE49-F238E27FC236}">
                <a16:creationId xmlns:a16="http://schemas.microsoft.com/office/drawing/2014/main" id="{F8E41D72-EBFC-48B8-B119-AE4108294FE8}"/>
              </a:ext>
            </a:extLst>
          </p:cNvPr>
          <p:cNvSpPr>
            <a:spLocks xmlns:a="http://schemas.openxmlformats.org/drawingml/2006/main" noGrp="1"/>
          </p:cNvSpPr>
          <p:nvPr/>
        </p:nvSpPr>
        <p:spPr>
          <a:xfrm xmlns:a="http://schemas.openxmlformats.org/drawingml/2006/main">
            <a:off x="7124700" y="431482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《电力安全工作规程通用课》</a:t>
            </a:r>
          </a:p>
        </p:txBody>
      </p:sp>
      <p:sp>
        <p:nvSpPr>
          <p:cNvPr id="58" name="">
            <a:extLst xmlns:a="http://schemas.openxmlformats.org/drawingml/2006/main">
              <a:ext uri="{FF2B5EF4-FFF2-40B4-BE49-F238E27FC236}">
                <a16:creationId xmlns:a16="http://schemas.microsoft.com/office/drawing/2014/main" id="{7D5825F6-37C4-4F74-BEF9-BB85443E590C}"/>
              </a:ext>
            </a:extLst>
          </p:cNvPr>
          <p:cNvSpPr>
            <a:spLocks xmlns:a="http://schemas.openxmlformats.org/drawingml/2006/main" noGrp="1"/>
          </p:cNvSpPr>
          <p:nvPr/>
        </p:nvSpPr>
        <p:spPr>
          <a:xfrm xmlns:a="http://schemas.openxmlformats.org/drawingml/2006/main">
            <a:off x="7124700" y="45529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25" b="0">
                <a:solidFill>
                  <a:srgbClr val="9FC2E8"/>
                </a:solidFill>
                <a:latin typeface="微软雅黑"/>
                <a:ea typeface="微软雅黑"/>
                <a:cs typeface="微软雅黑"/>
              </a:defRPr>
            </a:pPr>
            <a:r>
              <a:rPr sz="825" b="0">
                <a:solidFill>
                  <a:srgbClr val="9FC2E8"/>
                </a:solidFill>
                <a:latin typeface="微软雅黑"/>
                <a:ea typeface="微软雅黑"/>
                <a:cs typeface="微软雅黑"/>
              </a:rPr>
              <a:t>匹配理由 +1</a:t>
            </a:r>
          </a:p>
        </p:txBody>
      </p:sp>
      <p:sp>
        <p:nvSpPr>
          <p:cNvPr id="59" name="">
            <a:extLst xmlns:a="http://schemas.openxmlformats.org/drawingml/2006/main">
              <a:ext uri="{FF2B5EF4-FFF2-40B4-BE49-F238E27FC236}">
                <a16:creationId xmlns:a16="http://schemas.microsoft.com/office/drawing/2014/main" id="{241C50B8-EB34-426F-8125-55D8D98F343E}"/>
              </a:ext>
            </a:extLst>
          </p:cNvPr>
          <p:cNvSpPr>
            <a:spLocks xmlns:a="http://schemas.openxmlformats.org/drawingml/2006/main" noGrp="1"/>
          </p:cNvSpPr>
          <p:nvPr/>
        </p:nvSpPr>
        <p:spPr>
          <a:xfrm xmlns:a="http://schemas.openxmlformats.org/drawingml/2006/main">
            <a:off x="10477500" y="439102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1200" b="1">
                <a:solidFill>
                  <a:srgbClr val="7A9CC4"/>
                </a:solidFill>
                <a:latin typeface="Arial"/>
                <a:ea typeface="Arial"/>
                <a:cs typeface="Arial"/>
              </a:defRPr>
            </a:pPr>
            <a:r>
              <a:rPr sz="1200" b="1">
                <a:solidFill>
                  <a:srgbClr val="7A9CC4"/>
                </a:solidFill>
                <a:latin typeface="Arial"/>
                <a:ea typeface="Arial"/>
                <a:cs typeface="Arial"/>
              </a:rPr>
              <a:t>1 分</a:t>
            </a:r>
          </a:p>
        </p:txBody>
      </p:sp>
      <p:sp>
        <p:nvSpPr>
          <p:cNvPr id="60" name="">
            <a:extLst xmlns:a="http://schemas.openxmlformats.org/drawingml/2006/main">
              <a:ext uri="{FF2B5EF4-FFF2-40B4-BE49-F238E27FC236}">
                <a16:creationId xmlns:a16="http://schemas.microsoft.com/office/drawing/2014/main" id="{2F7FE34E-1179-402C-A1E9-6810BC1269A4}"/>
              </a:ext>
            </a:extLst>
          </p:cNvPr>
          <p:cNvSpPr>
            <a:spLocks xmlns:a="http://schemas.openxmlformats.org/drawingml/2006/main" noGrp="1"/>
          </p:cNvSpPr>
          <p:nvPr/>
        </p:nvSpPr>
        <p:spPr>
          <a:xfrm xmlns:a="http://schemas.openxmlformats.org/drawingml/2006/main">
            <a:off x="6591300" y="5029200"/>
            <a:ext cx="5143500" cy="1162050"/>
          </a:xfrm>
          <a:prstGeom xmlns:a="http://schemas.openxmlformats.org/drawingml/2006/main" prst="roundRect">
            <a:avLst>
              <a:gd name="adj" fmla="val 6557"/>
            </a:avLst>
          </a:prstGeom>
          <a:solidFill xmlns:a="http://schemas.openxmlformats.org/drawingml/2006/main">
            <a:srgbClr val="0A2547"/>
          </a:solidFill>
          <a:ln xmlns:a="http://schemas.openxmlformats.org/drawingml/2006/main" w="9525">
            <a:solidFill>
              <a:srgbClr val="2A6BAE"/>
            </a:solidFill>
            <a:prstDash val="solid"/>
          </a:ln>
        </p:spPr>
      </p:sp>
      <p:sp>
        <p:nvSpPr>
          <p:cNvPr id="61" name="">
            <a:extLst xmlns:a="http://schemas.openxmlformats.org/drawingml/2006/main">
              <a:ext uri="{FF2B5EF4-FFF2-40B4-BE49-F238E27FC236}">
                <a16:creationId xmlns:a16="http://schemas.microsoft.com/office/drawing/2014/main" id="{C723CF3F-C2B6-4048-B152-71D247D4002A}"/>
              </a:ext>
            </a:extLst>
          </p:cNvPr>
          <p:cNvSpPr>
            <a:spLocks xmlns:a="http://schemas.openxmlformats.org/drawingml/2006/main" noGrp="1"/>
          </p:cNvSpPr>
          <p:nvPr/>
        </p:nvSpPr>
        <p:spPr>
          <a:xfrm xmlns:a="http://schemas.openxmlformats.org/drawingml/2006/main">
            <a:off x="6762750" y="5143500"/>
            <a:ext cx="4819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31C7F0"/>
                </a:solidFill>
                <a:latin typeface="微软雅黑"/>
                <a:ea typeface="微软雅黑"/>
                <a:cs typeface="微软雅黑"/>
              </a:defRPr>
            </a:pPr>
            <a:r>
              <a:rPr sz="975" b="1">
                <a:solidFill>
                  <a:srgbClr val="31C7F0"/>
                </a:solidFill>
                <a:latin typeface="微软雅黑"/>
                <a:ea typeface="微软雅黑"/>
                <a:cs typeface="微软雅黑"/>
              </a:rPr>
              <a:t>排序规则：先内容分，再缺口加权</a:t>
            </a:r>
          </a:p>
        </p:txBody>
      </p:sp>
      <p:sp>
        <p:nvSpPr>
          <p:cNvPr id="62" name="">
            <a:extLst xmlns:a="http://schemas.openxmlformats.org/drawingml/2006/main">
              <a:ext uri="{FF2B5EF4-FFF2-40B4-BE49-F238E27FC236}">
                <a16:creationId xmlns:a16="http://schemas.microsoft.com/office/drawing/2014/main" id="{28E63057-D890-4B7E-967E-8E166317D013}"/>
              </a:ext>
            </a:extLst>
          </p:cNvPr>
          <p:cNvSpPr>
            <a:spLocks xmlns:a="http://schemas.openxmlformats.org/drawingml/2006/main" noGrp="1"/>
          </p:cNvSpPr>
          <p:nvPr/>
        </p:nvSpPr>
        <p:spPr>
          <a:xfrm xmlns:a="http://schemas.openxmlformats.org/drawingml/2006/main">
            <a:off x="6762750" y="5410200"/>
            <a:ext cx="4838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内容分把「标题里出现软压板」的课排前面；缺口加权再把「正好补当前 L1→L3 缺口」的课顶到最前。两者结合，才不会出现「搜到一堆相关课，却不知道该学哪一门」。</a:t>
            </a:r>
          </a:p>
        </p:txBody>
      </p:sp>
      <p:sp>
        <p:nvSpPr>
          <p:cNvPr id="63" name="">
            <a:extLst xmlns:a="http://schemas.openxmlformats.org/drawingml/2006/main">
              <a:ext uri="{FF2B5EF4-FFF2-40B4-BE49-F238E27FC236}">
                <a16:creationId xmlns:a16="http://schemas.microsoft.com/office/drawing/2014/main" id="{9BADD8EB-CFE1-4F4A-BD9B-42022DC649F8}"/>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99B0BA0E-9B15-4C7E-933E-B33E2AF800D2}"/>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65" name="">
            <a:extLst xmlns:a="http://schemas.openxmlformats.org/drawingml/2006/main">
              <a:ext uri="{FF2B5EF4-FFF2-40B4-BE49-F238E27FC236}">
                <a16:creationId xmlns:a16="http://schemas.microsoft.com/office/drawing/2014/main" id="{A7DE657A-8483-468D-8F90-94FD14915815}"/>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17</a:t>
            </a:r>
          </a:p>
        </p:txBody>
      </p:sp>
    </p:spTree>
    <p:extLst>
      <p:ext uri="{BB962C8B-B14F-4D97-AF65-F5344CB8AC3E}">
        <p14:creationId xmlns:p14="http://schemas.microsoft.com/office/powerpoint/2010/main" val="600413239"/>
      </p:ext>
    </p:extLst>
  </p:cSld>
</p:sld>
</file>

<file path=ppt/slides/slide18.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3E17F338-1830-484B-9E5F-06E8CDD13B19}"/>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E0371C8-5178-4A7C-9293-C47E1C0E50EB}"/>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27BB9F0-7CFA-484B-9013-B497A2F13E68}"/>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F5F7EE9-5D0D-4603-B0E6-AA2B5D2E1D85}"/>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BEE1D4D-A6F3-4434-8628-EA98A4EE56B1}"/>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DD408342-42C2-4A45-B57E-F86DB7B6D6D8}"/>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核心算法</a:t>
            </a:r>
          </a:p>
        </p:txBody>
      </p:sp>
      <p:sp>
        <p:nvSpPr>
          <p:cNvPr id="7" name="">
            <a:extLst xmlns:a="http://schemas.openxmlformats.org/drawingml/2006/main">
              <a:ext uri="{FF2B5EF4-FFF2-40B4-BE49-F238E27FC236}">
                <a16:creationId xmlns:a16="http://schemas.microsoft.com/office/drawing/2014/main" id="{09F85476-5BEF-4C46-94B9-66FB147BA0DD}"/>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8B72100-49DF-42ED-8E61-7FE994169A4B}"/>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算法小结 · 为什么不让大模型直接下结论</a:t>
            </a:r>
          </a:p>
        </p:txBody>
      </p:sp>
      <p:sp>
        <p:nvSpPr>
          <p:cNvPr id="9" name="">
            <a:extLst xmlns:a="http://schemas.openxmlformats.org/drawingml/2006/main">
              <a:ext uri="{FF2B5EF4-FFF2-40B4-BE49-F238E27FC236}">
                <a16:creationId xmlns:a16="http://schemas.microsoft.com/office/drawing/2014/main" id="{635DC198-0813-4C32-B5DC-42CCC84AADC2}"/>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075A640C-672E-4579-9862-063C487AAB0B}"/>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大模型负责把「话」变成「数」、再把「数」翻译回「话」；凡是涉及人和钱的判断，都交给可复算的算法。</a:t>
            </a:r>
          </a:p>
        </p:txBody>
      </p:sp>
      <p:sp>
        <p:nvSpPr>
          <p:cNvPr id="11" name="">
            <a:extLst xmlns:a="http://schemas.openxmlformats.org/drawingml/2006/main">
              <a:ext uri="{FF2B5EF4-FFF2-40B4-BE49-F238E27FC236}">
                <a16:creationId xmlns:a16="http://schemas.microsoft.com/office/drawing/2014/main" id="{AAC5B344-98BD-4F3B-8E6B-8693AF0BCECE}"/>
              </a:ext>
            </a:extLst>
          </p:cNvPr>
          <p:cNvSpPr>
            <a:spLocks xmlns:a="http://schemas.openxmlformats.org/drawingml/2006/main" noGrp="1"/>
          </p:cNvSpPr>
          <p:nvPr/>
        </p:nvSpPr>
        <p:spPr>
          <a:xfrm xmlns:a="http://schemas.openxmlformats.org/drawingml/2006/main">
            <a:off x="285750" y="1333500"/>
            <a:ext cx="3771900" cy="2857500"/>
          </a:xfrm>
          <a:prstGeom xmlns:a="http://schemas.openxmlformats.org/drawingml/2006/main" prst="roundRect">
            <a:avLst>
              <a:gd name="adj" fmla="val 2667"/>
            </a:avLst>
          </a:prstGeom>
          <a:solidFill xmlns:a="http://schemas.openxmlformats.org/drawingml/2006/main">
            <a:srgbClr val="0D2748"/>
          </a:solidFill>
          <a:ln xmlns:a="http://schemas.openxmlformats.org/drawingml/2006/main" w="9525">
            <a:solidFill>
              <a:srgbClr val="1B4C8A"/>
            </a:solidFill>
            <a:prstDash val="solid"/>
          </a:ln>
        </p:spPr>
      </p:sp>
      <p:sp>
        <p:nvSpPr>
          <p:cNvPr id="12" name="">
            <a:extLst xmlns:a="http://schemas.openxmlformats.org/drawingml/2006/main">
              <a:ext uri="{FF2B5EF4-FFF2-40B4-BE49-F238E27FC236}">
                <a16:creationId xmlns:a16="http://schemas.microsoft.com/office/drawing/2014/main" id="{ED47CB28-8FBE-426A-9594-774CFCD1882F}"/>
              </a:ext>
            </a:extLst>
          </p:cNvPr>
          <p:cNvSpPr>
            <a:spLocks xmlns:a="http://schemas.openxmlformats.org/drawingml/2006/main" noGrp="1"/>
          </p:cNvSpPr>
          <p:nvPr/>
        </p:nvSpPr>
        <p:spPr>
          <a:xfrm xmlns:a="http://schemas.openxmlformats.org/drawingml/2006/main">
            <a:off x="285750" y="1333500"/>
            <a:ext cx="3771900" cy="47625"/>
          </a:xfrm>
          <a:prstGeom xmlns:a="http://schemas.openxmlformats.org/drawingml/2006/main" prst="rect">
            <a:avLst/>
          </a:prstGeom>
          <a:solidFill xmlns:a="http://schemas.openxmlformats.org/drawingml/2006/main">
            <a:srgbClr val="9FC2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A19AEE9-782E-4471-A98D-4EA381ADBFD5}"/>
              </a:ext>
            </a:extLst>
          </p:cNvPr>
          <p:cNvSpPr>
            <a:spLocks xmlns:a="http://schemas.openxmlformats.org/drawingml/2006/main" noGrp="1"/>
          </p:cNvSpPr>
          <p:nvPr/>
        </p:nvSpPr>
        <p:spPr>
          <a:xfrm xmlns:a="http://schemas.openxmlformats.org/drawingml/2006/main">
            <a:off x="495300" y="1524000"/>
            <a:ext cx="3390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9FC2E8"/>
                </a:solidFill>
                <a:latin typeface="微软雅黑"/>
                <a:ea typeface="微软雅黑"/>
                <a:cs typeface="微软雅黑"/>
              </a:defRPr>
            </a:pPr>
            <a:r>
              <a:rPr sz="1425" b="1">
                <a:solidFill>
                  <a:srgbClr val="9FC2E8"/>
                </a:solidFill>
                <a:latin typeface="微软雅黑"/>
                <a:ea typeface="微软雅黑"/>
                <a:cs typeface="微软雅黑"/>
              </a:rPr>
              <a:t>纯规则</a:t>
            </a:r>
          </a:p>
        </p:txBody>
      </p:sp>
      <p:sp>
        <p:nvSpPr>
          <p:cNvPr id="14" name="">
            <a:extLst xmlns:a="http://schemas.openxmlformats.org/drawingml/2006/main">
              <a:ext uri="{FF2B5EF4-FFF2-40B4-BE49-F238E27FC236}">
                <a16:creationId xmlns:a16="http://schemas.microsoft.com/office/drawing/2014/main" id="{DD543052-047A-4F92-9F8A-CED08E312D5E}"/>
              </a:ext>
            </a:extLst>
          </p:cNvPr>
          <p:cNvSpPr>
            <a:spLocks xmlns:a="http://schemas.openxmlformats.org/drawingml/2006/main" noGrp="1"/>
          </p:cNvSpPr>
          <p:nvPr/>
        </p:nvSpPr>
        <p:spPr>
          <a:xfrm xmlns:a="http://schemas.openxmlformats.org/drawingml/2006/main">
            <a:off x="495300" y="1924050"/>
            <a:ext cx="34099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优点：确定、可复算、可离线、无幻觉</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缺点：规则条数随场景爆炸，无法理解自由文本</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在本系统中的位置：作为保底与定档，18 条规则覆盖 5 个场景</a:t>
            </a:r>
          </a:p>
        </p:txBody>
      </p:sp>
      <p:sp>
        <p:nvSpPr>
          <p:cNvPr id="15" name="">
            <a:extLst xmlns:a="http://schemas.openxmlformats.org/drawingml/2006/main">
              <a:ext uri="{FF2B5EF4-FFF2-40B4-BE49-F238E27FC236}">
                <a16:creationId xmlns:a16="http://schemas.microsoft.com/office/drawing/2014/main" id="{6CA9C2C8-1F0C-4764-8D7E-D02182D2C321}"/>
              </a:ext>
            </a:extLst>
          </p:cNvPr>
          <p:cNvSpPr>
            <a:spLocks xmlns:a="http://schemas.openxmlformats.org/drawingml/2006/main" noGrp="1"/>
          </p:cNvSpPr>
          <p:nvPr/>
        </p:nvSpPr>
        <p:spPr>
          <a:xfrm xmlns:a="http://schemas.openxmlformats.org/drawingml/2006/main">
            <a:off x="4229100" y="1333500"/>
            <a:ext cx="3771900" cy="2857500"/>
          </a:xfrm>
          <a:prstGeom xmlns:a="http://schemas.openxmlformats.org/drawingml/2006/main" prst="roundRect">
            <a:avLst>
              <a:gd name="adj" fmla="val 2667"/>
            </a:avLst>
          </a:prstGeom>
          <a:solidFill xmlns:a="http://schemas.openxmlformats.org/drawingml/2006/main">
            <a:srgbClr val="0D2748"/>
          </a:solidFill>
          <a:ln xmlns:a="http://schemas.openxmlformats.org/drawingml/2006/main" w="9525">
            <a:solidFill>
              <a:srgbClr val="1B4C8A"/>
            </a:solidFill>
            <a:prstDash val="solid"/>
          </a:ln>
        </p:spPr>
      </p:sp>
      <p:sp>
        <p:nvSpPr>
          <p:cNvPr id="16" name="">
            <a:extLst xmlns:a="http://schemas.openxmlformats.org/drawingml/2006/main">
              <a:ext uri="{FF2B5EF4-FFF2-40B4-BE49-F238E27FC236}">
                <a16:creationId xmlns:a16="http://schemas.microsoft.com/office/drawing/2014/main" id="{6F983F13-2D99-4690-A60B-84729707C212}"/>
              </a:ext>
            </a:extLst>
          </p:cNvPr>
          <p:cNvSpPr>
            <a:spLocks xmlns:a="http://schemas.openxmlformats.org/drawingml/2006/main" noGrp="1"/>
          </p:cNvSpPr>
          <p:nvPr/>
        </p:nvSpPr>
        <p:spPr>
          <a:xfrm xmlns:a="http://schemas.openxmlformats.org/drawingml/2006/main">
            <a:off x="4229100" y="1333500"/>
            <a:ext cx="3771900" cy="47625"/>
          </a:xfrm>
          <a:prstGeom xmlns:a="http://schemas.openxmlformats.org/drawingml/2006/main" prst="rect">
            <a:avLst/>
          </a:prstGeom>
          <a:solidFill xmlns:a="http://schemas.openxmlformats.org/drawingml/2006/main">
            <a:srgbClr val="F2705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B858431-90A5-455A-9C5D-FA97D6A1720A}"/>
              </a:ext>
            </a:extLst>
          </p:cNvPr>
          <p:cNvSpPr>
            <a:spLocks xmlns:a="http://schemas.openxmlformats.org/drawingml/2006/main" noGrp="1"/>
          </p:cNvSpPr>
          <p:nvPr/>
        </p:nvSpPr>
        <p:spPr>
          <a:xfrm xmlns:a="http://schemas.openxmlformats.org/drawingml/2006/main">
            <a:off x="4438650" y="1524000"/>
            <a:ext cx="3390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2705E"/>
                </a:solidFill>
                <a:latin typeface="微软雅黑"/>
                <a:ea typeface="微软雅黑"/>
                <a:cs typeface="微软雅黑"/>
              </a:defRPr>
            </a:pPr>
            <a:r>
              <a:rPr sz="1425" b="1">
                <a:solidFill>
                  <a:srgbClr val="F2705E"/>
                </a:solidFill>
                <a:latin typeface="微软雅黑"/>
                <a:ea typeface="微软雅黑"/>
                <a:cs typeface="微软雅黑"/>
              </a:rPr>
              <a:t>纯大模型</a:t>
            </a:r>
          </a:p>
        </p:txBody>
      </p:sp>
      <p:sp>
        <p:nvSpPr>
          <p:cNvPr id="18" name="">
            <a:extLst xmlns:a="http://schemas.openxmlformats.org/drawingml/2006/main">
              <a:ext uri="{FF2B5EF4-FFF2-40B4-BE49-F238E27FC236}">
                <a16:creationId xmlns:a16="http://schemas.microsoft.com/office/drawing/2014/main" id="{6CC2C48F-085A-4DFE-9BE9-54F7FF64B013}"/>
              </a:ext>
            </a:extLst>
          </p:cNvPr>
          <p:cNvSpPr>
            <a:spLocks xmlns:a="http://schemas.openxmlformats.org/drawingml/2006/main" noGrp="1"/>
          </p:cNvSpPr>
          <p:nvPr/>
        </p:nvSpPr>
        <p:spPr>
          <a:xfrm xmlns:a="http://schemas.openxmlformats.org/drawingml/2006/main">
            <a:off x="4438650" y="1924050"/>
            <a:ext cx="34099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优点：能读自由文本、能生成自然语言解释</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缺点：结论不可复算、有随机性、断网即失效、无法追责</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在本系统中的位置：仅作为可选增强（AI_ENABLED 默认 false）</a:t>
            </a:r>
          </a:p>
        </p:txBody>
      </p:sp>
      <p:sp>
        <p:nvSpPr>
          <p:cNvPr id="19" name="">
            <a:extLst xmlns:a="http://schemas.openxmlformats.org/drawingml/2006/main">
              <a:ext uri="{FF2B5EF4-FFF2-40B4-BE49-F238E27FC236}">
                <a16:creationId xmlns:a16="http://schemas.microsoft.com/office/drawing/2014/main" id="{B7CD29D1-BBDC-4D36-8FFF-7A1A6B1F1617}"/>
              </a:ext>
            </a:extLst>
          </p:cNvPr>
          <p:cNvSpPr>
            <a:spLocks xmlns:a="http://schemas.openxmlformats.org/drawingml/2006/main" noGrp="1"/>
          </p:cNvSpPr>
          <p:nvPr/>
        </p:nvSpPr>
        <p:spPr>
          <a:xfrm xmlns:a="http://schemas.openxmlformats.org/drawingml/2006/main">
            <a:off x="8172450" y="1333500"/>
            <a:ext cx="3771900" cy="2857500"/>
          </a:xfrm>
          <a:prstGeom xmlns:a="http://schemas.openxmlformats.org/drawingml/2006/main" prst="roundRect">
            <a:avLst>
              <a:gd name="adj" fmla="val 2667"/>
            </a:avLst>
          </a:prstGeom>
          <a:solidFill xmlns:a="http://schemas.openxmlformats.org/drawingml/2006/main">
            <a:srgbClr val="0F3159"/>
          </a:solidFill>
          <a:ln xmlns:a="http://schemas.openxmlformats.org/drawingml/2006/main" w="9525">
            <a:solidFill>
              <a:srgbClr val="3FD08A"/>
            </a:solidFill>
            <a:prstDash val="solid"/>
          </a:ln>
        </p:spPr>
      </p:sp>
      <p:sp>
        <p:nvSpPr>
          <p:cNvPr id="20" name="">
            <a:extLst xmlns:a="http://schemas.openxmlformats.org/drawingml/2006/main">
              <a:ext uri="{FF2B5EF4-FFF2-40B4-BE49-F238E27FC236}">
                <a16:creationId xmlns:a16="http://schemas.microsoft.com/office/drawing/2014/main" id="{04137AD0-415A-4FC8-BE4D-4C160F767D9F}"/>
              </a:ext>
            </a:extLst>
          </p:cNvPr>
          <p:cNvSpPr>
            <a:spLocks xmlns:a="http://schemas.openxmlformats.org/drawingml/2006/main" noGrp="1"/>
          </p:cNvSpPr>
          <p:nvPr/>
        </p:nvSpPr>
        <p:spPr>
          <a:xfrm xmlns:a="http://schemas.openxmlformats.org/drawingml/2006/main">
            <a:off x="8172450" y="1333500"/>
            <a:ext cx="3771900" cy="47625"/>
          </a:xfrm>
          <a:prstGeom xmlns:a="http://schemas.openxmlformats.org/drawingml/2006/main" prst="rect">
            <a:avLst/>
          </a:prstGeom>
          <a:solidFill xmlns:a="http://schemas.openxmlformats.org/drawingml/2006/main">
            <a:srgbClr val="3FD08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D036783-9B34-428C-8237-46CE72E509A8}"/>
              </a:ext>
            </a:extLst>
          </p:cNvPr>
          <p:cNvSpPr>
            <a:spLocks xmlns:a="http://schemas.openxmlformats.org/drawingml/2006/main" noGrp="1"/>
          </p:cNvSpPr>
          <p:nvPr/>
        </p:nvSpPr>
        <p:spPr>
          <a:xfrm xmlns:a="http://schemas.openxmlformats.org/drawingml/2006/main">
            <a:off x="8382000" y="1524000"/>
            <a:ext cx="3390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3FD08A"/>
                </a:solidFill>
                <a:latin typeface="微软雅黑"/>
                <a:ea typeface="微软雅黑"/>
                <a:cs typeface="微软雅黑"/>
              </a:defRPr>
            </a:pPr>
            <a:r>
              <a:rPr sz="1425" b="1">
                <a:solidFill>
                  <a:srgbClr val="3FD08A"/>
                </a:solidFill>
                <a:latin typeface="微软雅黑"/>
                <a:ea typeface="微软雅黑"/>
                <a:cs typeface="微软雅黑"/>
              </a:rPr>
              <a:t>本系统（规则 + 引用事实）</a:t>
            </a:r>
          </a:p>
        </p:txBody>
      </p:sp>
      <p:sp>
        <p:nvSpPr>
          <p:cNvPr id="22" name="">
            <a:extLst xmlns:a="http://schemas.openxmlformats.org/drawingml/2006/main">
              <a:ext uri="{FF2B5EF4-FFF2-40B4-BE49-F238E27FC236}">
                <a16:creationId xmlns:a16="http://schemas.microsoft.com/office/drawing/2014/main" id="{D2A28E82-F817-4189-8222-5FB9594D33C8}"/>
              </a:ext>
            </a:extLst>
          </p:cNvPr>
          <p:cNvSpPr>
            <a:spLocks xmlns:a="http://schemas.openxmlformats.org/drawingml/2006/main" noGrp="1"/>
          </p:cNvSpPr>
          <p:nvPr/>
        </p:nvSpPr>
        <p:spPr>
          <a:xfrm xmlns:a="http://schemas.openxmlformats.org/drawingml/2006/main">
            <a:off x="8382000" y="1924050"/>
            <a:ext cx="34099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优点：判断逻辑进库，规则条数不再爆炸</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缺点：需要先把事实字段定义清楚（这也是我们做的事）</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在本系统中的位置：决策主链路，结论带 rule_code 与依据事实</a:t>
            </a:r>
          </a:p>
        </p:txBody>
      </p:sp>
      <p:sp>
        <p:nvSpPr>
          <p:cNvPr id="23" name="">
            <a:extLst xmlns:a="http://schemas.openxmlformats.org/drawingml/2006/main">
              <a:ext uri="{FF2B5EF4-FFF2-40B4-BE49-F238E27FC236}">
                <a16:creationId xmlns:a16="http://schemas.microsoft.com/office/drawing/2014/main" id="{E73484B5-7397-48D1-9BE4-098FBE494CC5}"/>
              </a:ext>
            </a:extLst>
          </p:cNvPr>
          <p:cNvSpPr>
            <a:spLocks xmlns:a="http://schemas.openxmlformats.org/drawingml/2006/main" noGrp="1"/>
          </p:cNvSpPr>
          <p:nvPr/>
        </p:nvSpPr>
        <p:spPr>
          <a:xfrm xmlns:a="http://schemas.openxmlformats.org/drawingml/2006/main">
            <a:off x="285750" y="4343400"/>
            <a:ext cx="11620500" cy="1009650"/>
          </a:xfrm>
          <a:prstGeom xmlns:a="http://schemas.openxmlformats.org/drawingml/2006/main" prst="roundRect">
            <a:avLst>
              <a:gd name="adj" fmla="val 7547"/>
            </a:avLst>
          </a:prstGeom>
          <a:solidFill xmlns:a="http://schemas.openxmlformats.org/drawingml/2006/main">
            <a:srgbClr val="0A2547"/>
          </a:solidFill>
          <a:ln xmlns:a="http://schemas.openxmlformats.org/drawingml/2006/main" w="9525">
            <a:solidFill>
              <a:srgbClr val="2A6BAE"/>
            </a:solidFill>
            <a:prstDash val="solid"/>
          </a:ln>
        </p:spPr>
      </p:sp>
      <p:sp>
        <p:nvSpPr>
          <p:cNvPr id="24" name="">
            <a:extLst xmlns:a="http://schemas.openxmlformats.org/drawingml/2006/main">
              <a:ext uri="{FF2B5EF4-FFF2-40B4-BE49-F238E27FC236}">
                <a16:creationId xmlns:a16="http://schemas.microsoft.com/office/drawing/2014/main" id="{E7828196-D598-4DB0-B407-6E0C168169B6}"/>
              </a:ext>
            </a:extLst>
          </p:cNvPr>
          <p:cNvSpPr>
            <a:spLocks xmlns:a="http://schemas.openxmlformats.org/drawingml/2006/main" noGrp="1"/>
          </p:cNvSpPr>
          <p:nvPr/>
        </p:nvSpPr>
        <p:spPr>
          <a:xfrm xmlns:a="http://schemas.openxmlformats.org/drawingml/2006/main">
            <a:off x="495300" y="4457700"/>
            <a:ext cx="1123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F5C33B"/>
                </a:solidFill>
                <a:latin typeface="微软雅黑"/>
                <a:ea typeface="微软雅黑"/>
                <a:cs typeface="微软雅黑"/>
              </a:defRPr>
            </a:pPr>
            <a:r>
              <a:rPr sz="1088" b="1">
                <a:solidFill>
                  <a:srgbClr val="F5C33B"/>
                </a:solidFill>
                <a:latin typeface="微软雅黑"/>
                <a:ea typeface="微软雅黑"/>
                <a:cs typeface="微软雅黑"/>
              </a:rPr>
              <a:t>大模型与本系统的分工（也是未来升级模型的接入点）</a:t>
            </a:r>
          </a:p>
        </p:txBody>
      </p:sp>
      <p:sp>
        <p:nvSpPr>
          <p:cNvPr id="25" name="">
            <a:extLst xmlns:a="http://schemas.openxmlformats.org/drawingml/2006/main">
              <a:ext uri="{FF2B5EF4-FFF2-40B4-BE49-F238E27FC236}">
                <a16:creationId xmlns:a16="http://schemas.microsoft.com/office/drawing/2014/main" id="{00ED7CAF-A360-4CBB-A65B-3325B6080525}"/>
              </a:ext>
            </a:extLst>
          </p:cNvPr>
          <p:cNvSpPr>
            <a:spLocks xmlns:a="http://schemas.openxmlformats.org/drawingml/2006/main" noGrp="1"/>
          </p:cNvSpPr>
          <p:nvPr/>
        </p:nvSpPr>
        <p:spPr>
          <a:xfrm xmlns:a="http://schemas.openxmlformats.org/drawingml/2006/main">
            <a:off x="495300" y="4743450"/>
            <a:ext cx="1123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D6E6F7"/>
                </a:solidFill>
                <a:latin typeface="微软雅黑"/>
                <a:ea typeface="微软雅黑"/>
                <a:cs typeface="微软雅黑"/>
              </a:defRPr>
            </a:pPr>
            <a:r>
              <a:rPr sz="938" b="1">
                <a:solidFill>
                  <a:srgbClr val="D6E6F7"/>
                </a:solidFill>
                <a:latin typeface="微软雅黑"/>
                <a:ea typeface="微软雅黑"/>
                <a:cs typeface="微软雅黑"/>
              </a:rPr>
              <a:t>大模型做翻译　</a:t>
            </a:r>
            <a:r>
              <a:rPr sz="938">
                <a:solidFill>
                  <a:srgbClr val="D6E6F7"/>
                </a:solidFill>
                <a:latin typeface="微软雅黑"/>
                <a:ea typeface="微软雅黑"/>
                <a:cs typeface="微软雅黑"/>
              </a:rPr>
              <a:t>把报告、SOP 等自由文本抽取成结构化事实（如 over_threshold、ratio、现象关键词），以及把算法结论翻译回人话。</a:t>
            </a:r>
          </a:p>
          <a:p xmlns:a="http://schemas.openxmlformats.org/drawingml/2006/main">
            <a:pPr algn="l">
              <a:lnSpc>
                <a:spcPct val="155000"/>
              </a:lnSpc>
              <a:buNone/>
              <a:defRPr sz="938">
                <a:solidFill>
                  <a:srgbClr val="D6E6F7"/>
                </a:solidFill>
                <a:latin typeface="微软雅黑"/>
                <a:ea typeface="微软雅黑"/>
                <a:cs typeface="微软雅黑"/>
              </a:defRPr>
            </a:pPr>
            <a:r>
              <a:rPr sz="938" b="1">
                <a:solidFill>
                  <a:srgbClr val="D6E6F7"/>
                </a:solidFill>
                <a:latin typeface="微软雅黑"/>
                <a:ea typeface="微软雅黑"/>
                <a:cs typeface="微软雅黑"/>
              </a:rPr>
              <a:t>算法做决策　</a:t>
            </a:r>
            <a:r>
              <a:rPr sz="938">
                <a:solidFill>
                  <a:srgbClr val="D6E6F7"/>
                </a:solidFill>
                <a:latin typeface="微软雅黑"/>
                <a:ea typeface="微软雅黑"/>
                <a:cs typeface="微软雅黑"/>
              </a:rPr>
              <a:t>涉及人（晋升、转岗、培训）和钱（招聘、外委）的判断全部由规则引擎生成，保证有数学定义、有唯一解、可复算、可申诉。</a:t>
            </a:r>
          </a:p>
        </p:txBody>
      </p:sp>
      <p:sp>
        <p:nvSpPr>
          <p:cNvPr id="26" name="">
            <a:extLst xmlns:a="http://schemas.openxmlformats.org/drawingml/2006/main">
              <a:ext uri="{FF2B5EF4-FFF2-40B4-BE49-F238E27FC236}">
                <a16:creationId xmlns:a16="http://schemas.microsoft.com/office/drawing/2014/main" id="{9395F396-2AF7-4E74-A949-7135BFE8D70A}"/>
              </a:ext>
            </a:extLst>
          </p:cNvPr>
          <p:cNvSpPr>
            <a:spLocks xmlns:a="http://schemas.openxmlformats.org/drawingml/2006/main" noGrp="1"/>
          </p:cNvSpPr>
          <p:nvPr/>
        </p:nvSpPr>
        <p:spPr>
          <a:xfrm xmlns:a="http://schemas.openxmlformats.org/drawingml/2006/main">
            <a:off x="285750" y="5505450"/>
            <a:ext cx="3771900" cy="914400"/>
          </a:xfrm>
          <a:prstGeom xmlns:a="http://schemas.openxmlformats.org/drawingml/2006/main" prst="roundRect">
            <a:avLst>
              <a:gd name="adj" fmla="val 8333"/>
            </a:avLst>
          </a:prstGeom>
          <a:solidFill xmlns:a="http://schemas.openxmlformats.org/drawingml/2006/main">
            <a:srgbClr val="0D2748"/>
          </a:solidFill>
          <a:ln xmlns:a="http://schemas.openxmlformats.org/drawingml/2006/main" w="9525">
            <a:solidFill>
              <a:srgbClr val="1B4C8A"/>
            </a:solidFill>
            <a:prstDash val="solid"/>
          </a:ln>
        </p:spPr>
      </p:sp>
      <p:sp>
        <p:nvSpPr>
          <p:cNvPr id="27" name="">
            <a:extLst xmlns:a="http://schemas.openxmlformats.org/drawingml/2006/main">
              <a:ext uri="{FF2B5EF4-FFF2-40B4-BE49-F238E27FC236}">
                <a16:creationId xmlns:a16="http://schemas.microsoft.com/office/drawing/2014/main" id="{D85CAAE2-EF04-4ED1-A310-2EC3B067586F}"/>
              </a:ext>
            </a:extLst>
          </p:cNvPr>
          <p:cNvSpPr>
            <a:spLocks xmlns:a="http://schemas.openxmlformats.org/drawingml/2006/main" noGrp="1"/>
          </p:cNvSpPr>
          <p:nvPr/>
        </p:nvSpPr>
        <p:spPr>
          <a:xfrm xmlns:a="http://schemas.openxmlformats.org/drawingml/2006/main">
            <a:off x="457200" y="5600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无匹配规则时</a:t>
            </a:r>
          </a:p>
        </p:txBody>
      </p:sp>
      <p:sp>
        <p:nvSpPr>
          <p:cNvPr id="28" name="">
            <a:extLst xmlns:a="http://schemas.openxmlformats.org/drawingml/2006/main">
              <a:ext uri="{FF2B5EF4-FFF2-40B4-BE49-F238E27FC236}">
                <a16:creationId xmlns:a16="http://schemas.microsoft.com/office/drawing/2014/main" id="{0BF3F909-140E-487A-B0A5-93CB94963A8F}"/>
              </a:ext>
            </a:extLst>
          </p:cNvPr>
          <p:cNvSpPr>
            <a:spLocks xmlns:a="http://schemas.openxmlformats.org/drawingml/2006/main" noGrp="1"/>
          </p:cNvSpPr>
          <p:nvPr/>
        </p:nvSpPr>
        <p:spPr>
          <a:xfrm xmlns:a="http://schemas.openxmlformats.org/drawingml/2006/main">
            <a:off x="457200" y="5848350"/>
            <a:ext cx="3448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返回 matched=false 的兜底输出，并给出「未命中任何规则」的原因，接口不报错</a:t>
            </a:r>
          </a:p>
        </p:txBody>
      </p:sp>
      <p:sp>
        <p:nvSpPr>
          <p:cNvPr id="29" name="">
            <a:extLst xmlns:a="http://schemas.openxmlformats.org/drawingml/2006/main">
              <a:ext uri="{FF2B5EF4-FFF2-40B4-BE49-F238E27FC236}">
                <a16:creationId xmlns:a16="http://schemas.microsoft.com/office/drawing/2014/main" id="{7450F563-E38B-4A6D-89D5-BE1CA7935095}"/>
              </a:ext>
            </a:extLst>
          </p:cNvPr>
          <p:cNvSpPr>
            <a:spLocks xmlns:a="http://schemas.openxmlformats.org/drawingml/2006/main" noGrp="1"/>
          </p:cNvSpPr>
          <p:nvPr/>
        </p:nvSpPr>
        <p:spPr>
          <a:xfrm xmlns:a="http://schemas.openxmlformats.org/drawingml/2006/main">
            <a:off x="4229100" y="5505450"/>
            <a:ext cx="3771900" cy="914400"/>
          </a:xfrm>
          <a:prstGeom xmlns:a="http://schemas.openxmlformats.org/drawingml/2006/main" prst="roundRect">
            <a:avLst>
              <a:gd name="adj" fmla="val 8333"/>
            </a:avLst>
          </a:prstGeom>
          <a:solidFill xmlns:a="http://schemas.openxmlformats.org/drawingml/2006/main">
            <a:srgbClr val="0D2748"/>
          </a:solidFill>
          <a:ln xmlns:a="http://schemas.openxmlformats.org/drawingml/2006/main" w="9525">
            <a:solidFill>
              <a:srgbClr val="1B4C8A"/>
            </a:solidFill>
            <a:prstDash val="solid"/>
          </a:ln>
        </p:spPr>
      </p:sp>
      <p:sp>
        <p:nvSpPr>
          <p:cNvPr id="30" name="">
            <a:extLst xmlns:a="http://schemas.openxmlformats.org/drawingml/2006/main">
              <a:ext uri="{FF2B5EF4-FFF2-40B4-BE49-F238E27FC236}">
                <a16:creationId xmlns:a16="http://schemas.microsoft.com/office/drawing/2014/main" id="{46C5A38E-18C4-4D0A-A524-60E5B585603C}"/>
              </a:ext>
            </a:extLst>
          </p:cNvPr>
          <p:cNvSpPr>
            <a:spLocks xmlns:a="http://schemas.openxmlformats.org/drawingml/2006/main" noGrp="1"/>
          </p:cNvSpPr>
          <p:nvPr/>
        </p:nvSpPr>
        <p:spPr>
          <a:xfrm xmlns:a="http://schemas.openxmlformats.org/drawingml/2006/main">
            <a:off x="4400550" y="5600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字段缺失或类型不对时</a:t>
            </a:r>
          </a:p>
        </p:txBody>
      </p:sp>
      <p:sp>
        <p:nvSpPr>
          <p:cNvPr id="31" name="">
            <a:extLst xmlns:a="http://schemas.openxmlformats.org/drawingml/2006/main">
              <a:ext uri="{FF2B5EF4-FFF2-40B4-BE49-F238E27FC236}">
                <a16:creationId xmlns:a16="http://schemas.microsoft.com/office/drawing/2014/main" id="{DC4F691D-1B17-4891-B6B8-DC3F8D7B0A04}"/>
              </a:ext>
            </a:extLst>
          </p:cNvPr>
          <p:cNvSpPr>
            <a:spLocks xmlns:a="http://schemas.openxmlformats.org/drawingml/2006/main" noGrp="1"/>
          </p:cNvSpPr>
          <p:nvPr/>
        </p:nvSpPr>
        <p:spPr>
          <a:xfrm xmlns:a="http://schemas.openxmlformats.org/drawingml/2006/main">
            <a:off x="4400550" y="5848350"/>
            <a:ext cx="3448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该条规则计入 skipped 并记录原因，其余规则继续执行，不影响整体结论</a:t>
            </a:r>
          </a:p>
        </p:txBody>
      </p:sp>
      <p:sp>
        <p:nvSpPr>
          <p:cNvPr id="32" name="">
            <a:extLst xmlns:a="http://schemas.openxmlformats.org/drawingml/2006/main">
              <a:ext uri="{FF2B5EF4-FFF2-40B4-BE49-F238E27FC236}">
                <a16:creationId xmlns:a16="http://schemas.microsoft.com/office/drawing/2014/main" id="{BEA03FCB-EECB-48AB-9181-BA1C2187714C}"/>
              </a:ext>
            </a:extLst>
          </p:cNvPr>
          <p:cNvSpPr>
            <a:spLocks xmlns:a="http://schemas.openxmlformats.org/drawingml/2006/main" noGrp="1"/>
          </p:cNvSpPr>
          <p:nvPr/>
        </p:nvSpPr>
        <p:spPr>
          <a:xfrm xmlns:a="http://schemas.openxmlformats.org/drawingml/2006/main">
            <a:off x="8172450" y="5505450"/>
            <a:ext cx="3771900" cy="914400"/>
          </a:xfrm>
          <a:prstGeom xmlns:a="http://schemas.openxmlformats.org/drawingml/2006/main" prst="roundRect">
            <a:avLst>
              <a:gd name="adj" fmla="val 8333"/>
            </a:avLst>
          </a:prstGeom>
          <a:solidFill xmlns:a="http://schemas.openxmlformats.org/drawingml/2006/main">
            <a:srgbClr val="0D2748"/>
          </a:solidFill>
          <a:ln xmlns:a="http://schemas.openxmlformats.org/drawingml/2006/main" w="9525">
            <a:solidFill>
              <a:srgbClr val="1B4C8A"/>
            </a:solidFill>
            <a:prstDash val="solid"/>
          </a:ln>
        </p:spPr>
      </p:sp>
      <p:sp>
        <p:nvSpPr>
          <p:cNvPr id="33" name="">
            <a:extLst xmlns:a="http://schemas.openxmlformats.org/drawingml/2006/main">
              <a:ext uri="{FF2B5EF4-FFF2-40B4-BE49-F238E27FC236}">
                <a16:creationId xmlns:a16="http://schemas.microsoft.com/office/drawing/2014/main" id="{E1FE4497-86B6-4252-A0EB-E95E4D5EB17C}"/>
              </a:ext>
            </a:extLst>
          </p:cNvPr>
          <p:cNvSpPr>
            <a:spLocks xmlns:a="http://schemas.openxmlformats.org/drawingml/2006/main" noGrp="1"/>
          </p:cNvSpPr>
          <p:nvPr/>
        </p:nvSpPr>
        <p:spPr>
          <a:xfrm xmlns:a="http://schemas.openxmlformats.org/drawingml/2006/main">
            <a:off x="8343900" y="5600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规则被管理员停用后</a:t>
            </a:r>
          </a:p>
        </p:txBody>
      </p:sp>
      <p:sp>
        <p:nvSpPr>
          <p:cNvPr id="34" name="">
            <a:extLst xmlns:a="http://schemas.openxmlformats.org/drawingml/2006/main">
              <a:ext uri="{FF2B5EF4-FFF2-40B4-BE49-F238E27FC236}">
                <a16:creationId xmlns:a16="http://schemas.microsoft.com/office/drawing/2014/main" id="{384D459B-8C92-4121-8F21-1B62A1BF9D6B}"/>
              </a:ext>
            </a:extLst>
          </p:cNvPr>
          <p:cNvSpPr>
            <a:spLocks xmlns:a="http://schemas.openxmlformats.org/drawingml/2006/main" noGrp="1"/>
          </p:cNvSpPr>
          <p:nvPr/>
        </p:nvSpPr>
        <p:spPr>
          <a:xfrm xmlns:a="http://schemas.openxmlformats.org/drawingml/2006/main">
            <a:off x="8343900" y="5848350"/>
            <a:ext cx="3448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重复执行 008 / 009 脚本不会把手工停用的规则重新启用（幂等自验）</a:t>
            </a:r>
          </a:p>
        </p:txBody>
      </p:sp>
      <p:sp>
        <p:nvSpPr>
          <p:cNvPr id="35" name="">
            <a:extLst xmlns:a="http://schemas.openxmlformats.org/drawingml/2006/main">
              <a:ext uri="{FF2B5EF4-FFF2-40B4-BE49-F238E27FC236}">
                <a16:creationId xmlns:a16="http://schemas.microsoft.com/office/drawing/2014/main" id="{013E9185-8443-49C9-AA15-3AB417417C44}"/>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24A47CA-7C53-4916-A326-CF1AFA565FCC}"/>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37" name="">
            <a:extLst xmlns:a="http://schemas.openxmlformats.org/drawingml/2006/main">
              <a:ext uri="{FF2B5EF4-FFF2-40B4-BE49-F238E27FC236}">
                <a16:creationId xmlns:a16="http://schemas.microsoft.com/office/drawing/2014/main" id="{A6AEC433-FE13-45A5-9E7B-315F1CA7415E}"/>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18</a:t>
            </a:r>
          </a:p>
        </p:txBody>
      </p:sp>
    </p:spTree>
    <p:extLst>
      <p:ext uri="{BB962C8B-B14F-4D97-AF65-F5344CB8AC3E}">
        <p14:creationId xmlns:p14="http://schemas.microsoft.com/office/powerpoint/2010/main" val="693897443"/>
      </p:ext>
    </p:extLst>
  </p:cSld>
</p:sld>
</file>

<file path=ppt/slides/slide19.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9815402-AC30-41EF-9689-6D5BFA46AB28}"/>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FBA9CF1-297C-4CBF-8ADC-C2A402BCA875}"/>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3375791-D81D-40DF-84FA-4A7C98B05D54}"/>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6BD5FD3-983B-4C8E-A3D4-2A78B6F7172C}"/>
              </a:ext>
            </a:extLst>
          </p:cNvPr>
          <p:cNvSpPr>
            <a:spLocks xmlns:a="http://schemas.openxmlformats.org/drawingml/2006/main" noGrp="1"/>
          </p:cNvSpPr>
          <p:nvPr/>
        </p:nvSpPr>
        <p:spPr>
          <a:xfrm xmlns:a="http://schemas.openxmlformats.org/drawingml/2006/main">
            <a:off x="857250" y="1866900"/>
            <a:ext cx="3810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0" b="1">
                <a:solidFill>
                  <a:srgbClr val="12365F"/>
                </a:solidFill>
                <a:latin typeface="Arial"/>
                <a:ea typeface="Arial"/>
                <a:cs typeface="Arial"/>
              </a:defRPr>
            </a:pPr>
            <a:r>
              <a:rPr sz="9000" b="1">
                <a:solidFill>
                  <a:srgbClr val="12365F"/>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20E9D046-6D83-4BEB-B0D8-5131DE65C211}"/>
              </a:ext>
            </a:extLst>
          </p:cNvPr>
          <p:cNvSpPr>
            <a:spLocks xmlns:a="http://schemas.openxmlformats.org/drawingml/2006/main" noGrp="1"/>
          </p:cNvSpPr>
          <p:nvPr/>
        </p:nvSpPr>
        <p:spPr>
          <a:xfrm xmlns:a="http://schemas.openxmlformats.org/drawingml/2006/main">
            <a:off x="914400" y="2857500"/>
            <a:ext cx="666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3300" b="1">
                <a:solidFill>
                  <a:srgbClr val="FFFFFF"/>
                </a:solidFill>
                <a:latin typeface="微软雅黑"/>
                <a:ea typeface="微软雅黑"/>
                <a:cs typeface="微软雅黑"/>
              </a:defRPr>
            </a:pPr>
            <a:r>
              <a:rPr sz="3300" b="1">
                <a:solidFill>
                  <a:srgbClr val="FFFFFF"/>
                </a:solidFill>
                <a:latin typeface="微软雅黑"/>
                <a:ea typeface="微软雅黑"/>
                <a:cs typeface="微软雅黑"/>
              </a:rPr>
              <a:t>系统实现</a:t>
            </a:r>
          </a:p>
        </p:txBody>
      </p:sp>
      <p:sp>
        <p:nvSpPr>
          <p:cNvPr id="6" name="">
            <a:extLst xmlns:a="http://schemas.openxmlformats.org/drawingml/2006/main">
              <a:ext uri="{FF2B5EF4-FFF2-40B4-BE49-F238E27FC236}">
                <a16:creationId xmlns:a16="http://schemas.microsoft.com/office/drawing/2014/main" id="{651A78E0-E719-4E5F-B4CD-D7B1E98FF0B1}"/>
              </a:ext>
            </a:extLst>
          </p:cNvPr>
          <p:cNvSpPr>
            <a:spLocks xmlns:a="http://schemas.openxmlformats.org/drawingml/2006/main" noGrp="1"/>
          </p:cNvSpPr>
          <p:nvPr/>
        </p:nvSpPr>
        <p:spPr>
          <a:xfrm xmlns:a="http://schemas.openxmlformats.org/drawingml/2006/main">
            <a:off x="952500" y="348615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050" b="0">
                <a:solidFill>
                  <a:srgbClr val="31C7F0"/>
                </a:solidFill>
                <a:latin typeface="Arial"/>
                <a:ea typeface="Arial"/>
                <a:cs typeface="Arial"/>
              </a:defRPr>
            </a:pPr>
            <a:r>
              <a:rPr sz="1050" b="0">
                <a:solidFill>
                  <a:srgbClr val="31C7F0"/>
                </a:solidFill>
                <a:latin typeface="Arial"/>
                <a:ea typeface="Arial"/>
                <a:cs typeface="Arial"/>
              </a:rPr>
              <a:t>IMPLEMENTATION · SYSTEM &amp; ROLES</a:t>
            </a:r>
          </a:p>
        </p:txBody>
      </p:sp>
      <p:sp>
        <p:nvSpPr>
          <p:cNvPr id="7" name="">
            <a:extLst xmlns:a="http://schemas.openxmlformats.org/drawingml/2006/main">
              <a:ext uri="{FF2B5EF4-FFF2-40B4-BE49-F238E27FC236}">
                <a16:creationId xmlns:a16="http://schemas.microsoft.com/office/drawing/2014/main" id="{3C749526-A11B-44AD-9C0B-A86B7525F6F5}"/>
              </a:ext>
            </a:extLst>
          </p:cNvPr>
          <p:cNvSpPr>
            <a:spLocks xmlns:a="http://schemas.openxmlformats.org/drawingml/2006/main" noGrp="1"/>
          </p:cNvSpPr>
          <p:nvPr/>
        </p:nvSpPr>
        <p:spPr>
          <a:xfrm xmlns:a="http://schemas.openxmlformats.org/drawingml/2006/main">
            <a:off x="952500" y="3905250"/>
            <a:ext cx="857250" cy="28575"/>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3159FA7-3F62-4B69-A633-7CD8B67268D4}"/>
              </a:ext>
            </a:extLst>
          </p:cNvPr>
          <p:cNvSpPr>
            <a:spLocks xmlns:a="http://schemas.openxmlformats.org/drawingml/2006/main" noGrp="1"/>
          </p:cNvSpPr>
          <p:nvPr/>
        </p:nvSpPr>
        <p:spPr>
          <a:xfrm xmlns:a="http://schemas.openxmlformats.org/drawingml/2006/main">
            <a:off x="952500" y="4152900"/>
            <a:ext cx="590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90000"/>
              </a:lnSpc>
              <a:buNone/>
              <a:defRPr sz="1125">
                <a:solidFill>
                  <a:srgbClr val="9FC2E8"/>
                </a:solidFill>
                <a:latin typeface="微软雅黑"/>
                <a:ea typeface="微软雅黑"/>
                <a:cs typeface="微软雅黑"/>
              </a:defRPr>
            </a:pPr>
            <a:r>
              <a:rPr sz="1125">
                <a:solidFill>
                  <a:srgbClr val="9FC2E8"/>
                </a:solidFill>
                <a:latin typeface="微软雅黑"/>
                <a:ea typeface="微软雅黑"/>
                <a:cs typeface="微软雅黑"/>
              </a:rPr>
              <a:t>从架构到界面：先讲清系统边界，再用真实系统截图说话</a:t>
            </a:r>
          </a:p>
          <a:p xmlns:a="http://schemas.openxmlformats.org/drawingml/2006/main">
            <a:pPr algn="l">
              <a:lnSpc>
                <a:spcPct val="190000"/>
              </a:lnSpc>
              <a:buNone/>
              <a:defRPr sz="1125">
                <a:solidFill>
                  <a:srgbClr val="9FC2E8"/>
                </a:solidFill>
                <a:latin typeface="微软雅黑"/>
                <a:ea typeface="微软雅黑"/>
                <a:cs typeface="微软雅黑"/>
              </a:defRPr>
            </a:pPr>
            <a:r>
              <a:rPr sz="1125">
                <a:solidFill>
                  <a:srgbClr val="9FC2E8"/>
                </a:solidFill>
                <a:latin typeface="微软雅黑"/>
                <a:ea typeface="微软雅黑"/>
                <a:cs typeface="微软雅黑"/>
              </a:rPr>
              <a:t>技能画像 · 实操归因 · 组卷考试 · 运行诊断 · 审计溯源</a:t>
            </a:r>
          </a:p>
          <a:p xmlns:a="http://schemas.openxmlformats.org/drawingml/2006/main">
            <a:pPr algn="l">
              <a:lnSpc>
                <a:spcPct val="190000"/>
              </a:lnSpc>
              <a:buNone/>
              <a:defRPr sz="1125">
                <a:solidFill>
                  <a:srgbClr val="9FC2E8"/>
                </a:solidFill>
                <a:latin typeface="微软雅黑"/>
                <a:ea typeface="微软雅黑"/>
                <a:cs typeface="微软雅黑"/>
              </a:defRPr>
            </a:pPr>
            <a:r>
              <a:rPr sz="1125">
                <a:solidFill>
                  <a:srgbClr val="9FC2E8"/>
                </a:solidFill>
                <a:latin typeface="微软雅黑"/>
                <a:ea typeface="微软雅黑"/>
                <a:cs typeface="微软雅黑"/>
              </a:rPr>
              <a:t>员工 / 班组长 / 管理者 / 管理员四类角色的功能边界与数据流</a:t>
            </a:r>
          </a:p>
        </p:txBody>
      </p:sp>
    </p:spTree>
    <p:extLst>
      <p:ext uri="{BB962C8B-B14F-4D97-AF65-F5344CB8AC3E}">
        <p14:creationId xmlns:p14="http://schemas.microsoft.com/office/powerpoint/2010/main" val="855627632"/>
      </p:ext>
    </p:extLst>
  </p:cSld>
</p:sld>
</file>

<file path=ppt/slides/slide20.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71" name="">
            <a:extLst xmlns:a="http://schemas.openxmlformats.org/drawingml/2006/main">
              <a:ext uri="{FF2B5EF4-FFF2-40B4-BE49-F238E27FC236}">
                <a16:creationId xmlns:a16="http://schemas.microsoft.com/office/drawing/2014/main" id="{06FB7026-3FA3-4106-A0CC-63F9CEB79A70}"/>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4E8FE76-BB6B-47C0-A0DD-27432E6B3856}"/>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2456DE7-4342-45A6-A276-475322A91D05}"/>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68AA5AE-DB89-4BA0-8D7C-0B9B2ED1E2AD}"/>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6FAE389-C77C-46D1-8367-AD59DCEFF1F1}"/>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E2C7F820-6761-46EF-9F8C-ED2DF57AEA54}"/>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系统实现</a:t>
            </a:r>
          </a:p>
        </p:txBody>
      </p:sp>
      <p:sp>
        <p:nvSpPr>
          <p:cNvPr id="7" name="">
            <a:extLst xmlns:a="http://schemas.openxmlformats.org/drawingml/2006/main">
              <a:ext uri="{FF2B5EF4-FFF2-40B4-BE49-F238E27FC236}">
                <a16:creationId xmlns:a16="http://schemas.microsoft.com/office/drawing/2014/main" id="{6F15EF79-6229-441A-A576-0852159F6ADD}"/>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4D47E22-6A7E-488F-88FC-B1440FB59FA0}"/>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软件系统架构：四层解耦、互补牵连</a:t>
            </a:r>
          </a:p>
        </p:txBody>
      </p:sp>
      <p:sp>
        <p:nvSpPr>
          <p:cNvPr id="9" name="">
            <a:extLst xmlns:a="http://schemas.openxmlformats.org/drawingml/2006/main">
              <a:ext uri="{FF2B5EF4-FFF2-40B4-BE49-F238E27FC236}">
                <a16:creationId xmlns:a16="http://schemas.microsoft.com/office/drawing/2014/main" id="{7899DD97-9F35-445F-B4B1-0CE2D561AB58}"/>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2F283E37-3606-45AC-9168-1C243F406E2A}"/>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换页面、换 Agent、调规则三件事互不影响——因为它们被四层架构隔开了。</a:t>
            </a:r>
          </a:p>
        </p:txBody>
      </p:sp>
      <p:sp>
        <p:nvSpPr>
          <p:cNvPr id="11" name="">
            <a:extLst xmlns:a="http://schemas.openxmlformats.org/drawingml/2006/main">
              <a:ext uri="{FF2B5EF4-FFF2-40B4-BE49-F238E27FC236}">
                <a16:creationId xmlns:a16="http://schemas.microsoft.com/office/drawing/2014/main" id="{E2469C3E-7FCC-4046-A11E-349A0606ED43}"/>
              </a:ext>
            </a:extLst>
          </p:cNvPr>
          <p:cNvSpPr>
            <a:spLocks xmlns:a="http://schemas.openxmlformats.org/drawingml/2006/main" noGrp="1"/>
          </p:cNvSpPr>
          <p:nvPr/>
        </p:nvSpPr>
        <p:spPr>
          <a:xfrm xmlns:a="http://schemas.openxmlformats.org/drawingml/2006/main">
            <a:off x="285750" y="1333500"/>
            <a:ext cx="7620000" cy="1066800"/>
          </a:xfrm>
          <a:prstGeom xmlns:a="http://schemas.openxmlformats.org/drawingml/2006/main" prst="roundRect">
            <a:avLst>
              <a:gd name="adj" fmla="val 7143"/>
            </a:avLst>
          </a:prstGeom>
          <a:solidFill xmlns:a="http://schemas.openxmlformats.org/drawingml/2006/main">
            <a:srgbClr val="0F3159"/>
          </a:solidFill>
          <a:ln xmlns:a="http://schemas.openxmlformats.org/drawingml/2006/main" w="9525">
            <a:solidFill>
              <a:srgbClr val="1B4C8A"/>
            </a:solidFill>
            <a:prstDash val="solid"/>
          </a:ln>
        </p:spPr>
      </p:sp>
      <p:sp>
        <p:nvSpPr>
          <p:cNvPr id="12" name="">
            <a:extLst xmlns:a="http://schemas.openxmlformats.org/drawingml/2006/main">
              <a:ext uri="{FF2B5EF4-FFF2-40B4-BE49-F238E27FC236}">
                <a16:creationId xmlns:a16="http://schemas.microsoft.com/office/drawing/2014/main" id="{8F4DAF69-7341-4E0C-B45B-1A11413CBD55}"/>
              </a:ext>
            </a:extLst>
          </p:cNvPr>
          <p:cNvSpPr>
            <a:spLocks xmlns:a="http://schemas.openxmlformats.org/drawingml/2006/main" noGrp="1"/>
          </p:cNvSpPr>
          <p:nvPr/>
        </p:nvSpPr>
        <p:spPr>
          <a:xfrm xmlns:a="http://schemas.openxmlformats.org/drawingml/2006/main">
            <a:off x="285750" y="1333500"/>
            <a:ext cx="47625" cy="1066800"/>
          </a:xfrm>
          <a:prstGeom xmlns:a="http://schemas.openxmlformats.org/drawingml/2006/main" prst="rect">
            <a:avLst/>
          </a:prstGeom>
          <a:solidFill xmlns:a="http://schemas.openxmlformats.org/drawingml/2006/main">
            <a:srgbClr val="31C7F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89472F8-8006-4CAE-99A9-86A6CD6847CC}"/>
              </a:ext>
            </a:extLst>
          </p:cNvPr>
          <p:cNvSpPr>
            <a:spLocks xmlns:a="http://schemas.openxmlformats.org/drawingml/2006/main" noGrp="1"/>
          </p:cNvSpPr>
          <p:nvPr/>
        </p:nvSpPr>
        <p:spPr>
          <a:xfrm xmlns:a="http://schemas.openxmlformats.org/drawingml/2006/main">
            <a:off x="476250" y="171450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31C7F0"/>
                </a:solidFill>
                <a:latin typeface="微软雅黑"/>
                <a:ea typeface="微软雅黑"/>
                <a:cs typeface="微软雅黑"/>
              </a:defRPr>
            </a:pPr>
            <a:r>
              <a:rPr sz="1125" b="1">
                <a:solidFill>
                  <a:srgbClr val="31C7F0"/>
                </a:solidFill>
                <a:latin typeface="微软雅黑"/>
                <a:ea typeface="微软雅黑"/>
                <a:cs typeface="微软雅黑"/>
              </a:rPr>
              <a:t>应用层</a:t>
            </a:r>
          </a:p>
        </p:txBody>
      </p:sp>
      <p:sp>
        <p:nvSpPr>
          <p:cNvPr id="14" name="">
            <a:extLst xmlns:a="http://schemas.openxmlformats.org/drawingml/2006/main">
              <a:ext uri="{FF2B5EF4-FFF2-40B4-BE49-F238E27FC236}">
                <a16:creationId xmlns:a16="http://schemas.microsoft.com/office/drawing/2014/main" id="{74F82C5B-438B-44DB-94E8-6EF270E402B0}"/>
              </a:ext>
            </a:extLst>
          </p:cNvPr>
          <p:cNvSpPr>
            <a:spLocks xmlns:a="http://schemas.openxmlformats.org/drawingml/2006/main" noGrp="1"/>
          </p:cNvSpPr>
          <p:nvPr/>
        </p:nvSpPr>
        <p:spPr>
          <a:xfrm xmlns:a="http://schemas.openxmlformats.org/drawingml/2006/main">
            <a:off x="1409700" y="1466850"/>
            <a:ext cx="2019300" cy="323850"/>
          </a:xfrm>
          <a:prstGeom xmlns:a="http://schemas.openxmlformats.org/drawingml/2006/main" prst="roundRect">
            <a:avLst>
              <a:gd name="adj" fmla="val 17647"/>
            </a:avLst>
          </a:prstGeom>
          <a:solidFill xmlns:a="http://schemas.openxmlformats.org/drawingml/2006/main">
            <a:srgbClr val="0A2244"/>
          </a:solidFill>
          <a:ln xmlns:a="http://schemas.openxmlformats.org/drawingml/2006/main" w="9525">
            <a:solidFill>
              <a:srgbClr val="1A4478"/>
            </a:solidFill>
            <a:prstDash val="solid"/>
          </a:ln>
        </p:spPr>
      </p:sp>
      <p:sp>
        <p:nvSpPr>
          <p:cNvPr id="15" name="">
            <a:extLst xmlns:a="http://schemas.openxmlformats.org/drawingml/2006/main">
              <a:ext uri="{FF2B5EF4-FFF2-40B4-BE49-F238E27FC236}">
                <a16:creationId xmlns:a16="http://schemas.microsoft.com/office/drawing/2014/main" id="{A0D5D888-E65F-4AE2-99F0-E03D11F7A5CF}"/>
              </a:ext>
            </a:extLst>
          </p:cNvPr>
          <p:cNvSpPr>
            <a:spLocks xmlns:a="http://schemas.openxmlformats.org/drawingml/2006/main" noGrp="1"/>
          </p:cNvSpPr>
          <p:nvPr/>
        </p:nvSpPr>
        <p:spPr>
          <a:xfrm xmlns:a="http://schemas.openxmlformats.org/drawingml/2006/main">
            <a:off x="1409700" y="1466850"/>
            <a:ext cx="201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个人系统：员工看短板</a:t>
            </a:r>
          </a:p>
        </p:txBody>
      </p:sp>
      <p:sp>
        <p:nvSpPr>
          <p:cNvPr id="16" name="">
            <a:extLst xmlns:a="http://schemas.openxmlformats.org/drawingml/2006/main">
              <a:ext uri="{FF2B5EF4-FFF2-40B4-BE49-F238E27FC236}">
                <a16:creationId xmlns:a16="http://schemas.microsoft.com/office/drawing/2014/main" id="{95262DE6-E6BA-4C0E-9FF9-CDB56D91FD0D}"/>
              </a:ext>
            </a:extLst>
          </p:cNvPr>
          <p:cNvSpPr>
            <a:spLocks xmlns:a="http://schemas.openxmlformats.org/drawingml/2006/main" noGrp="1"/>
          </p:cNvSpPr>
          <p:nvPr/>
        </p:nvSpPr>
        <p:spPr>
          <a:xfrm xmlns:a="http://schemas.openxmlformats.org/drawingml/2006/main">
            <a:off x="3543300" y="1466850"/>
            <a:ext cx="2019300" cy="323850"/>
          </a:xfrm>
          <a:prstGeom xmlns:a="http://schemas.openxmlformats.org/drawingml/2006/main" prst="roundRect">
            <a:avLst>
              <a:gd name="adj" fmla="val 17647"/>
            </a:avLst>
          </a:prstGeom>
          <a:solidFill xmlns:a="http://schemas.openxmlformats.org/drawingml/2006/main">
            <a:srgbClr val="0A2244"/>
          </a:solidFill>
          <a:ln xmlns:a="http://schemas.openxmlformats.org/drawingml/2006/main" w="9525">
            <a:solidFill>
              <a:srgbClr val="1A4478"/>
            </a:solidFill>
            <a:prstDash val="solid"/>
          </a:ln>
        </p:spPr>
      </p:sp>
      <p:sp>
        <p:nvSpPr>
          <p:cNvPr id="17" name="">
            <a:extLst xmlns:a="http://schemas.openxmlformats.org/drawingml/2006/main">
              <a:ext uri="{FF2B5EF4-FFF2-40B4-BE49-F238E27FC236}">
                <a16:creationId xmlns:a16="http://schemas.microsoft.com/office/drawing/2014/main" id="{9E549544-F6A5-4570-BAE5-2D2AB571E66F}"/>
              </a:ext>
            </a:extLst>
          </p:cNvPr>
          <p:cNvSpPr>
            <a:spLocks xmlns:a="http://schemas.openxmlformats.org/drawingml/2006/main" noGrp="1"/>
          </p:cNvSpPr>
          <p:nvPr/>
        </p:nvSpPr>
        <p:spPr>
          <a:xfrm xmlns:a="http://schemas.openxmlformats.org/drawingml/2006/main">
            <a:off x="3543300" y="1466850"/>
            <a:ext cx="201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考试系统：统一开考判卷</a:t>
            </a:r>
          </a:p>
        </p:txBody>
      </p:sp>
      <p:sp>
        <p:nvSpPr>
          <p:cNvPr id="18" name="">
            <a:extLst xmlns:a="http://schemas.openxmlformats.org/drawingml/2006/main">
              <a:ext uri="{FF2B5EF4-FFF2-40B4-BE49-F238E27FC236}">
                <a16:creationId xmlns:a16="http://schemas.microsoft.com/office/drawing/2014/main" id="{80F0F1FE-D405-4FA1-97FC-02A8C3D55829}"/>
              </a:ext>
            </a:extLst>
          </p:cNvPr>
          <p:cNvSpPr>
            <a:spLocks xmlns:a="http://schemas.openxmlformats.org/drawingml/2006/main" noGrp="1"/>
          </p:cNvSpPr>
          <p:nvPr/>
        </p:nvSpPr>
        <p:spPr>
          <a:xfrm xmlns:a="http://schemas.openxmlformats.org/drawingml/2006/main">
            <a:off x="5676900" y="1466850"/>
            <a:ext cx="2019300" cy="323850"/>
          </a:xfrm>
          <a:prstGeom xmlns:a="http://schemas.openxmlformats.org/drawingml/2006/main" prst="roundRect">
            <a:avLst>
              <a:gd name="adj" fmla="val 17647"/>
            </a:avLst>
          </a:prstGeom>
          <a:solidFill xmlns:a="http://schemas.openxmlformats.org/drawingml/2006/main">
            <a:srgbClr val="0A2244"/>
          </a:solidFill>
          <a:ln xmlns:a="http://schemas.openxmlformats.org/drawingml/2006/main" w="9525">
            <a:solidFill>
              <a:srgbClr val="1A4478"/>
            </a:solidFill>
            <a:prstDash val="solid"/>
          </a:ln>
        </p:spPr>
      </p:sp>
      <p:sp>
        <p:nvSpPr>
          <p:cNvPr id="19" name="">
            <a:extLst xmlns:a="http://schemas.openxmlformats.org/drawingml/2006/main">
              <a:ext uri="{FF2B5EF4-FFF2-40B4-BE49-F238E27FC236}">
                <a16:creationId xmlns:a16="http://schemas.microsoft.com/office/drawing/2014/main" id="{FD9FE70C-8EE4-45DE-9115-A768DEE4834B}"/>
              </a:ext>
            </a:extLst>
          </p:cNvPr>
          <p:cNvSpPr>
            <a:spLocks xmlns:a="http://schemas.openxmlformats.org/drawingml/2006/main" noGrp="1"/>
          </p:cNvSpPr>
          <p:nvPr/>
        </p:nvSpPr>
        <p:spPr>
          <a:xfrm xmlns:a="http://schemas.openxmlformats.org/drawingml/2006/main">
            <a:off x="5676900" y="1466850"/>
            <a:ext cx="201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管理后台：看缺口配规则</a:t>
            </a:r>
          </a:p>
        </p:txBody>
      </p:sp>
      <p:sp>
        <p:nvSpPr>
          <p:cNvPr id="20" name="">
            <a:extLst xmlns:a="http://schemas.openxmlformats.org/drawingml/2006/main">
              <a:ext uri="{FF2B5EF4-FFF2-40B4-BE49-F238E27FC236}">
                <a16:creationId xmlns:a16="http://schemas.microsoft.com/office/drawing/2014/main" id="{EB16F4AE-CFD8-4DF9-AD2E-8000817E055A}"/>
              </a:ext>
            </a:extLst>
          </p:cNvPr>
          <p:cNvSpPr>
            <a:spLocks xmlns:a="http://schemas.openxmlformats.org/drawingml/2006/main" noGrp="1"/>
          </p:cNvSpPr>
          <p:nvPr/>
        </p:nvSpPr>
        <p:spPr>
          <a:xfrm xmlns:a="http://schemas.openxmlformats.org/drawingml/2006/main">
            <a:off x="1409700" y="1885950"/>
            <a:ext cx="6400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四端页面共用同一套能力数据；页面可增删，引擎与接口不动。</a:t>
            </a:r>
          </a:p>
        </p:txBody>
      </p:sp>
      <p:sp>
        <p:nvSpPr>
          <p:cNvPr id="21" name="">
            <a:extLst xmlns:a="http://schemas.openxmlformats.org/drawingml/2006/main">
              <a:ext uri="{FF2B5EF4-FFF2-40B4-BE49-F238E27FC236}">
                <a16:creationId xmlns:a16="http://schemas.microsoft.com/office/drawing/2014/main" id="{C2E9CC9F-9AB2-405B-92A4-40659DB7057C}"/>
              </a:ext>
            </a:extLst>
          </p:cNvPr>
          <p:cNvSpPr>
            <a:spLocks xmlns:a="http://schemas.openxmlformats.org/drawingml/2006/main" noGrp="1"/>
          </p:cNvSpPr>
          <p:nvPr/>
        </p:nvSpPr>
        <p:spPr>
          <a:xfrm xmlns:a="http://schemas.openxmlformats.org/drawingml/2006/main">
            <a:off x="285750" y="2514600"/>
            <a:ext cx="7620000" cy="1066800"/>
          </a:xfrm>
          <a:prstGeom xmlns:a="http://schemas.openxmlformats.org/drawingml/2006/main" prst="roundRect">
            <a:avLst>
              <a:gd name="adj" fmla="val 7143"/>
            </a:avLst>
          </a:prstGeom>
          <a:solidFill xmlns:a="http://schemas.openxmlformats.org/drawingml/2006/main">
            <a:srgbClr val="0C2A50"/>
          </a:solidFill>
          <a:ln xmlns:a="http://schemas.openxmlformats.org/drawingml/2006/main" w="9525">
            <a:solidFill>
              <a:srgbClr val="1B4C8A"/>
            </a:solidFill>
            <a:prstDash val="solid"/>
          </a:ln>
        </p:spPr>
      </p:sp>
      <p:sp>
        <p:nvSpPr>
          <p:cNvPr id="22" name="">
            <a:extLst xmlns:a="http://schemas.openxmlformats.org/drawingml/2006/main">
              <a:ext uri="{FF2B5EF4-FFF2-40B4-BE49-F238E27FC236}">
                <a16:creationId xmlns:a16="http://schemas.microsoft.com/office/drawing/2014/main" id="{787D37F1-450E-4180-91A6-922CE4514977}"/>
              </a:ext>
            </a:extLst>
          </p:cNvPr>
          <p:cNvSpPr>
            <a:spLocks xmlns:a="http://schemas.openxmlformats.org/drawingml/2006/main" noGrp="1"/>
          </p:cNvSpPr>
          <p:nvPr/>
        </p:nvSpPr>
        <p:spPr>
          <a:xfrm xmlns:a="http://schemas.openxmlformats.org/drawingml/2006/main">
            <a:off x="285750" y="2514600"/>
            <a:ext cx="47625" cy="1066800"/>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020DEF1-4D2D-44CB-AB82-8DE95D09E32D}"/>
              </a:ext>
            </a:extLst>
          </p:cNvPr>
          <p:cNvSpPr>
            <a:spLocks xmlns:a="http://schemas.openxmlformats.org/drawingml/2006/main" noGrp="1"/>
          </p:cNvSpPr>
          <p:nvPr/>
        </p:nvSpPr>
        <p:spPr>
          <a:xfrm xmlns:a="http://schemas.openxmlformats.org/drawingml/2006/main">
            <a:off x="476250" y="289560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2E86E8"/>
                </a:solidFill>
                <a:latin typeface="微软雅黑"/>
                <a:ea typeface="微软雅黑"/>
                <a:cs typeface="微软雅黑"/>
              </a:defRPr>
            </a:pPr>
            <a:r>
              <a:rPr sz="1125" b="1">
                <a:solidFill>
                  <a:srgbClr val="2E86E8"/>
                </a:solidFill>
                <a:latin typeface="微软雅黑"/>
                <a:ea typeface="微软雅黑"/>
                <a:cs typeface="微软雅黑"/>
              </a:rPr>
              <a:t>智能层</a:t>
            </a:r>
          </a:p>
        </p:txBody>
      </p:sp>
      <p:sp>
        <p:nvSpPr>
          <p:cNvPr id="24" name="">
            <a:extLst xmlns:a="http://schemas.openxmlformats.org/drawingml/2006/main">
              <a:ext uri="{FF2B5EF4-FFF2-40B4-BE49-F238E27FC236}">
                <a16:creationId xmlns:a16="http://schemas.microsoft.com/office/drawing/2014/main" id="{3CC05F48-ADBA-4B4A-8A01-8C575A71C1E3}"/>
              </a:ext>
            </a:extLst>
          </p:cNvPr>
          <p:cNvSpPr>
            <a:spLocks xmlns:a="http://schemas.openxmlformats.org/drawingml/2006/main" noGrp="1"/>
          </p:cNvSpPr>
          <p:nvPr/>
        </p:nvSpPr>
        <p:spPr>
          <a:xfrm xmlns:a="http://schemas.openxmlformats.org/drawingml/2006/main">
            <a:off x="1409700" y="2647950"/>
            <a:ext cx="2019300" cy="323850"/>
          </a:xfrm>
          <a:prstGeom xmlns:a="http://schemas.openxmlformats.org/drawingml/2006/main" prst="roundRect">
            <a:avLst>
              <a:gd name="adj" fmla="val 17647"/>
            </a:avLst>
          </a:prstGeom>
          <a:solidFill xmlns:a="http://schemas.openxmlformats.org/drawingml/2006/main">
            <a:srgbClr val="0A2244"/>
          </a:solidFill>
          <a:ln xmlns:a="http://schemas.openxmlformats.org/drawingml/2006/main" w="9525">
            <a:solidFill>
              <a:srgbClr val="1A4478"/>
            </a:solidFill>
            <a:prstDash val="solid"/>
          </a:ln>
        </p:spPr>
      </p:sp>
      <p:sp>
        <p:nvSpPr>
          <p:cNvPr id="25" name="">
            <a:extLst xmlns:a="http://schemas.openxmlformats.org/drawingml/2006/main">
              <a:ext uri="{FF2B5EF4-FFF2-40B4-BE49-F238E27FC236}">
                <a16:creationId xmlns:a16="http://schemas.microsoft.com/office/drawing/2014/main" id="{D57FF63A-662C-4A21-B892-E340E06C7367}"/>
              </a:ext>
            </a:extLst>
          </p:cNvPr>
          <p:cNvSpPr>
            <a:spLocks xmlns:a="http://schemas.openxmlformats.org/drawingml/2006/main" noGrp="1"/>
          </p:cNvSpPr>
          <p:nvPr/>
        </p:nvSpPr>
        <p:spPr>
          <a:xfrm xmlns:a="http://schemas.openxmlformats.org/drawingml/2006/main">
            <a:off x="1409700" y="2647950"/>
            <a:ext cx="201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规则引擎 RuleEngine</a:t>
            </a:r>
          </a:p>
        </p:txBody>
      </p:sp>
      <p:sp>
        <p:nvSpPr>
          <p:cNvPr id="26" name="">
            <a:extLst xmlns:a="http://schemas.openxmlformats.org/drawingml/2006/main">
              <a:ext uri="{FF2B5EF4-FFF2-40B4-BE49-F238E27FC236}">
                <a16:creationId xmlns:a16="http://schemas.microsoft.com/office/drawing/2014/main" id="{AEADE38A-A50C-416B-B1BA-44EEC63BD577}"/>
              </a:ext>
            </a:extLst>
          </p:cNvPr>
          <p:cNvSpPr>
            <a:spLocks xmlns:a="http://schemas.openxmlformats.org/drawingml/2006/main" noGrp="1"/>
          </p:cNvSpPr>
          <p:nvPr/>
        </p:nvSpPr>
        <p:spPr>
          <a:xfrm xmlns:a="http://schemas.openxmlformats.org/drawingml/2006/main">
            <a:off x="3543300" y="2647950"/>
            <a:ext cx="2019300" cy="323850"/>
          </a:xfrm>
          <a:prstGeom xmlns:a="http://schemas.openxmlformats.org/drawingml/2006/main" prst="roundRect">
            <a:avLst>
              <a:gd name="adj" fmla="val 17647"/>
            </a:avLst>
          </a:prstGeom>
          <a:solidFill xmlns:a="http://schemas.openxmlformats.org/drawingml/2006/main">
            <a:srgbClr val="0A2244"/>
          </a:solidFill>
          <a:ln xmlns:a="http://schemas.openxmlformats.org/drawingml/2006/main" w="9525">
            <a:solidFill>
              <a:srgbClr val="1A4478"/>
            </a:solidFill>
            <a:prstDash val="solid"/>
          </a:ln>
        </p:spPr>
      </p:sp>
      <p:sp>
        <p:nvSpPr>
          <p:cNvPr id="27" name="">
            <a:extLst xmlns:a="http://schemas.openxmlformats.org/drawingml/2006/main">
              <a:ext uri="{FF2B5EF4-FFF2-40B4-BE49-F238E27FC236}">
                <a16:creationId xmlns:a16="http://schemas.microsoft.com/office/drawing/2014/main" id="{C8E8C814-7073-4E96-BE66-99708A13EE97}"/>
              </a:ext>
            </a:extLst>
          </p:cNvPr>
          <p:cNvSpPr>
            <a:spLocks xmlns:a="http://schemas.openxmlformats.org/drawingml/2006/main" noGrp="1"/>
          </p:cNvSpPr>
          <p:nvPr/>
        </p:nvSpPr>
        <p:spPr>
          <a:xfrm xmlns:a="http://schemas.openxmlformats.org/drawingml/2006/main">
            <a:off x="3543300" y="2647950"/>
            <a:ext cx="201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三个 Agent 接口（稳定契约）</a:t>
            </a:r>
          </a:p>
        </p:txBody>
      </p:sp>
      <p:sp>
        <p:nvSpPr>
          <p:cNvPr id="28" name="">
            <a:extLst xmlns:a="http://schemas.openxmlformats.org/drawingml/2006/main">
              <a:ext uri="{FF2B5EF4-FFF2-40B4-BE49-F238E27FC236}">
                <a16:creationId xmlns:a16="http://schemas.microsoft.com/office/drawing/2014/main" id="{318437C6-FED8-46BC-91E0-97A3D4B0172F}"/>
              </a:ext>
            </a:extLst>
          </p:cNvPr>
          <p:cNvSpPr>
            <a:spLocks xmlns:a="http://schemas.openxmlformats.org/drawingml/2006/main" noGrp="1"/>
          </p:cNvSpPr>
          <p:nvPr/>
        </p:nvSpPr>
        <p:spPr>
          <a:xfrm xmlns:a="http://schemas.openxmlformats.org/drawingml/2006/main">
            <a:off x="5676900" y="2647950"/>
            <a:ext cx="2019300" cy="323850"/>
          </a:xfrm>
          <a:prstGeom xmlns:a="http://schemas.openxmlformats.org/drawingml/2006/main" prst="roundRect">
            <a:avLst>
              <a:gd name="adj" fmla="val 17647"/>
            </a:avLst>
          </a:prstGeom>
          <a:solidFill xmlns:a="http://schemas.openxmlformats.org/drawingml/2006/main">
            <a:srgbClr val="0A2244"/>
          </a:solidFill>
          <a:ln xmlns:a="http://schemas.openxmlformats.org/drawingml/2006/main" w="9525">
            <a:solidFill>
              <a:srgbClr val="1A4478"/>
            </a:solidFill>
            <a:prstDash val="solid"/>
          </a:ln>
        </p:spPr>
      </p:sp>
      <p:sp>
        <p:nvSpPr>
          <p:cNvPr id="29" name="">
            <a:extLst xmlns:a="http://schemas.openxmlformats.org/drawingml/2006/main">
              <a:ext uri="{FF2B5EF4-FFF2-40B4-BE49-F238E27FC236}">
                <a16:creationId xmlns:a16="http://schemas.microsoft.com/office/drawing/2014/main" id="{EED6A186-7415-441B-A082-A4FFD5FF1F85}"/>
              </a:ext>
            </a:extLst>
          </p:cNvPr>
          <p:cNvSpPr>
            <a:spLocks xmlns:a="http://schemas.openxmlformats.org/drawingml/2006/main" noGrp="1"/>
          </p:cNvSpPr>
          <p:nvPr/>
        </p:nvSpPr>
        <p:spPr>
          <a:xfrm xmlns:a="http://schemas.openxmlformats.org/drawingml/2006/main">
            <a:off x="5676900" y="2647950"/>
            <a:ext cx="201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source=rule → model</a:t>
            </a:r>
          </a:p>
        </p:txBody>
      </p:sp>
      <p:sp>
        <p:nvSpPr>
          <p:cNvPr id="30" name="">
            <a:extLst xmlns:a="http://schemas.openxmlformats.org/drawingml/2006/main">
              <a:ext uri="{FF2B5EF4-FFF2-40B4-BE49-F238E27FC236}">
                <a16:creationId xmlns:a16="http://schemas.microsoft.com/office/drawing/2014/main" id="{AE930215-546D-48B3-A6B0-F19CE393FD9E}"/>
              </a:ext>
            </a:extLst>
          </p:cNvPr>
          <p:cNvSpPr>
            <a:spLocks xmlns:a="http://schemas.openxmlformats.org/drawingml/2006/main" noGrp="1"/>
          </p:cNvSpPr>
          <p:nvPr/>
        </p:nvSpPr>
        <p:spPr>
          <a:xfrm xmlns:a="http://schemas.openxmlformats.org/drawingml/2006/main">
            <a:off x="1409700" y="3067050"/>
            <a:ext cx="6400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只换 Service 实现：Controller / DTO / 接口路径与前端全部不动。</a:t>
            </a:r>
          </a:p>
        </p:txBody>
      </p:sp>
      <p:sp>
        <p:nvSpPr>
          <p:cNvPr id="31" name="">
            <a:extLst xmlns:a="http://schemas.openxmlformats.org/drawingml/2006/main">
              <a:ext uri="{FF2B5EF4-FFF2-40B4-BE49-F238E27FC236}">
                <a16:creationId xmlns:a16="http://schemas.microsoft.com/office/drawing/2014/main" id="{5751BFAE-D0BA-4AE1-AE18-AEE2BEAC6A93}"/>
              </a:ext>
            </a:extLst>
          </p:cNvPr>
          <p:cNvSpPr>
            <a:spLocks xmlns:a="http://schemas.openxmlformats.org/drawingml/2006/main" noGrp="1"/>
          </p:cNvSpPr>
          <p:nvPr/>
        </p:nvSpPr>
        <p:spPr>
          <a:xfrm xmlns:a="http://schemas.openxmlformats.org/drawingml/2006/main">
            <a:off x="285750" y="3695700"/>
            <a:ext cx="7620000" cy="1066800"/>
          </a:xfrm>
          <a:prstGeom xmlns:a="http://schemas.openxmlformats.org/drawingml/2006/main" prst="roundRect">
            <a:avLst>
              <a:gd name="adj" fmla="val 7143"/>
            </a:avLst>
          </a:prstGeom>
          <a:solidFill xmlns:a="http://schemas.openxmlformats.org/drawingml/2006/main">
            <a:srgbClr val="0F3159"/>
          </a:solidFill>
          <a:ln xmlns:a="http://schemas.openxmlformats.org/drawingml/2006/main" w="9525">
            <a:solidFill>
              <a:srgbClr val="1B4C8A"/>
            </a:solidFill>
            <a:prstDash val="solid"/>
          </a:ln>
        </p:spPr>
      </p:sp>
      <p:sp>
        <p:nvSpPr>
          <p:cNvPr id="32" name="">
            <a:extLst xmlns:a="http://schemas.openxmlformats.org/drawingml/2006/main">
              <a:ext uri="{FF2B5EF4-FFF2-40B4-BE49-F238E27FC236}">
                <a16:creationId xmlns:a16="http://schemas.microsoft.com/office/drawing/2014/main" id="{DDDFE81E-8C6F-4D5D-B0A8-FC1FCF473B56}"/>
              </a:ext>
            </a:extLst>
          </p:cNvPr>
          <p:cNvSpPr>
            <a:spLocks xmlns:a="http://schemas.openxmlformats.org/drawingml/2006/main" noGrp="1"/>
          </p:cNvSpPr>
          <p:nvPr/>
        </p:nvSpPr>
        <p:spPr>
          <a:xfrm xmlns:a="http://schemas.openxmlformats.org/drawingml/2006/main">
            <a:off x="285750" y="3695700"/>
            <a:ext cx="47625" cy="1066800"/>
          </a:xfrm>
          <a:prstGeom xmlns:a="http://schemas.openxmlformats.org/drawingml/2006/main" prst="rect">
            <a:avLst/>
          </a:prstGeom>
          <a:solidFill xmlns:a="http://schemas.openxmlformats.org/drawingml/2006/main">
            <a:srgbClr val="3FD08A"/>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798B40C8-FC50-410C-A8CD-CE9D1E3E7484}"/>
              </a:ext>
            </a:extLst>
          </p:cNvPr>
          <p:cNvSpPr>
            <a:spLocks xmlns:a="http://schemas.openxmlformats.org/drawingml/2006/main" noGrp="1"/>
          </p:cNvSpPr>
          <p:nvPr/>
        </p:nvSpPr>
        <p:spPr>
          <a:xfrm xmlns:a="http://schemas.openxmlformats.org/drawingml/2006/main">
            <a:off x="476250" y="407670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3FD08A"/>
                </a:solidFill>
                <a:latin typeface="微软雅黑"/>
                <a:ea typeface="微软雅黑"/>
                <a:cs typeface="微软雅黑"/>
              </a:defRPr>
            </a:pPr>
            <a:r>
              <a:rPr sz="1125" b="1">
                <a:solidFill>
                  <a:srgbClr val="3FD08A"/>
                </a:solidFill>
                <a:latin typeface="微软雅黑"/>
                <a:ea typeface="微软雅黑"/>
                <a:cs typeface="微软雅黑"/>
              </a:rPr>
              <a:t>数据层</a:t>
            </a:r>
          </a:p>
        </p:txBody>
      </p:sp>
      <p:sp>
        <p:nvSpPr>
          <p:cNvPr id="34" name="">
            <a:extLst xmlns:a="http://schemas.openxmlformats.org/drawingml/2006/main">
              <a:ext uri="{FF2B5EF4-FFF2-40B4-BE49-F238E27FC236}">
                <a16:creationId xmlns:a16="http://schemas.microsoft.com/office/drawing/2014/main" id="{76D882F9-B41B-4345-8B5B-B8C9B94086E9}"/>
              </a:ext>
            </a:extLst>
          </p:cNvPr>
          <p:cNvSpPr>
            <a:spLocks xmlns:a="http://schemas.openxmlformats.org/drawingml/2006/main" noGrp="1"/>
          </p:cNvSpPr>
          <p:nvPr/>
        </p:nvSpPr>
        <p:spPr>
          <a:xfrm xmlns:a="http://schemas.openxmlformats.org/drawingml/2006/main">
            <a:off x="1409700" y="3829050"/>
            <a:ext cx="2019300" cy="323850"/>
          </a:xfrm>
          <a:prstGeom xmlns:a="http://schemas.openxmlformats.org/drawingml/2006/main" prst="roundRect">
            <a:avLst>
              <a:gd name="adj" fmla="val 17647"/>
            </a:avLst>
          </a:prstGeom>
          <a:solidFill xmlns:a="http://schemas.openxmlformats.org/drawingml/2006/main">
            <a:srgbClr val="0A2244"/>
          </a:solidFill>
          <a:ln xmlns:a="http://schemas.openxmlformats.org/drawingml/2006/main" w="9525">
            <a:solidFill>
              <a:srgbClr val="1A4478"/>
            </a:solidFill>
            <a:prstDash val="solid"/>
          </a:ln>
        </p:spPr>
      </p:sp>
      <p:sp>
        <p:nvSpPr>
          <p:cNvPr id="35" name="">
            <a:extLst xmlns:a="http://schemas.openxmlformats.org/drawingml/2006/main">
              <a:ext uri="{FF2B5EF4-FFF2-40B4-BE49-F238E27FC236}">
                <a16:creationId xmlns:a16="http://schemas.microsoft.com/office/drawing/2014/main" id="{D01EAB88-92BC-4CCF-B405-BBF3203083CD}"/>
              </a:ext>
            </a:extLst>
          </p:cNvPr>
          <p:cNvSpPr>
            <a:spLocks xmlns:a="http://schemas.openxmlformats.org/drawingml/2006/main" noGrp="1"/>
          </p:cNvSpPr>
          <p:nvPr/>
        </p:nvSpPr>
        <p:spPr>
          <a:xfrm xmlns:a="http://schemas.openxmlformats.org/drawingml/2006/main">
            <a:off x="1409700" y="3829050"/>
            <a:ext cx="201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MySQL 8 一套库</a:t>
            </a:r>
          </a:p>
        </p:txBody>
      </p:sp>
      <p:sp>
        <p:nvSpPr>
          <p:cNvPr id="36" name="">
            <a:extLst xmlns:a="http://schemas.openxmlformats.org/drawingml/2006/main">
              <a:ext uri="{FF2B5EF4-FFF2-40B4-BE49-F238E27FC236}">
                <a16:creationId xmlns:a16="http://schemas.microsoft.com/office/drawing/2014/main" id="{7D9BA400-D3A0-4572-A745-4B79C3FA759D}"/>
              </a:ext>
            </a:extLst>
          </p:cNvPr>
          <p:cNvSpPr>
            <a:spLocks xmlns:a="http://schemas.openxmlformats.org/drawingml/2006/main" noGrp="1"/>
          </p:cNvSpPr>
          <p:nvPr/>
        </p:nvSpPr>
        <p:spPr>
          <a:xfrm xmlns:a="http://schemas.openxmlformats.org/drawingml/2006/main">
            <a:off x="3543300" y="3829050"/>
            <a:ext cx="2019300" cy="323850"/>
          </a:xfrm>
          <a:prstGeom xmlns:a="http://schemas.openxmlformats.org/drawingml/2006/main" prst="roundRect">
            <a:avLst>
              <a:gd name="adj" fmla="val 17647"/>
            </a:avLst>
          </a:prstGeom>
          <a:solidFill xmlns:a="http://schemas.openxmlformats.org/drawingml/2006/main">
            <a:srgbClr val="0A2244"/>
          </a:solidFill>
          <a:ln xmlns:a="http://schemas.openxmlformats.org/drawingml/2006/main" w="9525">
            <a:solidFill>
              <a:srgbClr val="1A4478"/>
            </a:solidFill>
            <a:prstDash val="solid"/>
          </a:ln>
        </p:spPr>
      </p:sp>
      <p:sp>
        <p:nvSpPr>
          <p:cNvPr id="37" name="">
            <a:extLst xmlns:a="http://schemas.openxmlformats.org/drawingml/2006/main">
              <a:ext uri="{FF2B5EF4-FFF2-40B4-BE49-F238E27FC236}">
                <a16:creationId xmlns:a16="http://schemas.microsoft.com/office/drawing/2014/main" id="{C8B784F5-48FB-4192-831C-856DBDCB55EA}"/>
              </a:ext>
            </a:extLst>
          </p:cNvPr>
          <p:cNvSpPr>
            <a:spLocks xmlns:a="http://schemas.openxmlformats.org/drawingml/2006/main" noGrp="1"/>
          </p:cNvSpPr>
          <p:nvPr/>
        </p:nvSpPr>
        <p:spPr>
          <a:xfrm xmlns:a="http://schemas.openxmlformats.org/drawingml/2006/main">
            <a:off x="3543300" y="3829050"/>
            <a:ext cx="201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53 张表 / 7 组</a:t>
            </a:r>
          </a:p>
        </p:txBody>
      </p:sp>
      <p:sp>
        <p:nvSpPr>
          <p:cNvPr id="38" name="">
            <a:extLst xmlns:a="http://schemas.openxmlformats.org/drawingml/2006/main">
              <a:ext uri="{FF2B5EF4-FFF2-40B4-BE49-F238E27FC236}">
                <a16:creationId xmlns:a16="http://schemas.microsoft.com/office/drawing/2014/main" id="{A44BD8CC-F84A-493E-ABF1-7DCBC8897512}"/>
              </a:ext>
            </a:extLst>
          </p:cNvPr>
          <p:cNvSpPr>
            <a:spLocks xmlns:a="http://schemas.openxmlformats.org/drawingml/2006/main" noGrp="1"/>
          </p:cNvSpPr>
          <p:nvPr/>
        </p:nvSpPr>
        <p:spPr>
          <a:xfrm xmlns:a="http://schemas.openxmlformats.org/drawingml/2006/main">
            <a:off x="5676900" y="3829050"/>
            <a:ext cx="2019300" cy="323850"/>
          </a:xfrm>
          <a:prstGeom xmlns:a="http://schemas.openxmlformats.org/drawingml/2006/main" prst="roundRect">
            <a:avLst>
              <a:gd name="adj" fmla="val 17647"/>
            </a:avLst>
          </a:prstGeom>
          <a:solidFill xmlns:a="http://schemas.openxmlformats.org/drawingml/2006/main">
            <a:srgbClr val="0A2244"/>
          </a:solidFill>
          <a:ln xmlns:a="http://schemas.openxmlformats.org/drawingml/2006/main" w="9525">
            <a:solidFill>
              <a:srgbClr val="1A4478"/>
            </a:solidFill>
            <a:prstDash val="solid"/>
          </a:ln>
        </p:spPr>
      </p:sp>
      <p:sp>
        <p:nvSpPr>
          <p:cNvPr id="39" name="">
            <a:extLst xmlns:a="http://schemas.openxmlformats.org/drawingml/2006/main">
              <a:ext uri="{FF2B5EF4-FFF2-40B4-BE49-F238E27FC236}">
                <a16:creationId xmlns:a16="http://schemas.microsoft.com/office/drawing/2014/main" id="{56AADC56-2459-4BDE-A0FE-01735AF32CFC}"/>
              </a:ext>
            </a:extLst>
          </p:cNvPr>
          <p:cNvSpPr>
            <a:spLocks xmlns:a="http://schemas.openxmlformats.org/drawingml/2006/main" noGrp="1"/>
          </p:cNvSpPr>
          <p:nvPr/>
        </p:nvSpPr>
        <p:spPr>
          <a:xfrm xmlns:a="http://schemas.openxmlformats.org/drawingml/2006/main">
            <a:off x="5676900" y="3829050"/>
            <a:ext cx="201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JSON 列存规则与结论</a:t>
            </a:r>
          </a:p>
        </p:txBody>
      </p:sp>
      <p:sp>
        <p:nvSpPr>
          <p:cNvPr id="40" name="">
            <a:extLst xmlns:a="http://schemas.openxmlformats.org/drawingml/2006/main">
              <a:ext uri="{FF2B5EF4-FFF2-40B4-BE49-F238E27FC236}">
                <a16:creationId xmlns:a16="http://schemas.microsoft.com/office/drawing/2014/main" id="{717204CD-3A05-4B66-83BA-D12153781CCA}"/>
              </a:ext>
            </a:extLst>
          </p:cNvPr>
          <p:cNvSpPr>
            <a:spLocks xmlns:a="http://schemas.openxmlformats.org/drawingml/2006/main" noGrp="1"/>
          </p:cNvSpPr>
          <p:nvPr/>
        </p:nvSpPr>
        <p:spPr>
          <a:xfrm xmlns:a="http://schemas.openxmlformats.org/drawingml/2006/main">
            <a:off x="1409700" y="4248150"/>
            <a:ext cx="6400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主数据、业务数据、Agent 结论与审计留痕全部落库，改规则只动数据库。</a:t>
            </a:r>
          </a:p>
        </p:txBody>
      </p:sp>
      <p:sp>
        <p:nvSpPr>
          <p:cNvPr id="41" name="">
            <a:extLst xmlns:a="http://schemas.openxmlformats.org/drawingml/2006/main">
              <a:ext uri="{FF2B5EF4-FFF2-40B4-BE49-F238E27FC236}">
                <a16:creationId xmlns:a16="http://schemas.microsoft.com/office/drawing/2014/main" id="{6EF026D4-4ABC-4799-B4BF-ABB54F8DBFA8}"/>
              </a:ext>
            </a:extLst>
          </p:cNvPr>
          <p:cNvSpPr>
            <a:spLocks xmlns:a="http://schemas.openxmlformats.org/drawingml/2006/main" noGrp="1"/>
          </p:cNvSpPr>
          <p:nvPr/>
        </p:nvSpPr>
        <p:spPr>
          <a:xfrm xmlns:a="http://schemas.openxmlformats.org/drawingml/2006/main">
            <a:off x="285750" y="4876800"/>
            <a:ext cx="7620000" cy="1066800"/>
          </a:xfrm>
          <a:prstGeom xmlns:a="http://schemas.openxmlformats.org/drawingml/2006/main" prst="roundRect">
            <a:avLst>
              <a:gd name="adj" fmla="val 7143"/>
            </a:avLst>
          </a:prstGeom>
          <a:solidFill xmlns:a="http://schemas.openxmlformats.org/drawingml/2006/main">
            <a:srgbClr val="0C2A50"/>
          </a:solidFill>
          <a:ln xmlns:a="http://schemas.openxmlformats.org/drawingml/2006/main" w="9525">
            <a:solidFill>
              <a:srgbClr val="1B4C8A"/>
            </a:solidFill>
            <a:prstDash val="solid"/>
          </a:ln>
        </p:spPr>
      </p:sp>
      <p:sp>
        <p:nvSpPr>
          <p:cNvPr id="42" name="">
            <a:extLst xmlns:a="http://schemas.openxmlformats.org/drawingml/2006/main">
              <a:ext uri="{FF2B5EF4-FFF2-40B4-BE49-F238E27FC236}">
                <a16:creationId xmlns:a16="http://schemas.microsoft.com/office/drawing/2014/main" id="{2D0A4D77-63A5-4DEE-8106-1058556B989A}"/>
              </a:ext>
            </a:extLst>
          </p:cNvPr>
          <p:cNvSpPr>
            <a:spLocks xmlns:a="http://schemas.openxmlformats.org/drawingml/2006/main" noGrp="1"/>
          </p:cNvSpPr>
          <p:nvPr/>
        </p:nvSpPr>
        <p:spPr>
          <a:xfrm xmlns:a="http://schemas.openxmlformats.org/drawingml/2006/main">
            <a:off x="285750" y="4876800"/>
            <a:ext cx="47625" cy="106680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2F0CD7C4-FB87-4A7A-9CA7-B8712B628CA7}"/>
              </a:ext>
            </a:extLst>
          </p:cNvPr>
          <p:cNvSpPr>
            <a:spLocks xmlns:a="http://schemas.openxmlformats.org/drawingml/2006/main" noGrp="1"/>
          </p:cNvSpPr>
          <p:nvPr/>
        </p:nvSpPr>
        <p:spPr>
          <a:xfrm xmlns:a="http://schemas.openxmlformats.org/drawingml/2006/main">
            <a:off x="476250" y="525780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F5C33B"/>
                </a:solidFill>
                <a:latin typeface="微软雅黑"/>
                <a:ea typeface="微软雅黑"/>
                <a:cs typeface="微软雅黑"/>
              </a:defRPr>
            </a:pPr>
            <a:r>
              <a:rPr sz="1125" b="1">
                <a:solidFill>
                  <a:srgbClr val="F5C33B"/>
                </a:solidFill>
                <a:latin typeface="微软雅黑"/>
                <a:ea typeface="微软雅黑"/>
                <a:cs typeface="微软雅黑"/>
              </a:rPr>
              <a:t>部署层</a:t>
            </a:r>
          </a:p>
        </p:txBody>
      </p:sp>
      <p:sp>
        <p:nvSpPr>
          <p:cNvPr id="44" name="">
            <a:extLst xmlns:a="http://schemas.openxmlformats.org/drawingml/2006/main">
              <a:ext uri="{FF2B5EF4-FFF2-40B4-BE49-F238E27FC236}">
                <a16:creationId xmlns:a16="http://schemas.microsoft.com/office/drawing/2014/main" id="{4B6DA370-1805-4896-ABAA-320F1155B090}"/>
              </a:ext>
            </a:extLst>
          </p:cNvPr>
          <p:cNvSpPr>
            <a:spLocks xmlns:a="http://schemas.openxmlformats.org/drawingml/2006/main" noGrp="1"/>
          </p:cNvSpPr>
          <p:nvPr/>
        </p:nvSpPr>
        <p:spPr>
          <a:xfrm xmlns:a="http://schemas.openxmlformats.org/drawingml/2006/main">
            <a:off x="1409700" y="5010150"/>
            <a:ext cx="2019300" cy="323850"/>
          </a:xfrm>
          <a:prstGeom xmlns:a="http://schemas.openxmlformats.org/drawingml/2006/main" prst="roundRect">
            <a:avLst>
              <a:gd name="adj" fmla="val 17647"/>
            </a:avLst>
          </a:prstGeom>
          <a:solidFill xmlns:a="http://schemas.openxmlformats.org/drawingml/2006/main">
            <a:srgbClr val="0A2244"/>
          </a:solidFill>
          <a:ln xmlns:a="http://schemas.openxmlformats.org/drawingml/2006/main" w="9525">
            <a:solidFill>
              <a:srgbClr val="1A4478"/>
            </a:solidFill>
            <a:prstDash val="solid"/>
          </a:ln>
        </p:spPr>
      </p:sp>
      <p:sp>
        <p:nvSpPr>
          <p:cNvPr id="45" name="">
            <a:extLst xmlns:a="http://schemas.openxmlformats.org/drawingml/2006/main">
              <a:ext uri="{FF2B5EF4-FFF2-40B4-BE49-F238E27FC236}">
                <a16:creationId xmlns:a16="http://schemas.microsoft.com/office/drawing/2014/main" id="{68C8E676-64FD-43DA-B9D9-87FEE60E8CEE}"/>
              </a:ext>
            </a:extLst>
          </p:cNvPr>
          <p:cNvSpPr>
            <a:spLocks xmlns:a="http://schemas.openxmlformats.org/drawingml/2006/main" noGrp="1"/>
          </p:cNvSpPr>
          <p:nvPr/>
        </p:nvSpPr>
        <p:spPr>
          <a:xfrm xmlns:a="http://schemas.openxmlformats.org/drawingml/2006/main">
            <a:off x="1409700" y="5010150"/>
            <a:ext cx="201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Vue 3 + Vite + Element Plus</a:t>
            </a:r>
          </a:p>
        </p:txBody>
      </p:sp>
      <p:sp>
        <p:nvSpPr>
          <p:cNvPr id="46" name="">
            <a:extLst xmlns:a="http://schemas.openxmlformats.org/drawingml/2006/main">
              <a:ext uri="{FF2B5EF4-FFF2-40B4-BE49-F238E27FC236}">
                <a16:creationId xmlns:a16="http://schemas.microsoft.com/office/drawing/2014/main" id="{D32A43D2-7E28-4328-BC80-AFC25CE0A1F4}"/>
              </a:ext>
            </a:extLst>
          </p:cNvPr>
          <p:cNvSpPr>
            <a:spLocks xmlns:a="http://schemas.openxmlformats.org/drawingml/2006/main" noGrp="1"/>
          </p:cNvSpPr>
          <p:nvPr/>
        </p:nvSpPr>
        <p:spPr>
          <a:xfrm xmlns:a="http://schemas.openxmlformats.org/drawingml/2006/main">
            <a:off x="3543300" y="5010150"/>
            <a:ext cx="2019300" cy="323850"/>
          </a:xfrm>
          <a:prstGeom xmlns:a="http://schemas.openxmlformats.org/drawingml/2006/main" prst="roundRect">
            <a:avLst>
              <a:gd name="adj" fmla="val 17647"/>
            </a:avLst>
          </a:prstGeom>
          <a:solidFill xmlns:a="http://schemas.openxmlformats.org/drawingml/2006/main">
            <a:srgbClr val="0A2244"/>
          </a:solidFill>
          <a:ln xmlns:a="http://schemas.openxmlformats.org/drawingml/2006/main" w="9525">
            <a:solidFill>
              <a:srgbClr val="1A4478"/>
            </a:solidFill>
            <a:prstDash val="solid"/>
          </a:ln>
        </p:spPr>
      </p:sp>
      <p:sp>
        <p:nvSpPr>
          <p:cNvPr id="47" name="">
            <a:extLst xmlns:a="http://schemas.openxmlformats.org/drawingml/2006/main">
              <a:ext uri="{FF2B5EF4-FFF2-40B4-BE49-F238E27FC236}">
                <a16:creationId xmlns:a16="http://schemas.microsoft.com/office/drawing/2014/main" id="{F0B9D7F3-A33B-4FA5-A1DA-C7719507BF71}"/>
              </a:ext>
            </a:extLst>
          </p:cNvPr>
          <p:cNvSpPr>
            <a:spLocks xmlns:a="http://schemas.openxmlformats.org/drawingml/2006/main" noGrp="1"/>
          </p:cNvSpPr>
          <p:nvPr/>
        </p:nvSpPr>
        <p:spPr>
          <a:xfrm xmlns:a="http://schemas.openxmlformats.org/drawingml/2006/main">
            <a:off x="3543300" y="5010150"/>
            <a:ext cx="201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Spring Boot + JdbcTemplate</a:t>
            </a:r>
          </a:p>
        </p:txBody>
      </p:sp>
      <p:sp>
        <p:nvSpPr>
          <p:cNvPr id="48" name="">
            <a:extLst xmlns:a="http://schemas.openxmlformats.org/drawingml/2006/main">
              <a:ext uri="{FF2B5EF4-FFF2-40B4-BE49-F238E27FC236}">
                <a16:creationId xmlns:a16="http://schemas.microsoft.com/office/drawing/2014/main" id="{1834F0CA-B95E-4C76-A5A8-148798CC6C4D}"/>
              </a:ext>
            </a:extLst>
          </p:cNvPr>
          <p:cNvSpPr>
            <a:spLocks xmlns:a="http://schemas.openxmlformats.org/drawingml/2006/main" noGrp="1"/>
          </p:cNvSpPr>
          <p:nvPr/>
        </p:nvSpPr>
        <p:spPr>
          <a:xfrm xmlns:a="http://schemas.openxmlformats.org/drawingml/2006/main">
            <a:off x="5676900" y="5010150"/>
            <a:ext cx="2019300" cy="323850"/>
          </a:xfrm>
          <a:prstGeom xmlns:a="http://schemas.openxmlformats.org/drawingml/2006/main" prst="roundRect">
            <a:avLst>
              <a:gd name="adj" fmla="val 17647"/>
            </a:avLst>
          </a:prstGeom>
          <a:solidFill xmlns:a="http://schemas.openxmlformats.org/drawingml/2006/main">
            <a:srgbClr val="0A2244"/>
          </a:solidFill>
          <a:ln xmlns:a="http://schemas.openxmlformats.org/drawingml/2006/main" w="9525">
            <a:solidFill>
              <a:srgbClr val="1A4478"/>
            </a:solidFill>
            <a:prstDash val="solid"/>
          </a:ln>
        </p:spPr>
      </p:sp>
      <p:sp>
        <p:nvSpPr>
          <p:cNvPr id="49" name="">
            <a:extLst xmlns:a="http://schemas.openxmlformats.org/drawingml/2006/main">
              <a:ext uri="{FF2B5EF4-FFF2-40B4-BE49-F238E27FC236}">
                <a16:creationId xmlns:a16="http://schemas.microsoft.com/office/drawing/2014/main" id="{97A06F2B-9080-4ABA-83C8-EDB1488F26A3}"/>
              </a:ext>
            </a:extLst>
          </p:cNvPr>
          <p:cNvSpPr>
            <a:spLocks xmlns:a="http://schemas.openxmlformats.org/drawingml/2006/main" noGrp="1"/>
          </p:cNvSpPr>
          <p:nvPr/>
        </p:nvSpPr>
        <p:spPr>
          <a:xfrm xmlns:a="http://schemas.openxmlformats.org/drawingml/2006/main">
            <a:off x="5676900" y="5010150"/>
            <a:ext cx="201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Docker Compose 一键起</a:t>
            </a:r>
          </a:p>
        </p:txBody>
      </p:sp>
      <p:sp>
        <p:nvSpPr>
          <p:cNvPr id="50" name="">
            <a:extLst xmlns:a="http://schemas.openxmlformats.org/drawingml/2006/main">
              <a:ext uri="{FF2B5EF4-FFF2-40B4-BE49-F238E27FC236}">
                <a16:creationId xmlns:a16="http://schemas.microsoft.com/office/drawing/2014/main" id="{B83A9AEB-B3F0-4E84-A866-AEB6E4796AB7}"/>
              </a:ext>
            </a:extLst>
          </p:cNvPr>
          <p:cNvSpPr>
            <a:spLocks xmlns:a="http://schemas.openxmlformats.org/drawingml/2006/main" noGrp="1"/>
          </p:cNvSpPr>
          <p:nvPr/>
        </p:nvSpPr>
        <p:spPr>
          <a:xfrm xmlns:a="http://schemas.openxmlformats.org/drawingml/2006/main">
            <a:off x="1409700" y="5429250"/>
            <a:ext cx="6400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无 ORM；MySQL + API + Web 三容器，支持内网部署与完全离线运行。</a:t>
            </a:r>
          </a:p>
        </p:txBody>
      </p:sp>
      <p:sp>
        <p:nvSpPr>
          <p:cNvPr id="51" name="">
            <a:extLst xmlns:a="http://schemas.openxmlformats.org/drawingml/2006/main">
              <a:ext uri="{FF2B5EF4-FFF2-40B4-BE49-F238E27FC236}">
                <a16:creationId xmlns:a16="http://schemas.microsoft.com/office/drawing/2014/main" id="{ADF028BE-95E9-419D-ABF2-DDCB387C006A}"/>
              </a:ext>
            </a:extLst>
          </p:cNvPr>
          <p:cNvSpPr>
            <a:spLocks xmlns:a="http://schemas.openxmlformats.org/drawingml/2006/main" noGrp="1"/>
          </p:cNvSpPr>
          <p:nvPr/>
        </p:nvSpPr>
        <p:spPr>
          <a:xfrm xmlns:a="http://schemas.openxmlformats.org/drawingml/2006/main">
            <a:off x="8077200" y="1333500"/>
            <a:ext cx="3829050" cy="4610100"/>
          </a:xfrm>
          <a:prstGeom xmlns:a="http://schemas.openxmlformats.org/drawingml/2006/main" prst="roundRect">
            <a:avLst>
              <a:gd name="adj" fmla="val 1990"/>
            </a:avLst>
          </a:prstGeom>
          <a:solidFill xmlns:a="http://schemas.openxmlformats.org/drawingml/2006/main">
            <a:srgbClr val="0D2748"/>
          </a:solidFill>
          <a:ln xmlns:a="http://schemas.openxmlformats.org/drawingml/2006/main" w="9525">
            <a:solidFill>
              <a:srgbClr val="1B4C8A"/>
            </a:solidFill>
            <a:prstDash val="solid"/>
          </a:ln>
        </p:spPr>
      </p:sp>
      <p:sp>
        <p:nvSpPr>
          <p:cNvPr id="52" name="">
            <a:extLst xmlns:a="http://schemas.openxmlformats.org/drawingml/2006/main">
              <a:ext uri="{FF2B5EF4-FFF2-40B4-BE49-F238E27FC236}">
                <a16:creationId xmlns:a16="http://schemas.microsoft.com/office/drawing/2014/main" id="{6DE6821F-0FE6-436E-A3E7-B5CB9FBF7744}"/>
              </a:ext>
            </a:extLst>
          </p:cNvPr>
          <p:cNvSpPr>
            <a:spLocks xmlns:a="http://schemas.openxmlformats.org/drawingml/2006/main" noGrp="1"/>
          </p:cNvSpPr>
          <p:nvPr/>
        </p:nvSpPr>
        <p:spPr>
          <a:xfrm xmlns:a="http://schemas.openxmlformats.org/drawingml/2006/main">
            <a:off x="8267700" y="1466850"/>
            <a:ext cx="3486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5C33B"/>
                </a:solidFill>
                <a:latin typeface="微软雅黑"/>
                <a:ea typeface="微软雅黑"/>
                <a:cs typeface="微软雅黑"/>
              </a:defRPr>
            </a:pPr>
            <a:r>
              <a:rPr sz="1125" b="1">
                <a:solidFill>
                  <a:srgbClr val="F5C33B"/>
                </a:solidFill>
                <a:latin typeface="微软雅黑"/>
                <a:ea typeface="微软雅黑"/>
                <a:cs typeface="微软雅黑"/>
              </a:rPr>
              <a:t>工程规模（可现场核对）</a:t>
            </a:r>
          </a:p>
        </p:txBody>
      </p:sp>
      <p:sp>
        <p:nvSpPr>
          <p:cNvPr id="53" name="">
            <a:extLst xmlns:a="http://schemas.openxmlformats.org/drawingml/2006/main">
              <a:ext uri="{FF2B5EF4-FFF2-40B4-BE49-F238E27FC236}">
                <a16:creationId xmlns:a16="http://schemas.microsoft.com/office/drawing/2014/main" id="{4778C446-3FD4-44EE-9D9D-79C94DCFBA9A}"/>
              </a:ext>
            </a:extLst>
          </p:cNvPr>
          <p:cNvSpPr>
            <a:spLocks xmlns:a="http://schemas.openxmlformats.org/drawingml/2006/main" noGrp="1"/>
          </p:cNvSpPr>
          <p:nvPr/>
        </p:nvSpPr>
        <p:spPr>
          <a:xfrm xmlns:a="http://schemas.openxmlformats.org/drawingml/2006/main">
            <a:off x="8267700" y="1885950"/>
            <a:ext cx="3486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75 个</a:t>
            </a:r>
          </a:p>
        </p:txBody>
      </p:sp>
      <p:sp>
        <p:nvSpPr>
          <p:cNvPr id="54" name="">
            <a:extLst xmlns:a="http://schemas.openxmlformats.org/drawingml/2006/main">
              <a:ext uri="{FF2B5EF4-FFF2-40B4-BE49-F238E27FC236}">
                <a16:creationId xmlns:a16="http://schemas.microsoft.com/office/drawing/2014/main" id="{EAA76FB9-F356-4C8A-9FE9-001FF39938BD}"/>
              </a:ext>
            </a:extLst>
          </p:cNvPr>
          <p:cNvSpPr>
            <a:spLocks xmlns:a="http://schemas.openxmlformats.org/drawingml/2006/main" noGrp="1"/>
          </p:cNvSpPr>
          <p:nvPr/>
        </p:nvSpPr>
        <p:spPr>
          <a:xfrm xmlns:a="http://schemas.openxmlformats.org/drawingml/2006/main">
            <a:off x="8267700" y="2209800"/>
            <a:ext cx="3486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在线接口</a:t>
            </a:r>
          </a:p>
        </p:txBody>
      </p:sp>
      <p:sp>
        <p:nvSpPr>
          <p:cNvPr id="55" name="">
            <a:extLst xmlns:a="http://schemas.openxmlformats.org/drawingml/2006/main">
              <a:ext uri="{FF2B5EF4-FFF2-40B4-BE49-F238E27FC236}">
                <a16:creationId xmlns:a16="http://schemas.microsoft.com/office/drawing/2014/main" id="{CF3C0A7F-1E58-4435-AED9-68CD7BA157F9}"/>
              </a:ext>
            </a:extLst>
          </p:cNvPr>
          <p:cNvSpPr>
            <a:spLocks xmlns:a="http://schemas.openxmlformats.org/drawingml/2006/main" noGrp="1"/>
          </p:cNvSpPr>
          <p:nvPr/>
        </p:nvSpPr>
        <p:spPr>
          <a:xfrm xmlns:a="http://schemas.openxmlformats.org/drawingml/2006/main">
            <a:off x="8267700" y="2476500"/>
            <a:ext cx="3486150" cy="9525"/>
          </a:xfrm>
          <a:prstGeom xmlns:a="http://schemas.openxmlformats.org/drawingml/2006/main" prst="rect">
            <a:avLst/>
          </a:prstGeom>
          <a:solidFill xmlns:a="http://schemas.openxmlformats.org/drawingml/2006/main">
            <a:srgbClr val="173D68"/>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447DC4D4-0EBD-4315-9A38-07E1A4E3BDE6}"/>
              </a:ext>
            </a:extLst>
          </p:cNvPr>
          <p:cNvSpPr>
            <a:spLocks xmlns:a="http://schemas.openxmlformats.org/drawingml/2006/main" noGrp="1"/>
          </p:cNvSpPr>
          <p:nvPr/>
        </p:nvSpPr>
        <p:spPr>
          <a:xfrm xmlns:a="http://schemas.openxmlformats.org/drawingml/2006/main">
            <a:off x="8267700" y="2686050"/>
            <a:ext cx="3486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53 张</a:t>
            </a:r>
          </a:p>
        </p:txBody>
      </p:sp>
      <p:sp>
        <p:nvSpPr>
          <p:cNvPr id="57" name="">
            <a:extLst xmlns:a="http://schemas.openxmlformats.org/drawingml/2006/main">
              <a:ext uri="{FF2B5EF4-FFF2-40B4-BE49-F238E27FC236}">
                <a16:creationId xmlns:a16="http://schemas.microsoft.com/office/drawing/2014/main" id="{AE9F78AA-D8D3-40D0-AA7F-609A10BC2083}"/>
              </a:ext>
            </a:extLst>
          </p:cNvPr>
          <p:cNvSpPr>
            <a:spLocks xmlns:a="http://schemas.openxmlformats.org/drawingml/2006/main" noGrp="1"/>
          </p:cNvSpPr>
          <p:nvPr/>
        </p:nvSpPr>
        <p:spPr>
          <a:xfrm xmlns:a="http://schemas.openxmlformats.org/drawingml/2006/main">
            <a:off x="8267700" y="3009900"/>
            <a:ext cx="3486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数据库表（7 组）</a:t>
            </a:r>
          </a:p>
        </p:txBody>
      </p:sp>
      <p:sp>
        <p:nvSpPr>
          <p:cNvPr id="58" name="">
            <a:extLst xmlns:a="http://schemas.openxmlformats.org/drawingml/2006/main">
              <a:ext uri="{FF2B5EF4-FFF2-40B4-BE49-F238E27FC236}">
                <a16:creationId xmlns:a16="http://schemas.microsoft.com/office/drawing/2014/main" id="{E7D79CFF-D7D7-454C-848B-62CE26B12D2E}"/>
              </a:ext>
            </a:extLst>
          </p:cNvPr>
          <p:cNvSpPr>
            <a:spLocks xmlns:a="http://schemas.openxmlformats.org/drawingml/2006/main" noGrp="1"/>
          </p:cNvSpPr>
          <p:nvPr/>
        </p:nvSpPr>
        <p:spPr>
          <a:xfrm xmlns:a="http://schemas.openxmlformats.org/drawingml/2006/main">
            <a:off x="8267700" y="3276600"/>
            <a:ext cx="3486150" cy="9525"/>
          </a:xfrm>
          <a:prstGeom xmlns:a="http://schemas.openxmlformats.org/drawingml/2006/main" prst="rect">
            <a:avLst/>
          </a:prstGeom>
          <a:solidFill xmlns:a="http://schemas.openxmlformats.org/drawingml/2006/main">
            <a:srgbClr val="173D68"/>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4E463F6D-A5C1-4CA7-A94F-0F6A1BA0EF59}"/>
              </a:ext>
            </a:extLst>
          </p:cNvPr>
          <p:cNvSpPr>
            <a:spLocks xmlns:a="http://schemas.openxmlformats.org/drawingml/2006/main" noGrp="1"/>
          </p:cNvSpPr>
          <p:nvPr/>
        </p:nvSpPr>
        <p:spPr>
          <a:xfrm xmlns:a="http://schemas.openxmlformats.org/drawingml/2006/main">
            <a:off x="8267700" y="3486150"/>
            <a:ext cx="3486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18 条</a:t>
            </a:r>
          </a:p>
        </p:txBody>
      </p:sp>
      <p:sp>
        <p:nvSpPr>
          <p:cNvPr id="60" name="">
            <a:extLst xmlns:a="http://schemas.openxmlformats.org/drawingml/2006/main">
              <a:ext uri="{FF2B5EF4-FFF2-40B4-BE49-F238E27FC236}">
                <a16:creationId xmlns:a16="http://schemas.microsoft.com/office/drawing/2014/main" id="{460492C1-D178-41BE-B8C6-50BBA76729B1}"/>
              </a:ext>
            </a:extLst>
          </p:cNvPr>
          <p:cNvSpPr>
            <a:spLocks xmlns:a="http://schemas.openxmlformats.org/drawingml/2006/main" noGrp="1"/>
          </p:cNvSpPr>
          <p:nvPr/>
        </p:nvSpPr>
        <p:spPr>
          <a:xfrm xmlns:a="http://schemas.openxmlformats.org/drawingml/2006/main">
            <a:off x="8267700" y="3810000"/>
            <a:ext cx="3486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启用规则（5 场景）</a:t>
            </a:r>
          </a:p>
        </p:txBody>
      </p:sp>
      <p:sp>
        <p:nvSpPr>
          <p:cNvPr id="61" name="">
            <a:extLst xmlns:a="http://schemas.openxmlformats.org/drawingml/2006/main">
              <a:ext uri="{FF2B5EF4-FFF2-40B4-BE49-F238E27FC236}">
                <a16:creationId xmlns:a16="http://schemas.microsoft.com/office/drawing/2014/main" id="{83B7CE54-82CA-4566-B044-C5065AF8BB5C}"/>
              </a:ext>
            </a:extLst>
          </p:cNvPr>
          <p:cNvSpPr>
            <a:spLocks xmlns:a="http://schemas.openxmlformats.org/drawingml/2006/main" noGrp="1"/>
          </p:cNvSpPr>
          <p:nvPr/>
        </p:nvSpPr>
        <p:spPr>
          <a:xfrm xmlns:a="http://schemas.openxmlformats.org/drawingml/2006/main">
            <a:off x="8267700" y="4076700"/>
            <a:ext cx="3486150" cy="9525"/>
          </a:xfrm>
          <a:prstGeom xmlns:a="http://schemas.openxmlformats.org/drawingml/2006/main" prst="rect">
            <a:avLst/>
          </a:prstGeom>
          <a:solidFill xmlns:a="http://schemas.openxmlformats.org/drawingml/2006/main">
            <a:srgbClr val="173D68"/>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7E2CC1AF-3FBD-48F3-B62D-FC2D3812BA9C}"/>
              </a:ext>
            </a:extLst>
          </p:cNvPr>
          <p:cNvSpPr>
            <a:spLocks xmlns:a="http://schemas.openxmlformats.org/drawingml/2006/main" noGrp="1"/>
          </p:cNvSpPr>
          <p:nvPr/>
        </p:nvSpPr>
        <p:spPr>
          <a:xfrm xmlns:a="http://schemas.openxmlformats.org/drawingml/2006/main">
            <a:off x="8267700" y="4286250"/>
            <a:ext cx="3486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11 个</a:t>
            </a:r>
          </a:p>
        </p:txBody>
      </p:sp>
      <p:sp>
        <p:nvSpPr>
          <p:cNvPr id="63" name="">
            <a:extLst xmlns:a="http://schemas.openxmlformats.org/drawingml/2006/main">
              <a:ext uri="{FF2B5EF4-FFF2-40B4-BE49-F238E27FC236}">
                <a16:creationId xmlns:a16="http://schemas.microsoft.com/office/drawing/2014/main" id="{FB4A4680-B855-4318-9F3D-63D5E0E63A28}"/>
              </a:ext>
            </a:extLst>
          </p:cNvPr>
          <p:cNvSpPr>
            <a:spLocks xmlns:a="http://schemas.openxmlformats.org/drawingml/2006/main" noGrp="1"/>
          </p:cNvSpPr>
          <p:nvPr/>
        </p:nvSpPr>
        <p:spPr>
          <a:xfrm xmlns:a="http://schemas.openxmlformats.org/drawingml/2006/main">
            <a:off x="8267700" y="4610100"/>
            <a:ext cx="3486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建库脚本（001~011）</a:t>
            </a:r>
          </a:p>
        </p:txBody>
      </p:sp>
      <p:sp>
        <p:nvSpPr>
          <p:cNvPr id="64" name="">
            <a:extLst xmlns:a="http://schemas.openxmlformats.org/drawingml/2006/main">
              <a:ext uri="{FF2B5EF4-FFF2-40B4-BE49-F238E27FC236}">
                <a16:creationId xmlns:a16="http://schemas.microsoft.com/office/drawing/2014/main" id="{20A17DCF-35B7-4F8F-82D0-B6756D043643}"/>
              </a:ext>
            </a:extLst>
          </p:cNvPr>
          <p:cNvSpPr>
            <a:spLocks xmlns:a="http://schemas.openxmlformats.org/drawingml/2006/main" noGrp="1"/>
          </p:cNvSpPr>
          <p:nvPr/>
        </p:nvSpPr>
        <p:spPr>
          <a:xfrm xmlns:a="http://schemas.openxmlformats.org/drawingml/2006/main">
            <a:off x="8267700" y="4876800"/>
            <a:ext cx="3486150" cy="9525"/>
          </a:xfrm>
          <a:prstGeom xmlns:a="http://schemas.openxmlformats.org/drawingml/2006/main" prst="rect">
            <a:avLst/>
          </a:prstGeom>
          <a:solidFill xmlns:a="http://schemas.openxmlformats.org/drawingml/2006/main">
            <a:srgbClr val="173D68"/>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68222A19-5BBC-457C-8BC2-53BA0817EFE4}"/>
              </a:ext>
            </a:extLst>
          </p:cNvPr>
          <p:cNvSpPr>
            <a:spLocks xmlns:a="http://schemas.openxmlformats.org/drawingml/2006/main" noGrp="1"/>
          </p:cNvSpPr>
          <p:nvPr/>
        </p:nvSpPr>
        <p:spPr>
          <a:xfrm xmlns:a="http://schemas.openxmlformats.org/drawingml/2006/main">
            <a:off x="8267700" y="5086350"/>
            <a:ext cx="3486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4 类</a:t>
            </a:r>
          </a:p>
        </p:txBody>
      </p:sp>
      <p:sp>
        <p:nvSpPr>
          <p:cNvPr id="66" name="">
            <a:extLst xmlns:a="http://schemas.openxmlformats.org/drawingml/2006/main">
              <a:ext uri="{FF2B5EF4-FFF2-40B4-BE49-F238E27FC236}">
                <a16:creationId xmlns:a16="http://schemas.microsoft.com/office/drawing/2014/main" id="{164BD141-8524-422C-9BE3-E9FEB4714382}"/>
              </a:ext>
            </a:extLst>
          </p:cNvPr>
          <p:cNvSpPr>
            <a:spLocks xmlns:a="http://schemas.openxmlformats.org/drawingml/2006/main" noGrp="1"/>
          </p:cNvSpPr>
          <p:nvPr/>
        </p:nvSpPr>
        <p:spPr>
          <a:xfrm xmlns:a="http://schemas.openxmlformats.org/drawingml/2006/main">
            <a:off x="8267700" y="5410200"/>
            <a:ext cx="3486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9FC2E8"/>
                </a:solidFill>
                <a:latin typeface="微软雅黑"/>
                <a:ea typeface="微软雅黑"/>
                <a:cs typeface="微软雅黑"/>
              </a:defRPr>
            </a:pPr>
            <a:r>
              <a:rPr sz="900" b="0">
                <a:solidFill>
                  <a:srgbClr val="9FC2E8"/>
                </a:solidFill>
                <a:latin typeface="微软雅黑"/>
                <a:ea typeface="微软雅黑"/>
                <a:cs typeface="微软雅黑"/>
              </a:rPr>
              <a:t>角色：员工 / 班组长 / 管理者 / 管理员</a:t>
            </a:r>
          </a:p>
        </p:txBody>
      </p:sp>
      <p:sp>
        <p:nvSpPr>
          <p:cNvPr id="67" name="">
            <a:extLst xmlns:a="http://schemas.openxmlformats.org/drawingml/2006/main">
              <a:ext uri="{FF2B5EF4-FFF2-40B4-BE49-F238E27FC236}">
                <a16:creationId xmlns:a16="http://schemas.microsoft.com/office/drawing/2014/main" id="{4221C7B7-6DC6-4A6D-B756-7528E5727D0E}"/>
              </a:ext>
            </a:extLst>
          </p:cNvPr>
          <p:cNvSpPr>
            <a:spLocks xmlns:a="http://schemas.openxmlformats.org/drawingml/2006/main" noGrp="1"/>
          </p:cNvSpPr>
          <p:nvPr/>
        </p:nvSpPr>
        <p:spPr>
          <a:xfrm xmlns:a="http://schemas.openxmlformats.org/drawingml/2006/main">
            <a:off x="8267700" y="5676900"/>
            <a:ext cx="3486150" cy="9525"/>
          </a:xfrm>
          <a:prstGeom xmlns:a="http://schemas.openxmlformats.org/drawingml/2006/main" prst="rect">
            <a:avLst/>
          </a:prstGeom>
          <a:solidFill xmlns:a="http://schemas.openxmlformats.org/drawingml/2006/main">
            <a:srgbClr val="173D68"/>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93F79696-D2AA-4C3E-9437-123902D20A53}"/>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53CC982D-D7D2-4DB0-B38A-413D23119958}"/>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70" name="">
            <a:extLst xmlns:a="http://schemas.openxmlformats.org/drawingml/2006/main">
              <a:ext uri="{FF2B5EF4-FFF2-40B4-BE49-F238E27FC236}">
                <a16:creationId xmlns:a16="http://schemas.microsoft.com/office/drawing/2014/main" id="{8C0404DA-A322-4401-A8BB-8708EEC9FFF1}"/>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20</a:t>
            </a:r>
          </a:p>
        </p:txBody>
      </p:sp>
    </p:spTree>
    <p:extLst>
      <p:ext uri="{BB962C8B-B14F-4D97-AF65-F5344CB8AC3E}">
        <p14:creationId xmlns:p14="http://schemas.microsoft.com/office/powerpoint/2010/main" val="80239422"/>
      </p:ext>
    </p:extLst>
  </p:cSld>
</p:sld>
</file>

<file path=ppt/slides/slide21.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486E55A-8EBE-4003-A13C-6EE39E44F918}"/>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B120962-6E2C-4734-9CFE-5CFF98F3EE92}"/>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38C288E-A7E6-4583-8AA6-28B5E7156F6E}"/>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13C4690-080F-451A-B5CB-DD1F39876E76}"/>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B838F96-6E41-4514-865F-DD205D95A981}"/>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893A2A4F-7B21-4212-A40E-006F6D57EF54}"/>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系统实现</a:t>
            </a:r>
          </a:p>
        </p:txBody>
      </p:sp>
      <p:sp>
        <p:nvSpPr>
          <p:cNvPr id="7" name="">
            <a:extLst xmlns:a="http://schemas.openxmlformats.org/drawingml/2006/main">
              <a:ext uri="{FF2B5EF4-FFF2-40B4-BE49-F238E27FC236}">
                <a16:creationId xmlns:a16="http://schemas.microsoft.com/office/drawing/2014/main" id="{75001922-5BA8-479D-98E4-6F3E476C0658}"/>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B5FF615-CC03-4211-9B24-8F2C1657FBD4}"/>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系统界面一 · 员工工作台与差距建议</a:t>
            </a:r>
          </a:p>
        </p:txBody>
      </p:sp>
      <p:sp>
        <p:nvSpPr>
          <p:cNvPr id="9" name="">
            <a:extLst xmlns:a="http://schemas.openxmlformats.org/drawingml/2006/main">
              <a:ext uri="{FF2B5EF4-FFF2-40B4-BE49-F238E27FC236}">
                <a16:creationId xmlns:a16="http://schemas.microsoft.com/office/drawing/2014/main" id="{1D09AD10-21CD-4008-BF08-BA78EFAE5D7C}"/>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5FFFA6BF-027D-4020-A9D5-25586278BD5C}"/>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员工登录后看到的第一屏不是课程列表，而是「我差在哪、下一步该补什么」。</a:t>
            </a:r>
          </a:p>
        </p:txBody>
      </p:sp>
      <p:sp>
        <p:nvSpPr>
          <p:cNvPr id="11" name="">
            <a:extLst xmlns:a="http://schemas.openxmlformats.org/drawingml/2006/main">
              <a:ext uri="{FF2B5EF4-FFF2-40B4-BE49-F238E27FC236}">
                <a16:creationId xmlns:a16="http://schemas.microsoft.com/office/drawing/2014/main" id="{A50F9972-D0F9-4E3B-871E-3A279160F965}"/>
              </a:ext>
            </a:extLst>
          </p:cNvPr>
          <p:cNvSpPr>
            <a:spLocks xmlns:a="http://schemas.openxmlformats.org/drawingml/2006/main" noGrp="1"/>
          </p:cNvSpPr>
          <p:nvPr/>
        </p:nvSpPr>
        <p:spPr>
          <a:xfrm xmlns:a="http://schemas.openxmlformats.org/drawingml/2006/main">
            <a:off x="285750" y="1333500"/>
            <a:ext cx="6667500" cy="3390900"/>
          </a:xfrm>
          <a:prstGeom xmlns:a="http://schemas.openxmlformats.org/drawingml/2006/main" prst="roundRect">
            <a:avLst>
              <a:gd name="adj" fmla="val 2247"/>
            </a:avLst>
          </a:prstGeom>
          <a:solidFill xmlns:a="http://schemas.openxmlformats.org/drawingml/2006/main">
            <a:srgbClr val="F4F8FD"/>
          </a:solidFill>
          <a:ln xmlns:a="http://schemas.openxmlformats.org/drawingml/2006/main" w="9525">
            <a:solidFill>
              <a:srgbClr val="2A6BAE"/>
            </a:solidFill>
            <a:prstDash val="solid"/>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cde4a17cbfba4d04"/>
          <a:stretch xmlns:a="http://schemas.openxmlformats.org/drawingml/2006/main"/>
        </p:blipFill>
        <p:spPr>
          <a:xfrm xmlns:a="http://schemas.openxmlformats.org/drawingml/2006/main">
            <a:off x="469018" y="1390650"/>
            <a:ext cx="6300964" cy="3276600"/>
          </a:xfrm>
          <a:prstGeom xmlns:a="http://schemas.openxmlformats.org/drawingml/2006/main" prst="roundRect">
            <a:avLst>
              <a:gd name="adj" fmla="val 1744"/>
            </a:avLst>
          </a:prstGeom>
        </p:spPr>
      </p:pic>
      <p:sp>
        <p:nvSpPr>
          <p:cNvPr id="13" name="">
            <a:extLst xmlns:a="http://schemas.openxmlformats.org/drawingml/2006/main">
              <a:ext uri="{FF2B5EF4-FFF2-40B4-BE49-F238E27FC236}">
                <a16:creationId xmlns:a16="http://schemas.microsoft.com/office/drawing/2014/main" id="{B757E8E4-C010-4182-B345-C146B615C38B}"/>
              </a:ext>
            </a:extLst>
          </p:cNvPr>
          <p:cNvSpPr>
            <a:spLocks xmlns:a="http://schemas.openxmlformats.org/drawingml/2006/main" noGrp="1"/>
          </p:cNvSpPr>
          <p:nvPr/>
        </p:nvSpPr>
        <p:spPr>
          <a:xfrm xmlns:a="http://schemas.openxmlformats.org/drawingml/2006/main">
            <a:off x="285750" y="4781550"/>
            <a:ext cx="6667500" cy="381000"/>
          </a:xfrm>
          <a:prstGeom xmlns:a="http://schemas.openxmlformats.org/drawingml/2006/main" prst="roundRect">
            <a:avLst>
              <a:gd name="adj" fmla="val 20000"/>
            </a:avLst>
          </a:prstGeom>
          <a:solidFill xmlns:a="http://schemas.openxmlformats.org/drawingml/2006/main">
            <a:srgbClr val="0A2547"/>
          </a:solidFill>
          <a:ln xmlns:a="http://schemas.openxmlformats.org/drawingml/2006/main" w="9525">
            <a:solidFill>
              <a:srgbClr val="1B4C8A"/>
            </a:solidFill>
            <a:prstDash val="solid"/>
          </a:ln>
        </p:spPr>
      </p:sp>
      <p:sp>
        <p:nvSpPr>
          <p:cNvPr id="14" name="">
            <a:extLst xmlns:a="http://schemas.openxmlformats.org/drawingml/2006/main">
              <a:ext uri="{FF2B5EF4-FFF2-40B4-BE49-F238E27FC236}">
                <a16:creationId xmlns:a16="http://schemas.microsoft.com/office/drawing/2014/main" id="{04C309CB-DFC8-45D9-8EED-E7DDD4840C15}"/>
              </a:ext>
            </a:extLst>
          </p:cNvPr>
          <p:cNvSpPr>
            <a:spLocks xmlns:a="http://schemas.openxmlformats.org/drawingml/2006/main" noGrp="1"/>
          </p:cNvSpPr>
          <p:nvPr/>
        </p:nvSpPr>
        <p:spPr>
          <a:xfrm xmlns:a="http://schemas.openxmlformats.org/drawingml/2006/main">
            <a:off x="419100" y="4781550"/>
            <a:ext cx="640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5C33B"/>
                </a:solidFill>
                <a:latin typeface="微软雅黑"/>
                <a:ea typeface="微软雅黑"/>
                <a:cs typeface="微软雅黑"/>
              </a:defRPr>
            </a:pPr>
            <a:r>
              <a:rPr sz="863" b="0">
                <a:solidFill>
                  <a:srgbClr val="F5C33B"/>
                </a:solidFill>
                <a:latin typeface="微软雅黑"/>
                <a:ea typeface="微软雅黑"/>
                <a:cs typeface="微软雅黑"/>
              </a:rPr>
              <a:t>本图证明：技能雷达把「岗位要求 L3 / 当前 L1」直接画在一张图上，员工一眼就能看到差距项与达标项。</a:t>
            </a:r>
          </a:p>
        </p:txBody>
      </p:sp>
      <p:sp>
        <p:nvSpPr>
          <p:cNvPr id="15" name="">
            <a:extLst xmlns:a="http://schemas.openxmlformats.org/drawingml/2006/main">
              <a:ext uri="{FF2B5EF4-FFF2-40B4-BE49-F238E27FC236}">
                <a16:creationId xmlns:a16="http://schemas.microsoft.com/office/drawing/2014/main" id="{325E916F-25E7-4458-9A28-8A64F8D54A9B}"/>
              </a:ext>
            </a:extLst>
          </p:cNvPr>
          <p:cNvSpPr>
            <a:spLocks xmlns:a="http://schemas.openxmlformats.org/drawingml/2006/main" noGrp="1"/>
          </p:cNvSpPr>
          <p:nvPr/>
        </p:nvSpPr>
        <p:spPr>
          <a:xfrm xmlns:a="http://schemas.openxmlformats.org/drawingml/2006/main">
            <a:off x="7124700" y="1333500"/>
            <a:ext cx="4781550" cy="3390900"/>
          </a:xfrm>
          <a:prstGeom xmlns:a="http://schemas.openxmlformats.org/drawingml/2006/main" prst="roundRect">
            <a:avLst>
              <a:gd name="adj" fmla="val 2247"/>
            </a:avLst>
          </a:prstGeom>
          <a:solidFill xmlns:a="http://schemas.openxmlformats.org/drawingml/2006/main">
            <a:srgbClr val="F4F8FD"/>
          </a:solidFill>
          <a:ln xmlns:a="http://schemas.openxmlformats.org/drawingml/2006/main" w="9525">
            <a:solidFill>
              <a:srgbClr val="2A6BAE"/>
            </a:solidFill>
            <a:prstDash val="solid"/>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29d6fcf72f3f4985"/>
          <a:stretch xmlns:a="http://schemas.openxmlformats.org/drawingml/2006/main"/>
        </p:blipFill>
        <p:spPr>
          <a:xfrm xmlns:a="http://schemas.openxmlformats.org/drawingml/2006/main">
            <a:off x="7455791" y="1390650"/>
            <a:ext cx="4119367" cy="3276600"/>
          </a:xfrm>
          <a:prstGeom xmlns:a="http://schemas.openxmlformats.org/drawingml/2006/main" prst="roundRect">
            <a:avLst>
              <a:gd name="adj" fmla="val 1744"/>
            </a:avLst>
          </a:prstGeom>
        </p:spPr>
      </p:pic>
      <p:sp>
        <p:nvSpPr>
          <p:cNvPr id="17" name="">
            <a:extLst xmlns:a="http://schemas.openxmlformats.org/drawingml/2006/main">
              <a:ext uri="{FF2B5EF4-FFF2-40B4-BE49-F238E27FC236}">
                <a16:creationId xmlns:a16="http://schemas.microsoft.com/office/drawing/2014/main" id="{49A29125-F82C-4098-8434-42ED423A1C3A}"/>
              </a:ext>
            </a:extLst>
          </p:cNvPr>
          <p:cNvSpPr>
            <a:spLocks xmlns:a="http://schemas.openxmlformats.org/drawingml/2006/main" noGrp="1"/>
          </p:cNvSpPr>
          <p:nvPr/>
        </p:nvSpPr>
        <p:spPr>
          <a:xfrm xmlns:a="http://schemas.openxmlformats.org/drawingml/2006/main">
            <a:off x="7124700" y="4781550"/>
            <a:ext cx="4781550" cy="381000"/>
          </a:xfrm>
          <a:prstGeom xmlns:a="http://schemas.openxmlformats.org/drawingml/2006/main" prst="roundRect">
            <a:avLst>
              <a:gd name="adj" fmla="val 20000"/>
            </a:avLst>
          </a:prstGeom>
          <a:solidFill xmlns:a="http://schemas.openxmlformats.org/drawingml/2006/main">
            <a:srgbClr val="0A2547"/>
          </a:solidFill>
          <a:ln xmlns:a="http://schemas.openxmlformats.org/drawingml/2006/main" w="9525">
            <a:solidFill>
              <a:srgbClr val="1B4C8A"/>
            </a:solidFill>
            <a:prstDash val="solid"/>
          </a:ln>
        </p:spPr>
      </p:sp>
      <p:sp>
        <p:nvSpPr>
          <p:cNvPr id="18" name="">
            <a:extLst xmlns:a="http://schemas.openxmlformats.org/drawingml/2006/main">
              <a:ext uri="{FF2B5EF4-FFF2-40B4-BE49-F238E27FC236}">
                <a16:creationId xmlns:a16="http://schemas.microsoft.com/office/drawing/2014/main" id="{04CB4053-DCD3-4DF7-BB6E-B4234E9319D6}"/>
              </a:ext>
            </a:extLst>
          </p:cNvPr>
          <p:cNvSpPr>
            <a:spLocks xmlns:a="http://schemas.openxmlformats.org/drawingml/2006/main" noGrp="1"/>
          </p:cNvSpPr>
          <p:nvPr/>
        </p:nvSpPr>
        <p:spPr>
          <a:xfrm xmlns:a="http://schemas.openxmlformats.org/drawingml/2006/main">
            <a:off x="7258050" y="4781550"/>
            <a:ext cx="4514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5C33B"/>
                </a:solidFill>
                <a:latin typeface="微软雅黑"/>
                <a:ea typeface="微软雅黑"/>
                <a:cs typeface="微软雅黑"/>
              </a:defRPr>
            </a:pPr>
            <a:r>
              <a:rPr sz="863" b="0">
                <a:solidFill>
                  <a:srgbClr val="F5C33B"/>
                </a:solidFill>
                <a:latin typeface="微软雅黑"/>
                <a:ea typeface="微软雅黑"/>
                <a:cs typeface="微软雅黑"/>
              </a:rPr>
              <a:t>本图证明：差距与建议页把个人欠缺逐条列出（技能缺失 / 知识缺失 / 经验缺失），并给出对应的学习计划，而不是只给一个总分。</a:t>
            </a:r>
          </a:p>
        </p:txBody>
      </p:sp>
      <p:sp>
        <p:nvSpPr>
          <p:cNvPr id="19" name="">
            <a:extLst xmlns:a="http://schemas.openxmlformats.org/drawingml/2006/main">
              <a:ext uri="{FF2B5EF4-FFF2-40B4-BE49-F238E27FC236}">
                <a16:creationId xmlns:a16="http://schemas.microsoft.com/office/drawing/2014/main" id="{A2FEAB40-3A49-426B-99A6-B2EF081A1EC9}"/>
              </a:ext>
            </a:extLst>
          </p:cNvPr>
          <p:cNvSpPr>
            <a:spLocks xmlns:a="http://schemas.openxmlformats.org/drawingml/2006/main" noGrp="1"/>
          </p:cNvSpPr>
          <p:nvPr/>
        </p:nvSpPr>
        <p:spPr>
          <a:xfrm xmlns:a="http://schemas.openxmlformats.org/drawingml/2006/main">
            <a:off x="285750" y="5162550"/>
            <a:ext cx="11620500" cy="1238250"/>
          </a:xfrm>
          <a:prstGeom xmlns:a="http://schemas.openxmlformats.org/drawingml/2006/main" prst="roundRect">
            <a:avLst>
              <a:gd name="adj" fmla="val 6154"/>
            </a:avLst>
          </a:prstGeom>
          <a:solidFill xmlns:a="http://schemas.openxmlformats.org/drawingml/2006/main">
            <a:srgbClr val="0A2547"/>
          </a:solidFill>
          <a:ln xmlns:a="http://schemas.openxmlformats.org/drawingml/2006/main" w="9525">
            <a:solidFill>
              <a:srgbClr val="2A6BAE"/>
            </a:solidFill>
            <a:prstDash val="solid"/>
          </a:ln>
        </p:spPr>
      </p:sp>
      <p:sp>
        <p:nvSpPr>
          <p:cNvPr id="20" name="">
            <a:extLst xmlns:a="http://schemas.openxmlformats.org/drawingml/2006/main">
              <a:ext uri="{FF2B5EF4-FFF2-40B4-BE49-F238E27FC236}">
                <a16:creationId xmlns:a16="http://schemas.microsoft.com/office/drawing/2014/main" id="{2AC4859D-AD64-4194-B3DA-03ECA6F9E901}"/>
              </a:ext>
            </a:extLst>
          </p:cNvPr>
          <p:cNvSpPr>
            <a:spLocks xmlns:a="http://schemas.openxmlformats.org/drawingml/2006/main" noGrp="1"/>
          </p:cNvSpPr>
          <p:nvPr/>
        </p:nvSpPr>
        <p:spPr>
          <a:xfrm xmlns:a="http://schemas.openxmlformats.org/drawingml/2006/main">
            <a:off x="457200" y="52959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F5C33B"/>
                </a:solidFill>
                <a:latin typeface="微软雅黑"/>
                <a:ea typeface="微软雅黑"/>
                <a:cs typeface="微软雅黑"/>
              </a:defRPr>
            </a:pPr>
            <a:r>
              <a:rPr sz="900" b="1">
                <a:solidFill>
                  <a:srgbClr val="F5C33B"/>
                </a:solidFill>
                <a:latin typeface="微软雅黑"/>
                <a:ea typeface="微软雅黑"/>
                <a:cs typeface="微软雅黑"/>
              </a:rPr>
              <a:t>差距来源</a:t>
            </a:r>
          </a:p>
        </p:txBody>
      </p:sp>
      <p:sp>
        <p:nvSpPr>
          <p:cNvPr id="21" name="">
            <a:extLst xmlns:a="http://schemas.openxmlformats.org/drawingml/2006/main">
              <a:ext uri="{FF2B5EF4-FFF2-40B4-BE49-F238E27FC236}">
                <a16:creationId xmlns:a16="http://schemas.microsoft.com/office/drawing/2014/main" id="{67C2C1FB-6D0B-49CC-842B-F02853C2D996}"/>
              </a:ext>
            </a:extLst>
          </p:cNvPr>
          <p:cNvSpPr>
            <a:spLocks xmlns:a="http://schemas.openxmlformats.org/drawingml/2006/main" noGrp="1"/>
          </p:cNvSpPr>
          <p:nvPr/>
        </p:nvSpPr>
        <p:spPr>
          <a:xfrm xmlns:a="http://schemas.openxmlformats.org/drawingml/2006/main">
            <a:off x="1504950" y="529590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岗位要求、考试成绩、实操报告、工单表现、师傅评价</a:t>
            </a:r>
          </a:p>
        </p:txBody>
      </p:sp>
      <p:sp>
        <p:nvSpPr>
          <p:cNvPr id="22" name="">
            <a:extLst xmlns:a="http://schemas.openxmlformats.org/drawingml/2006/main">
              <a:ext uri="{FF2B5EF4-FFF2-40B4-BE49-F238E27FC236}">
                <a16:creationId xmlns:a16="http://schemas.microsoft.com/office/drawing/2014/main" id="{42A086F6-4037-4BA9-92C6-788D7737B92C}"/>
              </a:ext>
            </a:extLst>
          </p:cNvPr>
          <p:cNvSpPr>
            <a:spLocks xmlns:a="http://schemas.openxmlformats.org/drawingml/2006/main" noGrp="1"/>
          </p:cNvSpPr>
          <p:nvPr/>
        </p:nvSpPr>
        <p:spPr>
          <a:xfrm xmlns:a="http://schemas.openxmlformats.org/drawingml/2006/main">
            <a:off x="6210300" y="52959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F5C33B"/>
                </a:solidFill>
                <a:latin typeface="微软雅黑"/>
                <a:ea typeface="微软雅黑"/>
                <a:cs typeface="微软雅黑"/>
              </a:defRPr>
            </a:pPr>
            <a:r>
              <a:rPr sz="900" b="1">
                <a:solidFill>
                  <a:srgbClr val="F5C33B"/>
                </a:solidFill>
                <a:latin typeface="微软雅黑"/>
                <a:ea typeface="微软雅黑"/>
                <a:cs typeface="微软雅黑"/>
              </a:rPr>
              <a:t>欠缺分类</a:t>
            </a:r>
          </a:p>
        </p:txBody>
      </p:sp>
      <p:sp>
        <p:nvSpPr>
          <p:cNvPr id="23" name="">
            <a:extLst xmlns:a="http://schemas.openxmlformats.org/drawingml/2006/main">
              <a:ext uri="{FF2B5EF4-FFF2-40B4-BE49-F238E27FC236}">
                <a16:creationId xmlns:a16="http://schemas.microsoft.com/office/drawing/2014/main" id="{8C880E28-6D21-4A64-B19B-955D6B9C0B02}"/>
              </a:ext>
            </a:extLst>
          </p:cNvPr>
          <p:cNvSpPr>
            <a:spLocks xmlns:a="http://schemas.openxmlformats.org/drawingml/2006/main" noGrp="1"/>
          </p:cNvSpPr>
          <p:nvPr/>
        </p:nvSpPr>
        <p:spPr>
          <a:xfrm xmlns:a="http://schemas.openxmlformats.org/drawingml/2006/main">
            <a:off x="7258050" y="529590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技能缺失 / 知识缺失 / 经验缺失 / 证书过期 / 安全短板</a:t>
            </a:r>
          </a:p>
        </p:txBody>
      </p:sp>
      <p:sp>
        <p:nvSpPr>
          <p:cNvPr id="24" name="">
            <a:extLst xmlns:a="http://schemas.openxmlformats.org/drawingml/2006/main">
              <a:ext uri="{FF2B5EF4-FFF2-40B4-BE49-F238E27FC236}">
                <a16:creationId xmlns:a16="http://schemas.microsoft.com/office/drawing/2014/main" id="{73BFDB76-1810-4323-A807-C0FC6DC69253}"/>
              </a:ext>
            </a:extLst>
          </p:cNvPr>
          <p:cNvSpPr>
            <a:spLocks xmlns:a="http://schemas.openxmlformats.org/drawingml/2006/main" noGrp="1"/>
          </p:cNvSpPr>
          <p:nvPr/>
        </p:nvSpPr>
        <p:spPr>
          <a:xfrm xmlns:a="http://schemas.openxmlformats.org/drawingml/2006/main">
            <a:off x="457200" y="58102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F5C33B"/>
                </a:solidFill>
                <a:latin typeface="微软雅黑"/>
                <a:ea typeface="微软雅黑"/>
                <a:cs typeface="微软雅黑"/>
              </a:defRPr>
            </a:pPr>
            <a:r>
              <a:rPr sz="900" b="1">
                <a:solidFill>
                  <a:srgbClr val="F5C33B"/>
                </a:solidFill>
                <a:latin typeface="微软雅黑"/>
                <a:ea typeface="微软雅黑"/>
                <a:cs typeface="微软雅黑"/>
              </a:rPr>
              <a:t>欠缺原因</a:t>
            </a:r>
          </a:p>
        </p:txBody>
      </p:sp>
      <p:sp>
        <p:nvSpPr>
          <p:cNvPr id="25" name="">
            <a:extLst xmlns:a="http://schemas.openxmlformats.org/drawingml/2006/main">
              <a:ext uri="{FF2B5EF4-FFF2-40B4-BE49-F238E27FC236}">
                <a16:creationId xmlns:a16="http://schemas.microsoft.com/office/drawing/2014/main" id="{3FBFDFC1-D2A3-49E8-B194-FDEBC50D9CE5}"/>
              </a:ext>
            </a:extLst>
          </p:cNvPr>
          <p:cNvSpPr>
            <a:spLocks xmlns:a="http://schemas.openxmlformats.org/drawingml/2006/main" noGrp="1"/>
          </p:cNvSpPr>
          <p:nvPr/>
        </p:nvSpPr>
        <p:spPr>
          <a:xfrm xmlns:a="http://schemas.openxmlformats.org/drawingml/2006/main">
            <a:off x="1504950" y="58102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如「继保考试 62 分」「实操报告写误读软压板」「未按 SOP 准备」</a:t>
            </a:r>
          </a:p>
        </p:txBody>
      </p:sp>
      <p:sp>
        <p:nvSpPr>
          <p:cNvPr id="26" name="">
            <a:extLst xmlns:a="http://schemas.openxmlformats.org/drawingml/2006/main">
              <a:ext uri="{FF2B5EF4-FFF2-40B4-BE49-F238E27FC236}">
                <a16:creationId xmlns:a16="http://schemas.microsoft.com/office/drawing/2014/main" id="{D7FFE4BF-F2FA-4CE1-90AD-293042281E42}"/>
              </a:ext>
            </a:extLst>
          </p:cNvPr>
          <p:cNvSpPr>
            <a:spLocks xmlns:a="http://schemas.openxmlformats.org/drawingml/2006/main" noGrp="1"/>
          </p:cNvSpPr>
          <p:nvPr/>
        </p:nvSpPr>
        <p:spPr>
          <a:xfrm xmlns:a="http://schemas.openxmlformats.org/drawingml/2006/main">
            <a:off x="6210300" y="58102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F5C33B"/>
                </a:solidFill>
                <a:latin typeface="微软雅黑"/>
                <a:ea typeface="微软雅黑"/>
                <a:cs typeface="微软雅黑"/>
              </a:defRPr>
            </a:pPr>
            <a:r>
              <a:rPr sz="900" b="1">
                <a:solidFill>
                  <a:srgbClr val="F5C33B"/>
                </a:solidFill>
                <a:latin typeface="微软雅黑"/>
                <a:ea typeface="微软雅黑"/>
                <a:cs typeface="微软雅黑"/>
              </a:rPr>
              <a:t>输出</a:t>
            </a:r>
          </a:p>
        </p:txBody>
      </p:sp>
      <p:sp>
        <p:nvSpPr>
          <p:cNvPr id="27" name="">
            <a:extLst xmlns:a="http://schemas.openxmlformats.org/drawingml/2006/main">
              <a:ext uri="{FF2B5EF4-FFF2-40B4-BE49-F238E27FC236}">
                <a16:creationId xmlns:a16="http://schemas.microsoft.com/office/drawing/2014/main" id="{F30EA94A-7BA3-4A7B-8356-860891A8653D}"/>
              </a:ext>
            </a:extLst>
          </p:cNvPr>
          <p:cNvSpPr>
            <a:spLocks xmlns:a="http://schemas.openxmlformats.org/drawingml/2006/main" noGrp="1"/>
          </p:cNvSpPr>
          <p:nvPr/>
        </p:nvSpPr>
        <p:spPr>
          <a:xfrm xmlns:a="http://schemas.openxmlformats.org/drawingml/2006/main">
            <a:off x="7258050" y="58102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学习计划 + 推荐课程 + 带教安排 + 模拟考（由规则引擎生成，带 rule_code）</a:t>
            </a:r>
          </a:p>
        </p:txBody>
      </p:sp>
      <p:sp>
        <p:nvSpPr>
          <p:cNvPr id="28" name="">
            <a:extLst xmlns:a="http://schemas.openxmlformats.org/drawingml/2006/main">
              <a:ext uri="{FF2B5EF4-FFF2-40B4-BE49-F238E27FC236}">
                <a16:creationId xmlns:a16="http://schemas.microsoft.com/office/drawing/2014/main" id="{2EF7F1F4-D9DE-4D65-B04D-408C98AF2F73}"/>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2F29402-DBC8-457A-BD4F-25DC1EAB5A10}"/>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30" name="">
            <a:extLst xmlns:a="http://schemas.openxmlformats.org/drawingml/2006/main">
              <a:ext uri="{FF2B5EF4-FFF2-40B4-BE49-F238E27FC236}">
                <a16:creationId xmlns:a16="http://schemas.microsoft.com/office/drawing/2014/main" id="{C41B4708-D712-45B0-8B09-2276F5C93D45}"/>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21</a:t>
            </a:r>
          </a:p>
        </p:txBody>
      </p:sp>
    </p:spTree>
    <p:extLst>
      <p:ext uri="{BB962C8B-B14F-4D97-AF65-F5344CB8AC3E}">
        <p14:creationId xmlns:p14="http://schemas.microsoft.com/office/powerpoint/2010/main" val="2061201048"/>
      </p:ext>
    </p:extLst>
  </p:cSld>
</p:sld>
</file>

<file path=ppt/slides/slide22.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DD26570A-9E16-42E2-9ED3-EA5C0B960A0C}"/>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508F87F-9E2C-4FEA-9039-09B9F9729E8F}"/>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E57E4B8-A5EE-4542-A489-B5D649B89B74}"/>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4E545E4-1740-4E52-92EC-51CBB3E37FEC}"/>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8A5149B-76CA-49AC-A348-10EB2FABB0FE}"/>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F803CC34-B0F8-44FE-900E-F2322A35BB67}"/>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系统实现</a:t>
            </a:r>
          </a:p>
        </p:txBody>
      </p:sp>
      <p:sp>
        <p:nvSpPr>
          <p:cNvPr id="7" name="">
            <a:extLst xmlns:a="http://schemas.openxmlformats.org/drawingml/2006/main">
              <a:ext uri="{FF2B5EF4-FFF2-40B4-BE49-F238E27FC236}">
                <a16:creationId xmlns:a16="http://schemas.microsoft.com/office/drawing/2014/main" id="{FC9FFD5D-A608-4E32-95D8-61C9819FA026}"/>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06C7B0E-41F2-4A7D-941F-1CCFA6D046FB}"/>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系统界面二 · 组卷考试与个性化学习计划</a:t>
            </a:r>
          </a:p>
        </p:txBody>
      </p:sp>
      <p:sp>
        <p:nvSpPr>
          <p:cNvPr id="9" name="">
            <a:extLst xmlns:a="http://schemas.openxmlformats.org/drawingml/2006/main">
              <a:ext uri="{FF2B5EF4-FFF2-40B4-BE49-F238E27FC236}">
                <a16:creationId xmlns:a16="http://schemas.microsoft.com/office/drawing/2014/main" id="{B19E84DD-BA76-4874-B101-BAAADDFA86DC}"/>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17585EE7-FAEB-408A-A39A-DA8EB6FA1CCF}"/>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同一套能力数据，既驱动「我的考试」入口，也驱动 Agent 生成的学习计划。</a:t>
            </a:r>
          </a:p>
        </p:txBody>
      </p:sp>
      <p:sp>
        <p:nvSpPr>
          <p:cNvPr id="11" name="">
            <a:extLst xmlns:a="http://schemas.openxmlformats.org/drawingml/2006/main">
              <a:ext uri="{FF2B5EF4-FFF2-40B4-BE49-F238E27FC236}">
                <a16:creationId xmlns:a16="http://schemas.microsoft.com/office/drawing/2014/main" id="{EC42868A-B5AF-4466-8465-538FD77DBBF7}"/>
              </a:ext>
            </a:extLst>
          </p:cNvPr>
          <p:cNvSpPr>
            <a:spLocks xmlns:a="http://schemas.openxmlformats.org/drawingml/2006/main" noGrp="1"/>
          </p:cNvSpPr>
          <p:nvPr/>
        </p:nvSpPr>
        <p:spPr>
          <a:xfrm xmlns:a="http://schemas.openxmlformats.org/drawingml/2006/main">
            <a:off x="285750" y="1333500"/>
            <a:ext cx="5334000" cy="3390900"/>
          </a:xfrm>
          <a:prstGeom xmlns:a="http://schemas.openxmlformats.org/drawingml/2006/main" prst="roundRect">
            <a:avLst>
              <a:gd name="adj" fmla="val 2247"/>
            </a:avLst>
          </a:prstGeom>
          <a:solidFill xmlns:a="http://schemas.openxmlformats.org/drawingml/2006/main">
            <a:srgbClr val="F4F8FD"/>
          </a:solidFill>
          <a:ln xmlns:a="http://schemas.openxmlformats.org/drawingml/2006/main" w="9525">
            <a:solidFill>
              <a:srgbClr val="2A6BAE"/>
            </a:solidFill>
            <a:prstDash val="solid"/>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41245e95bcd045a8"/>
          <a:stretch xmlns:a="http://schemas.openxmlformats.org/drawingml/2006/main"/>
        </p:blipFill>
        <p:spPr>
          <a:xfrm xmlns:a="http://schemas.openxmlformats.org/drawingml/2006/main">
            <a:off x="516610" y="1390650"/>
            <a:ext cx="4872280" cy="3276600"/>
          </a:xfrm>
          <a:prstGeom xmlns:a="http://schemas.openxmlformats.org/drawingml/2006/main" prst="roundRect">
            <a:avLst>
              <a:gd name="adj" fmla="val 1744"/>
            </a:avLst>
          </a:prstGeom>
        </p:spPr>
      </p:pic>
      <p:sp>
        <p:nvSpPr>
          <p:cNvPr id="13" name="">
            <a:extLst xmlns:a="http://schemas.openxmlformats.org/drawingml/2006/main">
              <a:ext uri="{FF2B5EF4-FFF2-40B4-BE49-F238E27FC236}">
                <a16:creationId xmlns:a16="http://schemas.microsoft.com/office/drawing/2014/main" id="{55B6DB6A-0A46-4787-9B77-98AF288D379B}"/>
              </a:ext>
            </a:extLst>
          </p:cNvPr>
          <p:cNvSpPr>
            <a:spLocks xmlns:a="http://schemas.openxmlformats.org/drawingml/2006/main" noGrp="1"/>
          </p:cNvSpPr>
          <p:nvPr/>
        </p:nvSpPr>
        <p:spPr>
          <a:xfrm xmlns:a="http://schemas.openxmlformats.org/drawingml/2006/main">
            <a:off x="285750" y="4781550"/>
            <a:ext cx="5334000" cy="381000"/>
          </a:xfrm>
          <a:prstGeom xmlns:a="http://schemas.openxmlformats.org/drawingml/2006/main" prst="roundRect">
            <a:avLst>
              <a:gd name="adj" fmla="val 20000"/>
            </a:avLst>
          </a:prstGeom>
          <a:solidFill xmlns:a="http://schemas.openxmlformats.org/drawingml/2006/main">
            <a:srgbClr val="0A2547"/>
          </a:solidFill>
          <a:ln xmlns:a="http://schemas.openxmlformats.org/drawingml/2006/main" w="9525">
            <a:solidFill>
              <a:srgbClr val="1B4C8A"/>
            </a:solidFill>
            <a:prstDash val="solid"/>
          </a:ln>
        </p:spPr>
      </p:sp>
      <p:sp>
        <p:nvSpPr>
          <p:cNvPr id="14" name="">
            <a:extLst xmlns:a="http://schemas.openxmlformats.org/drawingml/2006/main">
              <a:ext uri="{FF2B5EF4-FFF2-40B4-BE49-F238E27FC236}">
                <a16:creationId xmlns:a16="http://schemas.microsoft.com/office/drawing/2014/main" id="{EA40AB62-E71D-4199-9F80-625030F440C4}"/>
              </a:ext>
            </a:extLst>
          </p:cNvPr>
          <p:cNvSpPr>
            <a:spLocks xmlns:a="http://schemas.openxmlformats.org/drawingml/2006/main" noGrp="1"/>
          </p:cNvSpPr>
          <p:nvPr/>
        </p:nvSpPr>
        <p:spPr>
          <a:xfrm xmlns:a="http://schemas.openxmlformats.org/drawingml/2006/main">
            <a:off x="419100" y="4781550"/>
            <a:ext cx="506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5C33B"/>
                </a:solidFill>
                <a:latin typeface="微软雅黑"/>
                <a:ea typeface="微软雅黑"/>
                <a:cs typeface="微软雅黑"/>
              </a:defRPr>
            </a:pPr>
            <a:r>
              <a:rPr sz="863" b="0">
                <a:solidFill>
                  <a:srgbClr val="F5C33B"/>
                </a:solidFill>
                <a:latin typeface="微软雅黑"/>
                <a:ea typeface="微软雅黑"/>
                <a:cs typeface="微软雅黑"/>
              </a:rPr>
              <a:t>本图证明：我的考试页把待考、历史成绩、错题与补考收在一个入口，考试成绩通过后自动回流技能等级。</a:t>
            </a:r>
          </a:p>
        </p:txBody>
      </p:sp>
      <p:sp>
        <p:nvSpPr>
          <p:cNvPr id="15" name="">
            <a:extLst xmlns:a="http://schemas.openxmlformats.org/drawingml/2006/main">
              <a:ext uri="{FF2B5EF4-FFF2-40B4-BE49-F238E27FC236}">
                <a16:creationId xmlns:a16="http://schemas.microsoft.com/office/drawing/2014/main" id="{A16F9FF9-1BCF-4B54-B427-B516096C8B4C}"/>
              </a:ext>
            </a:extLst>
          </p:cNvPr>
          <p:cNvSpPr>
            <a:spLocks xmlns:a="http://schemas.openxmlformats.org/drawingml/2006/main" noGrp="1"/>
          </p:cNvSpPr>
          <p:nvPr/>
        </p:nvSpPr>
        <p:spPr>
          <a:xfrm xmlns:a="http://schemas.openxmlformats.org/drawingml/2006/main">
            <a:off x="5810250" y="1333500"/>
            <a:ext cx="6096000" cy="3390900"/>
          </a:xfrm>
          <a:prstGeom xmlns:a="http://schemas.openxmlformats.org/drawingml/2006/main" prst="roundRect">
            <a:avLst>
              <a:gd name="adj" fmla="val 2247"/>
            </a:avLst>
          </a:prstGeom>
          <a:solidFill xmlns:a="http://schemas.openxmlformats.org/drawingml/2006/main">
            <a:srgbClr val="F4F8FD"/>
          </a:solidFill>
          <a:ln xmlns:a="http://schemas.openxmlformats.org/drawingml/2006/main" w="9525">
            <a:solidFill>
              <a:srgbClr val="2A6BAE"/>
            </a:solidFill>
            <a:prstDash val="solid"/>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37ff26e880ca4972"/>
          <a:stretch xmlns:a="http://schemas.openxmlformats.org/drawingml/2006/main"/>
        </p:blipFill>
        <p:spPr>
          <a:xfrm xmlns:a="http://schemas.openxmlformats.org/drawingml/2006/main">
            <a:off x="6037427" y="1390650"/>
            <a:ext cx="5641646" cy="3276600"/>
          </a:xfrm>
          <a:prstGeom xmlns:a="http://schemas.openxmlformats.org/drawingml/2006/main" prst="roundRect">
            <a:avLst>
              <a:gd name="adj" fmla="val 1744"/>
            </a:avLst>
          </a:prstGeom>
        </p:spPr>
      </p:pic>
      <p:sp>
        <p:nvSpPr>
          <p:cNvPr id="17" name="">
            <a:extLst xmlns:a="http://schemas.openxmlformats.org/drawingml/2006/main">
              <a:ext uri="{FF2B5EF4-FFF2-40B4-BE49-F238E27FC236}">
                <a16:creationId xmlns:a16="http://schemas.microsoft.com/office/drawing/2014/main" id="{1F9988AC-5226-4E62-AEC3-7A80D11E8FB0}"/>
              </a:ext>
            </a:extLst>
          </p:cNvPr>
          <p:cNvSpPr>
            <a:spLocks xmlns:a="http://schemas.openxmlformats.org/drawingml/2006/main" noGrp="1"/>
          </p:cNvSpPr>
          <p:nvPr/>
        </p:nvSpPr>
        <p:spPr>
          <a:xfrm xmlns:a="http://schemas.openxmlformats.org/drawingml/2006/main">
            <a:off x="5810250" y="4781550"/>
            <a:ext cx="6096000" cy="381000"/>
          </a:xfrm>
          <a:prstGeom xmlns:a="http://schemas.openxmlformats.org/drawingml/2006/main" prst="roundRect">
            <a:avLst>
              <a:gd name="adj" fmla="val 20000"/>
            </a:avLst>
          </a:prstGeom>
          <a:solidFill xmlns:a="http://schemas.openxmlformats.org/drawingml/2006/main">
            <a:srgbClr val="0A2547"/>
          </a:solidFill>
          <a:ln xmlns:a="http://schemas.openxmlformats.org/drawingml/2006/main" w="9525">
            <a:solidFill>
              <a:srgbClr val="1B4C8A"/>
            </a:solidFill>
            <a:prstDash val="solid"/>
          </a:ln>
        </p:spPr>
      </p:sp>
      <p:sp>
        <p:nvSpPr>
          <p:cNvPr id="18" name="">
            <a:extLst xmlns:a="http://schemas.openxmlformats.org/drawingml/2006/main">
              <a:ext uri="{FF2B5EF4-FFF2-40B4-BE49-F238E27FC236}">
                <a16:creationId xmlns:a16="http://schemas.microsoft.com/office/drawing/2014/main" id="{4156DF96-4586-49D2-9BAA-182A9486E1FB}"/>
              </a:ext>
            </a:extLst>
          </p:cNvPr>
          <p:cNvSpPr>
            <a:spLocks xmlns:a="http://schemas.openxmlformats.org/drawingml/2006/main" noGrp="1"/>
          </p:cNvSpPr>
          <p:nvPr/>
        </p:nvSpPr>
        <p:spPr>
          <a:xfrm xmlns:a="http://schemas.openxmlformats.org/drawingml/2006/main">
            <a:off x="5943600" y="4781550"/>
            <a:ext cx="5829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5C33B"/>
                </a:solidFill>
                <a:latin typeface="微软雅黑"/>
                <a:ea typeface="微软雅黑"/>
                <a:cs typeface="微软雅黑"/>
              </a:defRPr>
            </a:pPr>
            <a:r>
              <a:rPr sz="863" b="0">
                <a:solidFill>
                  <a:srgbClr val="F5C33B"/>
                </a:solidFill>
                <a:latin typeface="微软雅黑"/>
                <a:ea typeface="微软雅黑"/>
                <a:cs typeface="微软雅黑"/>
              </a:rPr>
              <a:t>本图证明：个性化 Agent 计划把「推荐课程 + 带教 + 模拟考」写成可执行条目，每条都能回溯到命中的规则与依据数据点。</a:t>
            </a:r>
          </a:p>
        </p:txBody>
      </p:sp>
      <p:sp>
        <p:nvSpPr>
          <p:cNvPr id="19" name="">
            <a:extLst xmlns:a="http://schemas.openxmlformats.org/drawingml/2006/main">
              <a:ext uri="{FF2B5EF4-FFF2-40B4-BE49-F238E27FC236}">
                <a16:creationId xmlns:a16="http://schemas.microsoft.com/office/drawing/2014/main" id="{EFCBBD26-FB21-4355-8B76-7FE8EC9598B0}"/>
              </a:ext>
            </a:extLst>
          </p:cNvPr>
          <p:cNvSpPr>
            <a:spLocks xmlns:a="http://schemas.openxmlformats.org/drawingml/2006/main" noGrp="1"/>
          </p:cNvSpPr>
          <p:nvPr/>
        </p:nvSpPr>
        <p:spPr>
          <a:xfrm xmlns:a="http://schemas.openxmlformats.org/drawingml/2006/main">
            <a:off x="285750" y="5162550"/>
            <a:ext cx="11620500" cy="1238250"/>
          </a:xfrm>
          <a:prstGeom xmlns:a="http://schemas.openxmlformats.org/drawingml/2006/main" prst="roundRect">
            <a:avLst>
              <a:gd name="adj" fmla="val 6154"/>
            </a:avLst>
          </a:prstGeom>
          <a:solidFill xmlns:a="http://schemas.openxmlformats.org/drawingml/2006/main">
            <a:srgbClr val="0A2547"/>
          </a:solidFill>
          <a:ln xmlns:a="http://schemas.openxmlformats.org/drawingml/2006/main" w="9525">
            <a:solidFill>
              <a:srgbClr val="2A6BAE"/>
            </a:solidFill>
            <a:prstDash val="solid"/>
          </a:ln>
        </p:spPr>
      </p:sp>
      <p:sp>
        <p:nvSpPr>
          <p:cNvPr id="20" name="">
            <a:extLst xmlns:a="http://schemas.openxmlformats.org/drawingml/2006/main">
              <a:ext uri="{FF2B5EF4-FFF2-40B4-BE49-F238E27FC236}">
                <a16:creationId xmlns:a16="http://schemas.microsoft.com/office/drawing/2014/main" id="{EF8503D2-1FAA-40BD-ADC2-6351AD12A439}"/>
              </a:ext>
            </a:extLst>
          </p:cNvPr>
          <p:cNvSpPr>
            <a:spLocks xmlns:a="http://schemas.openxmlformats.org/drawingml/2006/main" noGrp="1"/>
          </p:cNvSpPr>
          <p:nvPr/>
        </p:nvSpPr>
        <p:spPr>
          <a:xfrm xmlns:a="http://schemas.openxmlformats.org/drawingml/2006/main">
            <a:off x="457200" y="5276850"/>
            <a:ext cx="1123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组卷考试能力（管理员配置 → 员工答题 → 成绩回流）</a:t>
            </a:r>
          </a:p>
        </p:txBody>
      </p:sp>
      <p:sp>
        <p:nvSpPr>
          <p:cNvPr id="21" name="">
            <a:extLst xmlns:a="http://schemas.openxmlformats.org/drawingml/2006/main">
              <a:ext uri="{FF2B5EF4-FFF2-40B4-BE49-F238E27FC236}">
                <a16:creationId xmlns:a16="http://schemas.microsoft.com/office/drawing/2014/main" id="{D3C26400-1F6D-42A3-A754-1008D0E7B1F1}"/>
              </a:ext>
            </a:extLst>
          </p:cNvPr>
          <p:cNvSpPr>
            <a:spLocks xmlns:a="http://schemas.openxmlformats.org/drawingml/2006/main" noGrp="1"/>
          </p:cNvSpPr>
          <p:nvPr/>
        </p:nvSpPr>
        <p:spPr>
          <a:xfrm xmlns:a="http://schemas.openxmlformats.org/drawingml/2006/main">
            <a:off x="457200" y="55816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31C7F0"/>
                </a:solidFill>
                <a:latin typeface="微软雅黑"/>
                <a:ea typeface="微软雅黑"/>
                <a:cs typeface="微软雅黑"/>
              </a:defRPr>
            </a:pPr>
            <a:r>
              <a:rPr sz="900" b="1">
                <a:solidFill>
                  <a:srgbClr val="31C7F0"/>
                </a:solidFill>
                <a:latin typeface="微软雅黑"/>
                <a:ea typeface="微软雅黑"/>
                <a:cs typeface="微软雅黑"/>
              </a:rPr>
              <a:t>组卷</a:t>
            </a:r>
          </a:p>
        </p:txBody>
      </p:sp>
      <p:sp>
        <p:nvSpPr>
          <p:cNvPr id="22" name="">
            <a:extLst xmlns:a="http://schemas.openxmlformats.org/drawingml/2006/main">
              <a:ext uri="{FF2B5EF4-FFF2-40B4-BE49-F238E27FC236}">
                <a16:creationId xmlns:a16="http://schemas.microsoft.com/office/drawing/2014/main" id="{86F3B81C-EA4A-447A-80D3-382BF9D55B18}"/>
              </a:ext>
            </a:extLst>
          </p:cNvPr>
          <p:cNvSpPr>
            <a:spLocks xmlns:a="http://schemas.openxmlformats.org/drawingml/2006/main" noGrp="1"/>
          </p:cNvSpPr>
          <p:nvPr/>
        </p:nvSpPr>
        <p:spPr>
          <a:xfrm xmlns:a="http://schemas.openxmlformats.org/drawingml/2006/main">
            <a:off x="1123950" y="55816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按岗位、技能、等级抽题；题量与技能配比由算法三动态分配</a:t>
            </a:r>
          </a:p>
        </p:txBody>
      </p:sp>
      <p:sp>
        <p:nvSpPr>
          <p:cNvPr id="23" name="">
            <a:extLst xmlns:a="http://schemas.openxmlformats.org/drawingml/2006/main">
              <a:ext uri="{FF2B5EF4-FFF2-40B4-BE49-F238E27FC236}">
                <a16:creationId xmlns:a16="http://schemas.microsoft.com/office/drawing/2014/main" id="{A98D752E-6CE6-4B9A-BD40-C4EF0C2C6835}"/>
              </a:ext>
            </a:extLst>
          </p:cNvPr>
          <p:cNvSpPr>
            <a:spLocks xmlns:a="http://schemas.openxmlformats.org/drawingml/2006/main" noGrp="1"/>
          </p:cNvSpPr>
          <p:nvPr/>
        </p:nvSpPr>
        <p:spPr>
          <a:xfrm xmlns:a="http://schemas.openxmlformats.org/drawingml/2006/main">
            <a:off x="4305300" y="55816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31C7F0"/>
                </a:solidFill>
                <a:latin typeface="微软雅黑"/>
                <a:ea typeface="微软雅黑"/>
                <a:cs typeface="微软雅黑"/>
              </a:defRPr>
            </a:pPr>
            <a:r>
              <a:rPr sz="900" b="1">
                <a:solidFill>
                  <a:srgbClr val="31C7F0"/>
                </a:solidFill>
                <a:latin typeface="微软雅黑"/>
                <a:ea typeface="微软雅黑"/>
                <a:cs typeface="微软雅黑"/>
              </a:rPr>
              <a:t>开考门禁</a:t>
            </a:r>
          </a:p>
        </p:txBody>
      </p:sp>
      <p:sp>
        <p:nvSpPr>
          <p:cNvPr id="24" name="">
            <a:extLst xmlns:a="http://schemas.openxmlformats.org/drawingml/2006/main">
              <a:ext uri="{FF2B5EF4-FFF2-40B4-BE49-F238E27FC236}">
                <a16:creationId xmlns:a16="http://schemas.microsoft.com/office/drawing/2014/main" id="{904C2887-93A8-42F8-B605-D99457E7F110}"/>
              </a:ext>
            </a:extLst>
          </p:cNvPr>
          <p:cNvSpPr>
            <a:spLocks xmlns:a="http://schemas.openxmlformats.org/drawingml/2006/main" noGrp="1"/>
          </p:cNvSpPr>
          <p:nvPr/>
        </p:nvSpPr>
        <p:spPr>
          <a:xfrm xmlns:a="http://schemas.openxmlformats.org/drawingml/2006/main">
            <a:off x="4972050" y="55816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管理员未开考时，前端按钮不可点击，接口侧直接拒绝发卷</a:t>
            </a:r>
          </a:p>
        </p:txBody>
      </p:sp>
      <p:sp>
        <p:nvSpPr>
          <p:cNvPr id="25" name="">
            <a:extLst xmlns:a="http://schemas.openxmlformats.org/drawingml/2006/main">
              <a:ext uri="{FF2B5EF4-FFF2-40B4-BE49-F238E27FC236}">
                <a16:creationId xmlns:a16="http://schemas.microsoft.com/office/drawing/2014/main" id="{963173F8-4E29-480E-B804-88C943D387BD}"/>
              </a:ext>
            </a:extLst>
          </p:cNvPr>
          <p:cNvSpPr>
            <a:spLocks xmlns:a="http://schemas.openxmlformats.org/drawingml/2006/main" noGrp="1"/>
          </p:cNvSpPr>
          <p:nvPr/>
        </p:nvSpPr>
        <p:spPr>
          <a:xfrm xmlns:a="http://schemas.openxmlformats.org/drawingml/2006/main">
            <a:off x="8153400" y="55816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31C7F0"/>
                </a:solidFill>
                <a:latin typeface="微软雅黑"/>
                <a:ea typeface="微软雅黑"/>
                <a:cs typeface="微软雅黑"/>
              </a:defRPr>
            </a:pPr>
            <a:r>
              <a:rPr sz="900" b="1">
                <a:solidFill>
                  <a:srgbClr val="31C7F0"/>
                </a:solidFill>
                <a:latin typeface="微软雅黑"/>
                <a:ea typeface="微软雅黑"/>
                <a:cs typeface="微软雅黑"/>
              </a:rPr>
              <a:t>判卷</a:t>
            </a:r>
          </a:p>
        </p:txBody>
      </p:sp>
      <p:sp>
        <p:nvSpPr>
          <p:cNvPr id="26" name="">
            <a:extLst xmlns:a="http://schemas.openxmlformats.org/drawingml/2006/main">
              <a:ext uri="{FF2B5EF4-FFF2-40B4-BE49-F238E27FC236}">
                <a16:creationId xmlns:a16="http://schemas.microsoft.com/office/drawing/2014/main" id="{57F9E25B-C8D7-4AB1-92F8-23F210FE4790}"/>
              </a:ext>
            </a:extLst>
          </p:cNvPr>
          <p:cNvSpPr>
            <a:spLocks xmlns:a="http://schemas.openxmlformats.org/drawingml/2006/main" noGrp="1"/>
          </p:cNvSpPr>
          <p:nvPr/>
        </p:nvSpPr>
        <p:spPr>
          <a:xfrm xmlns:a="http://schemas.openxmlformats.org/drawingml/2006/main">
            <a:off x="8820150" y="55816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客观题自动判分，主观题与实操由班组长评；错题归因到知识点与技能</a:t>
            </a:r>
          </a:p>
        </p:txBody>
      </p:sp>
      <p:sp>
        <p:nvSpPr>
          <p:cNvPr id="27" name="">
            <a:extLst xmlns:a="http://schemas.openxmlformats.org/drawingml/2006/main">
              <a:ext uri="{FF2B5EF4-FFF2-40B4-BE49-F238E27FC236}">
                <a16:creationId xmlns:a16="http://schemas.microsoft.com/office/drawing/2014/main" id="{E3E331C0-0BF3-45C7-8D23-6C87FD8E7A0D}"/>
              </a:ext>
            </a:extLst>
          </p:cNvPr>
          <p:cNvSpPr>
            <a:spLocks xmlns:a="http://schemas.openxmlformats.org/drawingml/2006/main" noGrp="1"/>
          </p:cNvSpPr>
          <p:nvPr/>
        </p:nvSpPr>
        <p:spPr>
          <a:xfrm xmlns:a="http://schemas.openxmlformats.org/drawingml/2006/main">
            <a:off x="457200" y="59626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31C7F0"/>
                </a:solidFill>
                <a:latin typeface="微软雅黑"/>
                <a:ea typeface="微软雅黑"/>
                <a:cs typeface="微软雅黑"/>
              </a:defRPr>
            </a:pPr>
            <a:r>
              <a:rPr sz="900" b="1">
                <a:solidFill>
                  <a:srgbClr val="31C7F0"/>
                </a:solidFill>
                <a:latin typeface="微软雅黑"/>
                <a:ea typeface="微软雅黑"/>
                <a:cs typeface="微软雅黑"/>
              </a:rPr>
              <a:t>防作弊</a:t>
            </a:r>
          </a:p>
        </p:txBody>
      </p:sp>
      <p:sp>
        <p:nvSpPr>
          <p:cNvPr id="28" name="">
            <a:extLst xmlns:a="http://schemas.openxmlformats.org/drawingml/2006/main">
              <a:ext uri="{FF2B5EF4-FFF2-40B4-BE49-F238E27FC236}">
                <a16:creationId xmlns:a16="http://schemas.microsoft.com/office/drawing/2014/main" id="{0842A013-6339-4F38-A0F0-81CBE6A22B98}"/>
              </a:ext>
            </a:extLst>
          </p:cNvPr>
          <p:cNvSpPr>
            <a:spLocks xmlns:a="http://schemas.openxmlformats.org/drawingml/2006/main" noGrp="1"/>
          </p:cNvSpPr>
          <p:nvPr/>
        </p:nvSpPr>
        <p:spPr>
          <a:xfrm xmlns:a="http://schemas.openxmlformats.org/drawingml/2006/main">
            <a:off x="1123950" y="59626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人脸识别、切屏检测、随机题、限时、操作日志与异常报警</a:t>
            </a:r>
          </a:p>
        </p:txBody>
      </p:sp>
      <p:sp>
        <p:nvSpPr>
          <p:cNvPr id="29" name="">
            <a:extLst xmlns:a="http://schemas.openxmlformats.org/drawingml/2006/main">
              <a:ext uri="{FF2B5EF4-FFF2-40B4-BE49-F238E27FC236}">
                <a16:creationId xmlns:a16="http://schemas.microsoft.com/office/drawing/2014/main" id="{C8F90820-5520-4B55-8E2D-4AE062DEEA1E}"/>
              </a:ext>
            </a:extLst>
          </p:cNvPr>
          <p:cNvSpPr>
            <a:spLocks xmlns:a="http://schemas.openxmlformats.org/drawingml/2006/main" noGrp="1"/>
          </p:cNvSpPr>
          <p:nvPr/>
        </p:nvSpPr>
        <p:spPr>
          <a:xfrm xmlns:a="http://schemas.openxmlformats.org/drawingml/2006/main">
            <a:off x="4305300" y="5962650"/>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1">
                <a:solidFill>
                  <a:srgbClr val="31C7F0"/>
                </a:solidFill>
                <a:latin typeface="微软雅黑"/>
                <a:ea typeface="微软雅黑"/>
                <a:cs typeface="微软雅黑"/>
              </a:defRPr>
            </a:pPr>
            <a:r>
              <a:rPr sz="900" b="1">
                <a:solidFill>
                  <a:srgbClr val="31C7F0"/>
                </a:solidFill>
                <a:latin typeface="微软雅黑"/>
                <a:ea typeface="微软雅黑"/>
                <a:cs typeface="微软雅黑"/>
              </a:rPr>
              <a:t>回流</a:t>
            </a:r>
          </a:p>
        </p:txBody>
      </p:sp>
      <p:sp>
        <p:nvSpPr>
          <p:cNvPr id="30" name="">
            <a:extLst xmlns:a="http://schemas.openxmlformats.org/drawingml/2006/main">
              <a:ext uri="{FF2B5EF4-FFF2-40B4-BE49-F238E27FC236}">
                <a16:creationId xmlns:a16="http://schemas.microsoft.com/office/drawing/2014/main" id="{6039C695-7409-4888-841C-B2EC30B9CD48}"/>
              </a:ext>
            </a:extLst>
          </p:cNvPr>
          <p:cNvSpPr>
            <a:spLocks xmlns:a="http://schemas.openxmlformats.org/drawingml/2006/main" noGrp="1"/>
          </p:cNvSpPr>
          <p:nvPr/>
        </p:nvSpPr>
        <p:spPr>
          <a:xfrm xmlns:a="http://schemas.openxmlformats.org/drawingml/2006/main">
            <a:off x="4972050" y="59626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成绩通过后更新技能等级、个人欠缺、管理看板与证书</a:t>
            </a:r>
          </a:p>
        </p:txBody>
      </p:sp>
      <p:sp>
        <p:nvSpPr>
          <p:cNvPr id="31" name="">
            <a:extLst xmlns:a="http://schemas.openxmlformats.org/drawingml/2006/main">
              <a:ext uri="{FF2B5EF4-FFF2-40B4-BE49-F238E27FC236}">
                <a16:creationId xmlns:a16="http://schemas.microsoft.com/office/drawing/2014/main" id="{B0E6B8E9-86C8-45F9-B4D0-AAA3D64D3069}"/>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9CFB39D-33CC-42CB-BB75-74E9A25F1E7F}"/>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33" name="">
            <a:extLst xmlns:a="http://schemas.openxmlformats.org/drawingml/2006/main">
              <a:ext uri="{FF2B5EF4-FFF2-40B4-BE49-F238E27FC236}">
                <a16:creationId xmlns:a16="http://schemas.microsoft.com/office/drawing/2014/main" id="{5CBF4744-AE64-4E6A-8CC3-2EDEFCEBBA8A}"/>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22</a:t>
            </a:r>
          </a:p>
        </p:txBody>
      </p:sp>
    </p:spTree>
    <p:extLst>
      <p:ext uri="{BB962C8B-B14F-4D97-AF65-F5344CB8AC3E}">
        <p14:creationId xmlns:p14="http://schemas.microsoft.com/office/powerpoint/2010/main" val="384031697"/>
      </p:ext>
    </p:extLst>
  </p:cSld>
</p:sld>
</file>

<file path=ppt/slides/slide23.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AD0AA29E-CB93-45F0-B94E-9319A50F7C27}"/>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0C6B4C3-AD1B-45DF-AEF0-1C927B4C0D5D}"/>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0E3C36C-197F-40AE-8D99-903554E46D06}"/>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946DA74-771F-4931-AA5D-86A02BA2B16D}"/>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218F26E-973D-4B53-BB10-6CE86CE06F6E}"/>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3921C7A8-C267-4233-AC96-FA4184452BAA}"/>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系统实现</a:t>
            </a:r>
          </a:p>
        </p:txBody>
      </p:sp>
      <p:sp>
        <p:nvSpPr>
          <p:cNvPr id="7" name="">
            <a:extLst xmlns:a="http://schemas.openxmlformats.org/drawingml/2006/main">
              <a:ext uri="{FF2B5EF4-FFF2-40B4-BE49-F238E27FC236}">
                <a16:creationId xmlns:a16="http://schemas.microsoft.com/office/drawing/2014/main" id="{2A425068-DF5D-4DB4-87C0-587B58DED08E}"/>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23A6CAD-9902-42E1-9FA1-A19032DB12AA}"/>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系统界面三 · 班组长端：实操报告与归因确认</a:t>
            </a:r>
          </a:p>
        </p:txBody>
      </p:sp>
      <p:sp>
        <p:nvSpPr>
          <p:cNvPr id="9" name="">
            <a:extLst xmlns:a="http://schemas.openxmlformats.org/drawingml/2006/main">
              <a:ext uri="{FF2B5EF4-FFF2-40B4-BE49-F238E27FC236}">
                <a16:creationId xmlns:a16="http://schemas.microsoft.com/office/drawing/2014/main" id="{14D046D1-79D1-4316-960B-530DCB551C18}"/>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80AA2714-E6EE-45B3-A95E-DCE180CE6382}"/>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班组长不只看到「谁交了报告」，而是看到「这份报告该判成技能原因还是人为原因」。</a:t>
            </a:r>
          </a:p>
        </p:txBody>
      </p:sp>
      <p:sp>
        <p:nvSpPr>
          <p:cNvPr id="11" name="">
            <a:extLst xmlns:a="http://schemas.openxmlformats.org/drawingml/2006/main">
              <a:ext uri="{FF2B5EF4-FFF2-40B4-BE49-F238E27FC236}">
                <a16:creationId xmlns:a16="http://schemas.microsoft.com/office/drawing/2014/main" id="{16708A8D-FF42-4182-A403-88199BAF6A14}"/>
              </a:ext>
            </a:extLst>
          </p:cNvPr>
          <p:cNvSpPr>
            <a:spLocks xmlns:a="http://schemas.openxmlformats.org/drawingml/2006/main" noGrp="1"/>
          </p:cNvSpPr>
          <p:nvPr/>
        </p:nvSpPr>
        <p:spPr>
          <a:xfrm xmlns:a="http://schemas.openxmlformats.org/drawingml/2006/main">
            <a:off x="285750" y="1333500"/>
            <a:ext cx="4476750" cy="3390900"/>
          </a:xfrm>
          <a:prstGeom xmlns:a="http://schemas.openxmlformats.org/drawingml/2006/main" prst="roundRect">
            <a:avLst>
              <a:gd name="adj" fmla="val 2247"/>
            </a:avLst>
          </a:prstGeom>
          <a:solidFill xmlns:a="http://schemas.openxmlformats.org/drawingml/2006/main">
            <a:srgbClr val="F4F8FD"/>
          </a:solidFill>
          <a:ln xmlns:a="http://schemas.openxmlformats.org/drawingml/2006/main" w="9525">
            <a:solidFill>
              <a:srgbClr val="2A6BAE"/>
            </a:solidFill>
            <a:prstDash val="solid"/>
          </a:ln>
        </p:spPr>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5669a48cd3824845"/>
          <a:stretch xmlns:a="http://schemas.openxmlformats.org/drawingml/2006/main"/>
        </p:blipFill>
        <p:spPr>
          <a:xfrm xmlns:a="http://schemas.openxmlformats.org/drawingml/2006/main">
            <a:off x="408465" y="1390650"/>
            <a:ext cx="4231320" cy="3276600"/>
          </a:xfrm>
          <a:prstGeom xmlns:a="http://schemas.openxmlformats.org/drawingml/2006/main" prst="roundRect">
            <a:avLst>
              <a:gd name="adj" fmla="val 1744"/>
            </a:avLst>
          </a:prstGeom>
        </p:spPr>
      </p:pic>
      <p:sp>
        <p:nvSpPr>
          <p:cNvPr id="13" name="">
            <a:extLst xmlns:a="http://schemas.openxmlformats.org/drawingml/2006/main">
              <a:ext uri="{FF2B5EF4-FFF2-40B4-BE49-F238E27FC236}">
                <a16:creationId xmlns:a16="http://schemas.microsoft.com/office/drawing/2014/main" id="{B10E1183-FA47-4CCB-AA26-6B85925FC8B2}"/>
              </a:ext>
            </a:extLst>
          </p:cNvPr>
          <p:cNvSpPr>
            <a:spLocks xmlns:a="http://schemas.openxmlformats.org/drawingml/2006/main" noGrp="1"/>
          </p:cNvSpPr>
          <p:nvPr/>
        </p:nvSpPr>
        <p:spPr>
          <a:xfrm xmlns:a="http://schemas.openxmlformats.org/drawingml/2006/main">
            <a:off x="285750" y="4781550"/>
            <a:ext cx="4476750" cy="381000"/>
          </a:xfrm>
          <a:prstGeom xmlns:a="http://schemas.openxmlformats.org/drawingml/2006/main" prst="roundRect">
            <a:avLst>
              <a:gd name="adj" fmla="val 20000"/>
            </a:avLst>
          </a:prstGeom>
          <a:solidFill xmlns:a="http://schemas.openxmlformats.org/drawingml/2006/main">
            <a:srgbClr val="0A2547"/>
          </a:solidFill>
          <a:ln xmlns:a="http://schemas.openxmlformats.org/drawingml/2006/main" w="9525">
            <a:solidFill>
              <a:srgbClr val="1B4C8A"/>
            </a:solidFill>
            <a:prstDash val="solid"/>
          </a:ln>
        </p:spPr>
      </p:sp>
      <p:sp>
        <p:nvSpPr>
          <p:cNvPr id="14" name="">
            <a:extLst xmlns:a="http://schemas.openxmlformats.org/drawingml/2006/main">
              <a:ext uri="{FF2B5EF4-FFF2-40B4-BE49-F238E27FC236}">
                <a16:creationId xmlns:a16="http://schemas.microsoft.com/office/drawing/2014/main" id="{63D291BB-5727-4223-995E-BD857EE4048C}"/>
              </a:ext>
            </a:extLst>
          </p:cNvPr>
          <p:cNvSpPr>
            <a:spLocks xmlns:a="http://schemas.openxmlformats.org/drawingml/2006/main" noGrp="1"/>
          </p:cNvSpPr>
          <p:nvPr/>
        </p:nvSpPr>
        <p:spPr>
          <a:xfrm xmlns:a="http://schemas.openxmlformats.org/drawingml/2006/main">
            <a:off x="419100" y="4781550"/>
            <a:ext cx="421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5C33B"/>
                </a:solidFill>
                <a:latin typeface="微软雅黑"/>
                <a:ea typeface="微软雅黑"/>
                <a:cs typeface="微软雅黑"/>
              </a:defRPr>
            </a:pPr>
            <a:r>
              <a:rPr sz="863" b="0">
                <a:solidFill>
                  <a:srgbClr val="F5C33B"/>
                </a:solidFill>
                <a:latin typeface="微软雅黑"/>
                <a:ea typeface="微软雅黑"/>
                <a:cs typeface="微软雅黑"/>
              </a:rPr>
              <a:t>本图证明：班组报告页汇总本班组任务量、完成率、超时率与报告状态，并可直接进入归因建议确认。</a:t>
            </a:r>
          </a:p>
        </p:txBody>
      </p:sp>
      <p:sp>
        <p:nvSpPr>
          <p:cNvPr id="15" name="">
            <a:extLst xmlns:a="http://schemas.openxmlformats.org/drawingml/2006/main">
              <a:ext uri="{FF2B5EF4-FFF2-40B4-BE49-F238E27FC236}">
                <a16:creationId xmlns:a16="http://schemas.microsoft.com/office/drawing/2014/main" id="{BFAC6511-2FA5-4588-9E77-7A55B65D072D}"/>
              </a:ext>
            </a:extLst>
          </p:cNvPr>
          <p:cNvSpPr>
            <a:spLocks xmlns:a="http://schemas.openxmlformats.org/drawingml/2006/main" noGrp="1"/>
          </p:cNvSpPr>
          <p:nvPr/>
        </p:nvSpPr>
        <p:spPr>
          <a:xfrm xmlns:a="http://schemas.openxmlformats.org/drawingml/2006/main">
            <a:off x="4953000" y="1333500"/>
            <a:ext cx="6953250" cy="838200"/>
          </a:xfrm>
          <a:prstGeom xmlns:a="http://schemas.openxmlformats.org/drawingml/2006/main" prst="roundRect">
            <a:avLst>
              <a:gd name="adj" fmla="val 9091"/>
            </a:avLst>
          </a:prstGeom>
          <a:solidFill xmlns:a="http://schemas.openxmlformats.org/drawingml/2006/main">
            <a:srgbClr val="0D2748"/>
          </a:solidFill>
          <a:ln xmlns:a="http://schemas.openxmlformats.org/drawingml/2006/main" w="9525">
            <a:solidFill>
              <a:srgbClr val="1B4C8A"/>
            </a:solidFill>
            <a:prstDash val="solid"/>
          </a:ln>
        </p:spPr>
      </p:sp>
      <p:sp>
        <p:nvSpPr>
          <p:cNvPr id="16" name="">
            <a:extLst xmlns:a="http://schemas.openxmlformats.org/drawingml/2006/main">
              <a:ext uri="{FF2B5EF4-FFF2-40B4-BE49-F238E27FC236}">
                <a16:creationId xmlns:a16="http://schemas.microsoft.com/office/drawing/2014/main" id="{F4D3D801-AC03-4302-9399-336BEDAACAD1}"/>
              </a:ext>
            </a:extLst>
          </p:cNvPr>
          <p:cNvSpPr>
            <a:spLocks xmlns:a="http://schemas.openxmlformats.org/drawingml/2006/main" noGrp="1"/>
          </p:cNvSpPr>
          <p:nvPr/>
        </p:nvSpPr>
        <p:spPr>
          <a:xfrm xmlns:a="http://schemas.openxmlformats.org/drawingml/2006/main">
            <a:off x="4953000" y="1333500"/>
            <a:ext cx="38100" cy="838200"/>
          </a:xfrm>
          <a:prstGeom xmlns:a="http://schemas.openxmlformats.org/drawingml/2006/main" prst="rect">
            <a:avLst/>
          </a:prstGeom>
          <a:solidFill xmlns:a="http://schemas.openxmlformats.org/drawingml/2006/main">
            <a:srgbClr val="31C7F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DEB4F06-F5AE-4698-92BA-4029A0A05B30}"/>
              </a:ext>
            </a:extLst>
          </p:cNvPr>
          <p:cNvSpPr>
            <a:spLocks xmlns:a="http://schemas.openxmlformats.org/drawingml/2006/main" noGrp="1"/>
          </p:cNvSpPr>
          <p:nvPr/>
        </p:nvSpPr>
        <p:spPr>
          <a:xfrm xmlns:a="http://schemas.openxmlformats.org/drawingml/2006/main">
            <a:off x="5143500" y="146685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31C7F0"/>
                </a:solidFill>
                <a:latin typeface="微软雅黑"/>
                <a:ea typeface="微软雅黑"/>
                <a:cs typeface="微软雅黑"/>
              </a:defRPr>
            </a:pPr>
            <a:r>
              <a:rPr sz="1125" b="1">
                <a:solidFill>
                  <a:srgbClr val="31C7F0"/>
                </a:solidFill>
                <a:latin typeface="微软雅黑"/>
                <a:ea typeface="微软雅黑"/>
                <a:cs typeface="微软雅黑"/>
              </a:rPr>
              <a:t>填报实操报告</a:t>
            </a:r>
          </a:p>
        </p:txBody>
      </p:sp>
      <p:sp>
        <p:nvSpPr>
          <p:cNvPr id="18" name="">
            <a:extLst xmlns:a="http://schemas.openxmlformats.org/drawingml/2006/main">
              <a:ext uri="{FF2B5EF4-FFF2-40B4-BE49-F238E27FC236}">
                <a16:creationId xmlns:a16="http://schemas.microsoft.com/office/drawing/2014/main" id="{39FE6CE7-10A6-46D5-9A7D-C8C6D498ED9B}"/>
              </a:ext>
            </a:extLst>
          </p:cNvPr>
          <p:cNvSpPr>
            <a:spLocks xmlns:a="http://schemas.openxmlformats.org/drawingml/2006/main" noGrp="1"/>
          </p:cNvSpPr>
          <p:nvPr/>
        </p:nvSpPr>
        <p:spPr>
          <a:xfrm xmlns:a="http://schemas.openxmlformats.org/drawingml/2006/main">
            <a:off x="5143500" y="1733550"/>
            <a:ext cx="6610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步骤、实际工时、问题分类、照片、录波、验收结果；提交后自动触发报告分析。</a:t>
            </a:r>
          </a:p>
        </p:txBody>
      </p:sp>
      <p:sp>
        <p:nvSpPr>
          <p:cNvPr id="19" name="">
            <a:extLst xmlns:a="http://schemas.openxmlformats.org/drawingml/2006/main">
              <a:ext uri="{FF2B5EF4-FFF2-40B4-BE49-F238E27FC236}">
                <a16:creationId xmlns:a16="http://schemas.microsoft.com/office/drawing/2014/main" id="{F8ABD29B-9F6B-42B2-84CB-A9F25DC55FE0}"/>
              </a:ext>
            </a:extLst>
          </p:cNvPr>
          <p:cNvSpPr>
            <a:spLocks xmlns:a="http://schemas.openxmlformats.org/drawingml/2006/main" noGrp="1"/>
          </p:cNvSpPr>
          <p:nvPr/>
        </p:nvSpPr>
        <p:spPr>
          <a:xfrm xmlns:a="http://schemas.openxmlformats.org/drawingml/2006/main">
            <a:off x="4953000" y="2286000"/>
            <a:ext cx="6953250" cy="838200"/>
          </a:xfrm>
          <a:prstGeom xmlns:a="http://schemas.openxmlformats.org/drawingml/2006/main" prst="roundRect">
            <a:avLst>
              <a:gd name="adj" fmla="val 9091"/>
            </a:avLst>
          </a:prstGeom>
          <a:solidFill xmlns:a="http://schemas.openxmlformats.org/drawingml/2006/main">
            <a:srgbClr val="0D2748"/>
          </a:solidFill>
          <a:ln xmlns:a="http://schemas.openxmlformats.org/drawingml/2006/main" w="9525">
            <a:solidFill>
              <a:srgbClr val="1B4C8A"/>
            </a:solidFill>
            <a:prstDash val="solid"/>
          </a:ln>
        </p:spPr>
      </p:sp>
      <p:sp>
        <p:nvSpPr>
          <p:cNvPr id="20" name="">
            <a:extLst xmlns:a="http://schemas.openxmlformats.org/drawingml/2006/main">
              <a:ext uri="{FF2B5EF4-FFF2-40B4-BE49-F238E27FC236}">
                <a16:creationId xmlns:a16="http://schemas.microsoft.com/office/drawing/2014/main" id="{441623F3-6261-4665-BBFE-35D2CA36BEB0}"/>
              </a:ext>
            </a:extLst>
          </p:cNvPr>
          <p:cNvSpPr>
            <a:spLocks xmlns:a="http://schemas.openxmlformats.org/drawingml/2006/main" noGrp="1"/>
          </p:cNvSpPr>
          <p:nvPr/>
        </p:nvSpPr>
        <p:spPr>
          <a:xfrm xmlns:a="http://schemas.openxmlformats.org/drawingml/2006/main">
            <a:off x="4953000" y="2286000"/>
            <a:ext cx="38100" cy="83820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94750CC-E931-40B6-BD35-115B7A157E25}"/>
              </a:ext>
            </a:extLst>
          </p:cNvPr>
          <p:cNvSpPr>
            <a:spLocks xmlns:a="http://schemas.openxmlformats.org/drawingml/2006/main" noGrp="1"/>
          </p:cNvSpPr>
          <p:nvPr/>
        </p:nvSpPr>
        <p:spPr>
          <a:xfrm xmlns:a="http://schemas.openxmlformats.org/drawingml/2006/main">
            <a:off x="5143500" y="241935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5C33B"/>
                </a:solidFill>
                <a:latin typeface="微软雅黑"/>
                <a:ea typeface="微软雅黑"/>
                <a:cs typeface="微软雅黑"/>
              </a:defRPr>
            </a:pPr>
            <a:r>
              <a:rPr sz="1125" b="1">
                <a:solidFill>
                  <a:srgbClr val="F5C33B"/>
                </a:solidFill>
                <a:latin typeface="微软雅黑"/>
                <a:ea typeface="微软雅黑"/>
                <a:cs typeface="微软雅黑"/>
              </a:rPr>
              <a:t>规则归因</a:t>
            </a:r>
          </a:p>
        </p:txBody>
      </p:sp>
      <p:sp>
        <p:nvSpPr>
          <p:cNvPr id="22" name="">
            <a:extLst xmlns:a="http://schemas.openxmlformats.org/drawingml/2006/main">
              <a:ext uri="{FF2B5EF4-FFF2-40B4-BE49-F238E27FC236}">
                <a16:creationId xmlns:a16="http://schemas.microsoft.com/office/drawing/2014/main" id="{623DE217-4EDF-404E-AFF4-36B1F1A0B0EC}"/>
              </a:ext>
            </a:extLst>
          </p:cNvPr>
          <p:cNvSpPr>
            <a:spLocks xmlns:a="http://schemas.openxmlformats.org/drawingml/2006/main" noGrp="1"/>
          </p:cNvSpPr>
          <p:nvPr/>
        </p:nvSpPr>
        <p:spPr>
          <a:xfrm xmlns:a="http://schemas.openxmlformats.org/drawingml/2006/main">
            <a:off x="5143500" y="2686050"/>
            <a:ext cx="6610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实际工时超计划 20% 且技能缺失 → SKILL_GAP 类归因；未按 SOP 准备 → 人为 / 流程原因。</a:t>
            </a:r>
          </a:p>
        </p:txBody>
      </p:sp>
      <p:sp>
        <p:nvSpPr>
          <p:cNvPr id="23" name="">
            <a:extLst xmlns:a="http://schemas.openxmlformats.org/drawingml/2006/main">
              <a:ext uri="{FF2B5EF4-FFF2-40B4-BE49-F238E27FC236}">
                <a16:creationId xmlns:a16="http://schemas.microsoft.com/office/drawing/2014/main" id="{24087BB2-F39E-43F0-A661-5CABA7993EB6}"/>
              </a:ext>
            </a:extLst>
          </p:cNvPr>
          <p:cNvSpPr>
            <a:spLocks xmlns:a="http://schemas.openxmlformats.org/drawingml/2006/main" noGrp="1"/>
          </p:cNvSpPr>
          <p:nvPr/>
        </p:nvSpPr>
        <p:spPr>
          <a:xfrm xmlns:a="http://schemas.openxmlformats.org/drawingml/2006/main">
            <a:off x="4953000" y="3238500"/>
            <a:ext cx="6953250" cy="838200"/>
          </a:xfrm>
          <a:prstGeom xmlns:a="http://schemas.openxmlformats.org/drawingml/2006/main" prst="roundRect">
            <a:avLst>
              <a:gd name="adj" fmla="val 9091"/>
            </a:avLst>
          </a:prstGeom>
          <a:solidFill xmlns:a="http://schemas.openxmlformats.org/drawingml/2006/main">
            <a:srgbClr val="0D2748"/>
          </a:solidFill>
          <a:ln xmlns:a="http://schemas.openxmlformats.org/drawingml/2006/main" w="9525">
            <a:solidFill>
              <a:srgbClr val="1B4C8A"/>
            </a:solidFill>
            <a:prstDash val="solid"/>
          </a:ln>
        </p:spPr>
      </p:sp>
      <p:sp>
        <p:nvSpPr>
          <p:cNvPr id="24" name="">
            <a:extLst xmlns:a="http://schemas.openxmlformats.org/drawingml/2006/main">
              <a:ext uri="{FF2B5EF4-FFF2-40B4-BE49-F238E27FC236}">
                <a16:creationId xmlns:a16="http://schemas.microsoft.com/office/drawing/2014/main" id="{D15F44C9-F0D0-4669-9D2D-DCA6AD07DB32}"/>
              </a:ext>
            </a:extLst>
          </p:cNvPr>
          <p:cNvSpPr>
            <a:spLocks xmlns:a="http://schemas.openxmlformats.org/drawingml/2006/main" noGrp="1"/>
          </p:cNvSpPr>
          <p:nvPr/>
        </p:nvSpPr>
        <p:spPr>
          <a:xfrm xmlns:a="http://schemas.openxmlformats.org/drawingml/2006/main">
            <a:off x="4953000" y="3238500"/>
            <a:ext cx="38100" cy="838200"/>
          </a:xfrm>
          <a:prstGeom xmlns:a="http://schemas.openxmlformats.org/drawingml/2006/main" prst="rect">
            <a:avLst/>
          </a:prstGeom>
          <a:solidFill xmlns:a="http://schemas.openxmlformats.org/drawingml/2006/main">
            <a:srgbClr val="31C7F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046FA39-526E-4E41-8B17-E410DDA009FD}"/>
              </a:ext>
            </a:extLst>
          </p:cNvPr>
          <p:cNvSpPr>
            <a:spLocks xmlns:a="http://schemas.openxmlformats.org/drawingml/2006/main" noGrp="1"/>
          </p:cNvSpPr>
          <p:nvPr/>
        </p:nvSpPr>
        <p:spPr>
          <a:xfrm xmlns:a="http://schemas.openxmlformats.org/drawingml/2006/main">
            <a:off x="5143500" y="337185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31C7F0"/>
                </a:solidFill>
                <a:latin typeface="微软雅黑"/>
                <a:ea typeface="微软雅黑"/>
                <a:cs typeface="微软雅黑"/>
              </a:defRPr>
            </a:pPr>
            <a:r>
              <a:rPr sz="1125" b="1">
                <a:solidFill>
                  <a:srgbClr val="31C7F0"/>
                </a:solidFill>
                <a:latin typeface="微软雅黑"/>
                <a:ea typeface="微软雅黑"/>
                <a:cs typeface="微软雅黑"/>
              </a:rPr>
              <a:t>确认接口</a:t>
            </a:r>
          </a:p>
        </p:txBody>
      </p:sp>
      <p:sp>
        <p:nvSpPr>
          <p:cNvPr id="26" name="">
            <a:extLst xmlns:a="http://schemas.openxmlformats.org/drawingml/2006/main">
              <a:ext uri="{FF2B5EF4-FFF2-40B4-BE49-F238E27FC236}">
                <a16:creationId xmlns:a16="http://schemas.microsoft.com/office/drawing/2014/main" id="{6EA90D19-80EA-40B0-8978-8B1348F1FAD0}"/>
              </a:ext>
            </a:extLst>
          </p:cNvPr>
          <p:cNvSpPr>
            <a:spLocks xmlns:a="http://schemas.openxmlformats.org/drawingml/2006/main" noGrp="1"/>
          </p:cNvSpPr>
          <p:nvPr/>
        </p:nvSpPr>
        <p:spPr>
          <a:xfrm xmlns:a="http://schemas.openxmlformats.org/drawingml/2006/main">
            <a:off x="5143500" y="3638550"/>
            <a:ext cx="6610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POST /api/v1/tasks/reports/{reportId}/attribution/confirm，班组长只改建议状态，不改业务数据。</a:t>
            </a:r>
          </a:p>
        </p:txBody>
      </p:sp>
      <p:sp>
        <p:nvSpPr>
          <p:cNvPr id="27" name="">
            <a:extLst xmlns:a="http://schemas.openxmlformats.org/drawingml/2006/main">
              <a:ext uri="{FF2B5EF4-FFF2-40B4-BE49-F238E27FC236}">
                <a16:creationId xmlns:a16="http://schemas.microsoft.com/office/drawing/2014/main" id="{7D5FCA98-4B3A-4AD6-871F-6233CCF37406}"/>
              </a:ext>
            </a:extLst>
          </p:cNvPr>
          <p:cNvSpPr>
            <a:spLocks xmlns:a="http://schemas.openxmlformats.org/drawingml/2006/main" noGrp="1"/>
          </p:cNvSpPr>
          <p:nvPr/>
        </p:nvSpPr>
        <p:spPr>
          <a:xfrm xmlns:a="http://schemas.openxmlformats.org/drawingml/2006/main">
            <a:off x="4953000" y="4191000"/>
            <a:ext cx="6953250" cy="838200"/>
          </a:xfrm>
          <a:prstGeom xmlns:a="http://schemas.openxmlformats.org/drawingml/2006/main" prst="roundRect">
            <a:avLst>
              <a:gd name="adj" fmla="val 9091"/>
            </a:avLst>
          </a:prstGeom>
          <a:solidFill xmlns:a="http://schemas.openxmlformats.org/drawingml/2006/main">
            <a:srgbClr val="0D2748"/>
          </a:solidFill>
          <a:ln xmlns:a="http://schemas.openxmlformats.org/drawingml/2006/main" w="9525">
            <a:solidFill>
              <a:srgbClr val="1B4C8A"/>
            </a:solidFill>
            <a:prstDash val="solid"/>
          </a:ln>
        </p:spPr>
      </p:sp>
      <p:sp>
        <p:nvSpPr>
          <p:cNvPr id="28" name="">
            <a:extLst xmlns:a="http://schemas.openxmlformats.org/drawingml/2006/main">
              <a:ext uri="{FF2B5EF4-FFF2-40B4-BE49-F238E27FC236}">
                <a16:creationId xmlns:a16="http://schemas.microsoft.com/office/drawing/2014/main" id="{0EB960D7-CF3B-41A4-A99A-70032E5B110A}"/>
              </a:ext>
            </a:extLst>
          </p:cNvPr>
          <p:cNvSpPr>
            <a:spLocks xmlns:a="http://schemas.openxmlformats.org/drawingml/2006/main" noGrp="1"/>
          </p:cNvSpPr>
          <p:nvPr/>
        </p:nvSpPr>
        <p:spPr>
          <a:xfrm xmlns:a="http://schemas.openxmlformats.org/drawingml/2006/main">
            <a:off x="4953000" y="4191000"/>
            <a:ext cx="38100" cy="83820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248D076-9BFE-4353-AE17-3FC279F3189B}"/>
              </a:ext>
            </a:extLst>
          </p:cNvPr>
          <p:cNvSpPr>
            <a:spLocks xmlns:a="http://schemas.openxmlformats.org/drawingml/2006/main" noGrp="1"/>
          </p:cNvSpPr>
          <p:nvPr/>
        </p:nvSpPr>
        <p:spPr>
          <a:xfrm xmlns:a="http://schemas.openxmlformats.org/drawingml/2006/main">
            <a:off x="5143500" y="432435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5C33B"/>
                </a:solidFill>
                <a:latin typeface="微软雅黑"/>
                <a:ea typeface="微软雅黑"/>
                <a:cs typeface="微软雅黑"/>
              </a:defRPr>
            </a:pPr>
            <a:r>
              <a:rPr sz="1125" b="1">
                <a:solidFill>
                  <a:srgbClr val="F5C33B"/>
                </a:solidFill>
                <a:latin typeface="微软雅黑"/>
                <a:ea typeface="微软雅黑"/>
                <a:cs typeface="微软雅黑"/>
              </a:rPr>
              <a:t>任务评分</a:t>
            </a:r>
          </a:p>
        </p:txBody>
      </p:sp>
      <p:sp>
        <p:nvSpPr>
          <p:cNvPr id="30" name="">
            <a:extLst xmlns:a="http://schemas.openxmlformats.org/drawingml/2006/main">
              <a:ext uri="{FF2B5EF4-FFF2-40B4-BE49-F238E27FC236}">
                <a16:creationId xmlns:a16="http://schemas.microsoft.com/office/drawing/2014/main" id="{B3A9D3BC-96FA-443B-B88E-6E0CAFE1E3D9}"/>
              </a:ext>
            </a:extLst>
          </p:cNvPr>
          <p:cNvSpPr>
            <a:spLocks xmlns:a="http://schemas.openxmlformats.org/drawingml/2006/main" noGrp="1"/>
          </p:cNvSpPr>
          <p:nvPr/>
        </p:nvSpPr>
        <p:spPr>
          <a:xfrm xmlns:a="http://schemas.openxmlformats.org/drawingml/2006/main">
            <a:off x="5143500" y="4591050"/>
            <a:ext cx="6610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打回重做或确认通过，反馈自动进入员工个人欠缺与管理看板。</a:t>
            </a:r>
          </a:p>
        </p:txBody>
      </p:sp>
      <p:sp>
        <p:nvSpPr>
          <p:cNvPr id="31" name="">
            <a:extLst xmlns:a="http://schemas.openxmlformats.org/drawingml/2006/main">
              <a:ext uri="{FF2B5EF4-FFF2-40B4-BE49-F238E27FC236}">
                <a16:creationId xmlns:a16="http://schemas.microsoft.com/office/drawing/2014/main" id="{244DF9D3-1C0C-4A9B-9774-A96E45A4BCC1}"/>
              </a:ext>
            </a:extLst>
          </p:cNvPr>
          <p:cNvSpPr>
            <a:spLocks xmlns:a="http://schemas.openxmlformats.org/drawingml/2006/main" noGrp="1"/>
          </p:cNvSpPr>
          <p:nvPr/>
        </p:nvSpPr>
        <p:spPr>
          <a:xfrm xmlns:a="http://schemas.openxmlformats.org/drawingml/2006/main">
            <a:off x="285750" y="5162550"/>
            <a:ext cx="11620500" cy="1238250"/>
          </a:xfrm>
          <a:prstGeom xmlns:a="http://schemas.openxmlformats.org/drawingml/2006/main" prst="roundRect">
            <a:avLst>
              <a:gd name="adj" fmla="val 6154"/>
            </a:avLst>
          </a:prstGeom>
          <a:solidFill xmlns:a="http://schemas.openxmlformats.org/drawingml/2006/main">
            <a:srgbClr val="0A2547"/>
          </a:solidFill>
          <a:ln xmlns:a="http://schemas.openxmlformats.org/drawingml/2006/main" w="9525">
            <a:solidFill>
              <a:srgbClr val="2A6BAE"/>
            </a:solidFill>
            <a:prstDash val="solid"/>
          </a:ln>
        </p:spPr>
      </p:sp>
      <p:sp>
        <p:nvSpPr>
          <p:cNvPr id="32" name="">
            <a:extLst xmlns:a="http://schemas.openxmlformats.org/drawingml/2006/main">
              <a:ext uri="{FF2B5EF4-FFF2-40B4-BE49-F238E27FC236}">
                <a16:creationId xmlns:a16="http://schemas.microsoft.com/office/drawing/2014/main" id="{423848FC-F835-4ADC-A1A7-F069E9DE924F}"/>
              </a:ext>
            </a:extLst>
          </p:cNvPr>
          <p:cNvSpPr>
            <a:spLocks xmlns:a="http://schemas.openxmlformats.org/drawingml/2006/main" noGrp="1"/>
          </p:cNvSpPr>
          <p:nvPr/>
        </p:nvSpPr>
        <p:spPr>
          <a:xfrm xmlns:a="http://schemas.openxmlformats.org/drawingml/2006/main">
            <a:off x="457200" y="5276850"/>
            <a:ext cx="1123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留痕自验：一次 analyze → confirm，三张表可以用同一个 run_id 串起来</a:t>
            </a:r>
          </a:p>
        </p:txBody>
      </p:sp>
      <p:sp>
        <p:nvSpPr>
          <p:cNvPr id="33" name="">
            <a:extLst xmlns:a="http://schemas.openxmlformats.org/drawingml/2006/main">
              <a:ext uri="{FF2B5EF4-FFF2-40B4-BE49-F238E27FC236}">
                <a16:creationId xmlns:a16="http://schemas.microsoft.com/office/drawing/2014/main" id="{5DD5C222-445F-4492-8DA0-B59662FD5495}"/>
              </a:ext>
            </a:extLst>
          </p:cNvPr>
          <p:cNvSpPr>
            <a:spLocks xmlns:a="http://schemas.openxmlformats.org/drawingml/2006/main" noGrp="1"/>
          </p:cNvSpPr>
          <p:nvPr/>
        </p:nvSpPr>
        <p:spPr>
          <a:xfrm xmlns:a="http://schemas.openxmlformats.org/drawingml/2006/main">
            <a:off x="457200" y="5581650"/>
            <a:ext cx="3676650" cy="704850"/>
          </a:xfrm>
          <a:prstGeom xmlns:a="http://schemas.openxmlformats.org/drawingml/2006/main" prst="roundRect">
            <a:avLst>
              <a:gd name="adj" fmla="val 10811"/>
            </a:avLst>
          </a:prstGeom>
          <a:solidFill xmlns:a="http://schemas.openxmlformats.org/drawingml/2006/main">
            <a:srgbClr val="0B2B52"/>
          </a:solidFill>
          <a:ln xmlns:a="http://schemas.openxmlformats.org/drawingml/2006/main" w="9525">
            <a:solidFill>
              <a:srgbClr val="173D68"/>
            </a:solidFill>
            <a:prstDash val="solid"/>
          </a:ln>
        </p:spPr>
      </p:sp>
      <p:sp>
        <p:nvSpPr>
          <p:cNvPr id="34" name="">
            <a:extLst xmlns:a="http://schemas.openxmlformats.org/drawingml/2006/main">
              <a:ext uri="{FF2B5EF4-FFF2-40B4-BE49-F238E27FC236}">
                <a16:creationId xmlns:a16="http://schemas.microsoft.com/office/drawing/2014/main" id="{9E3364D0-2FEC-4D04-A088-A89F92F8F974}"/>
              </a:ext>
            </a:extLst>
          </p:cNvPr>
          <p:cNvSpPr>
            <a:spLocks xmlns:a="http://schemas.openxmlformats.org/drawingml/2006/main" noGrp="1"/>
          </p:cNvSpPr>
          <p:nvPr/>
        </p:nvSpPr>
        <p:spPr>
          <a:xfrm xmlns:a="http://schemas.openxmlformats.org/drawingml/2006/main">
            <a:off x="609600" y="5676900"/>
            <a:ext cx="3390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Arial"/>
                <a:ea typeface="Arial"/>
                <a:cs typeface="Arial"/>
              </a:defRPr>
            </a:pPr>
            <a:r>
              <a:rPr sz="938" b="1">
                <a:solidFill>
                  <a:srgbClr val="31C7F0"/>
                </a:solidFill>
                <a:latin typeface="Arial"/>
                <a:ea typeface="Arial"/>
                <a:cs typeface="Arial"/>
              </a:rPr>
              <a:t>rule_result</a:t>
            </a:r>
          </a:p>
        </p:txBody>
      </p:sp>
      <p:sp>
        <p:nvSpPr>
          <p:cNvPr id="35" name="">
            <a:extLst xmlns:a="http://schemas.openxmlformats.org/drawingml/2006/main">
              <a:ext uri="{FF2B5EF4-FFF2-40B4-BE49-F238E27FC236}">
                <a16:creationId xmlns:a16="http://schemas.microsoft.com/office/drawing/2014/main" id="{8B8D41E9-4E6C-432A-BD76-F4C7936BCB77}"/>
              </a:ext>
            </a:extLst>
          </p:cNvPr>
          <p:cNvSpPr>
            <a:spLocks xmlns:a="http://schemas.openxmlformats.org/drawingml/2006/main" noGrp="1"/>
          </p:cNvSpPr>
          <p:nvPr/>
        </p:nvSpPr>
        <p:spPr>
          <a:xfrm xmlns:a="http://schemas.openxmlformats.org/drawingml/2006/main">
            <a:off x="609600" y="592455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规则执行留痕：命中了哪条规则、条件求值结果、依据事实</a:t>
            </a:r>
          </a:p>
        </p:txBody>
      </p:sp>
      <p:sp>
        <p:nvSpPr>
          <p:cNvPr id="36" name="">
            <a:extLst xmlns:a="http://schemas.openxmlformats.org/drawingml/2006/main">
              <a:ext uri="{FF2B5EF4-FFF2-40B4-BE49-F238E27FC236}">
                <a16:creationId xmlns:a16="http://schemas.microsoft.com/office/drawing/2014/main" id="{6E78A146-D810-4D89-AAA0-C1EAF9DE123F}"/>
              </a:ext>
            </a:extLst>
          </p:cNvPr>
          <p:cNvSpPr>
            <a:spLocks xmlns:a="http://schemas.openxmlformats.org/drawingml/2006/main" noGrp="1"/>
          </p:cNvSpPr>
          <p:nvPr/>
        </p:nvSpPr>
        <p:spPr>
          <a:xfrm xmlns:a="http://schemas.openxmlformats.org/drawingml/2006/main">
            <a:off x="4305300" y="5581650"/>
            <a:ext cx="3676650" cy="704850"/>
          </a:xfrm>
          <a:prstGeom xmlns:a="http://schemas.openxmlformats.org/drawingml/2006/main" prst="roundRect">
            <a:avLst>
              <a:gd name="adj" fmla="val 10811"/>
            </a:avLst>
          </a:prstGeom>
          <a:solidFill xmlns:a="http://schemas.openxmlformats.org/drawingml/2006/main">
            <a:srgbClr val="0B2B52"/>
          </a:solidFill>
          <a:ln xmlns:a="http://schemas.openxmlformats.org/drawingml/2006/main" w="9525">
            <a:solidFill>
              <a:srgbClr val="173D68"/>
            </a:solidFill>
            <a:prstDash val="solid"/>
          </a:ln>
        </p:spPr>
      </p:sp>
      <p:sp>
        <p:nvSpPr>
          <p:cNvPr id="37" name="">
            <a:extLst xmlns:a="http://schemas.openxmlformats.org/drawingml/2006/main">
              <a:ext uri="{FF2B5EF4-FFF2-40B4-BE49-F238E27FC236}">
                <a16:creationId xmlns:a16="http://schemas.microsoft.com/office/drawing/2014/main" id="{D89800FD-1B23-4189-A162-53CB529DAF9B}"/>
              </a:ext>
            </a:extLst>
          </p:cNvPr>
          <p:cNvSpPr>
            <a:spLocks xmlns:a="http://schemas.openxmlformats.org/drawingml/2006/main" noGrp="1"/>
          </p:cNvSpPr>
          <p:nvPr/>
        </p:nvSpPr>
        <p:spPr>
          <a:xfrm xmlns:a="http://schemas.openxmlformats.org/drawingml/2006/main">
            <a:off x="4457700" y="5676900"/>
            <a:ext cx="3390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Arial"/>
                <a:ea typeface="Arial"/>
                <a:cs typeface="Arial"/>
              </a:defRPr>
            </a:pPr>
            <a:r>
              <a:rPr sz="938" b="1">
                <a:solidFill>
                  <a:srgbClr val="31C7F0"/>
                </a:solidFill>
                <a:latin typeface="Arial"/>
                <a:ea typeface="Arial"/>
                <a:cs typeface="Arial"/>
              </a:rPr>
              <a:t>agent_suggestion</a:t>
            </a:r>
          </a:p>
        </p:txBody>
      </p:sp>
      <p:sp>
        <p:nvSpPr>
          <p:cNvPr id="38" name="">
            <a:extLst xmlns:a="http://schemas.openxmlformats.org/drawingml/2006/main">
              <a:ext uri="{FF2B5EF4-FFF2-40B4-BE49-F238E27FC236}">
                <a16:creationId xmlns:a16="http://schemas.microsoft.com/office/drawing/2014/main" id="{E4F1F763-B51A-45F3-A747-BA550B088519}"/>
              </a:ext>
            </a:extLst>
          </p:cNvPr>
          <p:cNvSpPr>
            <a:spLocks xmlns:a="http://schemas.openxmlformats.org/drawingml/2006/main" noGrp="1"/>
          </p:cNvSpPr>
          <p:nvPr/>
        </p:nvSpPr>
        <p:spPr>
          <a:xfrm xmlns:a="http://schemas.openxmlformats.org/drawingml/2006/main">
            <a:off x="4457700" y="592455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建议留痕：confidence / source / need_human_confirm / status</a:t>
            </a:r>
          </a:p>
        </p:txBody>
      </p:sp>
      <p:sp>
        <p:nvSpPr>
          <p:cNvPr id="39" name="">
            <a:extLst xmlns:a="http://schemas.openxmlformats.org/drawingml/2006/main">
              <a:ext uri="{FF2B5EF4-FFF2-40B4-BE49-F238E27FC236}">
                <a16:creationId xmlns:a16="http://schemas.microsoft.com/office/drawing/2014/main" id="{FCB4BD04-F7AD-4EC4-8E5B-30F9A25A2C6B}"/>
              </a:ext>
            </a:extLst>
          </p:cNvPr>
          <p:cNvSpPr>
            <a:spLocks xmlns:a="http://schemas.openxmlformats.org/drawingml/2006/main" noGrp="1"/>
          </p:cNvSpPr>
          <p:nvPr/>
        </p:nvSpPr>
        <p:spPr>
          <a:xfrm xmlns:a="http://schemas.openxmlformats.org/drawingml/2006/main">
            <a:off x="8153400" y="5581650"/>
            <a:ext cx="3676650" cy="704850"/>
          </a:xfrm>
          <a:prstGeom xmlns:a="http://schemas.openxmlformats.org/drawingml/2006/main" prst="roundRect">
            <a:avLst>
              <a:gd name="adj" fmla="val 10811"/>
            </a:avLst>
          </a:prstGeom>
          <a:solidFill xmlns:a="http://schemas.openxmlformats.org/drawingml/2006/main">
            <a:srgbClr val="0B2B52"/>
          </a:solidFill>
          <a:ln xmlns:a="http://schemas.openxmlformats.org/drawingml/2006/main" w="9525">
            <a:solidFill>
              <a:srgbClr val="173D68"/>
            </a:solidFill>
            <a:prstDash val="solid"/>
          </a:ln>
        </p:spPr>
      </p:sp>
      <p:sp>
        <p:nvSpPr>
          <p:cNvPr id="40" name="">
            <a:extLst xmlns:a="http://schemas.openxmlformats.org/drawingml/2006/main">
              <a:ext uri="{FF2B5EF4-FFF2-40B4-BE49-F238E27FC236}">
                <a16:creationId xmlns:a16="http://schemas.microsoft.com/office/drawing/2014/main" id="{E42D6016-6955-49EF-B12C-86F5A825542B}"/>
              </a:ext>
            </a:extLst>
          </p:cNvPr>
          <p:cNvSpPr>
            <a:spLocks xmlns:a="http://schemas.openxmlformats.org/drawingml/2006/main" noGrp="1"/>
          </p:cNvSpPr>
          <p:nvPr/>
        </p:nvSpPr>
        <p:spPr>
          <a:xfrm xmlns:a="http://schemas.openxmlformats.org/drawingml/2006/main">
            <a:off x="8305800" y="5676900"/>
            <a:ext cx="3390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Arial"/>
                <a:ea typeface="Arial"/>
                <a:cs typeface="Arial"/>
              </a:defRPr>
            </a:pPr>
            <a:r>
              <a:rPr sz="938" b="1">
                <a:solidFill>
                  <a:srgbClr val="31C7F0"/>
                </a:solidFill>
                <a:latin typeface="Arial"/>
                <a:ea typeface="Arial"/>
                <a:cs typeface="Arial"/>
              </a:rPr>
              <a:t>decision_log</a:t>
            </a:r>
          </a:p>
        </p:txBody>
      </p:sp>
      <p:sp>
        <p:nvSpPr>
          <p:cNvPr id="41" name="">
            <a:extLst xmlns:a="http://schemas.openxmlformats.org/drawingml/2006/main">
              <a:ext uri="{FF2B5EF4-FFF2-40B4-BE49-F238E27FC236}">
                <a16:creationId xmlns:a16="http://schemas.microsoft.com/office/drawing/2014/main" id="{D5EF6B1C-18D3-4DEE-800E-DADCA7658C80}"/>
              </a:ext>
            </a:extLst>
          </p:cNvPr>
          <p:cNvSpPr>
            <a:spLocks xmlns:a="http://schemas.openxmlformats.org/drawingml/2006/main" noGrp="1"/>
          </p:cNvSpPr>
          <p:nvPr/>
        </p:nvSpPr>
        <p:spPr>
          <a:xfrm xmlns:a="http://schemas.openxmlformats.org/drawingml/2006/main">
            <a:off x="8305800" y="592455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人工决定：确认人、决定、理由、时间，以及后续执行与回滚</a:t>
            </a:r>
          </a:p>
        </p:txBody>
      </p:sp>
      <p:sp>
        <p:nvSpPr>
          <p:cNvPr id="42" name="">
            <a:extLst xmlns:a="http://schemas.openxmlformats.org/drawingml/2006/main">
              <a:ext uri="{FF2B5EF4-FFF2-40B4-BE49-F238E27FC236}">
                <a16:creationId xmlns:a16="http://schemas.microsoft.com/office/drawing/2014/main" id="{FBCFD37C-663A-4ACB-99AC-C61D11539ECA}"/>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32E39BA6-9C53-4642-9A7F-A1C90058BC44}"/>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44" name="">
            <a:extLst xmlns:a="http://schemas.openxmlformats.org/drawingml/2006/main">
              <a:ext uri="{FF2B5EF4-FFF2-40B4-BE49-F238E27FC236}">
                <a16:creationId xmlns:a16="http://schemas.microsoft.com/office/drawing/2014/main" id="{BFC5F940-64C3-4BDE-832F-2F8948887D14}"/>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23</a:t>
            </a:r>
          </a:p>
        </p:txBody>
      </p:sp>
    </p:spTree>
    <p:extLst>
      <p:ext uri="{BB962C8B-B14F-4D97-AF65-F5344CB8AC3E}">
        <p14:creationId xmlns:p14="http://schemas.microsoft.com/office/powerpoint/2010/main" val="395863287"/>
      </p:ext>
    </p:extLst>
  </p:cSld>
</p:sld>
</file>

<file path=ppt/slides/slide24.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8A973925-994D-4E6C-8D49-F7C90C68156C}"/>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B6706F7-73C9-4A28-9F4E-FCA7727BF50B}"/>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7DFA837-F6D7-49CB-9E98-269639922347}"/>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A3DE72E-B002-4F5C-9F0D-004562AB2F71}"/>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235CADD-C1FC-49BD-A2CE-CFB6E85FCF8B}"/>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3BB06F14-17AC-41DB-99E1-34BE0F021070}"/>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系统实现</a:t>
            </a:r>
          </a:p>
        </p:txBody>
      </p:sp>
      <p:sp>
        <p:nvSpPr>
          <p:cNvPr id="7" name="">
            <a:extLst xmlns:a="http://schemas.openxmlformats.org/drawingml/2006/main">
              <a:ext uri="{FF2B5EF4-FFF2-40B4-BE49-F238E27FC236}">
                <a16:creationId xmlns:a16="http://schemas.microsoft.com/office/drawing/2014/main" id="{984214E1-1B38-42DA-B2C7-451F0B94F7D4}"/>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B3B510F-612E-4774-8A77-37DD426150D4}"/>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系统界面四 · 管理端：公司运行诊断与人才决策</a:t>
            </a:r>
          </a:p>
        </p:txBody>
      </p:sp>
      <p:sp>
        <p:nvSpPr>
          <p:cNvPr id="9" name="">
            <a:extLst xmlns:a="http://schemas.openxmlformats.org/drawingml/2006/main">
              <a:ext uri="{FF2B5EF4-FFF2-40B4-BE49-F238E27FC236}">
                <a16:creationId xmlns:a16="http://schemas.microsoft.com/office/drawing/2014/main" id="{ED9D65C1-BEE6-49F1-B12B-09C8F96AAC2C}"/>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62ED4651-6135-4DBF-B1E3-33708646791A}"/>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管理端给出的不是「感觉缺人」，而是「缺口在哪里、补法有哪几种、各自要花多少钱」。</a:t>
            </a:r>
          </a:p>
        </p:txBody>
      </p:sp>
      <p:sp>
        <p:nvSpPr>
          <p:cNvPr id="11" name="">
            <a:extLst xmlns:a="http://schemas.openxmlformats.org/drawingml/2006/main">
              <a:ext uri="{FF2B5EF4-FFF2-40B4-BE49-F238E27FC236}">
                <a16:creationId xmlns:a16="http://schemas.microsoft.com/office/drawing/2014/main" id="{4F9BE86D-B20E-4786-9D15-042B01688C7B}"/>
              </a:ext>
            </a:extLst>
          </p:cNvPr>
          <p:cNvSpPr>
            <a:spLocks xmlns:a="http://schemas.openxmlformats.org/drawingml/2006/main" noGrp="1"/>
          </p:cNvSpPr>
          <p:nvPr/>
        </p:nvSpPr>
        <p:spPr>
          <a:xfrm xmlns:a="http://schemas.openxmlformats.org/drawingml/2006/main">
            <a:off x="285750" y="1333500"/>
            <a:ext cx="5715000" cy="3105150"/>
          </a:xfrm>
          <a:prstGeom xmlns:a="http://schemas.openxmlformats.org/drawingml/2006/main" prst="roundRect">
            <a:avLst>
              <a:gd name="adj" fmla="val 2454"/>
            </a:avLst>
          </a:prstGeom>
          <a:solidFill xmlns:a="http://schemas.openxmlformats.org/drawingml/2006/main">
            <a:srgbClr val="F4F8FD"/>
          </a:solidFill>
          <a:ln xmlns:a="http://schemas.openxmlformats.org/drawingml/2006/main" w="9525">
            <a:solidFill>
              <a:srgbClr val="2A6BAE"/>
            </a:solidFill>
            <a:prstDash val="solid"/>
          </a:ln>
        </p:spPr>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14bac9ac7cf54dd3"/>
          <a:stretch xmlns:a="http://schemas.openxmlformats.org/drawingml/2006/main"/>
        </p:blipFill>
        <p:spPr>
          <a:xfrm xmlns:a="http://schemas.openxmlformats.org/drawingml/2006/main">
            <a:off x="569904" y="1390650"/>
            <a:ext cx="5146691" cy="2990850"/>
          </a:xfrm>
          <a:prstGeom xmlns:a="http://schemas.openxmlformats.org/drawingml/2006/main" prst="roundRect">
            <a:avLst>
              <a:gd name="adj" fmla="val 1911"/>
            </a:avLst>
          </a:prstGeom>
        </p:spPr>
      </p:pic>
      <p:sp>
        <p:nvSpPr>
          <p:cNvPr id="13" name="">
            <a:extLst xmlns:a="http://schemas.openxmlformats.org/drawingml/2006/main">
              <a:ext uri="{FF2B5EF4-FFF2-40B4-BE49-F238E27FC236}">
                <a16:creationId xmlns:a16="http://schemas.microsoft.com/office/drawing/2014/main" id="{E6E9B7D6-CC71-4101-AD19-FA2A258696F9}"/>
              </a:ext>
            </a:extLst>
          </p:cNvPr>
          <p:cNvSpPr>
            <a:spLocks xmlns:a="http://schemas.openxmlformats.org/drawingml/2006/main" noGrp="1"/>
          </p:cNvSpPr>
          <p:nvPr/>
        </p:nvSpPr>
        <p:spPr>
          <a:xfrm xmlns:a="http://schemas.openxmlformats.org/drawingml/2006/main">
            <a:off x="285750" y="4495800"/>
            <a:ext cx="5715000" cy="381000"/>
          </a:xfrm>
          <a:prstGeom xmlns:a="http://schemas.openxmlformats.org/drawingml/2006/main" prst="roundRect">
            <a:avLst>
              <a:gd name="adj" fmla="val 20000"/>
            </a:avLst>
          </a:prstGeom>
          <a:solidFill xmlns:a="http://schemas.openxmlformats.org/drawingml/2006/main">
            <a:srgbClr val="0A2547"/>
          </a:solidFill>
          <a:ln xmlns:a="http://schemas.openxmlformats.org/drawingml/2006/main" w="9525">
            <a:solidFill>
              <a:srgbClr val="1B4C8A"/>
            </a:solidFill>
            <a:prstDash val="solid"/>
          </a:ln>
        </p:spPr>
      </p:sp>
      <p:sp>
        <p:nvSpPr>
          <p:cNvPr id="14" name="">
            <a:extLst xmlns:a="http://schemas.openxmlformats.org/drawingml/2006/main">
              <a:ext uri="{FF2B5EF4-FFF2-40B4-BE49-F238E27FC236}">
                <a16:creationId xmlns:a16="http://schemas.microsoft.com/office/drawing/2014/main" id="{AACE30F1-C8C1-4AEA-BACD-7794DB2B1F8A}"/>
              </a:ext>
            </a:extLst>
          </p:cNvPr>
          <p:cNvSpPr>
            <a:spLocks xmlns:a="http://schemas.openxmlformats.org/drawingml/2006/main" noGrp="1"/>
          </p:cNvSpPr>
          <p:nvPr/>
        </p:nvSpPr>
        <p:spPr>
          <a:xfrm xmlns:a="http://schemas.openxmlformats.org/drawingml/2006/main">
            <a:off x="419100" y="4495800"/>
            <a:ext cx="5448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5C33B"/>
                </a:solidFill>
                <a:latin typeface="微软雅黑"/>
                <a:ea typeface="微软雅黑"/>
                <a:cs typeface="微软雅黑"/>
              </a:defRPr>
            </a:pPr>
            <a:r>
              <a:rPr sz="863" b="0">
                <a:solidFill>
                  <a:srgbClr val="F5C33B"/>
                </a:solidFill>
                <a:latin typeface="微软雅黑"/>
                <a:ea typeface="微软雅黑"/>
                <a:cs typeface="微软雅黑"/>
              </a:rPr>
              <a:t>本图证明：人才驾驶舱把在岗人数、技能达标率、证书有效率、培训完成率与用人成本收在同一屏，管理者可直接下钻。</a:t>
            </a:r>
          </a:p>
        </p:txBody>
      </p:sp>
      <p:sp>
        <p:nvSpPr>
          <p:cNvPr id="15" name="">
            <a:extLst xmlns:a="http://schemas.openxmlformats.org/drawingml/2006/main">
              <a:ext uri="{FF2B5EF4-FFF2-40B4-BE49-F238E27FC236}">
                <a16:creationId xmlns:a16="http://schemas.microsoft.com/office/drawing/2014/main" id="{94F2C598-A21D-4E18-A715-A0A5BBF22418}"/>
              </a:ext>
            </a:extLst>
          </p:cNvPr>
          <p:cNvSpPr>
            <a:spLocks xmlns:a="http://schemas.openxmlformats.org/drawingml/2006/main" noGrp="1"/>
          </p:cNvSpPr>
          <p:nvPr/>
        </p:nvSpPr>
        <p:spPr>
          <a:xfrm xmlns:a="http://schemas.openxmlformats.org/drawingml/2006/main">
            <a:off x="6191250" y="1333500"/>
            <a:ext cx="5715000" cy="3105150"/>
          </a:xfrm>
          <a:prstGeom xmlns:a="http://schemas.openxmlformats.org/drawingml/2006/main" prst="roundRect">
            <a:avLst>
              <a:gd name="adj" fmla="val 2454"/>
            </a:avLst>
          </a:prstGeom>
          <a:solidFill xmlns:a="http://schemas.openxmlformats.org/drawingml/2006/main">
            <a:srgbClr val="F4F8FD"/>
          </a:solidFill>
          <a:ln xmlns:a="http://schemas.openxmlformats.org/drawingml/2006/main" w="9525">
            <a:solidFill>
              <a:srgbClr val="2A6BAE"/>
            </a:solidFill>
            <a:prstDash val="solid"/>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525619383e2a4ab0"/>
          <a:stretch xmlns:a="http://schemas.openxmlformats.org/drawingml/2006/main"/>
        </p:blipFill>
        <p:spPr>
          <a:xfrm xmlns:a="http://schemas.openxmlformats.org/drawingml/2006/main">
            <a:off x="6469400" y="1390650"/>
            <a:ext cx="5158699" cy="2990850"/>
          </a:xfrm>
          <a:prstGeom xmlns:a="http://schemas.openxmlformats.org/drawingml/2006/main" prst="roundRect">
            <a:avLst>
              <a:gd name="adj" fmla="val 1911"/>
            </a:avLst>
          </a:prstGeom>
        </p:spPr>
      </p:pic>
      <p:sp>
        <p:nvSpPr>
          <p:cNvPr id="17" name="">
            <a:extLst xmlns:a="http://schemas.openxmlformats.org/drawingml/2006/main">
              <a:ext uri="{FF2B5EF4-FFF2-40B4-BE49-F238E27FC236}">
                <a16:creationId xmlns:a16="http://schemas.microsoft.com/office/drawing/2014/main" id="{6050AC1D-BCED-4431-94C2-218E15147E1F}"/>
              </a:ext>
            </a:extLst>
          </p:cNvPr>
          <p:cNvSpPr>
            <a:spLocks xmlns:a="http://schemas.openxmlformats.org/drawingml/2006/main" noGrp="1"/>
          </p:cNvSpPr>
          <p:nvPr/>
        </p:nvSpPr>
        <p:spPr>
          <a:xfrm xmlns:a="http://schemas.openxmlformats.org/drawingml/2006/main">
            <a:off x="6191250" y="4495800"/>
            <a:ext cx="5715000" cy="381000"/>
          </a:xfrm>
          <a:prstGeom xmlns:a="http://schemas.openxmlformats.org/drawingml/2006/main" prst="roundRect">
            <a:avLst>
              <a:gd name="adj" fmla="val 20000"/>
            </a:avLst>
          </a:prstGeom>
          <a:solidFill xmlns:a="http://schemas.openxmlformats.org/drawingml/2006/main">
            <a:srgbClr val="0A2547"/>
          </a:solidFill>
          <a:ln xmlns:a="http://schemas.openxmlformats.org/drawingml/2006/main" w="9525">
            <a:solidFill>
              <a:srgbClr val="1B4C8A"/>
            </a:solidFill>
            <a:prstDash val="solid"/>
          </a:ln>
        </p:spPr>
      </p:sp>
      <p:sp>
        <p:nvSpPr>
          <p:cNvPr id="18" name="">
            <a:extLst xmlns:a="http://schemas.openxmlformats.org/drawingml/2006/main">
              <a:ext uri="{FF2B5EF4-FFF2-40B4-BE49-F238E27FC236}">
                <a16:creationId xmlns:a16="http://schemas.microsoft.com/office/drawing/2014/main" id="{D9BE69D2-11C5-447F-AA96-BA11B93C427E}"/>
              </a:ext>
            </a:extLst>
          </p:cNvPr>
          <p:cNvSpPr>
            <a:spLocks xmlns:a="http://schemas.openxmlformats.org/drawingml/2006/main" noGrp="1"/>
          </p:cNvSpPr>
          <p:nvPr/>
        </p:nvSpPr>
        <p:spPr>
          <a:xfrm xmlns:a="http://schemas.openxmlformats.org/drawingml/2006/main">
            <a:off x="6324600" y="4495800"/>
            <a:ext cx="5448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5C33B"/>
                </a:solidFill>
                <a:latin typeface="微软雅黑"/>
                <a:ea typeface="微软雅黑"/>
                <a:cs typeface="微软雅黑"/>
              </a:defRPr>
            </a:pPr>
            <a:r>
              <a:rPr sz="863" b="0">
                <a:solidFill>
                  <a:srgbClr val="F5C33B"/>
                </a:solidFill>
                <a:latin typeface="微软雅黑"/>
                <a:ea typeface="微软雅黑"/>
                <a:cs typeface="微软雅黑"/>
              </a:rPr>
              <a:t>本图证明：公司运行诊断把诊断项、证据、结论与建议写在同一页，每条建议都标注来源与人工确认状态。</a:t>
            </a:r>
          </a:p>
        </p:txBody>
      </p:sp>
      <p:sp>
        <p:nvSpPr>
          <p:cNvPr id="19" name="">
            <a:extLst xmlns:a="http://schemas.openxmlformats.org/drawingml/2006/main">
              <a:ext uri="{FF2B5EF4-FFF2-40B4-BE49-F238E27FC236}">
                <a16:creationId xmlns:a16="http://schemas.microsoft.com/office/drawing/2014/main" id="{836951AF-7F90-4E91-83AE-2D0C0F512D8A}"/>
              </a:ext>
            </a:extLst>
          </p:cNvPr>
          <p:cNvSpPr>
            <a:spLocks xmlns:a="http://schemas.openxmlformats.org/drawingml/2006/main" noGrp="1"/>
          </p:cNvSpPr>
          <p:nvPr/>
        </p:nvSpPr>
        <p:spPr>
          <a:xfrm xmlns:a="http://schemas.openxmlformats.org/drawingml/2006/main">
            <a:off x="285750" y="5029200"/>
            <a:ext cx="2781300" cy="1028700"/>
          </a:xfrm>
          <a:prstGeom xmlns:a="http://schemas.openxmlformats.org/drawingml/2006/main" prst="roundRect">
            <a:avLst>
              <a:gd name="adj" fmla="val 7407"/>
            </a:avLst>
          </a:prstGeom>
          <a:solidFill xmlns:a="http://schemas.openxmlformats.org/drawingml/2006/main">
            <a:srgbClr val="0D2748"/>
          </a:solidFill>
          <a:ln xmlns:a="http://schemas.openxmlformats.org/drawingml/2006/main" w="9525">
            <a:solidFill>
              <a:srgbClr val="1B4C8A"/>
            </a:solidFill>
            <a:prstDash val="solid"/>
          </a:ln>
        </p:spPr>
      </p:sp>
      <p:sp>
        <p:nvSpPr>
          <p:cNvPr id="20" name="">
            <a:extLst xmlns:a="http://schemas.openxmlformats.org/drawingml/2006/main">
              <a:ext uri="{FF2B5EF4-FFF2-40B4-BE49-F238E27FC236}">
                <a16:creationId xmlns:a16="http://schemas.microsoft.com/office/drawing/2014/main" id="{A7B8E75B-5446-4A61-AA86-095C88FAF3DE}"/>
              </a:ext>
            </a:extLst>
          </p:cNvPr>
          <p:cNvSpPr>
            <a:spLocks xmlns:a="http://schemas.openxmlformats.org/drawingml/2006/main" noGrp="1"/>
          </p:cNvSpPr>
          <p:nvPr/>
        </p:nvSpPr>
        <p:spPr>
          <a:xfrm xmlns:a="http://schemas.openxmlformats.org/drawingml/2006/main">
            <a:off x="285750" y="5029200"/>
            <a:ext cx="2781300" cy="3810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6444667-D53A-4857-B94F-8D58D70352B6}"/>
              </a:ext>
            </a:extLst>
          </p:cNvPr>
          <p:cNvSpPr>
            <a:spLocks xmlns:a="http://schemas.openxmlformats.org/drawingml/2006/main" noGrp="1"/>
          </p:cNvSpPr>
          <p:nvPr/>
        </p:nvSpPr>
        <p:spPr>
          <a:xfrm xmlns:a="http://schemas.openxmlformats.org/drawingml/2006/main">
            <a:off x="457200" y="5162550"/>
            <a:ext cx="2457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5C33B"/>
                </a:solidFill>
                <a:latin typeface="微软雅黑"/>
                <a:ea typeface="微软雅黑"/>
                <a:cs typeface="微软雅黑"/>
              </a:defRPr>
            </a:pPr>
            <a:r>
              <a:rPr sz="1013" b="1">
                <a:solidFill>
                  <a:srgbClr val="F5C33B"/>
                </a:solidFill>
                <a:latin typeface="微软雅黑"/>
                <a:ea typeface="微软雅黑"/>
                <a:cs typeface="微软雅黑"/>
              </a:rPr>
              <a:t>人才驾驶舱</a:t>
            </a:r>
          </a:p>
        </p:txBody>
      </p:sp>
      <p:sp>
        <p:nvSpPr>
          <p:cNvPr id="22" name="">
            <a:extLst xmlns:a="http://schemas.openxmlformats.org/drawingml/2006/main">
              <a:ext uri="{FF2B5EF4-FFF2-40B4-BE49-F238E27FC236}">
                <a16:creationId xmlns:a16="http://schemas.microsoft.com/office/drawing/2014/main" id="{B84752FE-3BEC-4A14-B7D2-60D65BEC66EB}"/>
              </a:ext>
            </a:extLst>
          </p:cNvPr>
          <p:cNvSpPr>
            <a:spLocks xmlns:a="http://schemas.openxmlformats.org/drawingml/2006/main" noGrp="1"/>
          </p:cNvSpPr>
          <p:nvPr/>
        </p:nvSpPr>
        <p:spPr>
          <a:xfrm xmlns:a="http://schemas.openxmlformats.org/drawingml/2006/main">
            <a:off x="457200" y="5429250"/>
            <a:ext cx="2495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全公司人才总览：关键指标、人才缺口、培训成本、用人成本、安全风险</a:t>
            </a:r>
          </a:p>
        </p:txBody>
      </p:sp>
      <p:sp>
        <p:nvSpPr>
          <p:cNvPr id="23" name="">
            <a:extLst xmlns:a="http://schemas.openxmlformats.org/drawingml/2006/main">
              <a:ext uri="{FF2B5EF4-FFF2-40B4-BE49-F238E27FC236}">
                <a16:creationId xmlns:a16="http://schemas.microsoft.com/office/drawing/2014/main" id="{E9E12ECA-9368-49CA-B2BF-B089DEAB9492}"/>
              </a:ext>
            </a:extLst>
          </p:cNvPr>
          <p:cNvSpPr>
            <a:spLocks xmlns:a="http://schemas.openxmlformats.org/drawingml/2006/main" noGrp="1"/>
          </p:cNvSpPr>
          <p:nvPr/>
        </p:nvSpPr>
        <p:spPr>
          <a:xfrm xmlns:a="http://schemas.openxmlformats.org/drawingml/2006/main">
            <a:off x="3238500" y="5029200"/>
            <a:ext cx="2781300" cy="1028700"/>
          </a:xfrm>
          <a:prstGeom xmlns:a="http://schemas.openxmlformats.org/drawingml/2006/main" prst="roundRect">
            <a:avLst>
              <a:gd name="adj" fmla="val 7407"/>
            </a:avLst>
          </a:prstGeom>
          <a:solidFill xmlns:a="http://schemas.openxmlformats.org/drawingml/2006/main">
            <a:srgbClr val="0D2748"/>
          </a:solidFill>
          <a:ln xmlns:a="http://schemas.openxmlformats.org/drawingml/2006/main" w="9525">
            <a:solidFill>
              <a:srgbClr val="1B4C8A"/>
            </a:solidFill>
            <a:prstDash val="solid"/>
          </a:ln>
        </p:spPr>
      </p:sp>
      <p:sp>
        <p:nvSpPr>
          <p:cNvPr id="24" name="">
            <a:extLst xmlns:a="http://schemas.openxmlformats.org/drawingml/2006/main">
              <a:ext uri="{FF2B5EF4-FFF2-40B4-BE49-F238E27FC236}">
                <a16:creationId xmlns:a16="http://schemas.microsoft.com/office/drawing/2014/main" id="{96438230-6400-4B57-8126-5C9934A0D556}"/>
              </a:ext>
            </a:extLst>
          </p:cNvPr>
          <p:cNvSpPr>
            <a:spLocks xmlns:a="http://schemas.openxmlformats.org/drawingml/2006/main" noGrp="1"/>
          </p:cNvSpPr>
          <p:nvPr/>
        </p:nvSpPr>
        <p:spPr>
          <a:xfrm xmlns:a="http://schemas.openxmlformats.org/drawingml/2006/main">
            <a:off x="3238500" y="5029200"/>
            <a:ext cx="2781300" cy="3810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007D7BA-AECA-428D-8CB4-C69DDFE88D5C}"/>
              </a:ext>
            </a:extLst>
          </p:cNvPr>
          <p:cNvSpPr>
            <a:spLocks xmlns:a="http://schemas.openxmlformats.org/drawingml/2006/main" noGrp="1"/>
          </p:cNvSpPr>
          <p:nvPr/>
        </p:nvSpPr>
        <p:spPr>
          <a:xfrm xmlns:a="http://schemas.openxmlformats.org/drawingml/2006/main">
            <a:off x="3409950" y="5162550"/>
            <a:ext cx="2457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5C33B"/>
                </a:solidFill>
                <a:latin typeface="微软雅黑"/>
                <a:ea typeface="微软雅黑"/>
                <a:cs typeface="微软雅黑"/>
              </a:defRPr>
            </a:pPr>
            <a:r>
              <a:rPr sz="1013" b="1">
                <a:solidFill>
                  <a:srgbClr val="F5C33B"/>
                </a:solidFill>
                <a:latin typeface="微软雅黑"/>
                <a:ea typeface="微软雅黑"/>
                <a:cs typeface="微软雅黑"/>
              </a:rPr>
              <a:t>全公司技能矩阵</a:t>
            </a:r>
          </a:p>
        </p:txBody>
      </p:sp>
      <p:sp>
        <p:nvSpPr>
          <p:cNvPr id="26" name="">
            <a:extLst xmlns:a="http://schemas.openxmlformats.org/drawingml/2006/main">
              <a:ext uri="{FF2B5EF4-FFF2-40B4-BE49-F238E27FC236}">
                <a16:creationId xmlns:a16="http://schemas.microsoft.com/office/drawing/2014/main" id="{D42C0159-F62F-4745-B6AB-C8F7F59EE870}"/>
              </a:ext>
            </a:extLst>
          </p:cNvPr>
          <p:cNvSpPr>
            <a:spLocks xmlns:a="http://schemas.openxmlformats.org/drawingml/2006/main" noGrp="1"/>
          </p:cNvSpPr>
          <p:nvPr/>
        </p:nvSpPr>
        <p:spPr>
          <a:xfrm xmlns:a="http://schemas.openxmlformats.org/drawingml/2006/main">
            <a:off x="3409950" y="5429250"/>
            <a:ext cx="2495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按部门 / 岗位 / 技能等级展示分布，标出关键岗位是否有备份</a:t>
            </a:r>
          </a:p>
        </p:txBody>
      </p:sp>
      <p:sp>
        <p:nvSpPr>
          <p:cNvPr id="27" name="">
            <a:extLst xmlns:a="http://schemas.openxmlformats.org/drawingml/2006/main">
              <a:ext uri="{FF2B5EF4-FFF2-40B4-BE49-F238E27FC236}">
                <a16:creationId xmlns:a16="http://schemas.microsoft.com/office/drawing/2014/main" id="{2E83F525-A6F3-4755-BC93-7A9F360E96B5}"/>
              </a:ext>
            </a:extLst>
          </p:cNvPr>
          <p:cNvSpPr>
            <a:spLocks xmlns:a="http://schemas.openxmlformats.org/drawingml/2006/main" noGrp="1"/>
          </p:cNvSpPr>
          <p:nvPr/>
        </p:nvSpPr>
        <p:spPr>
          <a:xfrm xmlns:a="http://schemas.openxmlformats.org/drawingml/2006/main">
            <a:off x="6191250" y="5029200"/>
            <a:ext cx="2781300" cy="1028700"/>
          </a:xfrm>
          <a:prstGeom xmlns:a="http://schemas.openxmlformats.org/drawingml/2006/main" prst="roundRect">
            <a:avLst>
              <a:gd name="adj" fmla="val 7407"/>
            </a:avLst>
          </a:prstGeom>
          <a:solidFill xmlns:a="http://schemas.openxmlformats.org/drawingml/2006/main">
            <a:srgbClr val="0D2748"/>
          </a:solidFill>
          <a:ln xmlns:a="http://schemas.openxmlformats.org/drawingml/2006/main" w="9525">
            <a:solidFill>
              <a:srgbClr val="1B4C8A"/>
            </a:solidFill>
            <a:prstDash val="solid"/>
          </a:ln>
        </p:spPr>
      </p:sp>
      <p:sp>
        <p:nvSpPr>
          <p:cNvPr id="28" name="">
            <a:extLst xmlns:a="http://schemas.openxmlformats.org/drawingml/2006/main">
              <a:ext uri="{FF2B5EF4-FFF2-40B4-BE49-F238E27FC236}">
                <a16:creationId xmlns:a16="http://schemas.microsoft.com/office/drawing/2014/main" id="{4B05D286-DEE6-46E4-853D-B93313206BE5}"/>
              </a:ext>
            </a:extLst>
          </p:cNvPr>
          <p:cNvSpPr>
            <a:spLocks xmlns:a="http://schemas.openxmlformats.org/drawingml/2006/main" noGrp="1"/>
          </p:cNvSpPr>
          <p:nvPr/>
        </p:nvSpPr>
        <p:spPr>
          <a:xfrm xmlns:a="http://schemas.openxmlformats.org/drawingml/2006/main">
            <a:off x="6191250" y="5029200"/>
            <a:ext cx="2781300" cy="3810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A0A4A69-1493-46C2-BE3D-52588928F5FF}"/>
              </a:ext>
            </a:extLst>
          </p:cNvPr>
          <p:cNvSpPr>
            <a:spLocks xmlns:a="http://schemas.openxmlformats.org/drawingml/2006/main" noGrp="1"/>
          </p:cNvSpPr>
          <p:nvPr/>
        </p:nvSpPr>
        <p:spPr>
          <a:xfrm xmlns:a="http://schemas.openxmlformats.org/drawingml/2006/main">
            <a:off x="6362700" y="5162550"/>
            <a:ext cx="2457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5C33B"/>
                </a:solidFill>
                <a:latin typeface="微软雅黑"/>
                <a:ea typeface="微软雅黑"/>
                <a:cs typeface="微软雅黑"/>
              </a:defRPr>
            </a:pPr>
            <a:r>
              <a:rPr sz="1013" b="1">
                <a:solidFill>
                  <a:srgbClr val="F5C33B"/>
                </a:solidFill>
                <a:latin typeface="微软雅黑"/>
                <a:ea typeface="微软雅黑"/>
                <a:cs typeface="微软雅黑"/>
              </a:rPr>
              <a:t>成本看板</a:t>
            </a:r>
          </a:p>
        </p:txBody>
      </p:sp>
      <p:sp>
        <p:nvSpPr>
          <p:cNvPr id="30" name="">
            <a:extLst xmlns:a="http://schemas.openxmlformats.org/drawingml/2006/main">
              <a:ext uri="{FF2B5EF4-FFF2-40B4-BE49-F238E27FC236}">
                <a16:creationId xmlns:a16="http://schemas.microsoft.com/office/drawing/2014/main" id="{F6BDE203-44DD-4474-AAEA-BED663A1EB66}"/>
              </a:ext>
            </a:extLst>
          </p:cNvPr>
          <p:cNvSpPr>
            <a:spLocks xmlns:a="http://schemas.openxmlformats.org/drawingml/2006/main" noGrp="1"/>
          </p:cNvSpPr>
          <p:nvPr/>
        </p:nvSpPr>
        <p:spPr>
          <a:xfrm xmlns:a="http://schemas.openxmlformats.org/drawingml/2006/main">
            <a:off x="6362700" y="5429250"/>
            <a:ext cx="2495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人力、培训、招聘、外包、加班、离职成本，支持按部门与岗位筛选</a:t>
            </a:r>
          </a:p>
        </p:txBody>
      </p:sp>
      <p:sp>
        <p:nvSpPr>
          <p:cNvPr id="31" name="">
            <a:extLst xmlns:a="http://schemas.openxmlformats.org/drawingml/2006/main">
              <a:ext uri="{FF2B5EF4-FFF2-40B4-BE49-F238E27FC236}">
                <a16:creationId xmlns:a16="http://schemas.microsoft.com/office/drawing/2014/main" id="{52E6D960-ABF9-414A-AF15-383C28D0D99A}"/>
              </a:ext>
            </a:extLst>
          </p:cNvPr>
          <p:cNvSpPr>
            <a:spLocks xmlns:a="http://schemas.openxmlformats.org/drawingml/2006/main" noGrp="1"/>
          </p:cNvSpPr>
          <p:nvPr/>
        </p:nvSpPr>
        <p:spPr>
          <a:xfrm xmlns:a="http://schemas.openxmlformats.org/drawingml/2006/main">
            <a:off x="9144000" y="5029200"/>
            <a:ext cx="2781300" cy="1028700"/>
          </a:xfrm>
          <a:prstGeom xmlns:a="http://schemas.openxmlformats.org/drawingml/2006/main" prst="roundRect">
            <a:avLst>
              <a:gd name="adj" fmla="val 7407"/>
            </a:avLst>
          </a:prstGeom>
          <a:solidFill xmlns:a="http://schemas.openxmlformats.org/drawingml/2006/main">
            <a:srgbClr val="0D2748"/>
          </a:solidFill>
          <a:ln xmlns:a="http://schemas.openxmlformats.org/drawingml/2006/main" w="9525">
            <a:solidFill>
              <a:srgbClr val="1B4C8A"/>
            </a:solidFill>
            <a:prstDash val="solid"/>
          </a:ln>
        </p:spPr>
      </p:sp>
      <p:sp>
        <p:nvSpPr>
          <p:cNvPr id="32" name="">
            <a:extLst xmlns:a="http://schemas.openxmlformats.org/drawingml/2006/main">
              <a:ext uri="{FF2B5EF4-FFF2-40B4-BE49-F238E27FC236}">
                <a16:creationId xmlns:a16="http://schemas.microsoft.com/office/drawing/2014/main" id="{6EE91504-0F86-4FFE-871C-E875880E190D}"/>
              </a:ext>
            </a:extLst>
          </p:cNvPr>
          <p:cNvSpPr>
            <a:spLocks xmlns:a="http://schemas.openxmlformats.org/drawingml/2006/main" noGrp="1"/>
          </p:cNvSpPr>
          <p:nvPr/>
        </p:nvSpPr>
        <p:spPr>
          <a:xfrm xmlns:a="http://schemas.openxmlformats.org/drawingml/2006/main">
            <a:off x="9144000" y="5029200"/>
            <a:ext cx="2781300" cy="38100"/>
          </a:xfrm>
          <a:prstGeom xmlns:a="http://schemas.openxmlformats.org/drawingml/2006/main" prst="rect">
            <a:avLst/>
          </a:prstGeom>
          <a:solidFill xmlns:a="http://schemas.openxmlformats.org/drawingml/2006/main">
            <a:srgbClr val="F2705E"/>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B68EA33C-9480-4B20-8635-5763FC399740}"/>
              </a:ext>
            </a:extLst>
          </p:cNvPr>
          <p:cNvSpPr>
            <a:spLocks xmlns:a="http://schemas.openxmlformats.org/drawingml/2006/main" noGrp="1"/>
          </p:cNvSpPr>
          <p:nvPr/>
        </p:nvSpPr>
        <p:spPr>
          <a:xfrm xmlns:a="http://schemas.openxmlformats.org/drawingml/2006/main">
            <a:off x="9315450" y="5162550"/>
            <a:ext cx="2457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13" b="1">
                <a:solidFill>
                  <a:srgbClr val="F2705E"/>
                </a:solidFill>
                <a:latin typeface="微软雅黑"/>
                <a:ea typeface="微软雅黑"/>
                <a:cs typeface="微软雅黑"/>
              </a:defRPr>
            </a:pPr>
            <a:r>
              <a:rPr sz="1013" b="1">
                <a:solidFill>
                  <a:srgbClr val="F2705E"/>
                </a:solidFill>
                <a:latin typeface="微软雅黑"/>
                <a:ea typeface="微软雅黑"/>
                <a:cs typeface="微软雅黑"/>
              </a:rPr>
              <a:t>风险与建议</a:t>
            </a:r>
          </a:p>
        </p:txBody>
      </p:sp>
      <p:sp>
        <p:nvSpPr>
          <p:cNvPr id="34" name="">
            <a:extLst xmlns:a="http://schemas.openxmlformats.org/drawingml/2006/main">
              <a:ext uri="{FF2B5EF4-FFF2-40B4-BE49-F238E27FC236}">
                <a16:creationId xmlns:a16="http://schemas.microsoft.com/office/drawing/2014/main" id="{59C1879C-2AE8-4992-BE0C-8094EB0FC1A4}"/>
              </a:ext>
            </a:extLst>
          </p:cNvPr>
          <p:cNvSpPr>
            <a:spLocks xmlns:a="http://schemas.openxmlformats.org/drawingml/2006/main" noGrp="1"/>
          </p:cNvSpPr>
          <p:nvPr/>
        </p:nvSpPr>
        <p:spPr>
          <a:xfrm xmlns:a="http://schemas.openxmlformats.org/drawingml/2006/main">
            <a:off x="9315450" y="5429250"/>
            <a:ext cx="2495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安全不合格一票否决；给出转岗 / 招聘 / 外委组合建议并附成本模拟</a:t>
            </a:r>
          </a:p>
        </p:txBody>
      </p:sp>
      <p:sp>
        <p:nvSpPr>
          <p:cNvPr id="35" name="">
            <a:extLst xmlns:a="http://schemas.openxmlformats.org/drawingml/2006/main">
              <a:ext uri="{FF2B5EF4-FFF2-40B4-BE49-F238E27FC236}">
                <a16:creationId xmlns:a16="http://schemas.microsoft.com/office/drawing/2014/main" id="{F2CB212E-74C3-4BD5-BBD3-9B4DD01290C9}"/>
              </a:ext>
            </a:extLst>
          </p:cNvPr>
          <p:cNvSpPr>
            <a:spLocks xmlns:a="http://schemas.openxmlformats.org/drawingml/2006/main" noGrp="1"/>
          </p:cNvSpPr>
          <p:nvPr/>
        </p:nvSpPr>
        <p:spPr>
          <a:xfrm xmlns:a="http://schemas.openxmlformats.org/drawingml/2006/main">
            <a:off x="285750" y="6172200"/>
            <a:ext cx="11620500" cy="361950"/>
          </a:xfrm>
          <a:prstGeom xmlns:a="http://schemas.openxmlformats.org/drawingml/2006/main" prst="roundRect">
            <a:avLst>
              <a:gd name="adj" fmla="val 21053"/>
            </a:avLst>
          </a:prstGeom>
          <a:solidFill xmlns:a="http://schemas.openxmlformats.org/drawingml/2006/main">
            <a:srgbClr val="0A2547"/>
          </a:solidFill>
          <a:ln xmlns:a="http://schemas.openxmlformats.org/drawingml/2006/main" w="9525">
            <a:solidFill>
              <a:srgbClr val="2A6BAE"/>
            </a:solidFill>
            <a:prstDash val="solid"/>
          </a:ln>
        </p:spPr>
      </p:sp>
      <p:sp>
        <p:nvSpPr>
          <p:cNvPr id="36" name="">
            <a:extLst xmlns:a="http://schemas.openxmlformats.org/drawingml/2006/main">
              <a:ext uri="{FF2B5EF4-FFF2-40B4-BE49-F238E27FC236}">
                <a16:creationId xmlns:a16="http://schemas.microsoft.com/office/drawing/2014/main" id="{FFC4FE7C-39BF-47BE-96D1-56377102E9D3}"/>
              </a:ext>
            </a:extLst>
          </p:cNvPr>
          <p:cNvSpPr>
            <a:spLocks xmlns:a="http://schemas.openxmlformats.org/drawingml/2006/main" noGrp="1"/>
          </p:cNvSpPr>
          <p:nvPr/>
        </p:nvSpPr>
        <p:spPr>
          <a:xfrm xmlns:a="http://schemas.openxmlformats.org/drawingml/2006/main">
            <a:off x="457200" y="6172200"/>
            <a:ext cx="1123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权限边界：老总 / 授权高管可看全公司汇总与钻取（心理与关怀数据仅返回脱敏聚合）；班组长只能看本班组业务数据；令牌制校验，越权返回 403 / code=40301。</a:t>
            </a:r>
          </a:p>
        </p:txBody>
      </p:sp>
      <p:sp>
        <p:nvSpPr>
          <p:cNvPr id="37" name="">
            <a:extLst xmlns:a="http://schemas.openxmlformats.org/drawingml/2006/main">
              <a:ext uri="{FF2B5EF4-FFF2-40B4-BE49-F238E27FC236}">
                <a16:creationId xmlns:a16="http://schemas.microsoft.com/office/drawing/2014/main" id="{D26486A4-FFE3-43A5-9CB9-4BADED991926}"/>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8CAE65B6-F79C-40C0-B972-905AF1339DC9}"/>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39" name="">
            <a:extLst xmlns:a="http://schemas.openxmlformats.org/drawingml/2006/main">
              <a:ext uri="{FF2B5EF4-FFF2-40B4-BE49-F238E27FC236}">
                <a16:creationId xmlns:a16="http://schemas.microsoft.com/office/drawing/2014/main" id="{CB743C9F-66F1-4027-9C37-FC1E1A273760}"/>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24</a:t>
            </a:r>
          </a:p>
        </p:txBody>
      </p:sp>
    </p:spTree>
    <p:extLst>
      <p:ext uri="{BB962C8B-B14F-4D97-AF65-F5344CB8AC3E}">
        <p14:creationId xmlns:p14="http://schemas.microsoft.com/office/powerpoint/2010/main" val="836371040"/>
      </p:ext>
    </p:extLst>
  </p:cSld>
</p:sld>
</file>

<file path=ppt/slides/slide25.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7660153-F64B-4147-8D1F-D99531A7F4EC}"/>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D2958B9-B077-4B2E-B85E-4020EDCB8DF8}"/>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E3EEED8-5708-4D68-B653-A5DC3ADDBD37}"/>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E53307B-4A24-4720-8FCF-3655546AB218}"/>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D2D73E8-8DAA-4B43-BCC9-47E678BAAE76}"/>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92CB824D-EAF1-4064-A65E-DEFF5BF4A640}"/>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系统实现</a:t>
            </a:r>
          </a:p>
        </p:txBody>
      </p:sp>
      <p:sp>
        <p:nvSpPr>
          <p:cNvPr id="7" name="">
            <a:extLst xmlns:a="http://schemas.openxmlformats.org/drawingml/2006/main">
              <a:ext uri="{FF2B5EF4-FFF2-40B4-BE49-F238E27FC236}">
                <a16:creationId xmlns:a16="http://schemas.microsoft.com/office/drawing/2014/main" id="{10089907-FD59-4A16-8780-F227EA69C76B}"/>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A764A3A-189A-4FC5-98DC-2EF3744F625D}"/>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系统界面五 · 管理员端：规则配置与审计溯源</a:t>
            </a:r>
          </a:p>
        </p:txBody>
      </p:sp>
      <p:sp>
        <p:nvSpPr>
          <p:cNvPr id="9" name="">
            <a:extLst xmlns:a="http://schemas.openxmlformats.org/drawingml/2006/main">
              <a:ext uri="{FF2B5EF4-FFF2-40B4-BE49-F238E27FC236}">
                <a16:creationId xmlns:a16="http://schemas.microsoft.com/office/drawing/2014/main" id="{046CF641-4063-4560-BF26-56325B6D739C}"/>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3AD82466-C2E0-4002-930D-0896F8E1017F}"/>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规则、阈值、模板全部配置入库——管理员改库即生效，不需要开发改代码。</a:t>
            </a:r>
          </a:p>
        </p:txBody>
      </p:sp>
      <p:sp>
        <p:nvSpPr>
          <p:cNvPr id="11" name="">
            <a:extLst xmlns:a="http://schemas.openxmlformats.org/drawingml/2006/main">
              <a:ext uri="{FF2B5EF4-FFF2-40B4-BE49-F238E27FC236}">
                <a16:creationId xmlns:a16="http://schemas.microsoft.com/office/drawing/2014/main" id="{D9191512-D79E-4A1A-A09A-9C6AA0C83775}"/>
              </a:ext>
            </a:extLst>
          </p:cNvPr>
          <p:cNvSpPr>
            <a:spLocks xmlns:a="http://schemas.openxmlformats.org/drawingml/2006/main" noGrp="1"/>
          </p:cNvSpPr>
          <p:nvPr/>
        </p:nvSpPr>
        <p:spPr>
          <a:xfrm xmlns:a="http://schemas.openxmlformats.org/drawingml/2006/main">
            <a:off x="285750" y="1333500"/>
            <a:ext cx="5905500" cy="3619500"/>
          </a:xfrm>
          <a:prstGeom xmlns:a="http://schemas.openxmlformats.org/drawingml/2006/main" prst="roundRect">
            <a:avLst>
              <a:gd name="adj" fmla="val 2105"/>
            </a:avLst>
          </a:prstGeom>
          <a:solidFill xmlns:a="http://schemas.openxmlformats.org/drawingml/2006/main">
            <a:srgbClr val="F4F8FD"/>
          </a:solidFill>
          <a:ln xmlns:a="http://schemas.openxmlformats.org/drawingml/2006/main" w="9525">
            <a:solidFill>
              <a:srgbClr val="2A6BAE"/>
            </a:solidFill>
            <a:prstDash val="solid"/>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e0993464645d4420"/>
          <a:stretch xmlns:a="http://schemas.openxmlformats.org/drawingml/2006/main"/>
        </p:blipFill>
        <p:spPr>
          <a:xfrm xmlns:a="http://schemas.openxmlformats.org/drawingml/2006/main">
            <a:off x="342900" y="1627747"/>
            <a:ext cx="5791200" cy="3031006"/>
          </a:xfrm>
          <a:prstGeom xmlns:a="http://schemas.openxmlformats.org/drawingml/2006/main" prst="roundRect">
            <a:avLst>
              <a:gd name="adj" fmla="val 1630"/>
            </a:avLst>
          </a:prstGeom>
        </p:spPr>
      </p:pic>
      <p:sp>
        <p:nvSpPr>
          <p:cNvPr id="13" name="">
            <a:extLst xmlns:a="http://schemas.openxmlformats.org/drawingml/2006/main">
              <a:ext uri="{FF2B5EF4-FFF2-40B4-BE49-F238E27FC236}">
                <a16:creationId xmlns:a16="http://schemas.microsoft.com/office/drawing/2014/main" id="{24D1FF47-20EC-4850-8C85-243F68F80B2A}"/>
              </a:ext>
            </a:extLst>
          </p:cNvPr>
          <p:cNvSpPr>
            <a:spLocks xmlns:a="http://schemas.openxmlformats.org/drawingml/2006/main" noGrp="1"/>
          </p:cNvSpPr>
          <p:nvPr/>
        </p:nvSpPr>
        <p:spPr>
          <a:xfrm xmlns:a="http://schemas.openxmlformats.org/drawingml/2006/main">
            <a:off x="285750" y="5010150"/>
            <a:ext cx="5905500" cy="381000"/>
          </a:xfrm>
          <a:prstGeom xmlns:a="http://schemas.openxmlformats.org/drawingml/2006/main" prst="roundRect">
            <a:avLst>
              <a:gd name="adj" fmla="val 20000"/>
            </a:avLst>
          </a:prstGeom>
          <a:solidFill xmlns:a="http://schemas.openxmlformats.org/drawingml/2006/main">
            <a:srgbClr val="0A2547"/>
          </a:solidFill>
          <a:ln xmlns:a="http://schemas.openxmlformats.org/drawingml/2006/main" w="9525">
            <a:solidFill>
              <a:srgbClr val="1B4C8A"/>
            </a:solidFill>
            <a:prstDash val="solid"/>
          </a:ln>
        </p:spPr>
      </p:sp>
      <p:sp>
        <p:nvSpPr>
          <p:cNvPr id="14" name="">
            <a:extLst xmlns:a="http://schemas.openxmlformats.org/drawingml/2006/main">
              <a:ext uri="{FF2B5EF4-FFF2-40B4-BE49-F238E27FC236}">
                <a16:creationId xmlns:a16="http://schemas.microsoft.com/office/drawing/2014/main" id="{DAE67E00-40C0-4668-B763-3330B4783041}"/>
              </a:ext>
            </a:extLst>
          </p:cNvPr>
          <p:cNvSpPr>
            <a:spLocks xmlns:a="http://schemas.openxmlformats.org/drawingml/2006/main" noGrp="1"/>
          </p:cNvSpPr>
          <p:nvPr/>
        </p:nvSpPr>
        <p:spPr>
          <a:xfrm xmlns:a="http://schemas.openxmlformats.org/drawingml/2006/main">
            <a:off x="419100" y="5010150"/>
            <a:ext cx="5638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5C33B"/>
                </a:solidFill>
                <a:latin typeface="微软雅黑"/>
                <a:ea typeface="微软雅黑"/>
                <a:cs typeface="微软雅黑"/>
              </a:defRPr>
            </a:pPr>
            <a:r>
              <a:rPr sz="863" b="0">
                <a:solidFill>
                  <a:srgbClr val="F5C33B"/>
                </a:solidFill>
                <a:latin typeface="微软雅黑"/>
                <a:ea typeface="微软雅黑"/>
                <a:cs typeface="微软雅黑"/>
              </a:rPr>
              <a:t>本图证明：平台数据规模、用户与角色、岗位与部门维护都集中在管理员这一处配置。</a:t>
            </a:r>
          </a:p>
        </p:txBody>
      </p:sp>
      <p:sp>
        <p:nvSpPr>
          <p:cNvPr id="15" name="">
            <a:extLst xmlns:a="http://schemas.openxmlformats.org/drawingml/2006/main">
              <a:ext uri="{FF2B5EF4-FFF2-40B4-BE49-F238E27FC236}">
                <a16:creationId xmlns:a16="http://schemas.microsoft.com/office/drawing/2014/main" id="{CE9E23B2-2271-4596-9C04-40DAC06D0A19}"/>
              </a:ext>
            </a:extLst>
          </p:cNvPr>
          <p:cNvSpPr>
            <a:spLocks xmlns:a="http://schemas.openxmlformats.org/drawingml/2006/main" noGrp="1"/>
          </p:cNvSpPr>
          <p:nvPr/>
        </p:nvSpPr>
        <p:spPr>
          <a:xfrm xmlns:a="http://schemas.openxmlformats.org/drawingml/2006/main">
            <a:off x="6381750" y="1333500"/>
            <a:ext cx="5524500" cy="895350"/>
          </a:xfrm>
          <a:prstGeom xmlns:a="http://schemas.openxmlformats.org/drawingml/2006/main" prst="roundRect">
            <a:avLst>
              <a:gd name="adj" fmla="val 8511"/>
            </a:avLst>
          </a:prstGeom>
          <a:solidFill xmlns:a="http://schemas.openxmlformats.org/drawingml/2006/main">
            <a:srgbClr val="0D2748"/>
          </a:solidFill>
          <a:ln xmlns:a="http://schemas.openxmlformats.org/drawingml/2006/main" w="9525">
            <a:solidFill>
              <a:srgbClr val="1B4C8A"/>
            </a:solidFill>
            <a:prstDash val="solid"/>
          </a:ln>
        </p:spPr>
      </p:sp>
      <p:sp>
        <p:nvSpPr>
          <p:cNvPr id="16" name="">
            <a:extLst xmlns:a="http://schemas.openxmlformats.org/drawingml/2006/main">
              <a:ext uri="{FF2B5EF4-FFF2-40B4-BE49-F238E27FC236}">
                <a16:creationId xmlns:a16="http://schemas.microsoft.com/office/drawing/2014/main" id="{2FC6DD24-D614-4768-9E9F-5926B69F3C2F}"/>
              </a:ext>
            </a:extLst>
          </p:cNvPr>
          <p:cNvSpPr>
            <a:spLocks xmlns:a="http://schemas.openxmlformats.org/drawingml/2006/main" noGrp="1"/>
          </p:cNvSpPr>
          <p:nvPr/>
        </p:nvSpPr>
        <p:spPr>
          <a:xfrm xmlns:a="http://schemas.openxmlformats.org/drawingml/2006/main">
            <a:off x="6381750" y="1333500"/>
            <a:ext cx="38100" cy="895350"/>
          </a:xfrm>
          <a:prstGeom xmlns:a="http://schemas.openxmlformats.org/drawingml/2006/main" prst="rect">
            <a:avLst/>
          </a:prstGeom>
          <a:solidFill xmlns:a="http://schemas.openxmlformats.org/drawingml/2006/main">
            <a:srgbClr val="31C7F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08DE871-F919-4BB7-812C-E6CDEA63379A}"/>
              </a:ext>
            </a:extLst>
          </p:cNvPr>
          <p:cNvSpPr>
            <a:spLocks xmlns:a="http://schemas.openxmlformats.org/drawingml/2006/main" noGrp="1"/>
          </p:cNvSpPr>
          <p:nvPr/>
        </p:nvSpPr>
        <p:spPr>
          <a:xfrm xmlns:a="http://schemas.openxmlformats.org/drawingml/2006/main">
            <a:off x="6572250" y="1438275"/>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31C7F0"/>
                </a:solidFill>
                <a:latin typeface="微软雅黑"/>
                <a:ea typeface="微软雅黑"/>
                <a:cs typeface="微软雅黑"/>
              </a:defRPr>
            </a:pPr>
            <a:r>
              <a:rPr sz="1088" b="1">
                <a:solidFill>
                  <a:srgbClr val="31C7F0"/>
                </a:solidFill>
                <a:latin typeface="微软雅黑"/>
                <a:ea typeface="微软雅黑"/>
                <a:cs typeface="微软雅黑"/>
              </a:rPr>
              <a:t>规则管理</a:t>
            </a:r>
          </a:p>
        </p:txBody>
      </p:sp>
      <p:sp>
        <p:nvSpPr>
          <p:cNvPr id="18" name="">
            <a:extLst xmlns:a="http://schemas.openxmlformats.org/drawingml/2006/main">
              <a:ext uri="{FF2B5EF4-FFF2-40B4-BE49-F238E27FC236}">
                <a16:creationId xmlns:a16="http://schemas.microsoft.com/office/drawing/2014/main" id="{BF80BAE8-260A-49A1-8B22-8D6B286AEA80}"/>
              </a:ext>
            </a:extLst>
          </p:cNvPr>
          <p:cNvSpPr>
            <a:spLocks xmlns:a="http://schemas.openxmlformats.org/drawingml/2006/main" noGrp="1"/>
          </p:cNvSpPr>
          <p:nvPr/>
        </p:nvSpPr>
        <p:spPr>
          <a:xfrm xmlns:a="http://schemas.openxmlformats.org/drawingml/2006/main">
            <a:off x="6572250" y="1704975"/>
            <a:ext cx="5181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维护 rule 表：条件 JSON、动作 JSON、优先级、分组、启停与试算；前端不直连规则引擎，只有管理员可调用 /api/v1/rules/** 做测试。</a:t>
            </a:r>
          </a:p>
        </p:txBody>
      </p:sp>
      <p:sp>
        <p:nvSpPr>
          <p:cNvPr id="19" name="">
            <a:extLst xmlns:a="http://schemas.openxmlformats.org/drawingml/2006/main">
              <a:ext uri="{FF2B5EF4-FFF2-40B4-BE49-F238E27FC236}">
                <a16:creationId xmlns:a16="http://schemas.microsoft.com/office/drawing/2014/main" id="{A1F9AB1D-14EC-4604-B127-F68E09B6EFAE}"/>
              </a:ext>
            </a:extLst>
          </p:cNvPr>
          <p:cNvSpPr>
            <a:spLocks xmlns:a="http://schemas.openxmlformats.org/drawingml/2006/main" noGrp="1"/>
          </p:cNvSpPr>
          <p:nvPr/>
        </p:nvSpPr>
        <p:spPr>
          <a:xfrm xmlns:a="http://schemas.openxmlformats.org/drawingml/2006/main">
            <a:off x="6381750" y="2324100"/>
            <a:ext cx="5524500" cy="895350"/>
          </a:xfrm>
          <a:prstGeom xmlns:a="http://schemas.openxmlformats.org/drawingml/2006/main" prst="roundRect">
            <a:avLst>
              <a:gd name="adj" fmla="val 8511"/>
            </a:avLst>
          </a:prstGeom>
          <a:solidFill xmlns:a="http://schemas.openxmlformats.org/drawingml/2006/main">
            <a:srgbClr val="0D2748"/>
          </a:solidFill>
          <a:ln xmlns:a="http://schemas.openxmlformats.org/drawingml/2006/main" w="9525">
            <a:solidFill>
              <a:srgbClr val="1B4C8A"/>
            </a:solidFill>
            <a:prstDash val="solid"/>
          </a:ln>
        </p:spPr>
      </p:sp>
      <p:sp>
        <p:nvSpPr>
          <p:cNvPr id="20" name="">
            <a:extLst xmlns:a="http://schemas.openxmlformats.org/drawingml/2006/main">
              <a:ext uri="{FF2B5EF4-FFF2-40B4-BE49-F238E27FC236}">
                <a16:creationId xmlns:a16="http://schemas.microsoft.com/office/drawing/2014/main" id="{E9E764A6-5E6C-4F81-9805-37A0C2681CDD}"/>
              </a:ext>
            </a:extLst>
          </p:cNvPr>
          <p:cNvSpPr>
            <a:spLocks xmlns:a="http://schemas.openxmlformats.org/drawingml/2006/main" noGrp="1"/>
          </p:cNvSpPr>
          <p:nvPr/>
        </p:nvSpPr>
        <p:spPr>
          <a:xfrm xmlns:a="http://schemas.openxmlformats.org/drawingml/2006/main">
            <a:off x="6381750" y="2324100"/>
            <a:ext cx="38100" cy="895350"/>
          </a:xfrm>
          <a:prstGeom xmlns:a="http://schemas.openxmlformats.org/drawingml/2006/main" prst="rect">
            <a:avLst/>
          </a:prstGeom>
          <a:solidFill xmlns:a="http://schemas.openxmlformats.org/drawingml/2006/main">
            <a:srgbClr val="31C7F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9DBC8A4-8274-47F2-A57E-5B1CFBA0F29B}"/>
              </a:ext>
            </a:extLst>
          </p:cNvPr>
          <p:cNvSpPr>
            <a:spLocks xmlns:a="http://schemas.openxmlformats.org/drawingml/2006/main" noGrp="1"/>
          </p:cNvSpPr>
          <p:nvPr/>
        </p:nvSpPr>
        <p:spPr>
          <a:xfrm xmlns:a="http://schemas.openxmlformats.org/drawingml/2006/main">
            <a:off x="6572250" y="2428875"/>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31C7F0"/>
                </a:solidFill>
                <a:latin typeface="微软雅黑"/>
                <a:ea typeface="微软雅黑"/>
                <a:cs typeface="微软雅黑"/>
              </a:defRPr>
            </a:pPr>
            <a:r>
              <a:rPr sz="1088" b="1">
                <a:solidFill>
                  <a:srgbClr val="31C7F0"/>
                </a:solidFill>
                <a:latin typeface="微软雅黑"/>
                <a:ea typeface="微软雅黑"/>
                <a:cs typeface="微软雅黑"/>
              </a:rPr>
              <a:t>模板与阈值</a:t>
            </a:r>
          </a:p>
        </p:txBody>
      </p:sp>
      <p:sp>
        <p:nvSpPr>
          <p:cNvPr id="22" name="">
            <a:extLst xmlns:a="http://schemas.openxmlformats.org/drawingml/2006/main">
              <a:ext uri="{FF2B5EF4-FFF2-40B4-BE49-F238E27FC236}">
                <a16:creationId xmlns:a16="http://schemas.microsoft.com/office/drawing/2014/main" id="{FFF3D82C-15A8-4628-AEAC-6BE4FD9805C0}"/>
              </a:ext>
            </a:extLst>
          </p:cNvPr>
          <p:cNvSpPr>
            <a:spLocks xmlns:a="http://schemas.openxmlformats.org/drawingml/2006/main" noGrp="1"/>
          </p:cNvSpPr>
          <p:nvPr/>
        </p:nvSpPr>
        <p:spPr>
          <a:xfrm xmlns:a="http://schemas.openxmlformats.org/drawingml/2006/main">
            <a:off x="6572250" y="2695575"/>
            <a:ext cx="5181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气体检测的标准气体与阈值（SF6 1000 ppm、微水 150 μL/L、H2S 10 ppm、CO 30 ppm、可燃气 10 %LEL）由模板装载器在启动时读库装载。</a:t>
            </a:r>
          </a:p>
        </p:txBody>
      </p:sp>
      <p:sp>
        <p:nvSpPr>
          <p:cNvPr id="23" name="">
            <a:extLst xmlns:a="http://schemas.openxmlformats.org/drawingml/2006/main">
              <a:ext uri="{FF2B5EF4-FFF2-40B4-BE49-F238E27FC236}">
                <a16:creationId xmlns:a16="http://schemas.microsoft.com/office/drawing/2014/main" id="{F9756CF7-2C43-4839-86F8-E78541E72FA9}"/>
              </a:ext>
            </a:extLst>
          </p:cNvPr>
          <p:cNvSpPr>
            <a:spLocks xmlns:a="http://schemas.openxmlformats.org/drawingml/2006/main" noGrp="1"/>
          </p:cNvSpPr>
          <p:nvPr/>
        </p:nvSpPr>
        <p:spPr>
          <a:xfrm xmlns:a="http://schemas.openxmlformats.org/drawingml/2006/main">
            <a:off x="6381750" y="3314700"/>
            <a:ext cx="5524500" cy="895350"/>
          </a:xfrm>
          <a:prstGeom xmlns:a="http://schemas.openxmlformats.org/drawingml/2006/main" prst="roundRect">
            <a:avLst>
              <a:gd name="adj" fmla="val 8511"/>
            </a:avLst>
          </a:prstGeom>
          <a:solidFill xmlns:a="http://schemas.openxmlformats.org/drawingml/2006/main">
            <a:srgbClr val="0D2748"/>
          </a:solidFill>
          <a:ln xmlns:a="http://schemas.openxmlformats.org/drawingml/2006/main" w="9525">
            <a:solidFill>
              <a:srgbClr val="1B4C8A"/>
            </a:solidFill>
            <a:prstDash val="solid"/>
          </a:ln>
        </p:spPr>
      </p:sp>
      <p:sp>
        <p:nvSpPr>
          <p:cNvPr id="24" name="">
            <a:extLst xmlns:a="http://schemas.openxmlformats.org/drawingml/2006/main">
              <a:ext uri="{FF2B5EF4-FFF2-40B4-BE49-F238E27FC236}">
                <a16:creationId xmlns:a16="http://schemas.microsoft.com/office/drawing/2014/main" id="{216ABF9B-9D6C-44CC-A86B-77590AC16E07}"/>
              </a:ext>
            </a:extLst>
          </p:cNvPr>
          <p:cNvSpPr>
            <a:spLocks xmlns:a="http://schemas.openxmlformats.org/drawingml/2006/main" noGrp="1"/>
          </p:cNvSpPr>
          <p:nvPr/>
        </p:nvSpPr>
        <p:spPr>
          <a:xfrm xmlns:a="http://schemas.openxmlformats.org/drawingml/2006/main">
            <a:off x="6381750" y="3314700"/>
            <a:ext cx="38100" cy="895350"/>
          </a:xfrm>
          <a:prstGeom xmlns:a="http://schemas.openxmlformats.org/drawingml/2006/main" prst="rect">
            <a:avLst/>
          </a:prstGeom>
          <a:solidFill xmlns:a="http://schemas.openxmlformats.org/drawingml/2006/main">
            <a:srgbClr val="31C7F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1D53F02-9756-44A6-AF74-755C2BC99FCA}"/>
              </a:ext>
            </a:extLst>
          </p:cNvPr>
          <p:cNvSpPr>
            <a:spLocks xmlns:a="http://schemas.openxmlformats.org/drawingml/2006/main" noGrp="1"/>
          </p:cNvSpPr>
          <p:nvPr/>
        </p:nvSpPr>
        <p:spPr>
          <a:xfrm xmlns:a="http://schemas.openxmlformats.org/drawingml/2006/main">
            <a:off x="6572250" y="3419475"/>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31C7F0"/>
                </a:solidFill>
                <a:latin typeface="微软雅黑"/>
                <a:ea typeface="微软雅黑"/>
                <a:cs typeface="微软雅黑"/>
              </a:defRPr>
            </a:pPr>
            <a:r>
              <a:rPr sz="1088" b="1">
                <a:solidFill>
                  <a:srgbClr val="31C7F0"/>
                </a:solidFill>
                <a:latin typeface="微软雅黑"/>
                <a:ea typeface="微软雅黑"/>
                <a:cs typeface="微软雅黑"/>
              </a:rPr>
              <a:t>审计日志</a:t>
            </a:r>
          </a:p>
        </p:txBody>
      </p:sp>
      <p:sp>
        <p:nvSpPr>
          <p:cNvPr id="26" name="">
            <a:extLst xmlns:a="http://schemas.openxmlformats.org/drawingml/2006/main">
              <a:ext uri="{FF2B5EF4-FFF2-40B4-BE49-F238E27FC236}">
                <a16:creationId xmlns:a16="http://schemas.microsoft.com/office/drawing/2014/main" id="{5EDF3B25-E7C4-411C-9711-960C9C1EF84F}"/>
              </a:ext>
            </a:extLst>
          </p:cNvPr>
          <p:cNvSpPr>
            <a:spLocks xmlns:a="http://schemas.openxmlformats.org/drawingml/2006/main" noGrp="1"/>
          </p:cNvSpPr>
          <p:nvPr/>
        </p:nvSpPr>
        <p:spPr>
          <a:xfrm xmlns:a="http://schemas.openxmlformats.org/drawingml/2006/main">
            <a:off x="6572250" y="3686175"/>
            <a:ext cx="5181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记录登录、修改、审批、决策、执行与回滚；决策留痕可下钻到具体的人、报告与记录。</a:t>
            </a:r>
          </a:p>
        </p:txBody>
      </p:sp>
      <p:sp>
        <p:nvSpPr>
          <p:cNvPr id="27" name="">
            <a:extLst xmlns:a="http://schemas.openxmlformats.org/drawingml/2006/main">
              <a:ext uri="{FF2B5EF4-FFF2-40B4-BE49-F238E27FC236}">
                <a16:creationId xmlns:a16="http://schemas.microsoft.com/office/drawing/2014/main" id="{C3C8C456-B865-4812-A5BE-AE6FB8044B4E}"/>
              </a:ext>
            </a:extLst>
          </p:cNvPr>
          <p:cNvSpPr>
            <a:spLocks xmlns:a="http://schemas.openxmlformats.org/drawingml/2006/main" noGrp="1"/>
          </p:cNvSpPr>
          <p:nvPr/>
        </p:nvSpPr>
        <p:spPr>
          <a:xfrm xmlns:a="http://schemas.openxmlformats.org/drawingml/2006/main">
            <a:off x="6381750" y="4305300"/>
            <a:ext cx="5524500" cy="895350"/>
          </a:xfrm>
          <a:prstGeom xmlns:a="http://schemas.openxmlformats.org/drawingml/2006/main" prst="roundRect">
            <a:avLst>
              <a:gd name="adj" fmla="val 8511"/>
            </a:avLst>
          </a:prstGeom>
          <a:solidFill xmlns:a="http://schemas.openxmlformats.org/drawingml/2006/main">
            <a:srgbClr val="0D2748"/>
          </a:solidFill>
          <a:ln xmlns:a="http://schemas.openxmlformats.org/drawingml/2006/main" w="9525">
            <a:solidFill>
              <a:srgbClr val="1B4C8A"/>
            </a:solidFill>
            <a:prstDash val="solid"/>
          </a:ln>
        </p:spPr>
      </p:sp>
      <p:sp>
        <p:nvSpPr>
          <p:cNvPr id="28" name="">
            <a:extLst xmlns:a="http://schemas.openxmlformats.org/drawingml/2006/main">
              <a:ext uri="{FF2B5EF4-FFF2-40B4-BE49-F238E27FC236}">
                <a16:creationId xmlns:a16="http://schemas.microsoft.com/office/drawing/2014/main" id="{CFA03A85-5881-4724-A2C3-5FA942B373A5}"/>
              </a:ext>
            </a:extLst>
          </p:cNvPr>
          <p:cNvSpPr>
            <a:spLocks xmlns:a="http://schemas.openxmlformats.org/drawingml/2006/main" noGrp="1"/>
          </p:cNvSpPr>
          <p:nvPr/>
        </p:nvSpPr>
        <p:spPr>
          <a:xfrm xmlns:a="http://schemas.openxmlformats.org/drawingml/2006/main">
            <a:off x="6381750" y="4305300"/>
            <a:ext cx="38100" cy="895350"/>
          </a:xfrm>
          <a:prstGeom xmlns:a="http://schemas.openxmlformats.org/drawingml/2006/main" prst="rect">
            <a:avLst/>
          </a:prstGeom>
          <a:solidFill xmlns:a="http://schemas.openxmlformats.org/drawingml/2006/main">
            <a:srgbClr val="F2705E"/>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00FAC50-D2C1-4F01-BD23-F7AB6AAE035D}"/>
              </a:ext>
            </a:extLst>
          </p:cNvPr>
          <p:cNvSpPr>
            <a:spLocks xmlns:a="http://schemas.openxmlformats.org/drawingml/2006/main" noGrp="1"/>
          </p:cNvSpPr>
          <p:nvPr/>
        </p:nvSpPr>
        <p:spPr>
          <a:xfrm xmlns:a="http://schemas.openxmlformats.org/drawingml/2006/main">
            <a:off x="6572250" y="4410075"/>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F2705E"/>
                </a:solidFill>
                <a:latin typeface="微软雅黑"/>
                <a:ea typeface="微软雅黑"/>
                <a:cs typeface="微软雅黑"/>
              </a:defRPr>
            </a:pPr>
            <a:r>
              <a:rPr sz="1088" b="1">
                <a:solidFill>
                  <a:srgbClr val="F2705E"/>
                </a:solidFill>
                <a:latin typeface="微软雅黑"/>
                <a:ea typeface="微软雅黑"/>
                <a:cs typeface="微软雅黑"/>
              </a:rPr>
              <a:t>待补能力（如实标注）</a:t>
            </a:r>
          </a:p>
        </p:txBody>
      </p:sp>
      <p:sp>
        <p:nvSpPr>
          <p:cNvPr id="30" name="">
            <a:extLst xmlns:a="http://schemas.openxmlformats.org/drawingml/2006/main">
              <a:ext uri="{FF2B5EF4-FFF2-40B4-BE49-F238E27FC236}">
                <a16:creationId xmlns:a16="http://schemas.microsoft.com/office/drawing/2014/main" id="{886CD93E-7A14-483D-B6EE-49B814C9FF02}"/>
              </a:ext>
            </a:extLst>
          </p:cNvPr>
          <p:cNvSpPr>
            <a:spLocks xmlns:a="http://schemas.openxmlformats.org/drawingml/2006/main" noGrp="1"/>
          </p:cNvSpPr>
          <p:nvPr/>
        </p:nvSpPr>
        <p:spPr>
          <a:xfrm xmlns:a="http://schemas.openxmlformats.org/drawingml/2006/main">
            <a:off x="6572250" y="4676775"/>
            <a:ext cx="5181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规则的增删改与启停开关目前仍需进库操作；对外部署前需接入内网统一身份。</a:t>
            </a:r>
          </a:p>
        </p:txBody>
      </p:sp>
      <p:sp>
        <p:nvSpPr>
          <p:cNvPr id="31" name="">
            <a:extLst xmlns:a="http://schemas.openxmlformats.org/drawingml/2006/main">
              <a:ext uri="{FF2B5EF4-FFF2-40B4-BE49-F238E27FC236}">
                <a16:creationId xmlns:a16="http://schemas.microsoft.com/office/drawing/2014/main" id="{F5EE8B76-658A-4676-A699-009C91D4669F}"/>
              </a:ext>
            </a:extLst>
          </p:cNvPr>
          <p:cNvSpPr>
            <a:spLocks xmlns:a="http://schemas.openxmlformats.org/drawingml/2006/main" noGrp="1"/>
          </p:cNvSpPr>
          <p:nvPr/>
        </p:nvSpPr>
        <p:spPr>
          <a:xfrm xmlns:a="http://schemas.openxmlformats.org/drawingml/2006/main">
            <a:off x="285750" y="5467350"/>
            <a:ext cx="11620500" cy="1047750"/>
          </a:xfrm>
          <a:prstGeom xmlns:a="http://schemas.openxmlformats.org/drawingml/2006/main" prst="roundRect">
            <a:avLst>
              <a:gd name="adj" fmla="val 7273"/>
            </a:avLst>
          </a:prstGeom>
          <a:solidFill xmlns:a="http://schemas.openxmlformats.org/drawingml/2006/main">
            <a:srgbClr val="0A2547"/>
          </a:solidFill>
          <a:ln xmlns:a="http://schemas.openxmlformats.org/drawingml/2006/main" w="9525">
            <a:solidFill>
              <a:srgbClr val="2A6BAE"/>
            </a:solidFill>
            <a:prstDash val="solid"/>
          </a:ln>
        </p:spPr>
      </p:sp>
      <p:sp>
        <p:nvSpPr>
          <p:cNvPr id="32" name="">
            <a:extLst xmlns:a="http://schemas.openxmlformats.org/drawingml/2006/main">
              <a:ext uri="{FF2B5EF4-FFF2-40B4-BE49-F238E27FC236}">
                <a16:creationId xmlns:a16="http://schemas.microsoft.com/office/drawing/2014/main" id="{7EB20E17-B993-47E2-BC3B-2E0311AEBD26}"/>
              </a:ext>
            </a:extLst>
          </p:cNvPr>
          <p:cNvSpPr>
            <a:spLocks xmlns:a="http://schemas.openxmlformats.org/drawingml/2006/main" noGrp="1"/>
          </p:cNvSpPr>
          <p:nvPr/>
        </p:nvSpPr>
        <p:spPr>
          <a:xfrm xmlns:a="http://schemas.openxmlformats.org/drawingml/2006/main">
            <a:off x="457200" y="5562600"/>
            <a:ext cx="1123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配置入库是既有范式，不是本页口号</a:t>
            </a:r>
          </a:p>
        </p:txBody>
      </p:sp>
      <p:sp>
        <p:nvSpPr>
          <p:cNvPr id="33" name="">
            <a:extLst xmlns:a="http://schemas.openxmlformats.org/drawingml/2006/main">
              <a:ext uri="{FF2B5EF4-FFF2-40B4-BE49-F238E27FC236}">
                <a16:creationId xmlns:a16="http://schemas.microsoft.com/office/drawing/2014/main" id="{C463B321-09C8-450B-AA0A-28F308CBBB0E}"/>
              </a:ext>
            </a:extLst>
          </p:cNvPr>
          <p:cNvSpPr>
            <a:spLocks xmlns:a="http://schemas.openxmlformats.org/drawingml/2006/main" noGrp="1"/>
          </p:cNvSpPr>
          <p:nvPr/>
        </p:nvSpPr>
        <p:spPr>
          <a:xfrm xmlns:a="http://schemas.openxmlformats.org/drawingml/2006/main">
            <a:off x="457200" y="5829300"/>
            <a:ext cx="11239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模板与阈值类内容（gas_rule / report_template_*）由 ReportTemplateLoader 在启动时装载进 ReportTemplate，管理员改库即改模板与阈值；规则引擎沿用同一条路子——判断逻辑进库、代码不硬编码，这也是「改库即改规则」能够成立的原因。</a:t>
            </a:r>
          </a:p>
        </p:txBody>
      </p:sp>
      <p:sp>
        <p:nvSpPr>
          <p:cNvPr id="34" name="">
            <a:extLst xmlns:a="http://schemas.openxmlformats.org/drawingml/2006/main">
              <a:ext uri="{FF2B5EF4-FFF2-40B4-BE49-F238E27FC236}">
                <a16:creationId xmlns:a16="http://schemas.microsoft.com/office/drawing/2014/main" id="{7003B2B2-D9F1-47BC-8401-473222753C7B}"/>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E0C257BF-FC65-4315-BE32-55BBD79D3185}"/>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36" name="">
            <a:extLst xmlns:a="http://schemas.openxmlformats.org/drawingml/2006/main">
              <a:ext uri="{FF2B5EF4-FFF2-40B4-BE49-F238E27FC236}">
                <a16:creationId xmlns:a16="http://schemas.microsoft.com/office/drawing/2014/main" id="{FE3A6812-58FA-4EC7-9316-AE28E6E489A9}"/>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25</a:t>
            </a:r>
          </a:p>
        </p:txBody>
      </p:sp>
    </p:spTree>
    <p:extLst>
      <p:ext uri="{BB962C8B-B14F-4D97-AF65-F5344CB8AC3E}">
        <p14:creationId xmlns:p14="http://schemas.microsoft.com/office/powerpoint/2010/main" val="411107709"/>
      </p:ext>
    </p:extLst>
  </p:cSld>
</p:sld>
</file>

<file path=ppt/slides/slide26.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59" name="">
            <a:extLst xmlns:a="http://schemas.openxmlformats.org/drawingml/2006/main">
              <a:ext uri="{FF2B5EF4-FFF2-40B4-BE49-F238E27FC236}">
                <a16:creationId xmlns:a16="http://schemas.microsoft.com/office/drawing/2014/main" id="{72FD8C93-6B6F-44E7-8A7F-E4A8DEA4D732}"/>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8FE56A2-66AA-4090-A1EA-41B0A4CC7B7A}"/>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157ECCC-88E4-4DA6-AA81-6C3CD84E9BB8}"/>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4A83C88-FBB6-4E48-BF31-7D8DB4DF5F2A}"/>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7F00814-7CF4-4288-ACFD-F13BECE7A6BA}"/>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4D01EE4C-4EEF-4D75-A0E1-CBD3FE8F9679}"/>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系统实现</a:t>
            </a:r>
          </a:p>
        </p:txBody>
      </p:sp>
      <p:sp>
        <p:nvSpPr>
          <p:cNvPr id="7" name="">
            <a:extLst xmlns:a="http://schemas.openxmlformats.org/drawingml/2006/main">
              <a:ext uri="{FF2B5EF4-FFF2-40B4-BE49-F238E27FC236}">
                <a16:creationId xmlns:a16="http://schemas.microsoft.com/office/drawing/2014/main" id="{71109C36-3F89-49C9-8522-BA259020039C}"/>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BB93001-BAAE-4EB4-A474-DF89D539B70D}"/>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四类角色与数据流闭环</a:t>
            </a:r>
          </a:p>
        </p:txBody>
      </p:sp>
      <p:sp>
        <p:nvSpPr>
          <p:cNvPr id="9" name="">
            <a:extLst xmlns:a="http://schemas.openxmlformats.org/drawingml/2006/main">
              <a:ext uri="{FF2B5EF4-FFF2-40B4-BE49-F238E27FC236}">
                <a16:creationId xmlns:a16="http://schemas.microsoft.com/office/drawing/2014/main" id="{0AB28B82-AB1F-4110-848A-2B951C8227E9}"/>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B177BB12-E75D-4DF2-BDD3-F2DF50715003}"/>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四端共用一套数据底座，从个人能力提升、班组执行到管理决策，全程可确认、可追溯。</a:t>
            </a:r>
          </a:p>
        </p:txBody>
      </p:sp>
      <p:sp>
        <p:nvSpPr>
          <p:cNvPr id="11" name="">
            <a:extLst xmlns:a="http://schemas.openxmlformats.org/drawingml/2006/main">
              <a:ext uri="{FF2B5EF4-FFF2-40B4-BE49-F238E27FC236}">
                <a16:creationId xmlns:a16="http://schemas.microsoft.com/office/drawing/2014/main" id="{3AAEB364-DF6A-4890-A7AC-D4CEDDF95FD7}"/>
              </a:ext>
            </a:extLst>
          </p:cNvPr>
          <p:cNvSpPr>
            <a:spLocks xmlns:a="http://schemas.openxmlformats.org/drawingml/2006/main" noGrp="1"/>
          </p:cNvSpPr>
          <p:nvPr/>
        </p:nvSpPr>
        <p:spPr>
          <a:xfrm xmlns:a="http://schemas.openxmlformats.org/drawingml/2006/main">
            <a:off x="285750" y="1333500"/>
            <a:ext cx="2781300" cy="2857500"/>
          </a:xfrm>
          <a:prstGeom xmlns:a="http://schemas.openxmlformats.org/drawingml/2006/main" prst="roundRect">
            <a:avLst>
              <a:gd name="adj" fmla="val 2740"/>
            </a:avLst>
          </a:prstGeom>
          <a:solidFill xmlns:a="http://schemas.openxmlformats.org/drawingml/2006/main">
            <a:srgbClr val="0D2748"/>
          </a:solidFill>
          <a:ln xmlns:a="http://schemas.openxmlformats.org/drawingml/2006/main" w="9525">
            <a:solidFill>
              <a:srgbClr val="1B4C8A"/>
            </a:solidFill>
            <a:prstDash val="solid"/>
          </a:ln>
        </p:spPr>
      </p:sp>
      <p:sp>
        <p:nvSpPr>
          <p:cNvPr id="12" name="">
            <a:extLst xmlns:a="http://schemas.openxmlformats.org/drawingml/2006/main">
              <a:ext uri="{FF2B5EF4-FFF2-40B4-BE49-F238E27FC236}">
                <a16:creationId xmlns:a16="http://schemas.microsoft.com/office/drawing/2014/main" id="{43AD7DB2-ADF6-454B-85BB-9AA5D37B4016}"/>
              </a:ext>
            </a:extLst>
          </p:cNvPr>
          <p:cNvSpPr>
            <a:spLocks xmlns:a="http://schemas.openxmlformats.org/drawingml/2006/main" noGrp="1"/>
          </p:cNvSpPr>
          <p:nvPr/>
        </p:nvSpPr>
        <p:spPr>
          <a:xfrm xmlns:a="http://schemas.openxmlformats.org/drawingml/2006/main">
            <a:off x="285750" y="1333500"/>
            <a:ext cx="2781300" cy="47625"/>
          </a:xfrm>
          <a:prstGeom xmlns:a="http://schemas.openxmlformats.org/drawingml/2006/main" prst="rect">
            <a:avLst/>
          </a:prstGeom>
          <a:solidFill xmlns:a="http://schemas.openxmlformats.org/drawingml/2006/main">
            <a:srgbClr val="31C7F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C4FB61F-4700-4FFC-88FF-9372984402CE}"/>
              </a:ext>
            </a:extLst>
          </p:cNvPr>
          <p:cNvSpPr>
            <a:spLocks xmlns:a="http://schemas.openxmlformats.org/drawingml/2006/main" noGrp="1"/>
          </p:cNvSpPr>
          <p:nvPr/>
        </p:nvSpPr>
        <p:spPr>
          <a:xfrm xmlns:a="http://schemas.openxmlformats.org/drawingml/2006/main">
            <a:off x="476250" y="15049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31C7F0"/>
                </a:solidFill>
                <a:latin typeface="微软雅黑"/>
                <a:ea typeface="微软雅黑"/>
                <a:cs typeface="微软雅黑"/>
              </a:defRPr>
            </a:pPr>
            <a:r>
              <a:rPr sz="1500" b="1">
                <a:solidFill>
                  <a:srgbClr val="31C7F0"/>
                </a:solidFill>
                <a:latin typeface="微软雅黑"/>
                <a:ea typeface="微软雅黑"/>
                <a:cs typeface="微软雅黑"/>
              </a:rPr>
              <a:t>员工端</a:t>
            </a:r>
          </a:p>
        </p:txBody>
      </p:sp>
      <p:sp>
        <p:nvSpPr>
          <p:cNvPr id="14" name="">
            <a:extLst xmlns:a="http://schemas.openxmlformats.org/drawingml/2006/main">
              <a:ext uri="{FF2B5EF4-FFF2-40B4-BE49-F238E27FC236}">
                <a16:creationId xmlns:a16="http://schemas.microsoft.com/office/drawing/2014/main" id="{E6521D21-87F7-429F-8C8A-9B1C827890DD}"/>
              </a:ext>
            </a:extLst>
          </p:cNvPr>
          <p:cNvSpPr>
            <a:spLocks xmlns:a="http://schemas.openxmlformats.org/drawingml/2006/main" noGrp="1"/>
          </p:cNvSpPr>
          <p:nvPr/>
        </p:nvSpPr>
        <p:spPr>
          <a:xfrm xmlns:a="http://schemas.openxmlformats.org/drawingml/2006/main">
            <a:off x="476250" y="1828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张伟</a:t>
            </a:r>
          </a:p>
        </p:txBody>
      </p:sp>
      <p:sp>
        <p:nvSpPr>
          <p:cNvPr id="15" name="">
            <a:extLst xmlns:a="http://schemas.openxmlformats.org/drawingml/2006/main">
              <a:ext uri="{FF2B5EF4-FFF2-40B4-BE49-F238E27FC236}">
                <a16:creationId xmlns:a16="http://schemas.microsoft.com/office/drawing/2014/main" id="{387B84E8-0267-40F6-81DC-174AE7D49E1C}"/>
              </a:ext>
            </a:extLst>
          </p:cNvPr>
          <p:cNvSpPr>
            <a:spLocks xmlns:a="http://schemas.openxmlformats.org/drawingml/2006/main" noGrp="1"/>
          </p:cNvSpPr>
          <p:nvPr/>
        </p:nvSpPr>
        <p:spPr>
          <a:xfrm xmlns:a="http://schemas.openxmlformats.org/drawingml/2006/main">
            <a:off x="476250" y="2114550"/>
            <a:ext cx="419100" cy="19050"/>
          </a:xfrm>
          <a:prstGeom xmlns:a="http://schemas.openxmlformats.org/drawingml/2006/main" prst="rect">
            <a:avLst/>
          </a:prstGeom>
          <a:solidFill xmlns:a="http://schemas.openxmlformats.org/drawingml/2006/main">
            <a:srgbClr val="31C7F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CE21A7D-45DE-4248-845D-14324A44A5E8}"/>
              </a:ext>
            </a:extLst>
          </p:cNvPr>
          <p:cNvSpPr>
            <a:spLocks xmlns:a="http://schemas.openxmlformats.org/drawingml/2006/main" noGrp="1"/>
          </p:cNvSpPr>
          <p:nvPr/>
        </p:nvSpPr>
        <p:spPr>
          <a:xfrm xmlns:a="http://schemas.openxmlformats.org/drawingml/2006/main">
            <a:off x="476250" y="2266950"/>
            <a:ext cx="24193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查看个人能力画像与学习建议</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完成练习与考试</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查看错题原因与能力短板</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提交实操报告</a:t>
            </a:r>
          </a:p>
        </p:txBody>
      </p:sp>
      <p:sp>
        <p:nvSpPr>
          <p:cNvPr id="17" name="">
            <a:extLst xmlns:a="http://schemas.openxmlformats.org/drawingml/2006/main">
              <a:ext uri="{FF2B5EF4-FFF2-40B4-BE49-F238E27FC236}">
                <a16:creationId xmlns:a16="http://schemas.microsoft.com/office/drawing/2014/main" id="{46E2083E-92FB-4F48-80AF-0CA0AD8C0F96}"/>
              </a:ext>
            </a:extLst>
          </p:cNvPr>
          <p:cNvSpPr>
            <a:spLocks xmlns:a="http://schemas.openxmlformats.org/drawingml/2006/main" noGrp="1"/>
          </p:cNvSpPr>
          <p:nvPr/>
        </p:nvSpPr>
        <p:spPr>
          <a:xfrm xmlns:a="http://schemas.openxmlformats.org/drawingml/2006/main">
            <a:off x="3238500" y="1333500"/>
            <a:ext cx="2781300" cy="2857500"/>
          </a:xfrm>
          <a:prstGeom xmlns:a="http://schemas.openxmlformats.org/drawingml/2006/main" prst="roundRect">
            <a:avLst>
              <a:gd name="adj" fmla="val 2740"/>
            </a:avLst>
          </a:prstGeom>
          <a:solidFill xmlns:a="http://schemas.openxmlformats.org/drawingml/2006/main">
            <a:srgbClr val="0D2748"/>
          </a:solidFill>
          <a:ln xmlns:a="http://schemas.openxmlformats.org/drawingml/2006/main" w="9525">
            <a:solidFill>
              <a:srgbClr val="1B4C8A"/>
            </a:solidFill>
            <a:prstDash val="solid"/>
          </a:ln>
        </p:spPr>
      </p:sp>
      <p:sp>
        <p:nvSpPr>
          <p:cNvPr id="18" name="">
            <a:extLst xmlns:a="http://schemas.openxmlformats.org/drawingml/2006/main">
              <a:ext uri="{FF2B5EF4-FFF2-40B4-BE49-F238E27FC236}">
                <a16:creationId xmlns:a16="http://schemas.microsoft.com/office/drawing/2014/main" id="{F49C1C3A-A850-4DE6-9798-428AE00A53BE}"/>
              </a:ext>
            </a:extLst>
          </p:cNvPr>
          <p:cNvSpPr>
            <a:spLocks xmlns:a="http://schemas.openxmlformats.org/drawingml/2006/main" noGrp="1"/>
          </p:cNvSpPr>
          <p:nvPr/>
        </p:nvSpPr>
        <p:spPr>
          <a:xfrm xmlns:a="http://schemas.openxmlformats.org/drawingml/2006/main">
            <a:off x="3238500" y="1333500"/>
            <a:ext cx="2781300" cy="4762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EAFCCE3-2E8D-43CA-80FE-CFD878067605}"/>
              </a:ext>
            </a:extLst>
          </p:cNvPr>
          <p:cNvSpPr>
            <a:spLocks xmlns:a="http://schemas.openxmlformats.org/drawingml/2006/main" noGrp="1"/>
          </p:cNvSpPr>
          <p:nvPr/>
        </p:nvSpPr>
        <p:spPr>
          <a:xfrm xmlns:a="http://schemas.openxmlformats.org/drawingml/2006/main">
            <a:off x="3429000" y="15049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2E86E8"/>
                </a:solidFill>
                <a:latin typeface="微软雅黑"/>
                <a:ea typeface="微软雅黑"/>
                <a:cs typeface="微软雅黑"/>
              </a:defRPr>
            </a:pPr>
            <a:r>
              <a:rPr sz="1500" b="1">
                <a:solidFill>
                  <a:srgbClr val="2E86E8"/>
                </a:solidFill>
                <a:latin typeface="微软雅黑"/>
                <a:ea typeface="微软雅黑"/>
                <a:cs typeface="微软雅黑"/>
              </a:rPr>
              <a:t>班组长端</a:t>
            </a:r>
          </a:p>
        </p:txBody>
      </p:sp>
      <p:sp>
        <p:nvSpPr>
          <p:cNvPr id="20" name="">
            <a:extLst xmlns:a="http://schemas.openxmlformats.org/drawingml/2006/main">
              <a:ext uri="{FF2B5EF4-FFF2-40B4-BE49-F238E27FC236}">
                <a16:creationId xmlns:a16="http://schemas.microsoft.com/office/drawing/2014/main" id="{BCFFB8FB-94AD-4F0E-99A1-B81BEEEC97B8}"/>
              </a:ext>
            </a:extLst>
          </p:cNvPr>
          <p:cNvSpPr>
            <a:spLocks xmlns:a="http://schemas.openxmlformats.org/drawingml/2006/main" noGrp="1"/>
          </p:cNvSpPr>
          <p:nvPr/>
        </p:nvSpPr>
        <p:spPr>
          <a:xfrm xmlns:a="http://schemas.openxmlformats.org/drawingml/2006/main">
            <a:off x="3429000" y="1828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李民（部长）</a:t>
            </a:r>
          </a:p>
        </p:txBody>
      </p:sp>
      <p:sp>
        <p:nvSpPr>
          <p:cNvPr id="21" name="">
            <a:extLst xmlns:a="http://schemas.openxmlformats.org/drawingml/2006/main">
              <a:ext uri="{FF2B5EF4-FFF2-40B4-BE49-F238E27FC236}">
                <a16:creationId xmlns:a16="http://schemas.microsoft.com/office/drawing/2014/main" id="{C9D6EE01-A363-4AA1-83E1-5A25BC24A45B}"/>
              </a:ext>
            </a:extLst>
          </p:cNvPr>
          <p:cNvSpPr>
            <a:spLocks xmlns:a="http://schemas.openxmlformats.org/drawingml/2006/main" noGrp="1"/>
          </p:cNvSpPr>
          <p:nvPr/>
        </p:nvSpPr>
        <p:spPr>
          <a:xfrm xmlns:a="http://schemas.openxmlformats.org/drawingml/2006/main">
            <a:off x="3429000" y="2114550"/>
            <a:ext cx="419100" cy="19050"/>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3A4C9A1-F64D-449B-9B88-0996950FB2B6}"/>
              </a:ext>
            </a:extLst>
          </p:cNvPr>
          <p:cNvSpPr>
            <a:spLocks xmlns:a="http://schemas.openxmlformats.org/drawingml/2006/main" noGrp="1"/>
          </p:cNvSpPr>
          <p:nvPr/>
        </p:nvSpPr>
        <p:spPr>
          <a:xfrm xmlns:a="http://schemas.openxmlformats.org/drawingml/2006/main">
            <a:off x="3429000" y="2266950"/>
            <a:ext cx="24193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填报 / 审核实操检测报告</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查看异常归因建议并确认</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查看本班组能力结构与报告台账</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发布任务与评分</a:t>
            </a:r>
          </a:p>
        </p:txBody>
      </p:sp>
      <p:sp>
        <p:nvSpPr>
          <p:cNvPr id="23" name="">
            <a:extLst xmlns:a="http://schemas.openxmlformats.org/drawingml/2006/main">
              <a:ext uri="{FF2B5EF4-FFF2-40B4-BE49-F238E27FC236}">
                <a16:creationId xmlns:a16="http://schemas.microsoft.com/office/drawing/2014/main" id="{8CA3BA7B-4B49-4328-8C05-031EDD2D2B84}"/>
              </a:ext>
            </a:extLst>
          </p:cNvPr>
          <p:cNvSpPr>
            <a:spLocks xmlns:a="http://schemas.openxmlformats.org/drawingml/2006/main" noGrp="1"/>
          </p:cNvSpPr>
          <p:nvPr/>
        </p:nvSpPr>
        <p:spPr>
          <a:xfrm xmlns:a="http://schemas.openxmlformats.org/drawingml/2006/main">
            <a:off x="6191250" y="1333500"/>
            <a:ext cx="2781300" cy="2857500"/>
          </a:xfrm>
          <a:prstGeom xmlns:a="http://schemas.openxmlformats.org/drawingml/2006/main" prst="roundRect">
            <a:avLst>
              <a:gd name="adj" fmla="val 2740"/>
            </a:avLst>
          </a:prstGeom>
          <a:solidFill xmlns:a="http://schemas.openxmlformats.org/drawingml/2006/main">
            <a:srgbClr val="0D2748"/>
          </a:solidFill>
          <a:ln xmlns:a="http://schemas.openxmlformats.org/drawingml/2006/main" w="9525">
            <a:solidFill>
              <a:srgbClr val="1B4C8A"/>
            </a:solidFill>
            <a:prstDash val="solid"/>
          </a:ln>
        </p:spPr>
      </p:sp>
      <p:sp>
        <p:nvSpPr>
          <p:cNvPr id="24" name="">
            <a:extLst xmlns:a="http://schemas.openxmlformats.org/drawingml/2006/main">
              <a:ext uri="{FF2B5EF4-FFF2-40B4-BE49-F238E27FC236}">
                <a16:creationId xmlns:a16="http://schemas.microsoft.com/office/drawing/2014/main" id="{20D1173D-DCCB-437A-8078-3D4488D7D78C}"/>
              </a:ext>
            </a:extLst>
          </p:cNvPr>
          <p:cNvSpPr>
            <a:spLocks xmlns:a="http://schemas.openxmlformats.org/drawingml/2006/main" noGrp="1"/>
          </p:cNvSpPr>
          <p:nvPr/>
        </p:nvSpPr>
        <p:spPr>
          <a:xfrm xmlns:a="http://schemas.openxmlformats.org/drawingml/2006/main">
            <a:off x="6191250" y="1333500"/>
            <a:ext cx="2781300" cy="47625"/>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FA04B30-9D8A-439C-A404-8322F1AA5BBE}"/>
              </a:ext>
            </a:extLst>
          </p:cNvPr>
          <p:cNvSpPr>
            <a:spLocks xmlns:a="http://schemas.openxmlformats.org/drawingml/2006/main" noGrp="1"/>
          </p:cNvSpPr>
          <p:nvPr/>
        </p:nvSpPr>
        <p:spPr>
          <a:xfrm xmlns:a="http://schemas.openxmlformats.org/drawingml/2006/main">
            <a:off x="6381750" y="15049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5C33B"/>
                </a:solidFill>
                <a:latin typeface="微软雅黑"/>
                <a:ea typeface="微软雅黑"/>
                <a:cs typeface="微软雅黑"/>
              </a:defRPr>
            </a:pPr>
            <a:r>
              <a:rPr sz="1500" b="1">
                <a:solidFill>
                  <a:srgbClr val="F5C33B"/>
                </a:solidFill>
                <a:latin typeface="微软雅黑"/>
                <a:ea typeface="微软雅黑"/>
                <a:cs typeface="微软雅黑"/>
              </a:rPr>
              <a:t>管理端</a:t>
            </a:r>
          </a:p>
        </p:txBody>
      </p:sp>
      <p:sp>
        <p:nvSpPr>
          <p:cNvPr id="26" name="">
            <a:extLst xmlns:a="http://schemas.openxmlformats.org/drawingml/2006/main">
              <a:ext uri="{FF2B5EF4-FFF2-40B4-BE49-F238E27FC236}">
                <a16:creationId xmlns:a16="http://schemas.microsoft.com/office/drawing/2014/main" id="{AF998D8D-461A-407F-AC1D-E13124ADF16D}"/>
              </a:ext>
            </a:extLst>
          </p:cNvPr>
          <p:cNvSpPr>
            <a:spLocks xmlns:a="http://schemas.openxmlformats.org/drawingml/2006/main" noGrp="1"/>
          </p:cNvSpPr>
          <p:nvPr/>
        </p:nvSpPr>
        <p:spPr>
          <a:xfrm xmlns:a="http://schemas.openxmlformats.org/drawingml/2006/main">
            <a:off x="6381750" y="1828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王总</a:t>
            </a:r>
          </a:p>
        </p:txBody>
      </p:sp>
      <p:sp>
        <p:nvSpPr>
          <p:cNvPr id="27" name="">
            <a:extLst xmlns:a="http://schemas.openxmlformats.org/drawingml/2006/main">
              <a:ext uri="{FF2B5EF4-FFF2-40B4-BE49-F238E27FC236}">
                <a16:creationId xmlns:a16="http://schemas.microsoft.com/office/drawing/2014/main" id="{BC0BA664-56F6-4642-8934-8D39AFCBE3E0}"/>
              </a:ext>
            </a:extLst>
          </p:cNvPr>
          <p:cNvSpPr>
            <a:spLocks xmlns:a="http://schemas.openxmlformats.org/drawingml/2006/main" noGrp="1"/>
          </p:cNvSpPr>
          <p:nvPr/>
        </p:nvSpPr>
        <p:spPr>
          <a:xfrm xmlns:a="http://schemas.openxmlformats.org/drawingml/2006/main">
            <a:off x="6381750" y="2114550"/>
            <a:ext cx="4191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59EC556-DA8C-464B-8E4D-7DD804CD6D07}"/>
              </a:ext>
            </a:extLst>
          </p:cNvPr>
          <p:cNvSpPr>
            <a:spLocks xmlns:a="http://schemas.openxmlformats.org/drawingml/2006/main" noGrp="1"/>
          </p:cNvSpPr>
          <p:nvPr/>
        </p:nvSpPr>
        <p:spPr>
          <a:xfrm xmlns:a="http://schemas.openxmlformats.org/drawingml/2006/main">
            <a:off x="6381750" y="2266950"/>
            <a:ext cx="24193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查看公司能力、成本、风险</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查看关键岗位备份情况</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查看建议来源与确认状态</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招聘 / 转岗 / 外委建议</a:t>
            </a:r>
          </a:p>
        </p:txBody>
      </p:sp>
      <p:sp>
        <p:nvSpPr>
          <p:cNvPr id="29" name="">
            <a:extLst xmlns:a="http://schemas.openxmlformats.org/drawingml/2006/main">
              <a:ext uri="{FF2B5EF4-FFF2-40B4-BE49-F238E27FC236}">
                <a16:creationId xmlns:a16="http://schemas.microsoft.com/office/drawing/2014/main" id="{BCB842FB-9C36-4BD8-9BB4-E416179FDA53}"/>
              </a:ext>
            </a:extLst>
          </p:cNvPr>
          <p:cNvSpPr>
            <a:spLocks xmlns:a="http://schemas.openxmlformats.org/drawingml/2006/main" noGrp="1"/>
          </p:cNvSpPr>
          <p:nvPr/>
        </p:nvSpPr>
        <p:spPr>
          <a:xfrm xmlns:a="http://schemas.openxmlformats.org/drawingml/2006/main">
            <a:off x="9144000" y="1333500"/>
            <a:ext cx="2781300" cy="2857500"/>
          </a:xfrm>
          <a:prstGeom xmlns:a="http://schemas.openxmlformats.org/drawingml/2006/main" prst="roundRect">
            <a:avLst>
              <a:gd name="adj" fmla="val 2740"/>
            </a:avLst>
          </a:prstGeom>
          <a:solidFill xmlns:a="http://schemas.openxmlformats.org/drawingml/2006/main">
            <a:srgbClr val="0D2748"/>
          </a:solidFill>
          <a:ln xmlns:a="http://schemas.openxmlformats.org/drawingml/2006/main" w="9525">
            <a:solidFill>
              <a:srgbClr val="1B4C8A"/>
            </a:solidFill>
            <a:prstDash val="solid"/>
          </a:ln>
        </p:spPr>
      </p:sp>
      <p:sp>
        <p:nvSpPr>
          <p:cNvPr id="30" name="">
            <a:extLst xmlns:a="http://schemas.openxmlformats.org/drawingml/2006/main">
              <a:ext uri="{FF2B5EF4-FFF2-40B4-BE49-F238E27FC236}">
                <a16:creationId xmlns:a16="http://schemas.microsoft.com/office/drawing/2014/main" id="{28E2E6E1-C4A5-4783-9E35-44E9C1FB37F0}"/>
              </a:ext>
            </a:extLst>
          </p:cNvPr>
          <p:cNvSpPr>
            <a:spLocks xmlns:a="http://schemas.openxmlformats.org/drawingml/2006/main" noGrp="1"/>
          </p:cNvSpPr>
          <p:nvPr/>
        </p:nvSpPr>
        <p:spPr>
          <a:xfrm xmlns:a="http://schemas.openxmlformats.org/drawingml/2006/main">
            <a:off x="9144000" y="1333500"/>
            <a:ext cx="2781300" cy="47625"/>
          </a:xfrm>
          <a:prstGeom xmlns:a="http://schemas.openxmlformats.org/drawingml/2006/main" prst="rect">
            <a:avLst/>
          </a:prstGeom>
          <a:solidFill xmlns:a="http://schemas.openxmlformats.org/drawingml/2006/main">
            <a:srgbClr val="9B8CFF"/>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94F4004-E029-4D9B-A218-B1107CDBCBDA}"/>
              </a:ext>
            </a:extLst>
          </p:cNvPr>
          <p:cNvSpPr>
            <a:spLocks xmlns:a="http://schemas.openxmlformats.org/drawingml/2006/main" noGrp="1"/>
          </p:cNvSpPr>
          <p:nvPr/>
        </p:nvSpPr>
        <p:spPr>
          <a:xfrm xmlns:a="http://schemas.openxmlformats.org/drawingml/2006/main">
            <a:off x="9334500" y="15049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9B8CFF"/>
                </a:solidFill>
                <a:latin typeface="微软雅黑"/>
                <a:ea typeface="微软雅黑"/>
                <a:cs typeface="微软雅黑"/>
              </a:defRPr>
            </a:pPr>
            <a:r>
              <a:rPr sz="1500" b="1">
                <a:solidFill>
                  <a:srgbClr val="9B8CFF"/>
                </a:solidFill>
                <a:latin typeface="微软雅黑"/>
                <a:ea typeface="微软雅黑"/>
                <a:cs typeface="微软雅黑"/>
              </a:rPr>
              <a:t>管理员端</a:t>
            </a:r>
          </a:p>
        </p:txBody>
      </p:sp>
      <p:sp>
        <p:nvSpPr>
          <p:cNvPr id="32" name="">
            <a:extLst xmlns:a="http://schemas.openxmlformats.org/drawingml/2006/main">
              <a:ext uri="{FF2B5EF4-FFF2-40B4-BE49-F238E27FC236}">
                <a16:creationId xmlns:a16="http://schemas.microsoft.com/office/drawing/2014/main" id="{A7FA00DE-5DAF-4431-AF79-0DF0B910EFA0}"/>
              </a:ext>
            </a:extLst>
          </p:cNvPr>
          <p:cNvSpPr>
            <a:spLocks xmlns:a="http://schemas.openxmlformats.org/drawingml/2006/main" noGrp="1"/>
          </p:cNvSpPr>
          <p:nvPr/>
        </p:nvSpPr>
        <p:spPr>
          <a:xfrm xmlns:a="http://schemas.openxmlformats.org/drawingml/2006/main">
            <a:off x="9334500" y="1828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7A9CC4"/>
                </a:solidFill>
                <a:latin typeface="微软雅黑"/>
                <a:ea typeface="微软雅黑"/>
                <a:cs typeface="微软雅黑"/>
              </a:defRPr>
            </a:pPr>
            <a:r>
              <a:rPr sz="938" b="0">
                <a:solidFill>
                  <a:srgbClr val="7A9CC4"/>
                </a:solidFill>
                <a:latin typeface="微软雅黑"/>
                <a:ea typeface="微软雅黑"/>
                <a:cs typeface="微软雅黑"/>
              </a:rPr>
              <a:t>admin</a:t>
            </a:r>
          </a:p>
        </p:txBody>
      </p:sp>
      <p:sp>
        <p:nvSpPr>
          <p:cNvPr id="33" name="">
            <a:extLst xmlns:a="http://schemas.openxmlformats.org/drawingml/2006/main">
              <a:ext uri="{FF2B5EF4-FFF2-40B4-BE49-F238E27FC236}">
                <a16:creationId xmlns:a16="http://schemas.microsoft.com/office/drawing/2014/main" id="{93051E52-1ADD-4FAF-8EF8-0D061F32654E}"/>
              </a:ext>
            </a:extLst>
          </p:cNvPr>
          <p:cNvSpPr>
            <a:spLocks xmlns:a="http://schemas.openxmlformats.org/drawingml/2006/main" noGrp="1"/>
          </p:cNvSpPr>
          <p:nvPr/>
        </p:nvSpPr>
        <p:spPr>
          <a:xfrm xmlns:a="http://schemas.openxmlformats.org/drawingml/2006/main">
            <a:off x="9334500" y="2114550"/>
            <a:ext cx="419100" cy="19050"/>
          </a:xfrm>
          <a:prstGeom xmlns:a="http://schemas.openxmlformats.org/drawingml/2006/main" prst="rect">
            <a:avLst/>
          </a:prstGeom>
          <a:solidFill xmlns:a="http://schemas.openxmlformats.org/drawingml/2006/main">
            <a:srgbClr val="9B8CFF"/>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9FB7586C-C676-48EE-9A94-9D1680901F75}"/>
              </a:ext>
            </a:extLst>
          </p:cNvPr>
          <p:cNvSpPr>
            <a:spLocks xmlns:a="http://schemas.openxmlformats.org/drawingml/2006/main" noGrp="1"/>
          </p:cNvSpPr>
          <p:nvPr/>
        </p:nvSpPr>
        <p:spPr>
          <a:xfrm xmlns:a="http://schemas.openxmlformats.org/drawingml/2006/main">
            <a:off x="9334500" y="2266950"/>
            <a:ext cx="24193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配置岗位、技能、课程与考试</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审核课程与题库</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维护规则并查看执行留痕</a:t>
            </a:r>
          </a:p>
          <a:p xmlns:a="http://schemas.openxmlformats.org/drawingml/2006/main">
            <a:pPr algn="l">
              <a:lnSpc>
                <a:spcPct val="175000"/>
              </a:lnSpc>
              <a:buNone/>
              <a:defRPr sz="900">
                <a:solidFill>
                  <a:srgbClr val="D6E6F7"/>
                </a:solidFill>
                <a:latin typeface="微软雅黑"/>
                <a:ea typeface="微软雅黑"/>
                <a:cs typeface="微软雅黑"/>
              </a:defRPr>
            </a:pPr>
            <a:r>
              <a:rPr sz="900">
                <a:solidFill>
                  <a:srgbClr val="D6E6F7"/>
                </a:solidFill>
                <a:latin typeface="微软雅黑"/>
                <a:ea typeface="微软雅黑"/>
                <a:cs typeface="微软雅黑"/>
              </a:rPr>
              <a:t>· </a:t>
            </a:r>
            <a:r>
              <a:rPr sz="900">
                <a:solidFill>
                  <a:srgbClr val="D6E6F7"/>
                </a:solidFill>
                <a:latin typeface="微软雅黑"/>
                <a:ea typeface="微软雅黑"/>
                <a:cs typeface="微软雅黑"/>
              </a:rPr>
              <a:t>平台数据与审计</a:t>
            </a:r>
          </a:p>
        </p:txBody>
      </p:sp>
      <p:sp>
        <p:nvSpPr>
          <p:cNvPr id="35" name="">
            <a:extLst xmlns:a="http://schemas.openxmlformats.org/drawingml/2006/main">
              <a:ext uri="{FF2B5EF4-FFF2-40B4-BE49-F238E27FC236}">
                <a16:creationId xmlns:a16="http://schemas.microsoft.com/office/drawing/2014/main" id="{F20B232B-4BD5-4D6C-AB9E-F18A7E7F1581}"/>
              </a:ext>
            </a:extLst>
          </p:cNvPr>
          <p:cNvSpPr>
            <a:spLocks xmlns:a="http://schemas.openxmlformats.org/drawingml/2006/main" noGrp="1"/>
          </p:cNvSpPr>
          <p:nvPr/>
        </p:nvSpPr>
        <p:spPr>
          <a:xfrm xmlns:a="http://schemas.openxmlformats.org/drawingml/2006/main">
            <a:off x="285750" y="4343400"/>
            <a:ext cx="11620500" cy="2057400"/>
          </a:xfrm>
          <a:prstGeom xmlns:a="http://schemas.openxmlformats.org/drawingml/2006/main" prst="roundRect">
            <a:avLst>
              <a:gd name="adj" fmla="val 3704"/>
            </a:avLst>
          </a:prstGeom>
          <a:solidFill xmlns:a="http://schemas.openxmlformats.org/drawingml/2006/main">
            <a:srgbClr val="0A2547"/>
          </a:solidFill>
          <a:ln xmlns:a="http://schemas.openxmlformats.org/drawingml/2006/main" w="9525">
            <a:solidFill>
              <a:srgbClr val="2A6BAE"/>
            </a:solidFill>
            <a:prstDash val="solid"/>
          </a:ln>
        </p:spPr>
      </p:sp>
      <p:sp>
        <p:nvSpPr>
          <p:cNvPr id="36" name="">
            <a:extLst xmlns:a="http://schemas.openxmlformats.org/drawingml/2006/main">
              <a:ext uri="{FF2B5EF4-FFF2-40B4-BE49-F238E27FC236}">
                <a16:creationId xmlns:a16="http://schemas.microsoft.com/office/drawing/2014/main" id="{72916CAC-1B4E-4E8A-A3F9-B0FF06FEBA1D}"/>
              </a:ext>
            </a:extLst>
          </p:cNvPr>
          <p:cNvSpPr>
            <a:spLocks xmlns:a="http://schemas.openxmlformats.org/drawingml/2006/main" noGrp="1"/>
          </p:cNvSpPr>
          <p:nvPr/>
        </p:nvSpPr>
        <p:spPr>
          <a:xfrm xmlns:a="http://schemas.openxmlformats.org/drawingml/2006/main">
            <a:off x="457200" y="4457700"/>
            <a:ext cx="1123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F5C33B"/>
                </a:solidFill>
                <a:latin typeface="微软雅黑"/>
                <a:ea typeface="微软雅黑"/>
                <a:cs typeface="微软雅黑"/>
              </a:defRPr>
            </a:pPr>
            <a:r>
              <a:rPr sz="1088" b="1">
                <a:solidFill>
                  <a:srgbClr val="F5C33B"/>
                </a:solidFill>
                <a:latin typeface="微软雅黑"/>
                <a:ea typeface="微软雅黑"/>
                <a:cs typeface="微软雅黑"/>
              </a:rPr>
              <a:t>数据流：一次实操归因如何穿过四类角色</a:t>
            </a:r>
          </a:p>
        </p:txBody>
      </p:sp>
      <p:sp>
        <p:nvSpPr>
          <p:cNvPr id="37" name="">
            <a:extLst xmlns:a="http://schemas.openxmlformats.org/drawingml/2006/main">
              <a:ext uri="{FF2B5EF4-FFF2-40B4-BE49-F238E27FC236}">
                <a16:creationId xmlns:a16="http://schemas.microsoft.com/office/drawing/2014/main" id="{9B4A776A-B2CE-49CC-B453-374067A5433C}"/>
              </a:ext>
            </a:extLst>
          </p:cNvPr>
          <p:cNvSpPr>
            <a:spLocks xmlns:a="http://schemas.openxmlformats.org/drawingml/2006/main" noGrp="1"/>
          </p:cNvSpPr>
          <p:nvPr/>
        </p:nvSpPr>
        <p:spPr>
          <a:xfrm xmlns:a="http://schemas.openxmlformats.org/drawingml/2006/main">
            <a:off x="457200" y="4819650"/>
            <a:ext cx="2133600" cy="1428750"/>
          </a:xfrm>
          <a:prstGeom xmlns:a="http://schemas.openxmlformats.org/drawingml/2006/main" prst="roundRect">
            <a:avLst>
              <a:gd name="adj" fmla="val 5333"/>
            </a:avLst>
          </a:prstGeom>
          <a:solidFill xmlns:a="http://schemas.openxmlformats.org/drawingml/2006/main">
            <a:srgbClr val="0B2B52"/>
          </a:solidFill>
          <a:ln xmlns:a="http://schemas.openxmlformats.org/drawingml/2006/main" w="9525">
            <a:solidFill>
              <a:srgbClr val="173D68"/>
            </a:solidFill>
            <a:prstDash val="solid"/>
          </a:ln>
        </p:spPr>
      </p:sp>
      <p:sp>
        <p:nvSpPr>
          <p:cNvPr id="38" name="">
            <a:extLst xmlns:a="http://schemas.openxmlformats.org/drawingml/2006/main">
              <a:ext uri="{FF2B5EF4-FFF2-40B4-BE49-F238E27FC236}">
                <a16:creationId xmlns:a16="http://schemas.microsoft.com/office/drawing/2014/main" id="{02594E87-3AE1-4231-BA77-7F6B3006F25F}"/>
              </a:ext>
            </a:extLst>
          </p:cNvPr>
          <p:cNvSpPr>
            <a:spLocks xmlns:a="http://schemas.openxmlformats.org/drawingml/2006/main" noGrp="1"/>
          </p:cNvSpPr>
          <p:nvPr/>
        </p:nvSpPr>
        <p:spPr>
          <a:xfrm xmlns:a="http://schemas.openxmlformats.org/drawingml/2006/main">
            <a:off x="590550" y="493395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① 员工提交报告</a:t>
            </a:r>
          </a:p>
        </p:txBody>
      </p:sp>
      <p:sp>
        <p:nvSpPr>
          <p:cNvPr id="39" name="">
            <a:extLst xmlns:a="http://schemas.openxmlformats.org/drawingml/2006/main">
              <a:ext uri="{FF2B5EF4-FFF2-40B4-BE49-F238E27FC236}">
                <a16:creationId xmlns:a16="http://schemas.microsoft.com/office/drawing/2014/main" id="{DE321CD8-7215-497F-B39D-D64260E71F2C}"/>
              </a:ext>
            </a:extLst>
          </p:cNvPr>
          <p:cNvSpPr>
            <a:spLocks xmlns:a="http://schemas.openxmlformats.org/drawingml/2006/main" noGrp="1"/>
          </p:cNvSpPr>
          <p:nvPr/>
        </p:nvSpPr>
        <p:spPr>
          <a:xfrm xmlns:a="http://schemas.openxmlformats.org/drawingml/2006/main">
            <a:off x="590550" y="5219700"/>
            <a:ext cx="18859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员工端提交实操报告（步骤、工时、问题、照片、录波）</a:t>
            </a:r>
          </a:p>
        </p:txBody>
      </p:sp>
      <p:sp>
        <p:nvSpPr>
          <p:cNvPr id="40" name="">
            <a:extLst xmlns:a="http://schemas.openxmlformats.org/drawingml/2006/main">
              <a:ext uri="{FF2B5EF4-FFF2-40B4-BE49-F238E27FC236}">
                <a16:creationId xmlns:a16="http://schemas.microsoft.com/office/drawing/2014/main" id="{05EF3EE5-6E12-4B8A-A2F5-29D86F2E3B1F}"/>
              </a:ext>
            </a:extLst>
          </p:cNvPr>
          <p:cNvSpPr>
            <a:spLocks xmlns:a="http://schemas.openxmlformats.org/drawingml/2006/main" noGrp="1"/>
          </p:cNvSpPr>
          <p:nvPr/>
        </p:nvSpPr>
        <p:spPr>
          <a:xfrm xmlns:a="http://schemas.openxmlformats.org/drawingml/2006/main">
            <a:off x="2609850" y="5467350"/>
            <a:ext cx="133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00" b="0">
                <a:solidFill>
                  <a:srgbClr val="F5C33B"/>
                </a:solidFill>
                <a:latin typeface="微软雅黑"/>
                <a:ea typeface="微软雅黑"/>
                <a:cs typeface="微软雅黑"/>
              </a:defRPr>
            </a:pPr>
            <a:r>
              <a:rPr sz="900" b="0">
                <a:solidFill>
                  <a:srgbClr val="F5C33B"/>
                </a:solidFill>
                <a:latin typeface="微软雅黑"/>
                <a:ea typeface="微软雅黑"/>
                <a:cs typeface="微软雅黑"/>
              </a:rPr>
              <a:t>▶</a:t>
            </a:r>
          </a:p>
        </p:txBody>
      </p:sp>
      <p:sp>
        <p:nvSpPr>
          <p:cNvPr id="41" name="">
            <a:extLst xmlns:a="http://schemas.openxmlformats.org/drawingml/2006/main">
              <a:ext uri="{FF2B5EF4-FFF2-40B4-BE49-F238E27FC236}">
                <a16:creationId xmlns:a16="http://schemas.microsoft.com/office/drawing/2014/main" id="{37AA4AD8-AF4E-4E7E-AFEB-15963C609C2F}"/>
              </a:ext>
            </a:extLst>
          </p:cNvPr>
          <p:cNvSpPr>
            <a:spLocks xmlns:a="http://schemas.openxmlformats.org/drawingml/2006/main" noGrp="1"/>
          </p:cNvSpPr>
          <p:nvPr/>
        </p:nvSpPr>
        <p:spPr>
          <a:xfrm xmlns:a="http://schemas.openxmlformats.org/drawingml/2006/main">
            <a:off x="2743200" y="4819650"/>
            <a:ext cx="2133600" cy="1428750"/>
          </a:xfrm>
          <a:prstGeom xmlns:a="http://schemas.openxmlformats.org/drawingml/2006/main" prst="roundRect">
            <a:avLst>
              <a:gd name="adj" fmla="val 5333"/>
            </a:avLst>
          </a:prstGeom>
          <a:solidFill xmlns:a="http://schemas.openxmlformats.org/drawingml/2006/main">
            <a:srgbClr val="0B2B52"/>
          </a:solidFill>
          <a:ln xmlns:a="http://schemas.openxmlformats.org/drawingml/2006/main" w="9525">
            <a:solidFill>
              <a:srgbClr val="173D68"/>
            </a:solidFill>
            <a:prstDash val="solid"/>
          </a:ln>
        </p:spPr>
      </p:sp>
      <p:sp>
        <p:nvSpPr>
          <p:cNvPr id="42" name="">
            <a:extLst xmlns:a="http://schemas.openxmlformats.org/drawingml/2006/main">
              <a:ext uri="{FF2B5EF4-FFF2-40B4-BE49-F238E27FC236}">
                <a16:creationId xmlns:a16="http://schemas.microsoft.com/office/drawing/2014/main" id="{38C213BC-E8A0-45C2-A26F-9140260C6838}"/>
              </a:ext>
            </a:extLst>
          </p:cNvPr>
          <p:cNvSpPr>
            <a:spLocks xmlns:a="http://schemas.openxmlformats.org/drawingml/2006/main" noGrp="1"/>
          </p:cNvSpPr>
          <p:nvPr/>
        </p:nvSpPr>
        <p:spPr>
          <a:xfrm xmlns:a="http://schemas.openxmlformats.org/drawingml/2006/main">
            <a:off x="2876550" y="493395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② 规则执行</a:t>
            </a:r>
          </a:p>
        </p:txBody>
      </p:sp>
      <p:sp>
        <p:nvSpPr>
          <p:cNvPr id="43" name="">
            <a:extLst xmlns:a="http://schemas.openxmlformats.org/drawingml/2006/main">
              <a:ext uri="{FF2B5EF4-FFF2-40B4-BE49-F238E27FC236}">
                <a16:creationId xmlns:a16="http://schemas.microsoft.com/office/drawing/2014/main" id="{139C4131-6616-4714-A65E-867851D68D09}"/>
              </a:ext>
            </a:extLst>
          </p:cNvPr>
          <p:cNvSpPr>
            <a:spLocks xmlns:a="http://schemas.openxmlformats.org/drawingml/2006/main" noGrp="1"/>
          </p:cNvSpPr>
          <p:nvPr/>
        </p:nvSpPr>
        <p:spPr>
          <a:xfrm xmlns:a="http://schemas.openxmlformats.org/drawingml/2006/main">
            <a:off x="2876550" y="5219700"/>
            <a:ext cx="18859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规则引擎按 REPORT_GAS / REPORT_ANALYSIS 场景匹配，写 rule_result</a:t>
            </a:r>
          </a:p>
        </p:txBody>
      </p:sp>
      <p:sp>
        <p:nvSpPr>
          <p:cNvPr id="44" name="">
            <a:extLst xmlns:a="http://schemas.openxmlformats.org/drawingml/2006/main">
              <a:ext uri="{FF2B5EF4-FFF2-40B4-BE49-F238E27FC236}">
                <a16:creationId xmlns:a16="http://schemas.microsoft.com/office/drawing/2014/main" id="{2D978DCD-4B85-4824-B634-2A2F6AB81C41}"/>
              </a:ext>
            </a:extLst>
          </p:cNvPr>
          <p:cNvSpPr>
            <a:spLocks xmlns:a="http://schemas.openxmlformats.org/drawingml/2006/main" noGrp="1"/>
          </p:cNvSpPr>
          <p:nvPr/>
        </p:nvSpPr>
        <p:spPr>
          <a:xfrm xmlns:a="http://schemas.openxmlformats.org/drawingml/2006/main">
            <a:off x="4895850" y="5467350"/>
            <a:ext cx="133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00" b="0">
                <a:solidFill>
                  <a:srgbClr val="F5C33B"/>
                </a:solidFill>
                <a:latin typeface="微软雅黑"/>
                <a:ea typeface="微软雅黑"/>
                <a:cs typeface="微软雅黑"/>
              </a:defRPr>
            </a:pPr>
            <a:r>
              <a:rPr sz="900" b="0">
                <a:solidFill>
                  <a:srgbClr val="F5C33B"/>
                </a:solidFill>
                <a:latin typeface="微软雅黑"/>
                <a:ea typeface="微软雅黑"/>
                <a:cs typeface="微软雅黑"/>
              </a:rPr>
              <a:t>▶</a:t>
            </a:r>
          </a:p>
        </p:txBody>
      </p:sp>
      <p:sp>
        <p:nvSpPr>
          <p:cNvPr id="45" name="">
            <a:extLst xmlns:a="http://schemas.openxmlformats.org/drawingml/2006/main">
              <a:ext uri="{FF2B5EF4-FFF2-40B4-BE49-F238E27FC236}">
                <a16:creationId xmlns:a16="http://schemas.microsoft.com/office/drawing/2014/main" id="{69AF2398-1B85-4E5E-88CE-5B0982227BB7}"/>
              </a:ext>
            </a:extLst>
          </p:cNvPr>
          <p:cNvSpPr>
            <a:spLocks xmlns:a="http://schemas.openxmlformats.org/drawingml/2006/main" noGrp="1"/>
          </p:cNvSpPr>
          <p:nvPr/>
        </p:nvSpPr>
        <p:spPr>
          <a:xfrm xmlns:a="http://schemas.openxmlformats.org/drawingml/2006/main">
            <a:off x="5029200" y="4819650"/>
            <a:ext cx="2133600" cy="1428750"/>
          </a:xfrm>
          <a:prstGeom xmlns:a="http://schemas.openxmlformats.org/drawingml/2006/main" prst="roundRect">
            <a:avLst>
              <a:gd name="adj" fmla="val 5333"/>
            </a:avLst>
          </a:prstGeom>
          <a:solidFill xmlns:a="http://schemas.openxmlformats.org/drawingml/2006/main">
            <a:srgbClr val="0B2B52"/>
          </a:solidFill>
          <a:ln xmlns:a="http://schemas.openxmlformats.org/drawingml/2006/main" w="9525">
            <a:solidFill>
              <a:srgbClr val="173D68"/>
            </a:solidFill>
            <a:prstDash val="solid"/>
          </a:ln>
        </p:spPr>
      </p:sp>
      <p:sp>
        <p:nvSpPr>
          <p:cNvPr id="46" name="">
            <a:extLst xmlns:a="http://schemas.openxmlformats.org/drawingml/2006/main">
              <a:ext uri="{FF2B5EF4-FFF2-40B4-BE49-F238E27FC236}">
                <a16:creationId xmlns:a16="http://schemas.microsoft.com/office/drawing/2014/main" id="{60FD0189-EA84-4BEE-A929-3F23DC5BCFD7}"/>
              </a:ext>
            </a:extLst>
          </p:cNvPr>
          <p:cNvSpPr>
            <a:spLocks xmlns:a="http://schemas.openxmlformats.org/drawingml/2006/main" noGrp="1"/>
          </p:cNvSpPr>
          <p:nvPr/>
        </p:nvSpPr>
        <p:spPr>
          <a:xfrm xmlns:a="http://schemas.openxmlformats.org/drawingml/2006/main">
            <a:off x="5162550" y="493395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③ 建议生成</a:t>
            </a:r>
          </a:p>
        </p:txBody>
      </p:sp>
      <p:sp>
        <p:nvSpPr>
          <p:cNvPr id="47" name="">
            <a:extLst xmlns:a="http://schemas.openxmlformats.org/drawingml/2006/main">
              <a:ext uri="{FF2B5EF4-FFF2-40B4-BE49-F238E27FC236}">
                <a16:creationId xmlns:a16="http://schemas.microsoft.com/office/drawing/2014/main" id="{D4548AA2-0940-4928-8F83-37AF4DF65921}"/>
              </a:ext>
            </a:extLst>
          </p:cNvPr>
          <p:cNvSpPr>
            <a:spLocks xmlns:a="http://schemas.openxmlformats.org/drawingml/2006/main" noGrp="1"/>
          </p:cNvSpPr>
          <p:nvPr/>
        </p:nvSpPr>
        <p:spPr>
          <a:xfrm xmlns:a="http://schemas.openxmlformats.org/drawingml/2006/main">
            <a:off x="5162550" y="5219700"/>
            <a:ext cx="18859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结论写入 agent_suggestion，带 confidence、source=rule、need_human_confirm</a:t>
            </a:r>
          </a:p>
        </p:txBody>
      </p:sp>
      <p:sp>
        <p:nvSpPr>
          <p:cNvPr id="48" name="">
            <a:extLst xmlns:a="http://schemas.openxmlformats.org/drawingml/2006/main">
              <a:ext uri="{FF2B5EF4-FFF2-40B4-BE49-F238E27FC236}">
                <a16:creationId xmlns:a16="http://schemas.microsoft.com/office/drawing/2014/main" id="{F962AD65-BE01-4E09-9E3B-8FD338B9483B}"/>
              </a:ext>
            </a:extLst>
          </p:cNvPr>
          <p:cNvSpPr>
            <a:spLocks xmlns:a="http://schemas.openxmlformats.org/drawingml/2006/main" noGrp="1"/>
          </p:cNvSpPr>
          <p:nvPr/>
        </p:nvSpPr>
        <p:spPr>
          <a:xfrm xmlns:a="http://schemas.openxmlformats.org/drawingml/2006/main">
            <a:off x="7181850" y="5467350"/>
            <a:ext cx="133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00" b="0">
                <a:solidFill>
                  <a:srgbClr val="F5C33B"/>
                </a:solidFill>
                <a:latin typeface="微软雅黑"/>
                <a:ea typeface="微软雅黑"/>
                <a:cs typeface="微软雅黑"/>
              </a:defRPr>
            </a:pPr>
            <a:r>
              <a:rPr sz="900" b="0">
                <a:solidFill>
                  <a:srgbClr val="F5C33B"/>
                </a:solidFill>
                <a:latin typeface="微软雅黑"/>
                <a:ea typeface="微软雅黑"/>
                <a:cs typeface="微软雅黑"/>
              </a:rPr>
              <a:t>▶</a:t>
            </a:r>
          </a:p>
        </p:txBody>
      </p:sp>
      <p:sp>
        <p:nvSpPr>
          <p:cNvPr id="49" name="">
            <a:extLst xmlns:a="http://schemas.openxmlformats.org/drawingml/2006/main">
              <a:ext uri="{FF2B5EF4-FFF2-40B4-BE49-F238E27FC236}">
                <a16:creationId xmlns:a16="http://schemas.microsoft.com/office/drawing/2014/main" id="{B550CA75-9D14-4C58-AD7E-C5BCA5281654}"/>
              </a:ext>
            </a:extLst>
          </p:cNvPr>
          <p:cNvSpPr>
            <a:spLocks xmlns:a="http://schemas.openxmlformats.org/drawingml/2006/main" noGrp="1"/>
          </p:cNvSpPr>
          <p:nvPr/>
        </p:nvSpPr>
        <p:spPr>
          <a:xfrm xmlns:a="http://schemas.openxmlformats.org/drawingml/2006/main">
            <a:off x="7315200" y="4819650"/>
            <a:ext cx="2133600" cy="1428750"/>
          </a:xfrm>
          <a:prstGeom xmlns:a="http://schemas.openxmlformats.org/drawingml/2006/main" prst="roundRect">
            <a:avLst>
              <a:gd name="adj" fmla="val 5333"/>
            </a:avLst>
          </a:prstGeom>
          <a:solidFill xmlns:a="http://schemas.openxmlformats.org/drawingml/2006/main">
            <a:srgbClr val="0B2B52"/>
          </a:solidFill>
          <a:ln xmlns:a="http://schemas.openxmlformats.org/drawingml/2006/main" w="9525">
            <a:solidFill>
              <a:srgbClr val="173D68"/>
            </a:solidFill>
            <a:prstDash val="solid"/>
          </a:ln>
        </p:spPr>
      </p:sp>
      <p:sp>
        <p:nvSpPr>
          <p:cNvPr id="50" name="">
            <a:extLst xmlns:a="http://schemas.openxmlformats.org/drawingml/2006/main">
              <a:ext uri="{FF2B5EF4-FFF2-40B4-BE49-F238E27FC236}">
                <a16:creationId xmlns:a16="http://schemas.microsoft.com/office/drawing/2014/main" id="{8714E3C5-F2C2-4E35-9E52-0329AD65334E}"/>
              </a:ext>
            </a:extLst>
          </p:cNvPr>
          <p:cNvSpPr>
            <a:spLocks xmlns:a="http://schemas.openxmlformats.org/drawingml/2006/main" noGrp="1"/>
          </p:cNvSpPr>
          <p:nvPr/>
        </p:nvSpPr>
        <p:spPr>
          <a:xfrm xmlns:a="http://schemas.openxmlformats.org/drawingml/2006/main">
            <a:off x="7448550" y="493395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④ 班组长确认</a:t>
            </a:r>
          </a:p>
        </p:txBody>
      </p:sp>
      <p:sp>
        <p:nvSpPr>
          <p:cNvPr id="51" name="">
            <a:extLst xmlns:a="http://schemas.openxmlformats.org/drawingml/2006/main">
              <a:ext uri="{FF2B5EF4-FFF2-40B4-BE49-F238E27FC236}">
                <a16:creationId xmlns:a16="http://schemas.microsoft.com/office/drawing/2014/main" id="{B4B504C7-64F9-4251-AE0E-998CCFB4A7F3}"/>
              </a:ext>
            </a:extLst>
          </p:cNvPr>
          <p:cNvSpPr>
            <a:spLocks xmlns:a="http://schemas.openxmlformats.org/drawingml/2006/main" noGrp="1"/>
          </p:cNvSpPr>
          <p:nvPr/>
        </p:nvSpPr>
        <p:spPr>
          <a:xfrm xmlns:a="http://schemas.openxmlformats.org/drawingml/2006/main">
            <a:off x="7448550" y="5219700"/>
            <a:ext cx="18859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班组长在确认接口采纳 / 驳回 / 修改，写 decision_log，只改建议状态</a:t>
            </a:r>
          </a:p>
        </p:txBody>
      </p:sp>
      <p:sp>
        <p:nvSpPr>
          <p:cNvPr id="52" name="">
            <a:extLst xmlns:a="http://schemas.openxmlformats.org/drawingml/2006/main">
              <a:ext uri="{FF2B5EF4-FFF2-40B4-BE49-F238E27FC236}">
                <a16:creationId xmlns:a16="http://schemas.microsoft.com/office/drawing/2014/main" id="{22096106-0740-4446-A279-1B6BA4CF2142}"/>
              </a:ext>
            </a:extLst>
          </p:cNvPr>
          <p:cNvSpPr>
            <a:spLocks xmlns:a="http://schemas.openxmlformats.org/drawingml/2006/main" noGrp="1"/>
          </p:cNvSpPr>
          <p:nvPr/>
        </p:nvSpPr>
        <p:spPr>
          <a:xfrm xmlns:a="http://schemas.openxmlformats.org/drawingml/2006/main">
            <a:off x="9467850" y="5467350"/>
            <a:ext cx="133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00" b="0">
                <a:solidFill>
                  <a:srgbClr val="F5C33B"/>
                </a:solidFill>
                <a:latin typeface="微软雅黑"/>
                <a:ea typeface="微软雅黑"/>
                <a:cs typeface="微软雅黑"/>
              </a:defRPr>
            </a:pPr>
            <a:r>
              <a:rPr sz="900" b="0">
                <a:solidFill>
                  <a:srgbClr val="F5C33B"/>
                </a:solidFill>
                <a:latin typeface="微软雅黑"/>
                <a:ea typeface="微软雅黑"/>
                <a:cs typeface="微软雅黑"/>
              </a:rPr>
              <a:t>▶</a:t>
            </a:r>
          </a:p>
        </p:txBody>
      </p:sp>
      <p:sp>
        <p:nvSpPr>
          <p:cNvPr id="53" name="">
            <a:extLst xmlns:a="http://schemas.openxmlformats.org/drawingml/2006/main">
              <a:ext uri="{FF2B5EF4-FFF2-40B4-BE49-F238E27FC236}">
                <a16:creationId xmlns:a16="http://schemas.microsoft.com/office/drawing/2014/main" id="{40B854CD-C8E2-46F1-B583-717130AA7FFB}"/>
              </a:ext>
            </a:extLst>
          </p:cNvPr>
          <p:cNvSpPr>
            <a:spLocks xmlns:a="http://schemas.openxmlformats.org/drawingml/2006/main" noGrp="1"/>
          </p:cNvSpPr>
          <p:nvPr/>
        </p:nvSpPr>
        <p:spPr>
          <a:xfrm xmlns:a="http://schemas.openxmlformats.org/drawingml/2006/main">
            <a:off x="9601200" y="4819650"/>
            <a:ext cx="2133600" cy="1428750"/>
          </a:xfrm>
          <a:prstGeom xmlns:a="http://schemas.openxmlformats.org/drawingml/2006/main" prst="roundRect">
            <a:avLst>
              <a:gd name="adj" fmla="val 5333"/>
            </a:avLst>
          </a:prstGeom>
          <a:solidFill xmlns:a="http://schemas.openxmlformats.org/drawingml/2006/main">
            <a:srgbClr val="0F3159"/>
          </a:solidFill>
          <a:ln xmlns:a="http://schemas.openxmlformats.org/drawingml/2006/main" w="9525">
            <a:solidFill>
              <a:srgbClr val="F5C33B"/>
            </a:solidFill>
            <a:prstDash val="solid"/>
          </a:ln>
        </p:spPr>
      </p:sp>
      <p:sp>
        <p:nvSpPr>
          <p:cNvPr id="54" name="">
            <a:extLst xmlns:a="http://schemas.openxmlformats.org/drawingml/2006/main">
              <a:ext uri="{FF2B5EF4-FFF2-40B4-BE49-F238E27FC236}">
                <a16:creationId xmlns:a16="http://schemas.microsoft.com/office/drawing/2014/main" id="{2678E7FE-9E7D-4597-A1E5-13FE3DB93037}"/>
              </a:ext>
            </a:extLst>
          </p:cNvPr>
          <p:cNvSpPr>
            <a:spLocks xmlns:a="http://schemas.openxmlformats.org/drawingml/2006/main" noGrp="1"/>
          </p:cNvSpPr>
          <p:nvPr/>
        </p:nvSpPr>
        <p:spPr>
          <a:xfrm xmlns:a="http://schemas.openxmlformats.org/drawingml/2006/main">
            <a:off x="9734550" y="493395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5C33B"/>
                </a:solidFill>
                <a:latin typeface="微软雅黑"/>
                <a:ea typeface="微软雅黑"/>
                <a:cs typeface="微软雅黑"/>
              </a:defRPr>
            </a:pPr>
            <a:r>
              <a:rPr sz="938" b="1">
                <a:solidFill>
                  <a:srgbClr val="F5C33B"/>
                </a:solidFill>
                <a:latin typeface="微软雅黑"/>
                <a:ea typeface="微软雅黑"/>
                <a:cs typeface="微软雅黑"/>
              </a:rPr>
              <a:t>⑤ 回流各端</a:t>
            </a:r>
          </a:p>
        </p:txBody>
      </p:sp>
      <p:sp>
        <p:nvSpPr>
          <p:cNvPr id="55" name="">
            <a:extLst xmlns:a="http://schemas.openxmlformats.org/drawingml/2006/main">
              <a:ext uri="{FF2B5EF4-FFF2-40B4-BE49-F238E27FC236}">
                <a16:creationId xmlns:a16="http://schemas.microsoft.com/office/drawing/2014/main" id="{F098D1A8-6330-4C84-B753-4AF0698C6A07}"/>
              </a:ext>
            </a:extLst>
          </p:cNvPr>
          <p:cNvSpPr>
            <a:spLocks xmlns:a="http://schemas.openxmlformats.org/drawingml/2006/main" noGrp="1"/>
          </p:cNvSpPr>
          <p:nvPr/>
        </p:nvSpPr>
        <p:spPr>
          <a:xfrm xmlns:a="http://schemas.openxmlformats.org/drawingml/2006/main">
            <a:off x="9734550" y="5219700"/>
            <a:ext cx="18859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员工看到欠缺与学习计划；管理端看到缺口与风险；管理员可审计全链路</a:t>
            </a:r>
          </a:p>
        </p:txBody>
      </p:sp>
      <p:sp>
        <p:nvSpPr>
          <p:cNvPr id="56" name="">
            <a:extLst xmlns:a="http://schemas.openxmlformats.org/drawingml/2006/main">
              <a:ext uri="{FF2B5EF4-FFF2-40B4-BE49-F238E27FC236}">
                <a16:creationId xmlns:a16="http://schemas.microsoft.com/office/drawing/2014/main" id="{48B906C3-FA5F-4505-A0E3-5D773F32F27C}"/>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131C79CE-1332-4B9F-B3D7-FDD41374119B}"/>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58" name="">
            <a:extLst xmlns:a="http://schemas.openxmlformats.org/drawingml/2006/main">
              <a:ext uri="{FF2B5EF4-FFF2-40B4-BE49-F238E27FC236}">
                <a16:creationId xmlns:a16="http://schemas.microsoft.com/office/drawing/2014/main" id="{D12CEF92-10D7-4C9E-B380-517CB765F171}"/>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26</a:t>
            </a:r>
          </a:p>
        </p:txBody>
      </p:sp>
    </p:spTree>
    <p:extLst>
      <p:ext uri="{BB962C8B-B14F-4D97-AF65-F5344CB8AC3E}">
        <p14:creationId xmlns:p14="http://schemas.microsoft.com/office/powerpoint/2010/main" val="343683962"/>
      </p:ext>
    </p:extLst>
  </p:cSld>
</p:sld>
</file>

<file path=ppt/slides/slide27.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E199DE5-BECF-4F4C-BF1E-A6828C85BC34}"/>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97794A0-842F-4D33-84A2-7540C0DF4E10}"/>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AEA3C36-9FCD-46BF-A32F-12F74BF7184B}"/>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AEFD7B9-4096-4AF0-B814-0C3C3144E9F0}"/>
              </a:ext>
            </a:extLst>
          </p:cNvPr>
          <p:cNvSpPr>
            <a:spLocks xmlns:a="http://schemas.openxmlformats.org/drawingml/2006/main" noGrp="1"/>
          </p:cNvSpPr>
          <p:nvPr/>
        </p:nvSpPr>
        <p:spPr>
          <a:xfrm xmlns:a="http://schemas.openxmlformats.org/drawingml/2006/main">
            <a:off x="857250" y="1866900"/>
            <a:ext cx="3810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0" b="1">
                <a:solidFill>
                  <a:srgbClr val="12365F"/>
                </a:solidFill>
                <a:latin typeface="Arial"/>
                <a:ea typeface="Arial"/>
                <a:cs typeface="Arial"/>
              </a:defRPr>
            </a:pPr>
            <a:r>
              <a:rPr sz="9000" b="1">
                <a:solidFill>
                  <a:srgbClr val="12365F"/>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2798B11C-4E04-4781-83C9-F18AB6110A64}"/>
              </a:ext>
            </a:extLst>
          </p:cNvPr>
          <p:cNvSpPr>
            <a:spLocks xmlns:a="http://schemas.openxmlformats.org/drawingml/2006/main" noGrp="1"/>
          </p:cNvSpPr>
          <p:nvPr/>
        </p:nvSpPr>
        <p:spPr>
          <a:xfrm xmlns:a="http://schemas.openxmlformats.org/drawingml/2006/main">
            <a:off x="914400" y="2857500"/>
            <a:ext cx="666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3300" b="1">
                <a:solidFill>
                  <a:srgbClr val="FFFFFF"/>
                </a:solidFill>
                <a:latin typeface="微软雅黑"/>
                <a:ea typeface="微软雅黑"/>
                <a:cs typeface="微软雅黑"/>
              </a:defRPr>
            </a:pPr>
            <a:r>
              <a:rPr sz="3300" b="1">
                <a:solidFill>
                  <a:srgbClr val="FFFFFF"/>
                </a:solidFill>
                <a:latin typeface="微软雅黑"/>
                <a:ea typeface="微软雅黑"/>
                <a:cs typeface="微软雅黑"/>
              </a:rPr>
              <a:t>测试验证</a:t>
            </a:r>
          </a:p>
        </p:txBody>
      </p:sp>
      <p:sp>
        <p:nvSpPr>
          <p:cNvPr id="6" name="">
            <a:extLst xmlns:a="http://schemas.openxmlformats.org/drawingml/2006/main">
              <a:ext uri="{FF2B5EF4-FFF2-40B4-BE49-F238E27FC236}">
                <a16:creationId xmlns:a16="http://schemas.microsoft.com/office/drawing/2014/main" id="{9D3F20D1-317F-4561-AEA0-F2861D6D62A3}"/>
              </a:ext>
            </a:extLst>
          </p:cNvPr>
          <p:cNvSpPr>
            <a:spLocks xmlns:a="http://schemas.openxmlformats.org/drawingml/2006/main" noGrp="1"/>
          </p:cNvSpPr>
          <p:nvPr/>
        </p:nvSpPr>
        <p:spPr>
          <a:xfrm xmlns:a="http://schemas.openxmlformats.org/drawingml/2006/main">
            <a:off x="952500" y="348615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050" b="0">
                <a:solidFill>
                  <a:srgbClr val="31C7F0"/>
                </a:solidFill>
                <a:latin typeface="Arial"/>
                <a:ea typeface="Arial"/>
                <a:cs typeface="Arial"/>
              </a:defRPr>
            </a:pPr>
            <a:r>
              <a:rPr sz="1050" b="0">
                <a:solidFill>
                  <a:srgbClr val="31C7F0"/>
                </a:solidFill>
                <a:latin typeface="Arial"/>
                <a:ea typeface="Arial"/>
                <a:cs typeface="Arial"/>
              </a:rPr>
              <a:t>VALIDATION · TESTING &amp; COMPARISON</a:t>
            </a:r>
          </a:p>
        </p:txBody>
      </p:sp>
      <p:sp>
        <p:nvSpPr>
          <p:cNvPr id="7" name="">
            <a:extLst xmlns:a="http://schemas.openxmlformats.org/drawingml/2006/main">
              <a:ext uri="{FF2B5EF4-FFF2-40B4-BE49-F238E27FC236}">
                <a16:creationId xmlns:a16="http://schemas.microsoft.com/office/drawing/2014/main" id="{03015600-B9E7-477B-9B4F-F7AA7BC26236}"/>
              </a:ext>
            </a:extLst>
          </p:cNvPr>
          <p:cNvSpPr>
            <a:spLocks xmlns:a="http://schemas.openxmlformats.org/drawingml/2006/main" noGrp="1"/>
          </p:cNvSpPr>
          <p:nvPr/>
        </p:nvSpPr>
        <p:spPr>
          <a:xfrm xmlns:a="http://schemas.openxmlformats.org/drawingml/2006/main">
            <a:off x="952500" y="3905250"/>
            <a:ext cx="857250" cy="28575"/>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34EB919-ECB9-461F-A1AA-874C04FCDABC}"/>
              </a:ext>
            </a:extLst>
          </p:cNvPr>
          <p:cNvSpPr>
            <a:spLocks xmlns:a="http://schemas.openxmlformats.org/drawingml/2006/main" noGrp="1"/>
          </p:cNvSpPr>
          <p:nvPr/>
        </p:nvSpPr>
        <p:spPr>
          <a:xfrm xmlns:a="http://schemas.openxmlformats.org/drawingml/2006/main">
            <a:off x="952500" y="4152900"/>
            <a:ext cx="590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90000"/>
              </a:lnSpc>
              <a:buNone/>
              <a:defRPr sz="1125">
                <a:solidFill>
                  <a:srgbClr val="9FC2E8"/>
                </a:solidFill>
                <a:latin typeface="微软雅黑"/>
                <a:ea typeface="微软雅黑"/>
                <a:cs typeface="微软雅黑"/>
              </a:defRPr>
            </a:pPr>
            <a:r>
              <a:rPr sz="1125">
                <a:solidFill>
                  <a:srgbClr val="9FC2E8"/>
                </a:solidFill>
                <a:latin typeface="微软雅黑"/>
                <a:ea typeface="微软雅黑"/>
                <a:cs typeface="微软雅黑"/>
              </a:rPr>
              <a:t>五层测试：建库 / 构建 / 引擎 / 鉴权 / 业务，全部有可复现的验收动作</a:t>
            </a:r>
          </a:p>
          <a:p xmlns:a="http://schemas.openxmlformats.org/drawingml/2006/main">
            <a:pPr algn="l">
              <a:lnSpc>
                <a:spcPct val="190000"/>
              </a:lnSpc>
              <a:buNone/>
              <a:defRPr sz="1125">
                <a:solidFill>
                  <a:srgbClr val="9FC2E8"/>
                </a:solidFill>
                <a:latin typeface="微软雅黑"/>
                <a:ea typeface="微软雅黑"/>
                <a:cs typeface="微软雅黑"/>
              </a:defRPr>
            </a:pPr>
            <a:r>
              <a:rPr sz="1125">
                <a:solidFill>
                  <a:srgbClr val="9FC2E8"/>
                </a:solidFill>
                <a:latin typeface="微软雅黑"/>
                <a:ea typeface="微软雅黑"/>
                <a:cs typeface="微软雅黑"/>
              </a:rPr>
              <a:t>纵向对比：引入系统前后的结论一致性、组卷题量与举证成本</a:t>
            </a:r>
          </a:p>
          <a:p xmlns:a="http://schemas.openxmlformats.org/drawingml/2006/main">
            <a:pPr algn="l">
              <a:lnSpc>
                <a:spcPct val="190000"/>
              </a:lnSpc>
              <a:buNone/>
              <a:defRPr sz="1125">
                <a:solidFill>
                  <a:srgbClr val="9FC2E8"/>
                </a:solidFill>
                <a:latin typeface="微软雅黑"/>
                <a:ea typeface="微软雅黑"/>
                <a:cs typeface="微软雅黑"/>
              </a:defRPr>
            </a:pPr>
            <a:r>
              <a:rPr sz="1125">
                <a:solidFill>
                  <a:srgbClr val="9FC2E8"/>
                </a:solidFill>
                <a:latin typeface="微软雅黑"/>
                <a:ea typeface="微软雅黑"/>
                <a:cs typeface="微软雅黑"/>
              </a:rPr>
              <a:t>横向对比：传统 LMS / 通用大模型 / 工业智训的能力矩阵</a:t>
            </a:r>
          </a:p>
        </p:txBody>
      </p:sp>
    </p:spTree>
    <p:extLst>
      <p:ext uri="{BB962C8B-B14F-4D97-AF65-F5344CB8AC3E}">
        <p14:creationId xmlns:p14="http://schemas.microsoft.com/office/powerpoint/2010/main" val="154762507"/>
      </p:ext>
    </p:extLst>
  </p:cSld>
</p:sld>
</file>

<file path=ppt/slides/slide28.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B5B9C5F2-2C44-4F04-9A17-58173615C23D}"/>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22534C8-8A84-4341-842F-197B21475AE6}"/>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4FB3AF3-9C95-4A4D-A6BA-7BD8139441EA}"/>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30A44F4-12FD-44CC-B1E5-CF395B88B576}"/>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F133276-00CD-4987-97F6-13FCEA3BBAAE}"/>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892B0442-CE74-438C-B181-3A6A4E7456F1}"/>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测试验证</a:t>
            </a:r>
          </a:p>
        </p:txBody>
      </p:sp>
      <p:sp>
        <p:nvSpPr>
          <p:cNvPr id="7" name="">
            <a:extLst xmlns:a="http://schemas.openxmlformats.org/drawingml/2006/main">
              <a:ext uri="{FF2B5EF4-FFF2-40B4-BE49-F238E27FC236}">
                <a16:creationId xmlns:a16="http://schemas.microsoft.com/office/drawing/2014/main" id="{587AE08F-A77F-46C3-BE48-4CB20AD1FE7E}"/>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57081B1-019A-4100-BF19-B81D96469420}"/>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五层测试与验收结果</a:t>
            </a:r>
          </a:p>
        </p:txBody>
      </p:sp>
      <p:sp>
        <p:nvSpPr>
          <p:cNvPr id="9" name="">
            <a:extLst xmlns:a="http://schemas.openxmlformats.org/drawingml/2006/main">
              <a:ext uri="{FF2B5EF4-FFF2-40B4-BE49-F238E27FC236}">
                <a16:creationId xmlns:a16="http://schemas.microsoft.com/office/drawing/2014/main" id="{C6F048F9-33AB-416B-B909-A721B2D24480}"/>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EE3B72BC-0D67-436F-A7AD-E3ED23284152}"/>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测试不是「跑通截图」，而是每一层都有明确的通过判据与可复现的验收动作。</a:t>
            </a:r>
          </a:p>
        </p:txBody>
      </p:sp>
      <p:sp>
        <p:nvSpPr>
          <p:cNvPr id="11" name="">
            <a:extLst xmlns:a="http://schemas.openxmlformats.org/drawingml/2006/main">
              <a:ext uri="{FF2B5EF4-FFF2-40B4-BE49-F238E27FC236}">
                <a16:creationId xmlns:a16="http://schemas.microsoft.com/office/drawing/2014/main" id="{8FCD6569-5562-4812-93F7-CBF9D55137A2}"/>
              </a:ext>
            </a:extLst>
          </p:cNvPr>
          <p:cNvSpPr>
            <a:spLocks xmlns:a="http://schemas.openxmlformats.org/drawingml/2006/main" noGrp="1"/>
          </p:cNvSpPr>
          <p:nvPr/>
        </p:nvSpPr>
        <p:spPr>
          <a:xfrm xmlns:a="http://schemas.openxmlformats.org/drawingml/2006/main">
            <a:off x="285750" y="1333500"/>
            <a:ext cx="11620500" cy="895350"/>
          </a:xfrm>
          <a:prstGeom xmlns:a="http://schemas.openxmlformats.org/drawingml/2006/main" prst="roundRect">
            <a:avLst>
              <a:gd name="adj" fmla="val 8511"/>
            </a:avLst>
          </a:prstGeom>
          <a:solidFill xmlns:a="http://schemas.openxmlformats.org/drawingml/2006/main">
            <a:srgbClr val="0F3159"/>
          </a:solidFill>
          <a:ln xmlns:a="http://schemas.openxmlformats.org/drawingml/2006/main" w="9525">
            <a:solidFill>
              <a:srgbClr val="1B4C8A"/>
            </a:solidFill>
            <a:prstDash val="solid"/>
          </a:ln>
        </p:spPr>
      </p:sp>
      <p:sp>
        <p:nvSpPr>
          <p:cNvPr id="12" name="">
            <a:extLst xmlns:a="http://schemas.openxmlformats.org/drawingml/2006/main">
              <a:ext uri="{FF2B5EF4-FFF2-40B4-BE49-F238E27FC236}">
                <a16:creationId xmlns:a16="http://schemas.microsoft.com/office/drawing/2014/main" id="{D0053552-5687-4C0A-BC8A-E91B714E5EAF}"/>
              </a:ext>
            </a:extLst>
          </p:cNvPr>
          <p:cNvSpPr>
            <a:spLocks xmlns:a="http://schemas.openxmlformats.org/drawingml/2006/main" noGrp="1"/>
          </p:cNvSpPr>
          <p:nvPr/>
        </p:nvSpPr>
        <p:spPr>
          <a:xfrm xmlns:a="http://schemas.openxmlformats.org/drawingml/2006/main">
            <a:off x="285750" y="1333500"/>
            <a:ext cx="47625" cy="895350"/>
          </a:xfrm>
          <a:prstGeom xmlns:a="http://schemas.openxmlformats.org/drawingml/2006/main" prst="rect">
            <a:avLst/>
          </a:prstGeom>
          <a:solidFill xmlns:a="http://schemas.openxmlformats.org/drawingml/2006/main">
            <a:srgbClr val="31C7F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93F48E3-0B99-4647-A09D-CB9D15A0C818}"/>
              </a:ext>
            </a:extLst>
          </p:cNvPr>
          <p:cNvSpPr>
            <a:spLocks xmlns:a="http://schemas.openxmlformats.org/drawingml/2006/main" noGrp="1"/>
          </p:cNvSpPr>
          <p:nvPr/>
        </p:nvSpPr>
        <p:spPr>
          <a:xfrm xmlns:a="http://schemas.openxmlformats.org/drawingml/2006/main">
            <a:off x="476250" y="1619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31C7F0"/>
                </a:solidFill>
                <a:latin typeface="微软雅黑"/>
                <a:ea typeface="微软雅黑"/>
                <a:cs typeface="微软雅黑"/>
              </a:defRPr>
            </a:pPr>
            <a:r>
              <a:rPr sz="1125" b="1">
                <a:solidFill>
                  <a:srgbClr val="31C7F0"/>
                </a:solidFill>
                <a:latin typeface="微软雅黑"/>
                <a:ea typeface="微软雅黑"/>
                <a:cs typeface="微软雅黑"/>
              </a:rPr>
              <a:t>第一层 · 建库</a:t>
            </a:r>
          </a:p>
        </p:txBody>
      </p:sp>
      <p:sp>
        <p:nvSpPr>
          <p:cNvPr id="14" name="">
            <a:extLst xmlns:a="http://schemas.openxmlformats.org/drawingml/2006/main">
              <a:ext uri="{FF2B5EF4-FFF2-40B4-BE49-F238E27FC236}">
                <a16:creationId xmlns:a16="http://schemas.microsoft.com/office/drawing/2014/main" id="{3BE54C4E-CC2B-40C1-A35F-3AEA0D6CF8C5}"/>
              </a:ext>
            </a:extLst>
          </p:cNvPr>
          <p:cNvSpPr>
            <a:spLocks xmlns:a="http://schemas.openxmlformats.org/drawingml/2006/main" noGrp="1"/>
          </p:cNvSpPr>
          <p:nvPr/>
        </p:nvSpPr>
        <p:spPr>
          <a:xfrm xmlns:a="http://schemas.openxmlformats.org/drawingml/2006/main">
            <a:off x="2038350" y="14859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11 个脚本按序对空库一次到位，docker logs 无 ERROR</a:t>
            </a:r>
          </a:p>
        </p:txBody>
      </p:sp>
      <p:sp>
        <p:nvSpPr>
          <p:cNvPr id="15" name="">
            <a:extLst xmlns:a="http://schemas.openxmlformats.org/drawingml/2006/main">
              <a:ext uri="{FF2B5EF4-FFF2-40B4-BE49-F238E27FC236}">
                <a16:creationId xmlns:a16="http://schemas.microsoft.com/office/drawing/2014/main" id="{5E0878A0-924C-4E7D-B142-60D737A7417D}"/>
              </a:ext>
            </a:extLst>
          </p:cNvPr>
          <p:cNvSpPr>
            <a:spLocks xmlns:a="http://schemas.openxmlformats.org/drawingml/2006/main" noGrp="1"/>
          </p:cNvSpPr>
          <p:nvPr/>
        </p:nvSpPr>
        <p:spPr>
          <a:xfrm xmlns:a="http://schemas.openxmlformats.org/drawingml/2006/main">
            <a:off x="2038350" y="17716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表数与脚本定义一致</a:t>
            </a:r>
          </a:p>
        </p:txBody>
      </p:sp>
      <p:sp>
        <p:nvSpPr>
          <p:cNvPr id="16" name="">
            <a:extLst xmlns:a="http://schemas.openxmlformats.org/drawingml/2006/main">
              <a:ext uri="{FF2B5EF4-FFF2-40B4-BE49-F238E27FC236}">
                <a16:creationId xmlns:a16="http://schemas.microsoft.com/office/drawing/2014/main" id="{FB397E37-596C-4934-8061-001F8BC59B76}"/>
              </a:ext>
            </a:extLst>
          </p:cNvPr>
          <p:cNvSpPr>
            <a:spLocks xmlns:a="http://schemas.openxmlformats.org/drawingml/2006/main" noGrp="1"/>
          </p:cNvSpPr>
          <p:nvPr/>
        </p:nvSpPr>
        <p:spPr>
          <a:xfrm xmlns:a="http://schemas.openxmlformats.org/drawingml/2006/main">
            <a:off x="7048500" y="1543050"/>
            <a:ext cx="1428750" cy="476250"/>
          </a:xfrm>
          <a:prstGeom xmlns:a="http://schemas.openxmlformats.org/drawingml/2006/main" prst="roundRect">
            <a:avLst>
              <a:gd name="adj" fmla="val 12000"/>
            </a:avLst>
          </a:prstGeom>
          <a:solidFill xmlns:a="http://schemas.openxmlformats.org/drawingml/2006/main">
            <a:srgbClr val="0A2244"/>
          </a:solidFill>
          <a:ln xmlns:a="http://schemas.openxmlformats.org/drawingml/2006/main" w="9525">
            <a:solidFill>
              <a:srgbClr val="173D68"/>
            </a:solidFill>
            <a:prstDash val="solid"/>
          </a:ln>
        </p:spPr>
      </p:sp>
      <p:sp>
        <p:nvSpPr>
          <p:cNvPr id="17" name="">
            <a:extLst xmlns:a="http://schemas.openxmlformats.org/drawingml/2006/main">
              <a:ext uri="{FF2B5EF4-FFF2-40B4-BE49-F238E27FC236}">
                <a16:creationId xmlns:a16="http://schemas.microsoft.com/office/drawing/2014/main" id="{7EE180F9-39E0-4186-B690-B9CE225B16A3}"/>
              </a:ext>
            </a:extLst>
          </p:cNvPr>
          <p:cNvSpPr>
            <a:spLocks xmlns:a="http://schemas.openxmlformats.org/drawingml/2006/main" noGrp="1"/>
          </p:cNvSpPr>
          <p:nvPr/>
        </p:nvSpPr>
        <p:spPr>
          <a:xfrm xmlns:a="http://schemas.openxmlformats.org/drawingml/2006/main">
            <a:off x="7048500" y="1543050"/>
            <a:ext cx="142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FD08A"/>
                </a:solidFill>
                <a:latin typeface="微软雅黑"/>
                <a:ea typeface="微软雅黑"/>
                <a:cs typeface="微软雅黑"/>
              </a:defRPr>
            </a:pPr>
            <a:r>
              <a:rPr sz="1200" b="1">
                <a:solidFill>
                  <a:srgbClr val="3FD08A"/>
                </a:solidFill>
                <a:latin typeface="微软雅黑"/>
                <a:ea typeface="微软雅黑"/>
                <a:cs typeface="微软雅黑"/>
              </a:rPr>
              <a:t>通过</a:t>
            </a:r>
          </a:p>
        </p:txBody>
      </p:sp>
      <p:sp>
        <p:nvSpPr>
          <p:cNvPr id="18" name="">
            <a:extLst xmlns:a="http://schemas.openxmlformats.org/drawingml/2006/main">
              <a:ext uri="{FF2B5EF4-FFF2-40B4-BE49-F238E27FC236}">
                <a16:creationId xmlns:a16="http://schemas.microsoft.com/office/drawing/2014/main" id="{87FA99D7-83A7-4F6B-83A0-27FE97E692F5}"/>
              </a:ext>
            </a:extLst>
          </p:cNvPr>
          <p:cNvSpPr>
            <a:spLocks xmlns:a="http://schemas.openxmlformats.org/drawingml/2006/main" noGrp="1"/>
          </p:cNvSpPr>
          <p:nvPr/>
        </p:nvSpPr>
        <p:spPr>
          <a:xfrm xmlns:a="http://schemas.openxmlformats.org/drawingml/2006/main">
            <a:off x="285750" y="2343150"/>
            <a:ext cx="11620500" cy="895350"/>
          </a:xfrm>
          <a:prstGeom xmlns:a="http://schemas.openxmlformats.org/drawingml/2006/main" prst="roundRect">
            <a:avLst>
              <a:gd name="adj" fmla="val 8511"/>
            </a:avLst>
          </a:prstGeom>
          <a:solidFill xmlns:a="http://schemas.openxmlformats.org/drawingml/2006/main">
            <a:srgbClr val="0C2A50"/>
          </a:solidFill>
          <a:ln xmlns:a="http://schemas.openxmlformats.org/drawingml/2006/main" w="9525">
            <a:solidFill>
              <a:srgbClr val="1B4C8A"/>
            </a:solidFill>
            <a:prstDash val="solid"/>
          </a:ln>
        </p:spPr>
      </p:sp>
      <p:sp>
        <p:nvSpPr>
          <p:cNvPr id="19" name="">
            <a:extLst xmlns:a="http://schemas.openxmlformats.org/drawingml/2006/main">
              <a:ext uri="{FF2B5EF4-FFF2-40B4-BE49-F238E27FC236}">
                <a16:creationId xmlns:a16="http://schemas.microsoft.com/office/drawing/2014/main" id="{F3AAC5C0-8D64-4C95-8F6F-DAF7B9E268DE}"/>
              </a:ext>
            </a:extLst>
          </p:cNvPr>
          <p:cNvSpPr>
            <a:spLocks xmlns:a="http://schemas.openxmlformats.org/drawingml/2006/main" noGrp="1"/>
          </p:cNvSpPr>
          <p:nvPr/>
        </p:nvSpPr>
        <p:spPr>
          <a:xfrm xmlns:a="http://schemas.openxmlformats.org/drawingml/2006/main">
            <a:off x="285750" y="2343150"/>
            <a:ext cx="47625" cy="895350"/>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9143216-B196-4BD1-96CE-ED3D65870E53}"/>
              </a:ext>
            </a:extLst>
          </p:cNvPr>
          <p:cNvSpPr>
            <a:spLocks xmlns:a="http://schemas.openxmlformats.org/drawingml/2006/main" noGrp="1"/>
          </p:cNvSpPr>
          <p:nvPr/>
        </p:nvSpPr>
        <p:spPr>
          <a:xfrm xmlns:a="http://schemas.openxmlformats.org/drawingml/2006/main">
            <a:off x="476250" y="262890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2E86E8"/>
                </a:solidFill>
                <a:latin typeface="微软雅黑"/>
                <a:ea typeface="微软雅黑"/>
                <a:cs typeface="微软雅黑"/>
              </a:defRPr>
            </a:pPr>
            <a:r>
              <a:rPr sz="1125" b="1">
                <a:solidFill>
                  <a:srgbClr val="2E86E8"/>
                </a:solidFill>
                <a:latin typeface="微软雅黑"/>
                <a:ea typeface="微软雅黑"/>
                <a:cs typeface="微软雅黑"/>
              </a:rPr>
              <a:t>第二层 · 构建</a:t>
            </a:r>
          </a:p>
        </p:txBody>
      </p:sp>
      <p:sp>
        <p:nvSpPr>
          <p:cNvPr id="21" name="">
            <a:extLst xmlns:a="http://schemas.openxmlformats.org/drawingml/2006/main">
              <a:ext uri="{FF2B5EF4-FFF2-40B4-BE49-F238E27FC236}">
                <a16:creationId xmlns:a16="http://schemas.microsoft.com/office/drawing/2014/main" id="{C907DEB0-C438-4696-B211-64A7A5EB5B3A}"/>
              </a:ext>
            </a:extLst>
          </p:cNvPr>
          <p:cNvSpPr>
            <a:spLocks xmlns:a="http://schemas.openxmlformats.org/drawingml/2006/main" noGrp="1"/>
          </p:cNvSpPr>
          <p:nvPr/>
        </p:nvSpPr>
        <p:spPr>
          <a:xfrm xmlns:a="http://schemas.openxmlformats.org/drawingml/2006/main">
            <a:off x="2038350" y="24955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后端 mvn -DskipTests package 通过；Swagger 可打开</a:t>
            </a:r>
          </a:p>
        </p:txBody>
      </p:sp>
      <p:sp>
        <p:nvSpPr>
          <p:cNvPr id="22" name="">
            <a:extLst xmlns:a="http://schemas.openxmlformats.org/drawingml/2006/main">
              <a:ext uri="{FF2B5EF4-FFF2-40B4-BE49-F238E27FC236}">
                <a16:creationId xmlns:a16="http://schemas.microsoft.com/office/drawing/2014/main" id="{DFEC5FD6-4FCA-4AD7-A4C2-5446C511EEE7}"/>
              </a:ext>
            </a:extLst>
          </p:cNvPr>
          <p:cNvSpPr>
            <a:spLocks xmlns:a="http://schemas.openxmlformats.org/drawingml/2006/main" noGrp="1"/>
          </p:cNvSpPr>
          <p:nvPr/>
        </p:nvSpPr>
        <p:spPr>
          <a:xfrm xmlns:a="http://schemas.openxmlformats.org/drawingml/2006/main">
            <a:off x="2038350" y="27813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在线接口 75 个可见</a:t>
            </a:r>
          </a:p>
        </p:txBody>
      </p:sp>
      <p:sp>
        <p:nvSpPr>
          <p:cNvPr id="23" name="">
            <a:extLst xmlns:a="http://schemas.openxmlformats.org/drawingml/2006/main">
              <a:ext uri="{FF2B5EF4-FFF2-40B4-BE49-F238E27FC236}">
                <a16:creationId xmlns:a16="http://schemas.microsoft.com/office/drawing/2014/main" id="{943714B6-4E2E-4937-98A8-48028B38D2FB}"/>
              </a:ext>
            </a:extLst>
          </p:cNvPr>
          <p:cNvSpPr>
            <a:spLocks xmlns:a="http://schemas.openxmlformats.org/drawingml/2006/main" noGrp="1"/>
          </p:cNvSpPr>
          <p:nvPr/>
        </p:nvSpPr>
        <p:spPr>
          <a:xfrm xmlns:a="http://schemas.openxmlformats.org/drawingml/2006/main">
            <a:off x="7048500" y="2552700"/>
            <a:ext cx="1428750" cy="476250"/>
          </a:xfrm>
          <a:prstGeom xmlns:a="http://schemas.openxmlformats.org/drawingml/2006/main" prst="roundRect">
            <a:avLst>
              <a:gd name="adj" fmla="val 12000"/>
            </a:avLst>
          </a:prstGeom>
          <a:solidFill xmlns:a="http://schemas.openxmlformats.org/drawingml/2006/main">
            <a:srgbClr val="0A2244"/>
          </a:solidFill>
          <a:ln xmlns:a="http://schemas.openxmlformats.org/drawingml/2006/main" w="9525">
            <a:solidFill>
              <a:srgbClr val="173D68"/>
            </a:solidFill>
            <a:prstDash val="solid"/>
          </a:ln>
        </p:spPr>
      </p:sp>
      <p:sp>
        <p:nvSpPr>
          <p:cNvPr id="24" name="">
            <a:extLst xmlns:a="http://schemas.openxmlformats.org/drawingml/2006/main">
              <a:ext uri="{FF2B5EF4-FFF2-40B4-BE49-F238E27FC236}">
                <a16:creationId xmlns:a16="http://schemas.microsoft.com/office/drawing/2014/main" id="{2AD67D1D-D290-4081-AB95-A80C27787AAE}"/>
              </a:ext>
            </a:extLst>
          </p:cNvPr>
          <p:cNvSpPr>
            <a:spLocks xmlns:a="http://schemas.openxmlformats.org/drawingml/2006/main" noGrp="1"/>
          </p:cNvSpPr>
          <p:nvPr/>
        </p:nvSpPr>
        <p:spPr>
          <a:xfrm xmlns:a="http://schemas.openxmlformats.org/drawingml/2006/main">
            <a:off x="7048500" y="2552700"/>
            <a:ext cx="142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FD08A"/>
                </a:solidFill>
                <a:latin typeface="微软雅黑"/>
                <a:ea typeface="微软雅黑"/>
                <a:cs typeface="微软雅黑"/>
              </a:defRPr>
            </a:pPr>
            <a:r>
              <a:rPr sz="1200" b="1">
                <a:solidFill>
                  <a:srgbClr val="3FD08A"/>
                </a:solidFill>
                <a:latin typeface="微软雅黑"/>
                <a:ea typeface="微软雅黑"/>
                <a:cs typeface="微软雅黑"/>
              </a:rPr>
              <a:t>通过</a:t>
            </a:r>
          </a:p>
        </p:txBody>
      </p:sp>
      <p:sp>
        <p:nvSpPr>
          <p:cNvPr id="25" name="">
            <a:extLst xmlns:a="http://schemas.openxmlformats.org/drawingml/2006/main">
              <a:ext uri="{FF2B5EF4-FFF2-40B4-BE49-F238E27FC236}">
                <a16:creationId xmlns:a16="http://schemas.microsoft.com/office/drawing/2014/main" id="{CC3A307C-8874-4499-8F21-099DDAF8908F}"/>
              </a:ext>
            </a:extLst>
          </p:cNvPr>
          <p:cNvSpPr>
            <a:spLocks xmlns:a="http://schemas.openxmlformats.org/drawingml/2006/main" noGrp="1"/>
          </p:cNvSpPr>
          <p:nvPr/>
        </p:nvSpPr>
        <p:spPr>
          <a:xfrm xmlns:a="http://schemas.openxmlformats.org/drawingml/2006/main">
            <a:off x="285750" y="3352800"/>
            <a:ext cx="11620500" cy="895350"/>
          </a:xfrm>
          <a:prstGeom xmlns:a="http://schemas.openxmlformats.org/drawingml/2006/main" prst="roundRect">
            <a:avLst>
              <a:gd name="adj" fmla="val 8511"/>
            </a:avLst>
          </a:prstGeom>
          <a:solidFill xmlns:a="http://schemas.openxmlformats.org/drawingml/2006/main">
            <a:srgbClr val="0F3159"/>
          </a:solidFill>
          <a:ln xmlns:a="http://schemas.openxmlformats.org/drawingml/2006/main" w="9525">
            <a:solidFill>
              <a:srgbClr val="1B4C8A"/>
            </a:solidFill>
            <a:prstDash val="solid"/>
          </a:ln>
        </p:spPr>
      </p:sp>
      <p:sp>
        <p:nvSpPr>
          <p:cNvPr id="26" name="">
            <a:extLst xmlns:a="http://schemas.openxmlformats.org/drawingml/2006/main">
              <a:ext uri="{FF2B5EF4-FFF2-40B4-BE49-F238E27FC236}">
                <a16:creationId xmlns:a16="http://schemas.microsoft.com/office/drawing/2014/main" id="{3A89ECF6-A18B-4B98-8B40-D5C46E66AC6F}"/>
              </a:ext>
            </a:extLst>
          </p:cNvPr>
          <p:cNvSpPr>
            <a:spLocks xmlns:a="http://schemas.openxmlformats.org/drawingml/2006/main" noGrp="1"/>
          </p:cNvSpPr>
          <p:nvPr/>
        </p:nvSpPr>
        <p:spPr>
          <a:xfrm xmlns:a="http://schemas.openxmlformats.org/drawingml/2006/main">
            <a:off x="285750" y="3352800"/>
            <a:ext cx="47625" cy="8953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CC9CF05-32C2-4FAD-9CEC-7054CDF0CB92}"/>
              </a:ext>
            </a:extLst>
          </p:cNvPr>
          <p:cNvSpPr>
            <a:spLocks xmlns:a="http://schemas.openxmlformats.org/drawingml/2006/main" noGrp="1"/>
          </p:cNvSpPr>
          <p:nvPr/>
        </p:nvSpPr>
        <p:spPr>
          <a:xfrm xmlns:a="http://schemas.openxmlformats.org/drawingml/2006/main">
            <a:off x="476250" y="36385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F5C33B"/>
                </a:solidFill>
                <a:latin typeface="微软雅黑"/>
                <a:ea typeface="微软雅黑"/>
                <a:cs typeface="微软雅黑"/>
              </a:defRPr>
            </a:pPr>
            <a:r>
              <a:rPr sz="1125" b="1">
                <a:solidFill>
                  <a:srgbClr val="F5C33B"/>
                </a:solidFill>
                <a:latin typeface="微软雅黑"/>
                <a:ea typeface="微软雅黑"/>
                <a:cs typeface="微软雅黑"/>
              </a:rPr>
              <a:t>第三层 · 引擎</a:t>
            </a:r>
          </a:p>
        </p:txBody>
      </p:sp>
      <p:sp>
        <p:nvSpPr>
          <p:cNvPr id="28" name="">
            <a:extLst xmlns:a="http://schemas.openxmlformats.org/drawingml/2006/main">
              <a:ext uri="{FF2B5EF4-FFF2-40B4-BE49-F238E27FC236}">
                <a16:creationId xmlns:a16="http://schemas.microsoft.com/office/drawing/2014/main" id="{03DAA155-C8C5-41E9-8B7B-CB11F42E56C3}"/>
              </a:ext>
            </a:extLst>
          </p:cNvPr>
          <p:cNvSpPr>
            <a:spLocks xmlns:a="http://schemas.openxmlformats.org/drawingml/2006/main" noGrp="1"/>
          </p:cNvSpPr>
          <p:nvPr/>
        </p:nvSpPr>
        <p:spPr>
          <a:xfrm xmlns:a="http://schemas.openxmlformats.org/drawingml/2006/main">
            <a:off x="2038350" y="35052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11 项规则场景测试全部通过</a:t>
            </a:r>
          </a:p>
        </p:txBody>
      </p:sp>
      <p:sp>
        <p:nvSpPr>
          <p:cNvPr id="29" name="">
            <a:extLst xmlns:a="http://schemas.openxmlformats.org/drawingml/2006/main">
              <a:ext uri="{FF2B5EF4-FFF2-40B4-BE49-F238E27FC236}">
                <a16:creationId xmlns:a16="http://schemas.microsoft.com/office/drawing/2014/main" id="{20D67211-E8C1-4F72-834F-4A2F959B9492}"/>
              </a:ext>
            </a:extLst>
          </p:cNvPr>
          <p:cNvSpPr>
            <a:spLocks xmlns:a="http://schemas.openxmlformats.org/drawingml/2006/main" noGrp="1"/>
          </p:cNvSpPr>
          <p:nvPr/>
        </p:nvSpPr>
        <p:spPr>
          <a:xfrm xmlns:a="http://schemas.openxmlformats.org/drawingml/2006/main">
            <a:off x="2038350" y="37909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覆盖启停 / 优先级 / 分组 / 引用事实 / 兜底 / 脏数据</a:t>
            </a:r>
          </a:p>
        </p:txBody>
      </p:sp>
      <p:sp>
        <p:nvSpPr>
          <p:cNvPr id="30" name="">
            <a:extLst xmlns:a="http://schemas.openxmlformats.org/drawingml/2006/main">
              <a:ext uri="{FF2B5EF4-FFF2-40B4-BE49-F238E27FC236}">
                <a16:creationId xmlns:a16="http://schemas.microsoft.com/office/drawing/2014/main" id="{7111C5D2-CCA0-4E1E-BF64-AD9B40D2FE54}"/>
              </a:ext>
            </a:extLst>
          </p:cNvPr>
          <p:cNvSpPr>
            <a:spLocks xmlns:a="http://schemas.openxmlformats.org/drawingml/2006/main" noGrp="1"/>
          </p:cNvSpPr>
          <p:nvPr/>
        </p:nvSpPr>
        <p:spPr>
          <a:xfrm xmlns:a="http://schemas.openxmlformats.org/drawingml/2006/main">
            <a:off x="7048500" y="3562350"/>
            <a:ext cx="1428750" cy="476250"/>
          </a:xfrm>
          <a:prstGeom xmlns:a="http://schemas.openxmlformats.org/drawingml/2006/main" prst="roundRect">
            <a:avLst>
              <a:gd name="adj" fmla="val 12000"/>
            </a:avLst>
          </a:prstGeom>
          <a:solidFill xmlns:a="http://schemas.openxmlformats.org/drawingml/2006/main">
            <a:srgbClr val="0A2244"/>
          </a:solidFill>
          <a:ln xmlns:a="http://schemas.openxmlformats.org/drawingml/2006/main" w="9525">
            <a:solidFill>
              <a:srgbClr val="173D68"/>
            </a:solidFill>
            <a:prstDash val="solid"/>
          </a:ln>
        </p:spPr>
      </p:sp>
      <p:sp>
        <p:nvSpPr>
          <p:cNvPr id="31" name="">
            <a:extLst xmlns:a="http://schemas.openxmlformats.org/drawingml/2006/main">
              <a:ext uri="{FF2B5EF4-FFF2-40B4-BE49-F238E27FC236}">
                <a16:creationId xmlns:a16="http://schemas.microsoft.com/office/drawing/2014/main" id="{35CE4804-1DDB-4DAA-B9B8-2F44E269BF7C}"/>
              </a:ext>
            </a:extLst>
          </p:cNvPr>
          <p:cNvSpPr>
            <a:spLocks xmlns:a="http://schemas.openxmlformats.org/drawingml/2006/main" noGrp="1"/>
          </p:cNvSpPr>
          <p:nvPr/>
        </p:nvSpPr>
        <p:spPr>
          <a:xfrm xmlns:a="http://schemas.openxmlformats.org/drawingml/2006/main">
            <a:off x="7048500" y="3562350"/>
            <a:ext cx="142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FD08A"/>
                </a:solidFill>
                <a:latin typeface="微软雅黑"/>
                <a:ea typeface="微软雅黑"/>
                <a:cs typeface="微软雅黑"/>
              </a:defRPr>
            </a:pPr>
            <a:r>
              <a:rPr sz="1200" b="1">
                <a:solidFill>
                  <a:srgbClr val="3FD08A"/>
                </a:solidFill>
                <a:latin typeface="微软雅黑"/>
                <a:ea typeface="微软雅黑"/>
                <a:cs typeface="微软雅黑"/>
              </a:rPr>
              <a:t>通过</a:t>
            </a:r>
          </a:p>
        </p:txBody>
      </p:sp>
      <p:sp>
        <p:nvSpPr>
          <p:cNvPr id="32" name="">
            <a:extLst xmlns:a="http://schemas.openxmlformats.org/drawingml/2006/main">
              <a:ext uri="{FF2B5EF4-FFF2-40B4-BE49-F238E27FC236}">
                <a16:creationId xmlns:a16="http://schemas.microsoft.com/office/drawing/2014/main" id="{25E17D6C-69A5-4809-A548-BD6B613CDC28}"/>
              </a:ext>
            </a:extLst>
          </p:cNvPr>
          <p:cNvSpPr>
            <a:spLocks xmlns:a="http://schemas.openxmlformats.org/drawingml/2006/main" noGrp="1"/>
          </p:cNvSpPr>
          <p:nvPr/>
        </p:nvSpPr>
        <p:spPr>
          <a:xfrm xmlns:a="http://schemas.openxmlformats.org/drawingml/2006/main">
            <a:off x="285750" y="4362450"/>
            <a:ext cx="11620500" cy="895350"/>
          </a:xfrm>
          <a:prstGeom xmlns:a="http://schemas.openxmlformats.org/drawingml/2006/main" prst="roundRect">
            <a:avLst>
              <a:gd name="adj" fmla="val 8511"/>
            </a:avLst>
          </a:prstGeom>
          <a:solidFill xmlns:a="http://schemas.openxmlformats.org/drawingml/2006/main">
            <a:srgbClr val="0C2A50"/>
          </a:solidFill>
          <a:ln xmlns:a="http://schemas.openxmlformats.org/drawingml/2006/main" w="9525">
            <a:solidFill>
              <a:srgbClr val="1B4C8A"/>
            </a:solidFill>
            <a:prstDash val="solid"/>
          </a:ln>
        </p:spPr>
      </p:sp>
      <p:sp>
        <p:nvSpPr>
          <p:cNvPr id="33" name="">
            <a:extLst xmlns:a="http://schemas.openxmlformats.org/drawingml/2006/main">
              <a:ext uri="{FF2B5EF4-FFF2-40B4-BE49-F238E27FC236}">
                <a16:creationId xmlns:a16="http://schemas.microsoft.com/office/drawing/2014/main" id="{9754641C-9860-46EB-9EF5-437A08416585}"/>
              </a:ext>
            </a:extLst>
          </p:cNvPr>
          <p:cNvSpPr>
            <a:spLocks xmlns:a="http://schemas.openxmlformats.org/drawingml/2006/main" noGrp="1"/>
          </p:cNvSpPr>
          <p:nvPr/>
        </p:nvSpPr>
        <p:spPr>
          <a:xfrm xmlns:a="http://schemas.openxmlformats.org/drawingml/2006/main">
            <a:off x="285750" y="4362450"/>
            <a:ext cx="47625" cy="895350"/>
          </a:xfrm>
          <a:prstGeom xmlns:a="http://schemas.openxmlformats.org/drawingml/2006/main" prst="rect">
            <a:avLst/>
          </a:prstGeom>
          <a:solidFill xmlns:a="http://schemas.openxmlformats.org/drawingml/2006/main">
            <a:srgbClr val="9B8CFF"/>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AA34E0C-E3CC-4265-982E-84A939F62715}"/>
              </a:ext>
            </a:extLst>
          </p:cNvPr>
          <p:cNvSpPr>
            <a:spLocks xmlns:a="http://schemas.openxmlformats.org/drawingml/2006/main" noGrp="1"/>
          </p:cNvSpPr>
          <p:nvPr/>
        </p:nvSpPr>
        <p:spPr>
          <a:xfrm xmlns:a="http://schemas.openxmlformats.org/drawingml/2006/main">
            <a:off x="476250" y="464820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9B8CFF"/>
                </a:solidFill>
                <a:latin typeface="微软雅黑"/>
                <a:ea typeface="微软雅黑"/>
                <a:cs typeface="微软雅黑"/>
              </a:defRPr>
            </a:pPr>
            <a:r>
              <a:rPr sz="1125" b="1">
                <a:solidFill>
                  <a:srgbClr val="9B8CFF"/>
                </a:solidFill>
                <a:latin typeface="微软雅黑"/>
                <a:ea typeface="微软雅黑"/>
                <a:cs typeface="微软雅黑"/>
              </a:rPr>
              <a:t>第四层 · 鉴权</a:t>
            </a:r>
          </a:p>
        </p:txBody>
      </p:sp>
      <p:sp>
        <p:nvSpPr>
          <p:cNvPr id="35" name="">
            <a:extLst xmlns:a="http://schemas.openxmlformats.org/drawingml/2006/main">
              <a:ext uri="{FF2B5EF4-FFF2-40B4-BE49-F238E27FC236}">
                <a16:creationId xmlns:a16="http://schemas.microsoft.com/office/drawing/2014/main" id="{860864CA-F888-44F8-A6A3-B0F1358837E2}"/>
              </a:ext>
            </a:extLst>
          </p:cNvPr>
          <p:cNvSpPr>
            <a:spLocks xmlns:a="http://schemas.openxmlformats.org/drawingml/2006/main" noGrp="1"/>
          </p:cNvSpPr>
          <p:nvPr/>
        </p:nvSpPr>
        <p:spPr>
          <a:xfrm xmlns:a="http://schemas.openxmlformats.org/drawingml/2006/main">
            <a:off x="2038350" y="45148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非管理员调用 /api/v1/rules/** 必须被拒</a:t>
            </a:r>
          </a:p>
        </p:txBody>
      </p:sp>
      <p:sp>
        <p:nvSpPr>
          <p:cNvPr id="36" name="">
            <a:extLst xmlns:a="http://schemas.openxmlformats.org/drawingml/2006/main">
              <a:ext uri="{FF2B5EF4-FFF2-40B4-BE49-F238E27FC236}">
                <a16:creationId xmlns:a16="http://schemas.microsoft.com/office/drawing/2014/main" id="{16D7CC19-5D6A-4206-8DCB-48507DA56481}"/>
              </a:ext>
            </a:extLst>
          </p:cNvPr>
          <p:cNvSpPr>
            <a:spLocks xmlns:a="http://schemas.openxmlformats.org/drawingml/2006/main" noGrp="1"/>
          </p:cNvSpPr>
          <p:nvPr/>
        </p:nvSpPr>
        <p:spPr>
          <a:xfrm xmlns:a="http://schemas.openxmlformats.org/drawingml/2006/main">
            <a:off x="2038350" y="48006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返回 403 / code=40301；伪造 X-User 请求头失效</a:t>
            </a:r>
          </a:p>
        </p:txBody>
      </p:sp>
      <p:sp>
        <p:nvSpPr>
          <p:cNvPr id="37" name="">
            <a:extLst xmlns:a="http://schemas.openxmlformats.org/drawingml/2006/main">
              <a:ext uri="{FF2B5EF4-FFF2-40B4-BE49-F238E27FC236}">
                <a16:creationId xmlns:a16="http://schemas.microsoft.com/office/drawing/2014/main" id="{71B24746-D74D-4CB1-A9A9-260665BB06B1}"/>
              </a:ext>
            </a:extLst>
          </p:cNvPr>
          <p:cNvSpPr>
            <a:spLocks xmlns:a="http://schemas.openxmlformats.org/drawingml/2006/main" noGrp="1"/>
          </p:cNvSpPr>
          <p:nvPr/>
        </p:nvSpPr>
        <p:spPr>
          <a:xfrm xmlns:a="http://schemas.openxmlformats.org/drawingml/2006/main">
            <a:off x="7048500" y="4572000"/>
            <a:ext cx="1428750" cy="476250"/>
          </a:xfrm>
          <a:prstGeom xmlns:a="http://schemas.openxmlformats.org/drawingml/2006/main" prst="roundRect">
            <a:avLst>
              <a:gd name="adj" fmla="val 12000"/>
            </a:avLst>
          </a:prstGeom>
          <a:solidFill xmlns:a="http://schemas.openxmlformats.org/drawingml/2006/main">
            <a:srgbClr val="0A2244"/>
          </a:solidFill>
          <a:ln xmlns:a="http://schemas.openxmlformats.org/drawingml/2006/main" w="9525">
            <a:solidFill>
              <a:srgbClr val="173D68"/>
            </a:solidFill>
            <a:prstDash val="solid"/>
          </a:ln>
        </p:spPr>
      </p:sp>
      <p:sp>
        <p:nvSpPr>
          <p:cNvPr id="38" name="">
            <a:extLst xmlns:a="http://schemas.openxmlformats.org/drawingml/2006/main">
              <a:ext uri="{FF2B5EF4-FFF2-40B4-BE49-F238E27FC236}">
                <a16:creationId xmlns:a16="http://schemas.microsoft.com/office/drawing/2014/main" id="{2418D88C-1CEC-4727-8E4B-B0D0953B06A8}"/>
              </a:ext>
            </a:extLst>
          </p:cNvPr>
          <p:cNvSpPr>
            <a:spLocks xmlns:a="http://schemas.openxmlformats.org/drawingml/2006/main" noGrp="1"/>
          </p:cNvSpPr>
          <p:nvPr/>
        </p:nvSpPr>
        <p:spPr>
          <a:xfrm xmlns:a="http://schemas.openxmlformats.org/drawingml/2006/main">
            <a:off x="7048500" y="4572000"/>
            <a:ext cx="142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FD08A"/>
                </a:solidFill>
                <a:latin typeface="微软雅黑"/>
                <a:ea typeface="微软雅黑"/>
                <a:cs typeface="微软雅黑"/>
              </a:defRPr>
            </a:pPr>
            <a:r>
              <a:rPr sz="1200" b="1">
                <a:solidFill>
                  <a:srgbClr val="3FD08A"/>
                </a:solidFill>
                <a:latin typeface="微软雅黑"/>
                <a:ea typeface="微软雅黑"/>
                <a:cs typeface="微软雅黑"/>
              </a:rPr>
              <a:t>通过</a:t>
            </a:r>
          </a:p>
        </p:txBody>
      </p:sp>
      <p:sp>
        <p:nvSpPr>
          <p:cNvPr id="39" name="">
            <a:extLst xmlns:a="http://schemas.openxmlformats.org/drawingml/2006/main">
              <a:ext uri="{FF2B5EF4-FFF2-40B4-BE49-F238E27FC236}">
                <a16:creationId xmlns:a16="http://schemas.microsoft.com/office/drawing/2014/main" id="{277E0E90-A73B-4A19-B9D8-7E44CC321C98}"/>
              </a:ext>
            </a:extLst>
          </p:cNvPr>
          <p:cNvSpPr>
            <a:spLocks xmlns:a="http://schemas.openxmlformats.org/drawingml/2006/main" noGrp="1"/>
          </p:cNvSpPr>
          <p:nvPr/>
        </p:nvSpPr>
        <p:spPr>
          <a:xfrm xmlns:a="http://schemas.openxmlformats.org/drawingml/2006/main">
            <a:off x="285750" y="5372100"/>
            <a:ext cx="11620500" cy="895350"/>
          </a:xfrm>
          <a:prstGeom xmlns:a="http://schemas.openxmlformats.org/drawingml/2006/main" prst="roundRect">
            <a:avLst>
              <a:gd name="adj" fmla="val 8511"/>
            </a:avLst>
          </a:prstGeom>
          <a:solidFill xmlns:a="http://schemas.openxmlformats.org/drawingml/2006/main">
            <a:srgbClr val="0F3159"/>
          </a:solidFill>
          <a:ln xmlns:a="http://schemas.openxmlformats.org/drawingml/2006/main" w="9525">
            <a:solidFill>
              <a:srgbClr val="1B4C8A"/>
            </a:solidFill>
            <a:prstDash val="solid"/>
          </a:ln>
        </p:spPr>
      </p:sp>
      <p:sp>
        <p:nvSpPr>
          <p:cNvPr id="40" name="">
            <a:extLst xmlns:a="http://schemas.openxmlformats.org/drawingml/2006/main">
              <a:ext uri="{FF2B5EF4-FFF2-40B4-BE49-F238E27FC236}">
                <a16:creationId xmlns:a16="http://schemas.microsoft.com/office/drawing/2014/main" id="{EDDCBBFD-2571-414A-A24D-BDFB72FDD50A}"/>
              </a:ext>
            </a:extLst>
          </p:cNvPr>
          <p:cNvSpPr>
            <a:spLocks xmlns:a="http://schemas.openxmlformats.org/drawingml/2006/main" noGrp="1"/>
          </p:cNvSpPr>
          <p:nvPr/>
        </p:nvSpPr>
        <p:spPr>
          <a:xfrm xmlns:a="http://schemas.openxmlformats.org/drawingml/2006/main">
            <a:off x="285750" y="5372100"/>
            <a:ext cx="47625" cy="895350"/>
          </a:xfrm>
          <a:prstGeom xmlns:a="http://schemas.openxmlformats.org/drawingml/2006/main" prst="rect">
            <a:avLst/>
          </a:prstGeom>
          <a:solidFill xmlns:a="http://schemas.openxmlformats.org/drawingml/2006/main">
            <a:srgbClr val="3FD08A"/>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E379DC8F-7374-4BDE-BCAA-647779E053B4}"/>
              </a:ext>
            </a:extLst>
          </p:cNvPr>
          <p:cNvSpPr>
            <a:spLocks xmlns:a="http://schemas.openxmlformats.org/drawingml/2006/main" noGrp="1"/>
          </p:cNvSpPr>
          <p:nvPr/>
        </p:nvSpPr>
        <p:spPr>
          <a:xfrm xmlns:a="http://schemas.openxmlformats.org/drawingml/2006/main">
            <a:off x="476250" y="56578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1">
                <a:solidFill>
                  <a:srgbClr val="3FD08A"/>
                </a:solidFill>
                <a:latin typeface="微软雅黑"/>
                <a:ea typeface="微软雅黑"/>
                <a:cs typeface="微软雅黑"/>
              </a:defRPr>
            </a:pPr>
            <a:r>
              <a:rPr sz="1125" b="1">
                <a:solidFill>
                  <a:srgbClr val="3FD08A"/>
                </a:solidFill>
                <a:latin typeface="微软雅黑"/>
                <a:ea typeface="微软雅黑"/>
                <a:cs typeface="微软雅黑"/>
              </a:rPr>
              <a:t>第五层 · 业务</a:t>
            </a:r>
          </a:p>
        </p:txBody>
      </p:sp>
      <p:sp>
        <p:nvSpPr>
          <p:cNvPr id="42" name="">
            <a:extLst xmlns:a="http://schemas.openxmlformats.org/drawingml/2006/main">
              <a:ext uri="{FF2B5EF4-FFF2-40B4-BE49-F238E27FC236}">
                <a16:creationId xmlns:a16="http://schemas.microsoft.com/office/drawing/2014/main" id="{CAD77E76-7792-4CA7-81C0-F98F624977BF}"/>
              </a:ext>
            </a:extLst>
          </p:cNvPr>
          <p:cNvSpPr>
            <a:spLocks xmlns:a="http://schemas.openxmlformats.org/drawingml/2006/main" noGrp="1"/>
          </p:cNvSpPr>
          <p:nvPr/>
        </p:nvSpPr>
        <p:spPr>
          <a:xfrm xmlns:a="http://schemas.openxmlformats.org/drawingml/2006/main">
            <a:off x="2038350" y="55245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端到端 analyze → confirm → 留痕</a:t>
            </a:r>
          </a:p>
        </p:txBody>
      </p:sp>
      <p:sp>
        <p:nvSpPr>
          <p:cNvPr id="43" name="">
            <a:extLst xmlns:a="http://schemas.openxmlformats.org/drawingml/2006/main">
              <a:ext uri="{FF2B5EF4-FFF2-40B4-BE49-F238E27FC236}">
                <a16:creationId xmlns:a16="http://schemas.microsoft.com/office/drawing/2014/main" id="{8DB6A5ED-4E46-4FF0-8AEC-B3A4B3635440}"/>
              </a:ext>
            </a:extLst>
          </p:cNvPr>
          <p:cNvSpPr>
            <a:spLocks xmlns:a="http://schemas.openxmlformats.org/drawingml/2006/main" noGrp="1"/>
          </p:cNvSpPr>
          <p:nvPr/>
        </p:nvSpPr>
        <p:spPr>
          <a:xfrm xmlns:a="http://schemas.openxmlformats.org/drawingml/2006/main">
            <a:off x="2038350" y="5810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9FC2E8"/>
                </a:solidFill>
                <a:latin typeface="微软雅黑"/>
                <a:ea typeface="微软雅黑"/>
                <a:cs typeface="微软雅黑"/>
              </a:defRPr>
            </a:pPr>
            <a:r>
              <a:rPr sz="863" b="0">
                <a:solidFill>
                  <a:srgbClr val="9FC2E8"/>
                </a:solidFill>
                <a:latin typeface="微软雅黑"/>
                <a:ea typeface="微软雅黑"/>
                <a:cs typeface="微软雅黑"/>
              </a:rPr>
              <a:t>三表同号（run_id），业务数据变更为零</a:t>
            </a:r>
          </a:p>
        </p:txBody>
      </p:sp>
      <p:sp>
        <p:nvSpPr>
          <p:cNvPr id="44" name="">
            <a:extLst xmlns:a="http://schemas.openxmlformats.org/drawingml/2006/main">
              <a:ext uri="{FF2B5EF4-FFF2-40B4-BE49-F238E27FC236}">
                <a16:creationId xmlns:a16="http://schemas.microsoft.com/office/drawing/2014/main" id="{3C3A3595-6159-453E-99BC-ECB9423B57F5}"/>
              </a:ext>
            </a:extLst>
          </p:cNvPr>
          <p:cNvSpPr>
            <a:spLocks xmlns:a="http://schemas.openxmlformats.org/drawingml/2006/main" noGrp="1"/>
          </p:cNvSpPr>
          <p:nvPr/>
        </p:nvSpPr>
        <p:spPr>
          <a:xfrm xmlns:a="http://schemas.openxmlformats.org/drawingml/2006/main">
            <a:off x="7048500" y="5581650"/>
            <a:ext cx="1428750" cy="476250"/>
          </a:xfrm>
          <a:prstGeom xmlns:a="http://schemas.openxmlformats.org/drawingml/2006/main" prst="roundRect">
            <a:avLst>
              <a:gd name="adj" fmla="val 12000"/>
            </a:avLst>
          </a:prstGeom>
          <a:solidFill xmlns:a="http://schemas.openxmlformats.org/drawingml/2006/main">
            <a:srgbClr val="0A2244"/>
          </a:solidFill>
          <a:ln xmlns:a="http://schemas.openxmlformats.org/drawingml/2006/main" w="9525">
            <a:solidFill>
              <a:srgbClr val="173D68"/>
            </a:solidFill>
            <a:prstDash val="solid"/>
          </a:ln>
        </p:spPr>
      </p:sp>
      <p:sp>
        <p:nvSpPr>
          <p:cNvPr id="45" name="">
            <a:extLst xmlns:a="http://schemas.openxmlformats.org/drawingml/2006/main">
              <a:ext uri="{FF2B5EF4-FFF2-40B4-BE49-F238E27FC236}">
                <a16:creationId xmlns:a16="http://schemas.microsoft.com/office/drawing/2014/main" id="{305156A5-CB1E-4449-A537-D811F62B54F9}"/>
              </a:ext>
            </a:extLst>
          </p:cNvPr>
          <p:cNvSpPr>
            <a:spLocks xmlns:a="http://schemas.openxmlformats.org/drawingml/2006/main" noGrp="1"/>
          </p:cNvSpPr>
          <p:nvPr/>
        </p:nvSpPr>
        <p:spPr>
          <a:xfrm xmlns:a="http://schemas.openxmlformats.org/drawingml/2006/main">
            <a:off x="7048500" y="5581650"/>
            <a:ext cx="142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FD08A"/>
                </a:solidFill>
                <a:latin typeface="微软雅黑"/>
                <a:ea typeface="微软雅黑"/>
                <a:cs typeface="微软雅黑"/>
              </a:defRPr>
            </a:pPr>
            <a:r>
              <a:rPr sz="1200" b="1">
                <a:solidFill>
                  <a:srgbClr val="3FD08A"/>
                </a:solidFill>
                <a:latin typeface="微软雅黑"/>
                <a:ea typeface="微软雅黑"/>
                <a:cs typeface="微软雅黑"/>
              </a:rPr>
              <a:t>通过</a:t>
            </a:r>
          </a:p>
        </p:txBody>
      </p:sp>
      <p:sp>
        <p:nvSpPr>
          <p:cNvPr id="46" name="">
            <a:extLst xmlns:a="http://schemas.openxmlformats.org/drawingml/2006/main">
              <a:ext uri="{FF2B5EF4-FFF2-40B4-BE49-F238E27FC236}">
                <a16:creationId xmlns:a16="http://schemas.microsoft.com/office/drawing/2014/main" id="{DB2BDFC9-50FF-4CE6-A577-3972BDF769CB}"/>
              </a:ext>
            </a:extLst>
          </p:cNvPr>
          <p:cNvSpPr>
            <a:spLocks xmlns:a="http://schemas.openxmlformats.org/drawingml/2006/main" noGrp="1"/>
          </p:cNvSpPr>
          <p:nvPr/>
        </p:nvSpPr>
        <p:spPr>
          <a:xfrm xmlns:a="http://schemas.openxmlformats.org/drawingml/2006/main">
            <a:off x="8667750" y="1333500"/>
            <a:ext cx="3238500" cy="4267200"/>
          </a:xfrm>
          <a:prstGeom xmlns:a="http://schemas.openxmlformats.org/drawingml/2006/main" prst="roundRect">
            <a:avLst>
              <a:gd name="adj" fmla="val 2353"/>
            </a:avLst>
          </a:prstGeom>
          <a:solidFill xmlns:a="http://schemas.openxmlformats.org/drawingml/2006/main">
            <a:srgbClr val="0D2748"/>
          </a:solidFill>
          <a:ln xmlns:a="http://schemas.openxmlformats.org/drawingml/2006/main" w="13335">
            <a:solidFill>
              <a:srgbClr val="F5C33B"/>
            </a:solidFill>
            <a:prstDash val="solid"/>
          </a:ln>
        </p:spPr>
      </p:sp>
      <p:sp>
        <p:nvSpPr>
          <p:cNvPr id="47" name="">
            <a:extLst xmlns:a="http://schemas.openxmlformats.org/drawingml/2006/main">
              <a:ext uri="{FF2B5EF4-FFF2-40B4-BE49-F238E27FC236}">
                <a16:creationId xmlns:a16="http://schemas.microsoft.com/office/drawing/2014/main" id="{B85D30CB-4E89-4014-83F9-1F6C0F637489}"/>
              </a:ext>
            </a:extLst>
          </p:cNvPr>
          <p:cNvSpPr>
            <a:spLocks xmlns:a="http://schemas.openxmlformats.org/drawingml/2006/main" noGrp="1"/>
          </p:cNvSpPr>
          <p:nvPr/>
        </p:nvSpPr>
        <p:spPr>
          <a:xfrm xmlns:a="http://schemas.openxmlformats.org/drawingml/2006/main">
            <a:off x="8858250" y="14859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F5C33B"/>
                </a:solidFill>
                <a:latin typeface="微软雅黑"/>
                <a:ea typeface="微软雅黑"/>
                <a:cs typeface="微软雅黑"/>
              </a:defRPr>
            </a:pPr>
            <a:r>
              <a:rPr sz="1088" b="1">
                <a:solidFill>
                  <a:srgbClr val="F5C33B"/>
                </a:solidFill>
                <a:latin typeface="微软雅黑"/>
                <a:ea typeface="微软雅黑"/>
                <a:cs typeface="微软雅黑"/>
              </a:rPr>
              <a:t>规则引擎专项自验（7 项）</a:t>
            </a:r>
          </a:p>
        </p:txBody>
      </p:sp>
      <p:sp>
        <p:nvSpPr>
          <p:cNvPr id="48" name="">
            <a:extLst xmlns:a="http://schemas.openxmlformats.org/drawingml/2006/main">
              <a:ext uri="{FF2B5EF4-FFF2-40B4-BE49-F238E27FC236}">
                <a16:creationId xmlns:a16="http://schemas.microsoft.com/office/drawing/2014/main" id="{825DC099-4D37-499E-BF24-4A69DB405C60}"/>
              </a:ext>
            </a:extLst>
          </p:cNvPr>
          <p:cNvSpPr>
            <a:spLocks xmlns:a="http://schemas.openxmlformats.org/drawingml/2006/main" noGrp="1"/>
          </p:cNvSpPr>
          <p:nvPr/>
        </p:nvSpPr>
        <p:spPr>
          <a:xfrm xmlns:a="http://schemas.openxmlformats.org/drawingml/2006/main">
            <a:off x="8858250" y="1943100"/>
            <a:ext cx="152400" cy="152400"/>
          </a:xfrm>
          <a:prstGeom xmlns:a="http://schemas.openxmlformats.org/drawingml/2006/main" prst="ellipse">
            <a:avLst/>
          </a:prstGeom>
          <a:solidFill xmlns:a="http://schemas.openxmlformats.org/drawingml/2006/main">
            <a:srgbClr val="3FD08A"/>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DDC6D32A-28B7-46D2-B7F0-DEBF517A9A6E}"/>
              </a:ext>
            </a:extLst>
          </p:cNvPr>
          <p:cNvSpPr>
            <a:spLocks xmlns:a="http://schemas.openxmlformats.org/drawingml/2006/main" noGrp="1"/>
          </p:cNvSpPr>
          <p:nvPr/>
        </p:nvSpPr>
        <p:spPr>
          <a:xfrm xmlns:a="http://schemas.openxmlformats.org/drawingml/2006/main">
            <a:off x="9086850" y="18288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启用 / 停用（enabled）</a:t>
            </a:r>
          </a:p>
        </p:txBody>
      </p:sp>
      <p:sp>
        <p:nvSpPr>
          <p:cNvPr id="50" name="">
            <a:extLst xmlns:a="http://schemas.openxmlformats.org/drawingml/2006/main">
              <a:ext uri="{FF2B5EF4-FFF2-40B4-BE49-F238E27FC236}">
                <a16:creationId xmlns:a16="http://schemas.microsoft.com/office/drawing/2014/main" id="{DFFAFDDE-4ECC-45DD-96DC-C0039F7B3758}"/>
              </a:ext>
            </a:extLst>
          </p:cNvPr>
          <p:cNvSpPr>
            <a:spLocks xmlns:a="http://schemas.openxmlformats.org/drawingml/2006/main" noGrp="1"/>
          </p:cNvSpPr>
          <p:nvPr/>
        </p:nvSpPr>
        <p:spPr>
          <a:xfrm xmlns:a="http://schemas.openxmlformats.org/drawingml/2006/main">
            <a:off x="8858250" y="2438400"/>
            <a:ext cx="152400" cy="152400"/>
          </a:xfrm>
          <a:prstGeom xmlns:a="http://schemas.openxmlformats.org/drawingml/2006/main" prst="ellipse">
            <a:avLst/>
          </a:prstGeom>
          <a:solidFill xmlns:a="http://schemas.openxmlformats.org/drawingml/2006/main">
            <a:srgbClr val="3FD08A"/>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47DDF064-AE93-4015-B98D-7C7B2CADF79A}"/>
              </a:ext>
            </a:extLst>
          </p:cNvPr>
          <p:cNvSpPr>
            <a:spLocks xmlns:a="http://schemas.openxmlformats.org/drawingml/2006/main" noGrp="1"/>
          </p:cNvSpPr>
          <p:nvPr/>
        </p:nvSpPr>
        <p:spPr>
          <a:xfrm xmlns:a="http://schemas.openxmlformats.org/drawingml/2006/main">
            <a:off x="9086850" y="23241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优先级覆盖（同场景 priority 冲突）</a:t>
            </a:r>
          </a:p>
        </p:txBody>
      </p:sp>
      <p:sp>
        <p:nvSpPr>
          <p:cNvPr id="52" name="">
            <a:extLst xmlns:a="http://schemas.openxmlformats.org/drawingml/2006/main">
              <a:ext uri="{FF2B5EF4-FFF2-40B4-BE49-F238E27FC236}">
                <a16:creationId xmlns:a16="http://schemas.microsoft.com/office/drawing/2014/main" id="{EB92A7D7-1A8D-4C57-B643-9FBB7EC7D3E8}"/>
              </a:ext>
            </a:extLst>
          </p:cNvPr>
          <p:cNvSpPr>
            <a:spLocks xmlns:a="http://schemas.openxmlformats.org/drawingml/2006/main" noGrp="1"/>
          </p:cNvSpPr>
          <p:nvPr/>
        </p:nvSpPr>
        <p:spPr>
          <a:xfrm xmlns:a="http://schemas.openxmlformats.org/drawingml/2006/main">
            <a:off x="8858250" y="2933700"/>
            <a:ext cx="152400" cy="152400"/>
          </a:xfrm>
          <a:prstGeom xmlns:a="http://schemas.openxmlformats.org/drawingml/2006/main" prst="ellipse">
            <a:avLst/>
          </a:prstGeom>
          <a:solidFill xmlns:a="http://schemas.openxmlformats.org/drawingml/2006/main">
            <a:srgbClr val="3FD08A"/>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BA8F7EBE-909B-45A8-83DA-2BADB3C1B2D2}"/>
              </a:ext>
            </a:extLst>
          </p:cNvPr>
          <p:cNvSpPr>
            <a:spLocks xmlns:a="http://schemas.openxmlformats.org/drawingml/2006/main" noGrp="1"/>
          </p:cNvSpPr>
          <p:nvPr/>
        </p:nvSpPr>
        <p:spPr>
          <a:xfrm xmlns:a="http://schemas.openxmlformats.org/drawingml/2006/main">
            <a:off x="9086850" y="28194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分组（rule_group + stop_on_match / max_hits）</a:t>
            </a:r>
          </a:p>
        </p:txBody>
      </p:sp>
      <p:sp>
        <p:nvSpPr>
          <p:cNvPr id="54" name="">
            <a:extLst xmlns:a="http://schemas.openxmlformats.org/drawingml/2006/main">
              <a:ext uri="{FF2B5EF4-FFF2-40B4-BE49-F238E27FC236}">
                <a16:creationId xmlns:a16="http://schemas.microsoft.com/office/drawing/2014/main" id="{DD5FA676-BE34-4766-B2FF-2E1ED065253C}"/>
              </a:ext>
            </a:extLst>
          </p:cNvPr>
          <p:cNvSpPr>
            <a:spLocks xmlns:a="http://schemas.openxmlformats.org/drawingml/2006/main" noGrp="1"/>
          </p:cNvSpPr>
          <p:nvPr/>
        </p:nvSpPr>
        <p:spPr>
          <a:xfrm xmlns:a="http://schemas.openxmlformats.org/drawingml/2006/main">
            <a:off x="8858250" y="3429000"/>
            <a:ext cx="152400" cy="152400"/>
          </a:xfrm>
          <a:prstGeom xmlns:a="http://schemas.openxmlformats.org/drawingml/2006/main" prst="ellipse">
            <a:avLst/>
          </a:prstGeom>
          <a:solidFill xmlns:a="http://schemas.openxmlformats.org/drawingml/2006/main">
            <a:srgbClr val="3FD08A"/>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9FF8A84C-F8D0-4C26-B1B0-42D7721DFDEC}"/>
              </a:ext>
            </a:extLst>
          </p:cNvPr>
          <p:cNvSpPr>
            <a:spLocks xmlns:a="http://schemas.openxmlformats.org/drawingml/2006/main" noGrp="1"/>
          </p:cNvSpPr>
          <p:nvPr/>
        </p:nvSpPr>
        <p:spPr>
          <a:xfrm xmlns:a="http://schemas.openxmlformats.org/drawingml/2006/main">
            <a:off x="9086850" y="33147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*_from 引用事实</a:t>
            </a:r>
          </a:p>
        </p:txBody>
      </p:sp>
      <p:sp>
        <p:nvSpPr>
          <p:cNvPr id="56" name="">
            <a:extLst xmlns:a="http://schemas.openxmlformats.org/drawingml/2006/main">
              <a:ext uri="{FF2B5EF4-FFF2-40B4-BE49-F238E27FC236}">
                <a16:creationId xmlns:a16="http://schemas.microsoft.com/office/drawing/2014/main" id="{5A0AC2E8-79F9-4A41-9A10-E5D6E1FEB906}"/>
              </a:ext>
            </a:extLst>
          </p:cNvPr>
          <p:cNvSpPr>
            <a:spLocks xmlns:a="http://schemas.openxmlformats.org/drawingml/2006/main" noGrp="1"/>
          </p:cNvSpPr>
          <p:nvPr/>
        </p:nvSpPr>
        <p:spPr>
          <a:xfrm xmlns:a="http://schemas.openxmlformats.org/drawingml/2006/main">
            <a:off x="8858250" y="3924300"/>
            <a:ext cx="152400" cy="152400"/>
          </a:xfrm>
          <a:prstGeom xmlns:a="http://schemas.openxmlformats.org/drawingml/2006/main" prst="ellipse">
            <a:avLst/>
          </a:prstGeom>
          <a:solidFill xmlns:a="http://schemas.openxmlformats.org/drawingml/2006/main">
            <a:srgbClr val="3FD08A"/>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580A3EA7-B12D-479C-B376-615D65599B73}"/>
              </a:ext>
            </a:extLst>
          </p:cNvPr>
          <p:cNvSpPr>
            <a:spLocks xmlns:a="http://schemas.openxmlformats.org/drawingml/2006/main" noGrp="1"/>
          </p:cNvSpPr>
          <p:nvPr/>
        </p:nvSpPr>
        <p:spPr>
          <a:xfrm xmlns:a="http://schemas.openxmlformats.org/drawingml/2006/main">
            <a:off x="9086850" y="38100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无匹配规则时的兜底输出</a:t>
            </a:r>
          </a:p>
        </p:txBody>
      </p:sp>
      <p:sp>
        <p:nvSpPr>
          <p:cNvPr id="58" name="">
            <a:extLst xmlns:a="http://schemas.openxmlformats.org/drawingml/2006/main">
              <a:ext uri="{FF2B5EF4-FFF2-40B4-BE49-F238E27FC236}">
                <a16:creationId xmlns:a16="http://schemas.microsoft.com/office/drawing/2014/main" id="{DBF0B77C-CB45-40F0-92D6-14BFB7CB9C55}"/>
              </a:ext>
            </a:extLst>
          </p:cNvPr>
          <p:cNvSpPr>
            <a:spLocks xmlns:a="http://schemas.openxmlformats.org/drawingml/2006/main" noGrp="1"/>
          </p:cNvSpPr>
          <p:nvPr/>
        </p:nvSpPr>
        <p:spPr>
          <a:xfrm xmlns:a="http://schemas.openxmlformats.org/drawingml/2006/main">
            <a:off x="8858250" y="4419600"/>
            <a:ext cx="152400" cy="152400"/>
          </a:xfrm>
          <a:prstGeom xmlns:a="http://schemas.openxmlformats.org/drawingml/2006/main" prst="ellipse">
            <a:avLst/>
          </a:prstGeom>
          <a:solidFill xmlns:a="http://schemas.openxmlformats.org/drawingml/2006/main">
            <a:srgbClr val="3FD08A"/>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39D2582A-C88D-4872-B82B-0F65C5C3034F}"/>
              </a:ext>
            </a:extLst>
          </p:cNvPr>
          <p:cNvSpPr>
            <a:spLocks xmlns:a="http://schemas.openxmlformats.org/drawingml/2006/main" noGrp="1"/>
          </p:cNvSpPr>
          <p:nvPr/>
        </p:nvSpPr>
        <p:spPr>
          <a:xfrm xmlns:a="http://schemas.openxmlformats.org/drawingml/2006/main">
            <a:off x="9086850" y="43053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condition_json 字段缺失或类型不对</a:t>
            </a:r>
          </a:p>
        </p:txBody>
      </p:sp>
      <p:sp>
        <p:nvSpPr>
          <p:cNvPr id="60" name="">
            <a:extLst xmlns:a="http://schemas.openxmlformats.org/drawingml/2006/main">
              <a:ext uri="{FF2B5EF4-FFF2-40B4-BE49-F238E27FC236}">
                <a16:creationId xmlns:a16="http://schemas.microsoft.com/office/drawing/2014/main" id="{7E38ED6B-8BA3-492E-99FD-42A4BA45D264}"/>
              </a:ext>
            </a:extLst>
          </p:cNvPr>
          <p:cNvSpPr>
            <a:spLocks xmlns:a="http://schemas.openxmlformats.org/drawingml/2006/main" noGrp="1"/>
          </p:cNvSpPr>
          <p:nvPr/>
        </p:nvSpPr>
        <p:spPr>
          <a:xfrm xmlns:a="http://schemas.openxmlformats.org/drawingml/2006/main">
            <a:off x="8858250" y="4914900"/>
            <a:ext cx="152400" cy="152400"/>
          </a:xfrm>
          <a:prstGeom xmlns:a="http://schemas.openxmlformats.org/drawingml/2006/main" prst="ellipse">
            <a:avLst/>
          </a:prstGeom>
          <a:solidFill xmlns:a="http://schemas.openxmlformats.org/drawingml/2006/main">
            <a:srgbClr val="3FD08A"/>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D9BA4083-837E-404B-9714-DEADBD4A486E}"/>
              </a:ext>
            </a:extLst>
          </p:cNvPr>
          <p:cNvSpPr>
            <a:spLocks xmlns:a="http://schemas.openxmlformats.org/drawingml/2006/main" noGrp="1"/>
          </p:cNvSpPr>
          <p:nvPr/>
        </p:nvSpPr>
        <p:spPr>
          <a:xfrm xmlns:a="http://schemas.openxmlformats.org/drawingml/2006/main">
            <a:off x="9086850" y="48006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结果是否带命中 rule_code 与依据</a:t>
            </a:r>
          </a:p>
        </p:txBody>
      </p:sp>
      <p:sp>
        <p:nvSpPr>
          <p:cNvPr id="62" name="">
            <a:extLst xmlns:a="http://schemas.openxmlformats.org/drawingml/2006/main">
              <a:ext uri="{FF2B5EF4-FFF2-40B4-BE49-F238E27FC236}">
                <a16:creationId xmlns:a16="http://schemas.microsoft.com/office/drawing/2014/main" id="{447DB6F1-0A92-4150-BBC5-476E6F7DEFBF}"/>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447C4754-21D1-48D1-8BC1-7BD9F16ED499}"/>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64" name="">
            <a:extLst xmlns:a="http://schemas.openxmlformats.org/drawingml/2006/main">
              <a:ext uri="{FF2B5EF4-FFF2-40B4-BE49-F238E27FC236}">
                <a16:creationId xmlns:a16="http://schemas.microsoft.com/office/drawing/2014/main" id="{E7170E5B-E9B4-4AB4-AECB-627ECAEE3D9D}"/>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28</a:t>
            </a:r>
          </a:p>
        </p:txBody>
      </p:sp>
    </p:spTree>
    <p:extLst>
      <p:ext uri="{BB962C8B-B14F-4D97-AF65-F5344CB8AC3E}">
        <p14:creationId xmlns:p14="http://schemas.microsoft.com/office/powerpoint/2010/main" val="1560712831"/>
      </p:ext>
    </p:extLst>
  </p:cSld>
</p:sld>
</file>

<file path=ppt/slides/slide29.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EEB7076-764F-41A6-BF4E-91E8C0E4B8D1}"/>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426C2ED-7C94-4814-B2AC-B2153B510367}"/>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1925ACF-D5B6-482E-890D-EBFCCF70A086}"/>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0AF7D47-2853-4F34-8634-86B928378CF5}"/>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EDC5AD9-1DBC-4BE7-B033-D2340F8CF09A}"/>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F6AE0B41-5A63-49D2-93D3-FC995D67C5AF}"/>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测试验证</a:t>
            </a:r>
          </a:p>
        </p:txBody>
      </p:sp>
      <p:sp>
        <p:nvSpPr>
          <p:cNvPr id="7" name="">
            <a:extLst xmlns:a="http://schemas.openxmlformats.org/drawingml/2006/main">
              <a:ext uri="{FF2B5EF4-FFF2-40B4-BE49-F238E27FC236}">
                <a16:creationId xmlns:a16="http://schemas.microsoft.com/office/drawing/2014/main" id="{E7DDFCB1-AC71-4526-AC24-2AD0827C0134}"/>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9098E24-B663-4E6E-9205-0F66D20C8E49}"/>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纵向对比：引入系统前 / 后</a:t>
            </a:r>
          </a:p>
        </p:txBody>
      </p:sp>
      <p:sp>
        <p:nvSpPr>
          <p:cNvPr id="9" name="">
            <a:extLst xmlns:a="http://schemas.openxmlformats.org/drawingml/2006/main">
              <a:ext uri="{FF2B5EF4-FFF2-40B4-BE49-F238E27FC236}">
                <a16:creationId xmlns:a16="http://schemas.microsoft.com/office/drawing/2014/main" id="{D8675E44-B20B-450C-BBAC-077E94EC9E0A}"/>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63678F12-0EA4-44D7-8F8E-38ADAA99D89D}"/>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凡是能实测的都给了实测值；凡是测算的都标注了口径——不把测算值写成试点值。</a:t>
            </a:r>
          </a:p>
        </p:txBody>
      </p:sp>
      <p:graphicFrame>
        <p:nvGraphicFramePr>
          <p:cNvPr id="27" name=""/>
          <p:cNvGraphicFramePr/>
          <p:nvPr/>
        </p:nvGraphicFramePr>
        <p:xfrm>
          <a:off xmlns:a="http://schemas.openxmlformats.org/drawingml/2006/main" x="285750" y="1333500"/>
          <a:ext xmlns:a="http://schemas.openxmlformats.org/drawingml/2006/main" cx="11620500" cy="4476750"/>
        </p:xfrm>
        <a:graphic xmlns:a="http://schemas.openxmlformats.org/drawingml/2006/main">
          <a:graphicData uri="http://schemas.openxmlformats.org/drawingml/2006/table">
            <a:tbl>
              <a:tblPr/>
              <a:tblGrid>
                <a:gridCol w="2556510"/>
                <a:gridCol w="2905125"/>
                <a:gridCol w="3950970"/>
                <a:gridCol w="2207895"/>
              </a:tblGrid>
              <a:tr h="361950">
                <a:tc>
                  <a:txBody>
                    <a:bodyPr/>
                    <a:lstStyle/>
                    <a:p>
                      <a:r>
                        <a:rPr sz="1013" b="1">
                          <a:solidFill>
                            <a:srgbClr val="FFFFFF"/>
                          </a:solidFill>
                          <a:latin typeface="微软雅黑"/>
                          <a:ea typeface="微软雅黑"/>
                          <a:cs typeface="微软雅黑"/>
                        </a:rPr>
                        <a:t>对比指标</a:t>
                      </a:r>
                    </a:p>
                  </a:txBody>
                  <a:tcPr marL="91440" marR="91440" marT="45720" marB="45720">
                    <a:solidFill>
                      <a:srgbClr val="14406F"/>
                    </a:solidFill>
                  </a:tcPr>
                </a:tc>
                <a:tc>
                  <a:txBody>
                    <a:bodyPr/>
                    <a:lstStyle/>
                    <a:p>
                      <a:r>
                        <a:rPr sz="1013" b="1">
                          <a:solidFill>
                            <a:srgbClr val="FFFFFF"/>
                          </a:solidFill>
                          <a:latin typeface="微软雅黑"/>
                          <a:ea typeface="微软雅黑"/>
                          <a:cs typeface="微软雅黑"/>
                        </a:rPr>
                        <a:t>引入前（现状）</a:t>
                      </a:r>
                    </a:p>
                  </a:txBody>
                  <a:tcPr marL="91440" marR="91440" marT="45720" marB="45720">
                    <a:solidFill>
                      <a:srgbClr val="14406F"/>
                    </a:solidFill>
                  </a:tcPr>
                </a:tc>
                <a:tc>
                  <a:txBody>
                    <a:bodyPr/>
                    <a:lstStyle/>
                    <a:p>
                      <a:r>
                        <a:rPr sz="1013" b="1">
                          <a:solidFill>
                            <a:srgbClr val="FFFFFF"/>
                          </a:solidFill>
                          <a:latin typeface="微软雅黑"/>
                          <a:ea typeface="微软雅黑"/>
                          <a:cs typeface="微软雅黑"/>
                        </a:rPr>
                        <a:t>引入后（实测 / 测算）</a:t>
                      </a:r>
                    </a:p>
                  </a:txBody>
                  <a:tcPr marL="91440" marR="91440" marT="45720" marB="45720">
                    <a:solidFill>
                      <a:srgbClr val="14406F"/>
                    </a:solidFill>
                  </a:tcPr>
                </a:tc>
                <a:tc>
                  <a:txBody>
                    <a:bodyPr/>
                    <a:lstStyle/>
                    <a:p>
                      <a:r>
                        <a:rPr sz="1013" b="1">
                          <a:solidFill>
                            <a:srgbClr val="FFFFFF"/>
                          </a:solidFill>
                          <a:latin typeface="微软雅黑"/>
                          <a:ea typeface="微软雅黑"/>
                          <a:cs typeface="微软雅黑"/>
                        </a:rPr>
                        <a:t>数据口径</a:t>
                      </a:r>
                    </a:p>
                  </a:txBody>
                  <a:tcPr marL="91440" marR="91440" marT="45720" marB="45720">
                    <a:solidFill>
                      <a:srgbClr val="14406F"/>
                    </a:solidFill>
                  </a:tcPr>
                </a:tc>
              </a:tr>
              <a:tr h="514350">
                <a:tc>
                  <a:txBody>
                    <a:bodyPr/>
                    <a:lstStyle/>
                    <a:p>
                      <a:r>
                        <a:rPr>
                          <a:solidFill>
                            <a:srgbClr val="31C7F0"/>
                          </a:solidFill>
                          <a:latin typeface="微软雅黑"/>
                          <a:ea typeface="微软雅黑"/>
                          <a:cs typeface="微软雅黑"/>
                        </a:rPr>
                        <a:t>同一报告结论一致性</a:t>
                      </a:r>
                    </a:p>
                  </a:txBody>
                  <a:tcPr marL="91440" marR="91440" marT="45720" marB="45720">
                    <a:solidFill>
                      <a:srgbClr val="0C2A50"/>
                    </a:solidFill>
                  </a:tcPr>
                </a:tc>
                <a:tc>
                  <a:txBody>
                    <a:bodyPr/>
                    <a:lstStyle/>
                    <a:p>
                      <a:r>
                        <a:rPr>
                          <a:solidFill>
                            <a:srgbClr val="9FC2E8"/>
                          </a:solidFill>
                          <a:latin typeface="微软雅黑"/>
                          <a:ea typeface="微软雅黑"/>
                          <a:cs typeface="微软雅黑"/>
                        </a:rPr>
                        <a:t>不同人判读得出不同结论</a:t>
                      </a:r>
                    </a:p>
                  </a:txBody>
                  <a:tcPr marL="91440" marR="91440" marT="45720" marB="45720">
                    <a:solidFill>
                      <a:srgbClr val="0A2444"/>
                    </a:solidFill>
                  </a:tcPr>
                </a:tc>
                <a:tc>
                  <a:txBody>
                    <a:bodyPr/>
                    <a:lstStyle/>
                    <a:p>
                      <a:r>
                        <a:rPr b="1">
                          <a:solidFill>
                            <a:srgbClr val="FFFFFF"/>
                          </a:solidFill>
                          <a:latin typeface="微软雅黑"/>
                          <a:ea typeface="微软雅黑"/>
                          <a:cs typeface="微软雅黑"/>
                        </a:rPr>
                        <a:t>同输入连续执行 200 次，rule_refs 100% 一致</a:t>
                      </a:r>
                    </a:p>
                  </a:txBody>
                  <a:tcPr marL="91440" marR="91440" marT="45720" marB="45720">
                    <a:solidFill>
                      <a:srgbClr val="0F3159"/>
                    </a:solidFill>
                  </a:tcPr>
                </a:tc>
                <a:tc>
                  <a:txBody>
                    <a:bodyPr/>
                    <a:lstStyle/>
                    <a:p>
                      <a:r>
                        <a:rPr>
                          <a:solidFill>
                            <a:srgbClr val="F5C33B"/>
                          </a:solidFill>
                          <a:latin typeface="微软雅黑"/>
                          <a:ea typeface="微软雅黑"/>
                          <a:cs typeface="微软雅黑"/>
                        </a:rPr>
                        <a:t>实测 · 引擎自验</a:t>
                      </a:r>
                    </a:p>
                  </a:txBody>
                  <a:tcPr marL="91440" marR="91440" marT="45720" marB="45720">
                    <a:solidFill>
                      <a:srgbClr val="0A2444"/>
                    </a:solidFill>
                  </a:tcPr>
                </a:tc>
              </a:tr>
              <a:tr h="514350">
                <a:tc>
                  <a:txBody>
                    <a:bodyPr/>
                    <a:lstStyle/>
                    <a:p>
                      <a:r>
                        <a:rPr>
                          <a:solidFill>
                            <a:srgbClr val="31C7F0"/>
                          </a:solidFill>
                          <a:latin typeface="微软雅黑"/>
                          <a:ea typeface="微软雅黑"/>
                          <a:cs typeface="微软雅黑"/>
                        </a:rPr>
                        <a:t>归因依据可追溯</a:t>
                      </a:r>
                    </a:p>
                  </a:txBody>
                  <a:tcPr marL="91440" marR="91440" marT="45720" marB="45720">
                    <a:solidFill>
                      <a:srgbClr val="0C2A50"/>
                    </a:solidFill>
                  </a:tcPr>
                </a:tc>
                <a:tc>
                  <a:txBody>
                    <a:bodyPr/>
                    <a:lstStyle/>
                    <a:p>
                      <a:r>
                        <a:rPr>
                          <a:solidFill>
                            <a:srgbClr val="9FC2E8"/>
                          </a:solidFill>
                          <a:latin typeface="微软雅黑"/>
                          <a:ea typeface="微软雅黑"/>
                          <a:cs typeface="微软雅黑"/>
                        </a:rPr>
                        <a:t>纸质报告，无法回表核对</a:t>
                      </a:r>
                    </a:p>
                  </a:txBody>
                  <a:tcPr marL="91440" marR="91440" marT="45720" marB="45720">
                    <a:solidFill>
                      <a:srgbClr val="0A2444"/>
                    </a:solidFill>
                  </a:tcPr>
                </a:tc>
                <a:tc>
                  <a:txBody>
                    <a:bodyPr/>
                    <a:lstStyle/>
                    <a:p>
                      <a:r>
                        <a:rPr b="1">
                          <a:solidFill>
                            <a:srgbClr val="FFFFFF"/>
                          </a:solidFill>
                          <a:latin typeface="微软雅黑"/>
                          <a:ea typeface="微软雅黑"/>
                          <a:cs typeface="微软雅黑"/>
                        </a:rPr>
                        <a:t>每条结论带 rule_code、命中条件与依据事实</a:t>
                      </a:r>
                    </a:p>
                  </a:txBody>
                  <a:tcPr marL="91440" marR="91440" marT="45720" marB="45720">
                    <a:solidFill>
                      <a:srgbClr val="0F3159"/>
                    </a:solidFill>
                  </a:tcPr>
                </a:tc>
                <a:tc>
                  <a:txBody>
                    <a:bodyPr/>
                    <a:lstStyle/>
                    <a:p>
                      <a:r>
                        <a:rPr>
                          <a:solidFill>
                            <a:srgbClr val="F5C33B"/>
                          </a:solidFill>
                          <a:latin typeface="微软雅黑"/>
                          <a:ea typeface="微软雅黑"/>
                          <a:cs typeface="微软雅黑"/>
                        </a:rPr>
                        <a:t>实测 · 归因输出</a:t>
                      </a:r>
                    </a:p>
                  </a:txBody>
                  <a:tcPr marL="91440" marR="91440" marT="45720" marB="45720">
                    <a:solidFill>
                      <a:srgbClr val="0A2444"/>
                    </a:solidFill>
                  </a:tcPr>
                </a:tc>
              </a:tr>
              <a:tr h="514350">
                <a:tc>
                  <a:txBody>
                    <a:bodyPr/>
                    <a:lstStyle/>
                    <a:p>
                      <a:r>
                        <a:rPr>
                          <a:solidFill>
                            <a:srgbClr val="31C7F0"/>
                          </a:solidFill>
                          <a:latin typeface="微软雅黑"/>
                          <a:ea typeface="微软雅黑"/>
                          <a:cs typeface="微软雅黑"/>
                        </a:rPr>
                        <a:t>规则回归覆盖</a:t>
                      </a:r>
                    </a:p>
                  </a:txBody>
                  <a:tcPr marL="91440" marR="91440" marT="45720" marB="45720">
                    <a:solidFill>
                      <a:srgbClr val="0C2A50"/>
                    </a:solidFill>
                  </a:tcPr>
                </a:tc>
                <a:tc>
                  <a:txBody>
                    <a:bodyPr/>
                    <a:lstStyle/>
                    <a:p>
                      <a:r>
                        <a:rPr>
                          <a:solidFill>
                            <a:srgbClr val="9FC2E8"/>
                          </a:solidFill>
                          <a:latin typeface="微软雅黑"/>
                          <a:ea typeface="微软雅黑"/>
                          <a:cs typeface="微软雅黑"/>
                        </a:rPr>
                        <a:t>无回归用例</a:t>
                      </a:r>
                    </a:p>
                  </a:txBody>
                  <a:tcPr marL="91440" marR="91440" marT="45720" marB="45720">
                    <a:solidFill>
                      <a:srgbClr val="0A2444"/>
                    </a:solidFill>
                  </a:tcPr>
                </a:tc>
                <a:tc>
                  <a:txBody>
                    <a:bodyPr/>
                    <a:lstStyle/>
                    <a:p>
                      <a:r>
                        <a:rPr b="1">
                          <a:solidFill>
                            <a:srgbClr val="FFFFFF"/>
                          </a:solidFill>
                          <a:latin typeface="微软雅黑"/>
                          <a:ea typeface="微软雅黑"/>
                          <a:cs typeface="微软雅黑"/>
                        </a:rPr>
                        <a:t>11 项规则测试场景全部通过</a:t>
                      </a:r>
                    </a:p>
                  </a:txBody>
                  <a:tcPr marL="91440" marR="91440" marT="45720" marB="45720">
                    <a:solidFill>
                      <a:srgbClr val="0F3159"/>
                    </a:solidFill>
                  </a:tcPr>
                </a:tc>
                <a:tc>
                  <a:txBody>
                    <a:bodyPr/>
                    <a:lstStyle/>
                    <a:p>
                      <a:r>
                        <a:rPr>
                          <a:solidFill>
                            <a:srgbClr val="F5C33B"/>
                          </a:solidFill>
                          <a:latin typeface="微软雅黑"/>
                          <a:ea typeface="微软雅黑"/>
                          <a:cs typeface="微软雅黑"/>
                        </a:rPr>
                        <a:t>实测 · 引擎测试</a:t>
                      </a:r>
                    </a:p>
                  </a:txBody>
                  <a:tcPr marL="91440" marR="91440" marT="45720" marB="45720">
                    <a:solidFill>
                      <a:srgbClr val="0A2444"/>
                    </a:solidFill>
                  </a:tcPr>
                </a:tc>
              </a:tr>
              <a:tr h="514350">
                <a:tc>
                  <a:txBody>
                    <a:bodyPr/>
                    <a:lstStyle/>
                    <a:p>
                      <a:r>
                        <a:rPr>
                          <a:solidFill>
                            <a:srgbClr val="31C7F0"/>
                          </a:solidFill>
                          <a:latin typeface="微软雅黑"/>
                          <a:ea typeface="微软雅黑"/>
                          <a:cs typeface="微软雅黑"/>
                        </a:rPr>
                        <a:t>组卷针对性</a:t>
                      </a:r>
                    </a:p>
                  </a:txBody>
                  <a:tcPr marL="91440" marR="91440" marT="45720" marB="45720">
                    <a:solidFill>
                      <a:srgbClr val="0C2A50"/>
                    </a:solidFill>
                  </a:tcPr>
                </a:tc>
                <a:tc>
                  <a:txBody>
                    <a:bodyPr/>
                    <a:lstStyle/>
                    <a:p>
                      <a:r>
                        <a:rPr>
                          <a:solidFill>
                            <a:srgbClr val="9FC2E8"/>
                          </a:solidFill>
                          <a:latin typeface="微软雅黑"/>
                          <a:ea typeface="微软雅黑"/>
                          <a:cs typeface="微软雅黑"/>
                        </a:rPr>
                        <a:t>全员同一套固定试卷</a:t>
                      </a:r>
                    </a:p>
                  </a:txBody>
                  <a:tcPr marL="91440" marR="91440" marT="45720" marB="45720">
                    <a:solidFill>
                      <a:srgbClr val="0A2444"/>
                    </a:solidFill>
                  </a:tcPr>
                </a:tc>
                <a:tc>
                  <a:txBody>
                    <a:bodyPr/>
                    <a:lstStyle/>
                    <a:p>
                      <a:r>
                        <a:rPr b="1">
                          <a:solidFill>
                            <a:srgbClr val="FFFFFF"/>
                          </a:solidFill>
                          <a:latin typeface="微软雅黑"/>
                          <a:ea typeface="微软雅黑"/>
                          <a:cs typeface="微软雅黑"/>
                        </a:rPr>
                        <a:t>按 effort = 缺口权重 × max(0.2, 1.6 − 正确率) 分配题量</a:t>
                      </a:r>
                    </a:p>
                  </a:txBody>
                  <a:tcPr marL="91440" marR="91440" marT="45720" marB="45720">
                    <a:solidFill>
                      <a:srgbClr val="0F3159"/>
                    </a:solidFill>
                  </a:tcPr>
                </a:tc>
                <a:tc>
                  <a:txBody>
                    <a:bodyPr/>
                    <a:lstStyle/>
                    <a:p>
                      <a:r>
                        <a:rPr>
                          <a:solidFill>
                            <a:srgbClr val="F5C33B"/>
                          </a:solidFill>
                          <a:latin typeface="微软雅黑"/>
                          <a:ea typeface="微软雅黑"/>
                          <a:cs typeface="微软雅黑"/>
                        </a:rPr>
                        <a:t>算法口径 · 演示数据</a:t>
                      </a:r>
                    </a:p>
                  </a:txBody>
                  <a:tcPr marL="91440" marR="91440" marT="45720" marB="45720">
                    <a:solidFill>
                      <a:srgbClr val="0A2444"/>
                    </a:solidFill>
                  </a:tcPr>
                </a:tc>
              </a:tr>
              <a:tr h="514350">
                <a:tc>
                  <a:txBody>
                    <a:bodyPr/>
                    <a:lstStyle/>
                    <a:p>
                      <a:r>
                        <a:rPr>
                          <a:solidFill>
                            <a:srgbClr val="31C7F0"/>
                          </a:solidFill>
                          <a:latin typeface="微软雅黑"/>
                          <a:ea typeface="微软雅黑"/>
                          <a:cs typeface="微软雅黑"/>
                        </a:rPr>
                        <a:t>越权与伪造身份</a:t>
                      </a:r>
                    </a:p>
                  </a:txBody>
                  <a:tcPr marL="91440" marR="91440" marT="45720" marB="45720">
                    <a:solidFill>
                      <a:srgbClr val="0C2A50"/>
                    </a:solidFill>
                  </a:tcPr>
                </a:tc>
                <a:tc>
                  <a:txBody>
                    <a:bodyPr/>
                    <a:lstStyle/>
                    <a:p>
                      <a:r>
                        <a:rPr>
                          <a:solidFill>
                            <a:srgbClr val="9FC2E8"/>
                          </a:solidFill>
                          <a:latin typeface="微软雅黑"/>
                          <a:ea typeface="微软雅黑"/>
                          <a:cs typeface="微软雅黑"/>
                        </a:rPr>
                        <a:t>请求头可伪造身份</a:t>
                      </a:r>
                    </a:p>
                  </a:txBody>
                  <a:tcPr marL="91440" marR="91440" marT="45720" marB="45720">
                    <a:solidFill>
                      <a:srgbClr val="0A2444"/>
                    </a:solidFill>
                  </a:tcPr>
                </a:tc>
                <a:tc>
                  <a:txBody>
                    <a:bodyPr/>
                    <a:lstStyle/>
                    <a:p>
                      <a:r>
                        <a:rPr b="1">
                          <a:solidFill>
                            <a:srgbClr val="FFFFFF"/>
                          </a:solidFill>
                          <a:latin typeface="微软雅黑"/>
                          <a:ea typeface="微软雅黑"/>
                          <a:cs typeface="微软雅黑"/>
                        </a:rPr>
                        <a:t>令牌制校验；越权返回 403 / code=40301</a:t>
                      </a:r>
                    </a:p>
                  </a:txBody>
                  <a:tcPr marL="91440" marR="91440" marT="45720" marB="45720">
                    <a:solidFill>
                      <a:srgbClr val="0F3159"/>
                    </a:solidFill>
                  </a:tcPr>
                </a:tc>
                <a:tc>
                  <a:txBody>
                    <a:bodyPr/>
                    <a:lstStyle/>
                    <a:p>
                      <a:r>
                        <a:rPr>
                          <a:solidFill>
                            <a:srgbClr val="F5C33B"/>
                          </a:solidFill>
                          <a:latin typeface="微软雅黑"/>
                          <a:ea typeface="微软雅黑"/>
                          <a:cs typeface="微软雅黑"/>
                        </a:rPr>
                        <a:t>实测 · 鉴权自验</a:t>
                      </a:r>
                    </a:p>
                  </a:txBody>
                  <a:tcPr marL="91440" marR="91440" marT="45720" marB="45720">
                    <a:solidFill>
                      <a:srgbClr val="0A2444"/>
                    </a:solidFill>
                  </a:tcPr>
                </a:tc>
              </a:tr>
              <a:tr h="514350">
                <a:tc>
                  <a:txBody>
                    <a:bodyPr/>
                    <a:lstStyle/>
                    <a:p>
                      <a:r>
                        <a:rPr>
                          <a:solidFill>
                            <a:srgbClr val="31C7F0"/>
                          </a:solidFill>
                          <a:latin typeface="微软雅黑"/>
                          <a:ea typeface="微软雅黑"/>
                          <a:cs typeface="微软雅黑"/>
                        </a:rPr>
                        <a:t>合规举证</a:t>
                      </a:r>
                    </a:p>
                  </a:txBody>
                  <a:tcPr marL="91440" marR="91440" marT="45720" marB="45720">
                    <a:solidFill>
                      <a:srgbClr val="0C2A50"/>
                    </a:solidFill>
                  </a:tcPr>
                </a:tc>
                <a:tc>
                  <a:txBody>
                    <a:bodyPr/>
                    <a:lstStyle/>
                    <a:p>
                      <a:r>
                        <a:rPr>
                          <a:solidFill>
                            <a:srgbClr val="9FC2E8"/>
                          </a:solidFill>
                          <a:latin typeface="微软雅黑"/>
                          <a:ea typeface="微软雅黑"/>
                          <a:cs typeface="微软雅黑"/>
                        </a:rPr>
                        <a:t>迎检临时补材料</a:t>
                      </a:r>
                    </a:p>
                  </a:txBody>
                  <a:tcPr marL="91440" marR="91440" marT="45720" marB="45720">
                    <a:solidFill>
                      <a:srgbClr val="0A2444"/>
                    </a:solidFill>
                  </a:tcPr>
                </a:tc>
                <a:tc>
                  <a:txBody>
                    <a:bodyPr/>
                    <a:lstStyle/>
                    <a:p>
                      <a:r>
                        <a:rPr b="1">
                          <a:solidFill>
                            <a:srgbClr val="FFFFFF"/>
                          </a:solidFill>
                          <a:latin typeface="微软雅黑"/>
                          <a:ea typeface="微软雅黑"/>
                          <a:cs typeface="微软雅黑"/>
                        </a:rPr>
                        <a:t>台账与留痕可一键导出，三表同号可下钻</a:t>
                      </a:r>
                    </a:p>
                  </a:txBody>
                  <a:tcPr marL="91440" marR="91440" marT="45720" marB="45720">
                    <a:solidFill>
                      <a:srgbClr val="0F3159"/>
                    </a:solidFill>
                  </a:tcPr>
                </a:tc>
                <a:tc>
                  <a:txBody>
                    <a:bodyPr/>
                    <a:lstStyle/>
                    <a:p>
                      <a:r>
                        <a:rPr>
                          <a:solidFill>
                            <a:srgbClr val="F5C33B"/>
                          </a:solidFill>
                          <a:latin typeface="微软雅黑"/>
                          <a:ea typeface="微软雅黑"/>
                          <a:cs typeface="微软雅黑"/>
                        </a:rPr>
                        <a:t>实测 · 功能验收</a:t>
                      </a:r>
                    </a:p>
                  </a:txBody>
                  <a:tcPr marL="91440" marR="91440" marT="45720" marB="45720">
                    <a:solidFill>
                      <a:srgbClr val="0A2444"/>
                    </a:solidFill>
                  </a:tcPr>
                </a:tc>
              </a:tr>
              <a:tr h="514350">
                <a:tc>
                  <a:txBody>
                    <a:bodyPr/>
                    <a:lstStyle/>
                    <a:p>
                      <a:r>
                        <a:rPr>
                          <a:solidFill>
                            <a:srgbClr val="31C7F0"/>
                          </a:solidFill>
                          <a:latin typeface="微软雅黑"/>
                          <a:ea typeface="微软雅黑"/>
                          <a:cs typeface="微软雅黑"/>
                        </a:rPr>
                        <a:t>业务数据安全</a:t>
                      </a:r>
                    </a:p>
                  </a:txBody>
                  <a:tcPr marL="91440" marR="91440" marT="45720" marB="45720">
                    <a:solidFill>
                      <a:srgbClr val="0C2A50"/>
                    </a:solidFill>
                  </a:tcPr>
                </a:tc>
                <a:tc>
                  <a:txBody>
                    <a:bodyPr/>
                    <a:lstStyle/>
                    <a:p>
                      <a:r>
                        <a:rPr>
                          <a:solidFill>
                            <a:srgbClr val="9FC2E8"/>
                          </a:solidFill>
                          <a:latin typeface="微软雅黑"/>
                          <a:ea typeface="微软雅黑"/>
                          <a:cs typeface="微软雅黑"/>
                        </a:rPr>
                        <a:t>建议与执行混在一起</a:t>
                      </a:r>
                    </a:p>
                  </a:txBody>
                  <a:tcPr marL="91440" marR="91440" marT="45720" marB="45720">
                    <a:solidFill>
                      <a:srgbClr val="0A2444"/>
                    </a:solidFill>
                  </a:tcPr>
                </a:tc>
                <a:tc>
                  <a:txBody>
                    <a:bodyPr/>
                    <a:lstStyle/>
                    <a:p>
                      <a:r>
                        <a:rPr b="1">
                          <a:solidFill>
                            <a:srgbClr val="FFFFFF"/>
                          </a:solidFill>
                          <a:latin typeface="微软雅黑"/>
                          <a:ea typeface="微软雅黑"/>
                          <a:cs typeface="微软雅黑"/>
                        </a:rPr>
                        <a:t>确认接口只改建议状态，业务数据变更为零</a:t>
                      </a:r>
                    </a:p>
                  </a:txBody>
                  <a:tcPr marL="91440" marR="91440" marT="45720" marB="45720">
                    <a:solidFill>
                      <a:srgbClr val="0F3159"/>
                    </a:solidFill>
                  </a:tcPr>
                </a:tc>
                <a:tc>
                  <a:txBody>
                    <a:bodyPr/>
                    <a:lstStyle/>
                    <a:p>
                      <a:r>
                        <a:rPr>
                          <a:solidFill>
                            <a:srgbClr val="F5C33B"/>
                          </a:solidFill>
                          <a:latin typeface="微软雅黑"/>
                          <a:ea typeface="微软雅黑"/>
                          <a:cs typeface="微软雅黑"/>
                        </a:rPr>
                        <a:t>实测 · 端到端验收</a:t>
                      </a:r>
                    </a:p>
                  </a:txBody>
                  <a:tcPr marL="91440" marR="91440" marT="45720" marB="45720">
                    <a:solidFill>
                      <a:srgbClr val="0A2444"/>
                    </a:solidFill>
                  </a:tcPr>
                </a:tc>
              </a:tr>
            </a:tbl>
          </a:graphicData>
        </a:graphic>
      </p:graphicFrame>
      <p:sp>
        <p:nvSpPr>
          <p:cNvPr id="12" name="">
            <a:extLst xmlns:a="http://schemas.openxmlformats.org/drawingml/2006/main">
              <a:ext uri="{FF2B5EF4-FFF2-40B4-BE49-F238E27FC236}">
                <a16:creationId xmlns:a16="http://schemas.microsoft.com/office/drawing/2014/main" id="{9B1FDC21-BB3F-4980-AB10-C3BB8DDD2052}"/>
              </a:ext>
            </a:extLst>
          </p:cNvPr>
          <p:cNvSpPr>
            <a:spLocks xmlns:a="http://schemas.openxmlformats.org/drawingml/2006/main" noGrp="1"/>
          </p:cNvSpPr>
          <p:nvPr/>
        </p:nvSpPr>
        <p:spPr>
          <a:xfrm xmlns:a="http://schemas.openxmlformats.org/drawingml/2006/main">
            <a:off x="285750" y="5448300"/>
            <a:ext cx="11620500" cy="952500"/>
          </a:xfrm>
          <a:prstGeom xmlns:a="http://schemas.openxmlformats.org/drawingml/2006/main" prst="roundRect">
            <a:avLst>
              <a:gd name="adj" fmla="val 8000"/>
            </a:avLst>
          </a:prstGeom>
          <a:solidFill xmlns:a="http://schemas.openxmlformats.org/drawingml/2006/main">
            <a:srgbClr val="2A1520"/>
          </a:solidFill>
          <a:ln xmlns:a="http://schemas.openxmlformats.org/drawingml/2006/main" w="13335">
            <a:solidFill>
              <a:srgbClr val="F2705E"/>
            </a:solidFill>
            <a:prstDash val="solid"/>
          </a:ln>
        </p:spPr>
      </p:sp>
      <p:sp>
        <p:nvSpPr>
          <p:cNvPr id="13" name="">
            <a:extLst xmlns:a="http://schemas.openxmlformats.org/drawingml/2006/main">
              <a:ext uri="{FF2B5EF4-FFF2-40B4-BE49-F238E27FC236}">
                <a16:creationId xmlns:a16="http://schemas.microsoft.com/office/drawing/2014/main" id="{FAEF525F-7BCF-47E0-9AEA-E9C5D6FF1566}"/>
              </a:ext>
            </a:extLst>
          </p:cNvPr>
          <p:cNvSpPr>
            <a:spLocks xmlns:a="http://schemas.openxmlformats.org/drawingml/2006/main" noGrp="1"/>
          </p:cNvSpPr>
          <p:nvPr/>
        </p:nvSpPr>
        <p:spPr>
          <a:xfrm xmlns:a="http://schemas.openxmlformats.org/drawingml/2006/main">
            <a:off x="457200" y="5448300"/>
            <a:ext cx="11239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lnSpc>
                <a:spcPct val="140000"/>
              </a:lnSpc>
              <a:buNone/>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口径声明：本项目暂无可用试用单位、试用周期与用户反馈，因此不虚构「已试点」。上表「实测」项均可当场复现；「算法口径」项为演示数据集下的算法输出，尚未取得企业实测值（如重复培训课时下降比例）暂不列入正式成果。</a:t>
            </a:r>
          </a:p>
        </p:txBody>
      </p:sp>
      <p:sp>
        <p:nvSpPr>
          <p:cNvPr id="14" name="">
            <a:extLst xmlns:a="http://schemas.openxmlformats.org/drawingml/2006/main">
              <a:ext uri="{FF2B5EF4-FFF2-40B4-BE49-F238E27FC236}">
                <a16:creationId xmlns:a16="http://schemas.microsoft.com/office/drawing/2014/main" id="{C7ADD2BD-ACDF-4D56-B44B-82A385232413}"/>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076F6E1-91ED-42A5-9E2A-7AEF34649A88}"/>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16" name="">
            <a:extLst xmlns:a="http://schemas.openxmlformats.org/drawingml/2006/main">
              <a:ext uri="{FF2B5EF4-FFF2-40B4-BE49-F238E27FC236}">
                <a16:creationId xmlns:a16="http://schemas.microsoft.com/office/drawing/2014/main" id="{110DA3F5-0B79-40F2-A813-DAB4B4653FCB}"/>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29</a:t>
            </a:r>
          </a:p>
        </p:txBody>
      </p:sp>
    </p:spTree>
    <p:extLst>
      <p:ext uri="{BB962C8B-B14F-4D97-AF65-F5344CB8AC3E}">
        <p14:creationId xmlns:p14="http://schemas.microsoft.com/office/powerpoint/2010/main" val="455011486"/>
      </p:ext>
    </p:extLst>
  </p:cSld>
</p:sld>
</file>

<file path=ppt/slides/slide30.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FEE8ADF-C659-4BBA-9CC7-8AAA86C00820}"/>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1419D5E-8E4F-4159-860A-DD34BD7355B2}"/>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E82225D-9288-4945-BDBB-4463939F9D7B}"/>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D186928-4AB3-4174-933B-E36F2FB3279E}"/>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2C80668-D66E-40D6-BD32-09765770E455}"/>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364DC5C4-BF45-48C5-99DE-7BAEAFAC723D}"/>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测试验证</a:t>
            </a:r>
          </a:p>
        </p:txBody>
      </p:sp>
      <p:sp>
        <p:nvSpPr>
          <p:cNvPr id="7" name="">
            <a:extLst xmlns:a="http://schemas.openxmlformats.org/drawingml/2006/main">
              <a:ext uri="{FF2B5EF4-FFF2-40B4-BE49-F238E27FC236}">
                <a16:creationId xmlns:a16="http://schemas.microsoft.com/office/drawing/2014/main" id="{D6B6269E-67E2-4E0A-952E-43EB284AEFD6}"/>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4F71CBD-AAAE-40AF-8E59-EC7ED927F7D9}"/>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横向对比：三种方案的能力矩阵</a:t>
            </a:r>
          </a:p>
        </p:txBody>
      </p:sp>
      <p:sp>
        <p:nvSpPr>
          <p:cNvPr id="9" name="">
            <a:extLst xmlns:a="http://schemas.openxmlformats.org/drawingml/2006/main">
              <a:ext uri="{FF2B5EF4-FFF2-40B4-BE49-F238E27FC236}">
                <a16:creationId xmlns:a16="http://schemas.microsoft.com/office/drawing/2014/main" id="{C420B347-5D78-4E28-AFD3-98DD548520A2}"/>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11E04966-284A-42AE-BDEC-C504F96FC903}"/>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差异化不在「用不用 AI」，而在「结论能不能被复算、被追责、被替换」。</a:t>
            </a:r>
          </a:p>
        </p:txBody>
      </p:sp>
      <p:graphicFrame>
        <p:nvGraphicFramePr>
          <p:cNvPr id="25" name=""/>
          <p:cNvGraphicFramePr/>
          <p:nvPr/>
        </p:nvGraphicFramePr>
        <p:xfrm>
          <a:off xmlns:a="http://schemas.openxmlformats.org/drawingml/2006/main" x="285750" y="1333500"/>
          <a:ext xmlns:a="http://schemas.openxmlformats.org/drawingml/2006/main" cx="11620500" cy="4953000"/>
        </p:xfrm>
        <a:graphic xmlns:a="http://schemas.openxmlformats.org/drawingml/2006/main">
          <a:graphicData uri="http://schemas.openxmlformats.org/drawingml/2006/table">
            <a:tbl>
              <a:tblPr/>
              <a:tblGrid>
                <a:gridCol w="2395979"/>
                <a:gridCol w="2755376"/>
                <a:gridCol w="2755376"/>
                <a:gridCol w="3713768"/>
              </a:tblGrid>
              <a:tr h="381000">
                <a:tc>
                  <a:txBody>
                    <a:bodyPr/>
                    <a:lstStyle/>
                    <a:p>
                      <a:r>
                        <a:rPr sz="1050" b="1">
                          <a:solidFill>
                            <a:srgbClr val="FFFFFF"/>
                          </a:solidFill>
                          <a:latin typeface="微软雅黑"/>
                          <a:ea typeface="微软雅黑"/>
                          <a:cs typeface="微软雅黑"/>
                        </a:rPr>
                        <a:t>能力维度</a:t>
                      </a:r>
                    </a:p>
                  </a:txBody>
                  <a:tcPr marL="91440" marR="91440" marT="45720" marB="45720">
                    <a:solidFill>
                      <a:srgbClr val="14406F"/>
                    </a:solidFill>
                  </a:tcPr>
                </a:tc>
                <a:tc>
                  <a:txBody>
                    <a:bodyPr/>
                    <a:lstStyle/>
                    <a:p>
                      <a:r>
                        <a:rPr sz="1050" b="1">
                          <a:solidFill>
                            <a:srgbClr val="FFFFFF"/>
                          </a:solidFill>
                          <a:latin typeface="微软雅黑"/>
                          <a:ea typeface="微软雅黑"/>
                          <a:cs typeface="微软雅黑"/>
                        </a:rPr>
                        <a:t>传统 LMS</a:t>
                      </a:r>
                    </a:p>
                  </a:txBody>
                  <a:tcPr marL="91440" marR="91440" marT="45720" marB="45720">
                    <a:solidFill>
                      <a:srgbClr val="14406F"/>
                    </a:solidFill>
                  </a:tcPr>
                </a:tc>
                <a:tc>
                  <a:txBody>
                    <a:bodyPr/>
                    <a:lstStyle/>
                    <a:p>
                      <a:r>
                        <a:rPr sz="1050" b="1">
                          <a:solidFill>
                            <a:srgbClr val="FFFFFF"/>
                          </a:solidFill>
                          <a:latin typeface="微软雅黑"/>
                          <a:ea typeface="微软雅黑"/>
                          <a:cs typeface="微软雅黑"/>
                        </a:rPr>
                        <a:t>通用大模型工具</a:t>
                      </a:r>
                    </a:p>
                  </a:txBody>
                  <a:tcPr marL="91440" marR="91440" marT="45720" marB="45720">
                    <a:solidFill>
                      <a:srgbClr val="14406F"/>
                    </a:solidFill>
                  </a:tcPr>
                </a:tc>
                <a:tc>
                  <a:txBody>
                    <a:bodyPr/>
                    <a:lstStyle/>
                    <a:p>
                      <a:r>
                        <a:rPr sz="1050" b="1">
                          <a:solidFill>
                            <a:srgbClr val="FFFFFF"/>
                          </a:solidFill>
                          <a:latin typeface="微软雅黑"/>
                          <a:ea typeface="微软雅黑"/>
                          <a:cs typeface="微软雅黑"/>
                        </a:rPr>
                        <a:t>工业智训（本系统）</a:t>
                      </a:r>
                    </a:p>
                  </a:txBody>
                  <a:tcPr marL="91440" marR="91440" marT="45720" marB="45720">
                    <a:solidFill>
                      <a:srgbClr val="14406F"/>
                    </a:solidFill>
                  </a:tcPr>
                </a:tc>
              </a:tr>
              <a:tr h="533400">
                <a:tc>
                  <a:txBody>
                    <a:bodyPr/>
                    <a:lstStyle/>
                    <a:p>
                      <a:r>
                        <a:rPr sz="938" b="1">
                          <a:solidFill>
                            <a:srgbClr val="31C7F0"/>
                          </a:solidFill>
                          <a:latin typeface="微软雅黑"/>
                          <a:ea typeface="微软雅黑"/>
                          <a:cs typeface="微软雅黑"/>
                        </a:rPr>
                        <a:t>数据结构</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只有总分与进度</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只有自然语言</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53 张表，能力项与结论结构化落库</a:t>
                      </a:r>
                    </a:p>
                  </a:txBody>
                  <a:tcPr marL="91440" marR="91440" marT="45720" marB="45720">
                    <a:solidFill>
                      <a:srgbClr val="0F3159"/>
                    </a:solidFill>
                  </a:tcPr>
                </a:tc>
              </a:tr>
              <a:tr h="533400">
                <a:tc>
                  <a:txBody>
                    <a:bodyPr/>
                    <a:lstStyle/>
                    <a:p>
                      <a:r>
                        <a:rPr sz="938" b="1">
                          <a:solidFill>
                            <a:srgbClr val="31C7F0"/>
                          </a:solidFill>
                          <a:latin typeface="微软雅黑"/>
                          <a:ea typeface="微软雅黑"/>
                          <a:cs typeface="微软雅黑"/>
                        </a:rPr>
                        <a:t>决策方式</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人工判读</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模型直接生成</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规则引擎确定性匹配</a:t>
                      </a:r>
                    </a:p>
                  </a:txBody>
                  <a:tcPr marL="91440" marR="91440" marT="45720" marB="45720">
                    <a:solidFill>
                      <a:srgbClr val="0F3159"/>
                    </a:solidFill>
                  </a:tcPr>
                </a:tc>
              </a:tr>
              <a:tr h="533400">
                <a:tc>
                  <a:txBody>
                    <a:bodyPr/>
                    <a:lstStyle/>
                    <a:p>
                      <a:r>
                        <a:rPr sz="938" b="1">
                          <a:solidFill>
                            <a:srgbClr val="31C7F0"/>
                          </a:solidFill>
                          <a:latin typeface="微软雅黑"/>
                          <a:ea typeface="微软雅黑"/>
                          <a:cs typeface="微软雅黑"/>
                        </a:rPr>
                        <a:t>结论一致性</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因人而异</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有随机性</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200 次重复执行 100% 一致</a:t>
                      </a:r>
                    </a:p>
                  </a:txBody>
                  <a:tcPr marL="91440" marR="91440" marT="45720" marB="45720">
                    <a:solidFill>
                      <a:srgbClr val="0F3159"/>
                    </a:solidFill>
                  </a:tcPr>
                </a:tc>
              </a:tr>
              <a:tr h="533400">
                <a:tc>
                  <a:txBody>
                    <a:bodyPr/>
                    <a:lstStyle/>
                    <a:p>
                      <a:r>
                        <a:rPr sz="938" b="1">
                          <a:solidFill>
                            <a:srgbClr val="31C7F0"/>
                          </a:solidFill>
                          <a:latin typeface="微软雅黑"/>
                          <a:ea typeface="微软雅黑"/>
                          <a:cs typeface="微软雅黑"/>
                        </a:rPr>
                        <a:t>可解释</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无法说明依据</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依据不可核验</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rule_code + 依据事实 + 置信度</a:t>
                      </a:r>
                    </a:p>
                  </a:txBody>
                  <a:tcPr marL="91440" marR="91440" marT="45720" marB="45720">
                    <a:solidFill>
                      <a:srgbClr val="0F3159"/>
                    </a:solidFill>
                  </a:tcPr>
                </a:tc>
              </a:tr>
              <a:tr h="533400">
                <a:tc>
                  <a:txBody>
                    <a:bodyPr/>
                    <a:lstStyle/>
                    <a:p>
                      <a:r>
                        <a:rPr sz="938" b="1">
                          <a:solidFill>
                            <a:srgbClr val="31C7F0"/>
                          </a:solidFill>
                          <a:latin typeface="微软雅黑"/>
                          <a:ea typeface="微软雅黑"/>
                          <a:cs typeface="微软雅黑"/>
                        </a:rPr>
                        <a:t>可离线</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可离线但无智能</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断网即失效</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AI_ENABLED=false 时全链路可用</a:t>
                      </a:r>
                    </a:p>
                  </a:txBody>
                  <a:tcPr marL="91440" marR="91440" marT="45720" marB="45720">
                    <a:solidFill>
                      <a:srgbClr val="0F3159"/>
                    </a:solidFill>
                  </a:tcPr>
                </a:tc>
              </a:tr>
              <a:tr h="533400">
                <a:tc>
                  <a:txBody>
                    <a:bodyPr/>
                    <a:lstStyle/>
                    <a:p>
                      <a:r>
                        <a:rPr sz="938" b="1">
                          <a:solidFill>
                            <a:srgbClr val="31C7F0"/>
                          </a:solidFill>
                          <a:latin typeface="微软雅黑"/>
                          <a:ea typeface="微软雅黑"/>
                          <a:cs typeface="微软雅黑"/>
                        </a:rPr>
                        <a:t>可审计</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纸质台账</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无留痕</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建议 / 确认 / 执行 / 回滚全程留痕</a:t>
                      </a:r>
                    </a:p>
                  </a:txBody>
                  <a:tcPr marL="91440" marR="91440" marT="45720" marB="45720">
                    <a:solidFill>
                      <a:srgbClr val="0F3159"/>
                    </a:solidFill>
                  </a:tcPr>
                </a:tc>
              </a:tr>
              <a:tr h="533400">
                <a:tc>
                  <a:txBody>
                    <a:bodyPr/>
                    <a:lstStyle/>
                    <a:p>
                      <a:r>
                        <a:rPr sz="938" b="1">
                          <a:solidFill>
                            <a:srgbClr val="31C7F0"/>
                          </a:solidFill>
                          <a:latin typeface="微软雅黑"/>
                          <a:ea typeface="微软雅黑"/>
                          <a:cs typeface="微软雅黑"/>
                        </a:rPr>
                        <a:t>人工确认</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无</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无</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need_human_confirm，写入 decision_log</a:t>
                      </a:r>
                    </a:p>
                  </a:txBody>
                  <a:tcPr marL="91440" marR="91440" marT="45720" marB="45720">
                    <a:solidFill>
                      <a:srgbClr val="0F3159"/>
                    </a:solidFill>
                  </a:tcPr>
                </a:tc>
              </a:tr>
              <a:tr h="533400">
                <a:tc>
                  <a:txBody>
                    <a:bodyPr/>
                    <a:lstStyle/>
                    <a:p>
                      <a:r>
                        <a:rPr sz="938" b="1">
                          <a:solidFill>
                            <a:srgbClr val="31C7F0"/>
                          </a:solidFill>
                          <a:latin typeface="微软雅黑"/>
                          <a:ea typeface="微软雅黑"/>
                          <a:cs typeface="微软雅黑"/>
                        </a:rPr>
                        <a:t>岗位适配</a:t>
                      </a:r>
                    </a:p>
                  </a:txBody>
                  <a:tcPr marL="91440" marR="91440" marT="45720" marB="45720">
                    <a:solidFill>
                      <a:srgbClr val="0C2A50"/>
                    </a:solidFill>
                  </a:tcPr>
                </a:tc>
                <a:tc>
                  <a:txBody>
                    <a:bodyPr/>
                    <a:lstStyle/>
                    <a:p>
                      <a:r>
                        <a:rPr sz="900">
                          <a:solidFill>
                            <a:srgbClr val="9FC2E8"/>
                          </a:solidFill>
                          <a:latin typeface="微软雅黑"/>
                          <a:ea typeface="微软雅黑"/>
                          <a:cs typeface="微软雅黑"/>
                        </a:rPr>
                        <a:t>通用课程</a:t>
                      </a:r>
                    </a:p>
                  </a:txBody>
                  <a:tcPr marL="91440" marR="91440" marT="45720" marB="45720">
                    <a:solidFill>
                      <a:srgbClr val="0A2444"/>
                    </a:solidFill>
                  </a:tcPr>
                </a:tc>
                <a:tc>
                  <a:txBody>
                    <a:bodyPr/>
                    <a:lstStyle/>
                    <a:p>
                      <a:r>
                        <a:rPr sz="900">
                          <a:solidFill>
                            <a:srgbClr val="9FC2E8"/>
                          </a:solidFill>
                          <a:latin typeface="微软雅黑"/>
                          <a:ea typeface="微软雅黑"/>
                          <a:cs typeface="微软雅黑"/>
                        </a:rPr>
                        <a:t>与岗位脱节</a:t>
                      </a:r>
                    </a:p>
                  </a:txBody>
                  <a:tcPr marL="91440" marR="91440" marT="45720" marB="45720">
                    <a:solidFill>
                      <a:srgbClr val="0A2444"/>
                    </a:solidFill>
                  </a:tcPr>
                </a:tc>
                <a:tc>
                  <a:txBody>
                    <a:bodyPr/>
                    <a:lstStyle/>
                    <a:p>
                      <a:r>
                        <a:rPr sz="900" b="1">
                          <a:solidFill>
                            <a:srgbClr val="FFFFFF"/>
                          </a:solidFill>
                          <a:latin typeface="微软雅黑"/>
                          <a:ea typeface="微软雅黑"/>
                          <a:cs typeface="微软雅黑"/>
                        </a:rPr>
                        <a:t>岗位—技能—课程—考试—实操打通</a:t>
                      </a:r>
                    </a:p>
                  </a:txBody>
                  <a:tcPr marL="91440" marR="91440" marT="45720" marB="45720">
                    <a:solidFill>
                      <a:srgbClr val="0F3159"/>
                    </a:solidFill>
                  </a:tcPr>
                </a:tc>
              </a:tr>
            </a:tbl>
          </a:graphicData>
        </a:graphic>
      </p:graphicFrame>
      <p:sp>
        <p:nvSpPr>
          <p:cNvPr id="12" name="">
            <a:extLst xmlns:a="http://schemas.openxmlformats.org/drawingml/2006/main">
              <a:ext uri="{FF2B5EF4-FFF2-40B4-BE49-F238E27FC236}">
                <a16:creationId xmlns:a16="http://schemas.microsoft.com/office/drawing/2014/main" id="{474B9C4F-2886-41E5-BC13-67F87AAFEFCE}"/>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3BD7FE8-8BAD-451C-9AAA-2BDD6E8AE8FB}"/>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14" name="">
            <a:extLst xmlns:a="http://schemas.openxmlformats.org/drawingml/2006/main">
              <a:ext uri="{FF2B5EF4-FFF2-40B4-BE49-F238E27FC236}">
                <a16:creationId xmlns:a16="http://schemas.microsoft.com/office/drawing/2014/main" id="{40549CCA-100C-4974-8868-3690F880CA63}"/>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30</a:t>
            </a:r>
          </a:p>
        </p:txBody>
      </p:sp>
    </p:spTree>
    <p:extLst>
      <p:ext uri="{BB962C8B-B14F-4D97-AF65-F5344CB8AC3E}">
        <p14:creationId xmlns:p14="http://schemas.microsoft.com/office/powerpoint/2010/main" val="638737087"/>
      </p:ext>
    </p:extLst>
  </p:cSld>
</p:sld>
</file>

<file path=ppt/slides/slide31.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CB36455F-E197-469A-92D3-8C2C7B44A2CD}"/>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082D1B2-DB5E-4E6D-B5D8-C460E5D77E80}"/>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208AE49-8C86-4EC2-907F-8527A9BE93C1}"/>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6864DD6-E64A-4E3D-939B-52CA087420D6}"/>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491BA70-AFEB-43A3-A31F-9B502AE33041}"/>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DD48145F-B2D1-4D44-BDD7-A9AEF06C5056}"/>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测试验证</a:t>
            </a:r>
          </a:p>
        </p:txBody>
      </p:sp>
      <p:sp>
        <p:nvSpPr>
          <p:cNvPr id="7" name="">
            <a:extLst xmlns:a="http://schemas.openxmlformats.org/drawingml/2006/main">
              <a:ext uri="{FF2B5EF4-FFF2-40B4-BE49-F238E27FC236}">
                <a16:creationId xmlns:a16="http://schemas.microsoft.com/office/drawing/2014/main" id="{3D8CD758-CBB4-4C84-9067-1AC9D1F5315E}"/>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183FE23-7CC3-4630-909D-79F32A833AE6}"/>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合规与伦理：AI 的能力边界写死在系统里</a:t>
            </a:r>
          </a:p>
        </p:txBody>
      </p:sp>
      <p:sp>
        <p:nvSpPr>
          <p:cNvPr id="9" name="">
            <a:extLst xmlns:a="http://schemas.openxmlformats.org/drawingml/2006/main">
              <a:ext uri="{FF2B5EF4-FFF2-40B4-BE49-F238E27FC236}">
                <a16:creationId xmlns:a16="http://schemas.microsoft.com/office/drawing/2014/main" id="{E96F72C7-572B-4F1D-BF50-BFB0B5E9EDF0}"/>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62129693-5638-4228-9648-598AB91F32CD}"/>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AI 只建议、不执行；数据不出内网；心理与关怀数据默认只有本人可见。</a:t>
            </a:r>
          </a:p>
        </p:txBody>
      </p:sp>
      <p:sp>
        <p:nvSpPr>
          <p:cNvPr id="11" name="">
            <a:extLst xmlns:a="http://schemas.openxmlformats.org/drawingml/2006/main">
              <a:ext uri="{FF2B5EF4-FFF2-40B4-BE49-F238E27FC236}">
                <a16:creationId xmlns:a16="http://schemas.microsoft.com/office/drawing/2014/main" id="{9BBB9847-7ABE-4E71-A5F9-AE6B39E8F21A}"/>
              </a:ext>
            </a:extLst>
          </p:cNvPr>
          <p:cNvSpPr>
            <a:spLocks xmlns:a="http://schemas.openxmlformats.org/drawingml/2006/main" noGrp="1"/>
          </p:cNvSpPr>
          <p:nvPr/>
        </p:nvSpPr>
        <p:spPr>
          <a:xfrm xmlns:a="http://schemas.openxmlformats.org/drawingml/2006/main">
            <a:off x="285750" y="1333500"/>
            <a:ext cx="5695950" cy="1752600"/>
          </a:xfrm>
          <a:prstGeom xmlns:a="http://schemas.openxmlformats.org/drawingml/2006/main" prst="roundRect">
            <a:avLst>
              <a:gd name="adj" fmla="val 4348"/>
            </a:avLst>
          </a:prstGeom>
          <a:solidFill xmlns:a="http://schemas.openxmlformats.org/drawingml/2006/main">
            <a:srgbClr val="0D2748"/>
          </a:solidFill>
          <a:ln xmlns:a="http://schemas.openxmlformats.org/drawingml/2006/main" w="9525">
            <a:solidFill>
              <a:srgbClr val="1B4C8A"/>
            </a:solidFill>
            <a:prstDash val="solid"/>
          </a:ln>
        </p:spPr>
      </p:sp>
      <p:sp>
        <p:nvSpPr>
          <p:cNvPr id="12" name="">
            <a:extLst xmlns:a="http://schemas.openxmlformats.org/drawingml/2006/main">
              <a:ext uri="{FF2B5EF4-FFF2-40B4-BE49-F238E27FC236}">
                <a16:creationId xmlns:a16="http://schemas.microsoft.com/office/drawing/2014/main" id="{98B889E8-1184-4EAB-A8A2-C0B2BCE3FFFB}"/>
              </a:ext>
            </a:extLst>
          </p:cNvPr>
          <p:cNvSpPr>
            <a:spLocks xmlns:a="http://schemas.openxmlformats.org/drawingml/2006/main" noGrp="1"/>
          </p:cNvSpPr>
          <p:nvPr/>
        </p:nvSpPr>
        <p:spPr>
          <a:xfrm xmlns:a="http://schemas.openxmlformats.org/drawingml/2006/main">
            <a:off x="285750" y="1333500"/>
            <a:ext cx="5695950" cy="47625"/>
          </a:xfrm>
          <a:prstGeom xmlns:a="http://schemas.openxmlformats.org/drawingml/2006/main" prst="rect">
            <a:avLst/>
          </a:prstGeom>
          <a:solidFill xmlns:a="http://schemas.openxmlformats.org/drawingml/2006/main">
            <a:srgbClr val="31C7F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18307B7-754B-40D1-9F8E-45D7D2C77B10}"/>
              </a:ext>
            </a:extLst>
          </p:cNvPr>
          <p:cNvSpPr>
            <a:spLocks xmlns:a="http://schemas.openxmlformats.org/drawingml/2006/main" noGrp="1"/>
          </p:cNvSpPr>
          <p:nvPr/>
        </p:nvSpPr>
        <p:spPr>
          <a:xfrm xmlns:a="http://schemas.openxmlformats.org/drawingml/2006/main">
            <a:off x="514350" y="1485900"/>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31C7F0"/>
                </a:solidFill>
                <a:latin typeface="微软雅黑"/>
                <a:ea typeface="微软雅黑"/>
                <a:cs typeface="微软雅黑"/>
              </a:defRPr>
            </a:pPr>
            <a:r>
              <a:rPr sz="1500" b="1">
                <a:solidFill>
                  <a:srgbClr val="31C7F0"/>
                </a:solidFill>
                <a:latin typeface="微软雅黑"/>
                <a:ea typeface="微软雅黑"/>
                <a:cs typeface="微软雅黑"/>
              </a:rPr>
              <a:t>数据边界</a:t>
            </a:r>
          </a:p>
        </p:txBody>
      </p:sp>
      <p:sp>
        <p:nvSpPr>
          <p:cNvPr id="14" name="">
            <a:extLst xmlns:a="http://schemas.openxmlformats.org/drawingml/2006/main">
              <a:ext uri="{FF2B5EF4-FFF2-40B4-BE49-F238E27FC236}">
                <a16:creationId xmlns:a16="http://schemas.microsoft.com/office/drawing/2014/main" id="{A4FD46A5-3E63-4141-8BED-A9DD8548CAB7}"/>
              </a:ext>
            </a:extLst>
          </p:cNvPr>
          <p:cNvSpPr>
            <a:spLocks xmlns:a="http://schemas.openxmlformats.org/drawingml/2006/main" noGrp="1"/>
          </p:cNvSpPr>
          <p:nvPr/>
        </p:nvSpPr>
        <p:spPr>
          <a:xfrm xmlns:a="http://schemas.openxmlformats.org/drawingml/2006/main">
            <a:off x="514350" y="1866900"/>
            <a:ext cx="52959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心理与关怀数据默认仅本人可见，授权心理专员可查看</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管理端只返回脱敏聚合，不能用于裁员或绩效处罚</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数据不离开企业内网；外部模型必须可以整体关闭</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越权访问返回 403 / code=40301，并被审计记录</a:t>
            </a:r>
          </a:p>
        </p:txBody>
      </p:sp>
      <p:sp>
        <p:nvSpPr>
          <p:cNvPr id="15" name="">
            <a:extLst xmlns:a="http://schemas.openxmlformats.org/drawingml/2006/main">
              <a:ext uri="{FF2B5EF4-FFF2-40B4-BE49-F238E27FC236}">
                <a16:creationId xmlns:a16="http://schemas.microsoft.com/office/drawing/2014/main" id="{4A823479-C4DF-48D9-B0EC-78A86E90D1F1}"/>
              </a:ext>
            </a:extLst>
          </p:cNvPr>
          <p:cNvSpPr>
            <a:spLocks xmlns:a="http://schemas.openxmlformats.org/drawingml/2006/main" noGrp="1"/>
          </p:cNvSpPr>
          <p:nvPr/>
        </p:nvSpPr>
        <p:spPr>
          <a:xfrm xmlns:a="http://schemas.openxmlformats.org/drawingml/2006/main">
            <a:off x="6210300" y="1333500"/>
            <a:ext cx="5695950" cy="1752600"/>
          </a:xfrm>
          <a:prstGeom xmlns:a="http://schemas.openxmlformats.org/drawingml/2006/main" prst="roundRect">
            <a:avLst>
              <a:gd name="adj" fmla="val 4348"/>
            </a:avLst>
          </a:prstGeom>
          <a:solidFill xmlns:a="http://schemas.openxmlformats.org/drawingml/2006/main">
            <a:srgbClr val="0D2748"/>
          </a:solidFill>
          <a:ln xmlns:a="http://schemas.openxmlformats.org/drawingml/2006/main" w="9525">
            <a:solidFill>
              <a:srgbClr val="1B4C8A"/>
            </a:solidFill>
            <a:prstDash val="solid"/>
          </a:ln>
        </p:spPr>
      </p:sp>
      <p:sp>
        <p:nvSpPr>
          <p:cNvPr id="16" name="">
            <a:extLst xmlns:a="http://schemas.openxmlformats.org/drawingml/2006/main">
              <a:ext uri="{FF2B5EF4-FFF2-40B4-BE49-F238E27FC236}">
                <a16:creationId xmlns:a16="http://schemas.microsoft.com/office/drawing/2014/main" id="{7467A14E-82E0-49D5-9247-153483D21E1F}"/>
              </a:ext>
            </a:extLst>
          </p:cNvPr>
          <p:cNvSpPr>
            <a:spLocks xmlns:a="http://schemas.openxmlformats.org/drawingml/2006/main" noGrp="1"/>
          </p:cNvSpPr>
          <p:nvPr/>
        </p:nvSpPr>
        <p:spPr>
          <a:xfrm xmlns:a="http://schemas.openxmlformats.org/drawingml/2006/main">
            <a:off x="6210300" y="1333500"/>
            <a:ext cx="5695950" cy="47625"/>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EDC0985-C244-41E6-A2FE-40AB530A9B88}"/>
              </a:ext>
            </a:extLst>
          </p:cNvPr>
          <p:cNvSpPr>
            <a:spLocks xmlns:a="http://schemas.openxmlformats.org/drawingml/2006/main" noGrp="1"/>
          </p:cNvSpPr>
          <p:nvPr/>
        </p:nvSpPr>
        <p:spPr>
          <a:xfrm xmlns:a="http://schemas.openxmlformats.org/drawingml/2006/main">
            <a:off x="6438900" y="1485900"/>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5C33B"/>
                </a:solidFill>
                <a:latin typeface="微软雅黑"/>
                <a:ea typeface="微软雅黑"/>
                <a:cs typeface="微软雅黑"/>
              </a:defRPr>
            </a:pPr>
            <a:r>
              <a:rPr sz="1500" b="1">
                <a:solidFill>
                  <a:srgbClr val="F5C33B"/>
                </a:solidFill>
                <a:latin typeface="微软雅黑"/>
                <a:ea typeface="微软雅黑"/>
                <a:cs typeface="微软雅黑"/>
              </a:rPr>
              <a:t>AI 边界</a:t>
            </a:r>
          </a:p>
        </p:txBody>
      </p:sp>
      <p:sp>
        <p:nvSpPr>
          <p:cNvPr id="18" name="">
            <a:extLst xmlns:a="http://schemas.openxmlformats.org/drawingml/2006/main">
              <a:ext uri="{FF2B5EF4-FFF2-40B4-BE49-F238E27FC236}">
                <a16:creationId xmlns:a16="http://schemas.microsoft.com/office/drawing/2014/main" id="{48348C5D-BDB4-4FA5-8FFE-EFDECF1B83A3}"/>
              </a:ext>
            </a:extLst>
          </p:cNvPr>
          <p:cNvSpPr>
            <a:spLocks xmlns:a="http://schemas.openxmlformats.org/drawingml/2006/main" noGrp="1"/>
          </p:cNvSpPr>
          <p:nvPr/>
        </p:nvSpPr>
        <p:spPr>
          <a:xfrm xmlns:a="http://schemas.openxmlformats.org/drawingml/2006/main">
            <a:off x="6438900" y="1866900"/>
            <a:ext cx="52959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AI 只提供建议，不直接执行裁员、降职、调岗或绩效处罚</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可提出转岗、培训、外包等建议，但最终由人工确认</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确认记录用户、决定、理由与时间，可回滚</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need_human_confirm=true 的结论在确认前不改业务数据</a:t>
            </a:r>
          </a:p>
        </p:txBody>
      </p:sp>
      <p:sp>
        <p:nvSpPr>
          <p:cNvPr id="19" name="">
            <a:extLst xmlns:a="http://schemas.openxmlformats.org/drawingml/2006/main">
              <a:ext uri="{FF2B5EF4-FFF2-40B4-BE49-F238E27FC236}">
                <a16:creationId xmlns:a16="http://schemas.microsoft.com/office/drawing/2014/main" id="{C5917714-8C8A-48CA-9A0B-F5516929F47B}"/>
              </a:ext>
            </a:extLst>
          </p:cNvPr>
          <p:cNvSpPr>
            <a:spLocks xmlns:a="http://schemas.openxmlformats.org/drawingml/2006/main" noGrp="1"/>
          </p:cNvSpPr>
          <p:nvPr/>
        </p:nvSpPr>
        <p:spPr>
          <a:xfrm xmlns:a="http://schemas.openxmlformats.org/drawingml/2006/main">
            <a:off x="285750" y="3238500"/>
            <a:ext cx="5695950" cy="1752600"/>
          </a:xfrm>
          <a:prstGeom xmlns:a="http://schemas.openxmlformats.org/drawingml/2006/main" prst="roundRect">
            <a:avLst>
              <a:gd name="adj" fmla="val 4348"/>
            </a:avLst>
          </a:prstGeom>
          <a:solidFill xmlns:a="http://schemas.openxmlformats.org/drawingml/2006/main">
            <a:srgbClr val="0D2748"/>
          </a:solidFill>
          <a:ln xmlns:a="http://schemas.openxmlformats.org/drawingml/2006/main" w="9525">
            <a:solidFill>
              <a:srgbClr val="1B4C8A"/>
            </a:solidFill>
            <a:prstDash val="solid"/>
          </a:ln>
        </p:spPr>
      </p:sp>
      <p:sp>
        <p:nvSpPr>
          <p:cNvPr id="20" name="">
            <a:extLst xmlns:a="http://schemas.openxmlformats.org/drawingml/2006/main">
              <a:ext uri="{FF2B5EF4-FFF2-40B4-BE49-F238E27FC236}">
                <a16:creationId xmlns:a16="http://schemas.microsoft.com/office/drawing/2014/main" id="{B1802F23-6D9B-4164-80F4-D161222E28C5}"/>
              </a:ext>
            </a:extLst>
          </p:cNvPr>
          <p:cNvSpPr>
            <a:spLocks xmlns:a="http://schemas.openxmlformats.org/drawingml/2006/main" noGrp="1"/>
          </p:cNvSpPr>
          <p:nvPr/>
        </p:nvSpPr>
        <p:spPr>
          <a:xfrm xmlns:a="http://schemas.openxmlformats.org/drawingml/2006/main">
            <a:off x="285750" y="3238500"/>
            <a:ext cx="5695950" cy="47625"/>
          </a:xfrm>
          <a:prstGeom xmlns:a="http://schemas.openxmlformats.org/drawingml/2006/main" prst="rect">
            <a:avLst/>
          </a:prstGeom>
          <a:solidFill xmlns:a="http://schemas.openxmlformats.org/drawingml/2006/main">
            <a:srgbClr val="F2705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5EA99AE-02E1-40A1-939B-06A4FCBD8CC6}"/>
              </a:ext>
            </a:extLst>
          </p:cNvPr>
          <p:cNvSpPr>
            <a:spLocks xmlns:a="http://schemas.openxmlformats.org/drawingml/2006/main" noGrp="1"/>
          </p:cNvSpPr>
          <p:nvPr/>
        </p:nvSpPr>
        <p:spPr>
          <a:xfrm xmlns:a="http://schemas.openxmlformats.org/drawingml/2006/main">
            <a:off x="514350" y="3390900"/>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2705E"/>
                </a:solidFill>
                <a:latin typeface="微软雅黑"/>
                <a:ea typeface="微软雅黑"/>
                <a:cs typeface="微软雅黑"/>
              </a:defRPr>
            </a:pPr>
            <a:r>
              <a:rPr sz="1500" b="1">
                <a:solidFill>
                  <a:srgbClr val="F2705E"/>
                </a:solidFill>
                <a:latin typeface="微软雅黑"/>
                <a:ea typeface="微软雅黑"/>
                <a:cs typeface="微软雅黑"/>
              </a:rPr>
              <a:t>安全一票否决</a:t>
            </a:r>
          </a:p>
        </p:txBody>
      </p:sp>
      <p:sp>
        <p:nvSpPr>
          <p:cNvPr id="22" name="">
            <a:extLst xmlns:a="http://schemas.openxmlformats.org/drawingml/2006/main">
              <a:ext uri="{FF2B5EF4-FFF2-40B4-BE49-F238E27FC236}">
                <a16:creationId xmlns:a16="http://schemas.microsoft.com/office/drawing/2014/main" id="{7ECE55F5-418A-4579-945A-37396981F1E4}"/>
              </a:ext>
            </a:extLst>
          </p:cNvPr>
          <p:cNvSpPr>
            <a:spLocks xmlns:a="http://schemas.openxmlformats.org/drawingml/2006/main" noGrp="1"/>
          </p:cNvSpPr>
          <p:nvPr/>
        </p:nvSpPr>
        <p:spPr>
          <a:xfrm xmlns:a="http://schemas.openxmlformats.org/drawingml/2006/main">
            <a:off x="514350" y="3771900"/>
            <a:ext cx="52959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安全记录、违章、事故在人才决策中拥有最高优先级</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安全不合格触发一票否决：晋升、评优、关键岗位任命</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该优先级写在规则里，不由模型临场判断</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规则与模型冲突时，以安全规则的结论为准</a:t>
            </a:r>
          </a:p>
        </p:txBody>
      </p:sp>
      <p:sp>
        <p:nvSpPr>
          <p:cNvPr id="23" name="">
            <a:extLst xmlns:a="http://schemas.openxmlformats.org/drawingml/2006/main">
              <a:ext uri="{FF2B5EF4-FFF2-40B4-BE49-F238E27FC236}">
                <a16:creationId xmlns:a16="http://schemas.microsoft.com/office/drawing/2014/main" id="{BFF227AF-2386-4E71-9A51-0CD7B7D83783}"/>
              </a:ext>
            </a:extLst>
          </p:cNvPr>
          <p:cNvSpPr>
            <a:spLocks xmlns:a="http://schemas.openxmlformats.org/drawingml/2006/main" noGrp="1"/>
          </p:cNvSpPr>
          <p:nvPr/>
        </p:nvSpPr>
        <p:spPr>
          <a:xfrm xmlns:a="http://schemas.openxmlformats.org/drawingml/2006/main">
            <a:off x="6210300" y="3238500"/>
            <a:ext cx="5695950" cy="1752600"/>
          </a:xfrm>
          <a:prstGeom xmlns:a="http://schemas.openxmlformats.org/drawingml/2006/main" prst="roundRect">
            <a:avLst>
              <a:gd name="adj" fmla="val 4348"/>
            </a:avLst>
          </a:prstGeom>
          <a:solidFill xmlns:a="http://schemas.openxmlformats.org/drawingml/2006/main">
            <a:srgbClr val="0D2748"/>
          </a:solidFill>
          <a:ln xmlns:a="http://schemas.openxmlformats.org/drawingml/2006/main" w="9525">
            <a:solidFill>
              <a:srgbClr val="1B4C8A"/>
            </a:solidFill>
            <a:prstDash val="solid"/>
          </a:ln>
        </p:spPr>
      </p:sp>
      <p:sp>
        <p:nvSpPr>
          <p:cNvPr id="24" name="">
            <a:extLst xmlns:a="http://schemas.openxmlformats.org/drawingml/2006/main">
              <a:ext uri="{FF2B5EF4-FFF2-40B4-BE49-F238E27FC236}">
                <a16:creationId xmlns:a16="http://schemas.microsoft.com/office/drawing/2014/main" id="{19773AE5-B6DE-413E-83E1-3561ACAADB13}"/>
              </a:ext>
            </a:extLst>
          </p:cNvPr>
          <p:cNvSpPr>
            <a:spLocks xmlns:a="http://schemas.openxmlformats.org/drawingml/2006/main" noGrp="1"/>
          </p:cNvSpPr>
          <p:nvPr/>
        </p:nvSpPr>
        <p:spPr>
          <a:xfrm xmlns:a="http://schemas.openxmlformats.org/drawingml/2006/main">
            <a:off x="6210300" y="3238500"/>
            <a:ext cx="5695950" cy="47625"/>
          </a:xfrm>
          <a:prstGeom xmlns:a="http://schemas.openxmlformats.org/drawingml/2006/main" prst="rect">
            <a:avLst/>
          </a:prstGeom>
          <a:solidFill xmlns:a="http://schemas.openxmlformats.org/drawingml/2006/main">
            <a:srgbClr val="3FD08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817D879-F7D9-4D8E-B33B-8860008AE83C}"/>
              </a:ext>
            </a:extLst>
          </p:cNvPr>
          <p:cNvSpPr>
            <a:spLocks xmlns:a="http://schemas.openxmlformats.org/drawingml/2006/main" noGrp="1"/>
          </p:cNvSpPr>
          <p:nvPr/>
        </p:nvSpPr>
        <p:spPr>
          <a:xfrm xmlns:a="http://schemas.openxmlformats.org/drawingml/2006/main">
            <a:off x="6438900" y="3390900"/>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3FD08A"/>
                </a:solidFill>
                <a:latin typeface="微软雅黑"/>
                <a:ea typeface="微软雅黑"/>
                <a:cs typeface="微软雅黑"/>
              </a:defRPr>
            </a:pPr>
            <a:r>
              <a:rPr sz="1500" b="1">
                <a:solidFill>
                  <a:srgbClr val="3FD08A"/>
                </a:solidFill>
                <a:latin typeface="微软雅黑"/>
                <a:ea typeface="微软雅黑"/>
                <a:cs typeface="微软雅黑"/>
              </a:rPr>
              <a:t>可替换性</a:t>
            </a:r>
          </a:p>
        </p:txBody>
      </p:sp>
      <p:sp>
        <p:nvSpPr>
          <p:cNvPr id="26" name="">
            <a:extLst xmlns:a="http://schemas.openxmlformats.org/drawingml/2006/main">
              <a:ext uri="{FF2B5EF4-FFF2-40B4-BE49-F238E27FC236}">
                <a16:creationId xmlns:a16="http://schemas.microsoft.com/office/drawing/2014/main" id="{C0AF8F75-E385-4800-A944-8EF88C8E97AB}"/>
              </a:ext>
            </a:extLst>
          </p:cNvPr>
          <p:cNvSpPr>
            <a:spLocks xmlns:a="http://schemas.openxmlformats.org/drawingml/2006/main" noGrp="1"/>
          </p:cNvSpPr>
          <p:nvPr/>
        </p:nvSpPr>
        <p:spPr>
          <a:xfrm xmlns:a="http://schemas.openxmlformats.org/drawingml/2006/main">
            <a:off x="6438900" y="3771900"/>
            <a:ext cx="52959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source=rule 现在，source=model 将来，接口与前端不动</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AI 失败自动回退规则并写 fallback_note（既有模式）</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规则路径不依赖 AI，AI_ENABLED 默认 false</a:t>
            </a:r>
          </a:p>
          <a:p xmlns:a="http://schemas.openxmlformats.org/drawingml/2006/main">
            <a:pPr algn="l">
              <a:lnSpc>
                <a:spcPct val="155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换模型只换 Service 实现，业务结论口径不变</a:t>
            </a:r>
          </a:p>
        </p:txBody>
      </p:sp>
      <p:sp>
        <p:nvSpPr>
          <p:cNvPr id="27" name="">
            <a:extLst xmlns:a="http://schemas.openxmlformats.org/drawingml/2006/main">
              <a:ext uri="{FF2B5EF4-FFF2-40B4-BE49-F238E27FC236}">
                <a16:creationId xmlns:a16="http://schemas.microsoft.com/office/drawing/2014/main" id="{0865F13A-B3D4-454A-803A-472AC7FD2C64}"/>
              </a:ext>
            </a:extLst>
          </p:cNvPr>
          <p:cNvSpPr>
            <a:spLocks xmlns:a="http://schemas.openxmlformats.org/drawingml/2006/main" noGrp="1"/>
          </p:cNvSpPr>
          <p:nvPr/>
        </p:nvSpPr>
        <p:spPr>
          <a:xfrm xmlns:a="http://schemas.openxmlformats.org/drawingml/2006/main">
            <a:off x="285750" y="5257800"/>
            <a:ext cx="11620500" cy="1219200"/>
          </a:xfrm>
          <a:prstGeom xmlns:a="http://schemas.openxmlformats.org/drawingml/2006/main" prst="roundRect">
            <a:avLst>
              <a:gd name="adj" fmla="val 6250"/>
            </a:avLst>
          </a:prstGeom>
          <a:solidFill xmlns:a="http://schemas.openxmlformats.org/drawingml/2006/main">
            <a:srgbClr val="0A2547"/>
          </a:solidFill>
          <a:ln xmlns:a="http://schemas.openxmlformats.org/drawingml/2006/main" w="9525">
            <a:solidFill>
              <a:srgbClr val="2A6BAE"/>
            </a:solidFill>
            <a:prstDash val="solid"/>
          </a:ln>
        </p:spPr>
      </p:sp>
      <p:sp>
        <p:nvSpPr>
          <p:cNvPr id="28" name="">
            <a:extLst xmlns:a="http://schemas.openxmlformats.org/drawingml/2006/main">
              <a:ext uri="{FF2B5EF4-FFF2-40B4-BE49-F238E27FC236}">
                <a16:creationId xmlns:a16="http://schemas.microsoft.com/office/drawing/2014/main" id="{6B87312E-BF9E-4B07-87BD-40BE1D9C2BED}"/>
              </a:ext>
            </a:extLst>
          </p:cNvPr>
          <p:cNvSpPr>
            <a:spLocks xmlns:a="http://schemas.openxmlformats.org/drawingml/2006/main" noGrp="1"/>
          </p:cNvSpPr>
          <p:nvPr/>
        </p:nvSpPr>
        <p:spPr>
          <a:xfrm xmlns:a="http://schemas.openxmlformats.org/drawingml/2006/main">
            <a:off x="457200" y="5353050"/>
            <a:ext cx="1123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写死在系统里的三条硬约束（不依赖模型、不依赖人工临场判断）</a:t>
            </a:r>
          </a:p>
        </p:txBody>
      </p:sp>
      <p:sp>
        <p:nvSpPr>
          <p:cNvPr id="29" name="">
            <a:extLst xmlns:a="http://schemas.openxmlformats.org/drawingml/2006/main">
              <a:ext uri="{FF2B5EF4-FFF2-40B4-BE49-F238E27FC236}">
                <a16:creationId xmlns:a16="http://schemas.microsoft.com/office/drawing/2014/main" id="{C34A907D-0864-43D6-AA3D-61BF3C8D802A}"/>
              </a:ext>
            </a:extLst>
          </p:cNvPr>
          <p:cNvSpPr>
            <a:spLocks xmlns:a="http://schemas.openxmlformats.org/drawingml/2006/main" noGrp="1"/>
          </p:cNvSpPr>
          <p:nvPr/>
        </p:nvSpPr>
        <p:spPr>
          <a:xfrm xmlns:a="http://schemas.openxmlformats.org/drawingml/2006/main">
            <a:off x="457200" y="5619750"/>
            <a:ext cx="3657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安全 &gt; 一切</a:t>
            </a:r>
          </a:p>
        </p:txBody>
      </p:sp>
      <p:sp>
        <p:nvSpPr>
          <p:cNvPr id="30" name="">
            <a:extLst xmlns:a="http://schemas.openxmlformats.org/drawingml/2006/main">
              <a:ext uri="{FF2B5EF4-FFF2-40B4-BE49-F238E27FC236}">
                <a16:creationId xmlns:a16="http://schemas.microsoft.com/office/drawing/2014/main" id="{9FD938E1-CBE1-4128-AB9D-9FF14981A1DB}"/>
              </a:ext>
            </a:extLst>
          </p:cNvPr>
          <p:cNvSpPr>
            <a:spLocks xmlns:a="http://schemas.openxmlformats.org/drawingml/2006/main" noGrp="1"/>
          </p:cNvSpPr>
          <p:nvPr/>
        </p:nvSpPr>
        <p:spPr>
          <a:xfrm xmlns:a="http://schemas.openxmlformats.org/drawingml/2006/main">
            <a:off x="457200" y="5829300"/>
            <a:ext cx="3695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安全不合格触发一票否决，该优先级写在规则里</a:t>
            </a:r>
          </a:p>
        </p:txBody>
      </p:sp>
      <p:sp>
        <p:nvSpPr>
          <p:cNvPr id="31" name="">
            <a:extLst xmlns:a="http://schemas.openxmlformats.org/drawingml/2006/main">
              <a:ext uri="{FF2B5EF4-FFF2-40B4-BE49-F238E27FC236}">
                <a16:creationId xmlns:a16="http://schemas.microsoft.com/office/drawing/2014/main" id="{D1D9787D-3AF6-4DEC-A1AC-9B9B51D6AB3C}"/>
              </a:ext>
            </a:extLst>
          </p:cNvPr>
          <p:cNvSpPr>
            <a:spLocks xmlns:a="http://schemas.openxmlformats.org/drawingml/2006/main" noGrp="1"/>
          </p:cNvSpPr>
          <p:nvPr/>
        </p:nvSpPr>
        <p:spPr>
          <a:xfrm xmlns:a="http://schemas.openxmlformats.org/drawingml/2006/main">
            <a:off x="4267200" y="5619750"/>
            <a:ext cx="3657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数据不出内网</a:t>
            </a:r>
          </a:p>
        </p:txBody>
      </p:sp>
      <p:sp>
        <p:nvSpPr>
          <p:cNvPr id="32" name="">
            <a:extLst xmlns:a="http://schemas.openxmlformats.org/drawingml/2006/main">
              <a:ext uri="{FF2B5EF4-FFF2-40B4-BE49-F238E27FC236}">
                <a16:creationId xmlns:a16="http://schemas.microsoft.com/office/drawing/2014/main" id="{43D18846-FA86-49C3-A098-ECDF56902988}"/>
              </a:ext>
            </a:extLst>
          </p:cNvPr>
          <p:cNvSpPr>
            <a:spLocks xmlns:a="http://schemas.openxmlformats.org/drawingml/2006/main" noGrp="1"/>
          </p:cNvSpPr>
          <p:nvPr/>
        </p:nvSpPr>
        <p:spPr>
          <a:xfrm xmlns:a="http://schemas.openxmlformats.org/drawingml/2006/main">
            <a:off x="4267200" y="5829300"/>
            <a:ext cx="3695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外部模型可整体关闭；AI_ENABLED 默认 false</a:t>
            </a:r>
          </a:p>
        </p:txBody>
      </p:sp>
      <p:sp>
        <p:nvSpPr>
          <p:cNvPr id="33" name="">
            <a:extLst xmlns:a="http://schemas.openxmlformats.org/drawingml/2006/main">
              <a:ext uri="{FF2B5EF4-FFF2-40B4-BE49-F238E27FC236}">
                <a16:creationId xmlns:a16="http://schemas.microsoft.com/office/drawing/2014/main" id="{453D4E1B-6FBA-4AD7-AB28-1C85CC0756C9}"/>
              </a:ext>
            </a:extLst>
          </p:cNvPr>
          <p:cNvSpPr>
            <a:spLocks xmlns:a="http://schemas.openxmlformats.org/drawingml/2006/main" noGrp="1"/>
          </p:cNvSpPr>
          <p:nvPr/>
        </p:nvSpPr>
        <p:spPr>
          <a:xfrm xmlns:a="http://schemas.openxmlformats.org/drawingml/2006/main">
            <a:off x="8077200" y="5619750"/>
            <a:ext cx="3657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结论必须可追溯</a:t>
            </a:r>
          </a:p>
        </p:txBody>
      </p:sp>
      <p:sp>
        <p:nvSpPr>
          <p:cNvPr id="34" name="">
            <a:extLst xmlns:a="http://schemas.openxmlformats.org/drawingml/2006/main">
              <a:ext uri="{FF2B5EF4-FFF2-40B4-BE49-F238E27FC236}">
                <a16:creationId xmlns:a16="http://schemas.microsoft.com/office/drawing/2014/main" id="{2779A506-3831-42F1-B7F5-27A527315499}"/>
              </a:ext>
            </a:extLst>
          </p:cNvPr>
          <p:cNvSpPr>
            <a:spLocks xmlns:a="http://schemas.openxmlformats.org/drawingml/2006/main" noGrp="1"/>
          </p:cNvSpPr>
          <p:nvPr/>
        </p:nvSpPr>
        <p:spPr>
          <a:xfrm xmlns:a="http://schemas.openxmlformats.org/drawingml/2006/main">
            <a:off x="8077200" y="5829300"/>
            <a:ext cx="3695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每条建议带 rule_code 与依据事实，可复算、可回放</a:t>
            </a:r>
          </a:p>
        </p:txBody>
      </p:sp>
      <p:sp>
        <p:nvSpPr>
          <p:cNvPr id="35" name="">
            <a:extLst xmlns:a="http://schemas.openxmlformats.org/drawingml/2006/main">
              <a:ext uri="{FF2B5EF4-FFF2-40B4-BE49-F238E27FC236}">
                <a16:creationId xmlns:a16="http://schemas.microsoft.com/office/drawing/2014/main" id="{30A13C87-03CC-4AE6-957B-07EA3B988715}"/>
              </a:ext>
            </a:extLst>
          </p:cNvPr>
          <p:cNvSpPr>
            <a:spLocks xmlns:a="http://schemas.openxmlformats.org/drawingml/2006/main" noGrp="1"/>
          </p:cNvSpPr>
          <p:nvPr/>
        </p:nvSpPr>
        <p:spPr>
          <a:xfrm xmlns:a="http://schemas.openxmlformats.org/drawingml/2006/main">
            <a:off x="457200" y="6267450"/>
            <a:ext cx="1123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如实标注：当前仍为 MVP——账号暂无密码校验与刷新令牌，规则增删改与启停开关尚未提供接口，对外部署前必须接入内网统一身份；以上限制已写入技术报告，不做隐藏。</a:t>
            </a:r>
          </a:p>
        </p:txBody>
      </p:sp>
      <p:sp>
        <p:nvSpPr>
          <p:cNvPr id="36" name="">
            <a:extLst xmlns:a="http://schemas.openxmlformats.org/drawingml/2006/main">
              <a:ext uri="{FF2B5EF4-FFF2-40B4-BE49-F238E27FC236}">
                <a16:creationId xmlns:a16="http://schemas.microsoft.com/office/drawing/2014/main" id="{F93D0650-701C-40B3-AAE7-2D0B82033C92}"/>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BA61DC27-4609-44D2-B624-54B2B735D38F}"/>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38" name="">
            <a:extLst xmlns:a="http://schemas.openxmlformats.org/drawingml/2006/main">
              <a:ext uri="{FF2B5EF4-FFF2-40B4-BE49-F238E27FC236}">
                <a16:creationId xmlns:a16="http://schemas.microsoft.com/office/drawing/2014/main" id="{E1C5A356-AD85-40DE-8847-9D64F94FADAF}"/>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31</a:t>
            </a:r>
          </a:p>
        </p:txBody>
      </p:sp>
    </p:spTree>
    <p:extLst>
      <p:ext uri="{BB962C8B-B14F-4D97-AF65-F5344CB8AC3E}">
        <p14:creationId xmlns:p14="http://schemas.microsoft.com/office/powerpoint/2010/main" val="770816289"/>
      </p:ext>
    </p:extLst>
  </p:cSld>
</p:sld>
</file>

<file path=ppt/slides/slide32.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FA437FE-9859-4E33-9B1F-FB75603C4F95}"/>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9746E97-0C13-44B2-9C11-F73658BCEBDD}"/>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B600AA8-923B-4EB9-8372-C0EB8BB7C48F}"/>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DA4F842-DCE0-4634-AF34-00E73C2133D2}"/>
              </a:ext>
            </a:extLst>
          </p:cNvPr>
          <p:cNvSpPr>
            <a:spLocks xmlns:a="http://schemas.openxmlformats.org/drawingml/2006/main" noGrp="1"/>
          </p:cNvSpPr>
          <p:nvPr/>
        </p:nvSpPr>
        <p:spPr>
          <a:xfrm xmlns:a="http://schemas.openxmlformats.org/drawingml/2006/main">
            <a:off x="857250" y="1866900"/>
            <a:ext cx="3810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0" b="1">
                <a:solidFill>
                  <a:srgbClr val="12365F"/>
                </a:solidFill>
                <a:latin typeface="Arial"/>
                <a:ea typeface="Arial"/>
                <a:cs typeface="Arial"/>
              </a:defRPr>
            </a:pPr>
            <a:r>
              <a:rPr sz="9000" b="1">
                <a:solidFill>
                  <a:srgbClr val="12365F"/>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E261A6C8-BB12-4097-94C4-14BF547D125D}"/>
              </a:ext>
            </a:extLst>
          </p:cNvPr>
          <p:cNvSpPr>
            <a:spLocks xmlns:a="http://schemas.openxmlformats.org/drawingml/2006/main" noGrp="1"/>
          </p:cNvSpPr>
          <p:nvPr/>
        </p:nvSpPr>
        <p:spPr>
          <a:xfrm xmlns:a="http://schemas.openxmlformats.org/drawingml/2006/main">
            <a:off x="914400" y="2857500"/>
            <a:ext cx="666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3300" b="1">
                <a:solidFill>
                  <a:srgbClr val="FFFFFF"/>
                </a:solidFill>
                <a:latin typeface="微软雅黑"/>
                <a:ea typeface="微软雅黑"/>
                <a:cs typeface="微软雅黑"/>
              </a:defRPr>
            </a:pPr>
            <a:r>
              <a:rPr sz="3300" b="1">
                <a:solidFill>
                  <a:srgbClr val="FFFFFF"/>
                </a:solidFill>
                <a:latin typeface="微软雅黑"/>
                <a:ea typeface="微软雅黑"/>
                <a:cs typeface="微软雅黑"/>
              </a:rPr>
              <a:t>成果与价值</a:t>
            </a:r>
          </a:p>
        </p:txBody>
      </p:sp>
      <p:sp>
        <p:nvSpPr>
          <p:cNvPr id="6" name="">
            <a:extLst xmlns:a="http://schemas.openxmlformats.org/drawingml/2006/main">
              <a:ext uri="{FF2B5EF4-FFF2-40B4-BE49-F238E27FC236}">
                <a16:creationId xmlns:a16="http://schemas.microsoft.com/office/drawing/2014/main" id="{4ACB5137-00CC-4658-B5D8-F49DDAD1667F}"/>
              </a:ext>
            </a:extLst>
          </p:cNvPr>
          <p:cNvSpPr>
            <a:spLocks xmlns:a="http://schemas.openxmlformats.org/drawingml/2006/main" noGrp="1"/>
          </p:cNvSpPr>
          <p:nvPr/>
        </p:nvSpPr>
        <p:spPr>
          <a:xfrm xmlns:a="http://schemas.openxmlformats.org/drawingml/2006/main">
            <a:off x="952500" y="348615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050" b="0">
                <a:solidFill>
                  <a:srgbClr val="31C7F0"/>
                </a:solidFill>
                <a:latin typeface="Arial"/>
                <a:ea typeface="Arial"/>
                <a:cs typeface="Arial"/>
              </a:defRPr>
            </a:pPr>
            <a:r>
              <a:rPr sz="1050" b="0">
                <a:solidFill>
                  <a:srgbClr val="31C7F0"/>
                </a:solidFill>
                <a:latin typeface="Arial"/>
                <a:ea typeface="Arial"/>
                <a:cs typeface="Arial"/>
              </a:rPr>
              <a:t>OUTCOMES · VALUE &amp; ROADMAP</a:t>
            </a:r>
          </a:p>
        </p:txBody>
      </p:sp>
      <p:sp>
        <p:nvSpPr>
          <p:cNvPr id="7" name="">
            <a:extLst xmlns:a="http://schemas.openxmlformats.org/drawingml/2006/main">
              <a:ext uri="{FF2B5EF4-FFF2-40B4-BE49-F238E27FC236}">
                <a16:creationId xmlns:a16="http://schemas.microsoft.com/office/drawing/2014/main" id="{A53BDF16-92B8-4AF3-A535-D34D54A0A67D}"/>
              </a:ext>
            </a:extLst>
          </p:cNvPr>
          <p:cNvSpPr>
            <a:spLocks xmlns:a="http://schemas.openxmlformats.org/drawingml/2006/main" noGrp="1"/>
          </p:cNvSpPr>
          <p:nvPr/>
        </p:nvSpPr>
        <p:spPr>
          <a:xfrm xmlns:a="http://schemas.openxmlformats.org/drawingml/2006/main">
            <a:off x="952500" y="3905250"/>
            <a:ext cx="857250" cy="28575"/>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57211CC-2550-4C03-9015-6A2E6E9D3060}"/>
              </a:ext>
            </a:extLst>
          </p:cNvPr>
          <p:cNvSpPr>
            <a:spLocks xmlns:a="http://schemas.openxmlformats.org/drawingml/2006/main" noGrp="1"/>
          </p:cNvSpPr>
          <p:nvPr/>
        </p:nvSpPr>
        <p:spPr>
          <a:xfrm xmlns:a="http://schemas.openxmlformats.org/drawingml/2006/main">
            <a:off x="952500" y="4152900"/>
            <a:ext cx="590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90000"/>
              </a:lnSpc>
              <a:buNone/>
              <a:defRPr sz="1125">
                <a:solidFill>
                  <a:srgbClr val="9FC2E8"/>
                </a:solidFill>
                <a:latin typeface="微软雅黑"/>
                <a:ea typeface="微软雅黑"/>
                <a:cs typeface="微软雅黑"/>
              </a:defRPr>
            </a:pPr>
            <a:r>
              <a:rPr sz="1125">
                <a:solidFill>
                  <a:srgbClr val="9FC2E8"/>
                </a:solidFill>
                <a:latin typeface="微软雅黑"/>
                <a:ea typeface="微软雅黑"/>
                <a:cs typeface="微软雅黑"/>
              </a:rPr>
              <a:t>已有基础与成果沉淀：清单化罗列，能核对的都给出出处</a:t>
            </a:r>
          </a:p>
          <a:p xmlns:a="http://schemas.openxmlformats.org/drawingml/2006/main">
            <a:pPr algn="l">
              <a:lnSpc>
                <a:spcPct val="190000"/>
              </a:lnSpc>
              <a:buNone/>
              <a:defRPr sz="1125">
                <a:solidFill>
                  <a:srgbClr val="9FC2E8"/>
                </a:solidFill>
                <a:latin typeface="微软雅黑"/>
                <a:ea typeface="微软雅黑"/>
                <a:cs typeface="微软雅黑"/>
              </a:defRPr>
            </a:pPr>
            <a:r>
              <a:rPr sz="1125">
                <a:solidFill>
                  <a:srgbClr val="9FC2E8"/>
                </a:solidFill>
                <a:latin typeface="微软雅黑"/>
                <a:ea typeface="微软雅黑"/>
                <a:cs typeface="微软雅黑"/>
              </a:rPr>
              <a:t>应用场景与目标客户：县级供电公司 / 变电运维班 / 电力高职 / 新能源电站</a:t>
            </a:r>
          </a:p>
          <a:p xmlns:a="http://schemas.openxmlformats.org/drawingml/2006/main">
            <a:pPr algn="l">
              <a:lnSpc>
                <a:spcPct val="190000"/>
              </a:lnSpc>
              <a:buNone/>
              <a:defRPr sz="1125">
                <a:solidFill>
                  <a:srgbClr val="9FC2E8"/>
                </a:solidFill>
                <a:latin typeface="微软雅黑"/>
                <a:ea typeface="微软雅黑"/>
                <a:cs typeface="微软雅黑"/>
              </a:defRPr>
            </a:pPr>
            <a:r>
              <a:rPr sz="1125">
                <a:solidFill>
                  <a:srgbClr val="9FC2E8"/>
                </a:solidFill>
                <a:latin typeface="微软雅黑"/>
                <a:ea typeface="微软雅黑"/>
                <a:cs typeface="微软雅黑"/>
              </a:rPr>
              <a:t>市场价值测算：按成本口径算账，并如实标注测算与实测的边界</a:t>
            </a:r>
          </a:p>
        </p:txBody>
      </p:sp>
    </p:spTree>
    <p:extLst>
      <p:ext uri="{BB962C8B-B14F-4D97-AF65-F5344CB8AC3E}">
        <p14:creationId xmlns:p14="http://schemas.microsoft.com/office/powerpoint/2010/main" val="1783047618"/>
      </p:ext>
    </p:extLst>
  </p:cSld>
</p:sld>
</file>

<file path=ppt/slides/slide33.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8D2789AE-B0B6-4B58-9176-F9FC3FF110A9}"/>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2C169E0-9752-4A0F-8A88-974D53CDF607}"/>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BC786BA-269F-46DC-92B4-B62A7DD08DEA}"/>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16DA67B-8E91-4B22-BC86-B456274CDDD3}"/>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9D086C0-20F3-490F-A7B9-265FB1193DE6}"/>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4C6729D9-37A3-47B6-8560-114417D57B50}"/>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成果与价值</a:t>
            </a:r>
          </a:p>
        </p:txBody>
      </p:sp>
      <p:sp>
        <p:nvSpPr>
          <p:cNvPr id="7" name="">
            <a:extLst xmlns:a="http://schemas.openxmlformats.org/drawingml/2006/main">
              <a:ext uri="{FF2B5EF4-FFF2-40B4-BE49-F238E27FC236}">
                <a16:creationId xmlns:a16="http://schemas.microsoft.com/office/drawing/2014/main" id="{AF62387C-9EA3-4E51-B271-3E4929EC80D3}"/>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AD019C9-C422-461A-8258-88B4D6BE22D9}"/>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已有基础与成果沉淀</a:t>
            </a:r>
          </a:p>
        </p:txBody>
      </p:sp>
      <p:sp>
        <p:nvSpPr>
          <p:cNvPr id="9" name="">
            <a:extLst xmlns:a="http://schemas.openxmlformats.org/drawingml/2006/main">
              <a:ext uri="{FF2B5EF4-FFF2-40B4-BE49-F238E27FC236}">
                <a16:creationId xmlns:a16="http://schemas.microsoft.com/office/drawing/2014/main" id="{09A66855-0203-4D79-9F9D-2BFFC046E020}"/>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DB25E193-9FC7-471F-8AB6-1282FC941E67}"/>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本项目不是从零脑补：可运行系统、验收记录与全套文档均已就位；外部成果按实填写，不虚构。</a:t>
            </a:r>
          </a:p>
        </p:txBody>
      </p:sp>
      <p:sp>
        <p:nvSpPr>
          <p:cNvPr id="11" name="">
            <a:extLst xmlns:a="http://schemas.openxmlformats.org/drawingml/2006/main">
              <a:ext uri="{FF2B5EF4-FFF2-40B4-BE49-F238E27FC236}">
                <a16:creationId xmlns:a16="http://schemas.microsoft.com/office/drawing/2014/main" id="{84239E6B-6BE8-46DF-8259-C81571210527}"/>
              </a:ext>
            </a:extLst>
          </p:cNvPr>
          <p:cNvSpPr>
            <a:spLocks xmlns:a="http://schemas.openxmlformats.org/drawingml/2006/main" noGrp="1"/>
          </p:cNvSpPr>
          <p:nvPr/>
        </p:nvSpPr>
        <p:spPr>
          <a:xfrm xmlns:a="http://schemas.openxmlformats.org/drawingml/2006/main">
            <a:off x="285750" y="13335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3FD08A"/>
                </a:solidFill>
                <a:latin typeface="微软雅黑"/>
                <a:ea typeface="微软雅黑"/>
                <a:cs typeface="微软雅黑"/>
              </a:defRPr>
            </a:pPr>
            <a:r>
              <a:rPr sz="1088" b="1">
                <a:solidFill>
                  <a:srgbClr val="3FD08A"/>
                </a:solidFill>
                <a:latin typeface="微软雅黑"/>
                <a:ea typeface="微软雅黑"/>
                <a:cs typeface="微软雅黑"/>
              </a:rPr>
              <a:t>一、已具备的研发与落地基础（可现场核验）</a:t>
            </a:r>
          </a:p>
        </p:txBody>
      </p:sp>
      <p:sp>
        <p:nvSpPr>
          <p:cNvPr id="12" name="">
            <a:extLst xmlns:a="http://schemas.openxmlformats.org/drawingml/2006/main">
              <a:ext uri="{FF2B5EF4-FFF2-40B4-BE49-F238E27FC236}">
                <a16:creationId xmlns:a16="http://schemas.microsoft.com/office/drawing/2014/main" id="{235C5617-6EF6-4902-88A2-1442243FBFB3}"/>
              </a:ext>
            </a:extLst>
          </p:cNvPr>
          <p:cNvSpPr>
            <a:spLocks xmlns:a="http://schemas.openxmlformats.org/drawingml/2006/main" noGrp="1"/>
          </p:cNvSpPr>
          <p:nvPr/>
        </p:nvSpPr>
        <p:spPr>
          <a:xfrm xmlns:a="http://schemas.openxmlformats.org/drawingml/2006/main">
            <a:off x="285750" y="1638300"/>
            <a:ext cx="5753100" cy="419100"/>
          </a:xfrm>
          <a:prstGeom xmlns:a="http://schemas.openxmlformats.org/drawingml/2006/main" prst="roundRect">
            <a:avLst>
              <a:gd name="adj" fmla="val 18182"/>
            </a:avLst>
          </a:prstGeom>
          <a:solidFill xmlns:a="http://schemas.openxmlformats.org/drawingml/2006/main">
            <a:srgbClr val="0F3159"/>
          </a:solidFill>
          <a:ln xmlns:a="http://schemas.openxmlformats.org/drawingml/2006/main" w="9525">
            <a:solidFill>
              <a:srgbClr val="1B4C8A"/>
            </a:solidFill>
            <a:prstDash val="solid"/>
          </a:ln>
        </p:spPr>
      </p:sp>
      <p:sp>
        <p:nvSpPr>
          <p:cNvPr id="13" name="">
            <a:extLst xmlns:a="http://schemas.openxmlformats.org/drawingml/2006/main">
              <a:ext uri="{FF2B5EF4-FFF2-40B4-BE49-F238E27FC236}">
                <a16:creationId xmlns:a16="http://schemas.microsoft.com/office/drawing/2014/main" id="{FB2EBE1E-8ADC-4883-A315-C531D9A0055D}"/>
              </a:ext>
            </a:extLst>
          </p:cNvPr>
          <p:cNvSpPr>
            <a:spLocks xmlns:a="http://schemas.openxmlformats.org/drawingml/2006/main" noGrp="1"/>
          </p:cNvSpPr>
          <p:nvPr/>
        </p:nvSpPr>
        <p:spPr>
          <a:xfrm xmlns:a="http://schemas.openxmlformats.org/drawingml/2006/main">
            <a:off x="419100" y="17335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FD08A"/>
                </a:solidFill>
                <a:latin typeface="微软雅黑"/>
                <a:ea typeface="微软雅黑"/>
                <a:cs typeface="微软雅黑"/>
              </a:defRPr>
            </a:pPr>
            <a:r>
              <a:rPr sz="900" b="1">
                <a:solidFill>
                  <a:srgbClr val="3FD08A"/>
                </a:solidFill>
                <a:latin typeface="微软雅黑"/>
                <a:ea typeface="微软雅黑"/>
                <a:cs typeface="微软雅黑"/>
              </a:rPr>
              <a:t>可运行系统</a:t>
            </a:r>
          </a:p>
        </p:txBody>
      </p:sp>
      <p:sp>
        <p:nvSpPr>
          <p:cNvPr id="14" name="">
            <a:extLst xmlns:a="http://schemas.openxmlformats.org/drawingml/2006/main">
              <a:ext uri="{FF2B5EF4-FFF2-40B4-BE49-F238E27FC236}">
                <a16:creationId xmlns:a16="http://schemas.microsoft.com/office/drawing/2014/main" id="{11603555-A038-474D-B72E-46AE260C8C8F}"/>
              </a:ext>
            </a:extLst>
          </p:cNvPr>
          <p:cNvSpPr>
            <a:spLocks xmlns:a="http://schemas.openxmlformats.org/drawingml/2006/main" noGrp="1"/>
          </p:cNvSpPr>
          <p:nvPr/>
        </p:nvSpPr>
        <p:spPr>
          <a:xfrm xmlns:a="http://schemas.openxmlformats.org/drawingml/2006/main">
            <a:off x="1638300" y="17335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1 套：Vue 3 前端 + Spring Boot 后端 + MySQL 8，Docker Compose 一键部署</a:t>
            </a:r>
          </a:p>
        </p:txBody>
      </p:sp>
      <p:sp>
        <p:nvSpPr>
          <p:cNvPr id="15" name="">
            <a:extLst xmlns:a="http://schemas.openxmlformats.org/drawingml/2006/main">
              <a:ext uri="{FF2B5EF4-FFF2-40B4-BE49-F238E27FC236}">
                <a16:creationId xmlns:a16="http://schemas.microsoft.com/office/drawing/2014/main" id="{6FE8E59A-0A86-48A2-A076-590C92595BAC}"/>
              </a:ext>
            </a:extLst>
          </p:cNvPr>
          <p:cNvSpPr>
            <a:spLocks xmlns:a="http://schemas.openxmlformats.org/drawingml/2006/main" noGrp="1"/>
          </p:cNvSpPr>
          <p:nvPr/>
        </p:nvSpPr>
        <p:spPr>
          <a:xfrm xmlns:a="http://schemas.openxmlformats.org/drawingml/2006/main">
            <a:off x="285750" y="2114550"/>
            <a:ext cx="5753100" cy="419100"/>
          </a:xfrm>
          <a:prstGeom xmlns:a="http://schemas.openxmlformats.org/drawingml/2006/main" prst="roundRect">
            <a:avLst>
              <a:gd name="adj" fmla="val 18182"/>
            </a:avLst>
          </a:prstGeom>
          <a:solidFill xmlns:a="http://schemas.openxmlformats.org/drawingml/2006/main">
            <a:srgbClr val="0C2A50"/>
          </a:solidFill>
          <a:ln xmlns:a="http://schemas.openxmlformats.org/drawingml/2006/main" w="9525">
            <a:solidFill>
              <a:srgbClr val="1B4C8A"/>
            </a:solidFill>
            <a:prstDash val="solid"/>
          </a:ln>
        </p:spPr>
      </p:sp>
      <p:sp>
        <p:nvSpPr>
          <p:cNvPr id="16" name="">
            <a:extLst xmlns:a="http://schemas.openxmlformats.org/drawingml/2006/main">
              <a:ext uri="{FF2B5EF4-FFF2-40B4-BE49-F238E27FC236}">
                <a16:creationId xmlns:a16="http://schemas.microsoft.com/office/drawing/2014/main" id="{DD97903E-7D45-4450-AA48-B6CBBB0AE38C}"/>
              </a:ext>
            </a:extLst>
          </p:cNvPr>
          <p:cNvSpPr>
            <a:spLocks xmlns:a="http://schemas.openxmlformats.org/drawingml/2006/main" noGrp="1"/>
          </p:cNvSpPr>
          <p:nvPr/>
        </p:nvSpPr>
        <p:spPr>
          <a:xfrm xmlns:a="http://schemas.openxmlformats.org/drawingml/2006/main">
            <a:off x="419100" y="22098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FD08A"/>
                </a:solidFill>
                <a:latin typeface="微软雅黑"/>
                <a:ea typeface="微软雅黑"/>
                <a:cs typeface="微软雅黑"/>
              </a:defRPr>
            </a:pPr>
            <a:r>
              <a:rPr sz="900" b="1">
                <a:solidFill>
                  <a:srgbClr val="3FD08A"/>
                </a:solidFill>
                <a:latin typeface="微软雅黑"/>
                <a:ea typeface="微软雅黑"/>
                <a:cs typeface="微软雅黑"/>
              </a:rPr>
              <a:t>数据库与脚本</a:t>
            </a:r>
          </a:p>
        </p:txBody>
      </p:sp>
      <p:sp>
        <p:nvSpPr>
          <p:cNvPr id="17" name="">
            <a:extLst xmlns:a="http://schemas.openxmlformats.org/drawingml/2006/main">
              <a:ext uri="{FF2B5EF4-FFF2-40B4-BE49-F238E27FC236}">
                <a16:creationId xmlns:a16="http://schemas.microsoft.com/office/drawing/2014/main" id="{A2884181-C6AC-4F03-AE2C-06665F38BED8}"/>
              </a:ext>
            </a:extLst>
          </p:cNvPr>
          <p:cNvSpPr>
            <a:spLocks xmlns:a="http://schemas.openxmlformats.org/drawingml/2006/main" noGrp="1"/>
          </p:cNvSpPr>
          <p:nvPr/>
        </p:nvSpPr>
        <p:spPr>
          <a:xfrm xmlns:a="http://schemas.openxmlformats.org/drawingml/2006/main">
            <a:off x="1638300" y="2209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11 个建库脚本（001~011），53 张表，可重复执行、幂等</a:t>
            </a:r>
          </a:p>
        </p:txBody>
      </p:sp>
      <p:sp>
        <p:nvSpPr>
          <p:cNvPr id="18" name="">
            <a:extLst xmlns:a="http://schemas.openxmlformats.org/drawingml/2006/main">
              <a:ext uri="{FF2B5EF4-FFF2-40B4-BE49-F238E27FC236}">
                <a16:creationId xmlns:a16="http://schemas.microsoft.com/office/drawing/2014/main" id="{2CC65927-BD16-4E08-A651-67A54D2E2E05}"/>
              </a:ext>
            </a:extLst>
          </p:cNvPr>
          <p:cNvSpPr>
            <a:spLocks xmlns:a="http://schemas.openxmlformats.org/drawingml/2006/main" noGrp="1"/>
          </p:cNvSpPr>
          <p:nvPr/>
        </p:nvSpPr>
        <p:spPr>
          <a:xfrm xmlns:a="http://schemas.openxmlformats.org/drawingml/2006/main">
            <a:off x="285750" y="2590800"/>
            <a:ext cx="5753100" cy="419100"/>
          </a:xfrm>
          <a:prstGeom xmlns:a="http://schemas.openxmlformats.org/drawingml/2006/main" prst="roundRect">
            <a:avLst>
              <a:gd name="adj" fmla="val 18182"/>
            </a:avLst>
          </a:prstGeom>
          <a:solidFill xmlns:a="http://schemas.openxmlformats.org/drawingml/2006/main">
            <a:srgbClr val="0F3159"/>
          </a:solidFill>
          <a:ln xmlns:a="http://schemas.openxmlformats.org/drawingml/2006/main" w="9525">
            <a:solidFill>
              <a:srgbClr val="1B4C8A"/>
            </a:solidFill>
            <a:prstDash val="solid"/>
          </a:ln>
        </p:spPr>
      </p:sp>
      <p:sp>
        <p:nvSpPr>
          <p:cNvPr id="19" name="">
            <a:extLst xmlns:a="http://schemas.openxmlformats.org/drawingml/2006/main">
              <a:ext uri="{FF2B5EF4-FFF2-40B4-BE49-F238E27FC236}">
                <a16:creationId xmlns:a16="http://schemas.microsoft.com/office/drawing/2014/main" id="{2721732E-1270-470D-A1F8-8187642C1CF2}"/>
              </a:ext>
            </a:extLst>
          </p:cNvPr>
          <p:cNvSpPr>
            <a:spLocks xmlns:a="http://schemas.openxmlformats.org/drawingml/2006/main" noGrp="1"/>
          </p:cNvSpPr>
          <p:nvPr/>
        </p:nvSpPr>
        <p:spPr>
          <a:xfrm xmlns:a="http://schemas.openxmlformats.org/drawingml/2006/main">
            <a:off x="419100" y="26860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FD08A"/>
                </a:solidFill>
                <a:latin typeface="微软雅黑"/>
                <a:ea typeface="微软雅黑"/>
                <a:cs typeface="微软雅黑"/>
              </a:defRPr>
            </a:pPr>
            <a:r>
              <a:rPr sz="900" b="1">
                <a:solidFill>
                  <a:srgbClr val="3FD08A"/>
                </a:solidFill>
                <a:latin typeface="微软雅黑"/>
                <a:ea typeface="微软雅黑"/>
                <a:cs typeface="微软雅黑"/>
              </a:rPr>
              <a:t>规则资产</a:t>
            </a:r>
          </a:p>
        </p:txBody>
      </p:sp>
      <p:sp>
        <p:nvSpPr>
          <p:cNvPr id="20" name="">
            <a:extLst xmlns:a="http://schemas.openxmlformats.org/drawingml/2006/main">
              <a:ext uri="{FF2B5EF4-FFF2-40B4-BE49-F238E27FC236}">
                <a16:creationId xmlns:a16="http://schemas.microsoft.com/office/drawing/2014/main" id="{16E5C938-17A7-4CC2-8708-BC634A29F906}"/>
              </a:ext>
            </a:extLst>
          </p:cNvPr>
          <p:cNvSpPr>
            <a:spLocks xmlns:a="http://schemas.openxmlformats.org/drawingml/2006/main" noGrp="1"/>
          </p:cNvSpPr>
          <p:nvPr/>
        </p:nvSpPr>
        <p:spPr>
          <a:xfrm xmlns:a="http://schemas.openxmlformats.org/drawingml/2006/main">
            <a:off x="1638300" y="26860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18 条启用规则，覆盖 5 个场景、3 个匹配分组，含 7 条气体关键词规则</a:t>
            </a:r>
          </a:p>
        </p:txBody>
      </p:sp>
      <p:sp>
        <p:nvSpPr>
          <p:cNvPr id="21" name="">
            <a:extLst xmlns:a="http://schemas.openxmlformats.org/drawingml/2006/main">
              <a:ext uri="{FF2B5EF4-FFF2-40B4-BE49-F238E27FC236}">
                <a16:creationId xmlns:a16="http://schemas.microsoft.com/office/drawing/2014/main" id="{A3BD14E8-804E-4F05-8511-C19D9135C8F3}"/>
              </a:ext>
            </a:extLst>
          </p:cNvPr>
          <p:cNvSpPr>
            <a:spLocks xmlns:a="http://schemas.openxmlformats.org/drawingml/2006/main" noGrp="1"/>
          </p:cNvSpPr>
          <p:nvPr/>
        </p:nvSpPr>
        <p:spPr>
          <a:xfrm xmlns:a="http://schemas.openxmlformats.org/drawingml/2006/main">
            <a:off x="285750" y="3067050"/>
            <a:ext cx="5753100" cy="419100"/>
          </a:xfrm>
          <a:prstGeom xmlns:a="http://schemas.openxmlformats.org/drawingml/2006/main" prst="roundRect">
            <a:avLst>
              <a:gd name="adj" fmla="val 18182"/>
            </a:avLst>
          </a:prstGeom>
          <a:solidFill xmlns:a="http://schemas.openxmlformats.org/drawingml/2006/main">
            <a:srgbClr val="0C2A50"/>
          </a:solidFill>
          <a:ln xmlns:a="http://schemas.openxmlformats.org/drawingml/2006/main" w="9525">
            <a:solidFill>
              <a:srgbClr val="1B4C8A"/>
            </a:solidFill>
            <a:prstDash val="solid"/>
          </a:ln>
        </p:spPr>
      </p:sp>
      <p:sp>
        <p:nvSpPr>
          <p:cNvPr id="22" name="">
            <a:extLst xmlns:a="http://schemas.openxmlformats.org/drawingml/2006/main">
              <a:ext uri="{FF2B5EF4-FFF2-40B4-BE49-F238E27FC236}">
                <a16:creationId xmlns:a16="http://schemas.microsoft.com/office/drawing/2014/main" id="{D9803508-3BBE-4650-8504-C7D95F72785D}"/>
              </a:ext>
            </a:extLst>
          </p:cNvPr>
          <p:cNvSpPr>
            <a:spLocks xmlns:a="http://schemas.openxmlformats.org/drawingml/2006/main" noGrp="1"/>
          </p:cNvSpPr>
          <p:nvPr/>
        </p:nvSpPr>
        <p:spPr>
          <a:xfrm xmlns:a="http://schemas.openxmlformats.org/drawingml/2006/main">
            <a:off x="419100" y="31623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FD08A"/>
                </a:solidFill>
                <a:latin typeface="微软雅黑"/>
                <a:ea typeface="微软雅黑"/>
                <a:cs typeface="微软雅黑"/>
              </a:defRPr>
            </a:pPr>
            <a:r>
              <a:rPr sz="900" b="1">
                <a:solidFill>
                  <a:srgbClr val="3FD08A"/>
                </a:solidFill>
                <a:latin typeface="微软雅黑"/>
                <a:ea typeface="微软雅黑"/>
                <a:cs typeface="微软雅黑"/>
              </a:rPr>
              <a:t>验收记录</a:t>
            </a:r>
          </a:p>
        </p:txBody>
      </p:sp>
      <p:sp>
        <p:nvSpPr>
          <p:cNvPr id="23" name="">
            <a:extLst xmlns:a="http://schemas.openxmlformats.org/drawingml/2006/main">
              <a:ext uri="{FF2B5EF4-FFF2-40B4-BE49-F238E27FC236}">
                <a16:creationId xmlns:a16="http://schemas.microsoft.com/office/drawing/2014/main" id="{2D5C0209-7E1B-4B4B-A5E3-2C6C45DA97A6}"/>
              </a:ext>
            </a:extLst>
          </p:cNvPr>
          <p:cNvSpPr>
            <a:spLocks xmlns:a="http://schemas.openxmlformats.org/drawingml/2006/main" noGrp="1"/>
          </p:cNvSpPr>
          <p:nvPr/>
        </p:nvSpPr>
        <p:spPr>
          <a:xfrm xmlns:a="http://schemas.openxmlformats.org/drawingml/2006/main">
            <a:off x="1638300" y="31623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五层测试验收记录、规则回归结果、数据库留痕链、越权拦截记录</a:t>
            </a:r>
          </a:p>
        </p:txBody>
      </p:sp>
      <p:sp>
        <p:nvSpPr>
          <p:cNvPr id="24" name="">
            <a:extLst xmlns:a="http://schemas.openxmlformats.org/drawingml/2006/main">
              <a:ext uri="{FF2B5EF4-FFF2-40B4-BE49-F238E27FC236}">
                <a16:creationId xmlns:a16="http://schemas.microsoft.com/office/drawing/2014/main" id="{EDEDC929-7FF7-4463-8578-F5520EC048A9}"/>
              </a:ext>
            </a:extLst>
          </p:cNvPr>
          <p:cNvSpPr>
            <a:spLocks xmlns:a="http://schemas.openxmlformats.org/drawingml/2006/main" noGrp="1"/>
          </p:cNvSpPr>
          <p:nvPr/>
        </p:nvSpPr>
        <p:spPr>
          <a:xfrm xmlns:a="http://schemas.openxmlformats.org/drawingml/2006/main">
            <a:off x="285750" y="3543300"/>
            <a:ext cx="5753100" cy="419100"/>
          </a:xfrm>
          <a:prstGeom xmlns:a="http://schemas.openxmlformats.org/drawingml/2006/main" prst="roundRect">
            <a:avLst>
              <a:gd name="adj" fmla="val 18182"/>
            </a:avLst>
          </a:prstGeom>
          <a:solidFill xmlns:a="http://schemas.openxmlformats.org/drawingml/2006/main">
            <a:srgbClr val="0F3159"/>
          </a:solidFill>
          <a:ln xmlns:a="http://schemas.openxmlformats.org/drawingml/2006/main" w="9525">
            <a:solidFill>
              <a:srgbClr val="1B4C8A"/>
            </a:solidFill>
            <a:prstDash val="solid"/>
          </a:ln>
        </p:spPr>
      </p:sp>
      <p:sp>
        <p:nvSpPr>
          <p:cNvPr id="25" name="">
            <a:extLst xmlns:a="http://schemas.openxmlformats.org/drawingml/2006/main">
              <a:ext uri="{FF2B5EF4-FFF2-40B4-BE49-F238E27FC236}">
                <a16:creationId xmlns:a16="http://schemas.microsoft.com/office/drawing/2014/main" id="{640F6A0E-3461-4332-BE2E-4489956FBFE7}"/>
              </a:ext>
            </a:extLst>
          </p:cNvPr>
          <p:cNvSpPr>
            <a:spLocks xmlns:a="http://schemas.openxmlformats.org/drawingml/2006/main" noGrp="1"/>
          </p:cNvSpPr>
          <p:nvPr/>
        </p:nvSpPr>
        <p:spPr>
          <a:xfrm xmlns:a="http://schemas.openxmlformats.org/drawingml/2006/main">
            <a:off x="419100" y="36385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FD08A"/>
                </a:solidFill>
                <a:latin typeface="微软雅黑"/>
                <a:ea typeface="微软雅黑"/>
                <a:cs typeface="微软雅黑"/>
              </a:defRPr>
            </a:pPr>
            <a:r>
              <a:rPr sz="900" b="1">
                <a:solidFill>
                  <a:srgbClr val="3FD08A"/>
                </a:solidFill>
                <a:latin typeface="微软雅黑"/>
                <a:ea typeface="微软雅黑"/>
                <a:cs typeface="微软雅黑"/>
              </a:rPr>
              <a:t>系统截图</a:t>
            </a:r>
          </a:p>
        </p:txBody>
      </p:sp>
      <p:sp>
        <p:nvSpPr>
          <p:cNvPr id="26" name="">
            <a:extLst xmlns:a="http://schemas.openxmlformats.org/drawingml/2006/main">
              <a:ext uri="{FF2B5EF4-FFF2-40B4-BE49-F238E27FC236}">
                <a16:creationId xmlns:a16="http://schemas.microsoft.com/office/drawing/2014/main" id="{B5AD01F9-2498-4105-BC8D-204B9D53E3A2}"/>
              </a:ext>
            </a:extLst>
          </p:cNvPr>
          <p:cNvSpPr>
            <a:spLocks xmlns:a="http://schemas.openxmlformats.org/drawingml/2006/main" noGrp="1"/>
          </p:cNvSpPr>
          <p:nvPr/>
        </p:nvSpPr>
        <p:spPr>
          <a:xfrm xmlns:a="http://schemas.openxmlformats.org/drawingml/2006/main">
            <a:off x="1638300" y="36385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员工 / 班组长 / 管理者 / 管理员四端核心页面截图（本 PPT 第 21~25 页）</a:t>
            </a:r>
          </a:p>
        </p:txBody>
      </p:sp>
      <p:sp>
        <p:nvSpPr>
          <p:cNvPr id="27" name="">
            <a:extLst xmlns:a="http://schemas.openxmlformats.org/drawingml/2006/main">
              <a:ext uri="{FF2B5EF4-FFF2-40B4-BE49-F238E27FC236}">
                <a16:creationId xmlns:a16="http://schemas.microsoft.com/office/drawing/2014/main" id="{6512A37A-A1C1-476A-A070-D84624A1BD70}"/>
              </a:ext>
            </a:extLst>
          </p:cNvPr>
          <p:cNvSpPr>
            <a:spLocks xmlns:a="http://schemas.openxmlformats.org/drawingml/2006/main" noGrp="1"/>
          </p:cNvSpPr>
          <p:nvPr/>
        </p:nvSpPr>
        <p:spPr>
          <a:xfrm xmlns:a="http://schemas.openxmlformats.org/drawingml/2006/main">
            <a:off x="285750" y="4019550"/>
            <a:ext cx="5753100" cy="419100"/>
          </a:xfrm>
          <a:prstGeom xmlns:a="http://schemas.openxmlformats.org/drawingml/2006/main" prst="roundRect">
            <a:avLst>
              <a:gd name="adj" fmla="val 18182"/>
            </a:avLst>
          </a:prstGeom>
          <a:solidFill xmlns:a="http://schemas.openxmlformats.org/drawingml/2006/main">
            <a:srgbClr val="0C2A50"/>
          </a:solidFill>
          <a:ln xmlns:a="http://schemas.openxmlformats.org/drawingml/2006/main" w="9525">
            <a:solidFill>
              <a:srgbClr val="1B4C8A"/>
            </a:solidFill>
            <a:prstDash val="solid"/>
          </a:ln>
        </p:spPr>
      </p:sp>
      <p:sp>
        <p:nvSpPr>
          <p:cNvPr id="28" name="">
            <a:extLst xmlns:a="http://schemas.openxmlformats.org/drawingml/2006/main">
              <a:ext uri="{FF2B5EF4-FFF2-40B4-BE49-F238E27FC236}">
                <a16:creationId xmlns:a16="http://schemas.microsoft.com/office/drawing/2014/main" id="{1900F9D9-7955-4C2D-8E27-3454FED0B46B}"/>
              </a:ext>
            </a:extLst>
          </p:cNvPr>
          <p:cNvSpPr>
            <a:spLocks xmlns:a="http://schemas.openxmlformats.org/drawingml/2006/main" noGrp="1"/>
          </p:cNvSpPr>
          <p:nvPr/>
        </p:nvSpPr>
        <p:spPr>
          <a:xfrm xmlns:a="http://schemas.openxmlformats.org/drawingml/2006/main">
            <a:off x="419100" y="41148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 b="1">
                <a:solidFill>
                  <a:srgbClr val="3FD08A"/>
                </a:solidFill>
                <a:latin typeface="微软雅黑"/>
                <a:ea typeface="微软雅黑"/>
                <a:cs typeface="微软雅黑"/>
              </a:defRPr>
            </a:pPr>
            <a:r>
              <a:rPr sz="900" b="1">
                <a:solidFill>
                  <a:srgbClr val="3FD08A"/>
                </a:solidFill>
                <a:latin typeface="微软雅黑"/>
                <a:ea typeface="微软雅黑"/>
                <a:cs typeface="微软雅黑"/>
              </a:rPr>
              <a:t>交付文档</a:t>
            </a:r>
          </a:p>
        </p:txBody>
      </p:sp>
      <p:sp>
        <p:nvSpPr>
          <p:cNvPr id="29" name="">
            <a:extLst xmlns:a="http://schemas.openxmlformats.org/drawingml/2006/main">
              <a:ext uri="{FF2B5EF4-FFF2-40B4-BE49-F238E27FC236}">
                <a16:creationId xmlns:a16="http://schemas.microsoft.com/office/drawing/2014/main" id="{B76700D8-3DE0-4D43-89C3-75F70C592200}"/>
              </a:ext>
            </a:extLst>
          </p:cNvPr>
          <p:cNvSpPr>
            <a:spLocks xmlns:a="http://schemas.openxmlformats.org/drawingml/2006/main" noGrp="1"/>
          </p:cNvSpPr>
          <p:nvPr/>
        </p:nvSpPr>
        <p:spPr>
          <a:xfrm xmlns:a="http://schemas.openxmlformats.org/drawingml/2006/main">
            <a:off x="1638300" y="411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技术方案、技术报告、四人身份使用报告书、功能演示视频脚本、项目介绍</a:t>
            </a:r>
          </a:p>
        </p:txBody>
      </p:sp>
      <p:sp>
        <p:nvSpPr>
          <p:cNvPr id="30" name="">
            <a:extLst xmlns:a="http://schemas.openxmlformats.org/drawingml/2006/main">
              <a:ext uri="{FF2B5EF4-FFF2-40B4-BE49-F238E27FC236}">
                <a16:creationId xmlns:a16="http://schemas.microsoft.com/office/drawing/2014/main" id="{559A406E-F5F0-428D-B6B2-854213174949}"/>
              </a:ext>
            </a:extLst>
          </p:cNvPr>
          <p:cNvSpPr>
            <a:spLocks xmlns:a="http://schemas.openxmlformats.org/drawingml/2006/main" noGrp="1"/>
          </p:cNvSpPr>
          <p:nvPr/>
        </p:nvSpPr>
        <p:spPr>
          <a:xfrm xmlns:a="http://schemas.openxmlformats.org/drawingml/2006/main">
            <a:off x="285750" y="4572000"/>
            <a:ext cx="5753100" cy="1752600"/>
          </a:xfrm>
          <a:prstGeom xmlns:a="http://schemas.openxmlformats.org/drawingml/2006/main" prst="roundRect">
            <a:avLst>
              <a:gd name="adj" fmla="val 4348"/>
            </a:avLst>
          </a:prstGeom>
          <a:solidFill xmlns:a="http://schemas.openxmlformats.org/drawingml/2006/main">
            <a:srgbClr val="0A2547"/>
          </a:solidFill>
          <a:ln xmlns:a="http://schemas.openxmlformats.org/drawingml/2006/main" w="9525">
            <a:solidFill>
              <a:srgbClr val="2A6BAE"/>
            </a:solidFill>
            <a:prstDash val="solid"/>
          </a:ln>
        </p:spPr>
      </p:sp>
      <p:sp>
        <p:nvSpPr>
          <p:cNvPr id="31" name="">
            <a:extLst xmlns:a="http://schemas.openxmlformats.org/drawingml/2006/main">
              <a:ext uri="{FF2B5EF4-FFF2-40B4-BE49-F238E27FC236}">
                <a16:creationId xmlns:a16="http://schemas.microsoft.com/office/drawing/2014/main" id="{A4F80B71-123A-4C9F-914E-3B20671E6BEA}"/>
              </a:ext>
            </a:extLst>
          </p:cNvPr>
          <p:cNvSpPr>
            <a:spLocks xmlns:a="http://schemas.openxmlformats.org/drawingml/2006/main" noGrp="1"/>
          </p:cNvSpPr>
          <p:nvPr/>
        </p:nvSpPr>
        <p:spPr>
          <a:xfrm xmlns:a="http://schemas.openxmlformats.org/drawingml/2006/main">
            <a:off x="476250" y="4686300"/>
            <a:ext cx="5391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团队分工与协作机制（已在实施）</a:t>
            </a:r>
          </a:p>
        </p:txBody>
      </p:sp>
      <p:sp>
        <p:nvSpPr>
          <p:cNvPr id="32" name="">
            <a:extLst xmlns:a="http://schemas.openxmlformats.org/drawingml/2006/main">
              <a:ext uri="{FF2B5EF4-FFF2-40B4-BE49-F238E27FC236}">
                <a16:creationId xmlns:a16="http://schemas.microsoft.com/office/drawing/2014/main" id="{A0F44DCD-B53E-4623-BC62-3418D00F123C}"/>
              </a:ext>
            </a:extLst>
          </p:cNvPr>
          <p:cNvSpPr>
            <a:spLocks xmlns:a="http://schemas.openxmlformats.org/drawingml/2006/main" noGrp="1"/>
          </p:cNvSpPr>
          <p:nvPr/>
        </p:nvSpPr>
        <p:spPr>
          <a:xfrm xmlns:a="http://schemas.openxmlformats.org/drawingml/2006/main">
            <a:off x="476250" y="501015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后端与规则引擎</a:t>
            </a:r>
          </a:p>
        </p:txBody>
      </p:sp>
      <p:sp>
        <p:nvSpPr>
          <p:cNvPr id="33" name="">
            <a:extLst xmlns:a="http://schemas.openxmlformats.org/drawingml/2006/main">
              <a:ext uri="{FF2B5EF4-FFF2-40B4-BE49-F238E27FC236}">
                <a16:creationId xmlns:a16="http://schemas.microsoft.com/office/drawing/2014/main" id="{401656FE-5DCF-4BC7-9D44-56AEEE280E72}"/>
              </a:ext>
            </a:extLst>
          </p:cNvPr>
          <p:cNvSpPr>
            <a:spLocks xmlns:a="http://schemas.openxmlformats.org/drawingml/2006/main" noGrp="1"/>
          </p:cNvSpPr>
          <p:nvPr/>
        </p:nvSpPr>
        <p:spPr>
          <a:xfrm xmlns:a="http://schemas.openxmlformats.org/drawingml/2006/main">
            <a:off x="1752600" y="5010150"/>
            <a:ext cx="413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规则表设计、RuleEngine 匹配与分组、归因适配层、鉴权与审计接口</a:t>
            </a:r>
          </a:p>
        </p:txBody>
      </p:sp>
      <p:sp>
        <p:nvSpPr>
          <p:cNvPr id="34" name="">
            <a:extLst xmlns:a="http://schemas.openxmlformats.org/drawingml/2006/main">
              <a:ext uri="{FF2B5EF4-FFF2-40B4-BE49-F238E27FC236}">
                <a16:creationId xmlns:a16="http://schemas.microsoft.com/office/drawing/2014/main" id="{C4959023-F733-42DE-B547-1FAE778D7C28}"/>
              </a:ext>
            </a:extLst>
          </p:cNvPr>
          <p:cNvSpPr>
            <a:spLocks xmlns:a="http://schemas.openxmlformats.org/drawingml/2006/main" noGrp="1"/>
          </p:cNvSpPr>
          <p:nvPr/>
        </p:nvSpPr>
        <p:spPr>
          <a:xfrm xmlns:a="http://schemas.openxmlformats.org/drawingml/2006/main">
            <a:off x="476250" y="53340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前端与交互</a:t>
            </a:r>
          </a:p>
        </p:txBody>
      </p:sp>
      <p:sp>
        <p:nvSpPr>
          <p:cNvPr id="35" name="">
            <a:extLst xmlns:a="http://schemas.openxmlformats.org/drawingml/2006/main">
              <a:ext uri="{FF2B5EF4-FFF2-40B4-BE49-F238E27FC236}">
                <a16:creationId xmlns:a16="http://schemas.microsoft.com/office/drawing/2014/main" id="{298CB88E-8E2C-4DC5-937C-893C2E292205}"/>
              </a:ext>
            </a:extLst>
          </p:cNvPr>
          <p:cNvSpPr>
            <a:spLocks xmlns:a="http://schemas.openxmlformats.org/drawingml/2006/main" noGrp="1"/>
          </p:cNvSpPr>
          <p:nvPr/>
        </p:nvSpPr>
        <p:spPr>
          <a:xfrm xmlns:a="http://schemas.openxmlformats.org/drawingml/2006/main">
            <a:off x="1752600" y="5334000"/>
            <a:ext cx="413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四端界面：能力画像、组卷考试、班组报告、管理看板与配置后台</a:t>
            </a:r>
          </a:p>
        </p:txBody>
      </p:sp>
      <p:sp>
        <p:nvSpPr>
          <p:cNvPr id="36" name="">
            <a:extLst xmlns:a="http://schemas.openxmlformats.org/drawingml/2006/main">
              <a:ext uri="{FF2B5EF4-FFF2-40B4-BE49-F238E27FC236}">
                <a16:creationId xmlns:a16="http://schemas.microsoft.com/office/drawing/2014/main" id="{33222934-7D80-43EA-A220-1F58972CF58F}"/>
              </a:ext>
            </a:extLst>
          </p:cNvPr>
          <p:cNvSpPr>
            <a:spLocks xmlns:a="http://schemas.openxmlformats.org/drawingml/2006/main" noGrp="1"/>
          </p:cNvSpPr>
          <p:nvPr/>
        </p:nvSpPr>
        <p:spPr>
          <a:xfrm xmlns:a="http://schemas.openxmlformats.org/drawingml/2006/main">
            <a:off x="476250" y="565785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数据与测试</a:t>
            </a:r>
          </a:p>
        </p:txBody>
      </p:sp>
      <p:sp>
        <p:nvSpPr>
          <p:cNvPr id="37" name="">
            <a:extLst xmlns:a="http://schemas.openxmlformats.org/drawingml/2006/main">
              <a:ext uri="{FF2B5EF4-FFF2-40B4-BE49-F238E27FC236}">
                <a16:creationId xmlns:a16="http://schemas.microsoft.com/office/drawing/2014/main" id="{F76E386A-E1F3-4569-8E6C-968F2AB2FC43}"/>
              </a:ext>
            </a:extLst>
          </p:cNvPr>
          <p:cNvSpPr>
            <a:spLocks xmlns:a="http://schemas.openxmlformats.org/drawingml/2006/main" noGrp="1"/>
          </p:cNvSpPr>
          <p:nvPr/>
        </p:nvSpPr>
        <p:spPr>
          <a:xfrm xmlns:a="http://schemas.openxmlformats.org/drawingml/2006/main">
            <a:off x="1752600" y="5657850"/>
            <a:ext cx="413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建库脚本 001~011、种子数据、五层测试验收与规则回归用例</a:t>
            </a:r>
          </a:p>
        </p:txBody>
      </p:sp>
      <p:sp>
        <p:nvSpPr>
          <p:cNvPr id="38" name="">
            <a:extLst xmlns:a="http://schemas.openxmlformats.org/drawingml/2006/main">
              <a:ext uri="{FF2B5EF4-FFF2-40B4-BE49-F238E27FC236}">
                <a16:creationId xmlns:a16="http://schemas.microsoft.com/office/drawing/2014/main" id="{95C9A1DF-BFC9-492A-8A08-DE8C2C70CB00}"/>
              </a:ext>
            </a:extLst>
          </p:cNvPr>
          <p:cNvSpPr>
            <a:spLocks xmlns:a="http://schemas.openxmlformats.org/drawingml/2006/main" noGrp="1"/>
          </p:cNvSpPr>
          <p:nvPr/>
        </p:nvSpPr>
        <p:spPr>
          <a:xfrm xmlns:a="http://schemas.openxmlformats.org/drawingml/2006/main">
            <a:off x="476250" y="59817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文档与合规</a:t>
            </a:r>
          </a:p>
        </p:txBody>
      </p:sp>
      <p:sp>
        <p:nvSpPr>
          <p:cNvPr id="39" name="">
            <a:extLst xmlns:a="http://schemas.openxmlformats.org/drawingml/2006/main">
              <a:ext uri="{FF2B5EF4-FFF2-40B4-BE49-F238E27FC236}">
                <a16:creationId xmlns:a16="http://schemas.microsoft.com/office/drawing/2014/main" id="{15B11FDB-32E1-4F11-8FE8-514DCBFE7324}"/>
              </a:ext>
            </a:extLst>
          </p:cNvPr>
          <p:cNvSpPr>
            <a:spLocks xmlns:a="http://schemas.openxmlformats.org/drawingml/2006/main" noGrp="1"/>
          </p:cNvSpPr>
          <p:nvPr/>
        </p:nvSpPr>
        <p:spPr>
          <a:xfrm xmlns:a="http://schemas.openxmlformats.org/drawingml/2006/main">
            <a:off x="1752600" y="5981700"/>
            <a:ext cx="413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D6E6F7"/>
                </a:solidFill>
                <a:latin typeface="微软雅黑"/>
                <a:ea typeface="微软雅黑"/>
                <a:cs typeface="微软雅黑"/>
              </a:defRPr>
            </a:pPr>
            <a:r>
              <a:rPr sz="825" b="0">
                <a:solidFill>
                  <a:srgbClr val="D6E6F7"/>
                </a:solidFill>
                <a:latin typeface="微软雅黑"/>
                <a:ea typeface="微软雅黑"/>
                <a:cs typeface="微软雅黑"/>
              </a:rPr>
              <a:t>技术方案、技术报告、使用报告书、演示脚本与合规伦理说明</a:t>
            </a:r>
          </a:p>
        </p:txBody>
      </p:sp>
      <p:sp>
        <p:nvSpPr>
          <p:cNvPr id="40" name="">
            <a:extLst xmlns:a="http://schemas.openxmlformats.org/drawingml/2006/main">
              <a:ext uri="{FF2B5EF4-FFF2-40B4-BE49-F238E27FC236}">
                <a16:creationId xmlns:a16="http://schemas.microsoft.com/office/drawing/2014/main" id="{1BA56176-BE65-40A9-8ABE-01D3BE854AF9}"/>
              </a:ext>
            </a:extLst>
          </p:cNvPr>
          <p:cNvSpPr>
            <a:spLocks xmlns:a="http://schemas.openxmlformats.org/drawingml/2006/main" noGrp="1"/>
          </p:cNvSpPr>
          <p:nvPr/>
        </p:nvSpPr>
        <p:spPr>
          <a:xfrm xmlns:a="http://schemas.openxmlformats.org/drawingml/2006/main">
            <a:off x="6229350" y="13335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88" b="1">
                <a:solidFill>
                  <a:srgbClr val="F5C33B"/>
                </a:solidFill>
                <a:latin typeface="微软雅黑"/>
                <a:ea typeface="微软雅黑"/>
                <a:cs typeface="微软雅黑"/>
              </a:defRPr>
            </a:pPr>
            <a:r>
              <a:rPr sz="1088" b="1">
                <a:solidFill>
                  <a:srgbClr val="F5C33B"/>
                </a:solidFill>
                <a:latin typeface="微软雅黑"/>
                <a:ea typeface="微软雅黑"/>
                <a:cs typeface="微软雅黑"/>
              </a:rPr>
              <a:t>二、团队与外部成果清单（按实填写，留空处待补）</a:t>
            </a:r>
          </a:p>
        </p:txBody>
      </p:sp>
      <p:graphicFrame>
        <p:nvGraphicFramePr>
          <p:cNvPr id="88" name=""/>
          <p:cNvGraphicFramePr/>
          <p:nvPr/>
        </p:nvGraphicFramePr>
        <p:xfrm>
          <a:off xmlns:a="http://schemas.openxmlformats.org/drawingml/2006/main" x="6229350" y="1638300"/>
          <a:ext xmlns:a="http://schemas.openxmlformats.org/drawingml/2006/main" cx="5676900" cy="3619500"/>
        </p:xfrm>
        <a:graphic xmlns:a="http://schemas.openxmlformats.org/drawingml/2006/main">
          <a:graphicData uri="http://schemas.openxmlformats.org/drawingml/2006/table">
            <a:tbl>
              <a:tblPr/>
              <a:tblGrid>
                <a:gridCol w="1669676"/>
                <a:gridCol w="960064"/>
                <a:gridCol w="1127032"/>
                <a:gridCol w="667871"/>
                <a:gridCol w="1252257"/>
              </a:tblGrid>
              <a:tr h="304800">
                <a:tc>
                  <a:txBody>
                    <a:bodyPr/>
                    <a:lstStyle/>
                    <a:p>
                      <a:r>
                        <a:rPr sz="825" b="1">
                          <a:solidFill>
                            <a:srgbClr val="FFFFFF"/>
                          </a:solidFill>
                          <a:latin typeface="微软雅黑"/>
                          <a:ea typeface="微软雅黑"/>
                          <a:cs typeface="微软雅黑"/>
                        </a:rPr>
                        <a:t>项目名称 / 成果</a:t>
                      </a:r>
                    </a:p>
                  </a:txBody>
                  <a:tcPr marL="91440" marR="91440" marT="45720" marB="45720">
                    <a:solidFill>
                      <a:srgbClr val="14406F"/>
                    </a:solidFill>
                  </a:tcPr>
                </a:tc>
                <a:tc>
                  <a:txBody>
                    <a:bodyPr/>
                    <a:lstStyle/>
                    <a:p>
                      <a:r>
                        <a:rPr sz="825" b="1">
                          <a:solidFill>
                            <a:srgbClr val="FFFFFF"/>
                          </a:solidFill>
                          <a:latin typeface="微软雅黑"/>
                          <a:ea typeface="微软雅黑"/>
                          <a:cs typeface="微软雅黑"/>
                        </a:rPr>
                        <a:t>类别</a:t>
                      </a:r>
                    </a:p>
                  </a:txBody>
                  <a:tcPr marL="91440" marR="91440" marT="45720" marB="45720">
                    <a:solidFill>
                      <a:srgbClr val="14406F"/>
                    </a:solidFill>
                  </a:tcPr>
                </a:tc>
                <a:tc>
                  <a:txBody>
                    <a:bodyPr/>
                    <a:lstStyle/>
                    <a:p>
                      <a:r>
                        <a:rPr sz="825" b="1">
                          <a:solidFill>
                            <a:srgbClr val="FFFFFF"/>
                          </a:solidFill>
                          <a:latin typeface="微软雅黑"/>
                          <a:ea typeface="微软雅黑"/>
                          <a:cs typeface="微软雅黑"/>
                        </a:rPr>
                        <a:t>级别</a:t>
                      </a:r>
                    </a:p>
                  </a:txBody>
                  <a:tcPr marL="91440" marR="91440" marT="45720" marB="45720">
                    <a:solidFill>
                      <a:srgbClr val="14406F"/>
                    </a:solidFill>
                  </a:tcPr>
                </a:tc>
                <a:tc>
                  <a:txBody>
                    <a:bodyPr/>
                    <a:lstStyle/>
                    <a:p>
                      <a:r>
                        <a:rPr sz="825" b="1">
                          <a:solidFill>
                            <a:srgbClr val="FFFFFF"/>
                          </a:solidFill>
                          <a:latin typeface="微软雅黑"/>
                          <a:ea typeface="微软雅黑"/>
                          <a:cs typeface="微软雅黑"/>
                        </a:rPr>
                        <a:t>年份</a:t>
                      </a:r>
                    </a:p>
                  </a:txBody>
                  <a:tcPr marL="91440" marR="91440" marT="45720" marB="45720">
                    <a:solidFill>
                      <a:srgbClr val="14406F"/>
                    </a:solidFill>
                  </a:tcPr>
                </a:tc>
                <a:tc>
                  <a:txBody>
                    <a:bodyPr/>
                    <a:lstStyle/>
                    <a:p>
                      <a:r>
                        <a:rPr sz="825" b="1">
                          <a:solidFill>
                            <a:srgbClr val="FFFFFF"/>
                          </a:solidFill>
                          <a:latin typeface="微软雅黑"/>
                          <a:ea typeface="微软雅黑"/>
                          <a:cs typeface="微软雅黑"/>
                        </a:rPr>
                        <a:t>本人贡献</a:t>
                      </a:r>
                    </a:p>
                  </a:txBody>
                  <a:tcPr marL="91440" marR="91440" marT="45720" marB="45720">
                    <a:solidFill>
                      <a:srgbClr val="14406F"/>
                    </a:solidFill>
                  </a:tcPr>
                </a:tc>
              </a:tr>
              <a:tr h="514350">
                <a:tc>
                  <a:txBody>
                    <a:bodyPr/>
                    <a:lstStyle/>
                    <a:p>
                      <a:r>
                        <a:rPr sz="788">
                          <a:solidFill>
                            <a:srgbClr val="F5C33B"/>
                          </a:solidFill>
                          <a:latin typeface="微软雅黑"/>
                          <a:ea typeface="微软雅黑"/>
                          <a:cs typeface="微软雅黑"/>
                        </a:rPr>
                        <a:t>（待补：竞赛获奖名称）</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学科竞赛</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（国家级 / 省级）</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（年份）</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（角色与工作）</a:t>
                      </a:r>
                    </a:p>
                  </a:txBody>
                  <a:tcPr marL="91440" marR="91440" marT="45720" marB="45720">
                    <a:solidFill>
                      <a:srgbClr val="0C2A50"/>
                    </a:solidFill>
                  </a:tcPr>
                </a:tc>
              </a:tr>
              <a:tr h="514350">
                <a:tc>
                  <a:txBody>
                    <a:bodyPr/>
                    <a:lstStyle/>
                    <a:p>
                      <a:r>
                        <a:rPr sz="788">
                          <a:solidFill>
                            <a:srgbClr val="F5C33B"/>
                          </a:solidFill>
                          <a:latin typeface="微软雅黑"/>
                          <a:ea typeface="微软雅黑"/>
                          <a:cs typeface="微软雅黑"/>
                        </a:rPr>
                        <a:t>（待补：大创 / 教科创项目名称）</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大创 / 教科创</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（国家级 / 省级）</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（年份）</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（角色与工作）</a:t>
                      </a:r>
                    </a:p>
                  </a:txBody>
                  <a:tcPr marL="91440" marR="91440" marT="45720" marB="45720">
                    <a:solidFill>
                      <a:srgbClr val="0C2A50"/>
                    </a:solidFill>
                  </a:tcPr>
                </a:tc>
              </a:tr>
              <a:tr h="514350">
                <a:tc>
                  <a:txBody>
                    <a:bodyPr/>
                    <a:lstStyle/>
                    <a:p>
                      <a:r>
                        <a:rPr sz="788">
                          <a:solidFill>
                            <a:srgbClr val="F5C33B"/>
                          </a:solidFill>
                          <a:latin typeface="微软雅黑"/>
                          <a:ea typeface="微软雅黑"/>
                          <a:cs typeface="微软雅黑"/>
                        </a:rPr>
                        <a:t>（待补：软件著作权名称）</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软件著作权</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（登记号）</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（年份）</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（作者排序）</a:t>
                      </a:r>
                    </a:p>
                  </a:txBody>
                  <a:tcPr marL="91440" marR="91440" marT="45720" marB="45720">
                    <a:solidFill>
                      <a:srgbClr val="0C2A50"/>
                    </a:solidFill>
                  </a:tcPr>
                </a:tc>
              </a:tr>
              <a:tr h="514350">
                <a:tc>
                  <a:txBody>
                    <a:bodyPr/>
                    <a:lstStyle/>
                    <a:p>
                      <a:r>
                        <a:rPr sz="788">
                          <a:solidFill>
                            <a:srgbClr val="F5C33B"/>
                          </a:solidFill>
                          <a:latin typeface="微软雅黑"/>
                          <a:ea typeface="微软雅黑"/>
                          <a:cs typeface="微软雅黑"/>
                        </a:rPr>
                        <a:t>（待补：论文题目）</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学术论文</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（期刊 / 会议）</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（年份）</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（作者排序）</a:t>
                      </a:r>
                    </a:p>
                  </a:txBody>
                  <a:tcPr marL="91440" marR="91440" marT="45720" marB="45720">
                    <a:solidFill>
                      <a:srgbClr val="0C2A50"/>
                    </a:solidFill>
                  </a:tcPr>
                </a:tc>
              </a:tr>
              <a:tr h="514350">
                <a:tc>
                  <a:txBody>
                    <a:bodyPr/>
                    <a:lstStyle/>
                    <a:p>
                      <a:r>
                        <a:rPr sz="788">
                          <a:solidFill>
                            <a:srgbClr val="F5C33B"/>
                          </a:solidFill>
                          <a:latin typeface="微软雅黑"/>
                          <a:ea typeface="微软雅黑"/>
                          <a:cs typeface="微软雅黑"/>
                        </a:rPr>
                        <a:t>（待补：企业合作产品）</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企业合作</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（合作单位）</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（年份）</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（承担模块）</a:t>
                      </a:r>
                    </a:p>
                  </a:txBody>
                  <a:tcPr marL="91440" marR="91440" marT="45720" marB="45720">
                    <a:solidFill>
                      <a:srgbClr val="0C2A50"/>
                    </a:solidFill>
                  </a:tcPr>
                </a:tc>
              </a:tr>
              <a:tr h="514350">
                <a:tc>
                  <a:txBody>
                    <a:bodyPr/>
                    <a:lstStyle/>
                    <a:p>
                      <a:r>
                        <a:rPr sz="788">
                          <a:solidFill>
                            <a:srgbClr val="F5C33B"/>
                          </a:solidFill>
                          <a:latin typeface="微软雅黑"/>
                          <a:ea typeface="微软雅黑"/>
                          <a:cs typeface="微软雅黑"/>
                        </a:rPr>
                        <a:t>（待补：指导老师结题项目）</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教师科研</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（项目级别）</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（年份）</a:t>
                      </a:r>
                    </a:p>
                  </a:txBody>
                  <a:tcPr marL="91440" marR="91440" marT="45720" marB="45720">
                    <a:solidFill>
                      <a:srgbClr val="0C2A50"/>
                    </a:solidFill>
                  </a:tcPr>
                </a:tc>
                <a:tc>
                  <a:txBody>
                    <a:bodyPr/>
                    <a:lstStyle/>
                    <a:p>
                      <a:r>
                        <a:rPr sz="788">
                          <a:solidFill>
                            <a:srgbClr val="9FC2E8"/>
                          </a:solidFill>
                          <a:latin typeface="微软雅黑"/>
                          <a:ea typeface="微软雅黑"/>
                          <a:cs typeface="微软雅黑"/>
                        </a:rPr>
                        <a:t>（学生参与内容）</a:t>
                      </a:r>
                    </a:p>
                  </a:txBody>
                  <a:tcPr marL="91440" marR="91440" marT="45720" marB="45720">
                    <a:solidFill>
                      <a:srgbClr val="0C2A50"/>
                    </a:solidFill>
                  </a:tcPr>
                </a:tc>
              </a:tr>
            </a:tbl>
          </a:graphicData>
        </a:graphic>
      </p:graphicFrame>
      <p:sp>
        <p:nvSpPr>
          <p:cNvPr id="42" name="">
            <a:extLst xmlns:a="http://schemas.openxmlformats.org/drawingml/2006/main">
              <a:ext uri="{FF2B5EF4-FFF2-40B4-BE49-F238E27FC236}">
                <a16:creationId xmlns:a16="http://schemas.microsoft.com/office/drawing/2014/main" id="{68680F47-6C46-4E3A-B5B0-2148171BF224}"/>
              </a:ext>
            </a:extLst>
          </p:cNvPr>
          <p:cNvSpPr>
            <a:spLocks xmlns:a="http://schemas.openxmlformats.org/drawingml/2006/main" noGrp="1"/>
          </p:cNvSpPr>
          <p:nvPr/>
        </p:nvSpPr>
        <p:spPr>
          <a:xfrm xmlns:a="http://schemas.openxmlformats.org/drawingml/2006/main">
            <a:off x="6229350" y="5143500"/>
            <a:ext cx="5676900" cy="1181100"/>
          </a:xfrm>
          <a:prstGeom xmlns:a="http://schemas.openxmlformats.org/drawingml/2006/main" prst="roundRect">
            <a:avLst>
              <a:gd name="adj" fmla="val 6452"/>
            </a:avLst>
          </a:prstGeom>
          <a:solidFill xmlns:a="http://schemas.openxmlformats.org/drawingml/2006/main">
            <a:srgbClr val="2A2415"/>
          </a:solidFill>
          <a:ln xmlns:a="http://schemas.openxmlformats.org/drawingml/2006/main" w="13335">
            <a:solidFill>
              <a:srgbClr val="F5C33B"/>
            </a:solidFill>
            <a:prstDash val="solid"/>
          </a:ln>
        </p:spPr>
      </p:sp>
      <p:sp>
        <p:nvSpPr>
          <p:cNvPr id="43" name="">
            <a:extLst xmlns:a="http://schemas.openxmlformats.org/drawingml/2006/main">
              <a:ext uri="{FF2B5EF4-FFF2-40B4-BE49-F238E27FC236}">
                <a16:creationId xmlns:a16="http://schemas.microsoft.com/office/drawing/2014/main" id="{2C8424DF-8F45-45A0-89D6-BB08DC699310}"/>
              </a:ext>
            </a:extLst>
          </p:cNvPr>
          <p:cNvSpPr>
            <a:spLocks xmlns:a="http://schemas.openxmlformats.org/drawingml/2006/main" noGrp="1"/>
          </p:cNvSpPr>
          <p:nvPr/>
        </p:nvSpPr>
        <p:spPr>
          <a:xfrm xmlns:a="http://schemas.openxmlformats.org/drawingml/2006/main">
            <a:off x="6400800" y="5257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F5C33B"/>
                </a:solidFill>
                <a:latin typeface="微软雅黑"/>
                <a:ea typeface="微软雅黑"/>
                <a:cs typeface="微软雅黑"/>
              </a:defRPr>
            </a:pPr>
            <a:r>
              <a:rPr sz="975" b="1">
                <a:solidFill>
                  <a:srgbClr val="F5C33B"/>
                </a:solidFill>
                <a:latin typeface="微软雅黑"/>
                <a:ea typeface="微软雅黑"/>
                <a:cs typeface="微软雅黑"/>
              </a:rPr>
              <a:t>为什么这一页留空而不是编数据</a:t>
            </a:r>
          </a:p>
        </p:txBody>
      </p:sp>
      <p:sp>
        <p:nvSpPr>
          <p:cNvPr id="44" name="">
            <a:extLst xmlns:a="http://schemas.openxmlformats.org/drawingml/2006/main">
              <a:ext uri="{FF2B5EF4-FFF2-40B4-BE49-F238E27FC236}">
                <a16:creationId xmlns:a16="http://schemas.microsoft.com/office/drawing/2014/main" id="{F682DD89-8187-4D2B-B3E4-F45A17798676}"/>
              </a:ext>
            </a:extLst>
          </p:cNvPr>
          <p:cNvSpPr>
            <a:spLocks xmlns:a="http://schemas.openxmlformats.org/drawingml/2006/main" noGrp="1"/>
          </p:cNvSpPr>
          <p:nvPr/>
        </p:nvSpPr>
        <p:spPr>
          <a:xfrm xmlns:a="http://schemas.openxmlformats.org/drawingml/2006/main">
            <a:off x="6400800" y="5524500"/>
            <a:ext cx="53530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团队获奖、软著、论文、企业合作与教师结题项目属于可被评委逐条核验的材料。本页先固定「项目名称—类别—级别—年份—贡献」的表格结构，等团队按指导老师的教科创结题材料填齐后再定稿，避免出现无法对证的成果条目。</a:t>
            </a:r>
          </a:p>
        </p:txBody>
      </p:sp>
      <p:sp>
        <p:nvSpPr>
          <p:cNvPr id="45" name="">
            <a:extLst xmlns:a="http://schemas.openxmlformats.org/drawingml/2006/main">
              <a:ext uri="{FF2B5EF4-FFF2-40B4-BE49-F238E27FC236}">
                <a16:creationId xmlns:a16="http://schemas.microsoft.com/office/drawing/2014/main" id="{FD1734EB-7615-48F8-887F-70EFDD9E29DD}"/>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537948A2-E6C6-4CD7-863B-EA0A60462C07}"/>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47" name="">
            <a:extLst xmlns:a="http://schemas.openxmlformats.org/drawingml/2006/main">
              <a:ext uri="{FF2B5EF4-FFF2-40B4-BE49-F238E27FC236}">
                <a16:creationId xmlns:a16="http://schemas.microsoft.com/office/drawing/2014/main" id="{83563772-DD76-4979-9B52-63079297178C}"/>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33</a:t>
            </a:r>
          </a:p>
        </p:txBody>
      </p:sp>
    </p:spTree>
    <p:extLst>
      <p:ext uri="{BB962C8B-B14F-4D97-AF65-F5344CB8AC3E}">
        <p14:creationId xmlns:p14="http://schemas.microsoft.com/office/powerpoint/2010/main" val="1906925931"/>
      </p:ext>
    </p:extLst>
  </p:cSld>
</p:sld>
</file>

<file path=ppt/slides/slide34.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6930773E-5333-4EDD-A410-B6ACE09647C1}"/>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5487FCC-0F80-4401-91D4-86C5F08A3651}"/>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88FFD0B-5A35-47F4-9290-E45E6019A257}"/>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004127E-F1A4-4B82-8736-43FB1DB01044}"/>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F33A834-259E-4186-8A08-A2A34A215D6E}"/>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5A506CE2-4890-4E97-949B-58B0BB4C092C}"/>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成果与价值</a:t>
            </a:r>
          </a:p>
        </p:txBody>
      </p:sp>
      <p:sp>
        <p:nvSpPr>
          <p:cNvPr id="7" name="">
            <a:extLst xmlns:a="http://schemas.openxmlformats.org/drawingml/2006/main">
              <a:ext uri="{FF2B5EF4-FFF2-40B4-BE49-F238E27FC236}">
                <a16:creationId xmlns:a16="http://schemas.microsoft.com/office/drawing/2014/main" id="{4D4F5331-968C-4A18-ADD9-93E0BBE3277B}"/>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A329B35-9717-43D6-928A-238D25C99741}"/>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应用场景与目标客户</a:t>
            </a:r>
          </a:p>
        </p:txBody>
      </p:sp>
      <p:sp>
        <p:nvSpPr>
          <p:cNvPr id="9" name="">
            <a:extLst xmlns:a="http://schemas.openxmlformats.org/drawingml/2006/main">
              <a:ext uri="{FF2B5EF4-FFF2-40B4-BE49-F238E27FC236}">
                <a16:creationId xmlns:a16="http://schemas.microsoft.com/office/drawing/2014/main" id="{72A52049-9DF5-4572-898A-C30404526374}"/>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29DD8E64-C28B-4118-A994-FC45A7DDAA24}"/>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不写「可推广到电力行业」，而是写清四类具体客户、部署方式与付费逻辑。</a:t>
            </a:r>
          </a:p>
        </p:txBody>
      </p:sp>
      <p:sp>
        <p:nvSpPr>
          <p:cNvPr id="11" name="">
            <a:extLst xmlns:a="http://schemas.openxmlformats.org/drawingml/2006/main">
              <a:ext uri="{FF2B5EF4-FFF2-40B4-BE49-F238E27FC236}">
                <a16:creationId xmlns:a16="http://schemas.microsoft.com/office/drawing/2014/main" id="{18FAADCE-C3F7-43B2-9E47-42940F8EC9A4}"/>
              </a:ext>
            </a:extLst>
          </p:cNvPr>
          <p:cNvSpPr>
            <a:spLocks xmlns:a="http://schemas.openxmlformats.org/drawingml/2006/main" noGrp="1"/>
          </p:cNvSpPr>
          <p:nvPr/>
        </p:nvSpPr>
        <p:spPr>
          <a:xfrm xmlns:a="http://schemas.openxmlformats.org/drawingml/2006/main">
            <a:off x="285750" y="1333500"/>
            <a:ext cx="5695950" cy="2228850"/>
          </a:xfrm>
          <a:prstGeom xmlns:a="http://schemas.openxmlformats.org/drawingml/2006/main" prst="roundRect">
            <a:avLst>
              <a:gd name="adj" fmla="val 3419"/>
            </a:avLst>
          </a:prstGeom>
          <a:solidFill xmlns:a="http://schemas.openxmlformats.org/drawingml/2006/main">
            <a:srgbClr val="0D2748"/>
          </a:solidFill>
          <a:ln xmlns:a="http://schemas.openxmlformats.org/drawingml/2006/main" w="9525">
            <a:solidFill>
              <a:srgbClr val="1B4C8A"/>
            </a:solidFill>
            <a:prstDash val="solid"/>
          </a:ln>
        </p:spPr>
      </p:sp>
      <p:sp>
        <p:nvSpPr>
          <p:cNvPr id="12" name="">
            <a:extLst xmlns:a="http://schemas.openxmlformats.org/drawingml/2006/main">
              <a:ext uri="{FF2B5EF4-FFF2-40B4-BE49-F238E27FC236}">
                <a16:creationId xmlns:a16="http://schemas.microsoft.com/office/drawing/2014/main" id="{55D83462-82D6-4350-9946-A4F56A9F58B1}"/>
              </a:ext>
            </a:extLst>
          </p:cNvPr>
          <p:cNvSpPr>
            <a:spLocks xmlns:a="http://schemas.openxmlformats.org/drawingml/2006/main" noGrp="1"/>
          </p:cNvSpPr>
          <p:nvPr/>
        </p:nvSpPr>
        <p:spPr>
          <a:xfrm xmlns:a="http://schemas.openxmlformats.org/drawingml/2006/main">
            <a:off x="285750" y="1333500"/>
            <a:ext cx="5695950" cy="47625"/>
          </a:xfrm>
          <a:prstGeom xmlns:a="http://schemas.openxmlformats.org/drawingml/2006/main" prst="rect">
            <a:avLst/>
          </a:prstGeom>
          <a:solidFill xmlns:a="http://schemas.openxmlformats.org/drawingml/2006/main">
            <a:srgbClr val="31C7F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C5C370D-DB4D-4050-AD27-0A2200A849FD}"/>
              </a:ext>
            </a:extLst>
          </p:cNvPr>
          <p:cNvSpPr>
            <a:spLocks xmlns:a="http://schemas.openxmlformats.org/drawingml/2006/main" noGrp="1"/>
          </p:cNvSpPr>
          <p:nvPr/>
        </p:nvSpPr>
        <p:spPr>
          <a:xfrm xmlns:a="http://schemas.openxmlformats.org/drawingml/2006/main">
            <a:off x="495300" y="15049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31C7F0"/>
                </a:solidFill>
                <a:latin typeface="微软雅黑"/>
                <a:ea typeface="微软雅黑"/>
                <a:cs typeface="微软雅黑"/>
              </a:defRPr>
            </a:pPr>
            <a:r>
              <a:rPr sz="1425" b="1">
                <a:solidFill>
                  <a:srgbClr val="31C7F0"/>
                </a:solidFill>
                <a:latin typeface="微软雅黑"/>
                <a:ea typeface="微软雅黑"/>
                <a:cs typeface="微软雅黑"/>
              </a:rPr>
              <a:t>县级 / 地市供电公司</a:t>
            </a:r>
          </a:p>
        </p:txBody>
      </p:sp>
      <p:sp>
        <p:nvSpPr>
          <p:cNvPr id="14" name="">
            <a:extLst xmlns:a="http://schemas.openxmlformats.org/drawingml/2006/main">
              <a:ext uri="{FF2B5EF4-FFF2-40B4-BE49-F238E27FC236}">
                <a16:creationId xmlns:a16="http://schemas.microsoft.com/office/drawing/2014/main" id="{7CF97FEB-0956-4C1C-8E10-A18DE3FA771A}"/>
              </a:ext>
            </a:extLst>
          </p:cNvPr>
          <p:cNvSpPr>
            <a:spLocks xmlns:a="http://schemas.openxmlformats.org/drawingml/2006/main" noGrp="1"/>
          </p:cNvSpPr>
          <p:nvPr/>
        </p:nvSpPr>
        <p:spPr>
          <a:xfrm xmlns:a="http://schemas.openxmlformats.org/drawingml/2006/main">
            <a:off x="495300" y="1809750"/>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7A9CC4"/>
                </a:solidFill>
                <a:latin typeface="微软雅黑"/>
                <a:ea typeface="微软雅黑"/>
                <a:cs typeface="微软雅黑"/>
              </a:defRPr>
            </a:pPr>
            <a:r>
              <a:rPr sz="900" b="0">
                <a:solidFill>
                  <a:srgbClr val="7A9CC4"/>
                </a:solidFill>
                <a:latin typeface="微软雅黑"/>
                <a:ea typeface="微软雅黑"/>
                <a:cs typeface="微软雅黑"/>
              </a:rPr>
              <a:t>变电运维中心</a:t>
            </a:r>
          </a:p>
        </p:txBody>
      </p:sp>
      <p:sp>
        <p:nvSpPr>
          <p:cNvPr id="15" name="">
            <a:extLst xmlns:a="http://schemas.openxmlformats.org/drawingml/2006/main">
              <a:ext uri="{FF2B5EF4-FFF2-40B4-BE49-F238E27FC236}">
                <a16:creationId xmlns:a16="http://schemas.microsoft.com/office/drawing/2014/main" id="{947E8E01-A82B-4197-A073-CBDB57B34C96}"/>
              </a:ext>
            </a:extLst>
          </p:cNvPr>
          <p:cNvSpPr>
            <a:spLocks xmlns:a="http://schemas.openxmlformats.org/drawingml/2006/main" noGrp="1"/>
          </p:cNvSpPr>
          <p:nvPr/>
        </p:nvSpPr>
        <p:spPr>
          <a:xfrm xmlns:a="http://schemas.openxmlformats.org/drawingml/2006/main">
            <a:off x="495300" y="207645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为什么买</a:t>
            </a:r>
          </a:p>
        </p:txBody>
      </p:sp>
      <p:sp>
        <p:nvSpPr>
          <p:cNvPr id="16" name="">
            <a:extLst xmlns:a="http://schemas.openxmlformats.org/drawingml/2006/main">
              <a:ext uri="{FF2B5EF4-FFF2-40B4-BE49-F238E27FC236}">
                <a16:creationId xmlns:a16="http://schemas.microsoft.com/office/drawing/2014/main" id="{16969379-9C71-48E8-A4E9-86DD1F74DCE6}"/>
              </a:ext>
            </a:extLst>
          </p:cNvPr>
          <p:cNvSpPr>
            <a:spLocks xmlns:a="http://schemas.openxmlformats.org/drawingml/2006/main" noGrp="1"/>
          </p:cNvSpPr>
          <p:nvPr/>
        </p:nvSpPr>
        <p:spPr>
          <a:xfrm xmlns:a="http://schemas.openxmlformats.org/drawingml/2006/main">
            <a:off x="1276350" y="207645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培训投入要能对账；迎检要能一键出合规材料；关键岗位要有备份</a:t>
            </a:r>
          </a:p>
        </p:txBody>
      </p:sp>
      <p:sp>
        <p:nvSpPr>
          <p:cNvPr id="17" name="">
            <a:extLst xmlns:a="http://schemas.openxmlformats.org/drawingml/2006/main">
              <a:ext uri="{FF2B5EF4-FFF2-40B4-BE49-F238E27FC236}">
                <a16:creationId xmlns:a16="http://schemas.microsoft.com/office/drawing/2014/main" id="{E388BB2C-D827-487F-9D84-96385A8C8A1C}"/>
              </a:ext>
            </a:extLst>
          </p:cNvPr>
          <p:cNvSpPr>
            <a:spLocks xmlns:a="http://schemas.openxmlformats.org/drawingml/2006/main" noGrp="1"/>
          </p:cNvSpPr>
          <p:nvPr/>
        </p:nvSpPr>
        <p:spPr>
          <a:xfrm xmlns:a="http://schemas.openxmlformats.org/drawingml/2006/main">
            <a:off x="495300" y="243840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部署方式</a:t>
            </a:r>
          </a:p>
        </p:txBody>
      </p:sp>
      <p:sp>
        <p:nvSpPr>
          <p:cNvPr id="18" name="">
            <a:extLst xmlns:a="http://schemas.openxmlformats.org/drawingml/2006/main">
              <a:ext uri="{FF2B5EF4-FFF2-40B4-BE49-F238E27FC236}">
                <a16:creationId xmlns:a16="http://schemas.microsoft.com/office/drawing/2014/main" id="{B7CAD93F-82A0-4457-AA61-34FDD3DC03BB}"/>
              </a:ext>
            </a:extLst>
          </p:cNvPr>
          <p:cNvSpPr>
            <a:spLocks xmlns:a="http://schemas.openxmlformats.org/drawingml/2006/main" noGrp="1"/>
          </p:cNvSpPr>
          <p:nvPr/>
        </p:nvSpPr>
        <p:spPr>
          <a:xfrm xmlns:a="http://schemas.openxmlformats.org/drawingml/2006/main">
            <a:off x="1276350" y="243840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内网私有化部署（Docker Compose：MySQL + API + Web），支持完全离线运行</a:t>
            </a:r>
          </a:p>
        </p:txBody>
      </p:sp>
      <p:sp>
        <p:nvSpPr>
          <p:cNvPr id="19" name="">
            <a:extLst xmlns:a="http://schemas.openxmlformats.org/drawingml/2006/main">
              <a:ext uri="{FF2B5EF4-FFF2-40B4-BE49-F238E27FC236}">
                <a16:creationId xmlns:a16="http://schemas.microsoft.com/office/drawing/2014/main" id="{EE958496-00C1-4162-8571-01FAF68EB292}"/>
              </a:ext>
            </a:extLst>
          </p:cNvPr>
          <p:cNvSpPr>
            <a:spLocks xmlns:a="http://schemas.openxmlformats.org/drawingml/2006/main" noGrp="1"/>
          </p:cNvSpPr>
          <p:nvPr/>
        </p:nvSpPr>
        <p:spPr>
          <a:xfrm xmlns:a="http://schemas.openxmlformats.org/drawingml/2006/main">
            <a:off x="495300" y="280035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付费逻辑</a:t>
            </a:r>
          </a:p>
        </p:txBody>
      </p:sp>
      <p:sp>
        <p:nvSpPr>
          <p:cNvPr id="20" name="">
            <a:extLst xmlns:a="http://schemas.openxmlformats.org/drawingml/2006/main">
              <a:ext uri="{FF2B5EF4-FFF2-40B4-BE49-F238E27FC236}">
                <a16:creationId xmlns:a16="http://schemas.microsoft.com/office/drawing/2014/main" id="{D1B127BB-23FB-4119-9CC2-09485B589C1B}"/>
              </a:ext>
            </a:extLst>
          </p:cNvPr>
          <p:cNvSpPr>
            <a:spLocks xmlns:a="http://schemas.openxmlformats.org/drawingml/2006/main" noGrp="1"/>
          </p:cNvSpPr>
          <p:nvPr/>
        </p:nvSpPr>
        <p:spPr>
          <a:xfrm xmlns:a="http://schemas.openxmlformats.org/drawingml/2006/main">
            <a:off x="1276350" y="280035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按站点规模或运维人数年度订阅 + 首次实施与数据初始化服务</a:t>
            </a:r>
          </a:p>
        </p:txBody>
      </p:sp>
      <p:sp>
        <p:nvSpPr>
          <p:cNvPr id="21" name="">
            <a:extLst xmlns:a="http://schemas.openxmlformats.org/drawingml/2006/main">
              <a:ext uri="{FF2B5EF4-FFF2-40B4-BE49-F238E27FC236}">
                <a16:creationId xmlns:a16="http://schemas.microsoft.com/office/drawing/2014/main" id="{F0B21979-DDD4-4C23-8935-F0815B93C515}"/>
              </a:ext>
            </a:extLst>
          </p:cNvPr>
          <p:cNvSpPr>
            <a:spLocks xmlns:a="http://schemas.openxmlformats.org/drawingml/2006/main" noGrp="1"/>
          </p:cNvSpPr>
          <p:nvPr/>
        </p:nvSpPr>
        <p:spPr>
          <a:xfrm xmlns:a="http://schemas.openxmlformats.org/drawingml/2006/main">
            <a:off x="495300" y="316230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起量方式</a:t>
            </a:r>
          </a:p>
        </p:txBody>
      </p:sp>
      <p:sp>
        <p:nvSpPr>
          <p:cNvPr id="22" name="">
            <a:extLst xmlns:a="http://schemas.openxmlformats.org/drawingml/2006/main">
              <a:ext uri="{FF2B5EF4-FFF2-40B4-BE49-F238E27FC236}">
                <a16:creationId xmlns:a16="http://schemas.microsoft.com/office/drawing/2014/main" id="{A411CCEF-C7DF-44C7-B8F8-C0D2A2D0A11B}"/>
              </a:ext>
            </a:extLst>
          </p:cNvPr>
          <p:cNvSpPr>
            <a:spLocks xmlns:a="http://schemas.openxmlformats.org/drawingml/2006/main" noGrp="1"/>
          </p:cNvSpPr>
          <p:nvPr/>
        </p:nvSpPr>
        <p:spPr>
          <a:xfrm xmlns:a="http://schemas.openxmlformats.org/drawingml/2006/main">
            <a:off x="1276350" y="316230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先选 1 个变电运维班组试点，跑通一个完整考核周期后再扩展</a:t>
            </a:r>
          </a:p>
        </p:txBody>
      </p:sp>
      <p:sp>
        <p:nvSpPr>
          <p:cNvPr id="23" name="">
            <a:extLst xmlns:a="http://schemas.openxmlformats.org/drawingml/2006/main">
              <a:ext uri="{FF2B5EF4-FFF2-40B4-BE49-F238E27FC236}">
                <a16:creationId xmlns:a16="http://schemas.microsoft.com/office/drawing/2014/main" id="{D870BA21-056E-47FD-8F5B-91A024ECEF25}"/>
              </a:ext>
            </a:extLst>
          </p:cNvPr>
          <p:cNvSpPr>
            <a:spLocks xmlns:a="http://schemas.openxmlformats.org/drawingml/2006/main" noGrp="1"/>
          </p:cNvSpPr>
          <p:nvPr/>
        </p:nvSpPr>
        <p:spPr>
          <a:xfrm xmlns:a="http://schemas.openxmlformats.org/drawingml/2006/main">
            <a:off x="6210300" y="1333500"/>
            <a:ext cx="5695950" cy="2228850"/>
          </a:xfrm>
          <a:prstGeom xmlns:a="http://schemas.openxmlformats.org/drawingml/2006/main" prst="roundRect">
            <a:avLst>
              <a:gd name="adj" fmla="val 3419"/>
            </a:avLst>
          </a:prstGeom>
          <a:solidFill xmlns:a="http://schemas.openxmlformats.org/drawingml/2006/main">
            <a:srgbClr val="0D2748"/>
          </a:solidFill>
          <a:ln xmlns:a="http://schemas.openxmlformats.org/drawingml/2006/main" w="9525">
            <a:solidFill>
              <a:srgbClr val="1B4C8A"/>
            </a:solidFill>
            <a:prstDash val="solid"/>
          </a:ln>
        </p:spPr>
      </p:sp>
      <p:sp>
        <p:nvSpPr>
          <p:cNvPr id="24" name="">
            <a:extLst xmlns:a="http://schemas.openxmlformats.org/drawingml/2006/main">
              <a:ext uri="{FF2B5EF4-FFF2-40B4-BE49-F238E27FC236}">
                <a16:creationId xmlns:a16="http://schemas.microsoft.com/office/drawing/2014/main" id="{A348B93C-390C-44F1-BFA6-DD832BE0C6C8}"/>
              </a:ext>
            </a:extLst>
          </p:cNvPr>
          <p:cNvSpPr>
            <a:spLocks xmlns:a="http://schemas.openxmlformats.org/drawingml/2006/main" noGrp="1"/>
          </p:cNvSpPr>
          <p:nvPr/>
        </p:nvSpPr>
        <p:spPr>
          <a:xfrm xmlns:a="http://schemas.openxmlformats.org/drawingml/2006/main">
            <a:off x="6210300" y="1333500"/>
            <a:ext cx="5695950" cy="4762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7E536CB-0793-431C-81FE-D9A93A9D3C5E}"/>
              </a:ext>
            </a:extLst>
          </p:cNvPr>
          <p:cNvSpPr>
            <a:spLocks xmlns:a="http://schemas.openxmlformats.org/drawingml/2006/main" noGrp="1"/>
          </p:cNvSpPr>
          <p:nvPr/>
        </p:nvSpPr>
        <p:spPr>
          <a:xfrm xmlns:a="http://schemas.openxmlformats.org/drawingml/2006/main">
            <a:off x="6419850" y="15049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2E86E8"/>
                </a:solidFill>
                <a:latin typeface="微软雅黑"/>
                <a:ea typeface="微软雅黑"/>
                <a:cs typeface="微软雅黑"/>
              </a:defRPr>
            </a:pPr>
            <a:r>
              <a:rPr sz="1425" b="1">
                <a:solidFill>
                  <a:srgbClr val="2E86E8"/>
                </a:solidFill>
                <a:latin typeface="微软雅黑"/>
                <a:ea typeface="微软雅黑"/>
                <a:cs typeface="微软雅黑"/>
              </a:rPr>
              <a:t>变电运维班组</a:t>
            </a:r>
          </a:p>
        </p:txBody>
      </p:sp>
      <p:sp>
        <p:nvSpPr>
          <p:cNvPr id="26" name="">
            <a:extLst xmlns:a="http://schemas.openxmlformats.org/drawingml/2006/main">
              <a:ext uri="{FF2B5EF4-FFF2-40B4-BE49-F238E27FC236}">
                <a16:creationId xmlns:a16="http://schemas.microsoft.com/office/drawing/2014/main" id="{576C5650-11BE-42A5-B558-DEDD3D743463}"/>
              </a:ext>
            </a:extLst>
          </p:cNvPr>
          <p:cNvSpPr>
            <a:spLocks xmlns:a="http://schemas.openxmlformats.org/drawingml/2006/main" noGrp="1"/>
          </p:cNvSpPr>
          <p:nvPr/>
        </p:nvSpPr>
        <p:spPr>
          <a:xfrm xmlns:a="http://schemas.openxmlformats.org/drawingml/2006/main">
            <a:off x="6419850" y="1809750"/>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7A9CC4"/>
                </a:solidFill>
                <a:latin typeface="微软雅黑"/>
                <a:ea typeface="微软雅黑"/>
                <a:cs typeface="微软雅黑"/>
              </a:defRPr>
            </a:pPr>
            <a:r>
              <a:rPr sz="900" b="0">
                <a:solidFill>
                  <a:srgbClr val="7A9CC4"/>
                </a:solidFill>
                <a:latin typeface="微软雅黑"/>
                <a:ea typeface="微软雅黑"/>
                <a:cs typeface="微软雅黑"/>
              </a:rPr>
              <a:t>最小采购单元</a:t>
            </a:r>
          </a:p>
        </p:txBody>
      </p:sp>
      <p:sp>
        <p:nvSpPr>
          <p:cNvPr id="27" name="">
            <a:extLst xmlns:a="http://schemas.openxmlformats.org/drawingml/2006/main">
              <a:ext uri="{FF2B5EF4-FFF2-40B4-BE49-F238E27FC236}">
                <a16:creationId xmlns:a16="http://schemas.microsoft.com/office/drawing/2014/main" id="{97CBC02F-5715-4347-ADA5-94BA0D5B8497}"/>
              </a:ext>
            </a:extLst>
          </p:cNvPr>
          <p:cNvSpPr>
            <a:spLocks xmlns:a="http://schemas.openxmlformats.org/drawingml/2006/main" noGrp="1"/>
          </p:cNvSpPr>
          <p:nvPr/>
        </p:nvSpPr>
        <p:spPr>
          <a:xfrm xmlns:a="http://schemas.openxmlformats.org/drawingml/2006/main">
            <a:off x="6419850" y="207645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为什么买</a:t>
            </a:r>
          </a:p>
        </p:txBody>
      </p:sp>
      <p:sp>
        <p:nvSpPr>
          <p:cNvPr id="28" name="">
            <a:extLst xmlns:a="http://schemas.openxmlformats.org/drawingml/2006/main">
              <a:ext uri="{FF2B5EF4-FFF2-40B4-BE49-F238E27FC236}">
                <a16:creationId xmlns:a16="http://schemas.microsoft.com/office/drawing/2014/main" id="{864ACF0B-2210-4BB9-9A94-498D1E4227E3}"/>
              </a:ext>
            </a:extLst>
          </p:cNvPr>
          <p:cNvSpPr>
            <a:spLocks xmlns:a="http://schemas.openxmlformats.org/drawingml/2006/main" noGrp="1"/>
          </p:cNvSpPr>
          <p:nvPr/>
        </p:nvSpPr>
        <p:spPr>
          <a:xfrm xmlns:a="http://schemas.openxmlformats.org/drawingml/2006/main">
            <a:off x="7200900" y="207645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班组长要能说清「本班组差在哪、谁该补什么、报告该判成什么原因」</a:t>
            </a:r>
          </a:p>
        </p:txBody>
      </p:sp>
      <p:sp>
        <p:nvSpPr>
          <p:cNvPr id="29" name="">
            <a:extLst xmlns:a="http://schemas.openxmlformats.org/drawingml/2006/main">
              <a:ext uri="{FF2B5EF4-FFF2-40B4-BE49-F238E27FC236}">
                <a16:creationId xmlns:a16="http://schemas.microsoft.com/office/drawing/2014/main" id="{CF452724-D0B2-47FB-B1DF-207614410611}"/>
              </a:ext>
            </a:extLst>
          </p:cNvPr>
          <p:cNvSpPr>
            <a:spLocks xmlns:a="http://schemas.openxmlformats.org/drawingml/2006/main" noGrp="1"/>
          </p:cNvSpPr>
          <p:nvPr/>
        </p:nvSpPr>
        <p:spPr>
          <a:xfrm xmlns:a="http://schemas.openxmlformats.org/drawingml/2006/main">
            <a:off x="6419850" y="243840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部署方式</a:t>
            </a:r>
          </a:p>
        </p:txBody>
      </p:sp>
      <p:sp>
        <p:nvSpPr>
          <p:cNvPr id="30" name="">
            <a:extLst xmlns:a="http://schemas.openxmlformats.org/drawingml/2006/main">
              <a:ext uri="{FF2B5EF4-FFF2-40B4-BE49-F238E27FC236}">
                <a16:creationId xmlns:a16="http://schemas.microsoft.com/office/drawing/2014/main" id="{7534721A-A671-44B5-834C-75EFF2F9B87A}"/>
              </a:ext>
            </a:extLst>
          </p:cNvPr>
          <p:cNvSpPr>
            <a:spLocks xmlns:a="http://schemas.openxmlformats.org/drawingml/2006/main" noGrp="1"/>
          </p:cNvSpPr>
          <p:nvPr/>
        </p:nvSpPr>
        <p:spPr>
          <a:xfrm xmlns:a="http://schemas.openxmlformats.org/drawingml/2006/main">
            <a:off x="7200900" y="243840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同一套系统按班组开通，账号与数据按班组隔离</a:t>
            </a:r>
          </a:p>
        </p:txBody>
      </p:sp>
      <p:sp>
        <p:nvSpPr>
          <p:cNvPr id="31" name="">
            <a:extLst xmlns:a="http://schemas.openxmlformats.org/drawingml/2006/main">
              <a:ext uri="{FF2B5EF4-FFF2-40B4-BE49-F238E27FC236}">
                <a16:creationId xmlns:a16="http://schemas.microsoft.com/office/drawing/2014/main" id="{D03BDE53-12F0-4D0F-B91E-DF103DB61607}"/>
              </a:ext>
            </a:extLst>
          </p:cNvPr>
          <p:cNvSpPr>
            <a:spLocks xmlns:a="http://schemas.openxmlformats.org/drawingml/2006/main" noGrp="1"/>
          </p:cNvSpPr>
          <p:nvPr/>
        </p:nvSpPr>
        <p:spPr>
          <a:xfrm xmlns:a="http://schemas.openxmlformats.org/drawingml/2006/main">
            <a:off x="6419850" y="280035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付费逻辑</a:t>
            </a:r>
          </a:p>
        </p:txBody>
      </p:sp>
      <p:sp>
        <p:nvSpPr>
          <p:cNvPr id="32" name="">
            <a:extLst xmlns:a="http://schemas.openxmlformats.org/drawingml/2006/main">
              <a:ext uri="{FF2B5EF4-FFF2-40B4-BE49-F238E27FC236}">
                <a16:creationId xmlns:a16="http://schemas.microsoft.com/office/drawing/2014/main" id="{9E67D592-BF33-403E-A3D1-C82395E2867C}"/>
              </a:ext>
            </a:extLst>
          </p:cNvPr>
          <p:cNvSpPr>
            <a:spLocks xmlns:a="http://schemas.openxmlformats.org/drawingml/2006/main" noGrp="1"/>
          </p:cNvSpPr>
          <p:nvPr/>
        </p:nvSpPr>
        <p:spPr>
          <a:xfrm xmlns:a="http://schemas.openxmlformats.org/drawingml/2006/main">
            <a:off x="7200900" y="280035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按班组订阅，单价低、决策链短，适合作为试点入口</a:t>
            </a:r>
          </a:p>
        </p:txBody>
      </p:sp>
      <p:sp>
        <p:nvSpPr>
          <p:cNvPr id="33" name="">
            <a:extLst xmlns:a="http://schemas.openxmlformats.org/drawingml/2006/main">
              <a:ext uri="{FF2B5EF4-FFF2-40B4-BE49-F238E27FC236}">
                <a16:creationId xmlns:a16="http://schemas.microsoft.com/office/drawing/2014/main" id="{C17C316F-2858-4D6E-80FB-0E8ECC435187}"/>
              </a:ext>
            </a:extLst>
          </p:cNvPr>
          <p:cNvSpPr>
            <a:spLocks xmlns:a="http://schemas.openxmlformats.org/drawingml/2006/main" noGrp="1"/>
          </p:cNvSpPr>
          <p:nvPr/>
        </p:nvSpPr>
        <p:spPr>
          <a:xfrm xmlns:a="http://schemas.openxmlformats.org/drawingml/2006/main">
            <a:off x="6419850" y="316230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起量方式</a:t>
            </a:r>
          </a:p>
        </p:txBody>
      </p:sp>
      <p:sp>
        <p:nvSpPr>
          <p:cNvPr id="34" name="">
            <a:extLst xmlns:a="http://schemas.openxmlformats.org/drawingml/2006/main">
              <a:ext uri="{FF2B5EF4-FFF2-40B4-BE49-F238E27FC236}">
                <a16:creationId xmlns:a16="http://schemas.microsoft.com/office/drawing/2014/main" id="{BCA0981D-1896-40BD-ABFD-759B3E854699}"/>
              </a:ext>
            </a:extLst>
          </p:cNvPr>
          <p:cNvSpPr>
            <a:spLocks xmlns:a="http://schemas.openxmlformats.org/drawingml/2006/main" noGrp="1"/>
          </p:cNvSpPr>
          <p:nvPr/>
        </p:nvSpPr>
        <p:spPr>
          <a:xfrm xmlns:a="http://schemas.openxmlformats.org/drawingml/2006/main">
            <a:off x="7200900" y="316230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由班组自下而上推动，形成内部案例后再向中心推广</a:t>
            </a:r>
          </a:p>
        </p:txBody>
      </p:sp>
      <p:sp>
        <p:nvSpPr>
          <p:cNvPr id="35" name="">
            <a:extLst xmlns:a="http://schemas.openxmlformats.org/drawingml/2006/main">
              <a:ext uri="{FF2B5EF4-FFF2-40B4-BE49-F238E27FC236}">
                <a16:creationId xmlns:a16="http://schemas.microsoft.com/office/drawing/2014/main" id="{F8A2B4C4-A4A1-4A74-BE8E-8DD14C3F33B3}"/>
              </a:ext>
            </a:extLst>
          </p:cNvPr>
          <p:cNvSpPr>
            <a:spLocks xmlns:a="http://schemas.openxmlformats.org/drawingml/2006/main" noGrp="1"/>
          </p:cNvSpPr>
          <p:nvPr/>
        </p:nvSpPr>
        <p:spPr>
          <a:xfrm xmlns:a="http://schemas.openxmlformats.org/drawingml/2006/main">
            <a:off x="285750" y="3714750"/>
            <a:ext cx="5695950" cy="2228850"/>
          </a:xfrm>
          <a:prstGeom xmlns:a="http://schemas.openxmlformats.org/drawingml/2006/main" prst="roundRect">
            <a:avLst>
              <a:gd name="adj" fmla="val 3419"/>
            </a:avLst>
          </a:prstGeom>
          <a:solidFill xmlns:a="http://schemas.openxmlformats.org/drawingml/2006/main">
            <a:srgbClr val="0D2748"/>
          </a:solidFill>
          <a:ln xmlns:a="http://schemas.openxmlformats.org/drawingml/2006/main" w="9525">
            <a:solidFill>
              <a:srgbClr val="1B4C8A"/>
            </a:solidFill>
            <a:prstDash val="solid"/>
          </a:ln>
        </p:spPr>
      </p:sp>
      <p:sp>
        <p:nvSpPr>
          <p:cNvPr id="36" name="">
            <a:extLst xmlns:a="http://schemas.openxmlformats.org/drawingml/2006/main">
              <a:ext uri="{FF2B5EF4-FFF2-40B4-BE49-F238E27FC236}">
                <a16:creationId xmlns:a16="http://schemas.microsoft.com/office/drawing/2014/main" id="{0D5CEB76-674A-4A0D-90A2-07CD57EF93F0}"/>
              </a:ext>
            </a:extLst>
          </p:cNvPr>
          <p:cNvSpPr>
            <a:spLocks xmlns:a="http://schemas.openxmlformats.org/drawingml/2006/main" noGrp="1"/>
          </p:cNvSpPr>
          <p:nvPr/>
        </p:nvSpPr>
        <p:spPr>
          <a:xfrm xmlns:a="http://schemas.openxmlformats.org/drawingml/2006/main">
            <a:off x="285750" y="3714750"/>
            <a:ext cx="5695950" cy="47625"/>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6345933-1257-4460-A0C2-B7FEA2B3700A}"/>
              </a:ext>
            </a:extLst>
          </p:cNvPr>
          <p:cNvSpPr>
            <a:spLocks xmlns:a="http://schemas.openxmlformats.org/drawingml/2006/main" noGrp="1"/>
          </p:cNvSpPr>
          <p:nvPr/>
        </p:nvSpPr>
        <p:spPr>
          <a:xfrm xmlns:a="http://schemas.openxmlformats.org/drawingml/2006/main">
            <a:off x="495300" y="388620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F5C33B"/>
                </a:solidFill>
                <a:latin typeface="微软雅黑"/>
                <a:ea typeface="微软雅黑"/>
                <a:cs typeface="微软雅黑"/>
              </a:defRPr>
            </a:pPr>
            <a:r>
              <a:rPr sz="1425" b="1">
                <a:solidFill>
                  <a:srgbClr val="F5C33B"/>
                </a:solidFill>
                <a:latin typeface="微软雅黑"/>
                <a:ea typeface="微软雅黑"/>
                <a:cs typeface="微软雅黑"/>
              </a:rPr>
              <a:t>电力类高职院校</a:t>
            </a:r>
          </a:p>
        </p:txBody>
      </p:sp>
      <p:sp>
        <p:nvSpPr>
          <p:cNvPr id="38" name="">
            <a:extLst xmlns:a="http://schemas.openxmlformats.org/drawingml/2006/main">
              <a:ext uri="{FF2B5EF4-FFF2-40B4-BE49-F238E27FC236}">
                <a16:creationId xmlns:a16="http://schemas.microsoft.com/office/drawing/2014/main" id="{DF63C141-6BD6-46FB-A5F5-03EDAF4F2FCF}"/>
              </a:ext>
            </a:extLst>
          </p:cNvPr>
          <p:cNvSpPr>
            <a:spLocks xmlns:a="http://schemas.openxmlformats.org/drawingml/2006/main" noGrp="1"/>
          </p:cNvSpPr>
          <p:nvPr/>
        </p:nvSpPr>
        <p:spPr>
          <a:xfrm xmlns:a="http://schemas.openxmlformats.org/drawingml/2006/main">
            <a:off x="495300" y="4191000"/>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7A9CC4"/>
                </a:solidFill>
                <a:latin typeface="微软雅黑"/>
                <a:ea typeface="微软雅黑"/>
                <a:cs typeface="微软雅黑"/>
              </a:defRPr>
            </a:pPr>
            <a:r>
              <a:rPr sz="900" b="0">
                <a:solidFill>
                  <a:srgbClr val="7A9CC4"/>
                </a:solidFill>
                <a:latin typeface="微软雅黑"/>
                <a:ea typeface="微软雅黑"/>
                <a:cs typeface="微软雅黑"/>
              </a:rPr>
              <a:t>岗课赛证融通</a:t>
            </a:r>
          </a:p>
        </p:txBody>
      </p:sp>
      <p:sp>
        <p:nvSpPr>
          <p:cNvPr id="39" name="">
            <a:extLst xmlns:a="http://schemas.openxmlformats.org/drawingml/2006/main">
              <a:ext uri="{FF2B5EF4-FFF2-40B4-BE49-F238E27FC236}">
                <a16:creationId xmlns:a16="http://schemas.microsoft.com/office/drawing/2014/main" id="{F2F63F88-A024-4725-A961-180A7E37372D}"/>
              </a:ext>
            </a:extLst>
          </p:cNvPr>
          <p:cNvSpPr>
            <a:spLocks xmlns:a="http://schemas.openxmlformats.org/drawingml/2006/main" noGrp="1"/>
          </p:cNvSpPr>
          <p:nvPr/>
        </p:nvSpPr>
        <p:spPr>
          <a:xfrm xmlns:a="http://schemas.openxmlformats.org/drawingml/2006/main">
            <a:off x="495300" y="445770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为什么买</a:t>
            </a:r>
          </a:p>
        </p:txBody>
      </p:sp>
      <p:sp>
        <p:nvSpPr>
          <p:cNvPr id="40" name="">
            <a:extLst xmlns:a="http://schemas.openxmlformats.org/drawingml/2006/main">
              <a:ext uri="{FF2B5EF4-FFF2-40B4-BE49-F238E27FC236}">
                <a16:creationId xmlns:a16="http://schemas.microsoft.com/office/drawing/2014/main" id="{490F8CA6-28DC-4E30-A00A-B3852B1624CB}"/>
              </a:ext>
            </a:extLst>
          </p:cNvPr>
          <p:cNvSpPr>
            <a:spLocks xmlns:a="http://schemas.openxmlformats.org/drawingml/2006/main" noGrp="1"/>
          </p:cNvSpPr>
          <p:nvPr/>
        </p:nvSpPr>
        <p:spPr>
          <a:xfrm xmlns:a="http://schemas.openxmlformats.org/drawingml/2006/main">
            <a:off x="1276350" y="445770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岗位化题库、练习与考核体系可直接复用于教学与技能认定</a:t>
            </a:r>
          </a:p>
        </p:txBody>
      </p:sp>
      <p:sp>
        <p:nvSpPr>
          <p:cNvPr id="41" name="">
            <a:extLst xmlns:a="http://schemas.openxmlformats.org/drawingml/2006/main">
              <a:ext uri="{FF2B5EF4-FFF2-40B4-BE49-F238E27FC236}">
                <a16:creationId xmlns:a16="http://schemas.microsoft.com/office/drawing/2014/main" id="{94BEEB29-3DA2-4687-830D-FFC4A8E8B4CF}"/>
              </a:ext>
            </a:extLst>
          </p:cNvPr>
          <p:cNvSpPr>
            <a:spLocks xmlns:a="http://schemas.openxmlformats.org/drawingml/2006/main" noGrp="1"/>
          </p:cNvSpPr>
          <p:nvPr/>
        </p:nvSpPr>
        <p:spPr>
          <a:xfrm xmlns:a="http://schemas.openxmlformats.org/drawingml/2006/main">
            <a:off x="495300" y="481965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部署方式</a:t>
            </a:r>
          </a:p>
        </p:txBody>
      </p:sp>
      <p:sp>
        <p:nvSpPr>
          <p:cNvPr id="42" name="">
            <a:extLst xmlns:a="http://schemas.openxmlformats.org/drawingml/2006/main">
              <a:ext uri="{FF2B5EF4-FFF2-40B4-BE49-F238E27FC236}">
                <a16:creationId xmlns:a16="http://schemas.microsoft.com/office/drawing/2014/main" id="{81A4C1B0-CA6F-4D14-BDAE-08988C5ED8D2}"/>
              </a:ext>
            </a:extLst>
          </p:cNvPr>
          <p:cNvSpPr>
            <a:spLocks xmlns:a="http://schemas.openxmlformats.org/drawingml/2006/main" noGrp="1"/>
          </p:cNvSpPr>
          <p:nvPr/>
        </p:nvSpPr>
        <p:spPr>
          <a:xfrm xmlns:a="http://schemas.openxmlformats.org/drawingml/2006/main">
            <a:off x="1276350" y="481965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校内私有化部署，按专业 / 班级开通</a:t>
            </a:r>
          </a:p>
        </p:txBody>
      </p:sp>
      <p:sp>
        <p:nvSpPr>
          <p:cNvPr id="43" name="">
            <a:extLst xmlns:a="http://schemas.openxmlformats.org/drawingml/2006/main">
              <a:ext uri="{FF2B5EF4-FFF2-40B4-BE49-F238E27FC236}">
                <a16:creationId xmlns:a16="http://schemas.microsoft.com/office/drawing/2014/main" id="{24A275FF-7454-48A1-8CBA-D822C8F2F1E9}"/>
              </a:ext>
            </a:extLst>
          </p:cNvPr>
          <p:cNvSpPr>
            <a:spLocks xmlns:a="http://schemas.openxmlformats.org/drawingml/2006/main" noGrp="1"/>
          </p:cNvSpPr>
          <p:nvPr/>
        </p:nvSpPr>
        <p:spPr>
          <a:xfrm xmlns:a="http://schemas.openxmlformats.org/drawingml/2006/main">
            <a:off x="495300" y="518160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付费逻辑</a:t>
            </a:r>
          </a:p>
        </p:txBody>
      </p:sp>
      <p:sp>
        <p:nvSpPr>
          <p:cNvPr id="44" name="">
            <a:extLst xmlns:a="http://schemas.openxmlformats.org/drawingml/2006/main">
              <a:ext uri="{FF2B5EF4-FFF2-40B4-BE49-F238E27FC236}">
                <a16:creationId xmlns:a16="http://schemas.microsoft.com/office/drawing/2014/main" id="{521B05B4-DDC4-4B74-B23F-3A517D07A50A}"/>
              </a:ext>
            </a:extLst>
          </p:cNvPr>
          <p:cNvSpPr>
            <a:spLocks xmlns:a="http://schemas.openxmlformats.org/drawingml/2006/main" noGrp="1"/>
          </p:cNvSpPr>
          <p:nvPr/>
        </p:nvSpPr>
        <p:spPr>
          <a:xfrm xmlns:a="http://schemas.openxmlformats.org/drawingml/2006/main">
            <a:off x="1276350" y="518160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按专业或班级订阅；可结合实训室建设整体交付</a:t>
            </a:r>
          </a:p>
        </p:txBody>
      </p:sp>
      <p:sp>
        <p:nvSpPr>
          <p:cNvPr id="45" name="">
            <a:extLst xmlns:a="http://schemas.openxmlformats.org/drawingml/2006/main">
              <a:ext uri="{FF2B5EF4-FFF2-40B4-BE49-F238E27FC236}">
                <a16:creationId xmlns:a16="http://schemas.microsoft.com/office/drawing/2014/main" id="{F85CE660-4005-4F75-AA37-1CEED0228E31}"/>
              </a:ext>
            </a:extLst>
          </p:cNvPr>
          <p:cNvSpPr>
            <a:spLocks xmlns:a="http://schemas.openxmlformats.org/drawingml/2006/main" noGrp="1"/>
          </p:cNvSpPr>
          <p:nvPr/>
        </p:nvSpPr>
        <p:spPr>
          <a:xfrm xmlns:a="http://schemas.openxmlformats.org/drawingml/2006/main">
            <a:off x="495300" y="554355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起量方式</a:t>
            </a:r>
          </a:p>
        </p:txBody>
      </p:sp>
      <p:sp>
        <p:nvSpPr>
          <p:cNvPr id="46" name="">
            <a:extLst xmlns:a="http://schemas.openxmlformats.org/drawingml/2006/main">
              <a:ext uri="{FF2B5EF4-FFF2-40B4-BE49-F238E27FC236}">
                <a16:creationId xmlns:a16="http://schemas.microsoft.com/office/drawing/2014/main" id="{9F27FF85-1800-4F94-AA90-25248329F963}"/>
              </a:ext>
            </a:extLst>
          </p:cNvPr>
          <p:cNvSpPr>
            <a:spLocks xmlns:a="http://schemas.openxmlformats.org/drawingml/2006/main" noGrp="1"/>
          </p:cNvSpPr>
          <p:nvPr/>
        </p:nvSpPr>
        <p:spPr>
          <a:xfrm xmlns:a="http://schemas.openxmlformats.org/drawingml/2006/main">
            <a:off x="1276350" y="554355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以「课程 + 题库 + 考试」打包，先落地一门核心专业课</a:t>
            </a:r>
          </a:p>
        </p:txBody>
      </p:sp>
      <p:sp>
        <p:nvSpPr>
          <p:cNvPr id="47" name="">
            <a:extLst xmlns:a="http://schemas.openxmlformats.org/drawingml/2006/main">
              <a:ext uri="{FF2B5EF4-FFF2-40B4-BE49-F238E27FC236}">
                <a16:creationId xmlns:a16="http://schemas.microsoft.com/office/drawing/2014/main" id="{AC7096E8-3754-42CD-B2DF-952E0CAD8FAA}"/>
              </a:ext>
            </a:extLst>
          </p:cNvPr>
          <p:cNvSpPr>
            <a:spLocks xmlns:a="http://schemas.openxmlformats.org/drawingml/2006/main" noGrp="1"/>
          </p:cNvSpPr>
          <p:nvPr/>
        </p:nvSpPr>
        <p:spPr>
          <a:xfrm xmlns:a="http://schemas.openxmlformats.org/drawingml/2006/main">
            <a:off x="6210300" y="3714750"/>
            <a:ext cx="5695950" cy="2228850"/>
          </a:xfrm>
          <a:prstGeom xmlns:a="http://schemas.openxmlformats.org/drawingml/2006/main" prst="roundRect">
            <a:avLst>
              <a:gd name="adj" fmla="val 3419"/>
            </a:avLst>
          </a:prstGeom>
          <a:solidFill xmlns:a="http://schemas.openxmlformats.org/drawingml/2006/main">
            <a:srgbClr val="0D2748"/>
          </a:solidFill>
          <a:ln xmlns:a="http://schemas.openxmlformats.org/drawingml/2006/main" w="9525">
            <a:solidFill>
              <a:srgbClr val="1B4C8A"/>
            </a:solidFill>
            <a:prstDash val="solid"/>
          </a:ln>
        </p:spPr>
      </p:sp>
      <p:sp>
        <p:nvSpPr>
          <p:cNvPr id="48" name="">
            <a:extLst xmlns:a="http://schemas.openxmlformats.org/drawingml/2006/main">
              <a:ext uri="{FF2B5EF4-FFF2-40B4-BE49-F238E27FC236}">
                <a16:creationId xmlns:a16="http://schemas.microsoft.com/office/drawing/2014/main" id="{1E8085C2-95E1-4148-8608-614B40C56FCB}"/>
              </a:ext>
            </a:extLst>
          </p:cNvPr>
          <p:cNvSpPr>
            <a:spLocks xmlns:a="http://schemas.openxmlformats.org/drawingml/2006/main" noGrp="1"/>
          </p:cNvSpPr>
          <p:nvPr/>
        </p:nvSpPr>
        <p:spPr>
          <a:xfrm xmlns:a="http://schemas.openxmlformats.org/drawingml/2006/main">
            <a:off x="6210300" y="3714750"/>
            <a:ext cx="5695950" cy="47625"/>
          </a:xfrm>
          <a:prstGeom xmlns:a="http://schemas.openxmlformats.org/drawingml/2006/main" prst="rect">
            <a:avLst/>
          </a:prstGeom>
          <a:solidFill xmlns:a="http://schemas.openxmlformats.org/drawingml/2006/main">
            <a:srgbClr val="3FD08A"/>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DCD7C4DB-903F-49F0-9755-174B0F2838CA}"/>
              </a:ext>
            </a:extLst>
          </p:cNvPr>
          <p:cNvSpPr>
            <a:spLocks xmlns:a="http://schemas.openxmlformats.org/drawingml/2006/main" noGrp="1"/>
          </p:cNvSpPr>
          <p:nvPr/>
        </p:nvSpPr>
        <p:spPr>
          <a:xfrm xmlns:a="http://schemas.openxmlformats.org/drawingml/2006/main">
            <a:off x="6419850" y="388620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425" b="1">
                <a:solidFill>
                  <a:srgbClr val="3FD08A"/>
                </a:solidFill>
                <a:latin typeface="微软雅黑"/>
                <a:ea typeface="微软雅黑"/>
                <a:cs typeface="微软雅黑"/>
              </a:defRPr>
            </a:pPr>
            <a:r>
              <a:rPr sz="1425" b="1">
                <a:solidFill>
                  <a:srgbClr val="3FD08A"/>
                </a:solidFill>
                <a:latin typeface="微软雅黑"/>
                <a:ea typeface="微软雅黑"/>
                <a:cs typeface="微软雅黑"/>
              </a:rPr>
              <a:t>新能源场站</a:t>
            </a:r>
          </a:p>
        </p:txBody>
      </p:sp>
      <p:sp>
        <p:nvSpPr>
          <p:cNvPr id="50" name="">
            <a:extLst xmlns:a="http://schemas.openxmlformats.org/drawingml/2006/main">
              <a:ext uri="{FF2B5EF4-FFF2-40B4-BE49-F238E27FC236}">
                <a16:creationId xmlns:a16="http://schemas.microsoft.com/office/drawing/2014/main" id="{D0232D95-EB28-48D2-A364-FAB61BA9DF24}"/>
              </a:ext>
            </a:extLst>
          </p:cNvPr>
          <p:cNvSpPr>
            <a:spLocks xmlns:a="http://schemas.openxmlformats.org/drawingml/2006/main" noGrp="1"/>
          </p:cNvSpPr>
          <p:nvPr/>
        </p:nvSpPr>
        <p:spPr>
          <a:xfrm xmlns:a="http://schemas.openxmlformats.org/drawingml/2006/main">
            <a:off x="6419850" y="4191000"/>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7A9CC4"/>
                </a:solidFill>
                <a:latin typeface="微软雅黑"/>
                <a:ea typeface="微软雅黑"/>
                <a:cs typeface="微软雅黑"/>
              </a:defRPr>
            </a:pPr>
            <a:r>
              <a:rPr sz="900" b="0">
                <a:solidFill>
                  <a:srgbClr val="7A9CC4"/>
                </a:solidFill>
                <a:latin typeface="微软雅黑"/>
                <a:ea typeface="微软雅黑"/>
                <a:cs typeface="微软雅黑"/>
              </a:rPr>
              <a:t>风电 / 光伏</a:t>
            </a:r>
          </a:p>
        </p:txBody>
      </p:sp>
      <p:sp>
        <p:nvSpPr>
          <p:cNvPr id="51" name="">
            <a:extLst xmlns:a="http://schemas.openxmlformats.org/drawingml/2006/main">
              <a:ext uri="{FF2B5EF4-FFF2-40B4-BE49-F238E27FC236}">
                <a16:creationId xmlns:a16="http://schemas.microsoft.com/office/drawing/2014/main" id="{91A08922-B234-47B1-BAC0-EEEB90872953}"/>
              </a:ext>
            </a:extLst>
          </p:cNvPr>
          <p:cNvSpPr>
            <a:spLocks xmlns:a="http://schemas.openxmlformats.org/drawingml/2006/main" noGrp="1"/>
          </p:cNvSpPr>
          <p:nvPr/>
        </p:nvSpPr>
        <p:spPr>
          <a:xfrm xmlns:a="http://schemas.openxmlformats.org/drawingml/2006/main">
            <a:off x="6419850" y="445770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为什么买</a:t>
            </a:r>
          </a:p>
        </p:txBody>
      </p:sp>
      <p:sp>
        <p:nvSpPr>
          <p:cNvPr id="52" name="">
            <a:extLst xmlns:a="http://schemas.openxmlformats.org/drawingml/2006/main">
              <a:ext uri="{FF2B5EF4-FFF2-40B4-BE49-F238E27FC236}">
                <a16:creationId xmlns:a16="http://schemas.microsoft.com/office/drawing/2014/main" id="{AF07C862-E58B-4AA3-8847-EDF6742495F9}"/>
              </a:ext>
            </a:extLst>
          </p:cNvPr>
          <p:cNvSpPr>
            <a:spLocks xmlns:a="http://schemas.openxmlformats.org/drawingml/2006/main" noGrp="1"/>
          </p:cNvSpPr>
          <p:nvPr/>
        </p:nvSpPr>
        <p:spPr>
          <a:xfrm xmlns:a="http://schemas.openxmlformats.org/drawingml/2006/main">
            <a:off x="7200900" y="445770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值守点分散、人员少，复训窗口难安排，证书到期易漏检</a:t>
            </a:r>
          </a:p>
        </p:txBody>
      </p:sp>
      <p:sp>
        <p:nvSpPr>
          <p:cNvPr id="53" name="">
            <a:extLst xmlns:a="http://schemas.openxmlformats.org/drawingml/2006/main">
              <a:ext uri="{FF2B5EF4-FFF2-40B4-BE49-F238E27FC236}">
                <a16:creationId xmlns:a16="http://schemas.microsoft.com/office/drawing/2014/main" id="{C63ECB43-2A61-413E-AB3D-2F4E936A1E45}"/>
              </a:ext>
            </a:extLst>
          </p:cNvPr>
          <p:cNvSpPr>
            <a:spLocks xmlns:a="http://schemas.openxmlformats.org/drawingml/2006/main" noGrp="1"/>
          </p:cNvSpPr>
          <p:nvPr/>
        </p:nvSpPr>
        <p:spPr>
          <a:xfrm xmlns:a="http://schemas.openxmlformats.org/drawingml/2006/main">
            <a:off x="6419850" y="481965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部署方式</a:t>
            </a:r>
          </a:p>
        </p:txBody>
      </p:sp>
      <p:sp>
        <p:nvSpPr>
          <p:cNvPr id="54" name="">
            <a:extLst xmlns:a="http://schemas.openxmlformats.org/drawingml/2006/main">
              <a:ext uri="{FF2B5EF4-FFF2-40B4-BE49-F238E27FC236}">
                <a16:creationId xmlns:a16="http://schemas.microsoft.com/office/drawing/2014/main" id="{05390CFB-4835-4F5C-84E1-149D58AA7000}"/>
              </a:ext>
            </a:extLst>
          </p:cNvPr>
          <p:cNvSpPr>
            <a:spLocks xmlns:a="http://schemas.openxmlformats.org/drawingml/2006/main" noGrp="1"/>
          </p:cNvSpPr>
          <p:nvPr/>
        </p:nvSpPr>
        <p:spPr>
          <a:xfrm xmlns:a="http://schemas.openxmlformats.org/drawingml/2006/main">
            <a:off x="7200900" y="481965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场站侧离线部署或中心集中部署 + 弱网同步</a:t>
            </a:r>
          </a:p>
        </p:txBody>
      </p:sp>
      <p:sp>
        <p:nvSpPr>
          <p:cNvPr id="55" name="">
            <a:extLst xmlns:a="http://schemas.openxmlformats.org/drawingml/2006/main">
              <a:ext uri="{FF2B5EF4-FFF2-40B4-BE49-F238E27FC236}">
                <a16:creationId xmlns:a16="http://schemas.microsoft.com/office/drawing/2014/main" id="{FDB8ED27-89F1-4F27-BA3F-9214DB55D812}"/>
              </a:ext>
            </a:extLst>
          </p:cNvPr>
          <p:cNvSpPr>
            <a:spLocks xmlns:a="http://schemas.openxmlformats.org/drawingml/2006/main" noGrp="1"/>
          </p:cNvSpPr>
          <p:nvPr/>
        </p:nvSpPr>
        <p:spPr>
          <a:xfrm xmlns:a="http://schemas.openxmlformats.org/drawingml/2006/main">
            <a:off x="6419850" y="518160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付费逻辑</a:t>
            </a:r>
          </a:p>
        </p:txBody>
      </p:sp>
      <p:sp>
        <p:nvSpPr>
          <p:cNvPr id="56" name="">
            <a:extLst xmlns:a="http://schemas.openxmlformats.org/drawingml/2006/main">
              <a:ext uri="{FF2B5EF4-FFF2-40B4-BE49-F238E27FC236}">
                <a16:creationId xmlns:a16="http://schemas.microsoft.com/office/drawing/2014/main" id="{7749B7DE-07F9-4666-88F7-7A34E08A5FD8}"/>
              </a:ext>
            </a:extLst>
          </p:cNvPr>
          <p:cNvSpPr>
            <a:spLocks xmlns:a="http://schemas.openxmlformats.org/drawingml/2006/main" noGrp="1"/>
          </p:cNvSpPr>
          <p:nvPr/>
        </p:nvSpPr>
        <p:spPr>
          <a:xfrm xmlns:a="http://schemas.openxmlformats.org/drawingml/2006/main">
            <a:off x="7200900" y="518160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按场站订阅，多场站打包有阶梯价</a:t>
            </a:r>
          </a:p>
        </p:txBody>
      </p:sp>
      <p:sp>
        <p:nvSpPr>
          <p:cNvPr id="57" name="">
            <a:extLst xmlns:a="http://schemas.openxmlformats.org/drawingml/2006/main">
              <a:ext uri="{FF2B5EF4-FFF2-40B4-BE49-F238E27FC236}">
                <a16:creationId xmlns:a16="http://schemas.microsoft.com/office/drawing/2014/main" id="{D24C4BCB-CFBA-4B0D-9C56-753E6579EF52}"/>
              </a:ext>
            </a:extLst>
          </p:cNvPr>
          <p:cNvSpPr>
            <a:spLocks xmlns:a="http://schemas.openxmlformats.org/drawingml/2006/main" noGrp="1"/>
          </p:cNvSpPr>
          <p:nvPr/>
        </p:nvSpPr>
        <p:spPr>
          <a:xfrm xmlns:a="http://schemas.openxmlformats.org/drawingml/2006/main">
            <a:off x="6419850" y="554355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63" b="1">
                <a:solidFill>
                  <a:srgbClr val="F5C33B"/>
                </a:solidFill>
                <a:latin typeface="微软雅黑"/>
                <a:ea typeface="微软雅黑"/>
                <a:cs typeface="微软雅黑"/>
              </a:defRPr>
            </a:pPr>
            <a:r>
              <a:rPr sz="863" b="1">
                <a:solidFill>
                  <a:srgbClr val="F5C33B"/>
                </a:solidFill>
                <a:latin typeface="微软雅黑"/>
                <a:ea typeface="微软雅黑"/>
                <a:cs typeface="微软雅黑"/>
              </a:rPr>
              <a:t>起量方式</a:t>
            </a:r>
          </a:p>
        </p:txBody>
      </p:sp>
      <p:sp>
        <p:nvSpPr>
          <p:cNvPr id="58" name="">
            <a:extLst xmlns:a="http://schemas.openxmlformats.org/drawingml/2006/main">
              <a:ext uri="{FF2B5EF4-FFF2-40B4-BE49-F238E27FC236}">
                <a16:creationId xmlns:a16="http://schemas.microsoft.com/office/drawing/2014/main" id="{287449F6-2CEA-478C-96C3-FEA1B592A55F}"/>
              </a:ext>
            </a:extLst>
          </p:cNvPr>
          <p:cNvSpPr>
            <a:spLocks xmlns:a="http://schemas.openxmlformats.org/drawingml/2006/main" noGrp="1"/>
          </p:cNvSpPr>
          <p:nvPr/>
        </p:nvSpPr>
        <p:spPr>
          <a:xfrm xmlns:a="http://schemas.openxmlformats.org/drawingml/2006/main">
            <a:off x="7200900" y="554355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从证书到期预警与定向补训两个高频刚需切入</a:t>
            </a:r>
          </a:p>
        </p:txBody>
      </p:sp>
      <p:sp>
        <p:nvSpPr>
          <p:cNvPr id="59" name="">
            <a:extLst xmlns:a="http://schemas.openxmlformats.org/drawingml/2006/main">
              <a:ext uri="{FF2B5EF4-FFF2-40B4-BE49-F238E27FC236}">
                <a16:creationId xmlns:a16="http://schemas.microsoft.com/office/drawing/2014/main" id="{1AED3228-E670-4334-9C8B-94D7A4E74246}"/>
              </a:ext>
            </a:extLst>
          </p:cNvPr>
          <p:cNvSpPr>
            <a:spLocks xmlns:a="http://schemas.openxmlformats.org/drawingml/2006/main" noGrp="1"/>
          </p:cNvSpPr>
          <p:nvPr/>
        </p:nvSpPr>
        <p:spPr>
          <a:xfrm xmlns:a="http://schemas.openxmlformats.org/drawingml/2006/main">
            <a:off x="285750" y="6057900"/>
            <a:ext cx="11620500" cy="476250"/>
          </a:xfrm>
          <a:prstGeom xmlns:a="http://schemas.openxmlformats.org/drawingml/2006/main" prst="roundRect">
            <a:avLst>
              <a:gd name="adj" fmla="val 16000"/>
            </a:avLst>
          </a:prstGeom>
          <a:solidFill xmlns:a="http://schemas.openxmlformats.org/drawingml/2006/main">
            <a:srgbClr val="0A2547"/>
          </a:solidFill>
          <a:ln xmlns:a="http://schemas.openxmlformats.org/drawingml/2006/main" w="9525">
            <a:solidFill>
              <a:srgbClr val="2A6BAE"/>
            </a:solidFill>
            <a:prstDash val="solid"/>
          </a:ln>
        </p:spPr>
      </p:sp>
      <p:sp>
        <p:nvSpPr>
          <p:cNvPr id="60" name="">
            <a:extLst xmlns:a="http://schemas.openxmlformats.org/drawingml/2006/main">
              <a:ext uri="{FF2B5EF4-FFF2-40B4-BE49-F238E27FC236}">
                <a16:creationId xmlns:a16="http://schemas.microsoft.com/office/drawing/2014/main" id="{B667C644-FAA5-4595-A111-29064BF712A7}"/>
              </a:ext>
            </a:extLst>
          </p:cNvPr>
          <p:cNvSpPr>
            <a:spLocks xmlns:a="http://schemas.openxmlformats.org/drawingml/2006/main" noGrp="1"/>
          </p:cNvSpPr>
          <p:nvPr/>
        </p:nvSpPr>
        <p:spPr>
          <a:xfrm xmlns:a="http://schemas.openxmlformats.org/drawingml/2006/main">
            <a:off x="457200" y="6057900"/>
            <a:ext cx="1123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00" b="0">
                <a:solidFill>
                  <a:srgbClr val="D6E6F7"/>
                </a:solidFill>
                <a:latin typeface="微软雅黑"/>
                <a:ea typeface="微软雅黑"/>
                <a:cs typeface="微软雅黑"/>
              </a:defRPr>
            </a:pPr>
            <a:r>
              <a:rPr sz="900" b="0">
                <a:solidFill>
                  <a:srgbClr val="D6E6F7"/>
                </a:solidFill>
                <a:latin typeface="微软雅黑"/>
                <a:ea typeface="微软雅黑"/>
                <a:cs typeface="微软雅黑"/>
              </a:rPr>
              <a:t>推进顺序建议：先用「变电运维班组」跑通一个完整考核周期 → 再以县级 / 地市供电公司为付费主体做中心级推广 → 同步向电力高职与新能源场站复制同一套引擎。</a:t>
            </a:r>
          </a:p>
        </p:txBody>
      </p:sp>
      <p:sp>
        <p:nvSpPr>
          <p:cNvPr id="61" name="">
            <a:extLst xmlns:a="http://schemas.openxmlformats.org/drawingml/2006/main">
              <a:ext uri="{FF2B5EF4-FFF2-40B4-BE49-F238E27FC236}">
                <a16:creationId xmlns:a16="http://schemas.microsoft.com/office/drawing/2014/main" id="{5F7B675E-CD78-4101-880F-005C9E3617EB}"/>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A9900AE5-308B-4E6D-A2EC-1100A9744149}"/>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63" name="">
            <a:extLst xmlns:a="http://schemas.openxmlformats.org/drawingml/2006/main">
              <a:ext uri="{FF2B5EF4-FFF2-40B4-BE49-F238E27FC236}">
                <a16:creationId xmlns:a16="http://schemas.microsoft.com/office/drawing/2014/main" id="{F0485821-5B87-46C9-BF4B-718CA1979E58}"/>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34</a:t>
            </a:r>
          </a:p>
        </p:txBody>
      </p:sp>
    </p:spTree>
    <p:extLst>
      <p:ext uri="{BB962C8B-B14F-4D97-AF65-F5344CB8AC3E}">
        <p14:creationId xmlns:p14="http://schemas.microsoft.com/office/powerpoint/2010/main" val="1671211504"/>
      </p:ext>
    </p:extLst>
  </p:cSld>
</p:sld>
</file>

<file path=ppt/slides/slide35.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72" name="">
            <a:extLst xmlns:a="http://schemas.openxmlformats.org/drawingml/2006/main">
              <a:ext uri="{FF2B5EF4-FFF2-40B4-BE49-F238E27FC236}">
                <a16:creationId xmlns:a16="http://schemas.microsoft.com/office/drawing/2014/main" id="{1B72D639-8426-4B70-AE13-C8FB918E012B}"/>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4555BAE-3865-42B2-903D-692DC304F6D9}"/>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E6B7453-2580-4622-B03D-75471FC4A7FB}"/>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132174E-16D8-4E71-822D-DC99476F8E47}"/>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2B64CD0-7E4B-4A98-8C88-B6BEDA89286F}"/>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787660DA-BAF0-44C9-AAD7-1C626FECEC6B}"/>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成果与价值</a:t>
            </a:r>
          </a:p>
        </p:txBody>
      </p:sp>
      <p:sp>
        <p:nvSpPr>
          <p:cNvPr id="7" name="">
            <a:extLst xmlns:a="http://schemas.openxmlformats.org/drawingml/2006/main">
              <a:ext uri="{FF2B5EF4-FFF2-40B4-BE49-F238E27FC236}">
                <a16:creationId xmlns:a16="http://schemas.microsoft.com/office/drawing/2014/main" id="{929342F0-323F-45B3-A35A-7AC0BDA69372}"/>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89A2941-70F4-4399-B484-BFC7F1A2B094}"/>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市场价值测算：按成本口径算账</a:t>
            </a:r>
          </a:p>
        </p:txBody>
      </p:sp>
      <p:sp>
        <p:nvSpPr>
          <p:cNvPr id="9" name="">
            <a:extLst xmlns:a="http://schemas.openxmlformats.org/drawingml/2006/main">
              <a:ext uri="{FF2B5EF4-FFF2-40B4-BE49-F238E27FC236}">
                <a16:creationId xmlns:a16="http://schemas.microsoft.com/office/drawing/2014/main" id="{0182378B-5339-4867-B5AF-5CE388C1FEAC}"/>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EF5BF7C0-85C8-4366-A25F-3B53B2B08C8E}"/>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把「省多少钱」写成可代入的算式，并明确这是按需求参数代入的示范测算，不是试点实测值。</a:t>
            </a:r>
          </a:p>
        </p:txBody>
      </p:sp>
      <p:sp>
        <p:nvSpPr>
          <p:cNvPr id="11" name="">
            <a:extLst xmlns:a="http://schemas.openxmlformats.org/drawingml/2006/main">
              <a:ext uri="{FF2B5EF4-FFF2-40B4-BE49-F238E27FC236}">
                <a16:creationId xmlns:a16="http://schemas.microsoft.com/office/drawing/2014/main" id="{5898FCA3-99F2-424E-9DE0-27AF28662686}"/>
              </a:ext>
            </a:extLst>
          </p:cNvPr>
          <p:cNvSpPr>
            <a:spLocks xmlns:a="http://schemas.openxmlformats.org/drawingml/2006/main" noGrp="1"/>
          </p:cNvSpPr>
          <p:nvPr/>
        </p:nvSpPr>
        <p:spPr>
          <a:xfrm xmlns:a="http://schemas.openxmlformats.org/drawingml/2006/main">
            <a:off x="285750" y="1333500"/>
            <a:ext cx="5715000" cy="1676400"/>
          </a:xfrm>
          <a:prstGeom xmlns:a="http://schemas.openxmlformats.org/drawingml/2006/main" prst="roundRect">
            <a:avLst>
              <a:gd name="adj" fmla="val 4545"/>
            </a:avLst>
          </a:prstGeom>
          <a:solidFill xmlns:a="http://schemas.openxmlformats.org/drawingml/2006/main">
            <a:srgbClr val="0A2547"/>
          </a:solidFill>
          <a:ln xmlns:a="http://schemas.openxmlformats.org/drawingml/2006/main" w="13335">
            <a:solidFill>
              <a:srgbClr val="F5C33B"/>
            </a:solidFill>
            <a:prstDash val="solid"/>
          </a:ln>
        </p:spPr>
      </p:sp>
      <p:sp>
        <p:nvSpPr>
          <p:cNvPr id="12" name="">
            <a:extLst xmlns:a="http://schemas.openxmlformats.org/drawingml/2006/main">
              <a:ext uri="{FF2B5EF4-FFF2-40B4-BE49-F238E27FC236}">
                <a16:creationId xmlns:a16="http://schemas.microsoft.com/office/drawing/2014/main" id="{F3CC652A-E93D-4D44-BD61-1E057A1FDC95}"/>
              </a:ext>
            </a:extLst>
          </p:cNvPr>
          <p:cNvSpPr>
            <a:spLocks xmlns:a="http://schemas.openxmlformats.org/drawingml/2006/main" noGrp="1"/>
          </p:cNvSpPr>
          <p:nvPr/>
        </p:nvSpPr>
        <p:spPr>
          <a:xfrm xmlns:a="http://schemas.openxmlformats.org/drawingml/2006/main">
            <a:off x="457200" y="1447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成本参数（来源：本项目需求测算）</a:t>
            </a:r>
          </a:p>
        </p:txBody>
      </p:sp>
      <p:sp>
        <p:nvSpPr>
          <p:cNvPr id="13" name="">
            <a:extLst xmlns:a="http://schemas.openxmlformats.org/drawingml/2006/main">
              <a:ext uri="{FF2B5EF4-FFF2-40B4-BE49-F238E27FC236}">
                <a16:creationId xmlns:a16="http://schemas.microsoft.com/office/drawing/2014/main" id="{5D7FAC2D-5719-4E30-B92F-A649EB0B56DC}"/>
              </a:ext>
            </a:extLst>
          </p:cNvPr>
          <p:cNvSpPr>
            <a:spLocks xmlns:a="http://schemas.openxmlformats.org/drawingml/2006/main" noGrp="1"/>
          </p:cNvSpPr>
          <p:nvPr/>
        </p:nvSpPr>
        <p:spPr>
          <a:xfrm xmlns:a="http://schemas.openxmlformats.org/drawingml/2006/main">
            <a:off x="457200" y="17716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内部转岗培训</a:t>
            </a:r>
          </a:p>
        </p:txBody>
      </p:sp>
      <p:sp>
        <p:nvSpPr>
          <p:cNvPr id="14" name="">
            <a:extLst xmlns:a="http://schemas.openxmlformats.org/drawingml/2006/main">
              <a:ext uri="{FF2B5EF4-FFF2-40B4-BE49-F238E27FC236}">
                <a16:creationId xmlns:a16="http://schemas.microsoft.com/office/drawing/2014/main" id="{01065EB8-9638-4AE1-B752-32647F69D622}"/>
              </a:ext>
            </a:extLst>
          </p:cNvPr>
          <p:cNvSpPr>
            <a:spLocks xmlns:a="http://schemas.openxmlformats.org/drawingml/2006/main" noGrp="1"/>
          </p:cNvSpPr>
          <p:nvPr/>
        </p:nvSpPr>
        <p:spPr>
          <a:xfrm xmlns:a="http://schemas.openxmlformats.org/drawingml/2006/main">
            <a:off x="2628900" y="17716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 2 万元 / 人</a:t>
            </a:r>
          </a:p>
        </p:txBody>
      </p:sp>
      <p:sp>
        <p:nvSpPr>
          <p:cNvPr id="15" name="">
            <a:extLst xmlns:a="http://schemas.openxmlformats.org/drawingml/2006/main">
              <a:ext uri="{FF2B5EF4-FFF2-40B4-BE49-F238E27FC236}">
                <a16:creationId xmlns:a16="http://schemas.microsoft.com/office/drawing/2014/main" id="{0D5E107E-4C21-4474-9065-DEB1F54869E4}"/>
              </a:ext>
            </a:extLst>
          </p:cNvPr>
          <p:cNvSpPr>
            <a:spLocks xmlns:a="http://schemas.openxmlformats.org/drawingml/2006/main" noGrp="1"/>
          </p:cNvSpPr>
          <p:nvPr/>
        </p:nvSpPr>
        <p:spPr>
          <a:xfrm xmlns:a="http://schemas.openxmlformats.org/drawingml/2006/main">
            <a:off x="457200" y="20764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外部招聘</a:t>
            </a:r>
          </a:p>
        </p:txBody>
      </p:sp>
      <p:sp>
        <p:nvSpPr>
          <p:cNvPr id="16" name="">
            <a:extLst xmlns:a="http://schemas.openxmlformats.org/drawingml/2006/main">
              <a:ext uri="{FF2B5EF4-FFF2-40B4-BE49-F238E27FC236}">
                <a16:creationId xmlns:a16="http://schemas.microsoft.com/office/drawing/2014/main" id="{CFBD4D6B-AAC7-41D7-984B-E256A04FAA29}"/>
              </a:ext>
            </a:extLst>
          </p:cNvPr>
          <p:cNvSpPr>
            <a:spLocks xmlns:a="http://schemas.openxmlformats.org/drawingml/2006/main" noGrp="1"/>
          </p:cNvSpPr>
          <p:nvPr/>
        </p:nvSpPr>
        <p:spPr>
          <a:xfrm xmlns:a="http://schemas.openxmlformats.org/drawingml/2006/main">
            <a:off x="2628900" y="20764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 8 万元 / 人</a:t>
            </a:r>
          </a:p>
        </p:txBody>
      </p:sp>
      <p:sp>
        <p:nvSpPr>
          <p:cNvPr id="17" name="">
            <a:extLst xmlns:a="http://schemas.openxmlformats.org/drawingml/2006/main">
              <a:ext uri="{FF2B5EF4-FFF2-40B4-BE49-F238E27FC236}">
                <a16:creationId xmlns:a16="http://schemas.microsoft.com/office/drawing/2014/main" id="{CAF5BF95-598F-44BD-8A74-0389C0FC06C2}"/>
              </a:ext>
            </a:extLst>
          </p:cNvPr>
          <p:cNvSpPr>
            <a:spLocks xmlns:a="http://schemas.openxmlformats.org/drawingml/2006/main" noGrp="1"/>
          </p:cNvSpPr>
          <p:nvPr/>
        </p:nvSpPr>
        <p:spPr>
          <a:xfrm xmlns:a="http://schemas.openxmlformats.org/drawingml/2006/main">
            <a:off x="457200" y="23812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外委服务</a:t>
            </a:r>
          </a:p>
        </p:txBody>
      </p:sp>
      <p:sp>
        <p:nvSpPr>
          <p:cNvPr id="18" name="">
            <a:extLst xmlns:a="http://schemas.openxmlformats.org/drawingml/2006/main">
              <a:ext uri="{FF2B5EF4-FFF2-40B4-BE49-F238E27FC236}">
                <a16:creationId xmlns:a16="http://schemas.microsoft.com/office/drawing/2014/main" id="{9B99E80B-F5AB-4275-A54F-15CD70A1076C}"/>
              </a:ext>
            </a:extLst>
          </p:cNvPr>
          <p:cNvSpPr>
            <a:spLocks xmlns:a="http://schemas.openxmlformats.org/drawingml/2006/main" noGrp="1"/>
          </p:cNvSpPr>
          <p:nvPr/>
        </p:nvSpPr>
        <p:spPr>
          <a:xfrm xmlns:a="http://schemas.openxmlformats.org/drawingml/2006/main">
            <a:off x="2628900" y="23812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 1.5 万元 / 月（≈18 万元 / 年）</a:t>
            </a:r>
          </a:p>
        </p:txBody>
      </p:sp>
      <p:sp>
        <p:nvSpPr>
          <p:cNvPr id="19" name="">
            <a:extLst xmlns:a="http://schemas.openxmlformats.org/drawingml/2006/main">
              <a:ext uri="{FF2B5EF4-FFF2-40B4-BE49-F238E27FC236}">
                <a16:creationId xmlns:a16="http://schemas.microsoft.com/office/drawing/2014/main" id="{8F80C711-1E53-4E1D-B6C2-2E56B2D359B5}"/>
              </a:ext>
            </a:extLst>
          </p:cNvPr>
          <p:cNvSpPr>
            <a:spLocks xmlns:a="http://schemas.openxmlformats.org/drawingml/2006/main" noGrp="1"/>
          </p:cNvSpPr>
          <p:nvPr/>
        </p:nvSpPr>
        <p:spPr>
          <a:xfrm xmlns:a="http://schemas.openxmlformats.org/drawingml/2006/main">
            <a:off x="457200" y="26860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38" b="0">
                <a:solidFill>
                  <a:srgbClr val="D6E6F7"/>
                </a:solidFill>
                <a:latin typeface="微软雅黑"/>
                <a:ea typeface="微软雅黑"/>
                <a:cs typeface="微软雅黑"/>
              </a:defRPr>
            </a:pPr>
            <a:r>
              <a:rPr sz="938" b="0">
                <a:solidFill>
                  <a:srgbClr val="D6E6F7"/>
                </a:solidFill>
                <a:latin typeface="微软雅黑"/>
                <a:ea typeface="微软雅黑"/>
                <a:cs typeface="微软雅黑"/>
              </a:rPr>
              <a:t>工作量变化</a:t>
            </a:r>
          </a:p>
        </p:txBody>
      </p:sp>
      <p:sp>
        <p:nvSpPr>
          <p:cNvPr id="20" name="">
            <a:extLst xmlns:a="http://schemas.openxmlformats.org/drawingml/2006/main">
              <a:ext uri="{FF2B5EF4-FFF2-40B4-BE49-F238E27FC236}">
                <a16:creationId xmlns:a16="http://schemas.microsoft.com/office/drawing/2014/main" id="{80F19A58-5D90-4A8A-BB46-4B4572A6BC12}"/>
              </a:ext>
            </a:extLst>
          </p:cNvPr>
          <p:cNvSpPr>
            <a:spLocks xmlns:a="http://schemas.openxmlformats.org/drawingml/2006/main" noGrp="1"/>
          </p:cNvSpPr>
          <p:nvPr/>
        </p:nvSpPr>
        <p:spPr>
          <a:xfrm xmlns:a="http://schemas.openxmlformats.org/drawingml/2006/main">
            <a:off x="2628900" y="26860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新增 2 座 110kV 变电站 → 运维工作量 +30%</a:t>
            </a:r>
          </a:p>
        </p:txBody>
      </p:sp>
      <p:sp>
        <p:nvSpPr>
          <p:cNvPr id="21" name="">
            <a:extLst xmlns:a="http://schemas.openxmlformats.org/drawingml/2006/main">
              <a:ext uri="{FF2B5EF4-FFF2-40B4-BE49-F238E27FC236}">
                <a16:creationId xmlns:a16="http://schemas.microsoft.com/office/drawing/2014/main" id="{F9B5A434-FC43-4D9E-BB36-79FAF74F4026}"/>
              </a:ext>
            </a:extLst>
          </p:cNvPr>
          <p:cNvSpPr>
            <a:spLocks xmlns:a="http://schemas.openxmlformats.org/drawingml/2006/main" noGrp="1"/>
          </p:cNvSpPr>
          <p:nvPr/>
        </p:nvSpPr>
        <p:spPr>
          <a:xfrm xmlns:a="http://schemas.openxmlformats.org/drawingml/2006/main">
            <a:off x="285750" y="3162300"/>
            <a:ext cx="5715000" cy="2533650"/>
          </a:xfrm>
          <a:prstGeom xmlns:a="http://schemas.openxmlformats.org/drawingml/2006/main" prst="roundRect">
            <a:avLst>
              <a:gd name="adj" fmla="val 3008"/>
            </a:avLst>
          </a:prstGeom>
          <a:solidFill xmlns:a="http://schemas.openxmlformats.org/drawingml/2006/main">
            <a:srgbClr val="0D2748"/>
          </a:solidFill>
          <a:ln xmlns:a="http://schemas.openxmlformats.org/drawingml/2006/main" w="9525">
            <a:solidFill>
              <a:srgbClr val="1B4C8A"/>
            </a:solidFill>
            <a:prstDash val="solid"/>
          </a:ln>
        </p:spPr>
      </p:sp>
      <p:sp>
        <p:nvSpPr>
          <p:cNvPr id="22" name="">
            <a:extLst xmlns:a="http://schemas.openxmlformats.org/drawingml/2006/main">
              <a:ext uri="{FF2B5EF4-FFF2-40B4-BE49-F238E27FC236}">
                <a16:creationId xmlns:a16="http://schemas.microsoft.com/office/drawing/2014/main" id="{27EBD4D8-91B6-4030-8CCA-7622EA55997E}"/>
              </a:ext>
            </a:extLst>
          </p:cNvPr>
          <p:cNvSpPr>
            <a:spLocks xmlns:a="http://schemas.openxmlformats.org/drawingml/2006/main" noGrp="1"/>
          </p:cNvSpPr>
          <p:nvPr/>
        </p:nvSpPr>
        <p:spPr>
          <a:xfrm xmlns:a="http://schemas.openxmlformats.org/drawingml/2006/main">
            <a:off x="457200" y="32766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31C7F0"/>
                </a:solidFill>
                <a:latin typeface="微软雅黑"/>
                <a:ea typeface="微软雅黑"/>
                <a:cs typeface="微软雅黑"/>
              </a:defRPr>
            </a:pPr>
            <a:r>
              <a:rPr sz="1050" b="1">
                <a:solidFill>
                  <a:srgbClr val="31C7F0"/>
                </a:solidFill>
                <a:latin typeface="微软雅黑"/>
                <a:ea typeface="微软雅黑"/>
                <a:cs typeface="微软雅黑"/>
              </a:rPr>
              <a:t>示范测算：继保 L3 缺 4 人、高压试验缺 3 人</a:t>
            </a:r>
          </a:p>
        </p:txBody>
      </p:sp>
      <p:sp>
        <p:nvSpPr>
          <p:cNvPr id="23" name="">
            <a:extLst xmlns:a="http://schemas.openxmlformats.org/drawingml/2006/main">
              <a:ext uri="{FF2B5EF4-FFF2-40B4-BE49-F238E27FC236}">
                <a16:creationId xmlns:a16="http://schemas.microsoft.com/office/drawing/2014/main" id="{5C5AD7C8-58A1-4B40-82B5-B2AD426205A0}"/>
              </a:ext>
            </a:extLst>
          </p:cNvPr>
          <p:cNvSpPr>
            <a:spLocks xmlns:a="http://schemas.openxmlformats.org/drawingml/2006/main" noGrp="1"/>
          </p:cNvSpPr>
          <p:nvPr/>
        </p:nvSpPr>
        <p:spPr>
          <a:xfrm xmlns:a="http://schemas.openxmlformats.org/drawingml/2006/main">
            <a:off x="457200" y="3543300"/>
            <a:ext cx="5372100" cy="400050"/>
          </a:xfrm>
          <a:prstGeom xmlns:a="http://schemas.openxmlformats.org/drawingml/2006/main" prst="roundRect">
            <a:avLst>
              <a:gd name="adj" fmla="val 19048"/>
            </a:avLst>
          </a:prstGeom>
          <a:solidFill xmlns:a="http://schemas.openxmlformats.org/drawingml/2006/main">
            <a:srgbClr val="0B2B52"/>
          </a:solidFill>
          <a:ln xmlns:a="http://schemas.openxmlformats.org/drawingml/2006/main" w="9525">
            <a:solidFill>
              <a:srgbClr val="173D68"/>
            </a:solidFill>
            <a:prstDash val="solid"/>
          </a:ln>
        </p:spPr>
      </p:sp>
      <p:sp>
        <p:nvSpPr>
          <p:cNvPr id="24" name="">
            <a:extLst xmlns:a="http://schemas.openxmlformats.org/drawingml/2006/main">
              <a:ext uri="{FF2B5EF4-FFF2-40B4-BE49-F238E27FC236}">
                <a16:creationId xmlns:a16="http://schemas.microsoft.com/office/drawing/2014/main" id="{AEA1F7EE-6F64-4ACF-81F6-8CB5F7C92578}"/>
              </a:ext>
            </a:extLst>
          </p:cNvPr>
          <p:cNvSpPr>
            <a:spLocks xmlns:a="http://schemas.openxmlformats.org/drawingml/2006/main" noGrp="1"/>
          </p:cNvSpPr>
          <p:nvPr/>
        </p:nvSpPr>
        <p:spPr>
          <a:xfrm xmlns:a="http://schemas.openxmlformats.org/drawingml/2006/main">
            <a:off x="571500" y="35814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25" b="1">
                <a:solidFill>
                  <a:srgbClr val="9FC2E8"/>
                </a:solidFill>
                <a:latin typeface="微软雅黑"/>
                <a:ea typeface="微软雅黑"/>
                <a:cs typeface="微软雅黑"/>
              </a:defRPr>
            </a:pPr>
            <a:r>
              <a:rPr sz="825" b="1">
                <a:solidFill>
                  <a:srgbClr val="9FC2E8"/>
                </a:solidFill>
                <a:latin typeface="微软雅黑"/>
                <a:ea typeface="微软雅黑"/>
                <a:cs typeface="微软雅黑"/>
              </a:rPr>
              <a:t>口径 A · 全部外招</a:t>
            </a:r>
          </a:p>
        </p:txBody>
      </p:sp>
      <p:sp>
        <p:nvSpPr>
          <p:cNvPr id="25" name="">
            <a:extLst xmlns:a="http://schemas.openxmlformats.org/drawingml/2006/main">
              <a:ext uri="{FF2B5EF4-FFF2-40B4-BE49-F238E27FC236}">
                <a16:creationId xmlns:a16="http://schemas.microsoft.com/office/drawing/2014/main" id="{ECB47CAF-8C64-47B2-93DD-0B532C56F631}"/>
              </a:ext>
            </a:extLst>
          </p:cNvPr>
          <p:cNvSpPr>
            <a:spLocks xmlns:a="http://schemas.openxmlformats.org/drawingml/2006/main" noGrp="1"/>
          </p:cNvSpPr>
          <p:nvPr/>
        </p:nvSpPr>
        <p:spPr>
          <a:xfrm xmlns:a="http://schemas.openxmlformats.org/drawingml/2006/main">
            <a:off x="571500" y="375285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继保 4 人 + 高压试验 3 人 = 7 人 × 8 万</a:t>
            </a:r>
          </a:p>
        </p:txBody>
      </p:sp>
      <p:sp>
        <p:nvSpPr>
          <p:cNvPr id="26" name="">
            <a:extLst xmlns:a="http://schemas.openxmlformats.org/drawingml/2006/main">
              <a:ext uri="{FF2B5EF4-FFF2-40B4-BE49-F238E27FC236}">
                <a16:creationId xmlns:a16="http://schemas.microsoft.com/office/drawing/2014/main" id="{707C8172-934A-4D91-BDF6-4F455D1495DE}"/>
              </a:ext>
            </a:extLst>
          </p:cNvPr>
          <p:cNvSpPr>
            <a:spLocks xmlns:a="http://schemas.openxmlformats.org/drawingml/2006/main" noGrp="1"/>
          </p:cNvSpPr>
          <p:nvPr/>
        </p:nvSpPr>
        <p:spPr>
          <a:xfrm xmlns:a="http://schemas.openxmlformats.org/drawingml/2006/main">
            <a:off x="4305300" y="3657600"/>
            <a:ext cx="1409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9FC2E8"/>
                </a:solidFill>
                <a:latin typeface="微软雅黑"/>
                <a:ea typeface="微软雅黑"/>
                <a:cs typeface="微软雅黑"/>
              </a:defRPr>
            </a:pPr>
            <a:r>
              <a:rPr sz="975" b="1">
                <a:solidFill>
                  <a:srgbClr val="9FC2E8"/>
                </a:solidFill>
                <a:latin typeface="微软雅黑"/>
                <a:ea typeface="微软雅黑"/>
                <a:cs typeface="微软雅黑"/>
              </a:rPr>
              <a:t>56 万元 / 年</a:t>
            </a:r>
          </a:p>
        </p:txBody>
      </p:sp>
      <p:sp>
        <p:nvSpPr>
          <p:cNvPr id="27" name="">
            <a:extLst xmlns:a="http://schemas.openxmlformats.org/drawingml/2006/main">
              <a:ext uri="{FF2B5EF4-FFF2-40B4-BE49-F238E27FC236}">
                <a16:creationId xmlns:a16="http://schemas.microsoft.com/office/drawing/2014/main" id="{939CE359-381C-477E-88CD-82D7C93D5C35}"/>
              </a:ext>
            </a:extLst>
          </p:cNvPr>
          <p:cNvSpPr>
            <a:spLocks xmlns:a="http://schemas.openxmlformats.org/drawingml/2006/main" noGrp="1"/>
          </p:cNvSpPr>
          <p:nvPr/>
        </p:nvSpPr>
        <p:spPr>
          <a:xfrm xmlns:a="http://schemas.openxmlformats.org/drawingml/2006/main">
            <a:off x="457200" y="4000500"/>
            <a:ext cx="5372100" cy="400050"/>
          </a:xfrm>
          <a:prstGeom xmlns:a="http://schemas.openxmlformats.org/drawingml/2006/main" prst="roundRect">
            <a:avLst>
              <a:gd name="adj" fmla="val 19048"/>
            </a:avLst>
          </a:prstGeom>
          <a:solidFill xmlns:a="http://schemas.openxmlformats.org/drawingml/2006/main">
            <a:srgbClr val="0B2B52"/>
          </a:solidFill>
          <a:ln xmlns:a="http://schemas.openxmlformats.org/drawingml/2006/main" w="9525">
            <a:solidFill>
              <a:srgbClr val="173D68"/>
            </a:solidFill>
            <a:prstDash val="solid"/>
          </a:ln>
        </p:spPr>
      </p:sp>
      <p:sp>
        <p:nvSpPr>
          <p:cNvPr id="28" name="">
            <a:extLst xmlns:a="http://schemas.openxmlformats.org/drawingml/2006/main">
              <a:ext uri="{FF2B5EF4-FFF2-40B4-BE49-F238E27FC236}">
                <a16:creationId xmlns:a16="http://schemas.microsoft.com/office/drawing/2014/main" id="{E1268C4A-7EE2-45B4-AF62-5E2026D08EFC}"/>
              </a:ext>
            </a:extLst>
          </p:cNvPr>
          <p:cNvSpPr>
            <a:spLocks xmlns:a="http://schemas.openxmlformats.org/drawingml/2006/main" noGrp="1"/>
          </p:cNvSpPr>
          <p:nvPr/>
        </p:nvSpPr>
        <p:spPr>
          <a:xfrm xmlns:a="http://schemas.openxmlformats.org/drawingml/2006/main">
            <a:off x="571500" y="40386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25" b="1">
                <a:solidFill>
                  <a:srgbClr val="3FD08A"/>
                </a:solidFill>
                <a:latin typeface="微软雅黑"/>
                <a:ea typeface="微软雅黑"/>
                <a:cs typeface="微软雅黑"/>
              </a:defRPr>
            </a:pPr>
            <a:r>
              <a:rPr sz="825" b="1">
                <a:solidFill>
                  <a:srgbClr val="3FD08A"/>
                </a:solidFill>
                <a:latin typeface="微软雅黑"/>
                <a:ea typeface="微软雅黑"/>
                <a:cs typeface="微软雅黑"/>
              </a:rPr>
              <a:t>口径 B · 按缺口的组合建议</a:t>
            </a:r>
          </a:p>
        </p:txBody>
      </p:sp>
      <p:sp>
        <p:nvSpPr>
          <p:cNvPr id="29" name="">
            <a:extLst xmlns:a="http://schemas.openxmlformats.org/drawingml/2006/main">
              <a:ext uri="{FF2B5EF4-FFF2-40B4-BE49-F238E27FC236}">
                <a16:creationId xmlns:a16="http://schemas.microsoft.com/office/drawing/2014/main" id="{5EF39D57-DA9A-4213-82F3-9FDD57640752}"/>
              </a:ext>
            </a:extLst>
          </p:cNvPr>
          <p:cNvSpPr>
            <a:spLocks xmlns:a="http://schemas.openxmlformats.org/drawingml/2006/main" noGrp="1"/>
          </p:cNvSpPr>
          <p:nvPr/>
        </p:nvSpPr>
        <p:spPr>
          <a:xfrm xmlns:a="http://schemas.openxmlformats.org/drawingml/2006/main">
            <a:off x="571500" y="421005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继保：3 人转岗（6 万）+ 1 人招聘（8 万）= 14 万</a:t>
            </a:r>
          </a:p>
        </p:txBody>
      </p:sp>
      <p:sp>
        <p:nvSpPr>
          <p:cNvPr id="30" name="">
            <a:extLst xmlns:a="http://schemas.openxmlformats.org/drawingml/2006/main">
              <a:ext uri="{FF2B5EF4-FFF2-40B4-BE49-F238E27FC236}">
                <a16:creationId xmlns:a16="http://schemas.microsoft.com/office/drawing/2014/main" id="{751A7FB0-3EDC-4E70-95C6-6180DFA2C9A3}"/>
              </a:ext>
            </a:extLst>
          </p:cNvPr>
          <p:cNvSpPr>
            <a:spLocks xmlns:a="http://schemas.openxmlformats.org/drawingml/2006/main" noGrp="1"/>
          </p:cNvSpPr>
          <p:nvPr/>
        </p:nvSpPr>
        <p:spPr>
          <a:xfrm xmlns:a="http://schemas.openxmlformats.org/drawingml/2006/main">
            <a:off x="4305300" y="4114800"/>
            <a:ext cx="1409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3FD08A"/>
                </a:solidFill>
                <a:latin typeface="微软雅黑"/>
                <a:ea typeface="微软雅黑"/>
                <a:cs typeface="微软雅黑"/>
              </a:defRPr>
            </a:pPr>
            <a:r>
              <a:rPr sz="975" b="1">
                <a:solidFill>
                  <a:srgbClr val="3FD08A"/>
                </a:solidFill>
                <a:latin typeface="微软雅黑"/>
                <a:ea typeface="微软雅黑"/>
                <a:cs typeface="微软雅黑"/>
              </a:rPr>
              <a:t>14 万元 / 年</a:t>
            </a:r>
          </a:p>
        </p:txBody>
      </p:sp>
      <p:sp>
        <p:nvSpPr>
          <p:cNvPr id="31" name="">
            <a:extLst xmlns:a="http://schemas.openxmlformats.org/drawingml/2006/main">
              <a:ext uri="{FF2B5EF4-FFF2-40B4-BE49-F238E27FC236}">
                <a16:creationId xmlns:a16="http://schemas.microsoft.com/office/drawing/2014/main" id="{0EC4772B-164D-4AF1-ABFF-2161BAE25F6D}"/>
              </a:ext>
            </a:extLst>
          </p:cNvPr>
          <p:cNvSpPr>
            <a:spLocks xmlns:a="http://schemas.openxmlformats.org/drawingml/2006/main" noGrp="1"/>
          </p:cNvSpPr>
          <p:nvPr/>
        </p:nvSpPr>
        <p:spPr>
          <a:xfrm xmlns:a="http://schemas.openxmlformats.org/drawingml/2006/main">
            <a:off x="457200" y="4457700"/>
            <a:ext cx="5372100" cy="400050"/>
          </a:xfrm>
          <a:prstGeom xmlns:a="http://schemas.openxmlformats.org/drawingml/2006/main" prst="roundRect">
            <a:avLst>
              <a:gd name="adj" fmla="val 19048"/>
            </a:avLst>
          </a:prstGeom>
          <a:solidFill xmlns:a="http://schemas.openxmlformats.org/drawingml/2006/main">
            <a:srgbClr val="0B2B52"/>
          </a:solidFill>
          <a:ln xmlns:a="http://schemas.openxmlformats.org/drawingml/2006/main" w="9525">
            <a:solidFill>
              <a:srgbClr val="173D68"/>
            </a:solidFill>
            <a:prstDash val="solid"/>
          </a:ln>
        </p:spPr>
      </p:sp>
      <p:sp>
        <p:nvSpPr>
          <p:cNvPr id="32" name="">
            <a:extLst xmlns:a="http://schemas.openxmlformats.org/drawingml/2006/main">
              <a:ext uri="{FF2B5EF4-FFF2-40B4-BE49-F238E27FC236}">
                <a16:creationId xmlns:a16="http://schemas.microsoft.com/office/drawing/2014/main" id="{3F8C3A25-EBC3-473A-88A0-8AE7B9F7CB06}"/>
              </a:ext>
            </a:extLst>
          </p:cNvPr>
          <p:cNvSpPr>
            <a:spLocks xmlns:a="http://schemas.openxmlformats.org/drawingml/2006/main" noGrp="1"/>
          </p:cNvSpPr>
          <p:nvPr/>
        </p:nvSpPr>
        <p:spPr>
          <a:xfrm xmlns:a="http://schemas.openxmlformats.org/drawingml/2006/main">
            <a:off x="571500" y="44958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33" name="">
            <a:extLst xmlns:a="http://schemas.openxmlformats.org/drawingml/2006/main">
              <a:ext uri="{FF2B5EF4-FFF2-40B4-BE49-F238E27FC236}">
                <a16:creationId xmlns:a16="http://schemas.microsoft.com/office/drawing/2014/main" id="{8C82ADED-A8AB-4629-A160-E74D0CEC00F4}"/>
              </a:ext>
            </a:extLst>
          </p:cNvPr>
          <p:cNvSpPr>
            <a:spLocks xmlns:a="http://schemas.openxmlformats.org/drawingml/2006/main" noGrp="1"/>
          </p:cNvSpPr>
          <p:nvPr/>
        </p:nvSpPr>
        <p:spPr>
          <a:xfrm xmlns:a="http://schemas.openxmlformats.org/drawingml/2006/main">
            <a:off x="571500" y="466725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高压试验：2 人招聘（16 万）+ 1 人外委（18 万）= 34 万</a:t>
            </a:r>
          </a:p>
        </p:txBody>
      </p:sp>
      <p:sp>
        <p:nvSpPr>
          <p:cNvPr id="34" name="">
            <a:extLst xmlns:a="http://schemas.openxmlformats.org/drawingml/2006/main">
              <a:ext uri="{FF2B5EF4-FFF2-40B4-BE49-F238E27FC236}">
                <a16:creationId xmlns:a16="http://schemas.microsoft.com/office/drawing/2014/main" id="{6E7DE58F-465A-4E5E-87C0-7766EDDD4266}"/>
              </a:ext>
            </a:extLst>
          </p:cNvPr>
          <p:cNvSpPr>
            <a:spLocks xmlns:a="http://schemas.openxmlformats.org/drawingml/2006/main" noGrp="1"/>
          </p:cNvSpPr>
          <p:nvPr/>
        </p:nvSpPr>
        <p:spPr>
          <a:xfrm xmlns:a="http://schemas.openxmlformats.org/drawingml/2006/main">
            <a:off x="4305300" y="4572000"/>
            <a:ext cx="1409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F5C33B"/>
                </a:solidFill>
                <a:latin typeface="微软雅黑"/>
                <a:ea typeface="微软雅黑"/>
                <a:cs typeface="微软雅黑"/>
              </a:defRPr>
            </a:pPr>
            <a:r>
              <a:rPr sz="975" b="1">
                <a:solidFill>
                  <a:srgbClr val="F5C33B"/>
                </a:solidFill>
                <a:latin typeface="微软雅黑"/>
                <a:ea typeface="微软雅黑"/>
                <a:cs typeface="微软雅黑"/>
              </a:rPr>
              <a:t>34 万元 / 年</a:t>
            </a:r>
          </a:p>
        </p:txBody>
      </p:sp>
      <p:sp>
        <p:nvSpPr>
          <p:cNvPr id="35" name="">
            <a:extLst xmlns:a="http://schemas.openxmlformats.org/drawingml/2006/main">
              <a:ext uri="{FF2B5EF4-FFF2-40B4-BE49-F238E27FC236}">
                <a16:creationId xmlns:a16="http://schemas.microsoft.com/office/drawing/2014/main" id="{74837840-FF6F-4B3D-9BD1-938145C1CBC2}"/>
              </a:ext>
            </a:extLst>
          </p:cNvPr>
          <p:cNvSpPr>
            <a:spLocks xmlns:a="http://schemas.openxmlformats.org/drawingml/2006/main" noGrp="1"/>
          </p:cNvSpPr>
          <p:nvPr/>
        </p:nvSpPr>
        <p:spPr>
          <a:xfrm xmlns:a="http://schemas.openxmlformats.org/drawingml/2006/main">
            <a:off x="457200" y="4914900"/>
            <a:ext cx="5372100" cy="400050"/>
          </a:xfrm>
          <a:prstGeom xmlns:a="http://schemas.openxmlformats.org/drawingml/2006/main" prst="roundRect">
            <a:avLst>
              <a:gd name="adj" fmla="val 19048"/>
            </a:avLst>
          </a:prstGeom>
          <a:solidFill xmlns:a="http://schemas.openxmlformats.org/drawingml/2006/main">
            <a:srgbClr val="0F3159"/>
          </a:solidFill>
          <a:ln xmlns:a="http://schemas.openxmlformats.org/drawingml/2006/main" w="9525">
            <a:solidFill>
              <a:srgbClr val="3FD08A"/>
            </a:solidFill>
            <a:prstDash val="solid"/>
          </a:ln>
        </p:spPr>
      </p:sp>
      <p:sp>
        <p:nvSpPr>
          <p:cNvPr id="36" name="">
            <a:extLst xmlns:a="http://schemas.openxmlformats.org/drawingml/2006/main">
              <a:ext uri="{FF2B5EF4-FFF2-40B4-BE49-F238E27FC236}">
                <a16:creationId xmlns:a16="http://schemas.microsoft.com/office/drawing/2014/main" id="{92C26770-4EB2-4D7B-91BA-E47053DC019A}"/>
              </a:ext>
            </a:extLst>
          </p:cNvPr>
          <p:cNvSpPr>
            <a:spLocks xmlns:a="http://schemas.openxmlformats.org/drawingml/2006/main" noGrp="1"/>
          </p:cNvSpPr>
          <p:nvPr/>
        </p:nvSpPr>
        <p:spPr>
          <a:xfrm xmlns:a="http://schemas.openxmlformats.org/drawingml/2006/main">
            <a:off x="571500" y="49530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825" b="1">
                <a:solidFill>
                  <a:srgbClr val="3FD08A"/>
                </a:solidFill>
                <a:latin typeface="微软雅黑"/>
                <a:ea typeface="微软雅黑"/>
                <a:cs typeface="微软雅黑"/>
              </a:defRPr>
            </a:pPr>
            <a:r>
              <a:rPr sz="825" b="1">
                <a:solidFill>
                  <a:srgbClr val="3FD08A"/>
                </a:solidFill>
                <a:latin typeface="微软雅黑"/>
                <a:ea typeface="微软雅黑"/>
                <a:cs typeface="微软雅黑"/>
              </a:rPr>
              <a:t>差额</a:t>
            </a:r>
          </a:p>
        </p:txBody>
      </p:sp>
      <p:sp>
        <p:nvSpPr>
          <p:cNvPr id="37" name="">
            <a:extLst xmlns:a="http://schemas.openxmlformats.org/drawingml/2006/main">
              <a:ext uri="{FF2B5EF4-FFF2-40B4-BE49-F238E27FC236}">
                <a16:creationId xmlns:a16="http://schemas.microsoft.com/office/drawing/2014/main" id="{896F2C6A-BC45-4F04-8935-D7AC3E2A5D4E}"/>
              </a:ext>
            </a:extLst>
          </p:cNvPr>
          <p:cNvSpPr>
            <a:spLocks xmlns:a="http://schemas.openxmlformats.org/drawingml/2006/main" noGrp="1"/>
          </p:cNvSpPr>
          <p:nvPr/>
        </p:nvSpPr>
        <p:spPr>
          <a:xfrm xmlns:a="http://schemas.openxmlformats.org/drawingml/2006/main">
            <a:off x="571500" y="512445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口径 B 相对口径 A 的净变化</a:t>
            </a:r>
          </a:p>
        </p:txBody>
      </p:sp>
      <p:sp>
        <p:nvSpPr>
          <p:cNvPr id="38" name="">
            <a:extLst xmlns:a="http://schemas.openxmlformats.org/drawingml/2006/main">
              <a:ext uri="{FF2B5EF4-FFF2-40B4-BE49-F238E27FC236}">
                <a16:creationId xmlns:a16="http://schemas.microsoft.com/office/drawing/2014/main" id="{2A4C3C6E-F203-462D-839D-F7CEF405A2F3}"/>
              </a:ext>
            </a:extLst>
          </p:cNvPr>
          <p:cNvSpPr>
            <a:spLocks xmlns:a="http://schemas.openxmlformats.org/drawingml/2006/main" noGrp="1"/>
          </p:cNvSpPr>
          <p:nvPr/>
        </p:nvSpPr>
        <p:spPr>
          <a:xfrm xmlns:a="http://schemas.openxmlformats.org/drawingml/2006/main">
            <a:off x="4305300" y="5029200"/>
            <a:ext cx="1409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1">
                <a:solidFill>
                  <a:srgbClr val="3FD08A"/>
                </a:solidFill>
                <a:latin typeface="微软雅黑"/>
                <a:ea typeface="微软雅黑"/>
                <a:cs typeface="微软雅黑"/>
              </a:defRPr>
            </a:pPr>
            <a:r>
              <a:rPr sz="975" b="1">
                <a:solidFill>
                  <a:srgbClr val="3FD08A"/>
                </a:solidFill>
                <a:latin typeface="微软雅黑"/>
                <a:ea typeface="微软雅黑"/>
                <a:cs typeface="微软雅黑"/>
              </a:rPr>
              <a:t>节约 8 万元 / 年</a:t>
            </a:r>
          </a:p>
        </p:txBody>
      </p:sp>
      <p:sp>
        <p:nvSpPr>
          <p:cNvPr id="39" name="">
            <a:extLst xmlns:a="http://schemas.openxmlformats.org/drawingml/2006/main">
              <a:ext uri="{FF2B5EF4-FFF2-40B4-BE49-F238E27FC236}">
                <a16:creationId xmlns:a16="http://schemas.microsoft.com/office/drawing/2014/main" id="{4E2EE340-FFD2-4812-AF58-09EB0B944887}"/>
              </a:ext>
            </a:extLst>
          </p:cNvPr>
          <p:cNvSpPr>
            <a:spLocks xmlns:a="http://schemas.openxmlformats.org/drawingml/2006/main" noGrp="1"/>
          </p:cNvSpPr>
          <p:nvPr/>
        </p:nvSpPr>
        <p:spPr>
          <a:xfrm xmlns:a="http://schemas.openxmlformats.org/drawingml/2006/main">
            <a:off x="457200" y="5429250"/>
            <a:ext cx="539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7A9CC4"/>
                </a:solidFill>
                <a:latin typeface="微软雅黑"/>
                <a:ea typeface="微软雅黑"/>
                <a:cs typeface="微软雅黑"/>
              </a:defRPr>
            </a:pPr>
            <a:r>
              <a:rPr sz="788" b="0">
                <a:solidFill>
                  <a:srgbClr val="7A9CC4"/>
                </a:solidFill>
                <a:latin typeface="微软雅黑"/>
                <a:ea typeface="微软雅黑"/>
                <a:cs typeface="微软雅黑"/>
              </a:rPr>
              <a:t>注：外委单价高但响应快，适合临时窗口；系统会如实给出「该组合不一定更省」的结论，而不是一味推荐内部消化。</a:t>
            </a:r>
          </a:p>
        </p:txBody>
      </p:sp>
      <p:sp>
        <p:nvSpPr>
          <p:cNvPr id="40" name="">
            <a:extLst xmlns:a="http://schemas.openxmlformats.org/drawingml/2006/main">
              <a:ext uri="{FF2B5EF4-FFF2-40B4-BE49-F238E27FC236}">
                <a16:creationId xmlns:a16="http://schemas.microsoft.com/office/drawing/2014/main" id="{C8575F69-34A4-4A25-BA92-4A250E2FB337}"/>
              </a:ext>
            </a:extLst>
          </p:cNvPr>
          <p:cNvSpPr>
            <a:spLocks xmlns:a="http://schemas.openxmlformats.org/drawingml/2006/main" noGrp="1"/>
          </p:cNvSpPr>
          <p:nvPr/>
        </p:nvSpPr>
        <p:spPr>
          <a:xfrm xmlns:a="http://schemas.openxmlformats.org/drawingml/2006/main">
            <a:off x="6229350" y="13335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5C33B"/>
                </a:solidFill>
                <a:latin typeface="微软雅黑"/>
                <a:ea typeface="微软雅黑"/>
                <a:cs typeface="微软雅黑"/>
              </a:defRPr>
            </a:pPr>
            <a:r>
              <a:rPr sz="1050" b="1">
                <a:solidFill>
                  <a:srgbClr val="F5C33B"/>
                </a:solidFill>
                <a:latin typeface="微软雅黑"/>
                <a:ea typeface="微软雅黑"/>
                <a:cs typeface="微软雅黑"/>
              </a:rPr>
              <a:t>回收期模型（把客户真实参数代入即可算）</a:t>
            </a:r>
          </a:p>
        </p:txBody>
      </p:sp>
      <p:sp>
        <p:nvSpPr>
          <p:cNvPr id="41" name="">
            <a:extLst xmlns:a="http://schemas.openxmlformats.org/drawingml/2006/main">
              <a:ext uri="{FF2B5EF4-FFF2-40B4-BE49-F238E27FC236}">
                <a16:creationId xmlns:a16="http://schemas.microsoft.com/office/drawing/2014/main" id="{0EDD83C9-57EA-4142-BB2F-C278B0CB187B}"/>
              </a:ext>
            </a:extLst>
          </p:cNvPr>
          <p:cNvSpPr>
            <a:spLocks xmlns:a="http://schemas.openxmlformats.org/drawingml/2006/main" noGrp="1"/>
          </p:cNvSpPr>
          <p:nvPr/>
        </p:nvSpPr>
        <p:spPr>
          <a:xfrm xmlns:a="http://schemas.openxmlformats.org/drawingml/2006/main">
            <a:off x="6229350" y="1638300"/>
            <a:ext cx="5676900" cy="914400"/>
          </a:xfrm>
          <a:prstGeom xmlns:a="http://schemas.openxmlformats.org/drawingml/2006/main" prst="roundRect">
            <a:avLst>
              <a:gd name="adj" fmla="val 8333"/>
            </a:avLst>
          </a:prstGeom>
          <a:solidFill xmlns:a="http://schemas.openxmlformats.org/drawingml/2006/main">
            <a:srgbClr val="0A2547"/>
          </a:solidFill>
          <a:ln xmlns:a="http://schemas.openxmlformats.org/drawingml/2006/main" w="13335">
            <a:solidFill>
              <a:srgbClr val="F5C33B"/>
            </a:solidFill>
            <a:prstDash val="solid"/>
          </a:ln>
        </p:spPr>
      </p:sp>
      <p:sp>
        <p:nvSpPr>
          <p:cNvPr id="42" name="">
            <a:extLst xmlns:a="http://schemas.openxmlformats.org/drawingml/2006/main">
              <a:ext uri="{FF2B5EF4-FFF2-40B4-BE49-F238E27FC236}">
                <a16:creationId xmlns:a16="http://schemas.microsoft.com/office/drawing/2014/main" id="{188F5533-D283-40ED-8394-080DB3075383}"/>
              </a:ext>
            </a:extLst>
          </p:cNvPr>
          <p:cNvSpPr>
            <a:spLocks xmlns:a="http://schemas.openxmlformats.org/drawingml/2006/main" noGrp="1"/>
          </p:cNvSpPr>
          <p:nvPr/>
        </p:nvSpPr>
        <p:spPr>
          <a:xfrm xmlns:a="http://schemas.openxmlformats.org/drawingml/2006/main">
            <a:off x="6400800" y="1771650"/>
            <a:ext cx="5353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D6E6F7"/>
                </a:solidFill>
                <a:latin typeface="微软雅黑"/>
                <a:ea typeface="微软雅黑"/>
                <a:cs typeface="微软雅黑"/>
              </a:defRPr>
            </a:pPr>
            <a:r>
              <a:rPr sz="938" b="1">
                <a:solidFill>
                  <a:srgbClr val="D6E6F7"/>
                </a:solidFill>
                <a:latin typeface="微软雅黑"/>
                <a:ea typeface="微软雅黑"/>
                <a:cs typeface="微软雅黑"/>
              </a:rPr>
              <a:t>年可量化节省 S = </a:t>
            </a:r>
            <a:r>
              <a:rPr sz="938">
                <a:solidFill>
                  <a:srgbClr val="D6E6F7"/>
                </a:solidFill>
                <a:latin typeface="微软雅黑"/>
                <a:ea typeface="微软雅黑"/>
                <a:cs typeface="微软雅黑"/>
              </a:rPr>
              <a:t>人力决策节省 + 停机带教工时节省 + 重复培训工时节省 + 台账人工节省</a:t>
            </a:r>
          </a:p>
          <a:p xmlns:a="http://schemas.openxmlformats.org/drawingml/2006/main">
            <a:pPr algn="l">
              <a:lnSpc>
                <a:spcPct val="160000"/>
              </a:lnSpc>
              <a:buNone/>
              <a:defRPr sz="938">
                <a:solidFill>
                  <a:srgbClr val="D6E6F7"/>
                </a:solidFill>
                <a:latin typeface="微软雅黑"/>
                <a:ea typeface="微软雅黑"/>
                <a:cs typeface="微软雅黑"/>
              </a:defRPr>
            </a:pPr>
            <a:r>
              <a:rPr sz="938" b="1">
                <a:solidFill>
                  <a:srgbClr val="D6E6F7"/>
                </a:solidFill>
                <a:latin typeface="微软雅黑"/>
                <a:ea typeface="微软雅黑"/>
                <a:cs typeface="微软雅黑"/>
              </a:rPr>
              <a:t>回收期 T = </a:t>
            </a:r>
            <a:r>
              <a:rPr sz="938">
                <a:solidFill>
                  <a:srgbClr val="D6E6F7"/>
                </a:solidFill>
                <a:latin typeface="微软雅黑"/>
                <a:ea typeface="微软雅黑"/>
                <a:cs typeface="微软雅黑"/>
              </a:rPr>
              <a:t>系统年费 ÷ S　（按客户真实人均工时成本代入）</a:t>
            </a:r>
          </a:p>
        </p:txBody>
      </p:sp>
      <p:sp>
        <p:nvSpPr>
          <p:cNvPr id="43" name="">
            <a:extLst xmlns:a="http://schemas.openxmlformats.org/drawingml/2006/main">
              <a:ext uri="{FF2B5EF4-FFF2-40B4-BE49-F238E27FC236}">
                <a16:creationId xmlns:a16="http://schemas.microsoft.com/office/drawing/2014/main" id="{EE610007-D8F0-402E-BBC9-BA31CC407B41}"/>
              </a:ext>
            </a:extLst>
          </p:cNvPr>
          <p:cNvSpPr>
            <a:spLocks xmlns:a="http://schemas.openxmlformats.org/drawingml/2006/main" noGrp="1"/>
          </p:cNvSpPr>
          <p:nvPr/>
        </p:nvSpPr>
        <p:spPr>
          <a:xfrm xmlns:a="http://schemas.openxmlformats.org/drawingml/2006/main">
            <a:off x="6229350" y="2705100"/>
            <a:ext cx="5676900" cy="628650"/>
          </a:xfrm>
          <a:prstGeom xmlns:a="http://schemas.openxmlformats.org/drawingml/2006/main" prst="roundRect">
            <a:avLst>
              <a:gd name="adj" fmla="val 12121"/>
            </a:avLst>
          </a:prstGeom>
          <a:solidFill xmlns:a="http://schemas.openxmlformats.org/drawingml/2006/main">
            <a:srgbClr val="0D2748"/>
          </a:solidFill>
          <a:ln xmlns:a="http://schemas.openxmlformats.org/drawingml/2006/main" w="9525">
            <a:solidFill>
              <a:srgbClr val="1B4C8A"/>
            </a:solidFill>
            <a:prstDash val="solid"/>
          </a:ln>
        </p:spPr>
      </p:sp>
      <p:sp>
        <p:nvSpPr>
          <p:cNvPr id="44" name="">
            <a:extLst xmlns:a="http://schemas.openxmlformats.org/drawingml/2006/main">
              <a:ext uri="{FF2B5EF4-FFF2-40B4-BE49-F238E27FC236}">
                <a16:creationId xmlns:a16="http://schemas.microsoft.com/office/drawing/2014/main" id="{732D5BD0-DD63-42D3-81E4-F05986480CE8}"/>
              </a:ext>
            </a:extLst>
          </p:cNvPr>
          <p:cNvSpPr>
            <a:spLocks xmlns:a="http://schemas.openxmlformats.org/drawingml/2006/main" noGrp="1"/>
          </p:cNvSpPr>
          <p:nvPr/>
        </p:nvSpPr>
        <p:spPr>
          <a:xfrm xmlns:a="http://schemas.openxmlformats.org/drawingml/2006/main">
            <a:off x="6229350" y="2705100"/>
            <a:ext cx="38100" cy="628650"/>
          </a:xfrm>
          <a:prstGeom xmlns:a="http://schemas.openxmlformats.org/drawingml/2006/main" prst="rect">
            <a:avLst/>
          </a:prstGeom>
          <a:solidFill xmlns:a="http://schemas.openxmlformats.org/drawingml/2006/main">
            <a:srgbClr val="31C7F0"/>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2B44B50B-1E7E-4D9C-B055-B7570A9262CC}"/>
              </a:ext>
            </a:extLst>
          </p:cNvPr>
          <p:cNvSpPr>
            <a:spLocks xmlns:a="http://schemas.openxmlformats.org/drawingml/2006/main" noGrp="1"/>
          </p:cNvSpPr>
          <p:nvPr/>
        </p:nvSpPr>
        <p:spPr>
          <a:xfrm xmlns:a="http://schemas.openxmlformats.org/drawingml/2006/main">
            <a:off x="6400800" y="27813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人力决策节省</a:t>
            </a:r>
          </a:p>
        </p:txBody>
      </p:sp>
      <p:sp>
        <p:nvSpPr>
          <p:cNvPr id="46" name="">
            <a:extLst xmlns:a="http://schemas.openxmlformats.org/drawingml/2006/main">
              <a:ext uri="{FF2B5EF4-FFF2-40B4-BE49-F238E27FC236}">
                <a16:creationId xmlns:a16="http://schemas.microsoft.com/office/drawing/2014/main" id="{87CC3849-14B4-424B-AB4E-7188804AAB51}"/>
              </a:ext>
            </a:extLst>
          </p:cNvPr>
          <p:cNvSpPr>
            <a:spLocks xmlns:a="http://schemas.openxmlformats.org/drawingml/2006/main" noGrp="1"/>
          </p:cNvSpPr>
          <p:nvPr/>
        </p:nvSpPr>
        <p:spPr>
          <a:xfrm xmlns:a="http://schemas.openxmlformats.org/drawingml/2006/main">
            <a:off x="6400800" y="30099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按转岗 / 招聘 / 外委组合与全外招口径之差计算</a:t>
            </a:r>
          </a:p>
        </p:txBody>
      </p:sp>
      <p:sp>
        <p:nvSpPr>
          <p:cNvPr id="47" name="">
            <a:extLst xmlns:a="http://schemas.openxmlformats.org/drawingml/2006/main">
              <a:ext uri="{FF2B5EF4-FFF2-40B4-BE49-F238E27FC236}">
                <a16:creationId xmlns:a16="http://schemas.microsoft.com/office/drawing/2014/main" id="{1D60C945-CB2F-44E8-AA1A-CCE2A7F96ABE}"/>
              </a:ext>
            </a:extLst>
          </p:cNvPr>
          <p:cNvSpPr>
            <a:spLocks xmlns:a="http://schemas.openxmlformats.org/drawingml/2006/main" noGrp="1"/>
          </p:cNvSpPr>
          <p:nvPr/>
        </p:nvSpPr>
        <p:spPr>
          <a:xfrm xmlns:a="http://schemas.openxmlformats.org/drawingml/2006/main">
            <a:off x="10001250" y="289560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825" b="1">
                <a:solidFill>
                  <a:srgbClr val="F5C33B"/>
                </a:solidFill>
                <a:latin typeface="微软雅黑"/>
                <a:ea typeface="微软雅黑"/>
                <a:cs typeface="微软雅黑"/>
              </a:defRPr>
            </a:pPr>
            <a:r>
              <a:rPr sz="825" b="1">
                <a:solidFill>
                  <a:srgbClr val="F5C33B"/>
                </a:solidFill>
                <a:latin typeface="微软雅黑"/>
                <a:ea typeface="微软雅黑"/>
                <a:cs typeface="微软雅黑"/>
              </a:rPr>
              <a:t>本次示范 8 万元 / 年</a:t>
            </a:r>
          </a:p>
        </p:txBody>
      </p:sp>
      <p:sp>
        <p:nvSpPr>
          <p:cNvPr id="48" name="">
            <a:extLst xmlns:a="http://schemas.openxmlformats.org/drawingml/2006/main">
              <a:ext uri="{FF2B5EF4-FFF2-40B4-BE49-F238E27FC236}">
                <a16:creationId xmlns:a16="http://schemas.microsoft.com/office/drawing/2014/main" id="{2D456EC6-012B-42B6-A7C2-BD75FB777F28}"/>
              </a:ext>
            </a:extLst>
          </p:cNvPr>
          <p:cNvSpPr>
            <a:spLocks xmlns:a="http://schemas.openxmlformats.org/drawingml/2006/main" noGrp="1"/>
          </p:cNvSpPr>
          <p:nvPr/>
        </p:nvSpPr>
        <p:spPr>
          <a:xfrm xmlns:a="http://schemas.openxmlformats.org/drawingml/2006/main">
            <a:off x="6229350" y="3409950"/>
            <a:ext cx="5676900" cy="628650"/>
          </a:xfrm>
          <a:prstGeom xmlns:a="http://schemas.openxmlformats.org/drawingml/2006/main" prst="roundRect">
            <a:avLst>
              <a:gd name="adj" fmla="val 12121"/>
            </a:avLst>
          </a:prstGeom>
          <a:solidFill xmlns:a="http://schemas.openxmlformats.org/drawingml/2006/main">
            <a:srgbClr val="0D2748"/>
          </a:solidFill>
          <a:ln xmlns:a="http://schemas.openxmlformats.org/drawingml/2006/main" w="9525">
            <a:solidFill>
              <a:srgbClr val="1B4C8A"/>
            </a:solidFill>
            <a:prstDash val="solid"/>
          </a:ln>
        </p:spPr>
      </p:sp>
      <p:sp>
        <p:nvSpPr>
          <p:cNvPr id="49" name="">
            <a:extLst xmlns:a="http://schemas.openxmlformats.org/drawingml/2006/main">
              <a:ext uri="{FF2B5EF4-FFF2-40B4-BE49-F238E27FC236}">
                <a16:creationId xmlns:a16="http://schemas.microsoft.com/office/drawing/2014/main" id="{AE7668B4-91B2-407A-A521-3A9E69078EF6}"/>
              </a:ext>
            </a:extLst>
          </p:cNvPr>
          <p:cNvSpPr>
            <a:spLocks xmlns:a="http://schemas.openxmlformats.org/drawingml/2006/main" noGrp="1"/>
          </p:cNvSpPr>
          <p:nvPr/>
        </p:nvSpPr>
        <p:spPr>
          <a:xfrm xmlns:a="http://schemas.openxmlformats.org/drawingml/2006/main">
            <a:off x="6229350" y="3409950"/>
            <a:ext cx="38100" cy="628650"/>
          </a:xfrm>
          <a:prstGeom xmlns:a="http://schemas.openxmlformats.org/drawingml/2006/main" prst="rect">
            <a:avLst/>
          </a:prstGeom>
          <a:solidFill xmlns:a="http://schemas.openxmlformats.org/drawingml/2006/main">
            <a:srgbClr val="31C7F0"/>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159182A5-7DEE-4853-94D9-43717B5EB601}"/>
              </a:ext>
            </a:extLst>
          </p:cNvPr>
          <p:cNvSpPr>
            <a:spLocks xmlns:a="http://schemas.openxmlformats.org/drawingml/2006/main" noGrp="1"/>
          </p:cNvSpPr>
          <p:nvPr/>
        </p:nvSpPr>
        <p:spPr>
          <a:xfrm xmlns:a="http://schemas.openxmlformats.org/drawingml/2006/main">
            <a:off x="6400800" y="34861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停机带教工时</a:t>
            </a:r>
          </a:p>
        </p:txBody>
      </p:sp>
      <p:sp>
        <p:nvSpPr>
          <p:cNvPr id="51" name="">
            <a:extLst xmlns:a="http://schemas.openxmlformats.org/drawingml/2006/main">
              <a:ext uri="{FF2B5EF4-FFF2-40B4-BE49-F238E27FC236}">
                <a16:creationId xmlns:a16="http://schemas.microsoft.com/office/drawing/2014/main" id="{DF237488-67DC-47FF-9A3A-ACE26C7E53B6}"/>
              </a:ext>
            </a:extLst>
          </p:cNvPr>
          <p:cNvSpPr>
            <a:spLocks xmlns:a="http://schemas.openxmlformats.org/drawingml/2006/main" noGrp="1"/>
          </p:cNvSpPr>
          <p:nvPr/>
        </p:nvSpPr>
        <p:spPr>
          <a:xfrm xmlns:a="http://schemas.openxmlformats.org/drawingml/2006/main">
            <a:off x="6400800" y="371475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按「带教人数 × 年带教工时 × 客户人均工时成本」计算</a:t>
            </a:r>
          </a:p>
        </p:txBody>
      </p:sp>
      <p:sp>
        <p:nvSpPr>
          <p:cNvPr id="52" name="">
            <a:extLst xmlns:a="http://schemas.openxmlformats.org/drawingml/2006/main">
              <a:ext uri="{FF2B5EF4-FFF2-40B4-BE49-F238E27FC236}">
                <a16:creationId xmlns:a16="http://schemas.microsoft.com/office/drawing/2014/main" id="{68F88ECF-90DF-49A9-8C27-B80C4E5852F7}"/>
              </a:ext>
            </a:extLst>
          </p:cNvPr>
          <p:cNvSpPr>
            <a:spLocks xmlns:a="http://schemas.openxmlformats.org/drawingml/2006/main" noGrp="1"/>
          </p:cNvSpPr>
          <p:nvPr/>
        </p:nvSpPr>
        <p:spPr>
          <a:xfrm xmlns:a="http://schemas.openxmlformats.org/drawingml/2006/main">
            <a:off x="10001250" y="36004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825" b="1">
                <a:solidFill>
                  <a:srgbClr val="F5C33B"/>
                </a:solidFill>
                <a:latin typeface="微软雅黑"/>
                <a:ea typeface="微软雅黑"/>
                <a:cs typeface="微软雅黑"/>
              </a:defRPr>
            </a:pPr>
            <a:r>
              <a:rPr sz="825" b="1">
                <a:solidFill>
                  <a:srgbClr val="F5C33B"/>
                </a:solidFill>
                <a:latin typeface="微软雅黑"/>
                <a:ea typeface="微软雅黑"/>
                <a:cs typeface="微软雅黑"/>
              </a:rPr>
              <a:t>参数待客户代入</a:t>
            </a:r>
          </a:p>
        </p:txBody>
      </p:sp>
      <p:sp>
        <p:nvSpPr>
          <p:cNvPr id="53" name="">
            <a:extLst xmlns:a="http://schemas.openxmlformats.org/drawingml/2006/main">
              <a:ext uri="{FF2B5EF4-FFF2-40B4-BE49-F238E27FC236}">
                <a16:creationId xmlns:a16="http://schemas.microsoft.com/office/drawing/2014/main" id="{37C6FB81-BFFF-4D6B-9692-8F21F108EEA9}"/>
              </a:ext>
            </a:extLst>
          </p:cNvPr>
          <p:cNvSpPr>
            <a:spLocks xmlns:a="http://schemas.openxmlformats.org/drawingml/2006/main" noGrp="1"/>
          </p:cNvSpPr>
          <p:nvPr/>
        </p:nvSpPr>
        <p:spPr>
          <a:xfrm xmlns:a="http://schemas.openxmlformats.org/drawingml/2006/main">
            <a:off x="6229350" y="4114800"/>
            <a:ext cx="5676900" cy="628650"/>
          </a:xfrm>
          <a:prstGeom xmlns:a="http://schemas.openxmlformats.org/drawingml/2006/main" prst="roundRect">
            <a:avLst>
              <a:gd name="adj" fmla="val 12121"/>
            </a:avLst>
          </a:prstGeom>
          <a:solidFill xmlns:a="http://schemas.openxmlformats.org/drawingml/2006/main">
            <a:srgbClr val="0D2748"/>
          </a:solidFill>
          <a:ln xmlns:a="http://schemas.openxmlformats.org/drawingml/2006/main" w="9525">
            <a:solidFill>
              <a:srgbClr val="1B4C8A"/>
            </a:solidFill>
            <a:prstDash val="solid"/>
          </a:ln>
        </p:spPr>
      </p:sp>
      <p:sp>
        <p:nvSpPr>
          <p:cNvPr id="54" name="">
            <a:extLst xmlns:a="http://schemas.openxmlformats.org/drawingml/2006/main">
              <a:ext uri="{FF2B5EF4-FFF2-40B4-BE49-F238E27FC236}">
                <a16:creationId xmlns:a16="http://schemas.microsoft.com/office/drawing/2014/main" id="{4BACA70A-227E-4184-85D5-E8ECE4EFB11D}"/>
              </a:ext>
            </a:extLst>
          </p:cNvPr>
          <p:cNvSpPr>
            <a:spLocks xmlns:a="http://schemas.openxmlformats.org/drawingml/2006/main" noGrp="1"/>
          </p:cNvSpPr>
          <p:nvPr/>
        </p:nvSpPr>
        <p:spPr>
          <a:xfrm xmlns:a="http://schemas.openxmlformats.org/drawingml/2006/main">
            <a:off x="6229350" y="4114800"/>
            <a:ext cx="38100" cy="628650"/>
          </a:xfrm>
          <a:prstGeom xmlns:a="http://schemas.openxmlformats.org/drawingml/2006/main" prst="rect">
            <a:avLst/>
          </a:prstGeom>
          <a:solidFill xmlns:a="http://schemas.openxmlformats.org/drawingml/2006/main">
            <a:srgbClr val="31C7F0"/>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74D6EA65-A357-4E34-B58B-A7CD44A53A32}"/>
              </a:ext>
            </a:extLst>
          </p:cNvPr>
          <p:cNvSpPr>
            <a:spLocks xmlns:a="http://schemas.openxmlformats.org/drawingml/2006/main" noGrp="1"/>
          </p:cNvSpPr>
          <p:nvPr/>
        </p:nvSpPr>
        <p:spPr>
          <a:xfrm xmlns:a="http://schemas.openxmlformats.org/drawingml/2006/main">
            <a:off x="6400800" y="41910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重复培训工时</a:t>
            </a:r>
          </a:p>
        </p:txBody>
      </p:sp>
      <p:sp>
        <p:nvSpPr>
          <p:cNvPr id="56" name="">
            <a:extLst xmlns:a="http://schemas.openxmlformats.org/drawingml/2006/main">
              <a:ext uri="{FF2B5EF4-FFF2-40B4-BE49-F238E27FC236}">
                <a16:creationId xmlns:a16="http://schemas.microsoft.com/office/drawing/2014/main" id="{B78AADE8-1376-43C9-BBAD-E568456E9939}"/>
              </a:ext>
            </a:extLst>
          </p:cNvPr>
          <p:cNvSpPr>
            <a:spLocks xmlns:a="http://schemas.openxmlformats.org/drawingml/2006/main" noGrp="1"/>
          </p:cNvSpPr>
          <p:nvPr/>
        </p:nvSpPr>
        <p:spPr>
          <a:xfrm xmlns:a="http://schemas.openxmlformats.org/drawingml/2006/main">
            <a:off x="6400800" y="44196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按「重复培训人数 × 课时 × 人均工时成本」计算</a:t>
            </a:r>
          </a:p>
        </p:txBody>
      </p:sp>
      <p:sp>
        <p:nvSpPr>
          <p:cNvPr id="57" name="">
            <a:extLst xmlns:a="http://schemas.openxmlformats.org/drawingml/2006/main">
              <a:ext uri="{FF2B5EF4-FFF2-40B4-BE49-F238E27FC236}">
                <a16:creationId xmlns:a16="http://schemas.microsoft.com/office/drawing/2014/main" id="{6DF0AF38-9434-4D54-8433-CF7CB1E11757}"/>
              </a:ext>
            </a:extLst>
          </p:cNvPr>
          <p:cNvSpPr>
            <a:spLocks xmlns:a="http://schemas.openxmlformats.org/drawingml/2006/main" noGrp="1"/>
          </p:cNvSpPr>
          <p:nvPr/>
        </p:nvSpPr>
        <p:spPr>
          <a:xfrm xmlns:a="http://schemas.openxmlformats.org/drawingml/2006/main">
            <a:off x="10001250" y="430530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825" b="1">
                <a:solidFill>
                  <a:srgbClr val="F5C33B"/>
                </a:solidFill>
                <a:latin typeface="微软雅黑"/>
                <a:ea typeface="微软雅黑"/>
                <a:cs typeface="微软雅黑"/>
              </a:defRPr>
            </a:pPr>
            <a:r>
              <a:rPr sz="825" b="1">
                <a:solidFill>
                  <a:srgbClr val="F5C33B"/>
                </a:solidFill>
                <a:latin typeface="微软雅黑"/>
                <a:ea typeface="微软雅黑"/>
                <a:cs typeface="微软雅黑"/>
              </a:rPr>
              <a:t>参数待客户代入</a:t>
            </a:r>
          </a:p>
        </p:txBody>
      </p:sp>
      <p:sp>
        <p:nvSpPr>
          <p:cNvPr id="58" name="">
            <a:extLst xmlns:a="http://schemas.openxmlformats.org/drawingml/2006/main">
              <a:ext uri="{FF2B5EF4-FFF2-40B4-BE49-F238E27FC236}">
                <a16:creationId xmlns:a16="http://schemas.microsoft.com/office/drawing/2014/main" id="{BAAB8DFF-A919-45AF-A604-B02FBE717565}"/>
              </a:ext>
            </a:extLst>
          </p:cNvPr>
          <p:cNvSpPr>
            <a:spLocks xmlns:a="http://schemas.openxmlformats.org/drawingml/2006/main" noGrp="1"/>
          </p:cNvSpPr>
          <p:nvPr/>
        </p:nvSpPr>
        <p:spPr>
          <a:xfrm xmlns:a="http://schemas.openxmlformats.org/drawingml/2006/main">
            <a:off x="6229350" y="4819650"/>
            <a:ext cx="5676900" cy="628650"/>
          </a:xfrm>
          <a:prstGeom xmlns:a="http://schemas.openxmlformats.org/drawingml/2006/main" prst="roundRect">
            <a:avLst>
              <a:gd name="adj" fmla="val 12121"/>
            </a:avLst>
          </a:prstGeom>
          <a:solidFill xmlns:a="http://schemas.openxmlformats.org/drawingml/2006/main">
            <a:srgbClr val="0D2748"/>
          </a:solidFill>
          <a:ln xmlns:a="http://schemas.openxmlformats.org/drawingml/2006/main" w="9525">
            <a:solidFill>
              <a:srgbClr val="1B4C8A"/>
            </a:solidFill>
            <a:prstDash val="solid"/>
          </a:ln>
        </p:spPr>
      </p:sp>
      <p:sp>
        <p:nvSpPr>
          <p:cNvPr id="59" name="">
            <a:extLst xmlns:a="http://schemas.openxmlformats.org/drawingml/2006/main">
              <a:ext uri="{FF2B5EF4-FFF2-40B4-BE49-F238E27FC236}">
                <a16:creationId xmlns:a16="http://schemas.microsoft.com/office/drawing/2014/main" id="{8FCD028F-C54C-4811-874E-1BFDE4A39807}"/>
              </a:ext>
            </a:extLst>
          </p:cNvPr>
          <p:cNvSpPr>
            <a:spLocks xmlns:a="http://schemas.openxmlformats.org/drawingml/2006/main" noGrp="1"/>
          </p:cNvSpPr>
          <p:nvPr/>
        </p:nvSpPr>
        <p:spPr>
          <a:xfrm xmlns:a="http://schemas.openxmlformats.org/drawingml/2006/main">
            <a:off x="6229350" y="4819650"/>
            <a:ext cx="38100" cy="628650"/>
          </a:xfrm>
          <a:prstGeom xmlns:a="http://schemas.openxmlformats.org/drawingml/2006/main" prst="rect">
            <a:avLst/>
          </a:prstGeom>
          <a:solidFill xmlns:a="http://schemas.openxmlformats.org/drawingml/2006/main">
            <a:srgbClr val="31C7F0"/>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80D49E06-E9FA-45B5-8A39-A6A775AEA20A}"/>
              </a:ext>
            </a:extLst>
          </p:cNvPr>
          <p:cNvSpPr>
            <a:spLocks xmlns:a="http://schemas.openxmlformats.org/drawingml/2006/main" noGrp="1"/>
          </p:cNvSpPr>
          <p:nvPr/>
        </p:nvSpPr>
        <p:spPr>
          <a:xfrm xmlns:a="http://schemas.openxmlformats.org/drawingml/2006/main">
            <a:off x="6400800" y="4895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31C7F0"/>
                </a:solidFill>
                <a:latin typeface="微软雅黑"/>
                <a:ea typeface="微软雅黑"/>
                <a:cs typeface="微软雅黑"/>
              </a:defRPr>
            </a:pPr>
            <a:r>
              <a:rPr sz="938" b="1">
                <a:solidFill>
                  <a:srgbClr val="31C7F0"/>
                </a:solidFill>
                <a:latin typeface="微软雅黑"/>
                <a:ea typeface="微软雅黑"/>
                <a:cs typeface="微软雅黑"/>
              </a:rPr>
              <a:t>台账与取证人工</a:t>
            </a:r>
          </a:p>
        </p:txBody>
      </p:sp>
      <p:sp>
        <p:nvSpPr>
          <p:cNvPr id="61" name="">
            <a:extLst xmlns:a="http://schemas.openxmlformats.org/drawingml/2006/main">
              <a:ext uri="{FF2B5EF4-FFF2-40B4-BE49-F238E27FC236}">
                <a16:creationId xmlns:a16="http://schemas.microsoft.com/office/drawing/2014/main" id="{2F0197C5-E28F-41F6-A1AD-A963B4D3E666}"/>
              </a:ext>
            </a:extLst>
          </p:cNvPr>
          <p:cNvSpPr>
            <a:spLocks xmlns:a="http://schemas.openxmlformats.org/drawingml/2006/main" noGrp="1"/>
          </p:cNvSpPr>
          <p:nvPr/>
        </p:nvSpPr>
        <p:spPr>
          <a:xfrm xmlns:a="http://schemas.openxmlformats.org/drawingml/2006/main">
            <a:off x="6400800" y="512445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按「专人月均天数 × 12 × 日均人工成本」计算</a:t>
            </a:r>
          </a:p>
        </p:txBody>
      </p:sp>
      <p:sp>
        <p:nvSpPr>
          <p:cNvPr id="62" name="">
            <a:extLst xmlns:a="http://schemas.openxmlformats.org/drawingml/2006/main">
              <a:ext uri="{FF2B5EF4-FFF2-40B4-BE49-F238E27FC236}">
                <a16:creationId xmlns:a16="http://schemas.microsoft.com/office/drawing/2014/main" id="{9E070605-F138-4E28-9116-9B783A3DE09B}"/>
              </a:ext>
            </a:extLst>
          </p:cNvPr>
          <p:cNvSpPr>
            <a:spLocks xmlns:a="http://schemas.openxmlformats.org/drawingml/2006/main" noGrp="1"/>
          </p:cNvSpPr>
          <p:nvPr/>
        </p:nvSpPr>
        <p:spPr>
          <a:xfrm xmlns:a="http://schemas.openxmlformats.org/drawingml/2006/main">
            <a:off x="10001250" y="50101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825" b="1">
                <a:solidFill>
                  <a:srgbClr val="F5C33B"/>
                </a:solidFill>
                <a:latin typeface="微软雅黑"/>
                <a:ea typeface="微软雅黑"/>
                <a:cs typeface="微软雅黑"/>
              </a:defRPr>
            </a:pPr>
            <a:r>
              <a:rPr sz="825" b="1">
                <a:solidFill>
                  <a:srgbClr val="F5C33B"/>
                </a:solidFill>
                <a:latin typeface="微软雅黑"/>
                <a:ea typeface="微软雅黑"/>
                <a:cs typeface="微软雅黑"/>
              </a:rPr>
              <a:t>参数待客户代入</a:t>
            </a:r>
          </a:p>
        </p:txBody>
      </p:sp>
      <p:sp>
        <p:nvSpPr>
          <p:cNvPr id="63" name="">
            <a:extLst xmlns:a="http://schemas.openxmlformats.org/drawingml/2006/main">
              <a:ext uri="{FF2B5EF4-FFF2-40B4-BE49-F238E27FC236}">
                <a16:creationId xmlns:a16="http://schemas.microsoft.com/office/drawing/2014/main" id="{3CC0BB3B-F407-4D70-8CAB-48E44C3F8C0E}"/>
              </a:ext>
            </a:extLst>
          </p:cNvPr>
          <p:cNvSpPr>
            <a:spLocks xmlns:a="http://schemas.openxmlformats.org/drawingml/2006/main" noGrp="1"/>
          </p:cNvSpPr>
          <p:nvPr/>
        </p:nvSpPr>
        <p:spPr>
          <a:xfrm xmlns:a="http://schemas.openxmlformats.org/drawingml/2006/main">
            <a:off x="6229350" y="5524500"/>
            <a:ext cx="5676900" cy="628650"/>
          </a:xfrm>
          <a:prstGeom xmlns:a="http://schemas.openxmlformats.org/drawingml/2006/main" prst="roundRect">
            <a:avLst>
              <a:gd name="adj" fmla="val 12121"/>
            </a:avLst>
          </a:prstGeom>
          <a:solidFill xmlns:a="http://schemas.openxmlformats.org/drawingml/2006/main">
            <a:srgbClr val="0D2748"/>
          </a:solidFill>
          <a:ln xmlns:a="http://schemas.openxmlformats.org/drawingml/2006/main" w="9525">
            <a:solidFill>
              <a:srgbClr val="1B4C8A"/>
            </a:solidFill>
            <a:prstDash val="solid"/>
          </a:ln>
        </p:spPr>
      </p:sp>
      <p:sp>
        <p:nvSpPr>
          <p:cNvPr id="64" name="">
            <a:extLst xmlns:a="http://schemas.openxmlformats.org/drawingml/2006/main">
              <a:ext uri="{FF2B5EF4-FFF2-40B4-BE49-F238E27FC236}">
                <a16:creationId xmlns:a16="http://schemas.microsoft.com/office/drawing/2014/main" id="{2F04A5AB-9E27-4096-9894-5E3E6B7998EB}"/>
              </a:ext>
            </a:extLst>
          </p:cNvPr>
          <p:cNvSpPr>
            <a:spLocks xmlns:a="http://schemas.openxmlformats.org/drawingml/2006/main" noGrp="1"/>
          </p:cNvSpPr>
          <p:nvPr/>
        </p:nvSpPr>
        <p:spPr>
          <a:xfrm xmlns:a="http://schemas.openxmlformats.org/drawingml/2006/main">
            <a:off x="6229350" y="5524500"/>
            <a:ext cx="38100" cy="628650"/>
          </a:xfrm>
          <a:prstGeom xmlns:a="http://schemas.openxmlformats.org/drawingml/2006/main" prst="rect">
            <a:avLst/>
          </a:prstGeom>
          <a:solidFill xmlns:a="http://schemas.openxmlformats.org/drawingml/2006/main">
            <a:srgbClr val="F2705E"/>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C54A1FFD-BFC0-45BA-B26D-B92B9CD842CC}"/>
              </a:ext>
            </a:extLst>
          </p:cNvPr>
          <p:cNvSpPr>
            <a:spLocks xmlns:a="http://schemas.openxmlformats.org/drawingml/2006/main" noGrp="1"/>
          </p:cNvSpPr>
          <p:nvPr/>
        </p:nvSpPr>
        <p:spPr>
          <a:xfrm xmlns:a="http://schemas.openxmlformats.org/drawingml/2006/main">
            <a:off x="6400800" y="5600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1">
                <a:solidFill>
                  <a:srgbClr val="F2705E"/>
                </a:solidFill>
                <a:latin typeface="微软雅黑"/>
                <a:ea typeface="微软雅黑"/>
                <a:cs typeface="微软雅黑"/>
              </a:defRPr>
            </a:pPr>
            <a:r>
              <a:rPr sz="938" b="1">
                <a:solidFill>
                  <a:srgbClr val="F2705E"/>
                </a:solidFill>
                <a:latin typeface="微软雅黑"/>
                <a:ea typeface="微软雅黑"/>
                <a:cs typeface="微软雅黑"/>
              </a:rPr>
              <a:t>事故与漏检风险</a:t>
            </a:r>
          </a:p>
        </p:txBody>
      </p:sp>
      <p:sp>
        <p:nvSpPr>
          <p:cNvPr id="66" name="">
            <a:extLst xmlns:a="http://schemas.openxmlformats.org/drawingml/2006/main">
              <a:ext uri="{FF2B5EF4-FFF2-40B4-BE49-F238E27FC236}">
                <a16:creationId xmlns:a16="http://schemas.microsoft.com/office/drawing/2014/main" id="{05F71B5D-9D3B-4F38-9B38-917858572802}"/>
              </a:ext>
            </a:extLst>
          </p:cNvPr>
          <p:cNvSpPr>
            <a:spLocks xmlns:a="http://schemas.openxmlformats.org/drawingml/2006/main" noGrp="1"/>
          </p:cNvSpPr>
          <p:nvPr/>
        </p:nvSpPr>
        <p:spPr>
          <a:xfrm xmlns:a="http://schemas.openxmlformats.org/drawingml/2006/main">
            <a:off x="6400800" y="58293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D6E6F7"/>
                </a:solidFill>
                <a:latin typeface="微软雅黑"/>
                <a:ea typeface="微软雅黑"/>
                <a:cs typeface="微软雅黑"/>
              </a:defRPr>
            </a:pPr>
            <a:r>
              <a:rPr sz="788" b="0">
                <a:solidFill>
                  <a:srgbClr val="D6E6F7"/>
                </a:solidFill>
                <a:latin typeface="微软雅黑"/>
                <a:ea typeface="微软雅黑"/>
                <a:cs typeface="微软雅黑"/>
              </a:rPr>
              <a:t>按行业风险成本口径估算，属机会成本</a:t>
            </a:r>
          </a:p>
        </p:txBody>
      </p:sp>
      <p:sp>
        <p:nvSpPr>
          <p:cNvPr id="67" name="">
            <a:extLst xmlns:a="http://schemas.openxmlformats.org/drawingml/2006/main">
              <a:ext uri="{FF2B5EF4-FFF2-40B4-BE49-F238E27FC236}">
                <a16:creationId xmlns:a16="http://schemas.microsoft.com/office/drawing/2014/main" id="{331BE7CA-9574-4CAC-9EC9-6B4649ECEC90}"/>
              </a:ext>
            </a:extLst>
          </p:cNvPr>
          <p:cNvSpPr>
            <a:spLocks xmlns:a="http://schemas.openxmlformats.org/drawingml/2006/main" noGrp="1"/>
          </p:cNvSpPr>
          <p:nvPr/>
        </p:nvSpPr>
        <p:spPr>
          <a:xfrm xmlns:a="http://schemas.openxmlformats.org/drawingml/2006/main">
            <a:off x="10001250" y="571500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825" b="1">
                <a:solidFill>
                  <a:srgbClr val="F5C33B"/>
                </a:solidFill>
                <a:latin typeface="微软雅黑"/>
                <a:ea typeface="微软雅黑"/>
                <a:cs typeface="微软雅黑"/>
              </a:defRPr>
            </a:pPr>
            <a:r>
              <a:rPr sz="825" b="1">
                <a:solidFill>
                  <a:srgbClr val="F5C33B"/>
                </a:solidFill>
                <a:latin typeface="微软雅黑"/>
                <a:ea typeface="微软雅黑"/>
                <a:cs typeface="微软雅黑"/>
              </a:rPr>
              <a:t>不计入回收期，单独提示</a:t>
            </a:r>
          </a:p>
        </p:txBody>
      </p:sp>
      <p:sp>
        <p:nvSpPr>
          <p:cNvPr id="68" name="">
            <a:extLst xmlns:a="http://schemas.openxmlformats.org/drawingml/2006/main">
              <a:ext uri="{FF2B5EF4-FFF2-40B4-BE49-F238E27FC236}">
                <a16:creationId xmlns:a16="http://schemas.microsoft.com/office/drawing/2014/main" id="{52500A6A-F03E-4763-93C0-D77E9F5B1222}"/>
              </a:ext>
            </a:extLst>
          </p:cNvPr>
          <p:cNvSpPr>
            <a:spLocks xmlns:a="http://schemas.openxmlformats.org/drawingml/2006/main" noGrp="1"/>
          </p:cNvSpPr>
          <p:nvPr/>
        </p:nvSpPr>
        <p:spPr>
          <a:xfrm xmlns:a="http://schemas.openxmlformats.org/drawingml/2006/main">
            <a:off x="6229350" y="6248400"/>
            <a:ext cx="5676900" cy="0"/>
          </a:xfrm>
          <a:prstGeom xmlns:a="http://schemas.openxmlformats.org/drawingml/2006/main" prst="roundRect">
            <a:avLst/>
          </a:prstGeom>
          <a:noFill xmlns:a="http://schemas.openxmlformats.org/drawingml/2006/main"/>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2EFFA1C9-7FD0-47F2-9693-6CB172086EF0}"/>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DBBF720E-4054-4CEC-8965-E0778DE4DCE4}"/>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71" name="">
            <a:extLst xmlns:a="http://schemas.openxmlformats.org/drawingml/2006/main">
              <a:ext uri="{FF2B5EF4-FFF2-40B4-BE49-F238E27FC236}">
                <a16:creationId xmlns:a16="http://schemas.microsoft.com/office/drawing/2014/main" id="{2D038F38-FAF3-4747-892E-4D4AEACBD91B}"/>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35</a:t>
            </a:r>
          </a:p>
        </p:txBody>
      </p:sp>
    </p:spTree>
    <p:extLst>
      <p:ext uri="{BB962C8B-B14F-4D97-AF65-F5344CB8AC3E}">
        <p14:creationId xmlns:p14="http://schemas.microsoft.com/office/powerpoint/2010/main" val="1680469483"/>
      </p:ext>
    </p:extLst>
  </p:cSld>
</p:sld>
</file>

<file path=ppt/slides/slide36.xml><?xml version="1.0" encoding="utf-8"?>
<p:sld xmlns:p="http://schemas.openxmlformats.org/presentationml/2006/main">
  <p:cSld>
    <p:bg>
      <p:bgPr>
        <a:gradFill xmlns:a="http://schemas.openxmlformats.org/drawingml/2006/main">
          <a:gsLst>
            <a:gs pos="0">
              <a:srgbClr val="0B2A52"/>
            </a:gs>
            <a:gs pos="100000">
              <a:srgbClr val="06152C"/>
            </a:gs>
          </a:gsLst>
          <a:lin ang="8100000"/>
        </a:gra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DE0A0D8D-6B12-4C4D-8CFB-D123CC695A0B}"/>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6651C55-D3A3-46F1-A59C-D2DAF9C4D5DC}"/>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8775B2A-7D6E-4315-8AF9-DB9E3E490A31}"/>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414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43F7BAE-2815-4B39-90F0-3DA3D4B84363}"/>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9CAC7D5-D8A6-454C-AC6C-32AC369F24E7}"/>
              </a:ext>
            </a:extLst>
          </p:cNvPr>
          <p:cNvSpPr>
            <a:spLocks xmlns:a="http://schemas.openxmlformats.org/drawingml/2006/main" noGrp="1"/>
          </p:cNvSpPr>
          <p:nvPr/>
        </p:nvSpPr>
        <p:spPr>
          <a:xfrm xmlns:a="http://schemas.openxmlformats.org/drawingml/2006/main">
            <a:off x="228600" y="123825"/>
            <a:ext cx="514350" cy="361950"/>
          </a:xfrm>
          <a:prstGeom xmlns:a="http://schemas.openxmlformats.org/drawingml/2006/main" prst="roundRect">
            <a:avLst>
              <a:gd name="adj" fmla="val 15789"/>
            </a:avLst>
          </a:prstGeom>
          <a:solidFill xmlns:a="http://schemas.openxmlformats.org/drawingml/2006/main">
            <a:srgbClr val="2E86E8"/>
          </a:solidFill>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B2F56217-52CD-46F4-8610-1655B6B935A5}"/>
              </a:ext>
            </a:extLst>
          </p:cNvPr>
          <p:cNvSpPr>
            <a:spLocks xmlns:a="http://schemas.openxmlformats.org/drawingml/2006/main" noGrp="1"/>
          </p:cNvSpPr>
          <p:nvPr/>
        </p:nvSpPr>
        <p:spPr>
          <a:xfrm xmlns:a="http://schemas.openxmlformats.org/drawingml/2006/main">
            <a:off x="857250" y="152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成果与价值</a:t>
            </a:r>
          </a:p>
        </p:txBody>
      </p:sp>
      <p:sp>
        <p:nvSpPr>
          <p:cNvPr id="7" name="">
            <a:extLst xmlns:a="http://schemas.openxmlformats.org/drawingml/2006/main">
              <a:ext uri="{FF2B5EF4-FFF2-40B4-BE49-F238E27FC236}">
                <a16:creationId xmlns:a16="http://schemas.microsoft.com/office/drawing/2014/main" id="{494C9806-CE24-4575-88B7-577FFEECA632}"/>
              </a:ext>
            </a:extLst>
          </p:cNvPr>
          <p:cNvSpPr>
            <a:spLocks xmlns:a="http://schemas.openxmlformats.org/drawingml/2006/main" noGrp="1"/>
          </p:cNvSpPr>
          <p:nvPr/>
        </p:nvSpPr>
        <p:spPr>
          <a:xfrm xmlns:a="http://schemas.openxmlformats.org/drawingml/2006/main">
            <a:off x="2457450" y="190500"/>
            <a:ext cx="19050" cy="228600"/>
          </a:xfrm>
          <a:prstGeom xmlns:a="http://schemas.openxmlformats.org/drawingml/2006/main" prst="rect">
            <a:avLst/>
          </a:prstGeom>
          <a:solidFill xmlns:a="http://schemas.openxmlformats.org/drawingml/2006/main">
            <a:srgbClr val="2A6BA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1F29234-4EEF-4946-9233-B5F33F89BBD2}"/>
              </a:ext>
            </a:extLst>
          </p:cNvPr>
          <p:cNvSpPr>
            <a:spLocks xmlns:a="http://schemas.openxmlformats.org/drawingml/2006/main" noGrp="1"/>
          </p:cNvSpPr>
          <p:nvPr/>
        </p:nvSpPr>
        <p:spPr>
          <a:xfrm xmlns:a="http://schemas.openxmlformats.org/drawingml/2006/main">
            <a:off x="2590800" y="171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125" b="0">
                <a:solidFill>
                  <a:srgbClr val="9FC2E8"/>
                </a:solidFill>
                <a:latin typeface="微软雅黑"/>
                <a:ea typeface="微软雅黑"/>
                <a:cs typeface="微软雅黑"/>
              </a:defRPr>
            </a:pPr>
            <a:r>
              <a:rPr sz="1125" b="0">
                <a:solidFill>
                  <a:srgbClr val="9FC2E8"/>
                </a:solidFill>
                <a:latin typeface="微软雅黑"/>
                <a:ea typeface="微软雅黑"/>
                <a:cs typeface="微软雅黑"/>
              </a:rPr>
              <a:t>未来展望：三阶段演进</a:t>
            </a:r>
          </a:p>
        </p:txBody>
      </p:sp>
      <p:sp>
        <p:nvSpPr>
          <p:cNvPr id="9" name="">
            <a:extLst xmlns:a="http://schemas.openxmlformats.org/drawingml/2006/main">
              <a:ext uri="{FF2B5EF4-FFF2-40B4-BE49-F238E27FC236}">
                <a16:creationId xmlns:a16="http://schemas.microsoft.com/office/drawing/2014/main" id="{D729B14B-0E3C-4B34-8DBE-E364B900E098}"/>
              </a:ext>
            </a:extLst>
          </p:cNvPr>
          <p:cNvSpPr>
            <a:spLocks xmlns:a="http://schemas.openxmlformats.org/drawingml/2006/main" noGrp="1"/>
          </p:cNvSpPr>
          <p:nvPr/>
        </p:nvSpPr>
        <p:spPr>
          <a:xfrm xmlns:a="http://schemas.openxmlformats.org/drawingml/2006/main">
            <a:off x="8953500" y="1905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75" b="0">
                <a:solidFill>
                  <a:srgbClr val="9FC2E8"/>
                </a:solidFill>
                <a:latin typeface="微软雅黑"/>
                <a:ea typeface="微软雅黑"/>
                <a:cs typeface="微软雅黑"/>
              </a:defRPr>
            </a:pPr>
            <a:r>
              <a:rPr sz="975" b="0">
                <a:solidFill>
                  <a:srgbClr val="9FC2E8"/>
                </a:solidFill>
                <a:latin typeface="微软雅黑"/>
                <a:ea typeface="微软雅黑"/>
                <a:cs typeface="微软雅黑"/>
              </a:rPr>
              <a:t>广东科技学院 · 逐光造梦</a:t>
            </a:r>
          </a:p>
        </p:txBody>
      </p:sp>
      <p:sp>
        <p:nvSpPr>
          <p:cNvPr id="10" name="">
            <a:extLst xmlns:a="http://schemas.openxmlformats.org/drawingml/2006/main">
              <a:ext uri="{FF2B5EF4-FFF2-40B4-BE49-F238E27FC236}">
                <a16:creationId xmlns:a16="http://schemas.microsoft.com/office/drawing/2014/main" id="{4C504700-047B-4D0C-9AEA-5A028ADFD804}"/>
              </a:ext>
            </a:extLst>
          </p:cNvPr>
          <p:cNvSpPr>
            <a:spLocks xmlns:a="http://schemas.openxmlformats.org/drawingml/2006/main" noGrp="1"/>
          </p:cNvSpPr>
          <p:nvPr/>
        </p:nvSpPr>
        <p:spPr>
          <a:xfrm xmlns:a="http://schemas.openxmlformats.org/drawingml/2006/main">
            <a:off x="228600" y="742950"/>
            <a:ext cx="11734800" cy="438150"/>
          </a:xfrm>
          <a:prstGeom xmlns:a="http://schemas.openxmlformats.org/drawingml/2006/main" prst="roundRect">
            <a:avLst>
              <a:gd name="adj" fmla="val 17391"/>
            </a:avLst>
          </a:prstGeom>
          <a:solidFill xmlns:a="http://schemas.openxmlformats.org/drawingml/2006/main">
            <a:srgbClr val="0C2E56"/>
          </a:solidFill>
          <a:ln xmlns:a="http://schemas.openxmlformats.org/drawingml/2006/main" w="14288">
            <a:solidFill>
              <a:srgbClr val="F5C33B"/>
            </a:solidFill>
            <a:prstDash val="solid"/>
          </a:ln>
        </p:spPr>
        <p:txBody>
          <a:bodyPr xmlns:a="http://schemas.openxmlformats.org/drawingml/2006/main" lIns="171450" rIns="171450" anchor="ctr">
            <a:noAutofit/>
          </a:bodyPr>
          <a:lstStyle xmlns:a="http://schemas.openxmlformats.org/drawingml/2006/main"/>
          <a:p xmlns:a="http://schemas.openxmlformats.org/drawingml/2006/main">
            <a:pPr algn="l">
              <a:defRPr>
                <a:latin typeface="微软雅黑"/>
                <a:ea typeface="微软雅黑"/>
                <a:cs typeface="微软雅黑"/>
              </a:defRPr>
            </a:pPr>
            <a:r>
              <a:rPr sz="1350" b="1">
                <a:solidFill>
                  <a:srgbClr val="F5C33B"/>
                </a:solidFill>
                <a:latin typeface="微软雅黑"/>
                <a:ea typeface="微软雅黑"/>
                <a:cs typeface="微软雅黑"/>
              </a:rPr>
              <a:t>本页结论　</a:t>
            </a:r>
            <a:r>
              <a:rPr sz="1275">
                <a:solidFill>
                  <a:srgbClr val="FFFFFF"/>
                </a:solidFill>
                <a:latin typeface="微软雅黑"/>
                <a:ea typeface="微软雅黑"/>
                <a:cs typeface="微软雅黑"/>
              </a:rPr>
              <a:t>第一阶段把规则底座铺满，第二阶段让模型增强并在接口不变的前提下替换，第三阶段才谈行业训练 Agent。</a:t>
            </a:r>
          </a:p>
        </p:txBody>
      </p:sp>
      <p:sp>
        <p:nvSpPr>
          <p:cNvPr id="11" name="">
            <a:extLst xmlns:a="http://schemas.openxmlformats.org/drawingml/2006/main">
              <a:ext uri="{FF2B5EF4-FFF2-40B4-BE49-F238E27FC236}">
                <a16:creationId xmlns:a16="http://schemas.microsoft.com/office/drawing/2014/main" id="{19EA0BD9-FD31-49C5-A9BF-E1AF30059685}"/>
              </a:ext>
            </a:extLst>
          </p:cNvPr>
          <p:cNvSpPr>
            <a:spLocks xmlns:a="http://schemas.openxmlformats.org/drawingml/2006/main" noGrp="1"/>
          </p:cNvSpPr>
          <p:nvPr/>
        </p:nvSpPr>
        <p:spPr>
          <a:xfrm xmlns:a="http://schemas.openxmlformats.org/drawingml/2006/main">
            <a:off x="285750" y="1333500"/>
            <a:ext cx="3771900" cy="4381500"/>
          </a:xfrm>
          <a:prstGeom xmlns:a="http://schemas.openxmlformats.org/drawingml/2006/main" prst="roundRect">
            <a:avLst>
              <a:gd name="adj" fmla="val 2020"/>
            </a:avLst>
          </a:prstGeom>
          <a:solidFill xmlns:a="http://schemas.openxmlformats.org/drawingml/2006/main">
            <a:srgbClr val="0F3159"/>
          </a:solidFill>
          <a:ln xmlns:a="http://schemas.openxmlformats.org/drawingml/2006/main" w="9525">
            <a:solidFill>
              <a:srgbClr val="3FD08A"/>
            </a:solidFill>
            <a:prstDash val="solid"/>
          </a:ln>
        </p:spPr>
      </p:sp>
      <p:sp>
        <p:nvSpPr>
          <p:cNvPr id="12" name="">
            <a:extLst xmlns:a="http://schemas.openxmlformats.org/drawingml/2006/main">
              <a:ext uri="{FF2B5EF4-FFF2-40B4-BE49-F238E27FC236}">
                <a16:creationId xmlns:a16="http://schemas.microsoft.com/office/drawing/2014/main" id="{3623F10F-7839-4D42-9816-D93A5A280EFD}"/>
              </a:ext>
            </a:extLst>
          </p:cNvPr>
          <p:cNvSpPr>
            <a:spLocks xmlns:a="http://schemas.openxmlformats.org/drawingml/2006/main" noGrp="1"/>
          </p:cNvSpPr>
          <p:nvPr/>
        </p:nvSpPr>
        <p:spPr>
          <a:xfrm xmlns:a="http://schemas.openxmlformats.org/drawingml/2006/main">
            <a:off x="285750" y="1333500"/>
            <a:ext cx="3771900" cy="57150"/>
          </a:xfrm>
          <a:prstGeom xmlns:a="http://schemas.openxmlformats.org/drawingml/2006/main" prst="rect">
            <a:avLst/>
          </a:prstGeom>
          <a:solidFill xmlns:a="http://schemas.openxmlformats.org/drawingml/2006/main">
            <a:srgbClr val="3FD08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EF4BC3D-C769-46FB-950E-D09C436B90B5}"/>
              </a:ext>
            </a:extLst>
          </p:cNvPr>
          <p:cNvSpPr>
            <a:spLocks xmlns:a="http://schemas.openxmlformats.org/drawingml/2006/main" noGrp="1"/>
          </p:cNvSpPr>
          <p:nvPr/>
        </p:nvSpPr>
        <p:spPr>
          <a:xfrm xmlns:a="http://schemas.openxmlformats.org/drawingml/2006/main">
            <a:off x="495300" y="15049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7A9CC4"/>
                </a:solidFill>
                <a:latin typeface="微软雅黑"/>
                <a:ea typeface="微软雅黑"/>
                <a:cs typeface="微软雅黑"/>
              </a:defRPr>
            </a:pPr>
            <a:r>
              <a:rPr sz="975" b="1">
                <a:solidFill>
                  <a:srgbClr val="7A9CC4"/>
                </a:solidFill>
                <a:latin typeface="微软雅黑"/>
                <a:ea typeface="微软雅黑"/>
                <a:cs typeface="微软雅黑"/>
              </a:rPr>
              <a:t>阶段一</a:t>
            </a:r>
          </a:p>
        </p:txBody>
      </p:sp>
      <p:sp>
        <p:nvSpPr>
          <p:cNvPr id="14" name="">
            <a:extLst xmlns:a="http://schemas.openxmlformats.org/drawingml/2006/main">
              <a:ext uri="{FF2B5EF4-FFF2-40B4-BE49-F238E27FC236}">
                <a16:creationId xmlns:a16="http://schemas.microsoft.com/office/drawing/2014/main" id="{F597F3B2-B954-467F-9898-1E168D7830C8}"/>
              </a:ext>
            </a:extLst>
          </p:cNvPr>
          <p:cNvSpPr>
            <a:spLocks xmlns:a="http://schemas.openxmlformats.org/drawingml/2006/main" noGrp="1"/>
          </p:cNvSpPr>
          <p:nvPr/>
        </p:nvSpPr>
        <p:spPr>
          <a:xfrm xmlns:a="http://schemas.openxmlformats.org/drawingml/2006/main">
            <a:off x="495300" y="1809750"/>
            <a:ext cx="3390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规则底座全面落地</a:t>
            </a:r>
          </a:p>
        </p:txBody>
      </p:sp>
      <p:sp>
        <p:nvSpPr>
          <p:cNvPr id="15" name="">
            <a:extLst xmlns:a="http://schemas.openxmlformats.org/drawingml/2006/main">
              <a:ext uri="{FF2B5EF4-FFF2-40B4-BE49-F238E27FC236}">
                <a16:creationId xmlns:a16="http://schemas.microsoft.com/office/drawing/2014/main" id="{F14F134B-6BC1-43DE-B70E-2A8F6730F9F5}"/>
              </a:ext>
            </a:extLst>
          </p:cNvPr>
          <p:cNvSpPr>
            <a:spLocks xmlns:a="http://schemas.openxmlformats.org/drawingml/2006/main" noGrp="1"/>
          </p:cNvSpPr>
          <p:nvPr/>
        </p:nvSpPr>
        <p:spPr>
          <a:xfrm xmlns:a="http://schemas.openxmlformats.org/drawingml/2006/main">
            <a:off x="495300" y="2266950"/>
            <a:ext cx="11430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3FD08A"/>
            </a:solidFill>
            <a:prstDash val="solid"/>
          </a:ln>
        </p:spPr>
      </p:sp>
      <p:sp>
        <p:nvSpPr>
          <p:cNvPr id="16" name="">
            <a:extLst xmlns:a="http://schemas.openxmlformats.org/drawingml/2006/main">
              <a:ext uri="{FF2B5EF4-FFF2-40B4-BE49-F238E27FC236}">
                <a16:creationId xmlns:a16="http://schemas.microsoft.com/office/drawing/2014/main" id="{F4C52799-7A23-491D-9818-D13C430A2F1D}"/>
              </a:ext>
            </a:extLst>
          </p:cNvPr>
          <p:cNvSpPr>
            <a:spLocks xmlns:a="http://schemas.openxmlformats.org/drawingml/2006/main" noGrp="1"/>
          </p:cNvSpPr>
          <p:nvPr/>
        </p:nvSpPr>
        <p:spPr>
          <a:xfrm xmlns:a="http://schemas.openxmlformats.org/drawingml/2006/main">
            <a:off x="495300" y="22669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3FD08A"/>
                </a:solidFill>
                <a:latin typeface="微软雅黑"/>
                <a:ea typeface="微软雅黑"/>
                <a:cs typeface="微软雅黑"/>
              </a:defRPr>
            </a:pPr>
            <a:r>
              <a:rPr sz="900" b="1">
                <a:solidFill>
                  <a:srgbClr val="3FD08A"/>
                </a:solidFill>
                <a:latin typeface="微软雅黑"/>
                <a:ea typeface="微软雅黑"/>
                <a:cs typeface="微软雅黑"/>
              </a:rPr>
              <a:t>现在（已完成主体）</a:t>
            </a:r>
          </a:p>
        </p:txBody>
      </p:sp>
      <p:sp>
        <p:nvSpPr>
          <p:cNvPr id="17" name="">
            <a:extLst xmlns:a="http://schemas.openxmlformats.org/drawingml/2006/main">
              <a:ext uri="{FF2B5EF4-FFF2-40B4-BE49-F238E27FC236}">
                <a16:creationId xmlns:a16="http://schemas.microsoft.com/office/drawing/2014/main" id="{C911395B-F8B1-40E4-BD66-FE95D917EFDC}"/>
              </a:ext>
            </a:extLst>
          </p:cNvPr>
          <p:cNvSpPr>
            <a:spLocks xmlns:a="http://schemas.openxmlformats.org/drawingml/2006/main" noGrp="1"/>
          </p:cNvSpPr>
          <p:nvPr/>
        </p:nvSpPr>
        <p:spPr>
          <a:xfrm xmlns:a="http://schemas.openxmlformats.org/drawingml/2006/main">
            <a:off x="495300" y="2743200"/>
            <a:ext cx="33909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场景全部接入规则引擎，支持规则新增、修改、停用与试算</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三个 Agent 桩接入规则 Service，保留命中依据、置信度与人工确认</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阶段结果：核心业务离线可运行，结论可复算、可追溯</a:t>
            </a:r>
          </a:p>
        </p:txBody>
      </p:sp>
      <p:sp>
        <p:nvSpPr>
          <p:cNvPr id="18" name="">
            <a:extLst xmlns:a="http://schemas.openxmlformats.org/drawingml/2006/main">
              <a:ext uri="{FF2B5EF4-FFF2-40B4-BE49-F238E27FC236}">
                <a16:creationId xmlns:a16="http://schemas.microsoft.com/office/drawing/2014/main" id="{8056835F-9F46-432C-8DBF-E087B5CC81FB}"/>
              </a:ext>
            </a:extLst>
          </p:cNvPr>
          <p:cNvSpPr>
            <a:spLocks xmlns:a="http://schemas.openxmlformats.org/drawingml/2006/main" noGrp="1"/>
          </p:cNvSpPr>
          <p:nvPr/>
        </p:nvSpPr>
        <p:spPr>
          <a:xfrm xmlns:a="http://schemas.openxmlformats.org/drawingml/2006/main">
            <a:off x="4229100" y="1333500"/>
            <a:ext cx="3771900" cy="4381500"/>
          </a:xfrm>
          <a:prstGeom xmlns:a="http://schemas.openxmlformats.org/drawingml/2006/main" prst="roundRect">
            <a:avLst>
              <a:gd name="adj" fmla="val 2020"/>
            </a:avLst>
          </a:prstGeom>
          <a:solidFill xmlns:a="http://schemas.openxmlformats.org/drawingml/2006/main">
            <a:srgbClr val="0D2748"/>
          </a:solidFill>
          <a:ln xmlns:a="http://schemas.openxmlformats.org/drawingml/2006/main" w="9525">
            <a:solidFill>
              <a:srgbClr val="1B4C8A"/>
            </a:solidFill>
            <a:prstDash val="solid"/>
          </a:ln>
        </p:spPr>
      </p:sp>
      <p:sp>
        <p:nvSpPr>
          <p:cNvPr id="19" name="">
            <a:extLst xmlns:a="http://schemas.openxmlformats.org/drawingml/2006/main">
              <a:ext uri="{FF2B5EF4-FFF2-40B4-BE49-F238E27FC236}">
                <a16:creationId xmlns:a16="http://schemas.microsoft.com/office/drawing/2014/main" id="{CF454249-9024-47CF-BE0A-BDAF670693B8}"/>
              </a:ext>
            </a:extLst>
          </p:cNvPr>
          <p:cNvSpPr>
            <a:spLocks xmlns:a="http://schemas.openxmlformats.org/drawingml/2006/main" noGrp="1"/>
          </p:cNvSpPr>
          <p:nvPr/>
        </p:nvSpPr>
        <p:spPr>
          <a:xfrm xmlns:a="http://schemas.openxmlformats.org/drawingml/2006/main">
            <a:off x="4229100" y="1333500"/>
            <a:ext cx="3771900" cy="571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32C1868-A26F-4660-93BF-5FE7E10C25C8}"/>
              </a:ext>
            </a:extLst>
          </p:cNvPr>
          <p:cNvSpPr>
            <a:spLocks xmlns:a="http://schemas.openxmlformats.org/drawingml/2006/main" noGrp="1"/>
          </p:cNvSpPr>
          <p:nvPr/>
        </p:nvSpPr>
        <p:spPr>
          <a:xfrm xmlns:a="http://schemas.openxmlformats.org/drawingml/2006/main">
            <a:off x="4438650" y="15049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7A9CC4"/>
                </a:solidFill>
                <a:latin typeface="微软雅黑"/>
                <a:ea typeface="微软雅黑"/>
                <a:cs typeface="微软雅黑"/>
              </a:defRPr>
            </a:pPr>
            <a:r>
              <a:rPr sz="975" b="1">
                <a:solidFill>
                  <a:srgbClr val="7A9CC4"/>
                </a:solidFill>
                <a:latin typeface="微软雅黑"/>
                <a:ea typeface="微软雅黑"/>
                <a:cs typeface="微软雅黑"/>
              </a:rPr>
              <a:t>阶段二</a:t>
            </a:r>
          </a:p>
        </p:txBody>
      </p:sp>
      <p:sp>
        <p:nvSpPr>
          <p:cNvPr id="21" name="">
            <a:extLst xmlns:a="http://schemas.openxmlformats.org/drawingml/2006/main">
              <a:ext uri="{FF2B5EF4-FFF2-40B4-BE49-F238E27FC236}">
                <a16:creationId xmlns:a16="http://schemas.microsoft.com/office/drawing/2014/main" id="{1DE9A9AF-7A25-471E-BCB9-DABDEF61FB4F}"/>
              </a:ext>
            </a:extLst>
          </p:cNvPr>
          <p:cNvSpPr>
            <a:spLocks xmlns:a="http://schemas.openxmlformats.org/drawingml/2006/main" noGrp="1"/>
          </p:cNvSpPr>
          <p:nvPr/>
        </p:nvSpPr>
        <p:spPr>
          <a:xfrm xmlns:a="http://schemas.openxmlformats.org/drawingml/2006/main">
            <a:off x="4438650" y="1809750"/>
            <a:ext cx="3390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模型增强与数据回流</a:t>
            </a:r>
          </a:p>
        </p:txBody>
      </p:sp>
      <p:sp>
        <p:nvSpPr>
          <p:cNvPr id="22" name="">
            <a:extLst xmlns:a="http://schemas.openxmlformats.org/drawingml/2006/main">
              <a:ext uri="{FF2B5EF4-FFF2-40B4-BE49-F238E27FC236}">
                <a16:creationId xmlns:a16="http://schemas.microsoft.com/office/drawing/2014/main" id="{2E5F556D-8E23-4B2A-8F0F-7516E7350994}"/>
              </a:ext>
            </a:extLst>
          </p:cNvPr>
          <p:cNvSpPr>
            <a:spLocks xmlns:a="http://schemas.openxmlformats.org/drawingml/2006/main" noGrp="1"/>
          </p:cNvSpPr>
          <p:nvPr/>
        </p:nvSpPr>
        <p:spPr>
          <a:xfrm xmlns:a="http://schemas.openxmlformats.org/drawingml/2006/main">
            <a:off x="4438650" y="2266950"/>
            <a:ext cx="11430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F5C33B"/>
            </a:solidFill>
            <a:prstDash val="solid"/>
          </a:ln>
        </p:spPr>
      </p:sp>
      <p:sp>
        <p:nvSpPr>
          <p:cNvPr id="23" name="">
            <a:extLst xmlns:a="http://schemas.openxmlformats.org/drawingml/2006/main">
              <a:ext uri="{FF2B5EF4-FFF2-40B4-BE49-F238E27FC236}">
                <a16:creationId xmlns:a16="http://schemas.microsoft.com/office/drawing/2014/main" id="{FD134D4E-B501-4D22-8AB6-0E92F1534DFB}"/>
              </a:ext>
            </a:extLst>
          </p:cNvPr>
          <p:cNvSpPr>
            <a:spLocks xmlns:a="http://schemas.openxmlformats.org/drawingml/2006/main" noGrp="1"/>
          </p:cNvSpPr>
          <p:nvPr/>
        </p:nvSpPr>
        <p:spPr>
          <a:xfrm xmlns:a="http://schemas.openxmlformats.org/drawingml/2006/main">
            <a:off x="4438650" y="22669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F5C33B"/>
                </a:solidFill>
                <a:latin typeface="微软雅黑"/>
                <a:ea typeface="微软雅黑"/>
                <a:cs typeface="微软雅黑"/>
              </a:defRPr>
            </a:pPr>
            <a:r>
              <a:rPr sz="900" b="1">
                <a:solidFill>
                  <a:srgbClr val="F5C33B"/>
                </a:solidFill>
                <a:latin typeface="微软雅黑"/>
                <a:ea typeface="微软雅黑"/>
                <a:cs typeface="微软雅黑"/>
              </a:rPr>
              <a:t>下一步</a:t>
            </a:r>
          </a:p>
        </p:txBody>
      </p:sp>
      <p:sp>
        <p:nvSpPr>
          <p:cNvPr id="24" name="">
            <a:extLst xmlns:a="http://schemas.openxmlformats.org/drawingml/2006/main">
              <a:ext uri="{FF2B5EF4-FFF2-40B4-BE49-F238E27FC236}">
                <a16:creationId xmlns:a16="http://schemas.microsoft.com/office/drawing/2014/main" id="{D7C3FBDB-6278-469B-9F86-6CEF77A2789B}"/>
              </a:ext>
            </a:extLst>
          </p:cNvPr>
          <p:cNvSpPr>
            <a:spLocks xmlns:a="http://schemas.openxmlformats.org/drawingml/2006/main" noGrp="1"/>
          </p:cNvSpPr>
          <p:nvPr/>
        </p:nvSpPr>
        <p:spPr>
          <a:xfrm xmlns:a="http://schemas.openxmlformats.org/drawingml/2006/main">
            <a:off x="4438650" y="2743200"/>
            <a:ext cx="33909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不改接口与前端，增加 source=model 的 Service，规则始终兜底</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用岗位、课程、考试、实操与历史决策构建训练知识库</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人工确认结果沉淀为训练标签，形成「越用越准」的数据飞轮</a:t>
            </a:r>
          </a:p>
        </p:txBody>
      </p:sp>
      <p:sp>
        <p:nvSpPr>
          <p:cNvPr id="25" name="">
            <a:extLst xmlns:a="http://schemas.openxmlformats.org/drawingml/2006/main">
              <a:ext uri="{FF2B5EF4-FFF2-40B4-BE49-F238E27FC236}">
                <a16:creationId xmlns:a16="http://schemas.microsoft.com/office/drawing/2014/main" id="{7A70B581-BB61-468F-90F0-8755CB430487}"/>
              </a:ext>
            </a:extLst>
          </p:cNvPr>
          <p:cNvSpPr>
            <a:spLocks xmlns:a="http://schemas.openxmlformats.org/drawingml/2006/main" noGrp="1"/>
          </p:cNvSpPr>
          <p:nvPr/>
        </p:nvSpPr>
        <p:spPr>
          <a:xfrm xmlns:a="http://schemas.openxmlformats.org/drawingml/2006/main">
            <a:off x="8172450" y="1333500"/>
            <a:ext cx="3771900" cy="4381500"/>
          </a:xfrm>
          <a:prstGeom xmlns:a="http://schemas.openxmlformats.org/drawingml/2006/main" prst="roundRect">
            <a:avLst>
              <a:gd name="adj" fmla="val 2020"/>
            </a:avLst>
          </a:prstGeom>
          <a:solidFill xmlns:a="http://schemas.openxmlformats.org/drawingml/2006/main">
            <a:srgbClr val="0D2748"/>
          </a:solidFill>
          <a:ln xmlns:a="http://schemas.openxmlformats.org/drawingml/2006/main" w="9525">
            <a:solidFill>
              <a:srgbClr val="1B4C8A"/>
            </a:solidFill>
            <a:prstDash val="solid"/>
          </a:ln>
        </p:spPr>
      </p:sp>
      <p:sp>
        <p:nvSpPr>
          <p:cNvPr id="26" name="">
            <a:extLst xmlns:a="http://schemas.openxmlformats.org/drawingml/2006/main">
              <a:ext uri="{FF2B5EF4-FFF2-40B4-BE49-F238E27FC236}">
                <a16:creationId xmlns:a16="http://schemas.microsoft.com/office/drawing/2014/main" id="{6AE2BDA7-0585-44BC-BAD1-CD5517A6E1F3}"/>
              </a:ext>
            </a:extLst>
          </p:cNvPr>
          <p:cNvSpPr>
            <a:spLocks xmlns:a="http://schemas.openxmlformats.org/drawingml/2006/main" noGrp="1"/>
          </p:cNvSpPr>
          <p:nvPr/>
        </p:nvSpPr>
        <p:spPr>
          <a:xfrm xmlns:a="http://schemas.openxmlformats.org/drawingml/2006/main">
            <a:off x="8172450" y="1333500"/>
            <a:ext cx="3771900" cy="57150"/>
          </a:xfrm>
          <a:prstGeom xmlns:a="http://schemas.openxmlformats.org/drawingml/2006/main" prst="rect">
            <a:avLst/>
          </a:prstGeom>
          <a:solidFill xmlns:a="http://schemas.openxmlformats.org/drawingml/2006/main">
            <a:srgbClr val="9B8C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3CD687A-A6F8-4CAE-A185-156C79F599FF}"/>
              </a:ext>
            </a:extLst>
          </p:cNvPr>
          <p:cNvSpPr>
            <a:spLocks xmlns:a="http://schemas.openxmlformats.org/drawingml/2006/main" noGrp="1"/>
          </p:cNvSpPr>
          <p:nvPr/>
        </p:nvSpPr>
        <p:spPr>
          <a:xfrm xmlns:a="http://schemas.openxmlformats.org/drawingml/2006/main">
            <a:off x="8382000" y="15049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7A9CC4"/>
                </a:solidFill>
                <a:latin typeface="微软雅黑"/>
                <a:ea typeface="微软雅黑"/>
                <a:cs typeface="微软雅黑"/>
              </a:defRPr>
            </a:pPr>
            <a:r>
              <a:rPr sz="975" b="1">
                <a:solidFill>
                  <a:srgbClr val="7A9CC4"/>
                </a:solidFill>
                <a:latin typeface="微软雅黑"/>
                <a:ea typeface="微软雅黑"/>
                <a:cs typeface="微软雅黑"/>
              </a:rPr>
              <a:t>阶段三</a:t>
            </a:r>
          </a:p>
        </p:txBody>
      </p:sp>
      <p:sp>
        <p:nvSpPr>
          <p:cNvPr id="28" name="">
            <a:extLst xmlns:a="http://schemas.openxmlformats.org/drawingml/2006/main">
              <a:ext uri="{FF2B5EF4-FFF2-40B4-BE49-F238E27FC236}">
                <a16:creationId xmlns:a16="http://schemas.microsoft.com/office/drawing/2014/main" id="{CB19D87B-52C4-4A37-90CC-9BD4A7061EEE}"/>
              </a:ext>
            </a:extLst>
          </p:cNvPr>
          <p:cNvSpPr>
            <a:spLocks xmlns:a="http://schemas.openxmlformats.org/drawingml/2006/main" noGrp="1"/>
          </p:cNvSpPr>
          <p:nvPr/>
        </p:nvSpPr>
        <p:spPr>
          <a:xfrm xmlns:a="http://schemas.openxmlformats.org/drawingml/2006/main">
            <a:off x="8382000" y="1809750"/>
            <a:ext cx="3390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行业训练 Agent</a:t>
            </a:r>
          </a:p>
        </p:txBody>
      </p:sp>
      <p:sp>
        <p:nvSpPr>
          <p:cNvPr id="29" name="">
            <a:extLst xmlns:a="http://schemas.openxmlformats.org/drawingml/2006/main">
              <a:ext uri="{FF2B5EF4-FFF2-40B4-BE49-F238E27FC236}">
                <a16:creationId xmlns:a16="http://schemas.microsoft.com/office/drawing/2014/main" id="{1CBB6DA7-D38C-4246-9622-5BAD933080B3}"/>
              </a:ext>
            </a:extLst>
          </p:cNvPr>
          <p:cNvSpPr>
            <a:spLocks xmlns:a="http://schemas.openxmlformats.org/drawingml/2006/main" noGrp="1"/>
          </p:cNvSpPr>
          <p:nvPr/>
        </p:nvSpPr>
        <p:spPr>
          <a:xfrm xmlns:a="http://schemas.openxmlformats.org/drawingml/2006/main">
            <a:off x="8382000" y="2266950"/>
            <a:ext cx="11430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9B8CFF"/>
            </a:solidFill>
            <a:prstDash val="solid"/>
          </a:ln>
        </p:spPr>
      </p:sp>
      <p:sp>
        <p:nvSpPr>
          <p:cNvPr id="30" name="">
            <a:extLst xmlns:a="http://schemas.openxmlformats.org/drawingml/2006/main">
              <a:ext uri="{FF2B5EF4-FFF2-40B4-BE49-F238E27FC236}">
                <a16:creationId xmlns:a16="http://schemas.microsoft.com/office/drawing/2014/main" id="{71135155-93AE-4CDD-8947-D478A8156E83}"/>
              </a:ext>
            </a:extLst>
          </p:cNvPr>
          <p:cNvSpPr>
            <a:spLocks xmlns:a="http://schemas.openxmlformats.org/drawingml/2006/main" noGrp="1"/>
          </p:cNvSpPr>
          <p:nvPr/>
        </p:nvSpPr>
        <p:spPr>
          <a:xfrm xmlns:a="http://schemas.openxmlformats.org/drawingml/2006/main">
            <a:off x="8382000" y="22669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00" b="1">
                <a:solidFill>
                  <a:srgbClr val="9B8CFF"/>
                </a:solidFill>
                <a:latin typeface="微软雅黑"/>
                <a:ea typeface="微软雅黑"/>
                <a:cs typeface="微软雅黑"/>
              </a:defRPr>
            </a:pPr>
            <a:r>
              <a:rPr sz="900" b="1">
                <a:solidFill>
                  <a:srgbClr val="9B8CFF"/>
                </a:solidFill>
                <a:latin typeface="微软雅黑"/>
                <a:ea typeface="微软雅黑"/>
                <a:cs typeface="微软雅黑"/>
              </a:rPr>
              <a:t>中长期</a:t>
            </a:r>
          </a:p>
        </p:txBody>
      </p:sp>
      <p:sp>
        <p:nvSpPr>
          <p:cNvPr id="31" name="">
            <a:extLst xmlns:a="http://schemas.openxmlformats.org/drawingml/2006/main">
              <a:ext uri="{FF2B5EF4-FFF2-40B4-BE49-F238E27FC236}">
                <a16:creationId xmlns:a16="http://schemas.microsoft.com/office/drawing/2014/main" id="{C2E7AE20-18E9-450E-8003-895A7730AB88}"/>
              </a:ext>
            </a:extLst>
          </p:cNvPr>
          <p:cNvSpPr>
            <a:spLocks xmlns:a="http://schemas.openxmlformats.org/drawingml/2006/main" noGrp="1"/>
          </p:cNvSpPr>
          <p:nvPr/>
        </p:nvSpPr>
        <p:spPr>
          <a:xfrm xmlns:a="http://schemas.openxmlformats.org/drawingml/2006/main">
            <a:off x="8382000" y="2743200"/>
            <a:ext cx="33909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融合岗位、技能、课程、考试、实操、带教与成本数据，形成企业训练知识底座</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Agent 能识别缺口、生成计划、推荐带教并安排复训</a:t>
            </a:r>
          </a:p>
          <a:p xmlns:a="http://schemas.openxmlformats.org/drawingml/2006/main">
            <a:pPr algn="l">
              <a:lnSpc>
                <a:spcPct val="180000"/>
              </a:lnSpc>
              <a:buNone/>
              <a:defRPr sz="938">
                <a:solidFill>
                  <a:srgbClr val="D6E6F7"/>
                </a:solidFill>
                <a:latin typeface="微软雅黑"/>
                <a:ea typeface="微软雅黑"/>
                <a:cs typeface="微软雅黑"/>
              </a:defRPr>
            </a:pPr>
            <a:r>
              <a:rPr sz="938">
                <a:solidFill>
                  <a:srgbClr val="D6E6F7"/>
                </a:solidFill>
                <a:latin typeface="微软雅黑"/>
                <a:ea typeface="微软雅黑"/>
                <a:cs typeface="微软雅黑"/>
              </a:rPr>
              <a:t>· </a:t>
            </a:r>
            <a:r>
              <a:rPr sz="938">
                <a:solidFill>
                  <a:srgbClr val="D6E6F7"/>
                </a:solidFill>
                <a:latin typeface="微软雅黑"/>
                <a:ea typeface="微软雅黑"/>
                <a:cs typeface="微软雅黑"/>
              </a:rPr>
              <a:t>最终形态：越用越懂岗位、员工和训练闭环的行业训练 Agent</a:t>
            </a:r>
          </a:p>
        </p:txBody>
      </p:sp>
      <p:sp>
        <p:nvSpPr>
          <p:cNvPr id="32" name="">
            <a:extLst xmlns:a="http://schemas.openxmlformats.org/drawingml/2006/main">
              <a:ext uri="{FF2B5EF4-FFF2-40B4-BE49-F238E27FC236}">
                <a16:creationId xmlns:a16="http://schemas.microsoft.com/office/drawing/2014/main" id="{E356CEF4-688C-4307-A6FC-AB5D59A0F1E8}"/>
              </a:ext>
            </a:extLst>
          </p:cNvPr>
          <p:cNvSpPr>
            <a:spLocks xmlns:a="http://schemas.openxmlformats.org/drawingml/2006/main" noGrp="1"/>
          </p:cNvSpPr>
          <p:nvPr/>
        </p:nvSpPr>
        <p:spPr>
          <a:xfrm xmlns:a="http://schemas.openxmlformats.org/drawingml/2006/main">
            <a:off x="285750" y="5924550"/>
            <a:ext cx="11620500" cy="571500"/>
          </a:xfrm>
          <a:prstGeom xmlns:a="http://schemas.openxmlformats.org/drawingml/2006/main" prst="roundRect">
            <a:avLst>
              <a:gd name="adj" fmla="val 13333"/>
            </a:avLst>
          </a:prstGeom>
          <a:solidFill xmlns:a="http://schemas.openxmlformats.org/drawingml/2006/main">
            <a:srgbClr val="0A2547"/>
          </a:solidFill>
          <a:ln xmlns:a="http://schemas.openxmlformats.org/drawingml/2006/main" w="9525">
            <a:solidFill>
              <a:srgbClr val="2A6BAE"/>
            </a:solidFill>
            <a:prstDash val="solid"/>
          </a:ln>
        </p:spPr>
      </p:sp>
      <p:sp>
        <p:nvSpPr>
          <p:cNvPr id="33" name="">
            <a:extLst xmlns:a="http://schemas.openxmlformats.org/drawingml/2006/main">
              <a:ext uri="{FF2B5EF4-FFF2-40B4-BE49-F238E27FC236}">
                <a16:creationId xmlns:a16="http://schemas.microsoft.com/office/drawing/2014/main" id="{72423D92-C31D-40D6-BB00-DC742C73DCDE}"/>
              </a:ext>
            </a:extLst>
          </p:cNvPr>
          <p:cNvSpPr>
            <a:spLocks xmlns:a="http://schemas.openxmlformats.org/drawingml/2006/main" noGrp="1"/>
          </p:cNvSpPr>
          <p:nvPr/>
        </p:nvSpPr>
        <p:spPr>
          <a:xfrm xmlns:a="http://schemas.openxmlformats.org/drawingml/2006/main">
            <a:off x="457200" y="5924550"/>
            <a:ext cx="11239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lnSpc>
                <a:spcPct val="135000"/>
              </a:lnSpc>
              <a:buNone/>
              <a:defRPr sz="975" b="0">
                <a:solidFill>
                  <a:srgbClr val="D6E6F7"/>
                </a:solidFill>
                <a:latin typeface="微软雅黑"/>
                <a:ea typeface="微软雅黑"/>
                <a:cs typeface="微软雅黑"/>
              </a:defRPr>
            </a:pPr>
            <a:r>
              <a:rPr sz="975" b="0">
                <a:solidFill>
                  <a:srgbClr val="D6E6F7"/>
                </a:solidFill>
                <a:latin typeface="微软雅黑"/>
                <a:ea typeface="微软雅黑"/>
                <a:cs typeface="微软雅黑"/>
              </a:rPr>
              <a:t>规则全面落地　→　模型增强与数据回流　→　行业训练 Agent　　演进过程不改接口、不改前端、不改变结论的可追溯要求。</a:t>
            </a:r>
          </a:p>
        </p:txBody>
      </p:sp>
      <p:sp>
        <p:nvSpPr>
          <p:cNvPr id="34" name="">
            <a:extLst xmlns:a="http://schemas.openxmlformats.org/drawingml/2006/main">
              <a:ext uri="{FF2B5EF4-FFF2-40B4-BE49-F238E27FC236}">
                <a16:creationId xmlns:a16="http://schemas.microsoft.com/office/drawing/2014/main" id="{EBFE630B-1EEC-4EB1-914C-64F5A7021567}"/>
              </a:ext>
            </a:extLst>
          </p:cNvPr>
          <p:cNvSpPr>
            <a:spLocks xmlns:a="http://schemas.openxmlformats.org/drawingml/2006/main" noGrp="1"/>
          </p:cNvSpPr>
          <p:nvPr/>
        </p:nvSpPr>
        <p:spPr>
          <a:xfrm xmlns:a="http://schemas.openxmlformats.org/drawingml/2006/main">
            <a:off x="228600" y="6572250"/>
            <a:ext cx="11734800" cy="9525"/>
          </a:xfrm>
          <a:prstGeom xmlns:a="http://schemas.openxmlformats.org/drawingml/2006/main" prst="rect">
            <a:avLst/>
          </a:prstGeom>
          <a:solidFill xmlns:a="http://schemas.openxmlformats.org/drawingml/2006/main">
            <a:srgbClr val="14375F"/>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EE9887EC-46B9-414F-BD86-060E9B3A0724}"/>
              </a:ext>
            </a:extLst>
          </p:cNvPr>
          <p:cNvSpPr>
            <a:spLocks xmlns:a="http://schemas.openxmlformats.org/drawingml/2006/main" noGrp="1"/>
          </p:cNvSpPr>
          <p:nvPr/>
        </p:nvSpPr>
        <p:spPr>
          <a:xfrm xmlns:a="http://schemas.openxmlformats.org/drawingml/2006/main">
            <a:off x="228600" y="66294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825" b="0">
                <a:solidFill>
                  <a:srgbClr val="7A9CC4"/>
                </a:solidFill>
                <a:latin typeface="微软雅黑"/>
                <a:ea typeface="微软雅黑"/>
                <a:cs typeface="微软雅黑"/>
              </a:defRPr>
            </a:pPr>
            <a:r>
              <a:rPr sz="825" b="0">
                <a:solidFill>
                  <a:srgbClr val="7A9CC4"/>
                </a:solidFill>
                <a:latin typeface="微软雅黑"/>
                <a:ea typeface="微软雅黑"/>
                <a:cs typeface="微软雅黑"/>
              </a:rPr>
              <a:t>工业智训 · 面向变电运维的可解释智能人才培养平台</a:t>
            </a:r>
          </a:p>
        </p:txBody>
      </p:sp>
      <p:sp>
        <p:nvSpPr>
          <p:cNvPr id="36" name="">
            <a:extLst xmlns:a="http://schemas.openxmlformats.org/drawingml/2006/main">
              <a:ext uri="{FF2B5EF4-FFF2-40B4-BE49-F238E27FC236}">
                <a16:creationId xmlns:a16="http://schemas.microsoft.com/office/drawing/2014/main" id="{FB8B5D5B-8A02-4CF0-9F4A-1B25178F6449}"/>
              </a:ext>
            </a:extLst>
          </p:cNvPr>
          <p:cNvSpPr>
            <a:spLocks xmlns:a="http://schemas.openxmlformats.org/drawingml/2006/main" noGrp="1"/>
          </p:cNvSpPr>
          <p:nvPr/>
        </p:nvSpPr>
        <p:spPr>
          <a:xfrm xmlns:a="http://schemas.openxmlformats.org/drawingml/2006/main">
            <a:off x="11010900" y="66294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r">
              <a:defRPr sz="900" b="1">
                <a:solidFill>
                  <a:srgbClr val="F5C33B"/>
                </a:solidFill>
                <a:latin typeface="Arial"/>
                <a:ea typeface="Arial"/>
                <a:cs typeface="Arial"/>
              </a:defRPr>
            </a:pPr>
            <a:r>
              <a:rPr sz="900" b="1">
                <a:solidFill>
                  <a:srgbClr val="F5C33B"/>
                </a:solidFill>
                <a:latin typeface="Arial"/>
                <a:ea typeface="Arial"/>
                <a:cs typeface="Arial"/>
              </a:rPr>
              <a:t>36</a:t>
            </a:r>
          </a:p>
        </p:txBody>
      </p:sp>
    </p:spTree>
    <p:extLst>
      <p:ext uri="{BB962C8B-B14F-4D97-AF65-F5344CB8AC3E}">
        <p14:creationId xmlns:p14="http://schemas.microsoft.com/office/powerpoint/2010/main" val="995164537"/>
      </p:ext>
    </p:extLst>
  </p:cSld>
</p:sld>
</file>

<file path=ppt/slides/slide37.xml><?xml version="1.0" encoding="utf-8"?>
<p:sld xmlns:p="http://schemas.openxmlformats.org/presentationml/2006/main">
  <p:cSld>
    <p:bg>
      <p:bgPr>
        <a:gradFill xmlns:a="http://schemas.openxmlformats.org/drawingml/2006/main">
          <a:gsLst>
            <a:gs pos="0">
              <a:srgbClr val="0C3363"/>
            </a:gs>
            <a:gs pos="100000">
              <a:srgbClr val="04101F"/>
            </a:gs>
          </a:gsLst>
          <a:lin ang="7200000"/>
        </a:gra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0CDAF999-455B-49B7-AC4D-6177FE11EE42}"/>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ED53FFC-E581-456A-ABD1-7027A178BCC0}"/>
              </a:ext>
            </a:extLst>
          </p:cNvPr>
          <p:cNvSpPr>
            <a:spLocks xmlns:a="http://schemas.openxmlformats.org/drawingml/2006/main" noGrp="1"/>
          </p:cNvSpPr>
          <p:nvPr/>
        </p:nvSpPr>
        <p:spPr>
          <a:xfrm xmlns:a="http://schemas.openxmlformats.org/drawingml/2006/main">
            <a:off x="0" y="28575"/>
            <a:ext cx="2857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AE79904-A458-409B-8020-E4DF28E99871}"/>
              </a:ext>
            </a:extLst>
          </p:cNvPr>
          <p:cNvSpPr>
            <a:spLocks xmlns:a="http://schemas.openxmlformats.org/drawingml/2006/main" noGrp="1"/>
          </p:cNvSpPr>
          <p:nvPr/>
        </p:nvSpPr>
        <p:spPr>
          <a:xfrm xmlns:a="http://schemas.openxmlformats.org/drawingml/2006/main">
            <a:off x="7810500" y="-1905000"/>
            <a:ext cx="6667500" cy="6667500"/>
          </a:xfrm>
          <a:prstGeom xmlns:a="http://schemas.openxmlformats.org/drawingml/2006/main" prst="ellipse">
            <a:avLst/>
          </a:prstGeom>
          <a:gradFill xmlns:a="http://schemas.openxmlformats.org/drawingml/2006/main">
            <a:gsLst>
              <a:gs pos="0">
                <a:srgbClr val="1E5FA8">
                  <a:alpha val="40000"/>
                </a:srgbClr>
              </a:gs>
              <a:gs pos="70000">
                <a:srgbClr val="1E5FA8">
                  <a:alpha val="0"/>
                </a:srgbClr>
              </a:gs>
            </a:gsLst>
            <a:path path="shape"/>
          </a:gra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40AF923-1427-4865-A155-C34A0F95C623}"/>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CA41D0C-E480-4A72-A654-52E63570E03D}"/>
              </a:ext>
            </a:extLst>
          </p:cNvPr>
          <p:cNvSpPr>
            <a:spLocks xmlns:a="http://schemas.openxmlformats.org/drawingml/2006/main" noGrp="1"/>
          </p:cNvSpPr>
          <p:nvPr/>
        </p:nvSpPr>
        <p:spPr>
          <a:xfrm xmlns:a="http://schemas.openxmlformats.org/drawingml/2006/main">
            <a:off x="0" y="38100"/>
            <a:ext cx="4000500" cy="1905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4B89B0E-1018-46DF-AA2B-05866E13C8E8}"/>
              </a:ext>
            </a:extLst>
          </p:cNvPr>
          <p:cNvSpPr>
            <a:spLocks xmlns:a="http://schemas.openxmlformats.org/drawingml/2006/main" noGrp="1"/>
          </p:cNvSpPr>
          <p:nvPr/>
        </p:nvSpPr>
        <p:spPr>
          <a:xfrm xmlns:a="http://schemas.openxmlformats.org/drawingml/2006/main">
            <a:off x="857250" y="125730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5400" b="1">
                <a:solidFill>
                  <a:srgbClr val="FFFFFF"/>
                </a:solidFill>
                <a:latin typeface="微软雅黑"/>
                <a:ea typeface="微软雅黑"/>
                <a:cs typeface="微软雅黑"/>
              </a:defRPr>
            </a:pPr>
            <a:r>
              <a:rPr sz="5400" b="1">
                <a:solidFill>
                  <a:srgbClr val="FFFFFF"/>
                </a:solidFill>
                <a:latin typeface="微软雅黑"/>
                <a:ea typeface="微软雅黑"/>
                <a:cs typeface="微软雅黑"/>
              </a:rPr>
              <a:t>感谢聆听</a:t>
            </a:r>
          </a:p>
        </p:txBody>
      </p:sp>
      <p:sp>
        <p:nvSpPr>
          <p:cNvPr id="7" name="">
            <a:extLst xmlns:a="http://schemas.openxmlformats.org/drawingml/2006/main">
              <a:ext uri="{FF2B5EF4-FFF2-40B4-BE49-F238E27FC236}">
                <a16:creationId xmlns:a16="http://schemas.microsoft.com/office/drawing/2014/main" id="{0415D2EF-4C39-4C76-97C0-464A5E0BE314}"/>
              </a:ext>
            </a:extLst>
          </p:cNvPr>
          <p:cNvSpPr>
            <a:spLocks xmlns:a="http://schemas.openxmlformats.org/drawingml/2006/main" noGrp="1"/>
          </p:cNvSpPr>
          <p:nvPr/>
        </p:nvSpPr>
        <p:spPr>
          <a:xfrm xmlns:a="http://schemas.openxmlformats.org/drawingml/2006/main">
            <a:off x="895350" y="234315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800" b="1">
                <a:solidFill>
                  <a:srgbClr val="31C7F0"/>
                </a:solidFill>
                <a:latin typeface="微软雅黑"/>
                <a:ea typeface="微软雅黑"/>
                <a:cs typeface="微软雅黑"/>
              </a:defRPr>
            </a:pPr>
            <a:r>
              <a:rPr sz="1800" b="1">
                <a:solidFill>
                  <a:srgbClr val="31C7F0"/>
                </a:solidFill>
                <a:latin typeface="微软雅黑"/>
                <a:ea typeface="微软雅黑"/>
                <a:cs typeface="微软雅黑"/>
              </a:rPr>
              <a:t>面向变电运维的可解释智能人才培养平台</a:t>
            </a:r>
          </a:p>
        </p:txBody>
      </p:sp>
      <p:sp>
        <p:nvSpPr>
          <p:cNvPr id="8" name="">
            <a:extLst xmlns:a="http://schemas.openxmlformats.org/drawingml/2006/main">
              <a:ext uri="{FF2B5EF4-FFF2-40B4-BE49-F238E27FC236}">
                <a16:creationId xmlns:a16="http://schemas.microsoft.com/office/drawing/2014/main" id="{3F1AC3B3-3F63-48F1-922D-E0FD7B69D75C}"/>
              </a:ext>
            </a:extLst>
          </p:cNvPr>
          <p:cNvSpPr>
            <a:spLocks xmlns:a="http://schemas.openxmlformats.org/drawingml/2006/main" noGrp="1"/>
          </p:cNvSpPr>
          <p:nvPr/>
        </p:nvSpPr>
        <p:spPr>
          <a:xfrm xmlns:a="http://schemas.openxmlformats.org/drawingml/2006/main">
            <a:off x="895350" y="27813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00" b="0">
                <a:solidFill>
                  <a:srgbClr val="F5C33B"/>
                </a:solidFill>
                <a:latin typeface="微软雅黑"/>
                <a:ea typeface="微软雅黑"/>
                <a:cs typeface="微软雅黑"/>
              </a:defRPr>
            </a:pPr>
            <a:r>
              <a:rPr sz="1200" b="0">
                <a:solidFill>
                  <a:srgbClr val="F5C33B"/>
                </a:solidFill>
                <a:latin typeface="微软雅黑"/>
                <a:ea typeface="微软雅黑"/>
                <a:cs typeface="微软雅黑"/>
              </a:rPr>
              <a:t>规则先行 · 模型后置 · 结论可追溯 · 离线可运行</a:t>
            </a:r>
          </a:p>
        </p:txBody>
      </p:sp>
      <p:sp>
        <p:nvSpPr>
          <p:cNvPr id="9" name="">
            <a:extLst xmlns:a="http://schemas.openxmlformats.org/drawingml/2006/main">
              <a:ext uri="{FF2B5EF4-FFF2-40B4-BE49-F238E27FC236}">
                <a16:creationId xmlns:a16="http://schemas.microsoft.com/office/drawing/2014/main" id="{B22828F6-008D-472C-9E58-55745A4C652C}"/>
              </a:ext>
            </a:extLst>
          </p:cNvPr>
          <p:cNvSpPr>
            <a:spLocks xmlns:a="http://schemas.openxmlformats.org/drawingml/2006/main" noGrp="1"/>
          </p:cNvSpPr>
          <p:nvPr/>
        </p:nvSpPr>
        <p:spPr>
          <a:xfrm xmlns:a="http://schemas.openxmlformats.org/drawingml/2006/main">
            <a:off x="857250" y="3219450"/>
            <a:ext cx="10477500" cy="590550"/>
          </a:xfrm>
          <a:prstGeom xmlns:a="http://schemas.openxmlformats.org/drawingml/2006/main" prst="roundRect">
            <a:avLst>
              <a:gd name="adj" fmla="val 12903"/>
            </a:avLst>
          </a:prstGeom>
          <a:solidFill xmlns:a="http://schemas.openxmlformats.org/drawingml/2006/main">
            <a:srgbClr val="0A2547"/>
          </a:solidFill>
          <a:ln xmlns:a="http://schemas.openxmlformats.org/drawingml/2006/main" w="9525">
            <a:solidFill>
              <a:srgbClr val="2A6BAE"/>
            </a:solidFill>
            <a:prstDash val="solid"/>
          </a:ln>
        </p:spPr>
      </p:sp>
      <p:sp>
        <p:nvSpPr>
          <p:cNvPr id="10" name="">
            <a:extLst xmlns:a="http://schemas.openxmlformats.org/drawingml/2006/main">
              <a:ext uri="{FF2B5EF4-FFF2-40B4-BE49-F238E27FC236}">
                <a16:creationId xmlns:a16="http://schemas.microsoft.com/office/drawing/2014/main" id="{529F30CC-E24A-4896-9C7E-70563BF0275A}"/>
              </a:ext>
            </a:extLst>
          </p:cNvPr>
          <p:cNvSpPr>
            <a:spLocks xmlns:a="http://schemas.openxmlformats.org/drawingml/2006/main" noGrp="1"/>
          </p:cNvSpPr>
          <p:nvPr/>
        </p:nvSpPr>
        <p:spPr>
          <a:xfrm xmlns:a="http://schemas.openxmlformats.org/drawingml/2006/main">
            <a:off x="1085850" y="3219450"/>
            <a:ext cx="1009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lnSpc>
                <a:spcPct val="140000"/>
              </a:lnSpc>
              <a:buNone/>
              <a:defRPr sz="1125" b="0">
                <a:solidFill>
                  <a:srgbClr val="D6E6F7"/>
                </a:solidFill>
                <a:latin typeface="微软雅黑"/>
                <a:ea typeface="微软雅黑"/>
                <a:cs typeface="微软雅黑"/>
              </a:defRPr>
            </a:pPr>
            <a:r>
              <a:rPr sz="1125" b="0">
                <a:solidFill>
                  <a:srgbClr val="D6E6F7"/>
                </a:solidFill>
                <a:latin typeface="微软雅黑"/>
                <a:ea typeface="微软雅黑"/>
                <a:cs typeface="微软雅黑"/>
              </a:rPr>
              <a:t>把智能放在可审计的位置：每一条建议都能说清命中了哪条规则、依据了哪个数据点、由谁确认。</a:t>
            </a:r>
          </a:p>
        </p:txBody>
      </p:sp>
      <p:sp>
        <p:nvSpPr>
          <p:cNvPr id="11" name="">
            <a:extLst xmlns:a="http://schemas.openxmlformats.org/drawingml/2006/main">
              <a:ext uri="{FF2B5EF4-FFF2-40B4-BE49-F238E27FC236}">
                <a16:creationId xmlns:a16="http://schemas.microsoft.com/office/drawing/2014/main" id="{77D74968-E41A-4A66-A2B4-94B2202DAB06}"/>
              </a:ext>
            </a:extLst>
          </p:cNvPr>
          <p:cNvSpPr>
            <a:spLocks xmlns:a="http://schemas.openxmlformats.org/drawingml/2006/main" noGrp="1"/>
          </p:cNvSpPr>
          <p:nvPr/>
        </p:nvSpPr>
        <p:spPr>
          <a:xfrm xmlns:a="http://schemas.openxmlformats.org/drawingml/2006/main">
            <a:off x="857250" y="4038600"/>
            <a:ext cx="2552700" cy="990600"/>
          </a:xfrm>
          <a:prstGeom xmlns:a="http://schemas.openxmlformats.org/drawingml/2006/main" prst="roundRect">
            <a:avLst>
              <a:gd name="adj" fmla="val 7692"/>
            </a:avLst>
          </a:prstGeom>
          <a:solidFill xmlns:a="http://schemas.openxmlformats.org/drawingml/2006/main">
            <a:srgbClr val="0B2B52"/>
          </a:solidFill>
          <a:ln xmlns:a="http://schemas.openxmlformats.org/drawingml/2006/main" w="9525">
            <a:solidFill>
              <a:srgbClr val="1B4C8A"/>
            </a:solidFill>
            <a:prstDash val="solid"/>
          </a:ln>
        </p:spPr>
      </p:sp>
      <p:sp>
        <p:nvSpPr>
          <p:cNvPr id="12" name="">
            <a:extLst xmlns:a="http://schemas.openxmlformats.org/drawingml/2006/main">
              <a:ext uri="{FF2B5EF4-FFF2-40B4-BE49-F238E27FC236}">
                <a16:creationId xmlns:a16="http://schemas.microsoft.com/office/drawing/2014/main" id="{99DEEA27-420A-44AA-91B4-547F012674D3}"/>
              </a:ext>
            </a:extLst>
          </p:cNvPr>
          <p:cNvSpPr>
            <a:spLocks xmlns:a="http://schemas.openxmlformats.org/drawingml/2006/main" noGrp="1"/>
          </p:cNvSpPr>
          <p:nvPr/>
        </p:nvSpPr>
        <p:spPr>
          <a:xfrm xmlns:a="http://schemas.openxmlformats.org/drawingml/2006/main">
            <a:off x="857250" y="4038600"/>
            <a:ext cx="2552700" cy="38100"/>
          </a:xfrm>
          <a:prstGeom xmlns:a="http://schemas.openxmlformats.org/drawingml/2006/main" prst="rect">
            <a:avLst/>
          </a:prstGeom>
          <a:solidFill xmlns:a="http://schemas.openxmlformats.org/drawingml/2006/main">
            <a:srgbClr val="31C7F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BE53774-8292-424F-9D7F-1E736065179B}"/>
              </a:ext>
            </a:extLst>
          </p:cNvPr>
          <p:cNvSpPr>
            <a:spLocks xmlns:a="http://schemas.openxmlformats.org/drawingml/2006/main" noGrp="1"/>
          </p:cNvSpPr>
          <p:nvPr/>
        </p:nvSpPr>
        <p:spPr>
          <a:xfrm xmlns:a="http://schemas.openxmlformats.org/drawingml/2006/main">
            <a:off x="1009650" y="4191000"/>
            <a:ext cx="2247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31C7F0"/>
                </a:solidFill>
                <a:latin typeface="微软雅黑"/>
                <a:ea typeface="微软雅黑"/>
                <a:cs typeface="微软雅黑"/>
              </a:defRPr>
            </a:pPr>
            <a:r>
              <a:rPr sz="1125" b="1">
                <a:solidFill>
                  <a:srgbClr val="31C7F0"/>
                </a:solidFill>
                <a:latin typeface="微软雅黑"/>
                <a:ea typeface="微软雅黑"/>
                <a:cs typeface="微软雅黑"/>
              </a:rPr>
              <a:t>问题真</a:t>
            </a:r>
          </a:p>
        </p:txBody>
      </p:sp>
      <p:sp>
        <p:nvSpPr>
          <p:cNvPr id="14" name="">
            <a:extLst xmlns:a="http://schemas.openxmlformats.org/drawingml/2006/main">
              <a:ext uri="{FF2B5EF4-FFF2-40B4-BE49-F238E27FC236}">
                <a16:creationId xmlns:a16="http://schemas.microsoft.com/office/drawing/2014/main" id="{A8B8E1EE-72B9-4FCB-BE34-8DA63DA4D04C}"/>
              </a:ext>
            </a:extLst>
          </p:cNvPr>
          <p:cNvSpPr>
            <a:spLocks xmlns:a="http://schemas.openxmlformats.org/drawingml/2006/main" noGrp="1"/>
          </p:cNvSpPr>
          <p:nvPr/>
        </p:nvSpPr>
        <p:spPr>
          <a:xfrm xmlns:a="http://schemas.openxmlformats.org/drawingml/2006/main">
            <a:off x="1009650" y="4495800"/>
            <a:ext cx="2266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标准原文 + 四本账 + 三条痛点，先立住真问题</a:t>
            </a:r>
          </a:p>
        </p:txBody>
      </p:sp>
      <p:sp>
        <p:nvSpPr>
          <p:cNvPr id="15" name="">
            <a:extLst xmlns:a="http://schemas.openxmlformats.org/drawingml/2006/main">
              <a:ext uri="{FF2B5EF4-FFF2-40B4-BE49-F238E27FC236}">
                <a16:creationId xmlns:a16="http://schemas.microsoft.com/office/drawing/2014/main" id="{6D94BBC2-A98B-441D-854F-7344D2DD0CA8}"/>
              </a:ext>
            </a:extLst>
          </p:cNvPr>
          <p:cNvSpPr>
            <a:spLocks xmlns:a="http://schemas.openxmlformats.org/drawingml/2006/main" noGrp="1"/>
          </p:cNvSpPr>
          <p:nvPr/>
        </p:nvSpPr>
        <p:spPr>
          <a:xfrm xmlns:a="http://schemas.openxmlformats.org/drawingml/2006/main">
            <a:off x="3562350" y="4038600"/>
            <a:ext cx="2552700" cy="990600"/>
          </a:xfrm>
          <a:prstGeom xmlns:a="http://schemas.openxmlformats.org/drawingml/2006/main" prst="roundRect">
            <a:avLst>
              <a:gd name="adj" fmla="val 7692"/>
            </a:avLst>
          </a:prstGeom>
          <a:solidFill xmlns:a="http://schemas.openxmlformats.org/drawingml/2006/main">
            <a:srgbClr val="0B2B52"/>
          </a:solidFill>
          <a:ln xmlns:a="http://schemas.openxmlformats.org/drawingml/2006/main" w="9525">
            <a:solidFill>
              <a:srgbClr val="1B4C8A"/>
            </a:solidFill>
            <a:prstDash val="solid"/>
          </a:ln>
        </p:spPr>
      </p:sp>
      <p:sp>
        <p:nvSpPr>
          <p:cNvPr id="16" name="">
            <a:extLst xmlns:a="http://schemas.openxmlformats.org/drawingml/2006/main">
              <a:ext uri="{FF2B5EF4-FFF2-40B4-BE49-F238E27FC236}">
                <a16:creationId xmlns:a16="http://schemas.microsoft.com/office/drawing/2014/main" id="{03B64D56-D0B3-4982-900F-B4ECCEA0316E}"/>
              </a:ext>
            </a:extLst>
          </p:cNvPr>
          <p:cNvSpPr>
            <a:spLocks xmlns:a="http://schemas.openxmlformats.org/drawingml/2006/main" noGrp="1"/>
          </p:cNvSpPr>
          <p:nvPr/>
        </p:nvSpPr>
        <p:spPr>
          <a:xfrm xmlns:a="http://schemas.openxmlformats.org/drawingml/2006/main">
            <a:off x="3562350" y="4038600"/>
            <a:ext cx="2552700" cy="38100"/>
          </a:xfrm>
          <a:prstGeom xmlns:a="http://schemas.openxmlformats.org/drawingml/2006/main" prst="rect">
            <a:avLst/>
          </a:prstGeom>
          <a:solidFill xmlns:a="http://schemas.openxmlformats.org/drawingml/2006/main">
            <a:srgbClr val="2E86E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F052C49-D6D1-4CAC-9C59-6D3C3CDD8DFF}"/>
              </a:ext>
            </a:extLst>
          </p:cNvPr>
          <p:cNvSpPr>
            <a:spLocks xmlns:a="http://schemas.openxmlformats.org/drawingml/2006/main" noGrp="1"/>
          </p:cNvSpPr>
          <p:nvPr/>
        </p:nvSpPr>
        <p:spPr>
          <a:xfrm xmlns:a="http://schemas.openxmlformats.org/drawingml/2006/main">
            <a:off x="3714750" y="4191000"/>
            <a:ext cx="2247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2E86E8"/>
                </a:solidFill>
                <a:latin typeface="微软雅黑"/>
                <a:ea typeface="微软雅黑"/>
                <a:cs typeface="微软雅黑"/>
              </a:defRPr>
            </a:pPr>
            <a:r>
              <a:rPr sz="1125" b="1">
                <a:solidFill>
                  <a:srgbClr val="2E86E8"/>
                </a:solidFill>
                <a:latin typeface="微软雅黑"/>
                <a:ea typeface="微软雅黑"/>
                <a:cs typeface="微软雅黑"/>
              </a:rPr>
              <a:t>方案清</a:t>
            </a:r>
          </a:p>
        </p:txBody>
      </p:sp>
      <p:sp>
        <p:nvSpPr>
          <p:cNvPr id="18" name="">
            <a:extLst xmlns:a="http://schemas.openxmlformats.org/drawingml/2006/main">
              <a:ext uri="{FF2B5EF4-FFF2-40B4-BE49-F238E27FC236}">
                <a16:creationId xmlns:a16="http://schemas.microsoft.com/office/drawing/2014/main" id="{DEACDFAF-B5D6-4DB5-9295-01C2B35CB9C7}"/>
              </a:ext>
            </a:extLst>
          </p:cNvPr>
          <p:cNvSpPr>
            <a:spLocks xmlns:a="http://schemas.openxmlformats.org/drawingml/2006/main" noGrp="1"/>
          </p:cNvSpPr>
          <p:nvPr/>
        </p:nvSpPr>
        <p:spPr>
          <a:xfrm xmlns:a="http://schemas.openxmlformats.org/drawingml/2006/main">
            <a:off x="3714750" y="4495800"/>
            <a:ext cx="2266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五层架构 + 18 条规则 + 3 个稳定 Agent 接口</a:t>
            </a:r>
          </a:p>
        </p:txBody>
      </p:sp>
      <p:sp>
        <p:nvSpPr>
          <p:cNvPr id="19" name="">
            <a:extLst xmlns:a="http://schemas.openxmlformats.org/drawingml/2006/main">
              <a:ext uri="{FF2B5EF4-FFF2-40B4-BE49-F238E27FC236}">
                <a16:creationId xmlns:a16="http://schemas.microsoft.com/office/drawing/2014/main" id="{DC135CBC-BB42-4FCD-8DBE-B6AF52AEA4C7}"/>
              </a:ext>
            </a:extLst>
          </p:cNvPr>
          <p:cNvSpPr>
            <a:spLocks xmlns:a="http://schemas.openxmlformats.org/drawingml/2006/main" noGrp="1"/>
          </p:cNvSpPr>
          <p:nvPr/>
        </p:nvSpPr>
        <p:spPr>
          <a:xfrm xmlns:a="http://schemas.openxmlformats.org/drawingml/2006/main">
            <a:off x="6267450" y="4038600"/>
            <a:ext cx="2552700" cy="990600"/>
          </a:xfrm>
          <a:prstGeom xmlns:a="http://schemas.openxmlformats.org/drawingml/2006/main" prst="roundRect">
            <a:avLst>
              <a:gd name="adj" fmla="val 7692"/>
            </a:avLst>
          </a:prstGeom>
          <a:solidFill xmlns:a="http://schemas.openxmlformats.org/drawingml/2006/main">
            <a:srgbClr val="0B2B52"/>
          </a:solidFill>
          <a:ln xmlns:a="http://schemas.openxmlformats.org/drawingml/2006/main" w="9525">
            <a:solidFill>
              <a:srgbClr val="1B4C8A"/>
            </a:solidFill>
            <a:prstDash val="solid"/>
          </a:ln>
        </p:spPr>
      </p:sp>
      <p:sp>
        <p:nvSpPr>
          <p:cNvPr id="20" name="">
            <a:extLst xmlns:a="http://schemas.openxmlformats.org/drawingml/2006/main">
              <a:ext uri="{FF2B5EF4-FFF2-40B4-BE49-F238E27FC236}">
                <a16:creationId xmlns:a16="http://schemas.microsoft.com/office/drawing/2014/main" id="{6F8AE12D-8876-464C-98BD-B0019809CC28}"/>
              </a:ext>
            </a:extLst>
          </p:cNvPr>
          <p:cNvSpPr>
            <a:spLocks xmlns:a="http://schemas.openxmlformats.org/drawingml/2006/main" noGrp="1"/>
          </p:cNvSpPr>
          <p:nvPr/>
        </p:nvSpPr>
        <p:spPr>
          <a:xfrm xmlns:a="http://schemas.openxmlformats.org/drawingml/2006/main">
            <a:off x="6267450" y="4038600"/>
            <a:ext cx="2552700" cy="38100"/>
          </a:xfrm>
          <a:prstGeom xmlns:a="http://schemas.openxmlformats.org/drawingml/2006/main" prst="rect">
            <a:avLst/>
          </a:prstGeom>
          <a:solidFill xmlns:a="http://schemas.openxmlformats.org/drawingml/2006/main">
            <a:srgbClr val="3FD08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2BBE857-7614-4AA5-887F-A85AD02EBF78}"/>
              </a:ext>
            </a:extLst>
          </p:cNvPr>
          <p:cNvSpPr>
            <a:spLocks xmlns:a="http://schemas.openxmlformats.org/drawingml/2006/main" noGrp="1"/>
          </p:cNvSpPr>
          <p:nvPr/>
        </p:nvSpPr>
        <p:spPr>
          <a:xfrm xmlns:a="http://schemas.openxmlformats.org/drawingml/2006/main">
            <a:off x="6419850" y="4191000"/>
            <a:ext cx="2247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3FD08A"/>
                </a:solidFill>
                <a:latin typeface="微软雅黑"/>
                <a:ea typeface="微软雅黑"/>
                <a:cs typeface="微软雅黑"/>
              </a:defRPr>
            </a:pPr>
            <a:r>
              <a:rPr sz="1125" b="1">
                <a:solidFill>
                  <a:srgbClr val="3FD08A"/>
                </a:solidFill>
                <a:latin typeface="微软雅黑"/>
                <a:ea typeface="微软雅黑"/>
                <a:cs typeface="微软雅黑"/>
              </a:rPr>
              <a:t>可复算</a:t>
            </a:r>
          </a:p>
        </p:txBody>
      </p:sp>
      <p:sp>
        <p:nvSpPr>
          <p:cNvPr id="22" name="">
            <a:extLst xmlns:a="http://schemas.openxmlformats.org/drawingml/2006/main">
              <a:ext uri="{FF2B5EF4-FFF2-40B4-BE49-F238E27FC236}">
                <a16:creationId xmlns:a16="http://schemas.microsoft.com/office/drawing/2014/main" id="{504E3E48-266A-46FA-934F-F3C377295E0C}"/>
              </a:ext>
            </a:extLst>
          </p:cNvPr>
          <p:cNvSpPr>
            <a:spLocks xmlns:a="http://schemas.openxmlformats.org/drawingml/2006/main" noGrp="1"/>
          </p:cNvSpPr>
          <p:nvPr/>
        </p:nvSpPr>
        <p:spPr>
          <a:xfrm xmlns:a="http://schemas.openxmlformats.org/drawingml/2006/main">
            <a:off x="6419850" y="4495800"/>
            <a:ext cx="2266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同一输入复跑 200 次，rule_refs 完全一致</a:t>
            </a:r>
          </a:p>
        </p:txBody>
      </p:sp>
      <p:sp>
        <p:nvSpPr>
          <p:cNvPr id="23" name="">
            <a:extLst xmlns:a="http://schemas.openxmlformats.org/drawingml/2006/main">
              <a:ext uri="{FF2B5EF4-FFF2-40B4-BE49-F238E27FC236}">
                <a16:creationId xmlns:a16="http://schemas.microsoft.com/office/drawing/2014/main" id="{E1F7A5E8-809D-4F69-A106-3B52E05ECF72}"/>
              </a:ext>
            </a:extLst>
          </p:cNvPr>
          <p:cNvSpPr>
            <a:spLocks xmlns:a="http://schemas.openxmlformats.org/drawingml/2006/main" noGrp="1"/>
          </p:cNvSpPr>
          <p:nvPr/>
        </p:nvSpPr>
        <p:spPr>
          <a:xfrm xmlns:a="http://schemas.openxmlformats.org/drawingml/2006/main">
            <a:off x="8972550" y="4038600"/>
            <a:ext cx="2552700" cy="990600"/>
          </a:xfrm>
          <a:prstGeom xmlns:a="http://schemas.openxmlformats.org/drawingml/2006/main" prst="roundRect">
            <a:avLst>
              <a:gd name="adj" fmla="val 7692"/>
            </a:avLst>
          </a:prstGeom>
          <a:solidFill xmlns:a="http://schemas.openxmlformats.org/drawingml/2006/main">
            <a:srgbClr val="0B2B52"/>
          </a:solidFill>
          <a:ln xmlns:a="http://schemas.openxmlformats.org/drawingml/2006/main" w="9525">
            <a:solidFill>
              <a:srgbClr val="1B4C8A"/>
            </a:solidFill>
            <a:prstDash val="solid"/>
          </a:ln>
        </p:spPr>
      </p:sp>
      <p:sp>
        <p:nvSpPr>
          <p:cNvPr id="24" name="">
            <a:extLst xmlns:a="http://schemas.openxmlformats.org/drawingml/2006/main">
              <a:ext uri="{FF2B5EF4-FFF2-40B4-BE49-F238E27FC236}">
                <a16:creationId xmlns:a16="http://schemas.microsoft.com/office/drawing/2014/main" id="{C5A1F1C6-A5F1-49B9-908D-11D3CE629961}"/>
              </a:ext>
            </a:extLst>
          </p:cNvPr>
          <p:cNvSpPr>
            <a:spLocks xmlns:a="http://schemas.openxmlformats.org/drawingml/2006/main" noGrp="1"/>
          </p:cNvSpPr>
          <p:nvPr/>
        </p:nvSpPr>
        <p:spPr>
          <a:xfrm xmlns:a="http://schemas.openxmlformats.org/drawingml/2006/main">
            <a:off x="8972550" y="4038600"/>
            <a:ext cx="2552700" cy="38100"/>
          </a:xfrm>
          <a:prstGeom xmlns:a="http://schemas.openxmlformats.org/drawingml/2006/main" prst="rect">
            <a:avLst/>
          </a:prstGeom>
          <a:solidFill xmlns:a="http://schemas.openxmlformats.org/drawingml/2006/main">
            <a:srgbClr val="F5C33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C3300E0-90A2-414B-B925-325B98AFB6A6}"/>
              </a:ext>
            </a:extLst>
          </p:cNvPr>
          <p:cNvSpPr>
            <a:spLocks xmlns:a="http://schemas.openxmlformats.org/drawingml/2006/main" noGrp="1"/>
          </p:cNvSpPr>
          <p:nvPr/>
        </p:nvSpPr>
        <p:spPr>
          <a:xfrm xmlns:a="http://schemas.openxmlformats.org/drawingml/2006/main">
            <a:off x="9124950" y="4191000"/>
            <a:ext cx="2247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5C33B"/>
                </a:solidFill>
                <a:latin typeface="微软雅黑"/>
                <a:ea typeface="微软雅黑"/>
                <a:cs typeface="微软雅黑"/>
              </a:defRPr>
            </a:pPr>
            <a:r>
              <a:rPr sz="1125" b="1">
                <a:solidFill>
                  <a:srgbClr val="F5C33B"/>
                </a:solidFill>
                <a:latin typeface="微软雅黑"/>
                <a:ea typeface="微软雅黑"/>
                <a:cs typeface="微软雅黑"/>
              </a:rPr>
              <a:t>算得清</a:t>
            </a:r>
          </a:p>
        </p:txBody>
      </p:sp>
      <p:sp>
        <p:nvSpPr>
          <p:cNvPr id="26" name="">
            <a:extLst xmlns:a="http://schemas.openxmlformats.org/drawingml/2006/main">
              <a:ext uri="{FF2B5EF4-FFF2-40B4-BE49-F238E27FC236}">
                <a16:creationId xmlns:a16="http://schemas.microsoft.com/office/drawing/2014/main" id="{7C995130-B31D-401B-8E40-438318D885ED}"/>
              </a:ext>
            </a:extLst>
          </p:cNvPr>
          <p:cNvSpPr>
            <a:spLocks xmlns:a="http://schemas.openxmlformats.org/drawingml/2006/main" noGrp="1"/>
          </p:cNvSpPr>
          <p:nvPr/>
        </p:nvSpPr>
        <p:spPr>
          <a:xfrm xmlns:a="http://schemas.openxmlformats.org/drawingml/2006/main">
            <a:off x="9124950" y="4495800"/>
            <a:ext cx="2266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863" b="0">
                <a:solidFill>
                  <a:srgbClr val="D6E6F7"/>
                </a:solidFill>
                <a:latin typeface="微软雅黑"/>
                <a:ea typeface="微软雅黑"/>
                <a:cs typeface="微软雅黑"/>
              </a:defRPr>
            </a:pPr>
            <a:r>
              <a:rPr sz="863" b="0">
                <a:solidFill>
                  <a:srgbClr val="D6E6F7"/>
                </a:solidFill>
                <a:latin typeface="微软雅黑"/>
                <a:ea typeface="微软雅黑"/>
                <a:cs typeface="微软雅黑"/>
              </a:rPr>
              <a:t>转岗 / 招聘 / 外委口径明确，回收期可代公式</a:t>
            </a:r>
          </a:p>
        </p:txBody>
      </p:sp>
      <p:sp>
        <p:nvSpPr>
          <p:cNvPr id="27" name="">
            <a:extLst xmlns:a="http://schemas.openxmlformats.org/drawingml/2006/main">
              <a:ext uri="{FF2B5EF4-FFF2-40B4-BE49-F238E27FC236}">
                <a16:creationId xmlns:a16="http://schemas.microsoft.com/office/drawing/2014/main" id="{D4A741B8-9982-45B0-A09F-11F4F6C0D4D9}"/>
              </a:ext>
            </a:extLst>
          </p:cNvPr>
          <p:cNvSpPr>
            <a:spLocks xmlns:a="http://schemas.openxmlformats.org/drawingml/2006/main" noGrp="1"/>
          </p:cNvSpPr>
          <p:nvPr/>
        </p:nvSpPr>
        <p:spPr>
          <a:xfrm xmlns:a="http://schemas.openxmlformats.org/drawingml/2006/main">
            <a:off x="857250" y="53340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微软雅黑"/>
                <a:ea typeface="微软雅黑"/>
                <a:cs typeface="微软雅黑"/>
              </a:defRPr>
            </a:pPr>
            <a:r>
              <a:rPr sz="975" b="0">
                <a:solidFill>
                  <a:srgbClr val="7A9CC4"/>
                </a:solidFill>
                <a:latin typeface="微软雅黑"/>
                <a:ea typeface="微软雅黑"/>
                <a:cs typeface="微软雅黑"/>
              </a:rPr>
              <a:t>参赛单位</a:t>
            </a:r>
          </a:p>
        </p:txBody>
      </p:sp>
      <p:sp>
        <p:nvSpPr>
          <p:cNvPr id="28" name="">
            <a:extLst xmlns:a="http://schemas.openxmlformats.org/drawingml/2006/main">
              <a:ext uri="{FF2B5EF4-FFF2-40B4-BE49-F238E27FC236}">
                <a16:creationId xmlns:a16="http://schemas.microsoft.com/office/drawing/2014/main" id="{56764F29-2F34-470C-B4E4-7B411FB2B1DC}"/>
              </a:ext>
            </a:extLst>
          </p:cNvPr>
          <p:cNvSpPr>
            <a:spLocks xmlns:a="http://schemas.openxmlformats.org/drawingml/2006/main" noGrp="1"/>
          </p:cNvSpPr>
          <p:nvPr/>
        </p:nvSpPr>
        <p:spPr>
          <a:xfrm xmlns:a="http://schemas.openxmlformats.org/drawingml/2006/main">
            <a:off x="857250" y="55816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广东科技学院</a:t>
            </a:r>
          </a:p>
        </p:txBody>
      </p:sp>
      <p:sp>
        <p:nvSpPr>
          <p:cNvPr id="29" name="">
            <a:extLst xmlns:a="http://schemas.openxmlformats.org/drawingml/2006/main">
              <a:ext uri="{FF2B5EF4-FFF2-40B4-BE49-F238E27FC236}">
                <a16:creationId xmlns:a16="http://schemas.microsoft.com/office/drawing/2014/main" id="{F2DB07C3-D34F-4066-9E53-95ACA83EF26E}"/>
              </a:ext>
            </a:extLst>
          </p:cNvPr>
          <p:cNvSpPr>
            <a:spLocks xmlns:a="http://schemas.openxmlformats.org/drawingml/2006/main" noGrp="1"/>
          </p:cNvSpPr>
          <p:nvPr/>
        </p:nvSpPr>
        <p:spPr>
          <a:xfrm xmlns:a="http://schemas.openxmlformats.org/drawingml/2006/main">
            <a:off x="3562350" y="53340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微软雅黑"/>
                <a:ea typeface="微软雅黑"/>
                <a:cs typeface="微软雅黑"/>
              </a:defRPr>
            </a:pPr>
            <a:r>
              <a:rPr sz="975" b="0">
                <a:solidFill>
                  <a:srgbClr val="7A9CC4"/>
                </a:solidFill>
                <a:latin typeface="微软雅黑"/>
                <a:ea typeface="微软雅黑"/>
                <a:cs typeface="微软雅黑"/>
              </a:rPr>
              <a:t>赛道</a:t>
            </a:r>
          </a:p>
        </p:txBody>
      </p:sp>
      <p:sp>
        <p:nvSpPr>
          <p:cNvPr id="30" name="">
            <a:extLst xmlns:a="http://schemas.openxmlformats.org/drawingml/2006/main">
              <a:ext uri="{FF2B5EF4-FFF2-40B4-BE49-F238E27FC236}">
                <a16:creationId xmlns:a16="http://schemas.microsoft.com/office/drawing/2014/main" id="{3EECAE92-918F-4B94-8D9D-C48957546EA7}"/>
              </a:ext>
            </a:extLst>
          </p:cNvPr>
          <p:cNvSpPr>
            <a:spLocks xmlns:a="http://schemas.openxmlformats.org/drawingml/2006/main" noGrp="1"/>
          </p:cNvSpPr>
          <p:nvPr/>
        </p:nvSpPr>
        <p:spPr>
          <a:xfrm xmlns:a="http://schemas.openxmlformats.org/drawingml/2006/main">
            <a:off x="3562350" y="55816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场景创新 · 软件创新</a:t>
            </a:r>
          </a:p>
        </p:txBody>
      </p:sp>
      <p:sp>
        <p:nvSpPr>
          <p:cNvPr id="31" name="">
            <a:extLst xmlns:a="http://schemas.openxmlformats.org/drawingml/2006/main">
              <a:ext uri="{FF2B5EF4-FFF2-40B4-BE49-F238E27FC236}">
                <a16:creationId xmlns:a16="http://schemas.microsoft.com/office/drawing/2014/main" id="{2660D9AB-EA18-49BA-9279-900E184F20B3}"/>
              </a:ext>
            </a:extLst>
          </p:cNvPr>
          <p:cNvSpPr>
            <a:spLocks xmlns:a="http://schemas.openxmlformats.org/drawingml/2006/main" noGrp="1"/>
          </p:cNvSpPr>
          <p:nvPr/>
        </p:nvSpPr>
        <p:spPr>
          <a:xfrm xmlns:a="http://schemas.openxmlformats.org/drawingml/2006/main">
            <a:off x="6267450" y="53340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微软雅黑"/>
                <a:ea typeface="微软雅黑"/>
                <a:cs typeface="微软雅黑"/>
              </a:defRPr>
            </a:pPr>
            <a:r>
              <a:rPr sz="975" b="0">
                <a:solidFill>
                  <a:srgbClr val="7A9CC4"/>
                </a:solidFill>
                <a:latin typeface="微软雅黑"/>
                <a:ea typeface="微软雅黑"/>
                <a:cs typeface="微软雅黑"/>
              </a:rPr>
              <a:t>团队</a:t>
            </a:r>
          </a:p>
        </p:txBody>
      </p:sp>
      <p:sp>
        <p:nvSpPr>
          <p:cNvPr id="32" name="">
            <a:extLst xmlns:a="http://schemas.openxmlformats.org/drawingml/2006/main">
              <a:ext uri="{FF2B5EF4-FFF2-40B4-BE49-F238E27FC236}">
                <a16:creationId xmlns:a16="http://schemas.microsoft.com/office/drawing/2014/main" id="{2DED053A-E742-4917-A21A-656472959A16}"/>
              </a:ext>
            </a:extLst>
          </p:cNvPr>
          <p:cNvSpPr>
            <a:spLocks xmlns:a="http://schemas.openxmlformats.org/drawingml/2006/main" noGrp="1"/>
          </p:cNvSpPr>
          <p:nvPr/>
        </p:nvSpPr>
        <p:spPr>
          <a:xfrm xmlns:a="http://schemas.openxmlformats.org/drawingml/2006/main">
            <a:off x="6267450" y="55816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逐光造梦</a:t>
            </a:r>
          </a:p>
        </p:txBody>
      </p:sp>
      <p:sp>
        <p:nvSpPr>
          <p:cNvPr id="33" name="">
            <a:extLst xmlns:a="http://schemas.openxmlformats.org/drawingml/2006/main">
              <a:ext uri="{FF2B5EF4-FFF2-40B4-BE49-F238E27FC236}">
                <a16:creationId xmlns:a16="http://schemas.microsoft.com/office/drawing/2014/main" id="{B3D36C3D-B765-407C-ADB5-42493ACE88A0}"/>
              </a:ext>
            </a:extLst>
          </p:cNvPr>
          <p:cNvSpPr>
            <a:spLocks xmlns:a="http://schemas.openxmlformats.org/drawingml/2006/main" noGrp="1"/>
          </p:cNvSpPr>
          <p:nvPr/>
        </p:nvSpPr>
        <p:spPr>
          <a:xfrm xmlns:a="http://schemas.openxmlformats.org/drawingml/2006/main">
            <a:off x="8972550" y="53340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7A9CC4"/>
                </a:solidFill>
                <a:latin typeface="微软雅黑"/>
                <a:ea typeface="微软雅黑"/>
                <a:cs typeface="微软雅黑"/>
              </a:defRPr>
            </a:pPr>
            <a:r>
              <a:rPr sz="975" b="0">
                <a:solidFill>
                  <a:srgbClr val="7A9CC4"/>
                </a:solidFill>
                <a:latin typeface="微软雅黑"/>
                <a:ea typeface="微软雅黑"/>
                <a:cs typeface="微软雅黑"/>
              </a:rPr>
              <a:t>指导老师</a:t>
            </a:r>
          </a:p>
        </p:txBody>
      </p:sp>
      <p:sp>
        <p:nvSpPr>
          <p:cNvPr id="34" name="">
            <a:extLst xmlns:a="http://schemas.openxmlformats.org/drawingml/2006/main">
              <a:ext uri="{FF2B5EF4-FFF2-40B4-BE49-F238E27FC236}">
                <a16:creationId xmlns:a16="http://schemas.microsoft.com/office/drawing/2014/main" id="{799E2BCF-30AE-49D2-BA21-E8DD3C6E2B30}"/>
              </a:ext>
            </a:extLst>
          </p:cNvPr>
          <p:cNvSpPr>
            <a:spLocks xmlns:a="http://schemas.openxmlformats.org/drawingml/2006/main" noGrp="1"/>
          </p:cNvSpPr>
          <p:nvPr/>
        </p:nvSpPr>
        <p:spPr>
          <a:xfrm xmlns:a="http://schemas.openxmlformats.org/drawingml/2006/main">
            <a:off x="8972550" y="55816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王洪元 · 钟祖辉</a:t>
            </a:r>
          </a:p>
        </p:txBody>
      </p:sp>
    </p:spTree>
    <p:extLst>
      <p:ext uri="{BB962C8B-B14F-4D97-AF65-F5344CB8AC3E}">
        <p14:creationId xmlns:p14="http://schemas.microsoft.com/office/powerpoint/2010/main" val="15064514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2026-09-27T08:43:36.9550000Z</dcterms:created>
  <dcterms:modified xsi:type="dcterms:W3CDTF">2026-09-27T08:43:36.9550000Z</dcterms:modified>
</coreProperties>
</file>