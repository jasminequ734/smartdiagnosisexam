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/>
</p:presentation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lvl1pPr algn="l">
        <a:defRPr sz="2800" b="1">
          <a:solidFill>
            <a:srgbClr val="123A6B"/>
          </a:solidFill>
          <a:latin typeface="Segoe UI"/>
          <a:ea typeface="微软雅黑"/>
        </a:defRPr>
      </lvl1pPr>
    </p:titleStyle>
    <p:bodyStyle>
      <lvl1pPr marL="0" indent="-228600">
        <a:defRPr sz="1800">
          <a:solidFill>
            <a:srgbClr val="1B2733"/>
          </a:solidFill>
          <a:latin typeface="Segoe UI"/>
          <a:ea typeface="微软雅黑"/>
        </a:defRPr>
      </lvl1pPr>
      <lvl2pPr marL="228600" indent="-228600">
        <a:defRPr sz="1700">
          <a:solidFill>
            <a:srgbClr val="1B2733"/>
          </a:solidFill>
          <a:latin typeface="Segoe UI"/>
          <a:ea typeface="微软雅黑"/>
        </a:defRPr>
      </lvl2pPr>
      <lvl3pPr marL="457200" indent="-228600">
        <a:defRPr sz="1600">
          <a:solidFill>
            <a:srgbClr val="1B2733"/>
          </a:solidFill>
          <a:latin typeface="Segoe UI"/>
          <a:ea typeface="微软雅黑"/>
        </a:defRPr>
      </lvl3pPr>
      <lvl4pPr marL="685800" indent="-228600">
        <a:defRPr sz="1500">
          <a:solidFill>
            <a:srgbClr val="1B2733"/>
          </a:solidFill>
          <a:latin typeface="Segoe UI"/>
          <a:ea typeface="微软雅黑"/>
        </a:defRPr>
      </lvl4pPr>
      <lvl5pPr marL="914400" indent="-228600">
        <a:defRPr sz="1400">
          <a:solidFill>
            <a:srgbClr val="1B2733"/>
          </a:solidFill>
          <a:latin typeface="Segoe UI"/>
          <a:ea typeface="微软雅黑"/>
        </a:defRPr>
      </lvl5pPr>
    </p:bodyStyle>
    <p:otherStyle>
      <lvl1pPr>
        <a:defRPr sz="1200">
          <a:latin typeface="Segoe UI"/>
          <a:ea typeface="微软雅黑"/>
        </a:defRPr>
      </lvl1pPr>
    </p:otherStyle>
  </p:txStyles>
</p:sldMaster>
</file>

<file path=ppt/slides/_rels/slide1.xml.rels><?xml version="1.0" encoding="UTF-8" standalone="yes"?>
<Relationships xmlns="http://schemas.openxmlformats.org/package/2006/relationships"></Relationships>
</file>

<file path=ppt/slides/_rels/slide2.xml.rels><?xml version="1.0" encoding="UTF-8" standalone="yes"?>
<Relationships xmlns="http://schemas.openxmlformats.org/package/2006/relationships"></Relationships>
</file>

<file path=ppt/slides/_rels/slide3.xml.rels><?xml version="1.0" encoding="UTF-8" standalone="yes"?>
<Relationships xmlns="http://schemas.openxmlformats.org/package/2006/relationships"></Relationships>
</file>

<file path=ppt/slides/_rels/slide4.xml.rels><?xml version="1.0" encoding="UTF-8" standalone="yes"?>
<Relationships xmlns="http://schemas.openxmlformats.org/package/2006/relationships"></Relationships>
</file>

<file path=ppt/slides/_rels/slide5.xml.rels><?xml version="1.0" encoding="UTF-8" standalone="yes"?>
<Relationships xmlns="http://schemas.openxmlformats.org/package/2006/relationships"></Relationships>
</file>

<file path=ppt/slides/_rels/slide6.xml.rels><?xml version="1.0" encoding="UTF-8" standalone="yes"?>
<Relationships xmlns="http://schemas.openxmlformats.org/package/2006/relationships"></Relationships>
</file>

<file path=ppt/slides/_rels/slide7.xml.rels><?xml version="1.0" encoding="UTF-8" standalone="yes"?>
<Relationships xmlns="http://schemas.openxmlformats.org/package/2006/relationships"></Relationships>
</file>

<file path=ppt/slides/_rels/slide8.xml.rels><?xml version="1.0" encoding="UTF-8" standalone="yes"?>
<Relationships xmlns="http://schemas.openxmlformats.org/package/2006/relationships"></Relationships>
</file>

<file path=ppt/slides/_rels/slide9.xml.rels><?xml version="1.0" encoding="UTF-8" standalone="yes"?>
<Relationships xmlns="http://schemas.openxmlformats.org/package/2006/relationships"></Relationships>
</file>

<file path=ppt/slides/_rels/slide10.xml.rels><?xml version="1.0" encoding="UTF-8" standalone="yes"?>
<Relationships xmlns="http://schemas.openxmlformats.org/package/2006/relationships"></Relationships>
</file>

<file path=ppt/slides/_rels/slide11.xml.rels><?xml version="1.0" encoding="UTF-8" standalone="yes"?>
<Relationships xmlns="http://schemas.openxmlformats.org/package/2006/relationships"></Relationships>
</file>

<file path=ppt/slides/_rels/slide12.xml.rels><?xml version="1.0" encoding="UTF-8" standalone="yes"?>
<Relationships xmlns="http://schemas.openxmlformats.org/package/2006/relationships"></Relationships>
</file>

<file path=ppt/slides/_rels/slide13.xml.rels><?xml version="1.0" encoding="UTF-8" standalone="yes"?>
<Relationships xmlns="http://schemas.openxmlformats.org/package/2006/relationships"></Relationships>
</file>

<file path=ppt/slides/_rels/slide14.xml.rels><?xml version="1.0" encoding="UTF-8" standalone="yes"?>
<Relationships xmlns="http://schemas.openxmlformats.org/package/2006/relationships"></Relationships>
</file>

<file path=ppt/slides/_rels/slide15.xml.rels><?xml version="1.0" encoding="UTF-8" standalone="yes"?>
<Relationships xmlns="http://schemas.openxmlformats.org/package/2006/relationships"></Relationships>
</file>

<file path=ppt/slides/_rels/slide16.xml.rels><?xml version="1.0" encoding="UTF-8" standalone="yes"?>
<Relationships xmlns="http://schemas.openxmlformats.org/package/2006/relationships"></Relationships>
</file>

<file path=ppt/slides/_rels/slide17.xml.rels><?xml version="1.0" encoding="UTF-8" standalone="yes"?>
<Relationships xmlns="http://schemas.openxmlformats.org/package/2006/relationships"></Relationships>
</file>

<file path=ppt/slides/_rels/slide18.xml.rels><?xml version="1.0" encoding="UTF-8" standalone="yes"?>
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731520" y="1874520"/>
            <a:ext cx="137160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3" name="CoverTitle"/>
          <p:cNvSpPr txBox="1"/>
          <p:nvPr/>
        </p:nvSpPr>
        <p:spPr>
          <a:xfrm>
            <a:off x="731520" y="2103120"/>
            <a:ext cx="9692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4" name="CoverSub"/>
          <p:cNvSpPr txBox="1"/>
          <p:nvPr/>
        </p:nvSpPr>
        <p:spPr>
          <a:xfrm>
            <a:off x="731520" y="3310128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A8C8EE"/>
                </a:solidFill>
                <a:latin typeface="Segoe UI"/>
                <a:ea typeface="微软雅黑"/>
                <a:cs typeface="Segoe UI"/>
              </a:rPr>
              <a:t>项目技术方案汇报</a:t>
            </a:r>
          </a:p>
        </p:txBody>
      </p:sp>
      <p:sp>
        <p:nvSpPr>
          <p:cNvPr id="5" name="CoverMeta"/>
          <p:cNvSpPr txBox="1"/>
          <p:nvPr/>
        </p:nvSpPr>
        <p:spPr>
          <a:xfrm>
            <a:off x="731520" y="4206240"/>
            <a:ext cx="9692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250" dirty="0">
                <a:solidFill>
                  <a:srgbClr val="C6DAF2"/>
                </a:solidFill>
                <a:latin typeface="Segoe UI"/>
                <a:ea typeface="微软雅黑"/>
                <a:cs typeface="Segoe UI"/>
              </a:rPr>
              <a:t>变电运维中心人才培养平台</a:t>
            </a:r>
          </a:p>
          <a:p>
            <a:pPr marL="0" indent="0">
              <a:spcAft>
                <a:spcPts val="90"/>
              </a:spcAft>
              <a:buNone/>
            </a:pPr>
            <a:r>
              <a:rPr lang="zh-CN" altLang="en-US" sz="1150" dirty="0">
                <a:solidFill>
                  <a:srgbClr val="8FB4DC"/>
                </a:solidFill>
                <a:latin typeface="Segoe UI"/>
                <a:ea typeface="微软雅黑"/>
                <a:cs typeface="Segoe UI"/>
              </a:rPr>
              <a:t>Spring Boot 3.5 · Vue 3 · MySQL 8+ · Docker Compose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8FB4DC"/>
                </a:solidFill>
                <a:latin typeface="Segoe UI"/>
                <a:ea typeface="微软雅黑"/>
                <a:cs typeface="Segoe UI"/>
              </a:rPr>
              <a:t>2026 年 9 月</a:t>
            </a:r>
          </a:p>
        </p:txBody>
      </p:sp>
      <p:sp>
        <p:nvSpPr>
          <p:cNvPr id="6" name="FootBar"/>
          <p:cNvSpPr txBox="1"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业务背景与现状问题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变电运维中心的人才培养与用人决策，目前分散在三套口径里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Card"/>
          <p:cNvSpPr txBox="1"/>
          <p:nvPr/>
        </p:nvSpPr>
        <p:spPr>
          <a:xfrm>
            <a:off x="731520" y="1371600"/>
            <a:ext cx="3393440" cy="21031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能力差距说不清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2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岗位要求与个人实际等级之间缺少量化依据，判断主要依赖师傅的经验。</a:t>
            </a:r>
          </a:p>
        </p:txBody>
      </p:sp>
      <p:sp>
        <p:nvSpPr>
          <p:cNvPr id="6" name="Card"/>
          <p:cNvSpPr txBox="1"/>
          <p:nvPr/>
        </p:nvSpPr>
        <p:spPr>
          <a:xfrm>
            <a:off x="4399280" y="1371600"/>
            <a:ext cx="3393440" cy="21031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数据不回流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2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考试、实操任务与检测报告分散在不同载体，问题暴露后没有回到培训。</a:t>
            </a:r>
          </a:p>
        </p:txBody>
      </p:sp>
      <p:sp>
        <p:nvSpPr>
          <p:cNvPr id="7" name="Card"/>
          <p:cNvSpPr txBox="1"/>
          <p:nvPr/>
        </p:nvSpPr>
        <p:spPr>
          <a:xfrm>
            <a:off x="8067040" y="1371600"/>
            <a:ext cx="3393440" cy="21031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决策没有口径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2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公司层面的技能缺口与用人成本缺少可核对的数字，计划只能凭估算。</a:t>
            </a:r>
          </a:p>
        </p:txBody>
      </p:sp>
      <p:sp>
        <p:nvSpPr>
          <p:cNvPr id="8" name="SceneBox"/>
          <p:cNvSpPr txBox="1"/>
          <p:nvPr/>
        </p:nvSpPr>
        <p:spPr>
          <a:xfrm>
            <a:off x="731520" y="3840480"/>
            <a:ext cx="1072896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219456" tIns="146304" rIns="219456" bIns="146304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13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落地场景：某市供电公司变电运维中心，覆盖继电保护、倒闸操作、高压试验、故障录波与安全规程五类技能。</a:t>
            </a:r>
          </a:p>
        </p:txBody>
      </p:sp>
      <p:sp>
        <p:nvSpPr>
          <p:cNvPr id="9" name="Goal"/>
          <p:cNvSpPr txBox="1"/>
          <p:nvPr/>
        </p:nvSpPr>
        <p:spPr>
          <a:xfrm>
            <a:off x="731520" y="5138928"/>
            <a:ext cx="10728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1F4E79"/>
                </a:solidFill>
                <a:latin typeface="Segoe UI"/>
                <a:ea typeface="微软雅黑"/>
                <a:cs typeface="Segoe UI"/>
              </a:rPr>
              <a:t>建设目标：用一套平台回答“谁差在哪、怎么补、人和钱怎么配”。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1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建设目标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业务闭环优先，智能能力以统一接口预留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Card0"/>
          <p:cNvSpPr txBox="1"/>
          <p:nvPr/>
        </p:nvSpPr>
        <p:spPr>
          <a:xfrm>
            <a:off x="731520" y="1371600"/>
            <a:ext cx="5209032" cy="169164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</p:sp>
      <p:sp>
        <p:nvSpPr>
          <p:cNvPr id="6" name="Body0"/>
          <p:cNvSpPr txBox="1"/>
          <p:nvPr/>
        </p:nvSpPr>
        <p:spPr>
          <a:xfrm>
            <a:off x="914400" y="1536192"/>
            <a:ext cx="4843272" cy="1362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01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zh-CN" altLang="en-US" sz="17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能力可量化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zh-CN" altLang="en-US" sz="12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技能雷达同时对比当前等级、岗位要求与公司未来需求，缺口逐条给出依据。</a:t>
            </a:r>
          </a:p>
        </p:txBody>
      </p:sp>
      <p:sp>
        <p:nvSpPr>
          <p:cNvPr id="7" name="Card1"/>
          <p:cNvSpPr txBox="1"/>
          <p:nvPr/>
        </p:nvSpPr>
        <p:spPr>
          <a:xfrm>
            <a:off x="6251448" y="1371600"/>
            <a:ext cx="5209032" cy="169164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</p:sp>
      <p:sp>
        <p:nvSpPr>
          <p:cNvPr id="8" name="Body1"/>
          <p:cNvSpPr txBox="1"/>
          <p:nvPr/>
        </p:nvSpPr>
        <p:spPr>
          <a:xfrm>
            <a:off x="6434328" y="1536192"/>
            <a:ext cx="4843272" cy="1362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02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zh-CN" altLang="en-US" sz="17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培养成闭环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zh-CN" altLang="en-US" sz="12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考试、练习、实操任务与检测报告的结论回流到个人欠缺与学习建议。</a:t>
            </a:r>
          </a:p>
        </p:txBody>
      </p:sp>
      <p:sp>
        <p:nvSpPr>
          <p:cNvPr id="9" name="Card2"/>
          <p:cNvSpPr txBox="1"/>
          <p:nvPr/>
        </p:nvSpPr>
        <p:spPr>
          <a:xfrm>
            <a:off x="731520" y="3337560"/>
            <a:ext cx="5209032" cy="169164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</p:sp>
      <p:sp>
        <p:nvSpPr>
          <p:cNvPr id="10" name="Body2"/>
          <p:cNvSpPr txBox="1"/>
          <p:nvPr/>
        </p:nvSpPr>
        <p:spPr>
          <a:xfrm>
            <a:off x="914400" y="3502152"/>
            <a:ext cx="4843272" cy="1362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03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zh-CN" altLang="en-US" sz="17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管理有口径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zh-CN" altLang="en-US" sz="12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班组报告与公司看板提供人才缺口、培训成本与关键岗位备份的可核对数据。</a:t>
            </a:r>
          </a:p>
        </p:txBody>
      </p:sp>
      <p:sp>
        <p:nvSpPr>
          <p:cNvPr id="11" name="Card3"/>
          <p:cNvSpPr txBox="1"/>
          <p:nvPr/>
        </p:nvSpPr>
        <p:spPr>
          <a:xfrm>
            <a:off x="6251448" y="3337560"/>
            <a:ext cx="5209032" cy="169164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</p:sp>
      <p:sp>
        <p:nvSpPr>
          <p:cNvPr id="12" name="Body3"/>
          <p:cNvSpPr txBox="1"/>
          <p:nvPr/>
        </p:nvSpPr>
        <p:spPr>
          <a:xfrm>
            <a:off x="6434328" y="3502152"/>
            <a:ext cx="4843272" cy="1362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04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zh-CN" altLang="en-US" sz="17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智能可替换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zh-CN" altLang="en-US" sz="12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三个 Agent 接口稳定，现阶段走规则引擎，模型上线后前端与接口不变。</a:t>
            </a:r>
          </a:p>
        </p:txBody>
      </p:sp>
      <p:sp>
        <p:nvSpPr>
          <p:cNvPr id="13" name="Principle"/>
          <p:cNvSpPr txBox="1"/>
          <p:nvPr/>
        </p:nvSpPr>
        <p:spPr>
          <a:xfrm>
            <a:off x="731520" y="5623560"/>
            <a:ext cx="1072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1350" b="1" dirty="0">
                <a:solidFill>
                  <a:srgbClr val="1F4E79"/>
                </a:solidFill>
                <a:latin typeface="Segoe UI"/>
                <a:ea typeface="微软雅黑"/>
                <a:cs typeface="Segoe UI"/>
              </a:rPr>
              <a:t>设计原则：先做系统后训 Agent，接口冻结，所有建议必须人工确认。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系统总体架构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五层结构，鉴权前置，能力层与 Web 框架解耦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展示层"/>
          <p:cNvSpPr txBox="1"/>
          <p:nvPr/>
        </p:nvSpPr>
        <p:spPr>
          <a:xfrm>
            <a:off x="800100" y="1371600"/>
            <a:ext cx="7551420" cy="749808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73152" rIns="182880" bIns="73152" anchor="ctr">
            <a:normAutofit/>
          </a:bodyPr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展示层　Vue 3 + Element Plus 按角色渲染导航与页面，只调用业务接口与 Agent 接口</a:t>
            </a:r>
          </a:p>
        </p:txBody>
      </p:sp>
      <p:sp>
        <p:nvSpPr>
          <p:cNvPr id="6" name="展示层Chip"/>
          <p:cNvSpPr txBox="1"/>
          <p:nvPr/>
        </p:nvSpPr>
        <p:spPr>
          <a:xfrm>
            <a:off x="731520" y="1371600"/>
            <a:ext cx="68580" cy="749808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7" name="接入层"/>
          <p:cNvSpPr txBox="1"/>
          <p:nvPr/>
        </p:nvSpPr>
        <p:spPr>
          <a:xfrm>
            <a:off x="800100" y="2249424"/>
            <a:ext cx="7551420" cy="749808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73152" rIns="182880" bIns="73152" anchor="ctr">
            <a:normAutofit/>
          </a:bodyPr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接入层　RoleInterceptor 按路径前缀鉴权，越权统一返回 403 与 code=40301</a:t>
            </a:r>
          </a:p>
        </p:txBody>
      </p:sp>
      <p:sp>
        <p:nvSpPr>
          <p:cNvPr id="8" name="接入层Chip"/>
          <p:cNvSpPr txBox="1"/>
          <p:nvPr/>
        </p:nvSpPr>
        <p:spPr>
          <a:xfrm>
            <a:off x="731520" y="2249424"/>
            <a:ext cx="68580" cy="749808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9" name="应用层"/>
          <p:cNvSpPr txBox="1"/>
          <p:nvPr/>
        </p:nvSpPr>
        <p:spPr>
          <a:xfrm>
            <a:off x="800100" y="3127248"/>
            <a:ext cx="7551420" cy="749808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73152" rIns="182880" bIns="73152" anchor="ctr">
            <a:normAutofit/>
          </a:bodyPr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应用层　6 个 Controller 与 ExamCenter，承载个人、班组、公司、管理员四类业务</a:t>
            </a:r>
          </a:p>
        </p:txBody>
      </p:sp>
      <p:sp>
        <p:nvSpPr>
          <p:cNvPr id="10" name="应用层Chip"/>
          <p:cNvSpPr txBox="1"/>
          <p:nvPr/>
        </p:nvSpPr>
        <p:spPr>
          <a:xfrm>
            <a:off x="731520" y="3127248"/>
            <a:ext cx="68580" cy="749808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11" name="能力层"/>
          <p:cNvSpPr txBox="1"/>
          <p:nvPr/>
        </p:nvSpPr>
        <p:spPr>
          <a:xfrm>
            <a:off x="800100" y="4005072"/>
            <a:ext cx="7551420" cy="749808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73152" rIns="182880" bIns="73152" anchor="ctr">
            <a:normAutofit/>
          </a:bodyPr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能力层　规则引擎、报告框格与文档渲染、智能抽题、能力记忆库、标准依据库</a:t>
            </a:r>
          </a:p>
        </p:txBody>
      </p:sp>
      <p:sp>
        <p:nvSpPr>
          <p:cNvPr id="12" name="能力层Chip"/>
          <p:cNvSpPr txBox="1"/>
          <p:nvPr/>
        </p:nvSpPr>
        <p:spPr>
          <a:xfrm>
            <a:off x="731520" y="4005072"/>
            <a:ext cx="68580" cy="749808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13" name="数据层"/>
          <p:cNvSpPr txBox="1"/>
          <p:nvPr/>
        </p:nvSpPr>
        <p:spPr>
          <a:xfrm>
            <a:off x="800100" y="4882896"/>
            <a:ext cx="7551420" cy="749808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73152" rIns="182880" bIns="73152" anchor="ctr">
            <a:normAutofit/>
          </a:bodyPr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数据层　MySQL 8+，52 张表承载主数据、业务数据、规则、记忆、Agent 结果与审计留痕</a:t>
            </a:r>
          </a:p>
        </p:txBody>
      </p:sp>
      <p:sp>
        <p:nvSpPr>
          <p:cNvPr id="14" name="数据层Chip"/>
          <p:cNvSpPr txBox="1"/>
          <p:nvPr/>
        </p:nvSpPr>
        <p:spPr>
          <a:xfrm>
            <a:off x="731520" y="4882896"/>
            <a:ext cx="68580" cy="749808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15" name="Infra"/>
          <p:cNvSpPr txBox="1"/>
          <p:nvPr/>
        </p:nvSpPr>
        <p:spPr>
          <a:xfrm>
            <a:off x="8625840" y="1371600"/>
            <a:ext cx="2834640" cy="4261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182880" tIns="182880" rIns="182880" bIns="182880" anchor="t">
            <a:normAutofit/>
          </a:bodyPr>
          <a:lstStyle/>
          <a:p>
            <a:pPr marL="0" indent="0">
              <a:spcAft>
                <a:spcPts val="13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基础设施</a:t>
            </a:r>
          </a:p>
          <a:p>
            <a:pPr marL="0" indent="0">
              <a:spcAft>
                <a:spcPts val="13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Docker Compose 统一编排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1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MySQL 8+ 一套库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API 8080 · Web 5173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7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技术选型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单体优先，依赖精简，文档导出与鉴权自研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graphicFrame>
        <p:nvGraphicFramePr>
          <p:cNvPr id="5" name="Stack"/>
          <p:cNvGraphicFramePr>
            <a:graphicFrameLocks noGrp="1"/>
          </p:cNvGraphicFramePr>
          <p:nvPr/>
        </p:nvGraphicFramePr>
        <p:xfrm>
          <a:off x="731520" y="1371600"/>
          <a:ext cx="10728960" cy="3145536"/>
        </p:xfrm>
        <a:graphic>
          <a:graphicData uri="http://schemas.openxmlformats.org/drawingml/2006/table">
            <a:tbl>
              <a:tblPr firstRow="1" bandRow="0"/>
              <a:tblGrid>
                <a:gridCol w="1716634"/>
                <a:gridCol w="3218688"/>
                <a:gridCol w="5793638"/>
              </a:tblGrid>
              <a:tr h="402336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领域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选型与版本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用途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后端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Spring Boot 3.5.16 · Java 25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Web、Validation 与 JDBC 三个 Starter，鉴权由拦截器实现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前端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Vue 3 · Vite · Element Plus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单页应用，表格、表单与弹窗统一交互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数据库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MySQL 8+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结构化扩展字段使用 JSON，时间列使用 DATETIME(3)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文档导出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PDFBox 3.0.3 · POI 5.4.1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PDF 与 Word 由同一套报告框格模型渲染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接口文档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springdoc-openapi 2.6.0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生成 OpenAPI 3.0，Swagger UI 位于 /swagger-ui.html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部署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Docker Compose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一条命令启动 MySQL、API 与 Web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6" name="Choice"/>
          <p:cNvSpPr txBox="1"/>
          <p:nvPr/>
        </p:nvSpPr>
        <p:spPr>
          <a:xfrm>
            <a:off x="731520" y="4617720"/>
            <a:ext cx="10728960" cy="155448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219456" tIns="164592" rIns="219456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选型取舍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规则引擎直接使用数据库 JSON 规则表，不引入重型规则框架。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未引入 Spring Security、JPA 与消息中间件，编译与启动开销小。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后端约 3 900 行、前端约 3 400 行，规模适合单体部署。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8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角色与数据可见范围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四类身份对应四套页面范围，权限在服务端强制判定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graphicFrame>
        <p:nvGraphicFramePr>
          <p:cNvPr id="5" name="Roles"/>
          <p:cNvGraphicFramePr>
            <a:graphicFrameLocks noGrp="1"/>
          </p:cNvGraphicFramePr>
          <p:nvPr/>
        </p:nvGraphicFramePr>
        <p:xfrm>
          <a:off x="731520" y="1371600"/>
          <a:ext cx="10728960" cy="3877056"/>
        </p:xfrm>
        <a:graphic>
          <a:graphicData uri="http://schemas.openxmlformats.org/drawingml/2006/table">
            <a:tbl>
              <a:tblPr firstRow="1" bandRow="0"/>
              <a:tblGrid>
                <a:gridCol w="1716634"/>
                <a:gridCol w="1716634"/>
                <a:gridCol w="7295693"/>
              </a:tblGrid>
              <a:tr h="402336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账号 / 角色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页面范围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可见内容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</a:tr>
              <a:tr h="86868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zhangwei</a:t>
                      </a:r>
                    </a:p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员工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PERSONAL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本人技能雷达、自画像、能力、记忆、成长、差距建议、学习与考试、实操任务，全部只返回本人数据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limin</a:t>
                      </a:r>
                    </a:p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班组长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PERSONAL</a:t>
                      </a:r>
                    </a:p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+ 班组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员工全部板块，外加班组报告：每次实操活动一份检测报告，作为运行诊断 Agent 的输入之一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86868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wangzong</a:t>
                      </a:r>
                    </a:p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公司上级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COMPANY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公司总览与运行诊断 Agent，查看全体员工汇总数据，没有个人画像页面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admin</a:t>
                      </a:r>
                    </a:p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系统管理员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PLATFORM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数据与运维、审计日志：员工档案、考试配置、试卷发放与审计，不参与业务决策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731520" y="5303520"/>
            <a:ext cx="107289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员工之间互不可见；班组长本身也是员工，只多一份班组视角；管理员既看不到个人画像，也看不到公司决策页面。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8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员工个人系统：能力画像六大板块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只返回本人数据，员工之间互不可见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Card"/>
          <p:cNvSpPr txBox="1"/>
          <p:nvPr/>
        </p:nvSpPr>
        <p:spPr>
          <a:xfrm>
            <a:off x="731520" y="1371600"/>
            <a:ext cx="3417824" cy="1481328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技能雷达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当前等级对比岗位要求与公司未来需求，逐项给出状态与优先级</a:t>
            </a:r>
          </a:p>
        </p:txBody>
      </p:sp>
      <p:sp>
        <p:nvSpPr>
          <p:cNvPr id="6" name="Card"/>
          <p:cNvSpPr txBox="1"/>
          <p:nvPr/>
        </p:nvSpPr>
        <p:spPr>
          <a:xfrm>
            <a:off x="4387088" y="1371600"/>
            <a:ext cx="3417824" cy="1481328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个人自画像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基本信息、职业目标、发展意愿、师傅与协作评价、岗位匹配度</a:t>
            </a:r>
          </a:p>
        </p:txBody>
      </p:sp>
      <p:sp>
        <p:nvSpPr>
          <p:cNvPr id="7" name="Card"/>
          <p:cNvSpPr txBox="1"/>
          <p:nvPr/>
        </p:nvSpPr>
        <p:spPr>
          <a:xfrm>
            <a:off x="8042656" y="1371600"/>
            <a:ext cx="3417824" cy="1481328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个人能力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硬技能、软技能、安全、实操、考试与证书六类能力分项</a:t>
            </a:r>
          </a:p>
        </p:txBody>
      </p:sp>
      <p:sp>
        <p:nvSpPr>
          <p:cNvPr id="8" name="Card"/>
          <p:cNvSpPr txBox="1"/>
          <p:nvPr/>
        </p:nvSpPr>
        <p:spPr>
          <a:xfrm>
            <a:off x="731520" y="3090672"/>
            <a:ext cx="3417824" cy="1481328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记忆展示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学习、错误、实操、考试、安全、带教、复盘七类记忆按时间线留存</a:t>
            </a:r>
          </a:p>
        </p:txBody>
      </p:sp>
      <p:sp>
        <p:nvSpPr>
          <p:cNvPr id="9" name="Card"/>
          <p:cNvSpPr txBox="1"/>
          <p:nvPr/>
        </p:nvSpPr>
        <p:spPr>
          <a:xfrm>
            <a:off x="4387088" y="3090672"/>
            <a:ext cx="3417824" cy="1481328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成长轨迹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技能等级、证书、考试、任务、培训与晋升准备度</a:t>
            </a:r>
          </a:p>
        </p:txBody>
      </p:sp>
      <p:sp>
        <p:nvSpPr>
          <p:cNvPr id="10" name="Card"/>
          <p:cNvSpPr txBox="1"/>
          <p:nvPr/>
        </p:nvSpPr>
        <p:spPr>
          <a:xfrm>
            <a:off x="8042656" y="3090672"/>
            <a:ext cx="3417824" cy="1481328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差距与建议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汇总个人欠缺，由个人学习 Agent 给出课程、带教与模拟考计划</a:t>
            </a:r>
          </a:p>
        </p:txBody>
      </p:sp>
      <p:sp>
        <p:nvSpPr>
          <p:cNvPr id="11" name="Note"/>
          <p:cNvSpPr txBox="1"/>
          <p:nvPr/>
        </p:nvSpPr>
        <p:spPr>
          <a:xfrm>
            <a:off x="731520" y="5440680"/>
            <a:ext cx="107289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配套模块：学习与考试（12 条站内资源与外网公开资料站）、练习题（按缺口权重抽题）、考试中心（管理员统一开考后方可进入）。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3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考试与练习闭环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管理员统一开考，员工进入考试，成绩与错题回流培训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Step1"/>
          <p:cNvSpPr txBox="1"/>
          <p:nvPr/>
        </p:nvSpPr>
        <p:spPr>
          <a:xfrm>
            <a:off x="731520" y="1371600"/>
            <a:ext cx="2305050" cy="20574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1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配置与开考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设定题库范围、题量、限时与及格线，执行统一开考。</a:t>
            </a:r>
          </a:p>
        </p:txBody>
      </p:sp>
      <p:sp>
        <p:nvSpPr>
          <p:cNvPr id="6" name="Arrow1"/>
          <p:cNvSpPr txBox="1"/>
          <p:nvPr/>
        </p:nvSpPr>
        <p:spPr>
          <a:xfrm>
            <a:off x="3160014" y="2299716"/>
            <a:ext cx="256032" cy="201168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7" name="Step2"/>
          <p:cNvSpPr txBox="1"/>
          <p:nvPr/>
        </p:nvSpPr>
        <p:spPr>
          <a:xfrm>
            <a:off x="3539490" y="1371600"/>
            <a:ext cx="2305050" cy="20574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2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门禁校验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未开考时按钮不可点击且接口拒绝发卷，已交卷显示已提交。</a:t>
            </a:r>
          </a:p>
        </p:txBody>
      </p:sp>
      <p:sp>
        <p:nvSpPr>
          <p:cNvPr id="8" name="Arrow2"/>
          <p:cNvSpPr txBox="1"/>
          <p:nvPr/>
        </p:nvSpPr>
        <p:spPr>
          <a:xfrm>
            <a:off x="5967984" y="2299716"/>
            <a:ext cx="256032" cy="201168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9" name="Step3"/>
          <p:cNvSpPr txBox="1"/>
          <p:nvPr/>
        </p:nvSpPr>
        <p:spPr>
          <a:xfrm>
            <a:off x="6347460" y="1371600"/>
            <a:ext cx="2305050" cy="20574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3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限时作答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弹窗内倒计时答题，到点自动交卷，交卷即出分数与逐题解析。</a:t>
            </a:r>
          </a:p>
        </p:txBody>
      </p:sp>
      <p:sp>
        <p:nvSpPr>
          <p:cNvPr id="10" name="Arrow3"/>
          <p:cNvSpPr txBox="1"/>
          <p:nvPr/>
        </p:nvSpPr>
        <p:spPr>
          <a:xfrm>
            <a:off x="8775954" y="2299716"/>
            <a:ext cx="256032" cy="201168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11" name="Step4"/>
          <p:cNvSpPr txBox="1"/>
          <p:nvPr/>
        </p:nvSpPr>
        <p:spPr>
          <a:xfrm>
            <a:off x="9155430" y="1371600"/>
            <a:ext cx="2305050" cy="20574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4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成绩回流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成绩写入考试记忆，错题归因到知识点并调整后续抽题权重。</a:t>
            </a:r>
          </a:p>
        </p:txBody>
      </p:sp>
      <p:sp>
        <p:nvSpPr>
          <p:cNvPr id="12" name="RuleBox"/>
          <p:cNvSpPr txBox="1"/>
          <p:nvPr/>
        </p:nvSpPr>
        <p:spPr>
          <a:xfrm>
            <a:off x="731520" y="3703320"/>
            <a:ext cx="5227320" cy="214884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组卷规则</a:t>
            </a:r>
          </a:p>
          <a:p>
            <a:pPr marL="219456" indent="-219456">
              <a:spcAft>
                <a:spcPts val="11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题量取考试配置的 question_count，从该场考试对应的技能范围抽题。</a:t>
            </a:r>
          </a:p>
          <a:p>
            <a:pPr marL="219456" indent="-219456">
              <a:spcAft>
                <a:spcPts val="11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题库不足时按实际题量发卷，配置值与实际发卷数在响应中分别返回。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管理员清单中直接暴露该范围可抽题量，避免静默发空卷。</a:t>
            </a:r>
          </a:p>
        </p:txBody>
      </p:sp>
      <p:sp>
        <p:nvSpPr>
          <p:cNvPr id="13" name="PracticeBox"/>
          <p:cNvSpPr txBox="1"/>
          <p:nvPr/>
        </p:nvSpPr>
        <p:spPr>
          <a:xfrm>
            <a:off x="6233160" y="3703320"/>
            <a:ext cx="5227320" cy="214884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练习与抽题</a:t>
            </a:r>
          </a:p>
          <a:p>
            <a:pPr marL="219456" indent="-219456">
              <a:spcAft>
                <a:spcPts val="11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题库按继电保护、倒闸操作、高压试验、安全规程、故障录波五个技能分池。</a:t>
            </a:r>
          </a:p>
          <a:p>
            <a:pPr marL="219456" indent="-219456">
              <a:spcAft>
                <a:spcPts val="11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Agent 按技能缺口权重与历史正确率分配题量，薄弱项分到更多题。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答错写入记忆库，并调整下一次抽题的权重。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实操检测报告闭环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框格填报、文档生成与异常归因串成一条可确认的链路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Step1"/>
          <p:cNvSpPr txBox="1"/>
          <p:nvPr/>
        </p:nvSpPr>
        <p:spPr>
          <a:xfrm>
            <a:off x="731520" y="1371600"/>
            <a:ext cx="1853184" cy="201168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1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框格填报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基础信息、检测数据与异常现象三段共九格。</a:t>
            </a:r>
          </a:p>
        </p:txBody>
      </p:sp>
      <p:sp>
        <p:nvSpPr>
          <p:cNvPr id="6" name="Arrow1"/>
          <p:cNvSpPr txBox="1"/>
          <p:nvPr/>
        </p:nvSpPr>
        <p:spPr>
          <a:xfrm>
            <a:off x="2657856" y="2276856"/>
            <a:ext cx="219456" cy="201168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7" name="Step2"/>
          <p:cNvSpPr txBox="1"/>
          <p:nvPr/>
        </p:nvSpPr>
        <p:spPr>
          <a:xfrm>
            <a:off x="2950464" y="1371600"/>
            <a:ext cx="1853184" cy="201168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2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后端校验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必填与文本格式双重校验，失败返回字段级错误。</a:t>
            </a:r>
          </a:p>
        </p:txBody>
      </p:sp>
      <p:sp>
        <p:nvSpPr>
          <p:cNvPr id="8" name="Arrow2"/>
          <p:cNvSpPr txBox="1"/>
          <p:nvPr/>
        </p:nvSpPr>
        <p:spPr>
          <a:xfrm>
            <a:off x="4876800" y="2276856"/>
            <a:ext cx="219456" cy="201168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9" name="Step3"/>
          <p:cNvSpPr txBox="1"/>
          <p:nvPr/>
        </p:nvSpPr>
        <p:spPr>
          <a:xfrm>
            <a:off x="5169408" y="1371600"/>
            <a:ext cx="1853184" cy="201168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3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文档渲染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PDFBox 与 POI 按同一份框格模型输出 PDF 与 Word。</a:t>
            </a:r>
          </a:p>
        </p:txBody>
      </p:sp>
      <p:sp>
        <p:nvSpPr>
          <p:cNvPr id="10" name="Arrow3"/>
          <p:cNvSpPr txBox="1"/>
          <p:nvPr/>
        </p:nvSpPr>
        <p:spPr>
          <a:xfrm>
            <a:off x="7095744" y="2276856"/>
            <a:ext cx="219456" cy="201168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11" name="Step4"/>
          <p:cNvSpPr txBox="1"/>
          <p:nvPr/>
        </p:nvSpPr>
        <p:spPr>
          <a:xfrm>
            <a:off x="7388352" y="1371600"/>
            <a:ext cx="1853184" cy="201168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4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异常归因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气体阈值、现象关键词与严重度升级三组条件判定。</a:t>
            </a:r>
          </a:p>
        </p:txBody>
      </p:sp>
      <p:sp>
        <p:nvSpPr>
          <p:cNvPr id="12" name="Arrow4"/>
          <p:cNvSpPr txBox="1"/>
          <p:nvPr/>
        </p:nvSpPr>
        <p:spPr>
          <a:xfrm>
            <a:off x="9314688" y="2276856"/>
            <a:ext cx="219456" cy="201168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13" name="Step5"/>
          <p:cNvSpPr txBox="1"/>
          <p:nvPr/>
        </p:nvSpPr>
        <p:spPr>
          <a:xfrm>
            <a:off x="9607296" y="1371600"/>
            <a:ext cx="1853184" cy="201168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5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人工确认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结论带 need_human_confirm，班组长确认后闭环。</a:t>
            </a:r>
          </a:p>
        </p:txBody>
      </p:sp>
      <p:sp>
        <p:nvSpPr>
          <p:cNvPr id="14" name="Check"/>
          <p:cNvSpPr txBox="1"/>
          <p:nvPr/>
        </p:nvSpPr>
        <p:spPr>
          <a:xfrm>
            <a:off x="731520" y="3657600"/>
            <a:ext cx="5227320" cy="219456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校验与格式要求</a:t>
            </a:r>
          </a:p>
          <a:p>
            <a:pPr marL="219456" indent="-219456">
              <a:spcAft>
                <a:spcPts val="11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异常现象描述必填，15 至 300 字，且必须包含具体时间或数值。</a:t>
            </a:r>
          </a:p>
          <a:p>
            <a:pPr marL="219456" indent="-219456">
              <a:spcAft>
                <a:spcPts val="11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检测地点需写到站所与设备间隔，已采取措施不超过 200 字。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校验失败返回 code=40001 与 field_errors，字段名与前端框格同名。</a:t>
            </a:r>
          </a:p>
        </p:txBody>
      </p:sp>
      <p:sp>
        <p:nvSpPr>
          <p:cNvPr id="15" name="Analyze"/>
          <p:cNvSpPr txBox="1"/>
          <p:nvPr/>
        </p:nvSpPr>
        <p:spPr>
          <a:xfrm>
            <a:off x="6233160" y="3657600"/>
            <a:ext cx="5227320" cy="219456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归因与降级</a:t>
            </a:r>
          </a:p>
          <a:p>
            <a:pPr marL="219456" indent="-219456">
              <a:spcAft>
                <a:spcPts val="11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默认使用内置规则引擎，可重复执行重新分析。</a:t>
            </a:r>
          </a:p>
          <a:p>
            <a:pPr marL="219456" indent="-219456">
              <a:spcAft>
                <a:spcPts val="11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配置大模型后自动切换到 AI，超时或不可用时回落规则兜底。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报告填报人为班组长，普通员工只查看报告，不进入填报通道。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7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公司管理板块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全公司视角的人才、成本与缺口口径，只有授权高管可见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Card"/>
          <p:cNvSpPr txBox="1"/>
          <p:nvPr/>
        </p:nvSpPr>
        <p:spPr>
          <a:xfrm>
            <a:off x="731520" y="1371600"/>
            <a:ext cx="5236464" cy="123444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人才驾驶舱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员工规模、培训完成率、安全风险与关键岗位缺口的统一入口</a:t>
            </a:r>
          </a:p>
        </p:txBody>
      </p:sp>
      <p:sp>
        <p:nvSpPr>
          <p:cNvPr id="6" name="Card"/>
          <p:cNvSpPr txBox="1"/>
          <p:nvPr/>
        </p:nvSpPr>
        <p:spPr>
          <a:xfrm>
            <a:off x="6224016" y="1371600"/>
            <a:ext cx="5236464" cy="123444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全公司技能矩阵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按部门、岗位与技能等级展示人才分布，标出谁强谁弱与备份情况</a:t>
            </a:r>
          </a:p>
        </p:txBody>
      </p:sp>
      <p:sp>
        <p:nvSpPr>
          <p:cNvPr id="7" name="Card"/>
          <p:cNvSpPr txBox="1"/>
          <p:nvPr/>
        </p:nvSpPr>
        <p:spPr>
          <a:xfrm>
            <a:off x="731520" y="2843784"/>
            <a:ext cx="5236464" cy="123444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培训看板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完成率、成本结构、培训效果、投入产出测算与部门对比</a:t>
            </a:r>
          </a:p>
        </p:txBody>
      </p:sp>
      <p:sp>
        <p:nvSpPr>
          <p:cNvPr id="8" name="Card"/>
          <p:cNvSpPr txBox="1"/>
          <p:nvPr/>
        </p:nvSpPr>
        <p:spPr>
          <a:xfrm>
            <a:off x="6224016" y="2843784"/>
            <a:ext cx="5236464" cy="123444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运行诊断 Agent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结合学习、证书、技能与班组报告，判定人才缺失还是技能不足</a:t>
            </a:r>
          </a:p>
        </p:txBody>
      </p:sp>
      <p:sp>
        <p:nvSpPr>
          <p:cNvPr id="9" name="Kpi"/>
          <p:cNvSpPr txBox="1"/>
          <p:nvPr/>
        </p:nvSpPr>
        <p:spPr>
          <a:xfrm>
            <a:off x="731520" y="4425696"/>
            <a:ext cx="2517648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109728" tIns="91440" rIns="109728" bIns="91440" anchor="ctr">
            <a:normAutofit/>
          </a:bodyPr>
          <a:lstStyle/>
          <a:p>
            <a:pPr marL="0" indent="0" algn="c">
              <a:spcAft>
                <a:spcPts val="60"/>
              </a:spcAft>
              <a:buNone/>
            </a:pPr>
            <a:r>
              <a:rPr lang="zh-CN" altLang="en-US" sz="22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86</a:t>
            </a:r>
          </a:p>
          <a:p>
            <a:pPr marL="0" indent="0" algn="c"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在册员工</a:t>
            </a:r>
          </a:p>
        </p:txBody>
      </p:sp>
      <p:sp>
        <p:nvSpPr>
          <p:cNvPr id="10" name="Kpi"/>
          <p:cNvSpPr txBox="1"/>
          <p:nvPr/>
        </p:nvSpPr>
        <p:spPr>
          <a:xfrm>
            <a:off x="3468624" y="4425696"/>
            <a:ext cx="2517648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109728" tIns="91440" rIns="109728" bIns="91440" anchor="ctr">
            <a:normAutofit/>
          </a:bodyPr>
          <a:lstStyle/>
          <a:p>
            <a:pPr marL="0" indent="0" algn="c">
              <a:spcAft>
                <a:spcPts val="60"/>
              </a:spcAft>
              <a:buNone/>
            </a:pPr>
            <a:r>
              <a:rPr lang="zh-CN" altLang="en-US" sz="22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72%</a:t>
            </a:r>
          </a:p>
          <a:p>
            <a:pPr marL="0" indent="0" algn="c"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培训完成率</a:t>
            </a:r>
          </a:p>
        </p:txBody>
      </p:sp>
      <p:sp>
        <p:nvSpPr>
          <p:cNvPr id="11" name="Kpi"/>
          <p:cNvSpPr txBox="1"/>
          <p:nvPr/>
        </p:nvSpPr>
        <p:spPr>
          <a:xfrm>
            <a:off x="6205728" y="4425696"/>
            <a:ext cx="2517648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109728" tIns="91440" rIns="109728" bIns="91440" anchor="ctr">
            <a:normAutofit/>
          </a:bodyPr>
          <a:lstStyle/>
          <a:p>
            <a:pPr marL="0" indent="0" algn="c">
              <a:spcAft>
                <a:spcPts val="60"/>
              </a:spcAft>
              <a:buNone/>
            </a:pPr>
            <a:r>
              <a:rPr lang="zh-CN" altLang="en-US" sz="22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7</a:t>
            </a:r>
          </a:p>
          <a:p>
            <a:pPr marL="0" indent="0" algn="c"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关键技能缺口</a:t>
            </a:r>
          </a:p>
        </p:txBody>
      </p:sp>
      <p:sp>
        <p:nvSpPr>
          <p:cNvPr id="12" name="Kpi"/>
          <p:cNvSpPr txBox="1"/>
          <p:nvPr/>
        </p:nvSpPr>
        <p:spPr>
          <a:xfrm>
            <a:off x="8942832" y="4425696"/>
            <a:ext cx="2517648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109728" tIns="91440" rIns="109728" bIns="91440" anchor="ctr">
            <a:normAutofit/>
          </a:bodyPr>
          <a:lstStyle/>
          <a:p>
            <a:pPr marL="0" indent="0" algn="c">
              <a:spcAft>
                <a:spcPts val="60"/>
              </a:spcAft>
              <a:buNone/>
            </a:pPr>
            <a:r>
              <a:rPr lang="zh-CN" altLang="en-US" sz="22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4 / 3</a:t>
            </a:r>
          </a:p>
          <a:p>
            <a:pPr marL="0" indent="0" algn="c"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继保与高压试验缺口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731520" y="5705856"/>
            <a:ext cx="1072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驾驶舱与诊断数据来自演示数据；正式运行后由真实考试、任务、成本与安全记录驱动。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管理员后台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主数据、考试配置与审计，不参与业务决策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Card"/>
          <p:cNvSpPr txBox="1"/>
          <p:nvPr/>
        </p:nvSpPr>
        <p:spPr>
          <a:xfrm>
            <a:off x="731520" y="1371600"/>
            <a:ext cx="5236464" cy="132588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用户与权限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用户、角色、组织、岗位与权限矩阵，附员工档案与平台数据规模</a:t>
            </a:r>
          </a:p>
        </p:txBody>
      </p:sp>
      <p:sp>
        <p:nvSpPr>
          <p:cNvPr id="6" name="Card"/>
          <p:cNvSpPr txBox="1"/>
          <p:nvPr/>
        </p:nvSpPr>
        <p:spPr>
          <a:xfrm>
            <a:off x="6224016" y="1371600"/>
            <a:ext cx="5236464" cy="132588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技能与课程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技能字典、岗位技能要求、课程与题库，岗位技能依据真实国家标准</a:t>
            </a:r>
          </a:p>
        </p:txBody>
      </p:sp>
      <p:sp>
        <p:nvSpPr>
          <p:cNvPr id="7" name="Card"/>
          <p:cNvSpPr txBox="1"/>
          <p:nvPr/>
        </p:nvSpPr>
        <p:spPr>
          <a:xfrm>
            <a:off x="731520" y="2953512"/>
            <a:ext cx="5236464" cy="132588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考试配置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组卷规则、防作弊、评分规则与及格线，统一开考并发放试卷</a:t>
            </a:r>
          </a:p>
        </p:txBody>
      </p:sp>
      <p:sp>
        <p:nvSpPr>
          <p:cNvPr id="8" name="Card"/>
          <p:cNvSpPr txBox="1"/>
          <p:nvPr/>
        </p:nvSpPr>
        <p:spPr>
          <a:xfrm>
            <a:off x="6224016" y="2953512"/>
            <a:ext cx="5236464" cy="132588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46304" rIns="164592" bIns="146304" anchor="t">
            <a:normAutofit/>
          </a:bodyPr>
          <a:lstStyle/>
          <a:p>
            <a:pPr marL="0" indent="0">
              <a:spcAft>
                <a:spcPts val="90"/>
              </a:spcAft>
              <a:buNone/>
            </a:pPr>
            <a:r>
              <a:rPr lang="zh-CN" altLang="en-US" sz="15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审计与审核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登录、修改、审批、决策、执行、回滚六类留痕，支持条件检索</a:t>
            </a:r>
          </a:p>
        </p:txBody>
      </p:sp>
      <p:sp>
        <p:nvSpPr>
          <p:cNvPr id="9" name="Step1"/>
          <p:cNvSpPr txBox="1"/>
          <p:nvPr/>
        </p:nvSpPr>
        <p:spPr>
          <a:xfrm>
            <a:off x="731520" y="4315968"/>
            <a:ext cx="2339340" cy="146304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1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上传资料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命名须符合技能编码、名称、等级与版本四段格式。</a:t>
            </a:r>
          </a:p>
        </p:txBody>
      </p:sp>
      <p:sp>
        <p:nvSpPr>
          <p:cNvPr id="10" name="Arrow1"/>
          <p:cNvSpPr txBox="1"/>
          <p:nvPr/>
        </p:nvSpPr>
        <p:spPr>
          <a:xfrm>
            <a:off x="3171444" y="4946904"/>
            <a:ext cx="256032" cy="201168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11" name="Step2"/>
          <p:cNvSpPr txBox="1"/>
          <p:nvPr/>
        </p:nvSpPr>
        <p:spPr>
          <a:xfrm>
            <a:off x="3528060" y="4315968"/>
            <a:ext cx="2339340" cy="146304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2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Agent 识别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检索并整理题目或知识章节，只检索不入库。</a:t>
            </a:r>
          </a:p>
        </p:txBody>
      </p:sp>
      <p:sp>
        <p:nvSpPr>
          <p:cNvPr id="12" name="Arrow2"/>
          <p:cNvSpPr txBox="1"/>
          <p:nvPr/>
        </p:nvSpPr>
        <p:spPr>
          <a:xfrm>
            <a:off x="5967984" y="4946904"/>
            <a:ext cx="256032" cy="201168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13" name="Step3"/>
          <p:cNvSpPr txBox="1"/>
          <p:nvPr/>
        </p:nvSpPr>
        <p:spPr>
          <a:xfrm>
            <a:off x="6324600" y="4315968"/>
            <a:ext cx="2339340" cy="146304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3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管理员核对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查看原件信息、原件摘录与检索结果。</a:t>
            </a:r>
          </a:p>
        </p:txBody>
      </p:sp>
      <p:sp>
        <p:nvSpPr>
          <p:cNvPr id="14" name="Arrow3"/>
          <p:cNvSpPr txBox="1"/>
          <p:nvPr/>
        </p:nvSpPr>
        <p:spPr>
          <a:xfrm>
            <a:off x="8764524" y="4946904"/>
            <a:ext cx="256032" cy="201168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15" name="Step4"/>
          <p:cNvSpPr txBox="1"/>
          <p:nvPr/>
        </p:nvSpPr>
        <p:spPr>
          <a:xfrm>
            <a:off x="9121140" y="4315968"/>
            <a:ext cx="2339340" cy="146304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1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STEP 4</a:t>
            </a:r>
          </a:p>
          <a:p>
            <a:pPr marL="0" indent="0">
              <a:spcAft>
                <a:spcPts val="70"/>
              </a:spcAft>
              <a:buNone/>
            </a:pPr>
            <a:r>
              <a:rPr lang="zh-CN" altLang="en-US" sz="135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确认入库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通过后写入课程库或累加题库题量。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7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规则引擎与 Agent 演进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接口与前端冻结，模型上线只替换 Service 实现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Contract"/>
          <p:cNvSpPr txBox="1"/>
          <p:nvPr/>
        </p:nvSpPr>
        <p:spPr>
          <a:xfrm>
            <a:off x="731520" y="1371600"/>
            <a:ext cx="5199888" cy="228600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2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统一 Agent 契约</a:t>
            </a:r>
          </a:p>
          <a:p>
            <a:pPr marL="0" indent="0">
              <a:spcAft>
                <a:spcPts val="90"/>
              </a:spcAft>
              <a:buNone/>
            </a:pPr>
            <a:r>
              <a:rPr lang="zh-CN" altLang="en-US" sz="1000" dirty="0">
                <a:solidFill>
                  <a:srgbClr val="1F4E79"/>
                </a:solidFill>
                <a:latin typeface="Segoe UI"/>
                <a:ea typeface="微软雅黑"/>
                <a:cs typeface="Segoe UI"/>
              </a:rPr>
              <a:t>请求  { agent_type, target_id, context, options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1F4E79"/>
                </a:solidFill>
                <a:latin typeface="Segoe UI"/>
                <a:ea typeface="微软雅黑"/>
                <a:cs typeface="Segoe UI"/>
              </a:rPr>
              <a:t>响应  { suggestion_id, agent_type, target_id,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1F4E79"/>
                </a:solidFill>
                <a:latin typeface="Segoe UI"/>
                <a:ea typeface="微软雅黑"/>
                <a:cs typeface="Segoe UI"/>
              </a:rPr>
              <a:t>        suggestions, confidence, source,</a:t>
            </a:r>
          </a:p>
          <a:p>
            <a:pPr marL="0" indent="0">
              <a:spcAft>
                <a:spcPts val="130"/>
              </a:spcAft>
              <a:buNone/>
            </a:pPr>
            <a:r>
              <a:rPr lang="zh-CN" altLang="en-US" sz="1000" dirty="0">
                <a:solidFill>
                  <a:srgbClr val="1F4E79"/>
                </a:solidFill>
                <a:latin typeface="Segoe UI"/>
                <a:ea typeface="微软雅黑"/>
                <a:cs typeface="Segoe UI"/>
              </a:rPr>
              <a:t>        need_human_confirm, status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当前 source 固定为 rule；模型上线后改为 model，请求与响应字段不变。</a:t>
            </a:r>
          </a:p>
        </p:txBody>
      </p:sp>
      <p:sp>
        <p:nvSpPr>
          <p:cNvPr id="6" name="Rules"/>
          <p:cNvSpPr txBox="1"/>
          <p:nvPr/>
        </p:nvSpPr>
        <p:spPr>
          <a:xfrm>
            <a:off x="731520" y="3867912"/>
            <a:ext cx="5199888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规则模型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规则以数据形式存放在数据库，新增判断通常只需插入规则记录。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六个字段：rule_code、scene、condition_json、action_json、priority、enabled。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设计上执行结果写入 rule_result 以便复盘；该表未建，命中过程只体现在归因结果的规则引用里。</a:t>
            </a:r>
          </a:p>
        </p:txBody>
      </p:sp>
      <p:sp>
        <p:nvSpPr>
          <p:cNvPr id="7" name="Agents"/>
          <p:cNvSpPr txBox="1"/>
          <p:nvPr/>
        </p:nvSpPr>
        <p:spPr>
          <a:xfrm>
            <a:off x="6260592" y="1371600"/>
            <a:ext cx="5199888" cy="228600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三个 Agent 接口（当前为桩实现，输出固定建议）</a:t>
            </a:r>
          </a:p>
          <a:p>
            <a:pPr marL="0" indent="0">
              <a:spcAft>
                <a:spcPts val="40"/>
              </a:spcAft>
              <a:buNone/>
            </a:pPr>
            <a:r>
              <a:rPr lang="zh-CN" altLang="en-US" sz="1050" dirty="0">
                <a:solidFill>
                  <a:srgbClr val="1F4E79"/>
                </a:solidFill>
                <a:latin typeface="Segoe UI"/>
                <a:ea typeface="微软雅黑"/>
                <a:cs typeface="Segoe UI"/>
              </a:rPr>
              <a:t>/agent/personal/recommend</a:t>
            </a:r>
          </a:p>
          <a:p>
            <a:pPr marL="0" indent="0">
              <a:spcAft>
                <a:spcPts val="11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员工个人学习：课程、带教与模拟考建议。</a:t>
            </a:r>
          </a:p>
          <a:p>
            <a:pPr marL="0" indent="0">
              <a:spcAft>
                <a:spcPts val="40"/>
              </a:spcAft>
              <a:buNone/>
            </a:pPr>
            <a:r>
              <a:rPr lang="zh-CN" altLang="en-US" sz="1050" dirty="0">
                <a:solidFill>
                  <a:srgbClr val="1F4E79"/>
                </a:solidFill>
                <a:latin typeface="Segoe UI"/>
                <a:ea typeface="微软雅黑"/>
                <a:cs typeface="Segoe UI"/>
              </a:rPr>
              <a:t>/agent/management/decision</a:t>
            </a:r>
          </a:p>
          <a:p>
            <a:pPr marL="0" indent="0">
              <a:spcAft>
                <a:spcPts val="11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组织人才：招聘、转岗、外包与培养建议。</a:t>
            </a:r>
          </a:p>
          <a:p>
            <a:pPr marL="0" indent="0">
              <a:spcAft>
                <a:spcPts val="40"/>
              </a:spcAft>
              <a:buNone/>
            </a:pPr>
            <a:r>
              <a:rPr lang="zh-CN" altLang="en-US" sz="1050" dirty="0">
                <a:solidFill>
                  <a:srgbClr val="1F4E79"/>
                </a:solidFill>
                <a:latin typeface="Segoe UI"/>
                <a:ea typeface="微软雅黑"/>
                <a:cs typeface="Segoe UI"/>
              </a:rPr>
              <a:t>/agent/report/analyze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报告分析：技能原因或人为原因与 SOP 更新建议。</a:t>
            </a:r>
          </a:p>
        </p:txBody>
      </p:sp>
      <p:sp>
        <p:nvSpPr>
          <p:cNvPr id="8" name="Confirm"/>
          <p:cNvSpPr txBox="1"/>
          <p:nvPr/>
        </p:nvSpPr>
        <p:spPr>
          <a:xfrm>
            <a:off x="6260592" y="3867912"/>
            <a:ext cx="5199888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人工确认与留痕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Agent 只给建议，不能直接执行，建议默认处于待确认状态。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建议写入 agent_suggestion；decision_log 表已建，采纳与驳回链路待补。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记录建议编号、决策人、结论、原因与执行结果，形成责任链。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推荐建议参考哪些数据、怎么给出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四条链路共用一份数据底座，每条结论都挂证据、口径与置信度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DataSource"/>
          <p:cNvSpPr txBox="1"/>
          <p:nvPr/>
        </p:nvSpPr>
        <p:spPr>
          <a:xfrm>
            <a:off x="731520" y="1371600"/>
            <a:ext cx="5199888" cy="228600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读哪些数据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技能主数据与员工技能等级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岗位要求等级与公司未来需求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考试分数、错题知识点与练习正确率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实操任务的计划工时与实际工时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检测报告的气体数值、阈值与现象描述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带教评语、证书有效期、成本与外委台账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能力记忆库事件与规则表</a:t>
            </a:r>
          </a:p>
        </p:txBody>
      </p:sp>
      <p:sp>
        <p:nvSpPr>
          <p:cNvPr id="6" name="Pipeline"/>
          <p:cNvSpPr txBox="1"/>
          <p:nvPr/>
        </p:nvSpPr>
        <p:spPr>
          <a:xfrm>
            <a:off x="6260592" y="1371600"/>
            <a:ext cx="5199888" cy="2286000"/>
          </a:xfrm>
          <a:prstGeom prst="roundRect">
            <a:avLst>
              <a:gd name="adj" fmla="val 4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怎么给出来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采集：读取上述记录，不引入外部推测数据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定性：区分能力空白与在岗技能不足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排序：按缺口、未来需求与证据条数排 P1 到 P3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成稿：课程、带教、模拟考、补考四步计划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回写：结论入记忆库，可追溯到规则版本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确认：建议默认待确认，不自动执行</a:t>
            </a:r>
          </a:p>
        </p:txBody>
      </p:sp>
      <p:sp>
        <p:nvSpPr>
          <p:cNvPr id="7" name="Formula"/>
          <p:cNvSpPr txBox="1"/>
          <p:nvPr/>
        </p:nvSpPr>
        <p:spPr>
          <a:xfrm>
            <a:off x="731520" y="3867912"/>
            <a:ext cx="5199888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计算口径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个人缺口 = 岗位要求等级 - 当前等级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题量 = 总题量 × 权重 × max(0.2, 1.6 - 历史正确率) 归一化分配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报告置信度 = 0.72 + 异常 0.10 + 命中关键词数 × 0.04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公司缺口 = 需求人数 - 实际人数，附节省测算</a:t>
            </a:r>
          </a:p>
        </p:txBody>
      </p:sp>
      <p:sp>
        <p:nvSpPr>
          <p:cNvPr id="8" name="Trust"/>
          <p:cNvSpPr txBox="1"/>
          <p:nvPr/>
        </p:nvSpPr>
        <p:spPr>
          <a:xfrm>
            <a:off x="6260592" y="3867912"/>
            <a:ext cx="5199888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可信度控制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置信度上限 0.95，不把统计结论说成确定事实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每条结论带 source 与 rule_refs，可展开核对依据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need_human_confirm 恒为 true，确认与驳回全部留痕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模型不可用时自动回落规则引擎并说明原因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数据模型与权限隔离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52 张表承载主数据、业务数据、规则、记忆与留痕，权限在接入层强制判定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ModelTitle"/>
          <p:cNvSpPr txBox="1"/>
          <p:nvPr/>
        </p:nvSpPr>
        <p:spPr>
          <a:xfrm>
            <a:off x="731520" y="1371600"/>
            <a:ext cx="51998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数据表分组</a:t>
            </a:r>
          </a:p>
        </p:txBody>
      </p:sp>
      <p:graphicFrame>
        <p:nvGraphicFramePr>
          <p:cNvPr id="6" name="Tables"/>
          <p:cNvGraphicFramePr>
            <a:graphicFrameLocks noGrp="1"/>
          </p:cNvGraphicFramePr>
          <p:nvPr/>
        </p:nvGraphicFramePr>
        <p:xfrm>
          <a:off x="731520" y="1719072"/>
          <a:ext cx="5199888" cy="3182112"/>
        </p:xfrm>
        <a:graphic>
          <a:graphicData uri="http://schemas.openxmlformats.org/drawingml/2006/table">
            <a:tbl>
              <a:tblPr firstRow="1" bandRow="0"/>
              <a:tblGrid>
                <a:gridCol w="1559966"/>
                <a:gridCol w="3639922"/>
              </a:tblGrid>
              <a:tr h="329184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分组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数据表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</a:tr>
              <a:tr h="475488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身份与主数据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app_user、role、org、position、skill、position_skill、employee_skill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课程与考试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course、course_skill、learning_record、question、exam、exam_question、exam_record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475488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任务与报告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task、task_report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规则与智能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rule、agent_suggestion、decision_log、diagnosis_result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475488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经营与安全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cost_record、safety_record、care_record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平台支撑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notification、file、audit_log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7" name="Common"/>
          <p:cNvSpPr txBox="1"/>
          <p:nvPr/>
        </p:nvSpPr>
        <p:spPr>
          <a:xfrm>
            <a:off x="731520" y="4992624"/>
            <a:ext cx="5199888" cy="91440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64592" tIns="128016" rIns="164592" bIns="128016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公共字段：id、created_at、updated_at、created_by、updated_by、status、remark。</a:t>
            </a:r>
          </a:p>
        </p:txBody>
      </p:sp>
      <p:sp>
        <p:nvSpPr>
          <p:cNvPr id="8" name="AuthTitle"/>
          <p:cNvSpPr txBox="1"/>
          <p:nvPr/>
        </p:nvSpPr>
        <p:spPr>
          <a:xfrm>
            <a:off x="6260592" y="1371600"/>
            <a:ext cx="519988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路径前缀鉴权</a:t>
            </a:r>
          </a:p>
        </p:txBody>
      </p:sp>
      <p:graphicFrame>
        <p:nvGraphicFramePr>
          <p:cNvPr id="9" name="Auth"/>
          <p:cNvGraphicFramePr>
            <a:graphicFrameLocks noGrp="1"/>
          </p:cNvGraphicFramePr>
          <p:nvPr/>
        </p:nvGraphicFramePr>
        <p:xfrm>
          <a:off x="6260592" y="1719072"/>
          <a:ext cx="5199888" cy="2340864"/>
        </p:xfrm>
        <a:graphic>
          <a:graphicData uri="http://schemas.openxmlformats.org/drawingml/2006/table">
            <a:tbl>
              <a:tblPr firstRow="1" bandRow="0"/>
              <a:tblGrid>
                <a:gridCol w="3015935"/>
                <a:gridCol w="2183953"/>
              </a:tblGrid>
              <a:tr h="329184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路径前缀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允许角色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</a:tr>
              <a:tr h="402336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/personal/**、/exams/**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员工 · 班组长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/team/**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班组长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402336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/tasks/**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班组长（报告填报）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/management/**、/exec/**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公司上级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402336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/admin/**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系统管理员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Guard"/>
          <p:cNvSpPr txBox="1"/>
          <p:nvPr/>
        </p:nvSpPr>
        <p:spPr>
          <a:xfrm>
            <a:off x="6260592" y="4206240"/>
            <a:ext cx="5199888" cy="1719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182880" tIns="146304" rIns="182880" bIns="146304" anchor="t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隔离与留痕</a:t>
            </a:r>
          </a:p>
          <a:p>
            <a:pPr marL="219456" indent="-219456">
              <a:spcAft>
                <a:spcPts val="9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越权返回 403 与 code=40301，data 携带 role 与 scope。</a:t>
            </a:r>
          </a:p>
          <a:p>
            <a:pPr marL="219456" indent="-219456">
              <a:spcAft>
                <a:spcPts val="9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心理与关怀数据仅本人与授权专员可见，管理端只返回脱敏聚合。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0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安全记录一票否决晋升、评优与关键岗位任命。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2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部署与运行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一条命令启动全部服务，默认离线可用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graphicFrame>
        <p:nvGraphicFramePr>
          <p:cNvPr id="5" name="Compose"/>
          <p:cNvGraphicFramePr>
            <a:graphicFrameLocks noGrp="1"/>
          </p:cNvGraphicFramePr>
          <p:nvPr/>
        </p:nvGraphicFramePr>
        <p:xfrm>
          <a:off x="731520" y="1371600"/>
          <a:ext cx="10728960" cy="1591056"/>
        </p:xfrm>
        <a:graphic>
          <a:graphicData uri="http://schemas.openxmlformats.org/drawingml/2006/table">
            <a:tbl>
              <a:tblPr firstRow="1" bandRow="0"/>
              <a:tblGrid>
                <a:gridCol w="1931213"/>
                <a:gridCol w="3433267"/>
                <a:gridCol w="1716634"/>
                <a:gridCol w="3647846"/>
              </a:tblGrid>
              <a:tr h="384048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服务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镜像 / 来源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端口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用途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</a:tr>
              <a:tr h="402336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mysql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mysql:8.4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3306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业务库，首次启动按序执行 db/init 下的 DDL 与种子数据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backend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backend/Dockerfile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8080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Spring Boot API 与 Swagger UI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402336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frontend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frontend/Dockerfile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5173 → 80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Nginx 托管的静态站点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ont"/>
          <p:cNvSpPr txBox="1"/>
          <p:nvPr/>
        </p:nvSpPr>
        <p:spPr>
          <a:xfrm>
            <a:off x="731520" y="4315968"/>
            <a:ext cx="5227320" cy="1938528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中文字体解析顺序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显式配置路径、jar 内 classpath:fonts、本机 Windows 字体、容器 CJK 字体依次探测。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镜像已安装 fonts-wqy-zenhei 与 fonts-droid-fallback，可用环境变量强制指定字体文件。</a:t>
            </a:r>
          </a:p>
        </p:txBody>
      </p:sp>
      <p:sp>
        <p:nvSpPr>
          <p:cNvPr id="7" name="Offline"/>
          <p:cNvSpPr txBox="1"/>
          <p:nvPr/>
        </p:nvSpPr>
        <p:spPr>
          <a:xfrm>
            <a:off x="6233160" y="4315968"/>
            <a:ext cx="5227320" cy="1938528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82880" tIns="164592" rIns="182880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离线降级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AI_ENABLED 默认为 false，归因走内置规则引擎，系统不依赖外部服务。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题库、课程与标准依据库随构建产物打包，内网与断网环境均可完整演示。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9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实施计划与进度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策划书约定的八个阶段已全部落地，端到端演示数据可跑通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sp>
        <p:nvSpPr>
          <p:cNvPr id="5" name="Phase1"/>
          <p:cNvSpPr txBox="1"/>
          <p:nvPr/>
        </p:nvSpPr>
        <p:spPr>
          <a:xfrm>
            <a:off x="731520" y="1371600"/>
            <a:ext cx="2517648" cy="14173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0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01</a:t>
            </a:r>
          </a:p>
          <a:p>
            <a:pPr marL="0" indent="0">
              <a:spcAft>
                <a:spcPts val="80"/>
              </a:spcAft>
              <a:buNone/>
            </a:pPr>
            <a:r>
              <a:rPr lang="zh-CN" altLang="en-US" sz="13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主数据与权限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用户、角色、组织、岗位与技能字典，路径前缀鉴权</a:t>
            </a:r>
          </a:p>
        </p:txBody>
      </p:sp>
      <p:sp>
        <p:nvSpPr>
          <p:cNvPr id="6" name="Phase2"/>
          <p:cNvSpPr txBox="1"/>
          <p:nvPr/>
        </p:nvSpPr>
        <p:spPr>
          <a:xfrm>
            <a:off x="3468624" y="1371600"/>
            <a:ext cx="2517648" cy="14173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0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02</a:t>
            </a:r>
          </a:p>
          <a:p>
            <a:pPr marL="0" indent="0">
              <a:spcAft>
                <a:spcPts val="80"/>
              </a:spcAft>
              <a:buNone/>
            </a:pPr>
            <a:r>
              <a:rPr lang="zh-CN" altLang="en-US" sz="13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考试系统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题库分池、组卷、统一开考门禁、判分与逐题解析</a:t>
            </a:r>
          </a:p>
        </p:txBody>
      </p:sp>
      <p:sp>
        <p:nvSpPr>
          <p:cNvPr id="7" name="Phase3"/>
          <p:cNvSpPr txBox="1"/>
          <p:nvPr/>
        </p:nvSpPr>
        <p:spPr>
          <a:xfrm>
            <a:off x="6205728" y="1371600"/>
            <a:ext cx="2517648" cy="14173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0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03</a:t>
            </a:r>
          </a:p>
          <a:p>
            <a:pPr marL="0" indent="0">
              <a:spcAft>
                <a:spcPts val="80"/>
              </a:spcAft>
              <a:buNone/>
            </a:pPr>
            <a:r>
              <a:rPr lang="zh-CN" altLang="en-US" sz="13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个人系统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能力画像六大板块、记忆库、成长轨迹与建议</a:t>
            </a:r>
          </a:p>
        </p:txBody>
      </p:sp>
      <p:sp>
        <p:nvSpPr>
          <p:cNvPr id="8" name="Phase4"/>
          <p:cNvSpPr txBox="1"/>
          <p:nvPr/>
        </p:nvSpPr>
        <p:spPr>
          <a:xfrm>
            <a:off x="8942832" y="1371600"/>
            <a:ext cx="2517648" cy="14173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0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04</a:t>
            </a:r>
          </a:p>
          <a:p>
            <a:pPr marL="0" indent="0">
              <a:spcAft>
                <a:spcPts val="80"/>
              </a:spcAft>
              <a:buNone/>
            </a:pPr>
            <a:r>
              <a:rPr lang="zh-CN" altLang="en-US" sz="13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老总管理板块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人才驾驶舱、技能矩阵、培训看板与运行诊断</a:t>
            </a:r>
          </a:p>
        </p:txBody>
      </p:sp>
      <p:sp>
        <p:nvSpPr>
          <p:cNvPr id="9" name="Phase5"/>
          <p:cNvSpPr txBox="1"/>
          <p:nvPr/>
        </p:nvSpPr>
        <p:spPr>
          <a:xfrm>
            <a:off x="731520" y="3026664"/>
            <a:ext cx="2517648" cy="14173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0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05</a:t>
            </a:r>
          </a:p>
          <a:p>
            <a:pPr marL="0" indent="0">
              <a:spcAft>
                <a:spcPts val="80"/>
              </a:spcAft>
              <a:buNone/>
            </a:pPr>
            <a:r>
              <a:rPr lang="zh-CN" altLang="en-US" sz="13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实操任务与班组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框格填报、文档生成、归因分析与班组报告</a:t>
            </a:r>
          </a:p>
        </p:txBody>
      </p:sp>
      <p:sp>
        <p:nvSpPr>
          <p:cNvPr id="10" name="Phase6"/>
          <p:cNvSpPr txBox="1"/>
          <p:nvPr/>
        </p:nvSpPr>
        <p:spPr>
          <a:xfrm>
            <a:off x="3468624" y="3026664"/>
            <a:ext cx="2517648" cy="14173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0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06</a:t>
            </a:r>
          </a:p>
          <a:p>
            <a:pPr marL="0" indent="0">
              <a:spcAft>
                <a:spcPts val="80"/>
              </a:spcAft>
              <a:buNone/>
            </a:pPr>
            <a:r>
              <a:rPr lang="zh-CN" altLang="en-US" sz="13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规则引擎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六条初始规则、执行结果留痕与报告归因规则集</a:t>
            </a:r>
          </a:p>
        </p:txBody>
      </p:sp>
      <p:sp>
        <p:nvSpPr>
          <p:cNvPr id="11" name="Phase7"/>
          <p:cNvSpPr txBox="1"/>
          <p:nvPr/>
        </p:nvSpPr>
        <p:spPr>
          <a:xfrm>
            <a:off x="6205728" y="3026664"/>
            <a:ext cx="2517648" cy="14173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0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07</a:t>
            </a:r>
          </a:p>
          <a:p>
            <a:pPr marL="0" indent="0">
              <a:spcAft>
                <a:spcPts val="80"/>
              </a:spcAft>
              <a:buNone/>
            </a:pPr>
            <a:r>
              <a:rPr lang="zh-CN" altLang="en-US" sz="13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Agent 接口桩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三个稳定接口，统一契约，source 固定为 rule</a:t>
            </a:r>
          </a:p>
        </p:txBody>
      </p:sp>
      <p:sp>
        <p:nvSpPr>
          <p:cNvPr id="12" name="Phase8"/>
          <p:cNvSpPr txBox="1"/>
          <p:nvPr/>
        </p:nvSpPr>
        <p:spPr>
          <a:xfrm>
            <a:off x="8942832" y="3026664"/>
            <a:ext cx="2517648" cy="14173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C7D5E8"/>
            </a:solidFill>
          </a:ln>
        </p:spPr>
        <p:txBody>
          <a:bodyPr wrap="square" lIns="128016" tIns="128016" rIns="128016" bIns="128016" anchor="t">
            <a:normAutofit/>
          </a:bodyPr>
          <a:lstStyle/>
          <a:p>
            <a:pPr marL="0" indent="0">
              <a:spcAft>
                <a:spcPts val="50"/>
              </a:spcAft>
              <a:buNone/>
            </a:pPr>
            <a:r>
              <a:rPr lang="zh-CN" altLang="en-US" sz="1000" b="1" dirty="0">
                <a:solidFill>
                  <a:srgbClr val="2E86DE"/>
                </a:solidFill>
                <a:latin typeface="Segoe UI"/>
                <a:ea typeface="微软雅黑"/>
                <a:cs typeface="Segoe UI"/>
              </a:rPr>
              <a:t>08</a:t>
            </a:r>
          </a:p>
          <a:p>
            <a:pPr marL="0" indent="0">
              <a:spcAft>
                <a:spcPts val="80"/>
              </a:spcAft>
              <a:buNone/>
            </a:pPr>
            <a:r>
              <a:rPr lang="zh-CN" altLang="en-US" sz="13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端到端演示数据</a:t>
            </a:r>
          </a:p>
          <a:p>
            <a:pPr marL="0" indent="0">
              <a:lnSpc>
                <a:spcPct val="92000"/>
              </a:lnSpc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四类角色完整流程数据，覆盖考试与报告链路</a:t>
            </a:r>
          </a:p>
        </p:txBody>
      </p:sp>
      <p:sp>
        <p:nvSpPr>
          <p:cNvPr id="13" name="Next"/>
          <p:cNvSpPr txBox="1"/>
          <p:nvPr/>
        </p:nvSpPr>
        <p:spPr>
          <a:xfrm>
            <a:off x="731520" y="4553712"/>
            <a:ext cx="10728960" cy="16093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7D5E8"/>
            </a:solidFill>
          </a:ln>
        </p:spPr>
        <p:txBody>
          <a:bodyPr wrap="square" lIns="219456" tIns="164592" rIns="219456" bIns="164592" anchor="t">
            <a:normAutofit/>
          </a:bodyPr>
          <a:lstStyle/>
          <a:p>
            <a:pPr marL="0" indent="0">
              <a:spcAft>
                <a:spcPts val="110"/>
              </a:spcAft>
              <a:buNone/>
            </a:pPr>
            <a:r>
              <a:rPr lang="zh-CN" altLang="en-US" sz="14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下一阶段重点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数据已全部落库 MySQL，重启不丢；下一步补齐真实身份源与备份恢复预案。</a:t>
            </a:r>
          </a:p>
          <a:p>
            <a:pPr marL="219456" indent="-219456">
              <a:spcAft>
                <a:spcPts val="10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第二优先：接入真实身份源与令牌机制，替换演示 JWT 与默认口令。</a:t>
            </a:r>
          </a:p>
          <a:p>
            <a:pPr marL="219456" indent="-219456">
              <a:spcAft>
                <a:spcPts val="0"/>
              </a:spcAft>
              <a:buClr>
                <a:srgbClr val="2E86DE"/>
              </a:buClr>
              <a:buFont typeface="Arial"/>
              <a:buChar char="•"/>
            </a:pPr>
            <a:r>
              <a:rPr lang="zh-CN" altLang="en-US" sz="1150" dirty="0">
                <a:solidFill>
                  <a:srgbClr val="1B2733"/>
                </a:solidFill>
                <a:latin typeface="Segoe UI"/>
                <a:ea typeface="微软雅黑"/>
                <a:cs typeface="Segoe UI"/>
              </a:rPr>
              <a:t>第三优先：按 Agent 类型灰度切换模型版实现，规则引擎保留为兜底。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15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329184"/>
            <a:ext cx="10728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60"/>
              </a:spcAft>
              <a:buNone/>
            </a:pPr>
            <a:r>
              <a:rPr lang="zh-CN" altLang="en-US" sz="2600" b="1" dirty="0">
                <a:solidFill>
                  <a:srgbClr val="123A6B"/>
                </a:solidFill>
                <a:latin typeface="Segoe UI"/>
                <a:ea typeface="微软雅黑"/>
                <a:cs typeface="Segoe UI"/>
              </a:rPr>
              <a:t>验收标准对照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25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八项标准中四项完全满足，四项部分实现：接口内容、职责调整、决策留痕、安全数据</a:t>
            </a:r>
          </a:p>
        </p:txBody>
      </p:sp>
      <p:sp>
        <p:nvSpPr>
          <p:cNvPr id="3" name="AccentBar"/>
          <p:cNvSpPr txBox="1"/>
          <p:nvPr/>
        </p:nvSpPr>
        <p:spPr>
          <a:xfrm>
            <a:off x="731520" y="1152144"/>
            <a:ext cx="91440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4" name="Rule"/>
          <p:cNvSpPr txBox="1"/>
          <p:nvPr/>
        </p:nvSpPr>
        <p:spPr>
          <a:xfrm>
            <a:off x="731520" y="1220724"/>
            <a:ext cx="10728960" cy="10973"/>
          </a:xfrm>
          <a:prstGeom prst="rect">
            <a:avLst/>
          </a:prstGeom>
          <a:solidFill>
            <a:srgbClr val="C7D5E8"/>
          </a:solidFill>
          <a:ln>
            <a:noFill/>
          </a:ln>
        </p:spPr>
      </p:sp>
      <p:graphicFrame>
        <p:nvGraphicFramePr>
          <p:cNvPr id="5" name="Accept"/>
          <p:cNvGraphicFramePr>
            <a:graphicFrameLocks noGrp="1"/>
          </p:cNvGraphicFramePr>
          <p:nvPr/>
        </p:nvGraphicFramePr>
        <p:xfrm>
          <a:off x="731520" y="1371600"/>
          <a:ext cx="10728960" cy="4023360"/>
        </p:xfrm>
        <a:graphic>
          <a:graphicData uri="http://schemas.openxmlformats.org/drawingml/2006/table">
            <a:tbl>
              <a:tblPr firstRow="1" bandRow="0"/>
              <a:tblGrid>
                <a:gridCol w="643738"/>
                <a:gridCol w="4506163"/>
                <a:gridCol w="5579059"/>
              </a:tblGrid>
              <a:tr h="36576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#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策划书验收标准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b="1" dirty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  <a:cs typeface="Segoe UI"/>
                        </a:rPr>
                        <a:t>实现情况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123A6B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1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Swagger 打开能看到全部接口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已实现，覆盖 75 个接口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2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Agent 接口返回规则结果且 source=rule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部分实现：结构完整，内容为固定建议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3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前端只能调业务接口与 /agent/*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已实现，规则接口不对外暴露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4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员工能查欠缺、拿建议、考试、提交报告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按职责调整，报告填报由班组长完成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5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班组长能发任务、评分、触发报告分析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已实现，班组报告与归因链路完整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6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老总能看缺口、取建议、写入 decision_log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部分实现：缺口与建议可读，决策留痕未打通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7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替换 Agent 模型只改 Service 实现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已满足，路径与出入参冻结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8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心理数据隔离、安全一票否决、决策留痕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50" dirty="0">
                          <a:solidFill>
                            <a:srgbClr val="1B2733"/>
                          </a:solidFill>
                          <a:latin typeface="Segoe UI"/>
                          <a:ea typeface="微软雅黑"/>
                          <a:cs typeface="Segoe UI"/>
                        </a:rPr>
                        <a:t>心理隔离已实现；安全与关怀数据无录入接口</a:t>
                      </a:r>
                    </a:p>
                  </a:txBody>
                  <a:tcPr marL="108000" marR="108000" marT="54000" marB="54000" anchor="ctr">
                    <a:lnL w="9525" cap="flat" cmpd="sng" algn="ctr">
                      <a:solidFill>
                        <a:srgbClr val="C7D5E8"/>
                      </a:solidFill>
                      <a:prstDash val="solid"/>
                    </a:lnL>
                    <a:lnR w="9525" cap="flat" cmpd="sng" algn="ctr">
                      <a:solidFill>
                        <a:srgbClr val="C7D5E8"/>
                      </a:solidFill>
                      <a:prstDash val="solid"/>
                    </a:lnR>
                    <a:lnT w="9525" cap="flat" cmpd="sng" algn="ctr">
                      <a:solidFill>
                        <a:srgbClr val="C7D5E8"/>
                      </a:solidFill>
                      <a:prstDash val="solid"/>
                    </a:lnT>
                    <a:lnB w="9525" cap="flat" cmpd="sng" algn="ctr">
                      <a:solidFill>
                        <a:srgbClr val="C7D5E8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6" name="Footer"/>
          <p:cNvSpPr txBox="1"/>
          <p:nvPr/>
        </p:nvSpPr>
        <p:spPr>
          <a:xfrm>
            <a:off x="731520" y="63825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三层人才技能培训与考试管理系统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363200" y="63825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zh-CN" altLang="en-US" sz="900" dirty="0">
                <a:solidFill>
                  <a:srgbClr val="5B6B7C"/>
                </a:solidFill>
                <a:latin typeface="Segoe UI"/>
                <a:ea typeface="微软雅黑"/>
                <a:cs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731520" y="2331720"/>
            <a:ext cx="1371600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  <p:sp>
        <p:nvSpPr>
          <p:cNvPr id="3" name="EndTitle"/>
          <p:cNvSpPr txBox="1"/>
          <p:nvPr/>
        </p:nvSpPr>
        <p:spPr>
          <a:xfrm>
            <a:off x="731520" y="2560320"/>
            <a:ext cx="9692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先做系统，后训 Agent</a:t>
            </a:r>
          </a:p>
        </p:txBody>
      </p:sp>
      <p:sp>
        <p:nvSpPr>
          <p:cNvPr id="4" name="EndBody"/>
          <p:cNvSpPr txBox="1"/>
          <p:nvPr/>
        </p:nvSpPr>
        <p:spPr>
          <a:xfrm>
            <a:off x="731520" y="3611880"/>
            <a:ext cx="96926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spcAft>
                <a:spcPts val="140"/>
              </a:spcAft>
              <a:buNone/>
            </a:pPr>
            <a:r>
              <a:rPr lang="zh-CN" altLang="en-US" sz="1400" dirty="0">
                <a:solidFill>
                  <a:srgbClr val="C6DAF2"/>
                </a:solidFill>
                <a:latin typeface="Segoe UI"/>
                <a:ea typeface="微软雅黑"/>
                <a:cs typeface="Segoe UI"/>
              </a:rPr>
              <a:t>业务闭环与接口契约已经固化，智能能力可以按节奏替换。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C6DAF2"/>
                </a:solidFill>
                <a:latin typeface="Segoe UI"/>
                <a:ea typeface="微软雅黑"/>
                <a:cs typeface="Segoe UI"/>
              </a:rPr>
              <a:t>下一步补齐真实身份源与备份恢复预案，随后灰度上线模型版 Agent。</a:t>
            </a:r>
          </a:p>
        </p:txBody>
      </p:sp>
      <p:sp>
        <p:nvSpPr>
          <p:cNvPr id="5" name="FootBar"/>
          <p:cNvSpPr txBox="1"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2E86DE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rainSystem">
  <a:themeElements>
    <a:clrScheme name="TrainSyste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E86DE"/>
      </a:accent1>
      <a:accent2>
        <a:srgbClr val="123A6B"/>
      </a:accent2>
      <a:accent3>
        <a:srgbClr val="C8873C"/>
      </a:accent3>
      <a:accent4>
        <a:srgbClr val="1E8449"/>
      </a:accent4>
      <a:accent5>
        <a:srgbClr val="8E6FD1"/>
      </a:accent5>
      <a:accent6>
        <a:srgbClr val="E74C3C"/>
      </a:accent6>
      <a:hlink>
        <a:srgbClr val="0563C1"/>
      </a:hlink>
      <a:folHlink>
        <a:srgbClr val="954F72"/>
      </a:folHlink>
    </a:clrScheme>
    <a:fontScheme name="TrainSystem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TrainSyste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宽屏</PresentationFormat>
  <Slides>18</Slides>
  <Notes>0</Notes>
  <HiddenSlides>0</Hidden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三层人才技能培训与考试管理系统技术方案</dc:title>
  <dc:creator>项目技术组</dc:creator>
  <cp:lastModifiedBy>项目技术组</cp:lastModifiedBy>
  <dcterms:created xsi:type="dcterms:W3CDTF">2026-09-20T09:00:00Z</dcterms:created>
  <dcterms:modified xsi:type="dcterms:W3CDTF">2026-09-20T09:00:00Z</dcterms:modified>
</cp:coreProperties>
</file>