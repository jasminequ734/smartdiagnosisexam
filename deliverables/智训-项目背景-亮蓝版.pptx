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eae35982534e3a" /><Relationship Type="http://schemas.openxmlformats.org/officeDocument/2006/relationships/extended-properties" Target="/docProps/app.xml" Id="R857f98fba4f64007" /><Relationship Type="http://schemas.openxmlformats.org/officeDocument/2006/relationships/officeDocument" Target="/ppt/presentation.xml" Id="R7743518e5ea54e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2df03f59984873"/>
  </p:sldMasterIdLst>
  <p:notesMasterIdLst>
    <p:notesMasterId xmlns:r="http://schemas.openxmlformats.org/officeDocument/2006/relationships" r:id="Rad63c97394a64065"/>
  </p:notesMasterIdLst>
  <p:sldIdLst>
    <p:sldId xmlns:r="http://schemas.openxmlformats.org/officeDocument/2006/relationships" id="256" r:id="R019f5a757c744520"/>
    <p:sldId xmlns:r="http://schemas.openxmlformats.org/officeDocument/2006/relationships" id="257" r:id="Ra6d1dbbfdeba421e"/>
    <p:sldId xmlns:r="http://schemas.openxmlformats.org/officeDocument/2006/relationships" id="258" r:id="Rf272e8ef2eef4d38"/>
    <p:sldId xmlns:r="http://schemas.openxmlformats.org/officeDocument/2006/relationships" id="259" r:id="R2ecce7ea7e444f57"/>
    <p:sldId xmlns:r="http://schemas.openxmlformats.org/officeDocument/2006/relationships" id="260" r:id="R507a3a2cadc74ec5"/>
    <p:sldId xmlns:r="http://schemas.openxmlformats.org/officeDocument/2006/relationships" id="261" r:id="R96a48b15e3b34a2a"/>
    <p:sldId xmlns:r="http://schemas.openxmlformats.org/officeDocument/2006/relationships" id="262" r:id="R63f71794b8ef46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b8cc0849ae42d2" /><Relationship Type="http://schemas.openxmlformats.org/officeDocument/2006/relationships/slideMaster" Target="/ppt/slideMasters/slideMaster1.xml" Id="Red2df03f59984873" /><Relationship Type="http://schemas.openxmlformats.org/officeDocument/2006/relationships/notesMaster" Target="/ppt/notesMasters/notesMaster1.xml" Id="Rad63c97394a64065" /><Relationship Type="http://schemas.openxmlformats.org/officeDocument/2006/relationships/presProps" Target="/ppt/presProps.xml" Id="Rce423c9f50454537" /><Relationship Type="http://schemas.openxmlformats.org/officeDocument/2006/relationships/tableStyles" Target="/ppt/tableStyles.xml" Id="R015e837bf1194a7e" /><Relationship Type="http://schemas.openxmlformats.org/officeDocument/2006/relationships/slide" Target="/ppt/slides/slide1.xml" Id="R019f5a757c744520" /><Relationship Type="http://schemas.openxmlformats.org/officeDocument/2006/relationships/slide" Target="/ppt/slides/slide2.xml" Id="Ra6d1dbbfdeba421e" /><Relationship Type="http://schemas.openxmlformats.org/officeDocument/2006/relationships/slide" Target="/ppt/slides/slide3.xml" Id="Rf272e8ef2eef4d38" /><Relationship Type="http://schemas.openxmlformats.org/officeDocument/2006/relationships/slide" Target="/ppt/slides/slide4.xml" Id="R2ecce7ea7e444f57" /><Relationship Type="http://schemas.openxmlformats.org/officeDocument/2006/relationships/slide" Target="/ppt/slides/slide5.xml" Id="R507a3a2cadc74ec5" /><Relationship Type="http://schemas.openxmlformats.org/officeDocument/2006/relationships/slide" Target="/ppt/slides/slide6.xml" Id="R96a48b15e3b34a2a" /><Relationship Type="http://schemas.openxmlformats.org/officeDocument/2006/relationships/slide" Target="/ppt/slides/slide7.xml" Id="R63f71794b8ef46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c4966e232a4a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d0e68b227b49e9" /><Relationship Type="http://schemas.openxmlformats.org/officeDocument/2006/relationships/notesMaster" Target="/ppt/notesMasters/notesMaster1.xml" Id="R88dcb7b8b71b44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a31125a90a4946" /><Relationship Type="http://schemas.openxmlformats.org/officeDocument/2006/relationships/notesMaster" Target="/ppt/notesMasters/notesMaster1.xml" Id="R4c2471a0388c42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aeb283644b4833" /><Relationship Type="http://schemas.openxmlformats.org/officeDocument/2006/relationships/notesMaster" Target="/ppt/notesMasters/notesMaster1.xml" Id="R98c6d8d36fd249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5330d6226f49f5" /><Relationship Type="http://schemas.openxmlformats.org/officeDocument/2006/relationships/notesMaster" Target="/ppt/notesMasters/notesMaster1.xml" Id="R5549a14d039b4e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2109dd79564b95" /><Relationship Type="http://schemas.openxmlformats.org/officeDocument/2006/relationships/notesMaster" Target="/ppt/notesMasters/notesMaster1.xml" Id="Redb8153357f34d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06788cddbf433a" /><Relationship Type="http://schemas.openxmlformats.org/officeDocument/2006/relationships/notesMaster" Target="/ppt/notesMasters/notesMaster1.xml" Id="Rc784b152cbb947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4341342b7b4388" /><Relationship Type="http://schemas.openxmlformats.org/officeDocument/2006/relationships/notesMaster" Target="/ppt/notesMasters/notesMaster1.xml" Id="Rde244088319943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b809179204a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c779aa90ca4420" /><Relationship Type="http://schemas.openxmlformats.org/officeDocument/2006/relationships/slideLayout" Target="/ppt/slideLayouts/slideLayout1.xml" Id="R1cc98eaa9ad048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c98eaa9ad048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d70a96c3d4584" /><Relationship Type="http://schemas.openxmlformats.org/officeDocument/2006/relationships/notesSlide" Target="/ppt/notesSlides/notesSlide1.xml" Id="Ra20c35cddfaa44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0560b84dc41ac" /><Relationship Type="http://schemas.openxmlformats.org/officeDocument/2006/relationships/notesSlide" Target="/ppt/notesSlides/notesSlide2.xml" Id="Rfff80b9edf2546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623f99fa245d9" /><Relationship Type="http://schemas.openxmlformats.org/officeDocument/2006/relationships/notesSlide" Target="/ppt/notesSlides/notesSlide3.xml" Id="Rbd35f498ad674d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63b087bcd46ce" /><Relationship Type="http://schemas.openxmlformats.org/officeDocument/2006/relationships/notesSlide" Target="/ppt/notesSlides/notesSlide4.xml" Id="Rd86d85f6c38d4b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ec463252943cd" /><Relationship Type="http://schemas.openxmlformats.org/officeDocument/2006/relationships/notesSlide" Target="/ppt/notesSlides/notesSlide5.xml" Id="R283e2b4fe33040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8f55d8d2f410e" /><Relationship Type="http://schemas.openxmlformats.org/officeDocument/2006/relationships/notesSlide" Target="/ppt/notesSlides/notesSlide6.xml" Id="Rd6422403d94f41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0739614464d46" /><Relationship Type="http://schemas.openxmlformats.org/officeDocument/2006/relationships/notesSlide" Target="/ppt/notesSlides/notesSlide7.xml" Id="Reeaa6992ce7a481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3D8F"/>
            </a:gs>
            <a:gs pos="42000">
              <a:srgbClr val="1A72D2"/>
            </a:gs>
            <a:gs pos="100000">
              <a:srgbClr val="0A2A6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D1728D-137B-4894-A6A4-4E110E84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590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FA0FF">
                  <a:alpha val="20000"/>
                </a:srgbClr>
              </a:gs>
              <a:gs pos="45000">
                <a:srgbClr val="3FA0FF">
                  <a:alpha val="8000"/>
                </a:srgbClr>
              </a:gs>
              <a:gs pos="100000">
                <a:srgbClr val="3FA0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7730D-908B-44A0-B450-C78B0D8E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09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FD4FF">
                  <a:alpha val="12000"/>
                </a:srgbClr>
              </a:gs>
              <a:gs pos="45000">
                <a:srgbClr val="7FD4FF">
                  <a:alpha val="5000"/>
                </a:srgbClr>
              </a:gs>
              <a:gs pos="100000">
                <a:srgbClr val="7FD4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74B41-9203-4170-A516-603FE6FE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762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61B44">
                  <a:alpha val="34000"/>
                </a:srgbClr>
              </a:gs>
              <a:gs pos="45000">
                <a:srgbClr val="061B44">
                  <a:alpha val="14000"/>
                </a:srgbClr>
              </a:gs>
              <a:gs pos="100000">
                <a:srgbClr val="061B44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98BC5-9609-4CF3-B3AF-60FBBCD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9FD4FF">
                <a:alpha val="18000"/>
              </a:srgbClr>
            </a:fgClr>
            <a:bgClr>
              <a:srgbClr val="0E4EA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D42A5-5A7F-4700-B4FE-E1F5CAE2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123825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CFE9FF">
                <a:alpha val="10000"/>
              </a:srgbClr>
            </a:fgClr>
            <a:bgClr>
              <a:srgbClr val="1560BE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4E1CC-7845-4713-81EF-B814B6ED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C287D-3AFB-4C86-A46C-8762D7AF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247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7BDA8-6765-4EE3-A6D4-95528801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09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FD4FF">
                  <a:alpha val="16000"/>
                </a:srgbClr>
              </a:gs>
              <a:gs pos="45000">
                <a:srgbClr val="7FD4FF">
                  <a:alpha val="6000"/>
                </a:srgbClr>
              </a:gs>
              <a:gs pos="100000">
                <a:srgbClr val="7FD4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C2D9D-9027-4C4C-B773-B9FE5A27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23950"/>
            <a:ext cx="5029200" cy="4610100"/>
          </a:xfrm>
          <a:prstGeom xmlns:a="http://schemas.openxmlformats.org/drawingml/2006/main" prst="roundRect">
            <a:avLst>
              <a:gd name="adj" fmla="val 2893"/>
            </a:avLst>
          </a:prstGeom>
          <a:solidFill xmlns:a="http://schemas.openxmlformats.org/drawingml/2006/main">
            <a:srgbClr val="0A2F6B">
              <a:alpha val="70000"/>
            </a:srgbClr>
          </a:solidFill>
          <a:ln xmlns:a="http://schemas.openxmlformats.org/drawingml/2006/main" w="9525">
            <a:solidFill>
              <a:srgbClr val="7FC4FF">
                <a:alpha val="5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BCB63-8C3F-4D1D-A1AD-EE51755B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238250"/>
            <a:ext cx="4800600" cy="19050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CFE9FF">
                <a:alpha val="42000"/>
              </a:srgbClr>
            </a:fgClr>
            <a:bgClr>
              <a:srgbClr val="0E4A9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412B4-5D33-4876-8B25-0F616FFA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800600" cy="95250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CFE9FF">
                <a:alpha val="22000"/>
              </a:srgbClr>
            </a:fgClr>
            <a:bgClr>
              <a:srgbClr val="1560BE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A006A-F473-49F3-92AC-11B2BB54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238250"/>
            <a:ext cx="4800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E4A96">
                <a:alpha val="0"/>
              </a:srgb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2E7FE0"/>
                </a:solidFill>
                <a:latin typeface="Bahnschrift"/>
                <a:ea typeface="Bahnschrift"/>
                <a:cs typeface="Bahnschrift"/>
              </a:defRPr>
            </a:pPr>
            <a:r>
              <a:rPr sz="11250" b="1">
                <a:solidFill>
                  <a:srgbClr val="2E7FE0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D35E4-4914-4EB1-9B34-C6624580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86150"/>
            <a:ext cx="224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2EDA3-099D-408C-B81C-C617CBDE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29050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D42FC-7FC0-4EFD-B855-57DFE7A5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719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spc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spc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监管刚性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DF590-50E8-4CA6-8F47-CE9F26F5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67200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721CE-3199-4693-84DE-18E0D0E5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spc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spc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转型压力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3DEF4-535E-4CA2-85F2-3ED959F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05350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307C8-A279-4055-8C3A-C17116C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spc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spc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数据缺位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60E46-F199-40F4-B6F0-F6195EFD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9890D-D2CC-4625-BE88-8A4DAE24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86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spc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spc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D20A9-2663-4AAB-90CF-7723736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A4C74-0B58-477A-B3CB-47C2D7CC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3950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 spc="6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5550" b="1" spc="6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FE2F0-8125-4B75-9464-52E693E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spc="3">
                <a:solidFill>
                  <a:srgbClr val="4FD8FF"/>
                </a:solidFill>
                <a:latin typeface="Bahnschrift"/>
                <a:ea typeface="Bahnschrift"/>
                <a:cs typeface="Bahnschrift"/>
              </a:defRPr>
            </a:pPr>
            <a:r>
              <a:rPr sz="1013" b="0" spc="3">
                <a:solidFill>
                  <a:srgbClr val="4FD8FF"/>
                </a:solidFill>
                <a:latin typeface="Bahnschrift"/>
                <a:ea typeface="Bahnschrift"/>
                <a:cs typeface="Bahnschrift"/>
              </a:rPr>
              <a:t>BACKGROUND / WHY INDUSTRIAL SMART TRAINING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5973C-3C61-4D90-BC71-0DAD04BA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11C65-2D6B-410E-8005-9E36B56F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210000"/>
              </a:lnSpc>
              <a:buNone/>
              <a:def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◆ </a:t>
            </a: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监管刚性：培训学时与判定阈值全部来自国家 </a:t>
            </a: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行业标准原文</a:t>
            </a:r>
          </a:p>
          <a:p xmlns:a="http://schemas.openxmlformats.org/drawingml/2006/main">
            <a:pPr algn="l">
              <a:lnSpc>
                <a:spcPct val="210000"/>
              </a:lnSpc>
              <a:buNone/>
              <a:def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◆ </a:t>
            </a: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转型压力：站点增加、作业复杂、人员备份不足、用人成本刚性</a:t>
            </a:r>
          </a:p>
          <a:p xmlns:a="http://schemas.openxmlformats.org/drawingml/2006/main">
            <a:pPr algn="l">
              <a:lnSpc>
                <a:spcPct val="210000"/>
              </a:lnSpc>
              <a:buNone/>
              <a:def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◆ </a:t>
            </a: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数据缺位：能力数据散落在纸质签到与 </a:t>
            </a: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Excel </a:t>
            </a:r>
            <a:r>
              <a:rPr sz="1088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台账，投入无法量化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DC989-066A-4E06-967A-233BFC2E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1619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F6B">
              <a:alpha val="80000"/>
            </a:srgbClr>
          </a:solidFill>
          <a:ln xmlns:a="http://schemas.openxmlformats.org/drawingml/2006/main" w="9525">
            <a:solidFill>
              <a:srgbClr val="7FC4FF">
                <a:alpha val="6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7CD51-B440-42D5-8E06-F649CEA3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2ACEA-22A0-4E2C-897D-4755C26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86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01F451-142B-4332-A6A4-ABDC203D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运检人员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194A79-A002-4BF8-8EC8-EA045ECE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1619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F6B">
              <a:alpha val="80000"/>
            </a:srgbClr>
          </a:solidFill>
          <a:ln xmlns:a="http://schemas.openxmlformats.org/drawingml/2006/main" w="9525">
            <a:solidFill>
              <a:srgbClr val="7FC4FF">
                <a:alpha val="6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9405D-3041-46B9-ABC9-02D58DF7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9ED0F6-C0E0-4963-9812-08EEE86E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720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4AE6E9-BAE3-4C25-9B8D-36D2E766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911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班组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BCE9C7-AD5F-48D5-B8F9-2F14C264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1619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F6B">
              <a:alpha val="80000"/>
            </a:srgbClr>
          </a:solidFill>
          <a:ln xmlns:a="http://schemas.openxmlformats.org/drawingml/2006/main" w="9525">
            <a:solidFill>
              <a:srgbClr val="7FC4FF">
                <a:alpha val="6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DC3BFB-A3F5-41E3-8D2C-D77E1325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31A523-7DB3-44B9-88D6-3F255676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720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49420A-962D-4B94-A609-07334E5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类核心技能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24F0D8-2B27-4E56-9982-A651CC85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590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7B0EBD-1A45-42D9-9982-FCD8014C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EE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900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</p:spTree>
    <p:extLst>
      <p:ext uri="{BB962C8B-B14F-4D97-AF65-F5344CB8AC3E}">
        <p14:creationId xmlns:p14="http://schemas.microsoft.com/office/powerpoint/2010/main" val="681187463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3D8F"/>
            </a:gs>
            <a:gs pos="42000">
              <a:srgbClr val="1A72D2"/>
            </a:gs>
            <a:gs pos="100000">
              <a:srgbClr val="0A2A6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6D202E-21C7-4D0A-8CD7-18EDE315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590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FA0FF">
                  <a:alpha val="20000"/>
                </a:srgbClr>
              </a:gs>
              <a:gs pos="45000">
                <a:srgbClr val="3FA0FF">
                  <a:alpha val="8000"/>
                </a:srgbClr>
              </a:gs>
              <a:gs pos="100000">
                <a:srgbClr val="3FA0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E97E0-BECE-4354-9040-BB785D15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09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FD4FF">
                  <a:alpha val="12000"/>
                </a:srgbClr>
              </a:gs>
              <a:gs pos="45000">
                <a:srgbClr val="7FD4FF">
                  <a:alpha val="5000"/>
                </a:srgbClr>
              </a:gs>
              <a:gs pos="100000">
                <a:srgbClr val="7FD4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B0E08-1ADE-4A28-93DE-66A8A190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762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61B44">
                  <a:alpha val="34000"/>
                </a:srgbClr>
              </a:gs>
              <a:gs pos="45000">
                <a:srgbClr val="061B44">
                  <a:alpha val="14000"/>
                </a:srgbClr>
              </a:gs>
              <a:gs pos="100000">
                <a:srgbClr val="061B44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981AA-11DC-4AAD-A6E7-436B9AD6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9FD4FF">
                <a:alpha val="18000"/>
              </a:srgbClr>
            </a:fgClr>
            <a:bgClr>
              <a:srgbClr val="0E4EA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317B6-1096-4049-81B2-C6142024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123825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CFE9FF">
                <a:alpha val="10000"/>
              </a:srgbClr>
            </a:fgClr>
            <a:bgClr>
              <a:srgbClr val="1560BE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D7013-A849-433D-9187-BE0F4F1F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988C4-132A-40E9-B2BE-773BFE2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247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A82C9-2F39-467A-990F-A299C80C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6675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EE7FF"/>
              </a:gs>
              <a:gs pos="100000">
                <a:srgbClr val="2E86E0"/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C83C9-0C8D-423C-A616-27180E9C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监管依据与标准原文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B0F33-0D30-4503-8DB2-C2157FC4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法规依据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50BDE-6A7E-4036-85A4-C399A6EF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标准原文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32143-D189-4464-B1E2-7851A87C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BAEDE-142A-4B25-BE62-F630EE4B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口径说明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2D823-5EB0-46A6-81F6-3FA549E5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263C9-6A04-4076-BF54-A1361A22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FE3FF"/>
              </a:gs>
              <a:gs pos="62000">
                <a:srgbClr val="7FC4FF">
                  <a:alpha val="35000"/>
                </a:srgbClr>
              </a:gs>
              <a:gs pos="100000">
                <a:srgbClr val="7FC4FF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03069-D770-4CC3-BC3B-1F4ABEE3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78CB5-89E1-4846-AF56-0EA5A967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B0828-E69F-43F6-BCCC-86FB20E9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629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02 / 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6D7FA-7907-460F-B336-B4F965F4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55816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28395-014C-48C7-B03D-7A437DDE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一、法规依据：培训是法定刚性项，且有档案要求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70425-AC1B-4C60-A5AB-92888DB5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6442C-A4AC-4D5F-8A00-365CEFBE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F77C1-1F3D-412A-9333-2B029F8C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《安全生产法》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49022-1F99-4778-8F62-DB097464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生产经营单位应当对从业人员进行安全生产教育和培训；未经培训合格的人员，不得上岗作业，并须如实记录培训情况。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B904AA-836B-456A-97A4-24F474B2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A24FD-8001-4439-8FAA-8ED9A305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《生产经营单位安全培训规定》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18F3AF-6FEF-46E9-8C1F-A94B207E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对初次安全培训与每年再培训的学时设有下限；应当建立安全培训档案，如实记录培训时间、内容与考核结果。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7F2FF-8C24-4F73-A902-E2C2A6CE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FD4D6-B99F-4727-AD10-043C0C91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监管检查的共同要求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4C92A-7602-40F5-BD23-EA5A90F1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培训要有记录、考核要有结果、上岗要有依据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三项都指向同一件事：能力数据必须可查。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01BA68-CF08-41B6-9CB1-A1D8E1C4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5581650" cy="27622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A2F6B">
              <a:alpha val="82000"/>
            </a:srgbClr>
          </a:solidFill>
          <a:ln xmlns:a="http://schemas.openxmlformats.org/drawingml/2006/main" w="9525">
            <a:solidFill>
              <a:srgbClr val="5FA8E8">
                <a:alpha val="4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C199E-DEFE-410D-B976-01AF2C0D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8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依据清单与检索范围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59B6CF-3834-4753-A421-FE790BFC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F94FA1-0C5B-4DAE-BBC3-4B205129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5200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国家标准：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国家标准全文公开系统（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GB / GBZ / GB/T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系列）</a:t>
            </a:r>
          </a:p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行业标准：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电力行业标准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DL/T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系列（六氟化硫防护、预防性试验）</a:t>
            </a:r>
          </a:p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法规规章：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应急管理部规章与安全生产法律法规数据库</a:t>
            </a:r>
          </a:p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企业材料：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需求方岗位说明书、培训档案、实操报告模板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DAEDB-ECB6-4146-AB75-5850B3C1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520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引用时以现行有效版本为准，逐条核对条款号与数值。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C8EF0A-DB77-484F-992F-CDE886BB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04900"/>
            <a:ext cx="54673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500383-C6FF-4A78-8B0E-710DBFD7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57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二、判定阈值依据：四组数字都有标准原文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0243F3-B0F8-4B0F-8096-63A4A5B3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F7B29E-C35C-4A94-BC60-DAB78245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504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2F6B">
              <a:alpha val="7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C05793-47DA-49A5-AE4C-1B7B17B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79932D-EEF5-4635-A7D5-127515E0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938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GBZ 2.1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4C4D03-279F-4AE7-99E7-9C1D877E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《工作场所有害因素职业接触限值》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3D5E44-7EAB-4799-A58F-67F89CB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33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硫化氢 </a:t>
            </a: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ppm
</a:t>
            </a: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一氧化碳 </a:t>
            </a: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 ppm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646307-5B05-4EEA-94C5-D2B7515B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504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2F6B">
              <a:alpha val="7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0D71DF-A2BD-4F71-8ADE-94B3DD94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1A9626-A789-4E8B-8108-81361DC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938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GB 30871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7E98D1-ACA4-4E67-B669-94FDF620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《危险化学品企业特殊作业安全规范》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B3B521-C027-4AA4-8E6E-B43771E2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可燃气 </a:t>
            </a: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10 %LEL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54816F-6FE8-49C1-862E-4DE6E94A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504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2F6B">
              <a:alpha val="7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9E3D54-2FEC-49F4-8CF5-F1657739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E4B27F-A93C-41A1-BF4A-647C0DFA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938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DL/T 639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14F546-55C1-4126-9F57-AA3760A2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《六氟化硫电气设备运行、试验及检修人员安全防护细则》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DA06F7-5D00-457B-A55A-34953034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384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六氟化硫 </a:t>
            </a: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1000 ppm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33933D-2A13-41AC-8057-D1D03722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504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2F6B">
              <a:alpha val="7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3F2D82-0A7C-4A74-9D37-43DFBC10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9220D9-389E-4378-9D8F-A4C3C9BC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938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GB/T 11022 · DL/T 596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0B9F19-B227-4904-9024-4515C0D6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《电力设备预防性试验规程》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0CF851-3ED9-4A0B-945C-37A043CE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90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SF6 </a:t>
            </a: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微水 </a:t>
            </a: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150 μL/L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361DEF-4347-420F-ADF2-4D4DE1A5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54673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0A2F6B">
              <a:alpha val="82000"/>
            </a:srgbClr>
          </a:solidFill>
          <a:ln xmlns:a="http://schemas.openxmlformats.org/drawingml/2006/main" w="9525">
            <a:solidFill>
              <a:srgbClr val="5FA8E8">
                <a:alpha val="4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1B65A9E-69FB-4932-8675-0098C1A2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8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口径说明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E1A3A5-9A33-4EBA-8262-8C3D4B91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921FCA-8473-4109-B1F9-A0D1D23D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5086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标准阈值：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取自上述标准原文，作为系统气体字典默认值，管理员可改库调整。</a:t>
            </a:r>
          </a:p>
          <a:p xmlns:a="http://schemas.openxmlformats.org/drawingml/2006/main">
            <a:pPr algn="l">
              <a:lnSpc>
                <a:spcPct val="19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成本与现状数字：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取自本项目需求调研（需求方提供口径），未做行业抽样统计。</a:t>
            </a:r>
          </a:p>
        </p:txBody>
      </p:sp>
    </p:spTree>
    <p:extLst>
      <p:ext uri="{BB962C8B-B14F-4D97-AF65-F5344CB8AC3E}">
        <p14:creationId xmlns:p14="http://schemas.microsoft.com/office/powerpoint/2010/main" val="789110382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3D8F"/>
            </a:gs>
            <a:gs pos="42000">
              <a:srgbClr val="1A72D2"/>
            </a:gs>
            <a:gs pos="100000">
              <a:srgbClr val="0A2A6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DB594F-B182-4124-91E4-5CAF8B5C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590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FA0FF">
                  <a:alpha val="20000"/>
                </a:srgbClr>
              </a:gs>
              <a:gs pos="45000">
                <a:srgbClr val="3FA0FF">
                  <a:alpha val="8000"/>
                </a:srgbClr>
              </a:gs>
              <a:gs pos="100000">
                <a:srgbClr val="3FA0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4544E-8285-4243-80D3-3E4BD392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09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FD4FF">
                  <a:alpha val="12000"/>
                </a:srgbClr>
              </a:gs>
              <a:gs pos="45000">
                <a:srgbClr val="7FD4FF">
                  <a:alpha val="5000"/>
                </a:srgbClr>
              </a:gs>
              <a:gs pos="100000">
                <a:srgbClr val="7FD4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A7B91-1F29-4825-87C7-0D19AA65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762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61B44">
                  <a:alpha val="34000"/>
                </a:srgbClr>
              </a:gs>
              <a:gs pos="45000">
                <a:srgbClr val="061B44">
                  <a:alpha val="14000"/>
                </a:srgbClr>
              </a:gs>
              <a:gs pos="100000">
                <a:srgbClr val="061B44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CE44F-342C-4AB3-8617-3A05797F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9FD4FF">
                <a:alpha val="18000"/>
              </a:srgbClr>
            </a:fgClr>
            <a:bgClr>
              <a:srgbClr val="0E4EA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4F05E-1866-41F7-8DF5-F1384504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123825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CFE9FF">
                <a:alpha val="10000"/>
              </a:srgbClr>
            </a:fgClr>
            <a:bgClr>
              <a:srgbClr val="1560BE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9DD74-72E5-48A0-8BAF-54D46991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1A6A4-FCDE-45B7-AECE-053CA4B8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247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1E84B-8CDC-4B6C-B267-4CC08FCC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6675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EE7FF"/>
              </a:gs>
              <a:gs pos="100000">
                <a:srgbClr val="2E86E0"/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88D66-B110-4931-8637-FCBFCCAA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行业现状与转型压力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F203B-EF13-4C85-8F8D-F87CFC6B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站点与工作量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6E9C6-5716-4120-9958-290E903B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岗位缺口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89DCE-736A-495D-AE29-A3A516A0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A312F-2385-4CF8-8692-0B7A2721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成本口径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DB6F5-C529-4689-ABF9-7F68EC6F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9F51A-4906-4392-B5E2-849C788D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FE3FF"/>
              </a:gs>
              <a:gs pos="62000">
                <a:srgbClr val="7FC4FF">
                  <a:alpha val="35000"/>
                </a:srgbClr>
              </a:gs>
              <a:gs pos="100000">
                <a:srgbClr val="7FC4FF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53EF3-1EA2-4E3C-9EE6-B0B2A212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E5950-77A5-46B5-86D5-C5429E61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718BE-C913-4C76-A88D-32F64715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629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03 / 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336F2-9283-4E39-9B6D-DCF7CDA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5619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6464D-A4FF-4C7C-B895-9CB0124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561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A5C7D-3F99-4446-A1EA-759F2C20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38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67571-73CB-460F-ABEC-638A952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FD8FF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4FD8FF"/>
                </a:solidFill>
                <a:latin typeface="Bahnschrift"/>
                <a:ea typeface="Bahnschrift"/>
                <a:cs typeface="Bahnschrift"/>
              </a:rPr>
              <a:t>+30%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26746-9DB9-4C3A-BF1F-83A70328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站点增加，工作量同步上涨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07F91-BBF1-4836-8F37-EE8B17A8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27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需求方经营口径：明年新增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2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座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110kV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变电站，运维工作量预计增长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30%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，而人员编制不增。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0208F-DC0A-48FD-9F11-69DBA89C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04900"/>
            <a:ext cx="5619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1FAECD-4CA9-4BC3-8816-94E51AE8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04900"/>
            <a:ext cx="561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C8AFCF-03E8-44C6-B0BF-38711A3E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04900"/>
            <a:ext cx="38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ED59C3-314B-4E5D-8384-D82A8DB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38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12 / 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11CB9D-462A-4529-8503-4CD83BE4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关键岗位需求大于现有，备份不足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EFECDB-6210-40D9-94CA-562501C7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527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继电保护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L3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以上需求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12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人、现有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8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人；高压试验需求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6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人、现有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3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人。
关键岗位一人请假即出现能力断点。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3918FF-9A29-4C57-93A7-67DB0576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5619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B900CC-926F-445C-8239-A0DECF7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561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57632-48DF-4EA1-9A63-680725B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38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024CC8-740E-4F93-AA00-B1465C28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7A6B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FF7A6B"/>
                </a:solidFill>
                <a:latin typeface="Bahnschrift"/>
                <a:ea typeface="Bahnschrift"/>
                <a:cs typeface="Bahnschrift"/>
              </a:rPr>
              <a:t>2 · 8 · 1.5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2C1255-EB94-46A5-91B1-FA98CE1A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用人成本刚性，招人比培养贵得多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6596DD-7F5B-4E8E-B36D-A23D9AA1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27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内部转岗培训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≈ 2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万元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人，外部招聘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≈ 8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万元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人，外委服务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≈ 1.5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万元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月；
本案例年度用人成本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1,006,000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元。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C9D1A5-4C47-496B-A104-4DA0D0D0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5619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F9F8E4-303D-4B49-A954-2E335C6F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561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5133B4-0011-471C-BA34-E694DE28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38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5725C6-C48F-4BBF-9145-76594F7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FE3A1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5FE3A1"/>
                </a:solidFill>
                <a:latin typeface="Bahnschrift"/>
                <a:ea typeface="Bahnschrift"/>
                <a:cs typeface="Bahnschrift"/>
              </a:rPr>
              <a:t>86 / 9 / 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CBD2EF-A5CA-4341-B25F-D509B789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技能面广，一人多岗成为常态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3119C9-2F92-4993-98C2-AC897C2F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527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86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名运检人员、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9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个班组，覆盖继保、倒闸、高压试验、故障录波、安全规程五类核心技能；
能力底数只能靠人工统计，难以掌握。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E74953-6EA7-48AD-ACA9-7B0B38C7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8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四条压力线同时收紧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172E8A-D0A9-4B21-B151-CC6E0246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43B07F-E288-4401-AA1A-BAF8A3D1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2724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A2F6B">
              <a:alpha val="7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007008-C701-4844-87EF-884B79CF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24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7CF55B-4C60-4AA6-87FB-3EC3BCF0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站点增加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84EBE0-E32E-4A11-ABD4-F0FF1446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38650"/>
            <a:ext cx="2724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A2F6B">
              <a:alpha val="7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B463D2-EC1B-414E-9BFA-F12F6F60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624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5E3E2A-27F6-409E-B320-1961F9C2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38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作业复杂度上升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1D7661-406B-455D-A5AD-F78C0272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38650"/>
            <a:ext cx="2724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A2F6B">
              <a:alpha val="7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D38F92-6848-4A1B-AAE0-6A2ED064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624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B28338-9DF4-4686-8C8A-50D1EAE4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人员备份不足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F7C978-252F-4F31-BA72-EF3EB5F3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38650"/>
            <a:ext cx="2724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A2F6B">
              <a:alpha val="7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8BCBCC-FEFC-4D54-BA9B-ABBA9CCA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624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6F14C4-27C9-4A28-A73F-3E90AE4C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用人成本刚性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5F4259-6137-4FDC-81A2-CEB80E87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12014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0A2F6B">
              <a:alpha val="82000"/>
            </a:srgbClr>
          </a:solidFill>
          <a:ln xmlns:a="http://schemas.openxmlformats.org/drawingml/2006/main" w="9525">
            <a:solidFill>
              <a:srgbClr val="5FA8E8">
                <a:alpha val="45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D4378E-B94C-45EA-B5B4-8B71D6C6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38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3F9623-E4AC-4D47-BE63-21F092D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数据来源　本项目需求调研（需求方提供的经营与岗位口径），可与需求方核对复算。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327494-BA38-4C54-8617-50410F37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待补　公开行业报告数据，需补年份与出处。建议来源：中电联《中国电力行业年度发展报告》、国家能源局全国电力工业统计数据、应急管理部有限空间作业事故通报。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B29450-9958-4B4B-A3C4-1353B236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EE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口径纪律：未获取到公开数据前，本页不写行业统计数字，避免把估算写成实测。</a:t>
            </a:r>
          </a:p>
        </p:txBody>
      </p:sp>
    </p:spTree>
    <p:extLst>
      <p:ext uri="{BB962C8B-B14F-4D97-AF65-F5344CB8AC3E}">
        <p14:creationId xmlns:p14="http://schemas.microsoft.com/office/powerpoint/2010/main" val="108583822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3D8F"/>
            </a:gs>
            <a:gs pos="42000">
              <a:srgbClr val="1A72D2"/>
            </a:gs>
            <a:gs pos="100000">
              <a:srgbClr val="0A2A6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8691043-3AF8-4F31-B796-4AAFA4E6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590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FA0FF">
                  <a:alpha val="20000"/>
                </a:srgbClr>
              </a:gs>
              <a:gs pos="45000">
                <a:srgbClr val="3FA0FF">
                  <a:alpha val="8000"/>
                </a:srgbClr>
              </a:gs>
              <a:gs pos="100000">
                <a:srgbClr val="3FA0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D8AE8-C8FE-4FF7-91AB-F0BE2433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09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FD4FF">
                  <a:alpha val="12000"/>
                </a:srgbClr>
              </a:gs>
              <a:gs pos="45000">
                <a:srgbClr val="7FD4FF">
                  <a:alpha val="5000"/>
                </a:srgbClr>
              </a:gs>
              <a:gs pos="100000">
                <a:srgbClr val="7FD4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68BBF-6D2D-48DA-BCE0-BECF5713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762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61B44">
                  <a:alpha val="34000"/>
                </a:srgbClr>
              </a:gs>
              <a:gs pos="45000">
                <a:srgbClr val="061B44">
                  <a:alpha val="14000"/>
                </a:srgbClr>
              </a:gs>
              <a:gs pos="100000">
                <a:srgbClr val="061B44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F9414-4A46-4CD6-A586-6BCCE593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9FD4FF">
                <a:alpha val="18000"/>
              </a:srgbClr>
            </a:fgClr>
            <a:bgClr>
              <a:srgbClr val="0E4EA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FCF6D-EB34-4E71-8D77-4EFDFFEC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123825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CFE9FF">
                <a:alpha val="10000"/>
              </a:srgbClr>
            </a:fgClr>
            <a:bgClr>
              <a:srgbClr val="1560BE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7A06F-92B7-4909-8931-98146760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C98F6-9973-44DB-8310-B870A67A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247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CE5C9-41DE-4868-A88C-BF06F250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6675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EE7FF"/>
              </a:gs>
              <a:gs pos="100000">
                <a:srgbClr val="2E86E0"/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E4C8F-E9C3-4E96-92BF-2BA49F19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三条高精度痛点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ADA1C-B4AC-4040-AB14-AD471AF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能力看不清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EDD1B-0C2C-456D-B5CA-F0EE12DF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结论不可信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0E0D9-F3B4-48D2-A906-1DF99957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E1D0C-D088-4653-8620-5739989C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过程不可审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B70E6-6638-4F1B-B780-5C92A9DB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1948F-B4E5-465F-A97C-1D598503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FE3FF"/>
              </a:gs>
              <a:gs pos="62000">
                <a:srgbClr val="7FC4FF">
                  <a:alpha val="35000"/>
                </a:srgbClr>
              </a:gs>
              <a:gs pos="100000">
                <a:srgbClr val="7FC4FF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5AFB2-9BAA-4B98-904A-AAEF0C55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754F0-047B-4327-B647-CA2C7CD2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462AB-1C19-4557-8A24-CA5C9AB4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629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04 / 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DBFFF-D996-44B5-84D0-5EF7BC8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3600450" cy="527685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A4371-2B4A-4D27-8788-73223490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81C78-3C79-4A67-BCEF-2A138461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954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FD8FF">
                <a:alpha val="8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AF84D-C2F1-4339-9A04-78F5D4AD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痛点一 </a:t>
            </a:r>
            <a:r>
              <a:rPr sz="12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能力看不清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08BE4-0C1E-46C5-9786-D60FA54C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38" b="0">
                <a:solidFill>
                  <a:srgbClr val="EEF5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EEF5FF"/>
                </a:solidFill>
                <a:latin typeface="微软雅黑"/>
                <a:ea typeface="微软雅黑"/>
                <a:cs typeface="微软雅黑"/>
              </a:rPr>
              <a:t>能力数据孤岛，培训投入难量化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EE789-C5F9-466B-933C-CBAD84CF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0E7F5-C859-46CD-A63C-E5C5B70B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57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52D28C-69E9-4762-8678-D4C64407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C3FAF-F9CD-49F8-9A19-CA4A351E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6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7A6B"/>
                </a:solidFill>
                <a:latin typeface="微软雅黑"/>
                <a:ea typeface="微软雅黑"/>
                <a:cs typeface="微软雅黑"/>
              </a:rPr>
              <a:t>业务损失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6BAFD-B032-448D-B49E-C81A89FE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培训年年做，却说不清「谁补上了什么能力」，投入与产出无法对应。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ACBD13-5BE3-4465-A2BE-9D3D00D1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257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AF2CE2-ABD9-4822-BC95-8ACA2401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C0341-4126-4727-9D30-77E93A3F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37520B-909C-47C2-83A3-2AC41BB9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排课靠印象、用人靠点名，关键岗位是否有备份无人能答。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D6E304-2B6F-470F-A8D4-5A3B377A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3257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C99CF1-DF7B-4710-9126-ECEE88A6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506F89-F435-404C-82AE-01057177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E3A1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智能化机会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483465-482E-4CDE-94B8-8D12167F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把考试、实操、证书、工单统一成结构化能力数据，让培训可量化。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8850BB-8EA0-4C7F-A1B2-DB2B35DF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104900"/>
            <a:ext cx="3600450" cy="527685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F6BAEA-E331-45B0-88B9-64B07F6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104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25FA01-1883-4C73-9385-378DCBBC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954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FD24A">
                <a:alpha val="8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19EE4D-B4F1-4158-841B-512F0D4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95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痛点二 </a:t>
            </a:r>
            <a:r>
              <a:rPr sz="123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3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结论不可信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4EC9A6-2FF9-4792-A46A-BC7D3ADD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38" b="0">
                <a:solidFill>
                  <a:srgbClr val="EEF5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EEF5FF"/>
                </a:solidFill>
                <a:latin typeface="微软雅黑"/>
                <a:ea typeface="微软雅黑"/>
                <a:cs typeface="微软雅黑"/>
              </a:rPr>
              <a:t>通用大模型结论不可复算、断网即失效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2D2E78-76CF-44E9-9EA1-146374C1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D2931B-4C52-4E88-8765-E8B84417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257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CA0446-F36E-47DB-8F79-A73C96BC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214D76-200A-4172-8219-C277059E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6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7A6B"/>
                </a:solidFill>
                <a:latin typeface="微软雅黑"/>
                <a:ea typeface="微软雅黑"/>
                <a:cs typeface="微软雅黑"/>
              </a:rPr>
              <a:t>业务损失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65E38A-DAD5-4C7D-B18F-96A110F5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结论无法复算，答辩或审计时讲不清「为什么是这个原因」。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14B168-FDB5-4548-A0F2-A647DE5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257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F1EAD2-B5D9-4039-8E1B-7FF9BE78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0C03F3-6D55-4D81-90B1-7595AE97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D20CEB-1ED6-481C-B1B9-FA9C64F2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依赖外网模型，断网即瘫痪；输出不稳定，无法上岗使用。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37F3BA-351D-448D-B471-9A90065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3257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C27724-2146-446A-AC71-4387093B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8A0184-8E48-4011-AD3B-44D8C877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E3A1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智能化机会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EEE339-E4FA-4C99-8B7A-463A5C76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768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规则进数据库、算子白名单求值；结论带 </a:t>
            </a: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rule_code </a:t>
            </a: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与依据事实，可复算。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651824-3449-4E1F-BBB7-63D6A13C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04900"/>
            <a:ext cx="3600450" cy="527685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CFA790-6B29-4C70-BBC3-05CCD8A9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04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26FE0F-CF3C-42CF-8CB6-F583F4CC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954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6FF">
                <a:alpha val="80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C60DFB-46C6-4F37-9370-9083B3F8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95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C9A6FF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C9A6FF"/>
                </a:solidFill>
                <a:latin typeface="微软雅黑"/>
                <a:ea typeface="微软雅黑"/>
                <a:cs typeface="微软雅黑"/>
              </a:rPr>
              <a:t>痛点三 </a:t>
            </a:r>
            <a:r>
              <a:rPr sz="1238" b="1">
                <a:solidFill>
                  <a:srgbClr val="C9A6FF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38" b="1">
                <a:solidFill>
                  <a:srgbClr val="C9A6FF"/>
                </a:solidFill>
                <a:latin typeface="微软雅黑"/>
                <a:ea typeface="微软雅黑"/>
                <a:cs typeface="微软雅黑"/>
              </a:rPr>
              <a:t>过程不可审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D161F0-5003-4159-A6D5-E5B984FD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38" b="0">
                <a:solidFill>
                  <a:srgbClr val="EEF5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EEF5FF"/>
                </a:solidFill>
                <a:latin typeface="微软雅黑"/>
                <a:ea typeface="微软雅黑"/>
                <a:cs typeface="微软雅黑"/>
              </a:rPr>
              <a:t>建议、确认、执行、回滚都没有留痕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D545F4-CF35-497C-BCB8-47888987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6A7DA7-4444-43EC-80EB-897D6A5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257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029EE2-34A8-4689-ACDE-8AA4F154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6B8CD9-F22E-4F19-A626-854D1B66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6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7A6B"/>
                </a:solidFill>
                <a:latin typeface="微软雅黑"/>
                <a:ea typeface="微软雅黑"/>
                <a:cs typeface="微软雅黑"/>
              </a:rPr>
              <a:t>业务损失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556BA7-3C3A-45CC-9500-09F462B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建议由谁提出、谁采纳、谁执行，事后无法界定责任。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26A62E-9153-4C04-A1D0-4650294B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3257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573E6A-B00E-4947-8DDC-2093651B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749C74-91E4-4102-9836-A7B8D87A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E794FD-85ED-46A7-A852-2E56BF6A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2430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缺乏审计链；心理与关怀数据也没有隔离手段。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059064-5287-4F65-8CCB-A8B2D6EC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32575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E4FB50-97E7-4009-A88C-801F3EC0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28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B3063C-BE2C-449D-83E1-2EB782E6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4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E3A1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智能化机会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497390E-6E94-47BB-9DB7-E6F84983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建议写 </a:t>
            </a: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agent_suggestion</a:t>
            </a: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、确认写 </a:t>
            </a: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decision_log</a:t>
            </a: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，三表用同一 </a:t>
            </a: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run_id </a:t>
            </a:r>
            <a:r>
              <a:rPr sz="863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串起。</a:t>
            </a:r>
          </a:p>
        </p:txBody>
      </p:sp>
    </p:spTree>
    <p:extLst>
      <p:ext uri="{BB962C8B-B14F-4D97-AF65-F5344CB8AC3E}">
        <p14:creationId xmlns:p14="http://schemas.microsoft.com/office/powerpoint/2010/main" val="82399404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3D8F"/>
            </a:gs>
            <a:gs pos="42000">
              <a:srgbClr val="1A72D2"/>
            </a:gs>
            <a:gs pos="100000">
              <a:srgbClr val="0A2A6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04DB0E-17F5-48D2-81CC-B6648CC2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590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FA0FF">
                  <a:alpha val="20000"/>
                </a:srgbClr>
              </a:gs>
              <a:gs pos="45000">
                <a:srgbClr val="3FA0FF">
                  <a:alpha val="8000"/>
                </a:srgbClr>
              </a:gs>
              <a:gs pos="100000">
                <a:srgbClr val="3FA0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0D4CE-B380-4C42-A070-2A78DB9B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09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FD4FF">
                  <a:alpha val="12000"/>
                </a:srgbClr>
              </a:gs>
              <a:gs pos="45000">
                <a:srgbClr val="7FD4FF">
                  <a:alpha val="5000"/>
                </a:srgbClr>
              </a:gs>
              <a:gs pos="100000">
                <a:srgbClr val="7FD4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DF291-5E3A-4A18-9813-06DD00B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762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61B44">
                  <a:alpha val="34000"/>
                </a:srgbClr>
              </a:gs>
              <a:gs pos="45000">
                <a:srgbClr val="061B44">
                  <a:alpha val="14000"/>
                </a:srgbClr>
              </a:gs>
              <a:gs pos="100000">
                <a:srgbClr val="061B44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A27D7-AB1B-4811-805B-A79F5614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9FD4FF">
                <a:alpha val="18000"/>
              </a:srgbClr>
            </a:fgClr>
            <a:bgClr>
              <a:srgbClr val="0E4EA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1E0AA-A5BE-4F76-91EB-23BA3489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123825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CFE9FF">
                <a:alpha val="10000"/>
              </a:srgbClr>
            </a:fgClr>
            <a:bgClr>
              <a:srgbClr val="1560BE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2C7E2-827E-46F9-ACAA-9CDD57B4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C1C8D-8E77-44A4-8CB2-10767DA3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247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0E6E7-9FAF-4818-A75B-35E3AC2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6675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EE7FF"/>
              </a:gs>
              <a:gs pos="100000">
                <a:srgbClr val="2E86E0"/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6D968-1C3B-4664-B7FA-623A31BA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典型场景与真实案例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0CE3F-29D8-4004-B13C-E6C5B9C2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电网变电运维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6BD4D-2E5E-4071-A852-0C20B38C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新能源场站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B2B1B-7CA1-49DC-A82E-9B507B5B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40FEA-A58D-4672-8F83-6310D535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智能制造产线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96429-3F0A-449F-921D-1166357E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4E349-D8A9-438E-94B6-118DF908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FE3FF"/>
              </a:gs>
              <a:gs pos="62000">
                <a:srgbClr val="7FC4FF">
                  <a:alpha val="35000"/>
                </a:srgbClr>
              </a:gs>
              <a:gs pos="100000">
                <a:srgbClr val="7FC4FF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D648A-09ED-4656-82F4-E349805B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140E4-DBC4-4BCA-B0F3-C106FBC8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08212-F82A-47AF-AED5-C0CF0E68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629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05 / 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9BC5C-175E-47E6-90C3-CAAC63F6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2552700"/>
          </a:xfrm>
          <a:prstGeom xmlns:a="http://schemas.openxmlformats.org/drawingml/2006/main" prst="roundRect">
            <a:avLst>
              <a:gd name="adj" fmla="val 3731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37622-25E6-4B26-A966-ECDD6DB4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C26DC-D8DF-4084-A9CA-54A4C321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案例一 </a:t>
            </a:r>
            <a:r>
              <a:rPr sz="123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3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电网变电运维（已落地运行）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D8FD9-51DA-4126-A31B-796A3C3B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76350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F6B">
              <a:alpha val="85000"/>
            </a:srgbClr>
          </a:solidFill>
          <a:ln xmlns:a="http://schemas.openxmlformats.org/drawingml/2006/main" w="9525">
            <a:solidFill>
              <a:srgbClr val="5FE3A1">
                <a:alpha val="8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BFCC4-F9EF-42E4-AD12-9FCD5DBF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763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FE3A1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已落地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8CBC8-76D5-4560-A181-6321CF17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现场事实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F0640-C3DB-4C55-B777-3D41698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04775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73DAB-EDB0-480D-AFD8-21ACB72B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505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0000"/>
              </a:lnSpc>
              <a:buNone/>
              <a:def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110kV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城北变电所电缆沟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A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段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#1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检查井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氧气实测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18.2 %VOL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（阈值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19.5 %VOL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作业人员出现头晕、胸闷，未按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SOP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先检测后进入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E13CB-88B2-4285-90C9-92DF7070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标准与判定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79BB6-BADD-4C61-AA09-673D578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104775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120D79-CA2A-43D5-A4F4-BACB09A9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19300"/>
            <a:ext cx="3505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0000"/>
              </a:lnSpc>
              <a:buNone/>
              <a:def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阈值取自标准原文，写入系统气体字典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命中规则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REPORT_GAS_OVER_MARGIN_MID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同时命中关键词规则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RULE-KW-HEALTH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（人员不适）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E0C9B-324A-44D3-9DC1-E367A2D8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系统输出与留痕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E451A3-02B1-40B7-8CDD-E0925878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104775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>
              <a:alpha val="7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2EB26-03E9-4A59-9084-B1B8A71A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3505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0000"/>
              </a:lnSpc>
              <a:buNone/>
              <a:def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输出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2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条原因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+ 4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条处置措施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规则编号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标准条款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严重度判为「高」，需人工确认后才生效</a:t>
            </a:r>
          </a:p>
          <a:p xmlns:a="http://schemas.openxmlformats.org/drawingml/2006/main">
            <a:pPr algn="l">
              <a:lnSpc>
                <a:spcPct val="190000"/>
              </a:lnSpc>
              <a:buNone/>
              <a:def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班组长当场 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ACCEPTED</a:t>
            </a:r>
            <a:r>
              <a:rPr sz="825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，业务数据零变更，全程可回算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C36842-C2B6-4508-9452-5E2C5488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5619750" cy="253365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13B6A0-391B-44D4-9010-0A20A17E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561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BFBFEB-E7B8-4284-8D51-469C941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E3A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案例二 </a:t>
            </a:r>
            <a:r>
              <a:rPr sz="1125" b="1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25" b="1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新能源场站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94BF4A-BE67-42EE-8AA0-63BC7DA3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0500"/>
            <a:ext cx="857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F6B">
              <a:alpha val="85000"/>
            </a:srgbClr>
          </a:solidFill>
          <a:ln xmlns:a="http://schemas.openxmlformats.org/drawingml/2006/main" w="9525">
            <a:solidFill>
              <a:srgbClr val="5FE3A1">
                <a:alpha val="7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ABA06B-3769-465F-9A98-07AF126F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0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E3A1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待试点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697691-0688-4AB4-AECF-B261472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57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22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站点分散、值守人员少，集中培训与复训窗口难以安排。</a:t>
            </a:r>
          </a:p>
          <a:p xmlns:a="http://schemas.openxmlformats.org/drawingml/2006/main">
            <a:pPr algn="l">
              <a:lnSpc>
                <a:spcPct val="22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需要离网可运行、结论可审计的培训与考核证据链。</a:t>
            </a:r>
          </a:p>
          <a:p xmlns:a="http://schemas.openxmlformats.org/drawingml/2006/main">
            <a:pPr algn="l">
              <a:lnSpc>
                <a:spcPct val="22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同一套引擎可迁移：换的是岗位与课程数据，不是引擎与接口。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65CB7F-D0C9-46D8-8EDB-00759FF8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5619750" cy="253365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A3AF82-8C0B-410F-A526-9637325A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561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C4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646794-4D45-487C-B317-E86F060B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FC4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7FC4FF"/>
                </a:solidFill>
                <a:latin typeface="微软雅黑"/>
                <a:ea typeface="微软雅黑"/>
                <a:cs typeface="微软雅黑"/>
              </a:rPr>
              <a:t>案例三 </a:t>
            </a:r>
            <a:r>
              <a:rPr sz="1125" b="1">
                <a:solidFill>
                  <a:srgbClr val="7FC4FF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25" b="1">
                <a:solidFill>
                  <a:srgbClr val="7FC4FF"/>
                </a:solidFill>
                <a:latin typeface="微软雅黑"/>
                <a:ea typeface="微软雅黑"/>
                <a:cs typeface="微软雅黑"/>
              </a:rPr>
              <a:t>智能制造产线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4E5435-A733-45CC-9FFF-7135E608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0"/>
            <a:ext cx="857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F6B">
              <a:alpha val="85000"/>
            </a:srgbClr>
          </a:solidFill>
          <a:ln xmlns:a="http://schemas.openxmlformats.org/drawingml/2006/main" w="9525">
            <a:solidFill>
              <a:srgbClr val="7FC4FF">
                <a:alpha val="7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73BDBB-A404-4C64-B919-8E78B54A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FC4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FC4FF"/>
                </a:solidFill>
                <a:latin typeface="微软雅黑"/>
                <a:ea typeface="微软雅黑"/>
                <a:cs typeface="微软雅黑"/>
              </a:rPr>
              <a:t>待试点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E82F58-5636-4A73-B0DA-C882B57C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5257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22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多工种、多班次，停机培训的直接成本高。</a:t>
            </a:r>
          </a:p>
          <a:p xmlns:a="http://schemas.openxmlformats.org/drawingml/2006/main">
            <a:pPr algn="l">
              <a:lnSpc>
                <a:spcPct val="22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需要按能力缺口精准补训，并让培训排期不与生产冲突。</a:t>
            </a:r>
          </a:p>
          <a:p xmlns:a="http://schemas.openxmlformats.org/drawingml/2006/main">
            <a:pPr algn="l">
              <a:lnSpc>
                <a:spcPct val="220000"/>
              </a:lnSpc>
              <a:buNone/>
              <a:def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同一套引擎可迁移：岗位技能矩阵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sz="863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关键岗位备份预警。</a:t>
            </a:r>
          </a:p>
        </p:txBody>
      </p:sp>
    </p:spTree>
    <p:extLst>
      <p:ext uri="{BB962C8B-B14F-4D97-AF65-F5344CB8AC3E}">
        <p14:creationId xmlns:p14="http://schemas.microsoft.com/office/powerpoint/2010/main" val="1163860073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3D8F"/>
            </a:gs>
            <a:gs pos="42000">
              <a:srgbClr val="1A72D2"/>
            </a:gs>
            <a:gs pos="100000">
              <a:srgbClr val="0A2A6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60274C-DF85-4E1F-A7A2-C00F4FDC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590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FA0FF">
                  <a:alpha val="20000"/>
                </a:srgbClr>
              </a:gs>
              <a:gs pos="45000">
                <a:srgbClr val="3FA0FF">
                  <a:alpha val="8000"/>
                </a:srgbClr>
              </a:gs>
              <a:gs pos="100000">
                <a:srgbClr val="3FA0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563E5-B5A2-4416-A94F-8D87E87B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09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FD4FF">
                  <a:alpha val="12000"/>
                </a:srgbClr>
              </a:gs>
              <a:gs pos="45000">
                <a:srgbClr val="7FD4FF">
                  <a:alpha val="5000"/>
                </a:srgbClr>
              </a:gs>
              <a:gs pos="100000">
                <a:srgbClr val="7FD4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CC825-FAAF-47A4-9534-888A9BA2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762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61B44">
                  <a:alpha val="34000"/>
                </a:srgbClr>
              </a:gs>
              <a:gs pos="45000">
                <a:srgbClr val="061B44">
                  <a:alpha val="14000"/>
                </a:srgbClr>
              </a:gs>
              <a:gs pos="100000">
                <a:srgbClr val="061B44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3827D-8B7A-49B5-A478-ED858699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9FD4FF">
                <a:alpha val="18000"/>
              </a:srgbClr>
            </a:fgClr>
            <a:bgClr>
              <a:srgbClr val="0E4EA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DB11E-4C82-4940-A336-F7F88F15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123825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CFE9FF">
                <a:alpha val="10000"/>
              </a:srgbClr>
            </a:fgClr>
            <a:bgClr>
              <a:srgbClr val="1560BE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06466-5607-4049-A30A-374D2156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69B21-21AA-47F0-83A1-66E7D06F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247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D2771-015E-469D-B7F1-0D9EB381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6675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EE7FF"/>
              </a:gs>
              <a:gs pos="100000">
                <a:srgbClr val="2E86E0"/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26A17-D580-475D-B898-EE1B56B4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企业调研与专家访谈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1EAC7-048F-4D54-843F-325ACE7B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调研照片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105CD-0068-4401-A2B3-5EDFF383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调研结论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29530-9241-45DF-ABF6-B866D472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F9C42-CF11-4314-8052-2F9B61ED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访谈记录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461D4-39C8-4042-8C5B-9A0E06E1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6E050-B65A-4466-8870-E68120AE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FE3FF"/>
              </a:gs>
              <a:gs pos="62000">
                <a:srgbClr val="7FC4FF">
                  <a:alpha val="35000"/>
                </a:srgbClr>
              </a:gs>
              <a:gs pos="100000">
                <a:srgbClr val="7FC4FF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320ED-BB87-4452-B51C-6BE2FB1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EDAAE-9DAF-4EE8-BCB5-7C9FA6F6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DD91B-1979-4E46-9091-DEA75754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629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06 / 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DBC76-B8EA-45E5-8B20-119C71D2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36004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8336F">
              <a:alpha val="78000"/>
            </a:srgbClr>
          </a:solidFill>
          <a:ln xmlns:a="http://schemas.openxmlformats.org/drawingml/2006/main" w="12383">
            <a:solidFill>
              <a:srgbClr val="4FD8FF">
                <a:alpha val="7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FA9F7-8AF8-4662-A1D1-CF57FEE8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114425"/>
            <a:ext cx="3581400" cy="247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CFE9FF">
                <a:alpha val="28000"/>
              </a:srgbClr>
            </a:fgClr>
            <a:bgClr>
              <a:srgbClr val="0E4A9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F2245-8441-40C1-B029-F2841A0C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spc="2">
                <a:solidFill>
                  <a:srgbClr val="4FD8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 spc="2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照片位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F0DE7-489C-4E8B-BB25-16106B9D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809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9471E-F25E-4FF1-8B28-53C19864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97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F4C80-FF96-4469-AF88-234A8C98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企业调研现场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A8F6F-8E39-4DC8-8868-70E50642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建议：与需求方座谈、翻阅培训档案与台账
可核验：档案形式、学时记录方式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83007-F699-4D14-A032-28001F06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104900"/>
            <a:ext cx="36004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8336F">
              <a:alpha val="78000"/>
            </a:srgbClr>
          </a:solidFill>
          <a:ln xmlns:a="http://schemas.openxmlformats.org/drawingml/2006/main" w="12383">
            <a:solidFill>
              <a:srgbClr val="5FE3A1">
                <a:alpha val="7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1E6316-CE8F-4502-99CD-6FAFDA59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114425"/>
            <a:ext cx="3581400" cy="247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CFE9FF">
                <a:alpha val="28000"/>
              </a:srgbClr>
            </a:fgClr>
            <a:bgClr>
              <a:srgbClr val="0E4A9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B62BD-7B58-41AB-AE66-9FDB36DA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334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spc="2">
                <a:solidFill>
                  <a:srgbClr val="5FE3A1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 spc="2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照片位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2A9E58-BF10-442D-AF2C-7B9119AD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2DACDA-9D8B-4474-B199-F07426AE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97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7365DD-25B5-40B0-8C0C-32097433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98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现场走访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60377B-7C11-463C-86FD-D3705960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建议：变电站一次设备区 </a:t>
            </a: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电缆沟检查井作业
可核验：作业环境、</a:t>
            </a: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SOP </a:t>
            </a: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执行情况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721909-3C14-4E51-939B-35CDD348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04900"/>
            <a:ext cx="36004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8336F">
              <a:alpha val="78000"/>
            </a:srgbClr>
          </a:solidFill>
          <a:ln xmlns:a="http://schemas.openxmlformats.org/drawingml/2006/main" w="12383">
            <a:solidFill>
              <a:srgbClr val="FFD24A">
                <a:alpha val="7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C5C940-25EA-44BB-8856-CF9F8DDB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114425"/>
            <a:ext cx="3581400" cy="247650"/>
          </a:xfrm>
          <a:prstGeom xmlns:a="http://schemas.openxmlformats.org/drawingml/2006/main" prst="rect">
            <a:avLst/>
          </a:prstGeom>
          <a:pattFill xmlns:a="http://schemas.openxmlformats.org/drawingml/2006/main" prst="narVert">
            <a:fgClr>
              <a:srgbClr val="CFE9FF">
                <a:alpha val="28000"/>
              </a:srgbClr>
            </a:fgClr>
            <a:bgClr>
              <a:srgbClr val="0E4A9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62BC4F-8DC4-440D-B38D-795AEA3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1334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spc="2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 spc="2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照片位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70BA3F-41ED-4CE1-83EB-1BD2C471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809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FE1C01-577F-4032-8BFA-F59C0F6D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09725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9BECB2-259F-40AF-B841-2385A407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专家访谈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80D69C-3CEE-43A3-B029-27B0FE3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建议：指导教师或行业专家访谈画面截图
可核验：结论来源与访谈时间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1A1934-E9D0-4EC8-8ADB-26902658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5581650" cy="3181350"/>
          </a:xfrm>
          <a:prstGeom xmlns:a="http://schemas.openxmlformats.org/drawingml/2006/main" prst="roundRect">
            <a:avLst>
              <a:gd name="adj" fmla="val 2994"/>
            </a:avLst>
          </a:prstGeom>
          <a:solidFill xmlns:a="http://schemas.openxmlformats.org/drawingml/2006/main">
            <a:srgbClr val="0E4A96">
              <a:alpha val="58000"/>
            </a:srgbClr>
          </a:solidFill>
          <a:ln xmlns:a="http://schemas.openxmlformats.org/drawingml/2006/main" w="9525">
            <a:solidFill>
              <a:srgbClr val="7FC4FF">
                <a:alpha val="55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172BFE-1042-46C4-9740-138F63D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8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4FD8FF"/>
                </a:solidFill>
                <a:latin typeface="微软雅黑"/>
                <a:ea typeface="微软雅黑"/>
                <a:cs typeface="微软雅黑"/>
              </a:rPr>
              <a:t>已获取的调研结论（可逐条指认）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5ED0A4-0327-48C9-9CBB-6879BABF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A78207-2F13-4A99-8BFD-D41596FD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200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21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档案形式：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培训档案以纸质签到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+ Excel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台账为主，学时代签、事后难核实。</a:t>
            </a:r>
          </a:p>
          <a:p xmlns:a="http://schemas.openxmlformats.org/drawingml/2006/main">
            <a:pPr algn="l">
              <a:lnSpc>
                <a:spcPct val="21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考核方式：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资料学完即止，缺少岗位化题库与短板复盘，考核与岗位脱节。</a:t>
            </a:r>
          </a:p>
          <a:p xmlns:a="http://schemas.openxmlformats.org/drawingml/2006/main">
            <a:pPr algn="l">
              <a:lnSpc>
                <a:spcPct val="21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归因口径：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同一份气体检测报告，不同人给出不同归因结论，无法复算。</a:t>
            </a:r>
          </a:p>
          <a:p xmlns:a="http://schemas.openxmlformats.org/drawingml/2006/main">
            <a:pPr algn="l">
              <a:lnSpc>
                <a:spcPct val="215000"/>
              </a:lnSpc>
              <a:buNone/>
              <a:def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证书管理：</a:t>
            </a:r>
            <a:r>
              <a:rPr sz="900">
                <a:solidFill>
                  <a:srgbClr val="D6E6F7"/>
                </a:solidFill>
                <a:latin typeface="微软雅黑"/>
                <a:ea typeface="微软雅黑"/>
                <a:cs typeface="微软雅黑"/>
              </a:rPr>
              <a:t>有效期靠人工翻台账，漏检即形成合规风险。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98E484-BFE6-4006-B7AF-F4C0B1F9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0400"/>
            <a:ext cx="5467350" cy="3181350"/>
          </a:xfrm>
          <a:prstGeom xmlns:a="http://schemas.openxmlformats.org/drawingml/2006/main" prst="roundRect">
            <a:avLst>
              <a:gd name="adj" fmla="val 2994"/>
            </a:avLst>
          </a:prstGeom>
          <a:solidFill xmlns:a="http://schemas.openxmlformats.org/drawingml/2006/main">
            <a:srgbClr val="0A2F6B">
              <a:alpha val="82000"/>
            </a:srgbClr>
          </a:solidFill>
          <a:ln xmlns:a="http://schemas.openxmlformats.org/drawingml/2006/main" w="9525">
            <a:solidFill>
              <a:srgbClr val="5FA8E8">
                <a:alpha val="45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DB6847-75E7-4ACE-8CA6-E9BBB5E9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访谈记录要素（按此补齐，逐次登记）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C53773-4825-494C-B0A2-989B259C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DEC482-62DB-42A6-BF79-8AAD3AA5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2419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E4A96">
              <a:alpha val="6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78714C-C631-4459-BB8F-8FA53FB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访谈时间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F119C9-7334-4DEA-9FB5-DF667B12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3810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B87DEB-7703-482F-B9B7-C86446A0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____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__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月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__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110D82-0DA6-4D3A-A22B-F7C6F8BF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2419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E4A96">
              <a:alpha val="6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AB6DAD-EFD7-44F9-B86A-C8771710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受访单位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2A3FA7-3A67-4F5B-AEB4-3D59DD84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33850"/>
            <a:ext cx="3810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606B25-52D2-42DF-A2DF-1378BFB7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____________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E0C669-71B1-4B36-9593-ADF8E9A2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2419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E4A96">
              <a:alpha val="6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5EE04A-25E7-4DB2-AC64-1CC8C4D7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对象 </a:t>
            </a: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岗位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4CEBFC-D527-44B5-ABF9-DDF751CE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3810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935C6E-7851-43C2-918E-A4D67760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____________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8CDB45-2253-4C64-A55D-5E7190D8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48200"/>
            <a:ext cx="2419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E4A96">
              <a:alpha val="6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47EB64-D646-4ABF-9DCE-CA61E123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244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形式 </a:t>
            </a: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人数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837A45-A8E7-4FEF-A12B-B8E46F01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810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6C4A65-E130-4849-9BA1-736CB0FD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101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座谈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走访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线上　共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__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E686DE-EC86-4170-94A7-0A8699D3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67350"/>
            <a:ext cx="2419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E4A96">
              <a:alpha val="6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019C91-D106-4E6C-8CEA-FBED23F6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435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关键结论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8D486-81A5-409C-9020-0F7F4756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3810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4253D6-1034-4D9E-BC68-00D292D3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29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____________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1BFBDE6-6B14-480B-8C96-1AFA068F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67350"/>
            <a:ext cx="2419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E4A96">
              <a:alpha val="60000"/>
            </a:srgbClr>
          </a:solidFill>
          <a:ln xmlns:a="http://schemas.openxmlformats.org/drawingml/2006/main" w="9525">
            <a:solidFill>
              <a:srgbClr val="7FC4FF">
                <a:alpha val="45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651961-B78D-421A-927F-5620F4AC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435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可核验材料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DFEA22-2F72-4725-8671-357C2285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72150"/>
            <a:ext cx="381000" cy="1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6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355B42-020C-4D6B-82D4-3CB1F04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29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照片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录音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825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纪要编号</a:t>
            </a:r>
          </a:p>
        </p:txBody>
      </p:sp>
    </p:spTree>
    <p:extLst>
      <p:ext uri="{BB962C8B-B14F-4D97-AF65-F5344CB8AC3E}">
        <p14:creationId xmlns:p14="http://schemas.microsoft.com/office/powerpoint/2010/main" val="38638995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3D8F"/>
            </a:gs>
            <a:gs pos="42000">
              <a:srgbClr val="1A72D2"/>
            </a:gs>
            <a:gs pos="100000">
              <a:srgbClr val="0A2A6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AD5B4F-D023-4AF0-B8F8-7A82E41A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590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FA0FF">
                  <a:alpha val="20000"/>
                </a:srgbClr>
              </a:gs>
              <a:gs pos="45000">
                <a:srgbClr val="3FA0FF">
                  <a:alpha val="8000"/>
                </a:srgbClr>
              </a:gs>
              <a:gs pos="100000">
                <a:srgbClr val="3FA0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D7FB5-FC7F-4C13-9F85-4C2271CF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6286500" cy="609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FD4FF">
                  <a:alpha val="12000"/>
                </a:srgbClr>
              </a:gs>
              <a:gs pos="45000">
                <a:srgbClr val="7FD4FF">
                  <a:alpha val="5000"/>
                </a:srgbClr>
              </a:gs>
              <a:gs pos="100000">
                <a:srgbClr val="7FD4FF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B0A52-4B9D-40D9-B29B-ADBE066B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762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61B44">
                  <a:alpha val="34000"/>
                </a:srgbClr>
              </a:gs>
              <a:gs pos="45000">
                <a:srgbClr val="061B44">
                  <a:alpha val="14000"/>
                </a:srgbClr>
              </a:gs>
              <a:gs pos="100000">
                <a:srgbClr val="061B44">
                  <a:alpha val="0"/>
                </a:srgbClr>
              </a:gs>
            </a:gsLst>
            <a:path path="shape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A0215-5535-43A9-BD65-9FF98E8C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pattFill xmlns:a="http://schemas.openxmlformats.org/drawingml/2006/main" prst="dotGrid">
            <a:fgClr>
              <a:srgbClr val="9FD4FF">
                <a:alpha val="18000"/>
              </a:srgbClr>
            </a:fgClr>
            <a:bgClr>
              <a:srgbClr val="0E4EA6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47612-E393-419B-9EE2-32B2E256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1238250"/>
          </a:xfrm>
          <a:prstGeom xmlns:a="http://schemas.openxmlformats.org/drawingml/2006/main" prst="rect">
            <a:avLst/>
          </a:prstGeom>
          <a:pattFill xmlns:a="http://schemas.openxmlformats.org/drawingml/2006/main" prst="wdUpDiag">
            <a:fgClr>
              <a:srgbClr val="CFE9FF">
                <a:alpha val="10000"/>
              </a:srgbClr>
            </a:fgClr>
            <a:bgClr>
              <a:srgbClr val="1560BE"/>
            </a:bgClr>
          </a:patt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84903-693E-445D-AF70-35DB8851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FE960-D227-4D0D-A7C2-E53CD32D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247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69583-1349-4CC7-8BAC-75C78FA4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6675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EE7FF"/>
              </a:gs>
              <a:gs pos="100000">
                <a:srgbClr val="2E86E0"/>
              </a:gs>
            </a:gsLst>
            <a:lin ang="540000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0033C-046E-479A-8F98-288F4F8C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spc="2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调研结论：为什么要做工业智训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5F70C-4B90-4928-B59B-A84584B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508F0-F716-4290-969F-0B5450B7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后果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7884B-A342-4940-990E-40F0B59E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38A95-6A25-4278-AB98-0A9AE630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2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本项目做法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ECA02-2D48-441E-987B-F413BE40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667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E14D1-74C6-4FFA-A0EF-2726AF45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201400" cy="14478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FE3FF"/>
              </a:gs>
              <a:gs pos="62000">
                <a:srgbClr val="7FC4FF">
                  <a:alpha val="35000"/>
                </a:srgbClr>
              </a:gs>
              <a:gs pos="100000">
                <a:srgbClr val="7FC4FF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679AE-61B3-49BF-AA4A-A98D3294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3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9F0FC-3ACF-4C9F-87E1-077677AB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工业智训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788" b="0">
                <a:solidFill>
                  <a:srgbClr val="9DBEE8"/>
                </a:solidFill>
                <a:latin typeface="微软雅黑"/>
                <a:ea typeface="微软雅黑"/>
                <a:cs typeface="微软雅黑"/>
              </a:rPr>
              <a:t>面向变电运维的可解释智能人才培养平台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D3881-0601-4BF1-8A0B-16FD789A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629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defRPr>
            </a:pPr>
            <a:r>
              <a:rPr sz="863" b="1">
                <a:solidFill>
                  <a:srgbClr val="FFD24A"/>
                </a:solidFill>
                <a:latin typeface="Bahnschrift"/>
                <a:ea typeface="Bahnschrift"/>
                <a:cs typeface="Bahnschrift"/>
              </a:rPr>
              <a:t>07 / 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32C22-1C82-46AA-B073-47F5F859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36195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2F6B">
              <a:alpha val="85000"/>
            </a:srgbClr>
          </a:solidFill>
          <a:ln xmlns:a="http://schemas.openxmlformats.org/drawingml/2006/main" w="9525">
            <a:solidFill>
              <a:srgbClr val="FF7A6B">
                <a:alpha val="7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FF653-3765-4F34-9811-699BAD08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7A6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7A6B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80215-61A5-44B4-A8E2-A163B0F0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104900"/>
            <a:ext cx="36195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2F6B">
              <a:alpha val="85000"/>
            </a:srgbClr>
          </a:solidFill>
          <a:ln xmlns:a="http://schemas.openxmlformats.org/drawingml/2006/main" w="9525">
            <a:solidFill>
              <a:srgbClr val="FFB454">
                <a:alpha val="7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AB7D9-9D81-4795-BB0D-07946FCA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B454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FFB454"/>
                </a:solidFill>
                <a:latin typeface="微软雅黑"/>
                <a:ea typeface="微软雅黑"/>
                <a:cs typeface="微软雅黑"/>
              </a:rPr>
              <a:t>后果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BC562-0018-4252-B82D-C64ADC8A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04900"/>
            <a:ext cx="35814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2F6B">
              <a:alpha val="85000"/>
            </a:srgbClr>
          </a:solidFill>
          <a:ln xmlns:a="http://schemas.openxmlformats.org/drawingml/2006/main" w="9525">
            <a:solidFill>
              <a:srgbClr val="5FE3A1">
                <a:alpha val="7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A3EA8-2F0C-46B9-8162-92DC6EF3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049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FE3A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5FE3A1"/>
                </a:solidFill>
                <a:latin typeface="微软雅黑"/>
                <a:ea typeface="微软雅黑"/>
                <a:cs typeface="微软雅黑"/>
              </a:rPr>
              <a:t>本项目对应做法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9BB54-E03C-4300-957A-D8FC94C9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3619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7F7D0D-CD72-4558-A701-C41A041D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04930-6107-415E-906F-4B2F94FF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7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能力数据散落在纸质签到与 </a:t>
            </a: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Excel </a:t>
            </a: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台账里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D17DA-4845-4EC2-8C5E-410DA9C9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3619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51766-FDA3-4F4B-A500-0DB25493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AABB5C-7C68-4B73-809D-2336C66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7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培训投入无法量化，用人决策靠印象；关键岗位有没有备份答不上来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66E5C9-09CD-4BEE-9CE3-694BE07A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35814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0B5AA8">
              <a:alpha val="62000"/>
            </a:srgbClr>
          </a:solidFill>
          <a:ln xmlns:a="http://schemas.openxmlformats.org/drawingml/2006/main" w="9525">
            <a:solidFill>
              <a:srgbClr val="5FE3A1">
                <a:alpha val="6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CC090-99F0-4248-BA9F-794CB7E3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DC2DD-246D-4D53-ADCE-F7B9C4B2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把考试、实操、证书、工单统一成结构化能力数据，让每次投入都能对上缺口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002F0D-58A9-404A-AC74-77590539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14550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D24A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53B251-34BA-4A23-9791-A5A45F81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FE3A1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796790-F6B1-4BED-986A-F9C02909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3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64DF6E-C1CF-4EDC-932B-7EA171BF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3619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F42752-B41F-4C44-B59D-A668AB8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ABD4F2-AFE9-4762-9D59-757D71A4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327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判定阈值与人选原因靠个人经验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C8D365-45E3-42AD-86F6-3F559C3B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3619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BF2721-DEA9-461F-887E-32AF8C15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15F3B2-F21C-4F49-A273-3FD222E1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327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同一份报告不同人不同结论，出了事无法复算，责任说不清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C29278-857F-4235-A9F2-48374347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35814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0B5AA8">
              <a:alpha val="62000"/>
            </a:srgbClr>
          </a:solidFill>
          <a:ln xmlns:a="http://schemas.openxmlformats.org/drawingml/2006/main" w="9525">
            <a:solidFill>
              <a:srgbClr val="5FE3A1">
                <a:alpha val="6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6CE003-0660-45C8-B953-BE1E18B7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D0BB59-C81D-46F1-A4BA-3AC6E192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阈值入标准库、算子白名单求值；结论带 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rule_code 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与依据事实，任何人可复算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E6D427-F50B-4C02-87DF-769E5911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24250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D24A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DFDD32-72FF-4710-846C-FA2D64BB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24250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FE3A1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BAC2F4-3365-4BB1-8323-D540F09D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FF">
              <a:alpha val="30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1FA030-BD18-4AC8-80B6-3D654ED8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3619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E41359-D262-4331-8028-9F2D2074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B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6EAF9F-6980-4190-9271-A0AAA001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27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建议、确认、执行过程没有留痕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E4EB89-759E-46B7-865C-53F4492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3619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0A2F6B">
              <a:alpha val="72000"/>
            </a:srgbClr>
          </a:solidFill>
          <a:ln xmlns:a="http://schemas.openxmlformats.org/drawingml/2006/main" w="9525">
            <a:solidFill>
              <a:srgbClr val="7FC4FF">
                <a:alpha val="4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D0C566-1AB4-48A8-B789-B4741803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86211C-EA12-4CA8-BF79-EFC38B54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327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C6DDFF"/>
                </a:solidFill>
                <a:latin typeface="微软雅黑"/>
                <a:ea typeface="微软雅黑"/>
                <a:cs typeface="微软雅黑"/>
              </a:rPr>
              <a:t>无法审计、无法追责，管理端不敢采信智能结论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A26FEC-5CBD-44F0-8556-B017E517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35814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0B5AA8">
              <a:alpha val="62000"/>
            </a:srgbClr>
          </a:solidFill>
          <a:ln xmlns:a="http://schemas.openxmlformats.org/drawingml/2006/main" w="9525">
            <a:solidFill>
              <a:srgbClr val="5FE3A1">
                <a:alpha val="6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7DFF35-818A-4B3C-BF6E-09F9398F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E3A1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4408C6-529E-4403-A2DD-790BE733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339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建议写 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agent_suggestion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、确认写 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decision_log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，同一 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run_id 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串起三张表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E93ADA-2582-4991-9BBB-AAF42041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33950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D24A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6BCA47-870F-4485-96C0-842BC7BE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33950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FE3A1">
              <a:alpha val="8500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8D792B-9009-49BC-995F-F7236971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2F6B">
              <a:alpha val="85000"/>
            </a:srgbClr>
          </a:solidFill>
          <a:ln xmlns:a="http://schemas.openxmlformats.org/drawingml/2006/main" w="12383">
            <a:solidFill>
              <a:srgbClr val="FFD24A">
                <a:alpha val="80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20C2FA-215A-458E-B85F-E87C8948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1542B9-2057-49B7-AAC3-E0960AAF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因此，本项目把「证据链」当作第一性设计目标：规则保底 </a:t>
            </a: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模型增强 </a:t>
            </a: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人工确认 </a:t>
            </a: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50" b="1">
                <a:solidFill>
                  <a:srgbClr val="FFD24A"/>
                </a:solidFill>
                <a:latin typeface="微软雅黑"/>
                <a:ea typeface="微软雅黑"/>
                <a:cs typeface="微软雅黑"/>
              </a:rPr>
              <a:t>全程留痕。</a:t>
            </a:r>
          </a:p>
        </p:txBody>
      </p:sp>
    </p:spTree>
    <p:extLst>
      <p:ext uri="{BB962C8B-B14F-4D97-AF65-F5344CB8AC3E}">
        <p14:creationId xmlns:p14="http://schemas.microsoft.com/office/powerpoint/2010/main" val="1741994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2026-09-27T11:21:38.7100000Z</dcterms:created>
  <dcterms:modified xsi:type="dcterms:W3CDTF">2026-09-27T11:21:38.7100000Z</dcterms:modified>
</coreProperties>
</file>